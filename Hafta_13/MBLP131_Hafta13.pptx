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haftaya hoş geldiniz. 3. haftada süreçleri kâğıt üzerinde incelemiştik: PID'ler, beş durum, PCB, fork ve exec. 5. haftada onları önceliğe göre zamanlamıştık. Bugün aynı fikirlerle Linux kabuğunda canlı olarak karşılaşıyoruz: süreçlere bakmak için ps, top ve /proc; onları denetlemek için &amp;, Ctrl+Z, jobs, fg ve bg; durdurmak için sinyaller ve kill; önceliklerini değiştirmek için nice; ve sonunda Z durumunu GÖREBİLMEMİZ için bir zombi oluşturan minik bir C programı. Gösterilen her şey laboratuvar makinemizde student kullanıcısıyla yakalandı.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dakikalık tekrar. Sorun: 'grep ERROR logs/system.log | wc -l' kaç süreç oluşturur? (İki; aynı anda çalışırlar ve bir boruyla bağlıdırlar.) Onları kim oluşturur? (Kabuk, fork ve exec ile — 3. hafta.) Bugün bir 12. hafta boru hattını yeniden kullanacağız: süreçlerimizi durumlarına göre saymak için ps ... | cut | sort | uniq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ve 2. bölümler moladan önce, 3–5. bölümler moladan sonra; ardından 30–40 dakika laboratuvar çalışması. Herkesten şimdi bir terminal açmasını ve laboratuvar kurulum betiğini çalıştırmasını isteyin: bash mcmp117_lab_setup.sh, sonra cd ~/lab. Bütün gösterimler zararsız deneme süreçleri kullanır: sleep (bekler ve hiçbir şey yapmaz) ve yes (sonsuza dek 'y' yazar; çıktısını /dev/null'a gönderiyoruz, böylece yalnızca işlemci harcar).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3. haftada bir süreç bir diyagramdaki kutuydu. Bugün yazabileceğiniz bir numarası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3. haftanın fork/exec/wait resminin ta kendisi. PID'ler gerçek: kabuğumuz PID 1913'tü ve 'sleep 300 &amp;' ebeveyni 1913 olan PID 1970 oldu; pstree bunu doğruluyor. &amp; ile kabuk wait() çağrısını atlar ve istemi hemen yazdırır; ön plan ile arka plan arasındaki farkın tamamı budur. Sizin makinenizde PID'ler farklı olacak ve her çalıştırmada değişecek.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Haftanın EN önemli slaytı bu; 3. haftayı bugüne bağlıyor. Beş durum tam olarak 3. haftanın diyagramındaki gibi: yeni, hazır, çalışıyor, bekliyor, sonlandı. Linux her biri için bir harf yazar: hem hazır hem çalışıyor için R (ikisini ayırmaz), bekliyor için S (kesilebilir uyku) ya da D (kesilemez uyku, genellikle disk G/Ç'si), ebeveyninin henüz beklemediği sonlanmış bir süreç (zombi) için Z. Linux, 3. haftada olmayan bir durum ekler: durdurulmuş, harfi T; Ctrl+Z ya da kill -STOP ile girilir, fg, bg ya da kill -CONT ile çıkılır. 'yeni' durumunun harfi yoktur: mikrosaniyeler sürer. Turuncu oklar bugün alıştıracağınız eylemlerdir. Not: kill bekleyen (S) bir sürece de etki eder — sleep bütün ömrünü S'de geçirir ve onu sürekli sonlandırıyoruz; ok, resim okunaklı kalsın diye yalnızca çalışıyor durumundan çizildi.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harf durumdur; ardından gelen karakterler bayraklardır. Yakalamalarımızda: bash Ss gösterir (uyuyor, oturum lideri — sizin yazmanızı bekler), ps'in kendisi R+ gösterir (anlık görüntüyü alırken çalışan ön plan sürecidir), nice uygulanmış bir yes RN gösterir. Sorun: ps neden hep R? (Liste oluşturulurken çalışan süreç odur.)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Birlikte yazın. Giriş kabuğu '-bash' olarak görünür: baştaki tire bir giriş kabuğunu (login shell) belirtir. yes'in C sütununu gösterin: 96 — yüzde olarak işlemci kullanımı, çünkü yes hiç durmadan çalışır. PID numaraları artar; 1913'ten 1969'a olan boşluk, bu arada aynı makinedeki başka kullanıcıların oluşturduğu süreçlerdir.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ps'in en yararlı seçeneğidir: ps -o pid,ppid,stat,cmd bütün gün kullandığımız görünümdür. pstree -p $$ ağacı kabuğumuzdan başlatır. 3. haftadaki fork_count ağacıyla karşılaştırın. kill %1 %2 satırı iş denetimine bir ön bakıştır: %1 'PID 1' değil, '1 numaralı iş'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Değerler ps aux yakalamamızdan (sonraki slayt). VSZ ve RSS 6–7. haftalara bağlanır: VSZ sanal adres alanının boyutu, RSS ise şu an RAM'de olan kısmıdır; yes için 3132 KiB sanal ama yalnızca 1884 KiB yerleşik — iş başındaki isteğe bağlı sayfalama. ps'teki %CPU sürecin bütün ömrü boyunca bir ortalamadır; top ise son birkaç saniyeyi ölçer.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Laboratuvar makinemizde tam listeler root'a ve başka kullanıcılara ait yaklaşık 70 süreç içerir; ps -ef'in ilk satırlarını, ardından yalnızca student'ın süreçlerini gösteriyoruz (PID 1'in uzun komut satırını '…' ile kırptık). Bu laboratuvar makinesinde PID 1, process_api adlı küçük bir konteyner başlatma programıdır; normal bir Ubuntu kurulumunda PID 1 systemd'dir. PID 2, kthreadd, tüm çekirdek iş parçacıklarının (adları köşeli parantez içinde) ebeveynidir. ps aux | grep'in son satırı grep'in kendisidir — klasik bir sürpriz; pgrep (ileride) bunu önler.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 son arka plan işinin PID'sidir. /proc hiçbir diskte değildir: bu dosyaları siz okurken çekirdek üretir (3. hafta, 9. hafta FHS). /proc/&lt;pid&gt;/status dosyası, çekirdeğin task_struct yapısının, yani Linux'un PCB'sinin metin görünümüdür. Uid 1013 laboratuvar kullanıcımızın numarasıdır; sizinki farklı olacaktır (genellikle 1000). ls -l satırları slaytta sağ kenarda kesildi: -&gt; /home/student/lab ve -&gt; /usr/bin/sleep ile biterler.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Slayta sığsın diye top -b -n 1 (toplu kip) ile tek bir anlık görüntü yakaladık; -u student yalnızca bizim süreçlerimizi gösterir, ama başlık satırları her zaman bütün makine içindir (tüm kullanıcıların 71 görevi). top içindeki etkileşimli tuşlar: q çıkış, P işlemciye göre sırala, M belleğe göre sırala, k sonlandır (bir PID sorar), r renice, u kullanıcıya göre süz, 1 her işlemciyi ayrı göster. htop daha kullanıcı dostu, renkli bir sürümdür: seçmek için ok tuşları, sonlandırmak için F9, nice değeri için F7/F8, çıkmak için F10. '0 user' görünür, çünkü laboratuvar makinemizin konsolunda kimse oturum açmamıştır; sizin bilgisayarınızda 1 ya da daha fazla kullanıcı göreceksiniz.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 code/check_numbers.py ile denetlendi. Anlık görüntümüz yes başladıktan 30 s sonra alındı; bu yüzden 1 dakikalık ortalama (0,59) henüz 1'e tırmanmamıştı: bunlar anlık sayımlar değil, üstel olarak sönümlenen ortalamalardır. /proc/loadavg'ın 4. alanındaki 3/98, şu anda toplam 98 varlıktan 3'ünün çalıştırılabilir olduğu anlamına gelir; son sayı en son atanan PID'dir. Linux'ta yük D durumundaki süreçleri de sayar; bu yüzden yavaş bir diski bekleyen bir makine, işlemcisi boştayken bile yüksek yük gösterebilir.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bu slaytın fotoğrafını çekebilir; ders notlarında daha uzun bir komut başvuru tablosu var. Sorun: firefox adlı bir programın PID'sini bulmak için hangi komutu kullanırdınız? (pgrep firefox ya da ps aux | grep firefox.)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 (job), kabuğun başlattığı bir komut satırıdır — tek bir süreç ya da borularla bağlı birkaç süreç. Kabuk onları numaralandırır: [1], [2],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Terminalin aynı anda tek bir ön plan süreç grubuna ait olduğu fikrini açıklayın; klavye sinyalleri o gruba gider. Arka plan işlerinin tipik kullanımı: uzun bir derleme, bir indirme, denemekte olduğunuz bir sunucu. Tipik öğrenci hatası: bir düzenleyiciyi (nano) &amp; ile başlatmak — arka plandaki bir iş terminalden okuyamadığı için hemen durdurulur (T durumu, 'Stopped (tty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Canlı yapın: sleep 100 yazın, Ctrl+Z'ye basın, sonra jobs, ps -o pid,stat,cmd, bg, jobs -l ve yeniden ps. [1]+ içindeki + 'geçerli' işi (argümansız fg ve bg'nin varsayılanı), - ise bir öncekini gösterir. Durdurulmuş bir iş bütün belleğini ve açık dosyalarını korur, yalnızca işlemci zamanı almaz — 3. hafta terimleriyle ne hazır ne de bekliyor durumundadır; Linux'un ek T durumuna bu yüzden ihtiyacı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hata: kill %1 yerine kill 1. % olmadan sayı bir PID'dir: 'kill 1' PID 1'e sinyal göndermeye çalışır ve 'Operation not permitted' hatasıyla başarısız olur (laboratuvar çözümlerinde gösteriyoruz). İş numaralarının kabuğa özgü olduğuna dikkat edin: başka bir terminalin kendi [1]'i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 $! kabuk değişkenleridir; gelecek hafta (14. hafta) betiklerde kullanacağız; örneğin bir arka plan işinin PID'sini hatırlayıp daha sonra onu beklemek ya da sonlandırmak için.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Çıkmadan önce öğrenciler şunu deneyebilir: sleep 1000, Ctrl+Z, bg, jobs. Moladan sonra: tuşlarla yaptığımız her şey aslında sinyallerle yapılıyor.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Ctrl+C, Ctrl+Z, kill, terminali kapatmak: bunların hepsi sinyal gönderir.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Sinyaller bir süreçler arası iletişim (IPC) mekanizmasıdır (3. haftada IPC'den söz etmiştik) ve kesmelerin (2. hafta) kullanıcı alanındaki karşılığıdır. Sahiplik kuralı bir koruma kuralıdır (11. hafta): bir öğrenci başka bir kullanıcının süreçlerini sonlandıramaz — denerseniz pkill 'Operation not permitted' bildirir. Numaralar x86 ve ARM üzerindeki Linux'unkilerdir; birkaçı başka UNIX sistemlerinde farklıdır, bu yüzden adlar numaralardan daha güvenlidir (her yerde aynı olan 9 ve 15 dışında).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Numaralar Linux makinemizdeki kill -l çıktısından. SIGTSTP (Ctrl+Z) kibar durdurmadır: düzenleyici gibi bir program onu yakalayıp önce terminali eski hâline getirebilir; SIGSTOP ise reddedilemez. SIGCHLD, çekirdeğin bir ebeveyne çocuğunun sonlandığını bildirme yoludur — ebeveyn bunun üzerine wait() çağırmalıdır; çağırmazsa çocuk zombi olarak kalır (5. bölüm). Bilmeye değer: SIGSEGV (11) = segmentation fault; çekirdek geçersiz bir bellek erişiminden sonra gönderir (7. haftadaki sayfa hatasının 2. adımı).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 + n kuralı bir kabuk geleneğidir: 128'in üstündeki bir çıkış durumu '(durum − 128) numaralı sinyalle öldürüldü' demektir. check_numbers.py ile yakalanan 143, 137 ve 130 değerlerine karşı doğrulandı. 14. hafta $? değerini if deyimlerinde kullanır. Güvenlik: kill -9, programa veri kaydetme ya da geçici dosyaları silme fırsatı vermez — önce her zaman yalın kill (SIGTERM) deneyin ve birkaç saniye bekleyin.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 SIGSTOP sleep'i dondurur (STAT T — Ctrl+Z sonrasındaki durumun aynısı, bu yüzden bash onu Stopped olarak bildirir), SIGCONT sürmesini sağlar (yeniden S). Sağ: pgrep eşleşen PID'leri listeler; pkill hepsine SIGTERM gönderir; killall aynısını tam adla yapar. Son pgrep hiçbir şey bulamaz, bu yüzden çıkış durumu 1'dir. Güvenlik: pkill ve killall HER eşleşmeye etki eder — 'pkill -u student bash' bütün terminallerinizi kapatırdı. Kalıbı önce pgrep ile deneyin.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gcc -Wall -O2 -o catch catch.c ile derleyin (tam dosya code/catch.c). Arka plan işinin iletileri imleç neredeyse oraya — istemin hemen arkasına — basılır; bu yüzden yazılan sonraki komut yeni bir satırda başlar: bu normaldir. İyi yazılmış sunucuların SIGTERM'i işlemesinin nedeni budur: çıkmadan önce dosyalarını kapatır ve durumlarını kaydederler; SIGKILL ise onlara bu fırsatı vermez.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Uygulamalı haftalar için zorunlu güvenlik slaytı: kill -9 ilk değil, son çaredir. Sağ sütun 5. bölüme bir ön bakış: bir zombiye kill -9 göndereceğiz ve hiçbir şey olmadığını izleyeceğiz.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'nohup: ignoring input…' iletisini arka plandaki nohup, istem çoktan göründükten sonra yazdırdı; bu yüzden sonraki komut yeni bir satırda başlıyor. Kullanım örneği: SSH üzerinden uzak bir sunucuda uzun bir iş başlatın, oturumu kapatın, sonra geri gelin. Bunun için daha iyi araçlar (screen, tmux, systemd hizmetleri) bu dersin kapsamı dışındadır. disown, zaten çalışmakta olan bir iş için benzer etkiye sahip bir bash yerleşik komutudur.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kısa bölüm: nice değerleri (5. hafta) ve zombi süreçler (3.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5. hafta notlarındaki deneyin cpu_hog yerine yes ile tekrarıdır. Ağırlıklar çekirdeğin sched_prio_to_weight tablosundan; sayılar check_numbers.py ile denetlendi. 'nice' adı gerçek anlamıyla kullanılır: nice değeri yüksek bir süreç ötekilere karşı daha 'nazik'tir. Sıradan kullanıcılar süreçlerini yalnızca daha nazik yapabilir (değeri yükseltebilir), asla düşüremez — yoksa herkes −20 ayarlardı.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renice iletisinde nice değerine 'priority' diyor — aynı şey. 'nice -n -5 sleep 1' bir uyarı yazdırır ama sleep'i yine de nice 0 ile çalıştırır. taskset -c 1 bir süreci 1 numaralı işlemci çekirdeğine bağlar; o olmasaydı iki yes sürecinin her biri kendi çekirdeğini alır ve ikisi de yaklaşık %100 gösterirdi. Ölçülen oran 89,3/9,6 = 9,30 (check_numbers.py) — 5. haftanın formülü gerçek bir çekirdekte çalışıyor. sudo renice -n -5 root olarak işe yarardı (11. hafta); paylaşılan makinelerde yapmayın.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Açıklamalar ve #include satırlarıyla tam program code/zombie.c dosyasında; gcc -Wall -O2 -o zombie zombie.c (ya da make) ile derleyin. Uyarısız derlenir. 3. haftadaki tanımı hatırlayın: zombi, sonlanmış ama çıkış durumu ebeveyni tarafından henüz toplanmamış bir süreçtir. Bellek ya da işlemci kullanmaz ama bir süreç tablosu girdisini ve PID'sini işgal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Zombilerin gerçek çaresi EBEVEYNİ düzeltmek ya da sonlandırmaktır. Ebeveyn öldürülürse zombi yetim kalır, PID 1 (ya da bir subreaper) tarafından evlat edinilir ve hemen toplanır — 3. hafta. Birkaç zombi zararsızdır; binlercesi süreç tablosunu doldurabilir (makinemizde pid_max 32768'dir, yani en büyük PID 32767). Gösterimdeki yerleşik 'wait' komutu yalnızca arka plan işi ./zombie'nin bitmesini bekler.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Kopya kâğıdının ikinci yarısı. Ders notlarında iki tablo ve tam sinyal tablosu birlikte yer alıyor.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iki slayt için toplam 30–40 dakika verin. Sınıfta dolaşın: en sık sorunlar kill %1 yerine kill 1 yazmak, &amp; koymayı unutup istemi kaybetmek (Ctrl+C ya da Ctrl+Z'ye basın) ve -u olmadan pkill kullanmaktır. Çözümler ders notlarının sonunda.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alıştırma 12. haftaya bağlanır: ps -u student -o stat= | cut -c1 | sort | uniq -c. Erken bitiren öğrenciler htop'u keşfedebilir.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1, renice, nice ve zombi iletileri yakaladığımız çıktılarda yer alıyor (out_lab.txt, out_nice.txt, out_zombie.txt); ötekiler standart bash iletileri. 'Stopped (tty input)' durumu: 'nano &amp;' ya da 'cat &amp;' çalıştırıp görün. Türkçe yerel ayarlı (LANG=tr_TR.UTF-8) bir sistemde bu iletilerin bir kısmı Türkçe görünebilir; ders çıktıları LC_ALL=C.UTF-8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T = durdurulmuş; 3. haftada böyle bir durum yoktur — ne hazır ne de bekliyor durumundadır; fg ya da bg (ikisi de SIGCONT gönderir) ya da kill -CONT. (2) 137 = 128 + 9: SIGKILL ile öldürüldü; 143 = 128 + 15: SIGTERM. (3) Yaklaşık %90,3 ve %9,7 (ağırlıklar 1024 ve 110); biz %89,3 ve %9,6 ölçtük. (4) Zombi zaten sonlanmıştır; yalnızca ebeveyninin çıkış durumunu wait() ile toplamasını bekler. Ebeveyni sonlandırmak, PID 1'in onu evlat edinip toplamasını sağlar.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Hızlıca okuyun; her satır final sınavı (15. hafta) için olası bir sorudur.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komutları dosyalara koyup onları programa dönüştürüyoruz. Bugünkü her şey geri dönecek: arka plan işleri için $$ ve $!, if deyimlerinde $? ve 128 + n kuralı, görevleri paralel çalıştırmak için &amp; ve wait. 15. hafta final sınavı tekrarı.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Sözü sorulara bırakın. Laboratuvar föyünün ve çözümlerinin ders notlarında olduğunu, Telegram kanalında sorulan soruların herkese yardımcı olduğunu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13</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13  ·  Süreçler ve İş Denetimi</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Yazdığınız her komut bir sürece dönüşür. Bugün onu izlemeyi, duraklatmayı, taşımayı ve durdurmayı öğreniyorsunuz.</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12.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Üç akış</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800" dirty="0">
                <a:solidFill>
                  <a:srgbClr val="3A464C"/>
                </a:solidFill>
                <a:latin typeface="Calibri" pitchFamily="34" charset="0"/>
                <a:ea typeface="Calibri" pitchFamily="34" charset="-122"/>
                <a:cs typeface="Calibri" pitchFamily="34" charset="-120"/>
              </a:rPr>
              <a:t>Her süreç fd 0 (stdin), 1 (stdout) ve 2 (stderr) ile başlar.</a:t>
            </a:r>
            <a:endParaRPr lang="tr-TR" sz="18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Yönlendirme</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800" dirty="0">
                <a:solidFill>
                  <a:srgbClr val="3A464C"/>
                </a:solidFill>
                <a:latin typeface="Calibri" pitchFamily="34" charset="0"/>
                <a:ea typeface="Calibri" pitchFamily="34" charset="-122"/>
                <a:cs typeface="Calibri" pitchFamily="34" charset="-120"/>
              </a:rPr>
              <a:t>&gt; &gt;&gt; &lt; 2&gt; 2&gt;&amp;1 &amp;&gt; /dev/null — bunu kabuk, fork() ile exec() arasında yapar.</a:t>
            </a:r>
            <a:endParaRPr lang="tr-TR" sz="18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Borular</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800" dirty="0">
                <a:solidFill>
                  <a:srgbClr val="3A464C"/>
                </a:solidFill>
                <a:latin typeface="Calibri" pitchFamily="34" charset="0"/>
                <a:ea typeface="Calibri" pitchFamily="34" charset="-122"/>
                <a:cs typeface="Calibri" pitchFamily="34" charset="-120"/>
              </a:rPr>
              <a:t>cmd1 | cmd2 iki süreci aynı anda çalıştırır; aralarında bir çekirdek tamponu vardır.</a:t>
            </a:r>
            <a:endParaRPr lang="tr-TR" sz="18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Süzgeçler</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tr-TR" sz="1800" dirty="0">
                <a:solidFill>
                  <a:srgbClr val="3A464C"/>
                </a:solidFill>
                <a:latin typeface="Calibri" pitchFamily="34" charset="0"/>
                <a:ea typeface="Calibri" pitchFamily="34" charset="-122"/>
                <a:cs typeface="Calibri" pitchFamily="34" charset="-120"/>
              </a:rPr>
              <a:t>grep, sort, uniq -c, cut, wc, tr, head, tail: boru hatlarında birleşen küçük araçlar.</a:t>
            </a:r>
            <a:endParaRPr lang="tr-TR" sz="18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Geçen hafta kabuk her boru hattı için sessizce süreçler oluşturdu. Bugün bu süreçlere doğrudan bakıyoruz ve denetimlerini elimize alıyoruz.</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13</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a:t>
            </a:r>
            <a:endParaRPr lang="tr-TR" sz="900" dirty="0"/>
          </a:p>
        </p:txBody>
      </p:sp>
      <p:sp>
        <p:nvSpPr>
          <p:cNvPr id="6" name="Shape 4"/>
          <p:cNvSpPr/>
          <p:nvPr/>
        </p:nvSpPr>
        <p:spPr>
          <a:xfrm>
            <a:off x="548640" y="1508760"/>
            <a:ext cx="658368" cy="658368"/>
          </a:xfrm>
          <a:prstGeom prst="roundRect">
            <a:avLst>
              <a:gd name="adj" fmla="val 6944"/>
            </a:avLst>
          </a:prstGeom>
          <a:solidFill>
            <a:srgbClr val="02C39A"/>
          </a:solidFill>
          <a:ln/>
        </p:spPr>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371600" y="1508760"/>
            <a:ext cx="10287000" cy="658368"/>
          </a:xfrm>
          <a:prstGeom prst="roundRect">
            <a:avLst>
              <a:gd name="adj" fmla="val 6944"/>
            </a:avLst>
          </a:prstGeom>
          <a:solidFill>
            <a:srgbClr val="F2F2F2"/>
          </a:solidFill>
          <a:ln/>
        </p:spPr>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Süreçlere bakmak   </a:t>
            </a:r>
            <a:r>
              <a:rPr lang="tr-TR" sz="1500" dirty="0">
                <a:solidFill>
                  <a:srgbClr val="3A464C"/>
                </a:solidFill>
                <a:latin typeface="Calibri" pitchFamily="34" charset="0"/>
                <a:ea typeface="Calibri" pitchFamily="34" charset="-122"/>
                <a:cs typeface="Calibri" pitchFamily="34" charset="-120"/>
              </a:rPr>
              <a:t>ps, pstree, top, /proc/&lt;pid&gt;/status — ve R S D T Z durum harfleri.</a:t>
            </a:r>
            <a:endParaRPr lang="tr-TR" sz="1400" dirty="0"/>
          </a:p>
        </p:txBody>
      </p:sp>
      <p:sp>
        <p:nvSpPr>
          <p:cNvPr id="10" name="Shape 8"/>
          <p:cNvSpPr/>
          <p:nvPr/>
        </p:nvSpPr>
        <p:spPr>
          <a:xfrm>
            <a:off x="548640" y="2295144"/>
            <a:ext cx="658368" cy="658368"/>
          </a:xfrm>
          <a:prstGeom prst="roundRect">
            <a:avLst>
              <a:gd name="adj" fmla="val 6944"/>
            </a:avLst>
          </a:prstGeom>
          <a:solidFill>
            <a:srgbClr val="02C39A"/>
          </a:solidFill>
          <a:ln/>
        </p:spPr>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İş denetimi   </a:t>
            </a:r>
            <a:r>
              <a:rPr lang="tr-TR" sz="1500" dirty="0">
                <a:solidFill>
                  <a:srgbClr val="3A464C"/>
                </a:solidFill>
                <a:latin typeface="Calibri" pitchFamily="34" charset="0"/>
                <a:ea typeface="Calibri" pitchFamily="34" charset="-122"/>
                <a:cs typeface="Calibri" pitchFamily="34" charset="-120"/>
              </a:rPr>
              <a:t>Ön plan ve arka plan, &amp;, Ctrl+Z, Ctrl+C, jobs, fg, bg.</a:t>
            </a:r>
            <a:endParaRPr lang="tr-TR" sz="1400" dirty="0"/>
          </a:p>
        </p:txBody>
      </p:sp>
      <p:sp>
        <p:nvSpPr>
          <p:cNvPr id="14" name="Shape 12"/>
          <p:cNvSpPr/>
          <p:nvPr/>
        </p:nvSpPr>
        <p:spPr>
          <a:xfrm>
            <a:off x="548640" y="3081528"/>
            <a:ext cx="658368" cy="658368"/>
          </a:xfrm>
          <a:prstGeom prst="roundRect">
            <a:avLst>
              <a:gd name="adj" fmla="val 6944"/>
            </a:avLst>
          </a:prstGeom>
          <a:solidFill>
            <a:srgbClr val="02C39A"/>
          </a:solidFill>
          <a:ln/>
        </p:spPr>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Sinyaller   </a:t>
            </a:r>
            <a:r>
              <a:rPr lang="tr-TR" sz="1500" dirty="0">
                <a:solidFill>
                  <a:srgbClr val="3A464C"/>
                </a:solidFill>
                <a:latin typeface="Calibri" pitchFamily="34" charset="0"/>
                <a:ea typeface="Calibri" pitchFamily="34" charset="-122"/>
                <a:cs typeface="Calibri" pitchFamily="34" charset="-120"/>
              </a:rPr>
              <a:t>kill, kill -l, SIGTERM, SIGKILL ve SIGINT, SIGSTOP/SIGCONT, pkill, killall, nohup.</a:t>
            </a:r>
            <a:endParaRPr lang="tr-TR" sz="1400" dirty="0"/>
          </a:p>
        </p:txBody>
      </p:sp>
      <p:sp>
        <p:nvSpPr>
          <p:cNvPr id="18" name="Shape 16"/>
          <p:cNvSpPr/>
          <p:nvPr/>
        </p:nvSpPr>
        <p:spPr>
          <a:xfrm>
            <a:off x="548640" y="3867912"/>
            <a:ext cx="658368" cy="658368"/>
          </a:xfrm>
          <a:prstGeom prst="roundRect">
            <a:avLst>
              <a:gd name="adj" fmla="val 6944"/>
            </a:avLst>
          </a:prstGeom>
          <a:solidFill>
            <a:srgbClr val="02C39A"/>
          </a:solidFill>
          <a:ln/>
        </p:spPr>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Öncelik   </a:t>
            </a:r>
            <a:r>
              <a:rPr lang="tr-TR" sz="1500" dirty="0">
                <a:solidFill>
                  <a:srgbClr val="3A464C"/>
                </a:solidFill>
                <a:latin typeface="Calibri" pitchFamily="34" charset="0"/>
                <a:ea typeface="Calibri" pitchFamily="34" charset="-122"/>
                <a:cs typeface="Calibri" pitchFamily="34" charset="-120"/>
              </a:rPr>
              <a:t>nice ve renice: 5. haftanın nice değerleri, ölçülmüş olarak.</a:t>
            </a:r>
            <a:endParaRPr lang="tr-TR" sz="1400" dirty="0"/>
          </a:p>
        </p:txBody>
      </p:sp>
      <p:sp>
        <p:nvSpPr>
          <p:cNvPr id="22" name="Shape 20"/>
          <p:cNvSpPr/>
          <p:nvPr/>
        </p:nvSpPr>
        <p:spPr>
          <a:xfrm>
            <a:off x="548640" y="4654296"/>
            <a:ext cx="658368" cy="658368"/>
          </a:xfrm>
          <a:prstGeom prst="roundRect">
            <a:avLst>
              <a:gd name="adj" fmla="val 6944"/>
            </a:avLst>
          </a:prstGeom>
          <a:solidFill>
            <a:srgbClr val="02C39A"/>
          </a:solidFill>
          <a:ln/>
        </p:spPr>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Zombiler   </a:t>
            </a:r>
            <a:r>
              <a:rPr lang="tr-TR" sz="1500" dirty="0">
                <a:solidFill>
                  <a:srgbClr val="3A464C"/>
                </a:solidFill>
                <a:latin typeface="Calibri" pitchFamily="34" charset="0"/>
                <a:ea typeface="Calibri" pitchFamily="34" charset="-122"/>
                <a:cs typeface="Calibri" pitchFamily="34" charset="-120"/>
              </a:rPr>
              <a:t>Z durumunu görünür kılan küçük bir C programı.</a:t>
            </a:r>
            <a:endParaRPr lang="tr-TR" sz="1400" dirty="0"/>
          </a:p>
        </p:txBody>
      </p:sp>
      <p:sp>
        <p:nvSpPr>
          <p:cNvPr id="26" name="Shape 24"/>
          <p:cNvSpPr/>
          <p:nvPr/>
        </p:nvSpPr>
        <p:spPr>
          <a:xfrm>
            <a:off x="548640" y="5440680"/>
            <a:ext cx="658368" cy="658368"/>
          </a:xfrm>
          <a:prstGeom prst="roundRect">
            <a:avLst>
              <a:gd name="adj" fmla="val 6944"/>
            </a:avLst>
          </a:prstGeom>
          <a:solidFill>
            <a:srgbClr val="02C39A"/>
          </a:solidFill>
          <a:ln/>
        </p:spPr>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6</a:t>
            </a:r>
            <a:endParaRPr lang="tr-TR"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Laboratuvar   </a:t>
            </a:r>
            <a:r>
              <a:rPr lang="tr-TR" sz="1500" dirty="0">
                <a:solidFill>
                  <a:srgbClr val="3A464C"/>
                </a:solidFill>
                <a:latin typeface="Calibri" pitchFamily="34" charset="0"/>
                <a:ea typeface="Calibri" pitchFamily="34" charset="-122"/>
                <a:cs typeface="Calibri" pitchFamily="34" charset="-120"/>
              </a:rPr>
              <a:t>İşleri başlatmak, incelemek, askıya almak, sürdürmek ve sonlandırmak (puanlı).</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Süreçlere Bakmak</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3. hafta kâğıt üzerindeydi — 13. hafta terminalde.</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13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HAFTAYLA BAĞLANTI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Her Komut Bir Süreçtir: fork, exec, wait</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Süreç, yürütülmekte olan bir programdır; bir PID'si, bir ebeveyni (PPID) ve çekirdekte bir PCB'si vardır. Kabuk her komut için bir tane oluşturur.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5</a:t>
            </a:r>
            <a:endParaRPr lang="tr-TR" sz="900" dirty="0"/>
          </a:p>
        </p:txBody>
      </p:sp>
      <p:sp>
        <p:nvSpPr>
          <p:cNvPr id="7" name="Shape 5"/>
          <p:cNvSpPr/>
          <p:nvPr/>
        </p:nvSpPr>
        <p:spPr>
          <a:xfrm>
            <a:off x="548640" y="2834640"/>
            <a:ext cx="1828800" cy="914400"/>
          </a:xfrm>
          <a:prstGeom prst="roundRect">
            <a:avLst>
              <a:gd name="adj" fmla="val 5000"/>
            </a:avLst>
          </a:prstGeom>
          <a:solidFill>
            <a:srgbClr val="36454F"/>
          </a:solidFill>
          <a:ln/>
        </p:spPr>
      </p:sp>
      <p:sp>
        <p:nvSpPr>
          <p:cNvPr id="8" name="Text 6"/>
          <p:cNvSpPr txBox="1"/>
          <p:nvPr/>
        </p:nvSpPr>
        <p:spPr>
          <a:xfrm>
            <a:off x="548640" y="2834640"/>
            <a:ext cx="1828800" cy="91440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alibri" pitchFamily="34" charset="0"/>
                <a:ea typeface="Calibri" pitchFamily="34" charset="-122"/>
                <a:cs typeface="Calibri" pitchFamily="34" charset="-120"/>
              </a:rPr>
              <a:t>bash</a:t>
            </a:r>
            <a:endParaRPr lang="tr-TR" sz="1600" dirty="0"/>
          </a:p>
          <a:p>
            <a:pPr algn="ctr" indent="0" marL="0">
              <a:buNone/>
            </a:pPr>
            <a:r>
              <a:rPr lang="tr-TR" sz="1100" dirty="0">
                <a:solidFill>
                  <a:srgbClr val="FFFFFF"/>
                </a:solidFill>
                <a:latin typeface="Calibri" pitchFamily="34" charset="0"/>
                <a:ea typeface="Calibri" pitchFamily="34" charset="-122"/>
                <a:cs typeface="Calibri" pitchFamily="34" charset="-120"/>
              </a:rPr>
              <a:t>PID 1913</a:t>
            </a:r>
            <a:endParaRPr lang="tr-TR" sz="1600" dirty="0"/>
          </a:p>
        </p:txBody>
      </p:sp>
      <p:sp>
        <p:nvSpPr>
          <p:cNvPr id="9" name="Shape 7"/>
          <p:cNvSpPr/>
          <p:nvPr/>
        </p:nvSpPr>
        <p:spPr>
          <a:xfrm>
            <a:off x="3291840" y="2331720"/>
            <a:ext cx="2011680" cy="731520"/>
          </a:xfrm>
          <a:prstGeom prst="roundRect">
            <a:avLst>
              <a:gd name="adj" fmla="val 6250"/>
            </a:avLst>
          </a:prstGeom>
          <a:solidFill>
            <a:srgbClr val="D7E9E6"/>
          </a:solidFill>
          <a:ln/>
        </p:spPr>
      </p:sp>
      <p:sp>
        <p:nvSpPr>
          <p:cNvPr id="10" name="Text 8"/>
          <p:cNvSpPr txBox="1"/>
          <p:nvPr/>
        </p:nvSpPr>
        <p:spPr>
          <a:xfrm>
            <a:off x="3291840" y="2331720"/>
            <a:ext cx="2011680" cy="73152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fork()</a:t>
            </a:r>
            <a:endParaRPr lang="tr-TR" sz="1400" dirty="0"/>
          </a:p>
          <a:p>
            <a:pPr algn="ctr" indent="0" marL="0">
              <a:buNone/>
            </a:pPr>
            <a:r>
              <a:rPr lang="tr-TR" sz="1100" dirty="0">
                <a:solidFill>
                  <a:srgbClr val="36454F"/>
                </a:solidFill>
                <a:latin typeface="Calibri" pitchFamily="34" charset="0"/>
                <a:ea typeface="Calibri" pitchFamily="34" charset="-122"/>
                <a:cs typeface="Calibri" pitchFamily="34" charset="-120"/>
              </a:rPr>
              <a:t>bash'in kopyası</a:t>
            </a:r>
            <a:endParaRPr lang="tr-TR" sz="1400" dirty="0"/>
          </a:p>
        </p:txBody>
      </p:sp>
      <p:sp>
        <p:nvSpPr>
          <p:cNvPr id="11" name="Shape 9"/>
          <p:cNvSpPr/>
          <p:nvPr/>
        </p:nvSpPr>
        <p:spPr>
          <a:xfrm>
            <a:off x="6126480" y="2331720"/>
            <a:ext cx="2377440" cy="731520"/>
          </a:xfrm>
          <a:prstGeom prst="roundRect">
            <a:avLst>
              <a:gd name="adj" fmla="val 6250"/>
            </a:avLst>
          </a:prstGeom>
          <a:solidFill>
            <a:srgbClr val="D7E9E6"/>
          </a:solidFill>
          <a:ln/>
        </p:spPr>
      </p:sp>
      <p:sp>
        <p:nvSpPr>
          <p:cNvPr id="12" name="Text 10"/>
          <p:cNvSpPr txBox="1"/>
          <p:nvPr/>
        </p:nvSpPr>
        <p:spPr>
          <a:xfrm>
            <a:off x="6126480" y="2331720"/>
            <a:ext cx="2377440" cy="73152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onsolas" pitchFamily="34" charset="0"/>
                <a:ea typeface="Consolas" pitchFamily="34" charset="-122"/>
                <a:cs typeface="Consolas" pitchFamily="34" charset="-120"/>
              </a:rPr>
              <a:t>exec("sleep")</a:t>
            </a:r>
            <a:endParaRPr lang="tr-TR" sz="1400" dirty="0"/>
          </a:p>
          <a:p>
            <a:pPr algn="ctr" indent="0" marL="0">
              <a:buNone/>
            </a:pPr>
            <a:r>
              <a:rPr lang="tr-TR" sz="1100" dirty="0">
                <a:solidFill>
                  <a:srgbClr val="36454F"/>
                </a:solidFill>
                <a:latin typeface="Calibri" pitchFamily="34" charset="0"/>
                <a:ea typeface="Calibri" pitchFamily="34" charset="-122"/>
                <a:cs typeface="Calibri" pitchFamily="34" charset="-120"/>
              </a:rPr>
              <a:t>çocuk PID 1970</a:t>
            </a:r>
            <a:endParaRPr lang="tr-TR" sz="1400" dirty="0"/>
          </a:p>
        </p:txBody>
      </p:sp>
      <p:sp>
        <p:nvSpPr>
          <p:cNvPr id="13" name="Shape 11"/>
          <p:cNvSpPr/>
          <p:nvPr/>
        </p:nvSpPr>
        <p:spPr>
          <a:xfrm>
            <a:off x="9326880" y="2331720"/>
            <a:ext cx="2331720" cy="731520"/>
          </a:xfrm>
          <a:prstGeom prst="roundRect">
            <a:avLst>
              <a:gd name="adj" fmla="val 6250"/>
            </a:avLst>
          </a:prstGeom>
          <a:solidFill>
            <a:srgbClr val="02C39A"/>
          </a:solidFill>
          <a:ln/>
        </p:spPr>
      </p:sp>
      <p:sp>
        <p:nvSpPr>
          <p:cNvPr id="14" name="Text 12"/>
          <p:cNvSpPr txBox="1"/>
          <p:nvPr/>
        </p:nvSpPr>
        <p:spPr>
          <a:xfrm>
            <a:off x="9326880" y="2331720"/>
            <a:ext cx="2331720" cy="73152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sleep 300</a:t>
            </a:r>
            <a:endParaRPr lang="tr-TR" sz="1500" dirty="0"/>
          </a:p>
          <a:p>
            <a:pPr algn="ctr" indent="0" marL="0">
              <a:buNone/>
            </a:pPr>
            <a:r>
              <a:rPr lang="tr-TR" sz="1100" dirty="0">
                <a:solidFill>
                  <a:srgbClr val="212121"/>
                </a:solidFill>
                <a:latin typeface="Calibri" pitchFamily="34" charset="0"/>
                <a:ea typeface="Calibri" pitchFamily="34" charset="-122"/>
                <a:cs typeface="Calibri" pitchFamily="34" charset="-120"/>
              </a:rPr>
              <a:t>PID 1970, PPID 1913</a:t>
            </a:r>
            <a:endParaRPr lang="tr-TR" sz="1500" dirty="0"/>
          </a:p>
        </p:txBody>
      </p:sp>
      <p:sp>
        <p:nvSpPr>
          <p:cNvPr id="15" name="Shape 13"/>
          <p:cNvSpPr/>
          <p:nvPr/>
        </p:nvSpPr>
        <p:spPr>
          <a:xfrm flipV="1">
            <a:off x="2395728" y="2697480"/>
            <a:ext cx="877824" cy="411480"/>
          </a:xfrm>
          <a:prstGeom prst="line">
            <a:avLst/>
          </a:prstGeom>
          <a:noFill/>
          <a:ln w="25400">
            <a:solidFill>
              <a:srgbClr val="028090"/>
            </a:solidFill>
            <a:prstDash val="solid"/>
            <a:tailEnd type="triangle"/>
          </a:ln>
        </p:spPr>
      </p:sp>
      <p:sp>
        <p:nvSpPr>
          <p:cNvPr id="16" name="Shape 14"/>
          <p:cNvSpPr/>
          <p:nvPr/>
        </p:nvSpPr>
        <p:spPr>
          <a:xfrm>
            <a:off x="5321808" y="2697480"/>
            <a:ext cx="786384" cy="91"/>
          </a:xfrm>
          <a:prstGeom prst="line">
            <a:avLst/>
          </a:prstGeom>
          <a:noFill/>
          <a:ln w="25400">
            <a:solidFill>
              <a:srgbClr val="028090"/>
            </a:solidFill>
            <a:prstDash val="solid"/>
            <a:tailEnd type="triangle"/>
          </a:ln>
        </p:spPr>
      </p:sp>
      <p:sp>
        <p:nvSpPr>
          <p:cNvPr id="17" name="Shape 15"/>
          <p:cNvSpPr/>
          <p:nvPr/>
        </p:nvSpPr>
        <p:spPr>
          <a:xfrm>
            <a:off x="8522208" y="2697480"/>
            <a:ext cx="786384" cy="91"/>
          </a:xfrm>
          <a:prstGeom prst="line">
            <a:avLst/>
          </a:prstGeom>
          <a:noFill/>
          <a:ln w="25400">
            <a:solidFill>
              <a:srgbClr val="028090"/>
            </a:solidFill>
            <a:prstDash val="solid"/>
            <a:tailEnd type="triangle"/>
          </a:ln>
        </p:spPr>
      </p:sp>
      <p:sp>
        <p:nvSpPr>
          <p:cNvPr id="18" name="Shape 16"/>
          <p:cNvSpPr/>
          <p:nvPr/>
        </p:nvSpPr>
        <p:spPr>
          <a:xfrm>
            <a:off x="3291840" y="3474720"/>
            <a:ext cx="5212080" cy="566928"/>
          </a:xfrm>
          <a:prstGeom prst="roundRect">
            <a:avLst>
              <a:gd name="adj" fmla="val 8065"/>
            </a:avLst>
          </a:prstGeom>
          <a:solidFill>
            <a:srgbClr val="F2F2F2"/>
          </a:solidFill>
          <a:ln/>
        </p:spPr>
      </p:sp>
      <p:sp>
        <p:nvSpPr>
          <p:cNvPr id="19" name="Text 17"/>
          <p:cNvSpPr txBox="1"/>
          <p:nvPr/>
        </p:nvSpPr>
        <p:spPr>
          <a:xfrm>
            <a:off x="3291840" y="3474720"/>
            <a:ext cx="5212080" cy="566928"/>
          </a:xfrm>
          <a:prstGeom prst="rect">
            <a:avLst/>
          </a:prstGeom>
          <a:noFill/>
          <a:ln/>
        </p:spPr>
        <p:txBody>
          <a:bodyPr wrap="square" lIns="38100" tIns="38100" rIns="38100" bIns="38100" rtlCol="0" anchor="ctr"/>
          <a:lstStyle/>
          <a:p>
            <a:pPr algn="ctr" indent="0" marL="0">
              <a:buNone/>
            </a:pPr>
            <a:r>
              <a:rPr lang="tr-TR" sz="1300" dirty="0">
                <a:solidFill>
                  <a:srgbClr val="36454F"/>
                </a:solidFill>
                <a:latin typeface="Calibri" pitchFamily="34" charset="0"/>
                <a:ea typeface="Calibri" pitchFamily="34" charset="-122"/>
                <a:cs typeface="Calibri" pitchFamily="34" charset="-120"/>
              </a:rPr>
              <a:t>ön plan: bash wait() çağırır; sleep bitene dek istem yok</a:t>
            </a:r>
            <a:endParaRPr lang="tr-TR" sz="1300" dirty="0"/>
          </a:p>
        </p:txBody>
      </p:sp>
      <p:sp>
        <p:nvSpPr>
          <p:cNvPr id="20" name="Shape 18"/>
          <p:cNvSpPr/>
          <p:nvPr/>
        </p:nvSpPr>
        <p:spPr>
          <a:xfrm>
            <a:off x="3291840" y="4160520"/>
            <a:ext cx="5212080" cy="566928"/>
          </a:xfrm>
          <a:prstGeom prst="roundRect">
            <a:avLst>
              <a:gd name="adj" fmla="val 8065"/>
            </a:avLst>
          </a:prstGeom>
          <a:solidFill>
            <a:srgbClr val="F5EBD7"/>
          </a:solidFill>
          <a:ln/>
        </p:spPr>
      </p:sp>
      <p:sp>
        <p:nvSpPr>
          <p:cNvPr id="21" name="Text 19"/>
          <p:cNvSpPr txBox="1"/>
          <p:nvPr/>
        </p:nvSpPr>
        <p:spPr>
          <a:xfrm>
            <a:off x="3291840" y="4160520"/>
            <a:ext cx="5212080" cy="566928"/>
          </a:xfrm>
          <a:prstGeom prst="rect">
            <a:avLst/>
          </a:prstGeom>
          <a:noFill/>
          <a:ln/>
        </p:spPr>
        <p:txBody>
          <a:bodyPr wrap="square" lIns="38100" tIns="38100" rIns="38100" bIns="38100" rtlCol="0" anchor="ctr"/>
          <a:lstStyle/>
          <a:p>
            <a:pPr algn="ctr" indent="0" marL="0">
              <a:buNone/>
            </a:pPr>
            <a:r>
              <a:rPr lang="tr-TR" sz="1300" dirty="0">
                <a:solidFill>
                  <a:srgbClr val="36454F"/>
                </a:solidFill>
                <a:latin typeface="Calibri" pitchFamily="34" charset="0"/>
                <a:ea typeface="Calibri" pitchFamily="34" charset="-122"/>
                <a:cs typeface="Calibri" pitchFamily="34" charset="-120"/>
              </a:rPr>
              <a:t>arka plan (&amp;): bash BEKLEMEZ — istem hemen geri gelir</a:t>
            </a:r>
            <a:endParaRPr lang="tr-TR" sz="1300" dirty="0"/>
          </a:p>
        </p:txBody>
      </p:sp>
      <p:sp>
        <p:nvSpPr>
          <p:cNvPr id="22" name="Shape 20"/>
          <p:cNvSpPr/>
          <p:nvPr/>
        </p:nvSpPr>
        <p:spPr>
          <a:xfrm>
            <a:off x="2395728" y="3429000"/>
            <a:ext cx="877824" cy="329184"/>
          </a:xfrm>
          <a:prstGeom prst="line">
            <a:avLst/>
          </a:prstGeom>
          <a:noFill/>
          <a:ln w="19050">
            <a:solidFill>
              <a:srgbClr val="50808E"/>
            </a:solidFill>
            <a:prstDash val="solid"/>
            <a:tailEnd type="triangle"/>
          </a:ln>
        </p:spPr>
      </p:sp>
      <p:sp>
        <p:nvSpPr>
          <p:cNvPr id="23" name="Shape 21"/>
          <p:cNvSpPr/>
          <p:nvPr/>
        </p:nvSpPr>
        <p:spPr>
          <a:xfrm>
            <a:off x="2395728" y="3611880"/>
            <a:ext cx="877824" cy="822960"/>
          </a:xfrm>
          <a:prstGeom prst="line">
            <a:avLst/>
          </a:prstGeom>
          <a:noFill/>
          <a:ln w="19050">
            <a:solidFill>
              <a:srgbClr val="C98A1B"/>
            </a:solidFill>
            <a:prstDash val="solid"/>
            <a:tailEnd type="triangle"/>
          </a:ln>
        </p:spPr>
      </p:sp>
      <p:sp>
        <p:nvSpPr>
          <p:cNvPr id="24" name="Shape 22"/>
          <p:cNvSpPr/>
          <p:nvPr/>
        </p:nvSpPr>
        <p:spPr>
          <a:xfrm>
            <a:off x="548640" y="4937760"/>
            <a:ext cx="5486400" cy="1325880"/>
          </a:xfrm>
          <a:prstGeom prst="roundRect">
            <a:avLst>
              <a:gd name="adj" fmla="val 3448"/>
            </a:avLst>
          </a:prstGeom>
          <a:solidFill>
            <a:srgbClr val="212121"/>
          </a:solidFill>
          <a:ln/>
        </p:spPr>
      </p:sp>
      <p:sp>
        <p:nvSpPr>
          <p:cNvPr id="25" name="Text 23"/>
          <p:cNvSpPr txBox="1"/>
          <p:nvPr/>
        </p:nvSpPr>
        <p:spPr>
          <a:xfrm>
            <a:off x="713232" y="5047488"/>
            <a:ext cx="5157216" cy="1106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sleep 300 &amp;</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[1] 1970</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pstree -p $$</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bash(1913)─┬─pstree(1975)</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├─sleep(1970)</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└─yes(1971)</a:t>
            </a:r>
            <a:endParaRPr lang="tr-TR" sz="1150" dirty="0"/>
          </a:p>
        </p:txBody>
      </p:sp>
      <p:sp>
        <p:nvSpPr>
          <p:cNvPr id="26" name="Shape 24"/>
          <p:cNvSpPr/>
          <p:nvPr/>
        </p:nvSpPr>
        <p:spPr>
          <a:xfrm>
            <a:off x="6263640" y="4937760"/>
            <a:ext cx="5394960" cy="1325880"/>
          </a:xfrm>
          <a:prstGeom prst="roundRect">
            <a:avLst>
              <a:gd name="adj" fmla="val 4138"/>
            </a:avLst>
          </a:prstGeom>
          <a:solidFill>
            <a:srgbClr val="F2F2F2"/>
          </a:solidFill>
          <a:ln/>
          <a:effectLst>
            <a:outerShdw sx="100000" sy="100000" kx="0" ky="0" algn="bl" rotWithShape="0" blurRad="101600" dist="25400" dir="5400000">
              <a:srgbClr val="000000">
                <a:alpha val="12000"/>
              </a:srgbClr>
            </a:outerShdw>
          </a:effectLst>
        </p:spPr>
      </p:sp>
      <p:sp>
        <p:nvSpPr>
          <p:cNvPr id="27" name="Text 25"/>
          <p:cNvSpPr txBox="1"/>
          <p:nvPr/>
        </p:nvSpPr>
        <p:spPr>
          <a:xfrm>
            <a:off x="6492240" y="5120640"/>
            <a:ext cx="4937760" cy="100584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exec() öncesinde ve sonrasında PID aynıdır: çocuk numarasını korur ama yeni bir program çalıştırır. [1] iş numarası, 1970 PID'dir.</a:t>
            </a:r>
            <a:endParaRPr lang="tr-TR"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HAFTAYLA BAĞLANTI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3. Hafta Durumları, ps STAT Harfleri ve Sizin Eylemleriniz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6</a:t>
            </a:r>
            <a:endParaRPr lang="tr-TR" sz="900" dirty="0"/>
          </a:p>
        </p:txBody>
      </p:sp>
      <p:sp>
        <p:nvSpPr>
          <p:cNvPr id="6" name="Shape 4"/>
          <p:cNvSpPr/>
          <p:nvPr/>
        </p:nvSpPr>
        <p:spPr>
          <a:xfrm>
            <a:off x="548640" y="1783080"/>
            <a:ext cx="1828800" cy="640080"/>
          </a:xfrm>
          <a:prstGeom prst="roundRect">
            <a:avLst>
              <a:gd name="adj" fmla="val 25714"/>
            </a:avLst>
          </a:prstGeom>
          <a:solidFill>
            <a:srgbClr val="F2F2F2"/>
          </a:solidFill>
          <a:ln/>
        </p:spPr>
      </p:sp>
      <p:sp>
        <p:nvSpPr>
          <p:cNvPr id="7" name="Text 5"/>
          <p:cNvSpPr txBox="1"/>
          <p:nvPr/>
        </p:nvSpPr>
        <p:spPr>
          <a:xfrm>
            <a:off x="548640" y="1783080"/>
            <a:ext cx="1828800" cy="640080"/>
          </a:xfrm>
          <a:prstGeom prst="rect">
            <a:avLst/>
          </a:prstGeom>
          <a:noFill/>
          <a:ln/>
        </p:spPr>
        <p:txBody>
          <a:bodyPr wrap="square" lIns="0" tIns="0" rIns="0" bIns="0" rtlCol="0" anchor="ctr"/>
          <a:lstStyle/>
          <a:p>
            <a:pPr algn="ctr" indent="0" marL="0">
              <a:buNone/>
            </a:pPr>
            <a:r>
              <a:rPr lang="tr-TR" sz="1600" b="1" dirty="0">
                <a:solidFill>
                  <a:srgbClr val="36454F"/>
                </a:solidFill>
                <a:latin typeface="Cambria" pitchFamily="34" charset="0"/>
                <a:ea typeface="Cambria" pitchFamily="34" charset="-122"/>
                <a:cs typeface="Cambria" pitchFamily="34" charset="-120"/>
              </a:rPr>
              <a:t>yeni</a:t>
            </a:r>
            <a:endParaRPr lang="tr-TR" sz="1600" dirty="0"/>
          </a:p>
        </p:txBody>
      </p:sp>
      <p:sp>
        <p:nvSpPr>
          <p:cNvPr id="8" name="Shape 6"/>
          <p:cNvSpPr/>
          <p:nvPr/>
        </p:nvSpPr>
        <p:spPr>
          <a:xfrm>
            <a:off x="2066544" y="1581912"/>
            <a:ext cx="420624" cy="365760"/>
          </a:xfrm>
          <a:prstGeom prst="roundRect">
            <a:avLst>
              <a:gd name="adj" fmla="val 50000"/>
            </a:avLst>
          </a:prstGeom>
          <a:solidFill>
            <a:srgbClr val="02C39A"/>
          </a:solidFill>
          <a:ln w="19050">
            <a:solidFill>
              <a:srgbClr val="FFFFFF"/>
            </a:solidFill>
            <a:prstDash val="solid"/>
          </a:ln>
        </p:spPr>
      </p:sp>
      <p:sp>
        <p:nvSpPr>
          <p:cNvPr id="9" name="Text 7"/>
          <p:cNvSpPr txBox="1"/>
          <p:nvPr/>
        </p:nvSpPr>
        <p:spPr>
          <a:xfrm>
            <a:off x="2066544" y="1581912"/>
            <a:ext cx="420624" cy="365760"/>
          </a:xfrm>
          <a:prstGeom prst="rect">
            <a:avLst/>
          </a:prstGeom>
          <a:noFill/>
          <a:ln/>
        </p:spPr>
        <p:txBody>
          <a:bodyPr wrap="square" lIns="0" tIns="0" rIns="0" bIns="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a:t>
            </a:r>
            <a:endParaRPr lang="tr-TR" sz="1300" dirty="0"/>
          </a:p>
        </p:txBody>
      </p:sp>
      <p:sp>
        <p:nvSpPr>
          <p:cNvPr id="10" name="Shape 8"/>
          <p:cNvSpPr/>
          <p:nvPr/>
        </p:nvSpPr>
        <p:spPr>
          <a:xfrm>
            <a:off x="1828800" y="3291840"/>
            <a:ext cx="1828800" cy="640080"/>
          </a:xfrm>
          <a:prstGeom prst="roundRect">
            <a:avLst>
              <a:gd name="adj" fmla="val 25714"/>
            </a:avLst>
          </a:prstGeom>
          <a:solidFill>
            <a:srgbClr val="D7E9E6"/>
          </a:solidFill>
          <a:ln/>
        </p:spPr>
      </p:sp>
      <p:sp>
        <p:nvSpPr>
          <p:cNvPr id="11" name="Text 9"/>
          <p:cNvSpPr txBox="1"/>
          <p:nvPr/>
        </p:nvSpPr>
        <p:spPr>
          <a:xfrm>
            <a:off x="1828800" y="3291840"/>
            <a:ext cx="1828800" cy="640080"/>
          </a:xfrm>
          <a:prstGeom prst="rect">
            <a:avLst/>
          </a:prstGeom>
          <a:noFill/>
          <a:ln/>
        </p:spPr>
        <p:txBody>
          <a:bodyPr wrap="square" lIns="0" tIns="0" rIns="0" bIns="0" rtlCol="0" anchor="ctr"/>
          <a:lstStyle/>
          <a:p>
            <a:pPr algn="ctr" indent="0" marL="0">
              <a:buNone/>
            </a:pPr>
            <a:r>
              <a:rPr lang="tr-TR" sz="1600" b="1" dirty="0">
                <a:solidFill>
                  <a:srgbClr val="36454F"/>
                </a:solidFill>
                <a:latin typeface="Cambria" pitchFamily="34" charset="0"/>
                <a:ea typeface="Cambria" pitchFamily="34" charset="-122"/>
                <a:cs typeface="Cambria" pitchFamily="34" charset="-120"/>
              </a:rPr>
              <a:t>hazır</a:t>
            </a:r>
            <a:endParaRPr lang="tr-TR" sz="1600" dirty="0"/>
          </a:p>
        </p:txBody>
      </p:sp>
      <p:sp>
        <p:nvSpPr>
          <p:cNvPr id="12" name="Shape 10"/>
          <p:cNvSpPr/>
          <p:nvPr/>
        </p:nvSpPr>
        <p:spPr>
          <a:xfrm>
            <a:off x="3346704" y="3090672"/>
            <a:ext cx="420624" cy="365760"/>
          </a:xfrm>
          <a:prstGeom prst="roundRect">
            <a:avLst>
              <a:gd name="adj" fmla="val 50000"/>
            </a:avLst>
          </a:prstGeom>
          <a:solidFill>
            <a:srgbClr val="02C39A"/>
          </a:solidFill>
          <a:ln w="19050">
            <a:solidFill>
              <a:srgbClr val="FFFFFF"/>
            </a:solidFill>
            <a:prstDash val="solid"/>
          </a:ln>
        </p:spPr>
      </p:sp>
      <p:sp>
        <p:nvSpPr>
          <p:cNvPr id="13" name="Text 11"/>
          <p:cNvSpPr txBox="1"/>
          <p:nvPr/>
        </p:nvSpPr>
        <p:spPr>
          <a:xfrm>
            <a:off x="3346704" y="3090672"/>
            <a:ext cx="420624" cy="365760"/>
          </a:xfrm>
          <a:prstGeom prst="rect">
            <a:avLst/>
          </a:prstGeom>
          <a:noFill/>
          <a:ln/>
        </p:spPr>
        <p:txBody>
          <a:bodyPr wrap="square" lIns="0" tIns="0" rIns="0" bIns="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R</a:t>
            </a:r>
            <a:endParaRPr lang="tr-TR" sz="1300" dirty="0"/>
          </a:p>
        </p:txBody>
      </p:sp>
      <p:sp>
        <p:nvSpPr>
          <p:cNvPr id="14" name="Shape 12"/>
          <p:cNvSpPr/>
          <p:nvPr/>
        </p:nvSpPr>
        <p:spPr>
          <a:xfrm>
            <a:off x="6492240" y="3291840"/>
            <a:ext cx="1828800" cy="640080"/>
          </a:xfrm>
          <a:prstGeom prst="roundRect">
            <a:avLst>
              <a:gd name="adj" fmla="val 25714"/>
            </a:avLst>
          </a:prstGeom>
          <a:solidFill>
            <a:srgbClr val="02C39A"/>
          </a:solidFill>
          <a:ln/>
        </p:spPr>
      </p:sp>
      <p:sp>
        <p:nvSpPr>
          <p:cNvPr id="15" name="Text 13"/>
          <p:cNvSpPr txBox="1"/>
          <p:nvPr/>
        </p:nvSpPr>
        <p:spPr>
          <a:xfrm>
            <a:off x="6492240" y="3291840"/>
            <a:ext cx="1828800" cy="640080"/>
          </a:xfrm>
          <a:prstGeom prst="rect">
            <a:avLst/>
          </a:prstGeom>
          <a:noFill/>
          <a:ln/>
        </p:spPr>
        <p:txBody>
          <a:bodyPr wrap="square" lIns="0" tIns="0" rIns="0" bIns="0" rtlCol="0" anchor="ctr"/>
          <a:lstStyle/>
          <a:p>
            <a:pPr algn="ctr" indent="0" marL="0">
              <a:buNone/>
            </a:pPr>
            <a:r>
              <a:rPr lang="tr-TR" sz="1600" b="1" dirty="0">
                <a:solidFill>
                  <a:srgbClr val="36454F"/>
                </a:solidFill>
                <a:latin typeface="Cambria" pitchFamily="34" charset="0"/>
                <a:ea typeface="Cambria" pitchFamily="34" charset="-122"/>
                <a:cs typeface="Cambria" pitchFamily="34" charset="-120"/>
              </a:rPr>
              <a:t>çalışıyor</a:t>
            </a:r>
            <a:endParaRPr lang="tr-TR" sz="1600" dirty="0"/>
          </a:p>
        </p:txBody>
      </p:sp>
      <p:sp>
        <p:nvSpPr>
          <p:cNvPr id="16" name="Shape 14"/>
          <p:cNvSpPr/>
          <p:nvPr/>
        </p:nvSpPr>
        <p:spPr>
          <a:xfrm>
            <a:off x="8010144" y="3090672"/>
            <a:ext cx="420624" cy="365760"/>
          </a:xfrm>
          <a:prstGeom prst="roundRect">
            <a:avLst>
              <a:gd name="adj" fmla="val 50000"/>
            </a:avLst>
          </a:prstGeom>
          <a:solidFill>
            <a:srgbClr val="02C39A"/>
          </a:solidFill>
          <a:ln w="19050">
            <a:solidFill>
              <a:srgbClr val="FFFFFF"/>
            </a:solidFill>
            <a:prstDash val="solid"/>
          </a:ln>
        </p:spPr>
      </p:sp>
      <p:sp>
        <p:nvSpPr>
          <p:cNvPr id="17" name="Text 15"/>
          <p:cNvSpPr txBox="1"/>
          <p:nvPr/>
        </p:nvSpPr>
        <p:spPr>
          <a:xfrm>
            <a:off x="8010144" y="3090672"/>
            <a:ext cx="420624" cy="365760"/>
          </a:xfrm>
          <a:prstGeom prst="rect">
            <a:avLst/>
          </a:prstGeom>
          <a:noFill/>
          <a:ln/>
        </p:spPr>
        <p:txBody>
          <a:bodyPr wrap="square" lIns="0" tIns="0" rIns="0" bIns="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R</a:t>
            </a:r>
            <a:endParaRPr lang="tr-TR" sz="1300" dirty="0"/>
          </a:p>
        </p:txBody>
      </p:sp>
      <p:sp>
        <p:nvSpPr>
          <p:cNvPr id="18" name="Shape 16"/>
          <p:cNvSpPr/>
          <p:nvPr/>
        </p:nvSpPr>
        <p:spPr>
          <a:xfrm>
            <a:off x="4160520" y="4800600"/>
            <a:ext cx="1828800" cy="640080"/>
          </a:xfrm>
          <a:prstGeom prst="roundRect">
            <a:avLst>
              <a:gd name="adj" fmla="val 25714"/>
            </a:avLst>
          </a:prstGeom>
          <a:solidFill>
            <a:srgbClr val="50808E"/>
          </a:solidFill>
          <a:ln/>
        </p:spPr>
      </p:sp>
      <p:sp>
        <p:nvSpPr>
          <p:cNvPr id="19" name="Text 17"/>
          <p:cNvSpPr txBox="1"/>
          <p:nvPr/>
        </p:nvSpPr>
        <p:spPr>
          <a:xfrm>
            <a:off x="4160520" y="4800600"/>
            <a:ext cx="1828800" cy="640080"/>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bekliyor</a:t>
            </a:r>
            <a:endParaRPr lang="tr-TR" sz="1600" dirty="0"/>
          </a:p>
        </p:txBody>
      </p:sp>
      <p:sp>
        <p:nvSpPr>
          <p:cNvPr id="20" name="Shape 18"/>
          <p:cNvSpPr/>
          <p:nvPr/>
        </p:nvSpPr>
        <p:spPr>
          <a:xfrm>
            <a:off x="5367528" y="4599432"/>
            <a:ext cx="731520" cy="365760"/>
          </a:xfrm>
          <a:prstGeom prst="roundRect">
            <a:avLst>
              <a:gd name="adj" fmla="val 50000"/>
            </a:avLst>
          </a:prstGeom>
          <a:solidFill>
            <a:srgbClr val="02C39A"/>
          </a:solidFill>
          <a:ln w="19050">
            <a:solidFill>
              <a:srgbClr val="FFFFFF"/>
            </a:solidFill>
            <a:prstDash val="solid"/>
          </a:ln>
        </p:spPr>
      </p:sp>
      <p:sp>
        <p:nvSpPr>
          <p:cNvPr id="21" name="Text 19"/>
          <p:cNvSpPr txBox="1"/>
          <p:nvPr/>
        </p:nvSpPr>
        <p:spPr>
          <a:xfrm>
            <a:off x="5367528" y="4599432"/>
            <a:ext cx="731520" cy="365760"/>
          </a:xfrm>
          <a:prstGeom prst="rect">
            <a:avLst/>
          </a:prstGeom>
          <a:noFill/>
          <a:ln/>
        </p:spPr>
        <p:txBody>
          <a:bodyPr wrap="square" lIns="0" tIns="0" rIns="0" bIns="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S D</a:t>
            </a:r>
            <a:endParaRPr lang="tr-TR" sz="1300" dirty="0"/>
          </a:p>
        </p:txBody>
      </p:sp>
      <p:sp>
        <p:nvSpPr>
          <p:cNvPr id="22" name="Shape 20"/>
          <p:cNvSpPr/>
          <p:nvPr/>
        </p:nvSpPr>
        <p:spPr>
          <a:xfrm>
            <a:off x="8001000" y="1783080"/>
            <a:ext cx="1828800" cy="640080"/>
          </a:xfrm>
          <a:prstGeom prst="roundRect">
            <a:avLst>
              <a:gd name="adj" fmla="val 25714"/>
            </a:avLst>
          </a:prstGeom>
          <a:solidFill>
            <a:srgbClr val="F2F2F2"/>
          </a:solidFill>
          <a:ln/>
        </p:spPr>
      </p:sp>
      <p:sp>
        <p:nvSpPr>
          <p:cNvPr id="23" name="Text 21"/>
          <p:cNvSpPr txBox="1"/>
          <p:nvPr/>
        </p:nvSpPr>
        <p:spPr>
          <a:xfrm>
            <a:off x="8001000" y="1783080"/>
            <a:ext cx="1828800" cy="640080"/>
          </a:xfrm>
          <a:prstGeom prst="rect">
            <a:avLst/>
          </a:prstGeom>
          <a:noFill/>
          <a:ln/>
        </p:spPr>
        <p:txBody>
          <a:bodyPr wrap="square" lIns="0" tIns="0" rIns="0" bIns="0" rtlCol="0" anchor="ctr"/>
          <a:lstStyle/>
          <a:p>
            <a:pPr algn="ctr" indent="0" marL="0">
              <a:buNone/>
            </a:pPr>
            <a:r>
              <a:rPr lang="tr-TR" sz="1600" b="1" dirty="0">
                <a:solidFill>
                  <a:srgbClr val="36454F"/>
                </a:solidFill>
                <a:latin typeface="Cambria" pitchFamily="34" charset="0"/>
                <a:ea typeface="Cambria" pitchFamily="34" charset="-122"/>
                <a:cs typeface="Cambria" pitchFamily="34" charset="-120"/>
              </a:rPr>
              <a:t>sonlandı</a:t>
            </a:r>
            <a:endParaRPr lang="tr-TR" sz="1600" dirty="0"/>
          </a:p>
        </p:txBody>
      </p:sp>
      <p:sp>
        <p:nvSpPr>
          <p:cNvPr id="24" name="Shape 22"/>
          <p:cNvSpPr/>
          <p:nvPr/>
        </p:nvSpPr>
        <p:spPr>
          <a:xfrm>
            <a:off x="9518904" y="1581912"/>
            <a:ext cx="420624" cy="365760"/>
          </a:xfrm>
          <a:prstGeom prst="roundRect">
            <a:avLst>
              <a:gd name="adj" fmla="val 50000"/>
            </a:avLst>
          </a:prstGeom>
          <a:solidFill>
            <a:srgbClr val="02C39A"/>
          </a:solidFill>
          <a:ln w="19050">
            <a:solidFill>
              <a:srgbClr val="FFFFFF"/>
            </a:solidFill>
            <a:prstDash val="solid"/>
          </a:ln>
        </p:spPr>
      </p:sp>
      <p:sp>
        <p:nvSpPr>
          <p:cNvPr id="25" name="Text 23"/>
          <p:cNvSpPr txBox="1"/>
          <p:nvPr/>
        </p:nvSpPr>
        <p:spPr>
          <a:xfrm>
            <a:off x="9518904" y="1581912"/>
            <a:ext cx="420624" cy="365760"/>
          </a:xfrm>
          <a:prstGeom prst="rect">
            <a:avLst/>
          </a:prstGeom>
          <a:noFill/>
          <a:ln/>
        </p:spPr>
        <p:txBody>
          <a:bodyPr wrap="square" lIns="0" tIns="0" rIns="0" bIns="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Z</a:t>
            </a:r>
            <a:endParaRPr lang="tr-TR" sz="1300" dirty="0"/>
          </a:p>
        </p:txBody>
      </p:sp>
      <p:sp>
        <p:nvSpPr>
          <p:cNvPr id="26" name="Shape 24"/>
          <p:cNvSpPr/>
          <p:nvPr/>
        </p:nvSpPr>
        <p:spPr>
          <a:xfrm>
            <a:off x="4160520" y="1783080"/>
            <a:ext cx="1828800" cy="640080"/>
          </a:xfrm>
          <a:prstGeom prst="roundRect">
            <a:avLst>
              <a:gd name="adj" fmla="val 25714"/>
            </a:avLst>
          </a:prstGeom>
          <a:solidFill>
            <a:srgbClr val="F5EBD7"/>
          </a:solidFill>
          <a:ln/>
        </p:spPr>
      </p:sp>
      <p:sp>
        <p:nvSpPr>
          <p:cNvPr id="27" name="Text 25"/>
          <p:cNvSpPr txBox="1"/>
          <p:nvPr/>
        </p:nvSpPr>
        <p:spPr>
          <a:xfrm>
            <a:off x="4160520" y="1783080"/>
            <a:ext cx="1828800" cy="640080"/>
          </a:xfrm>
          <a:prstGeom prst="rect">
            <a:avLst/>
          </a:prstGeom>
          <a:noFill/>
          <a:ln/>
        </p:spPr>
        <p:txBody>
          <a:bodyPr wrap="square" lIns="0" tIns="0" rIns="0" bIns="0" rtlCol="0" anchor="ctr"/>
          <a:lstStyle/>
          <a:p>
            <a:pPr algn="ctr" indent="0" marL="0">
              <a:buNone/>
            </a:pPr>
            <a:r>
              <a:rPr lang="tr-TR" sz="1600" b="1" dirty="0">
                <a:solidFill>
                  <a:srgbClr val="36454F"/>
                </a:solidFill>
                <a:latin typeface="Cambria" pitchFamily="34" charset="0"/>
                <a:ea typeface="Cambria" pitchFamily="34" charset="-122"/>
                <a:cs typeface="Cambria" pitchFamily="34" charset="-120"/>
              </a:rPr>
              <a:t>durdurulmuş</a:t>
            </a:r>
            <a:endParaRPr lang="tr-TR" sz="1600" dirty="0"/>
          </a:p>
        </p:txBody>
      </p:sp>
      <p:sp>
        <p:nvSpPr>
          <p:cNvPr id="28" name="Shape 26"/>
          <p:cNvSpPr/>
          <p:nvPr/>
        </p:nvSpPr>
        <p:spPr>
          <a:xfrm>
            <a:off x="5678424" y="1581912"/>
            <a:ext cx="420624" cy="365760"/>
          </a:xfrm>
          <a:prstGeom prst="roundRect">
            <a:avLst>
              <a:gd name="adj" fmla="val 50000"/>
            </a:avLst>
          </a:prstGeom>
          <a:solidFill>
            <a:srgbClr val="02C39A"/>
          </a:solidFill>
          <a:ln w="19050">
            <a:solidFill>
              <a:srgbClr val="FFFFFF"/>
            </a:solidFill>
            <a:prstDash val="solid"/>
          </a:ln>
        </p:spPr>
      </p:sp>
      <p:sp>
        <p:nvSpPr>
          <p:cNvPr id="29" name="Text 27"/>
          <p:cNvSpPr txBox="1"/>
          <p:nvPr/>
        </p:nvSpPr>
        <p:spPr>
          <a:xfrm>
            <a:off x="5678424" y="1581912"/>
            <a:ext cx="420624" cy="365760"/>
          </a:xfrm>
          <a:prstGeom prst="rect">
            <a:avLst/>
          </a:prstGeom>
          <a:noFill/>
          <a:ln/>
        </p:spPr>
        <p:txBody>
          <a:bodyPr wrap="square" lIns="0" tIns="0" rIns="0" bIns="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T</a:t>
            </a:r>
            <a:endParaRPr lang="tr-TR" sz="1300" dirty="0"/>
          </a:p>
        </p:txBody>
      </p:sp>
      <p:sp>
        <p:nvSpPr>
          <p:cNvPr id="30" name="Shape 28"/>
          <p:cNvSpPr/>
          <p:nvPr/>
        </p:nvSpPr>
        <p:spPr>
          <a:xfrm>
            <a:off x="10195560" y="1783080"/>
            <a:ext cx="1417320" cy="640080"/>
          </a:xfrm>
          <a:prstGeom prst="roundRect">
            <a:avLst>
              <a:gd name="adj" fmla="val 25714"/>
            </a:avLst>
          </a:prstGeom>
          <a:solidFill>
            <a:srgbClr val="FFFFFF"/>
          </a:solidFill>
          <a:ln w="12700">
            <a:solidFill>
              <a:srgbClr val="50808E"/>
            </a:solidFill>
            <a:prstDash val="dash"/>
          </a:ln>
        </p:spPr>
      </p:sp>
      <p:sp>
        <p:nvSpPr>
          <p:cNvPr id="31" name="Text 29"/>
          <p:cNvSpPr txBox="1"/>
          <p:nvPr/>
        </p:nvSpPr>
        <p:spPr>
          <a:xfrm>
            <a:off x="10195560" y="1783080"/>
            <a:ext cx="1417320" cy="640080"/>
          </a:xfrm>
          <a:prstGeom prst="rect">
            <a:avLst/>
          </a:prstGeom>
          <a:noFill/>
          <a:ln/>
        </p:spPr>
        <p:txBody>
          <a:bodyPr wrap="square" lIns="0" tIns="0" rIns="0" bIns="0" rtlCol="0" anchor="ctr"/>
          <a:lstStyle/>
          <a:p>
            <a:pPr algn="ctr" indent="0" marL="0">
              <a:buNone/>
            </a:pPr>
            <a:r>
              <a:rPr lang="tr-TR" sz="1400" i="1" dirty="0">
                <a:solidFill>
                  <a:srgbClr val="6B7679"/>
                </a:solidFill>
                <a:latin typeface="Calibri" pitchFamily="34" charset="0"/>
                <a:ea typeface="Calibri" pitchFamily="34" charset="-122"/>
                <a:cs typeface="Calibri" pitchFamily="34" charset="-120"/>
              </a:rPr>
              <a:t>kaldırıldı</a:t>
            </a:r>
            <a:endParaRPr lang="tr-TR" sz="1400" dirty="0"/>
          </a:p>
        </p:txBody>
      </p:sp>
      <p:sp>
        <p:nvSpPr>
          <p:cNvPr id="32" name="Shape 30"/>
          <p:cNvSpPr/>
          <p:nvPr/>
        </p:nvSpPr>
        <p:spPr>
          <a:xfrm>
            <a:off x="1463040" y="2441448"/>
            <a:ext cx="822960" cy="832104"/>
          </a:xfrm>
          <a:prstGeom prst="line">
            <a:avLst/>
          </a:prstGeom>
          <a:noFill/>
          <a:ln w="22225">
            <a:solidFill>
              <a:srgbClr val="50808E"/>
            </a:solidFill>
            <a:prstDash val="solid"/>
            <a:tailEnd type="triangle"/>
          </a:ln>
        </p:spPr>
      </p:sp>
      <p:sp>
        <p:nvSpPr>
          <p:cNvPr id="33" name="Text 31"/>
          <p:cNvSpPr txBox="1"/>
          <p:nvPr/>
        </p:nvSpPr>
        <p:spPr>
          <a:xfrm>
            <a:off x="320040" y="2606040"/>
            <a:ext cx="1280160" cy="320040"/>
          </a:xfrm>
          <a:prstGeom prst="rect">
            <a:avLst/>
          </a:prstGeom>
          <a:noFill/>
          <a:ln/>
        </p:spPr>
        <p:txBody>
          <a:bodyPr wrap="square" lIns="0" tIns="0" rIns="0" bIns="0" rtlCol="0" anchor="ctr"/>
          <a:lstStyle/>
          <a:p>
            <a:pPr indent="0" marL="0">
              <a:buNone/>
            </a:pPr>
            <a:r>
              <a:rPr lang="tr-TR" sz="1250" b="1" dirty="0">
                <a:solidFill>
                  <a:srgbClr val="50808E"/>
                </a:solidFill>
                <a:latin typeface="Calibri" pitchFamily="34" charset="0"/>
                <a:ea typeface="Calibri" pitchFamily="34" charset="-122"/>
                <a:cs typeface="Calibri" pitchFamily="34" charset="-120"/>
              </a:rPr>
              <a:t>kabul edildi</a:t>
            </a:r>
            <a:endParaRPr lang="tr-TR" sz="1250" dirty="0"/>
          </a:p>
        </p:txBody>
      </p:sp>
      <p:sp>
        <p:nvSpPr>
          <p:cNvPr id="34" name="Shape 32"/>
          <p:cNvSpPr/>
          <p:nvPr/>
        </p:nvSpPr>
        <p:spPr>
          <a:xfrm>
            <a:off x="3675888" y="3456432"/>
            <a:ext cx="2798064" cy="91"/>
          </a:xfrm>
          <a:prstGeom prst="line">
            <a:avLst/>
          </a:prstGeom>
          <a:noFill/>
          <a:ln w="22225">
            <a:solidFill>
              <a:srgbClr val="50808E"/>
            </a:solidFill>
            <a:prstDash val="solid"/>
            <a:tailEnd type="triangle"/>
          </a:ln>
        </p:spPr>
      </p:sp>
      <p:sp>
        <p:nvSpPr>
          <p:cNvPr id="35" name="Text 33"/>
          <p:cNvSpPr txBox="1"/>
          <p:nvPr/>
        </p:nvSpPr>
        <p:spPr>
          <a:xfrm>
            <a:off x="3749040" y="3136392"/>
            <a:ext cx="2834640" cy="301752"/>
          </a:xfrm>
          <a:prstGeom prst="rect">
            <a:avLst/>
          </a:prstGeom>
          <a:noFill/>
          <a:ln/>
        </p:spPr>
        <p:txBody>
          <a:bodyPr wrap="square" lIns="0" tIns="0" rIns="0" bIns="0" rtlCol="0" anchor="ctr"/>
          <a:lstStyle/>
          <a:p>
            <a:pPr algn="ctr" indent="0" marL="0">
              <a:buNone/>
            </a:pPr>
            <a:r>
              <a:rPr lang="tr-TR" sz="1250" b="1" dirty="0">
                <a:solidFill>
                  <a:srgbClr val="50808E"/>
                </a:solidFill>
                <a:latin typeface="Calibri" pitchFamily="34" charset="0"/>
                <a:ea typeface="Calibri" pitchFamily="34" charset="-122"/>
                <a:cs typeface="Calibri" pitchFamily="34" charset="-120"/>
              </a:rPr>
              <a:t>zamanlayıcı görevlendirir</a:t>
            </a:r>
            <a:endParaRPr lang="tr-TR" sz="1250" dirty="0"/>
          </a:p>
        </p:txBody>
      </p:sp>
      <p:sp>
        <p:nvSpPr>
          <p:cNvPr id="36" name="Shape 34"/>
          <p:cNvSpPr/>
          <p:nvPr/>
        </p:nvSpPr>
        <p:spPr>
          <a:xfrm flipH="1">
            <a:off x="3675888" y="3767328"/>
            <a:ext cx="2798064" cy="91"/>
          </a:xfrm>
          <a:prstGeom prst="line">
            <a:avLst/>
          </a:prstGeom>
          <a:noFill/>
          <a:ln w="22225">
            <a:solidFill>
              <a:srgbClr val="50808E"/>
            </a:solidFill>
            <a:prstDash val="solid"/>
            <a:tailEnd type="triangle"/>
          </a:ln>
        </p:spPr>
      </p:sp>
      <p:sp>
        <p:nvSpPr>
          <p:cNvPr id="37" name="Text 35"/>
          <p:cNvSpPr txBox="1"/>
          <p:nvPr/>
        </p:nvSpPr>
        <p:spPr>
          <a:xfrm>
            <a:off x="4023360" y="3785616"/>
            <a:ext cx="2286000" cy="301752"/>
          </a:xfrm>
          <a:prstGeom prst="rect">
            <a:avLst/>
          </a:prstGeom>
          <a:noFill/>
          <a:ln/>
        </p:spPr>
        <p:txBody>
          <a:bodyPr wrap="square" lIns="0" tIns="0" rIns="0" bIns="0" rtlCol="0" anchor="ctr"/>
          <a:lstStyle/>
          <a:p>
            <a:pPr algn="ctr" indent="0" marL="0">
              <a:buNone/>
            </a:pPr>
            <a:r>
              <a:rPr lang="tr-TR" sz="1250" b="1" dirty="0">
                <a:solidFill>
                  <a:srgbClr val="50808E"/>
                </a:solidFill>
                <a:latin typeface="Calibri" pitchFamily="34" charset="0"/>
                <a:ea typeface="Calibri" pitchFamily="34" charset="-122"/>
                <a:cs typeface="Calibri" pitchFamily="34" charset="-120"/>
              </a:rPr>
              <a:t>zaman dilimi doldu</a:t>
            </a:r>
            <a:endParaRPr lang="tr-TR" sz="1250" dirty="0"/>
          </a:p>
        </p:txBody>
      </p:sp>
      <p:sp>
        <p:nvSpPr>
          <p:cNvPr id="38" name="Shape 36"/>
          <p:cNvSpPr/>
          <p:nvPr/>
        </p:nvSpPr>
        <p:spPr>
          <a:xfrm flipH="1">
            <a:off x="6007608" y="3950208"/>
            <a:ext cx="1033272" cy="987552"/>
          </a:xfrm>
          <a:prstGeom prst="line">
            <a:avLst/>
          </a:prstGeom>
          <a:noFill/>
          <a:ln w="22225">
            <a:solidFill>
              <a:srgbClr val="50808E"/>
            </a:solidFill>
            <a:prstDash val="solid"/>
            <a:tailEnd type="triangle"/>
          </a:ln>
        </p:spPr>
      </p:sp>
      <p:sp>
        <p:nvSpPr>
          <p:cNvPr id="39" name="Text 37"/>
          <p:cNvSpPr txBox="1"/>
          <p:nvPr/>
        </p:nvSpPr>
        <p:spPr>
          <a:xfrm>
            <a:off x="6720840" y="4343400"/>
            <a:ext cx="2011680" cy="301752"/>
          </a:xfrm>
          <a:prstGeom prst="rect">
            <a:avLst/>
          </a:prstGeom>
          <a:noFill/>
          <a:ln/>
        </p:spPr>
        <p:txBody>
          <a:bodyPr wrap="square" lIns="0" tIns="0" rIns="0" bIns="0" rtlCol="0" anchor="ctr"/>
          <a:lstStyle/>
          <a:p>
            <a:pPr indent="0" marL="0">
              <a:buNone/>
            </a:pPr>
            <a:r>
              <a:rPr lang="tr-TR" sz="1250" b="1" dirty="0">
                <a:solidFill>
                  <a:srgbClr val="50808E"/>
                </a:solidFill>
                <a:latin typeface="Calibri" pitchFamily="34" charset="0"/>
                <a:ea typeface="Calibri" pitchFamily="34" charset="-122"/>
                <a:cs typeface="Calibri" pitchFamily="34" charset="-120"/>
              </a:rPr>
              <a:t>G/Ç, sleep, wait()</a:t>
            </a:r>
            <a:endParaRPr lang="tr-TR" sz="1250" dirty="0"/>
          </a:p>
        </p:txBody>
      </p:sp>
      <p:sp>
        <p:nvSpPr>
          <p:cNvPr id="40" name="Shape 38"/>
          <p:cNvSpPr/>
          <p:nvPr/>
        </p:nvSpPr>
        <p:spPr>
          <a:xfrm flipH="1" flipV="1">
            <a:off x="3108960" y="3950208"/>
            <a:ext cx="1033272" cy="987552"/>
          </a:xfrm>
          <a:prstGeom prst="line">
            <a:avLst/>
          </a:prstGeom>
          <a:noFill/>
          <a:ln w="22225">
            <a:solidFill>
              <a:srgbClr val="50808E"/>
            </a:solidFill>
            <a:prstDash val="solid"/>
            <a:tailEnd type="triangle"/>
          </a:ln>
        </p:spPr>
      </p:sp>
      <p:sp>
        <p:nvSpPr>
          <p:cNvPr id="41" name="Text 39"/>
          <p:cNvSpPr txBox="1"/>
          <p:nvPr/>
        </p:nvSpPr>
        <p:spPr>
          <a:xfrm>
            <a:off x="1783080" y="4343400"/>
            <a:ext cx="1645920" cy="301752"/>
          </a:xfrm>
          <a:prstGeom prst="rect">
            <a:avLst/>
          </a:prstGeom>
          <a:noFill/>
          <a:ln/>
        </p:spPr>
        <p:txBody>
          <a:bodyPr wrap="square" lIns="0" tIns="0" rIns="0" bIns="0" rtlCol="0" anchor="ctr"/>
          <a:lstStyle/>
          <a:p>
            <a:pPr indent="0" marL="0">
              <a:buNone/>
            </a:pPr>
            <a:r>
              <a:rPr lang="tr-TR" sz="1250" b="1" dirty="0">
                <a:solidFill>
                  <a:srgbClr val="50808E"/>
                </a:solidFill>
                <a:latin typeface="Calibri" pitchFamily="34" charset="0"/>
                <a:ea typeface="Calibri" pitchFamily="34" charset="-122"/>
                <a:cs typeface="Calibri" pitchFamily="34" charset="-120"/>
              </a:rPr>
              <a:t>olay gerçekleşti</a:t>
            </a:r>
            <a:endParaRPr lang="tr-TR" sz="1250" dirty="0"/>
          </a:p>
        </p:txBody>
      </p:sp>
      <p:sp>
        <p:nvSpPr>
          <p:cNvPr id="42" name="Shape 40"/>
          <p:cNvSpPr/>
          <p:nvPr/>
        </p:nvSpPr>
        <p:spPr>
          <a:xfrm flipH="1" flipV="1">
            <a:off x="5852160" y="2441448"/>
            <a:ext cx="1097280" cy="832104"/>
          </a:xfrm>
          <a:prstGeom prst="line">
            <a:avLst/>
          </a:prstGeom>
          <a:noFill/>
          <a:ln w="31750">
            <a:solidFill>
              <a:srgbClr val="C98A1B"/>
            </a:solidFill>
            <a:prstDash val="solid"/>
            <a:tailEnd type="triangle"/>
          </a:ln>
        </p:spPr>
      </p:sp>
      <p:sp>
        <p:nvSpPr>
          <p:cNvPr id="43" name="Text 41"/>
          <p:cNvSpPr txBox="1"/>
          <p:nvPr/>
        </p:nvSpPr>
        <p:spPr>
          <a:xfrm>
            <a:off x="6446520" y="2331720"/>
            <a:ext cx="1371600" cy="548640"/>
          </a:xfrm>
          <a:prstGeom prst="rect">
            <a:avLst/>
          </a:prstGeom>
          <a:noFill/>
          <a:ln/>
        </p:spPr>
        <p:txBody>
          <a:bodyPr wrap="square" lIns="0" tIns="0" rIns="0" bIns="0" rtlCol="0" anchor="ctr"/>
          <a:lstStyle/>
          <a:p>
            <a:pPr indent="0" marL="0">
              <a:buNone/>
            </a:pPr>
            <a:r>
              <a:rPr lang="tr-TR" sz="1250" b="1" dirty="0">
                <a:solidFill>
                  <a:srgbClr val="C98A1B"/>
                </a:solidFill>
                <a:latin typeface="Calibri" pitchFamily="34" charset="0"/>
                <a:ea typeface="Calibri" pitchFamily="34" charset="-122"/>
                <a:cs typeface="Calibri" pitchFamily="34" charset="-120"/>
              </a:rPr>
              <a:t>Ctrl+Z</a:t>
            </a:r>
            <a:endParaRPr lang="tr-TR" sz="1250" dirty="0"/>
          </a:p>
          <a:p>
            <a:pPr indent="0" marL="0">
              <a:buNone/>
            </a:pPr>
            <a:r>
              <a:rPr lang="tr-TR" sz="1250" b="1" dirty="0">
                <a:solidFill>
                  <a:srgbClr val="C98A1B"/>
                </a:solidFill>
                <a:latin typeface="Calibri" pitchFamily="34" charset="0"/>
                <a:ea typeface="Calibri" pitchFamily="34" charset="-122"/>
                <a:cs typeface="Calibri" pitchFamily="34" charset="-120"/>
              </a:rPr>
              <a:t>kill -STOP</a:t>
            </a:r>
            <a:endParaRPr lang="tr-TR" sz="1250" dirty="0"/>
          </a:p>
        </p:txBody>
      </p:sp>
      <p:sp>
        <p:nvSpPr>
          <p:cNvPr id="44" name="Shape 42"/>
          <p:cNvSpPr/>
          <p:nvPr/>
        </p:nvSpPr>
        <p:spPr>
          <a:xfrm flipH="1">
            <a:off x="3200400" y="2441448"/>
            <a:ext cx="1097280" cy="832104"/>
          </a:xfrm>
          <a:prstGeom prst="line">
            <a:avLst/>
          </a:prstGeom>
          <a:noFill/>
          <a:ln w="31750">
            <a:solidFill>
              <a:srgbClr val="C98A1B"/>
            </a:solidFill>
            <a:prstDash val="solid"/>
            <a:tailEnd type="triangle"/>
          </a:ln>
        </p:spPr>
      </p:sp>
      <p:sp>
        <p:nvSpPr>
          <p:cNvPr id="45" name="Text 43"/>
          <p:cNvSpPr txBox="1"/>
          <p:nvPr/>
        </p:nvSpPr>
        <p:spPr>
          <a:xfrm>
            <a:off x="1874520" y="2286000"/>
            <a:ext cx="1371600" cy="548640"/>
          </a:xfrm>
          <a:prstGeom prst="rect">
            <a:avLst/>
          </a:prstGeom>
          <a:noFill/>
          <a:ln/>
        </p:spPr>
        <p:txBody>
          <a:bodyPr wrap="square" lIns="0" tIns="0" rIns="0" bIns="0" rtlCol="0" anchor="ctr"/>
          <a:lstStyle/>
          <a:p>
            <a:pPr algn="r" indent="0" marL="0">
              <a:buNone/>
            </a:pPr>
            <a:r>
              <a:rPr lang="tr-TR" sz="1250" b="1" dirty="0">
                <a:solidFill>
                  <a:srgbClr val="C98A1B"/>
                </a:solidFill>
                <a:latin typeface="Calibri" pitchFamily="34" charset="0"/>
                <a:ea typeface="Calibri" pitchFamily="34" charset="-122"/>
                <a:cs typeface="Calibri" pitchFamily="34" charset="-120"/>
              </a:rPr>
              <a:t>fg · bg</a:t>
            </a:r>
            <a:endParaRPr lang="tr-TR" sz="1250" dirty="0"/>
          </a:p>
          <a:p>
            <a:pPr algn="r" indent="0" marL="0">
              <a:buNone/>
            </a:pPr>
            <a:r>
              <a:rPr lang="tr-TR" sz="1250" b="1" dirty="0">
                <a:solidFill>
                  <a:srgbClr val="C98A1B"/>
                </a:solidFill>
                <a:latin typeface="Calibri" pitchFamily="34" charset="0"/>
                <a:ea typeface="Calibri" pitchFamily="34" charset="-122"/>
                <a:cs typeface="Calibri" pitchFamily="34" charset="-120"/>
              </a:rPr>
              <a:t>kill -CONT</a:t>
            </a:r>
            <a:endParaRPr lang="tr-TR" sz="1250" dirty="0"/>
          </a:p>
        </p:txBody>
      </p:sp>
      <p:sp>
        <p:nvSpPr>
          <p:cNvPr id="46" name="Shape 44"/>
          <p:cNvSpPr/>
          <p:nvPr/>
        </p:nvSpPr>
        <p:spPr>
          <a:xfrm flipV="1">
            <a:off x="7863840" y="2441448"/>
            <a:ext cx="640080" cy="832104"/>
          </a:xfrm>
          <a:prstGeom prst="line">
            <a:avLst/>
          </a:prstGeom>
          <a:noFill/>
          <a:ln w="31750">
            <a:solidFill>
              <a:srgbClr val="C98A1B"/>
            </a:solidFill>
            <a:prstDash val="solid"/>
            <a:tailEnd type="triangle"/>
          </a:ln>
        </p:spPr>
      </p:sp>
      <p:sp>
        <p:nvSpPr>
          <p:cNvPr id="47" name="Text 45"/>
          <p:cNvSpPr txBox="1"/>
          <p:nvPr/>
        </p:nvSpPr>
        <p:spPr>
          <a:xfrm>
            <a:off x="8458200" y="2606040"/>
            <a:ext cx="2377440" cy="548640"/>
          </a:xfrm>
          <a:prstGeom prst="rect">
            <a:avLst/>
          </a:prstGeom>
          <a:noFill/>
          <a:ln/>
        </p:spPr>
        <p:txBody>
          <a:bodyPr wrap="square" lIns="0" tIns="0" rIns="0" bIns="0" rtlCol="0" anchor="ctr"/>
          <a:lstStyle/>
          <a:p>
            <a:pPr indent="0" marL="0">
              <a:buNone/>
            </a:pPr>
            <a:r>
              <a:rPr lang="tr-TR" sz="1250" b="1" dirty="0">
                <a:solidFill>
                  <a:srgbClr val="C98A1B"/>
                </a:solidFill>
                <a:latin typeface="Calibri" pitchFamily="34" charset="0"/>
                <a:ea typeface="Calibri" pitchFamily="34" charset="-122"/>
                <a:cs typeface="Calibri" pitchFamily="34" charset="-120"/>
              </a:rPr>
              <a:t>exit()  ·  Ctrl+C</a:t>
            </a:r>
            <a:endParaRPr lang="tr-TR" sz="1250" dirty="0"/>
          </a:p>
          <a:p>
            <a:pPr indent="0" marL="0">
              <a:buNone/>
            </a:pPr>
            <a:r>
              <a:rPr lang="tr-TR" sz="1250" b="1" dirty="0">
                <a:solidFill>
                  <a:srgbClr val="C98A1B"/>
                </a:solidFill>
                <a:latin typeface="Calibri" pitchFamily="34" charset="0"/>
                <a:ea typeface="Calibri" pitchFamily="34" charset="-122"/>
                <a:cs typeface="Calibri" pitchFamily="34" charset="-120"/>
              </a:rPr>
              <a:t>kill  ·  kill -9</a:t>
            </a:r>
            <a:endParaRPr lang="tr-TR" sz="1250" dirty="0"/>
          </a:p>
        </p:txBody>
      </p:sp>
      <p:sp>
        <p:nvSpPr>
          <p:cNvPr id="48" name="Shape 46"/>
          <p:cNvSpPr/>
          <p:nvPr/>
        </p:nvSpPr>
        <p:spPr>
          <a:xfrm>
            <a:off x="9848088" y="2103120"/>
            <a:ext cx="329184" cy="91"/>
          </a:xfrm>
          <a:prstGeom prst="line">
            <a:avLst/>
          </a:prstGeom>
          <a:noFill/>
          <a:ln w="22225">
            <a:solidFill>
              <a:srgbClr val="50808E"/>
            </a:solidFill>
            <a:prstDash val="solid"/>
            <a:tailEnd type="triangle"/>
          </a:ln>
        </p:spPr>
      </p:sp>
      <p:sp>
        <p:nvSpPr>
          <p:cNvPr id="49" name="Text 47"/>
          <p:cNvSpPr txBox="1"/>
          <p:nvPr/>
        </p:nvSpPr>
        <p:spPr>
          <a:xfrm>
            <a:off x="8915400" y="1325880"/>
            <a:ext cx="2743200" cy="365760"/>
          </a:xfrm>
          <a:prstGeom prst="rect">
            <a:avLst/>
          </a:prstGeom>
          <a:noFill/>
          <a:ln/>
        </p:spPr>
        <p:txBody>
          <a:bodyPr wrap="square" lIns="0" tIns="0" rIns="0" bIns="0" rtlCol="0" anchor="ctr"/>
          <a:lstStyle/>
          <a:p>
            <a:pPr algn="r" indent="0" marL="0">
              <a:buNone/>
            </a:pPr>
            <a:r>
              <a:rPr lang="tr-TR" sz="1150" b="1" dirty="0">
                <a:solidFill>
                  <a:srgbClr val="50808E"/>
                </a:solidFill>
                <a:latin typeface="Calibri" pitchFamily="34" charset="0"/>
                <a:ea typeface="Calibri" pitchFamily="34" charset="-122"/>
                <a:cs typeface="Calibri" pitchFamily="34" charset="-120"/>
              </a:rPr>
              <a:t>ebeveynin wait() çağrısı toplar</a:t>
            </a:r>
            <a:endParaRPr lang="tr-TR" sz="1150" dirty="0"/>
          </a:p>
        </p:txBody>
      </p:sp>
      <p:sp>
        <p:nvSpPr>
          <p:cNvPr id="50" name="Shape 48"/>
          <p:cNvSpPr/>
          <p:nvPr/>
        </p:nvSpPr>
        <p:spPr>
          <a:xfrm>
            <a:off x="6903720" y="4754880"/>
            <a:ext cx="4754880" cy="1508760"/>
          </a:xfrm>
          <a:prstGeom prst="roundRect">
            <a:avLst>
              <a:gd name="adj" fmla="val 3636"/>
            </a:avLst>
          </a:prstGeom>
          <a:solidFill>
            <a:srgbClr val="F2F2F2"/>
          </a:solidFill>
          <a:ln/>
          <a:effectLst>
            <a:outerShdw sx="100000" sy="100000" kx="0" ky="0" algn="bl" rotWithShape="0" blurRad="101600" dist="25400" dir="5400000">
              <a:srgbClr val="000000">
                <a:alpha val="12000"/>
              </a:srgbClr>
            </a:outerShdw>
          </a:effectLst>
        </p:spPr>
      </p:sp>
      <p:sp>
        <p:nvSpPr>
          <p:cNvPr id="51" name="Text 49"/>
          <p:cNvSpPr txBox="1"/>
          <p:nvPr/>
        </p:nvSpPr>
        <p:spPr>
          <a:xfrm>
            <a:off x="7132320" y="4937760"/>
            <a:ext cx="4297680" cy="118872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Rozet = ps'in STAT sütununda yazdığı harf.</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Turuncu oklar:</a:t>
            </a:r>
            <a:r>
              <a:rPr lang="tr-TR" sz="1350" dirty="0">
                <a:solidFill>
                  <a:srgbClr val="3A464C"/>
                </a:solidFill>
                <a:latin typeface="Calibri" pitchFamily="34" charset="0"/>
                <a:ea typeface="Calibri" pitchFamily="34" charset="-122"/>
                <a:cs typeface="Calibri" pitchFamily="34" charset="-120"/>
              </a:rPr>
              <a:t> sizin eylemleriniz (tuşlar, kill).</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Gri oklar:</a:t>
            </a:r>
            <a:r>
              <a:rPr lang="tr-TR" sz="1350" dirty="0">
                <a:solidFill>
                  <a:srgbClr val="3A464C"/>
                </a:solidFill>
                <a:latin typeface="Calibri" pitchFamily="34" charset="0"/>
                <a:ea typeface="Calibri" pitchFamily="34" charset="-122"/>
                <a:cs typeface="Calibri" pitchFamily="34" charset="-120"/>
              </a:rPr>
              <a:t> çekirdek ve zamanlayıcı (3. hafta).</a:t>
            </a:r>
            <a:endParaRPr lang="tr-TR" sz="1350" dirty="0"/>
          </a:p>
        </p:txBody>
      </p:sp>
      <p:sp>
        <p:nvSpPr>
          <p:cNvPr id="52" name="Text 50"/>
          <p:cNvSpPr txBox="1"/>
          <p:nvPr/>
        </p:nvSpPr>
        <p:spPr>
          <a:xfrm>
            <a:off x="548640" y="5852160"/>
            <a:ext cx="5943600" cy="36576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Linux durdurulmuş (T) durumunu ekler. R = hazır YA DA çalışıyor.</a:t>
            </a:r>
            <a:endParaRPr lang="tr-TR"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PS STAT SÜTUNU</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STAT Harfleri ve Ek Bayrakları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7</a:t>
            </a:r>
            <a:endParaRPr lang="tr-TR"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914400"/>
                <a:gridCol w="4343400"/>
                <a:gridCol w="2377440"/>
                <a:gridCol w="3474720"/>
              </a:tblGrid>
              <a:tr h="0">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Harf</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Anlamı</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3. hafta durumu</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Bugün nerede</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çalışıyor ya da çalıştırılabilir (işlemcide ya da hazır kuyruğunda)</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çalışıyor / hazır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yes &gt; /dev/null</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S</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kesilebilir uyku: bir olayı bekliyor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bekliyor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sleep 300, bash</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D</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kesilemez uyku, genellikle disk G/Ç'si</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bekliyor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(seyrek, kısa süreli)</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Ctrl+Z ya da SIGSTOP ile durdurulmuş</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 (Linux eki)</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Ctrl+Z'den sonra</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Z</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zombi: bitti, henüz toplanmadı</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sonlandı</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./zombie (5. bölüm)</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Harften sonraki ek bayraklar: s = oturum lideri (giriş kabuğunuz: Ss), + = ön plan grubunda (R+), N = düşük öncelik (nice uygulanmış: RN), &lt; = yüksek öncelik, l = çok iş parçacıklı.</a:t>
            </a:r>
            <a:endParaRPr lang="tr-T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PS</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ps: Süreçlerinizin Anlık Görüntüsü</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8</a:t>
            </a:r>
            <a:endParaRPr lang="tr-TR" sz="900" dirty="0"/>
          </a:p>
        </p:txBody>
      </p:sp>
      <p:sp>
        <p:nvSpPr>
          <p:cNvPr id="6" name="Shape 4"/>
          <p:cNvSpPr/>
          <p:nvPr/>
        </p:nvSpPr>
        <p:spPr>
          <a:xfrm>
            <a:off x="548640" y="1508760"/>
            <a:ext cx="6903720" cy="4754880"/>
          </a:xfrm>
          <a:prstGeom prst="roundRect">
            <a:avLst>
              <a:gd name="adj" fmla="val 962"/>
            </a:avLst>
          </a:prstGeom>
          <a:solidFill>
            <a:srgbClr val="212121"/>
          </a:solidFill>
          <a:ln/>
        </p:spPr>
      </p:sp>
      <p:sp>
        <p:nvSpPr>
          <p:cNvPr id="7" name="Text 5"/>
          <p:cNvSpPr txBox="1"/>
          <p:nvPr/>
        </p:nvSpPr>
        <p:spPr>
          <a:xfrm>
            <a:off x="713232" y="1618488"/>
            <a:ext cx="6574536"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echo $$</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1913</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ps</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PID TTY          TIME CMD</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1913 pts/0    00:00:00 bash</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1969 pts/0    00:00:00 ps</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sleep 300 &amp;</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[1] 1970</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yes &gt; /dev/null &amp;</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[2] 1971</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ps</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PID TTY          TIME CMD</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1913 pts/0    00:00:00 bash</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1970 pts/0    00:00:00 sleep</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1971 pts/0    00:00:00 yes</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1972 pts/0    00:00:00 ps</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ps -f</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UID        PID  PPID  C STIME TTY          TIME CMD</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student   1913  1912  0 16:58 pts/0    00:00:00 -bash</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student   1970  1913  0 16:58 pts/0    00:00:00 sleep 300</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student   1971  1913 96 16:58 pts/0    00:00:00 yes</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student   1973  1913  0 16:58 pts/0    00:00:00 ps -f</a:t>
            </a:r>
            <a:endParaRPr lang="tr-TR" sz="1150" dirty="0"/>
          </a:p>
        </p:txBody>
      </p:sp>
      <p:sp>
        <p:nvSpPr>
          <p:cNvPr id="8" name="Shape 6"/>
          <p:cNvSpPr/>
          <p:nvPr/>
        </p:nvSpPr>
        <p:spPr>
          <a:xfrm>
            <a:off x="7680960" y="1508760"/>
            <a:ext cx="3977640" cy="4754880"/>
          </a:xfrm>
          <a:prstGeom prst="roundRect">
            <a:avLst>
              <a:gd name="adj" fmla="val 1379"/>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09560" y="1691640"/>
            <a:ext cx="3520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etmeli?</a:t>
            </a:r>
            <a:endParaRPr lang="tr-TR" sz="1500" dirty="0"/>
          </a:p>
        </p:txBody>
      </p:sp>
      <p:sp>
        <p:nvSpPr>
          <p:cNvPr id="10" name="Text 8"/>
          <p:cNvSpPr txBox="1"/>
          <p:nvPr/>
        </p:nvSpPr>
        <p:spPr>
          <a:xfrm>
            <a:off x="7909560" y="2148840"/>
            <a:ext cx="3520440" cy="397764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echo $$ kabuğun kendi PID'sini yazdırır: 1913.</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Yalın ps: yalnızca bu terminalin süreçleri (TTY pts/0).</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ps kendi listesinde yer alır — o da bir süreçtir.</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ps -f (tam biçim): UID, PPID, başlama zamanı ve komut satırının tamamı.</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sleep ve yes'in PPID'si = 1913: ebeveynleri kabuktur.</a:t>
            </a:r>
            <a:endParaRPr lang="tr-TR"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PS -O · PSTREE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Sütunlarınızı Seçin, Ağacı Çizin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9</a:t>
            </a:r>
            <a:endParaRPr lang="tr-TR" sz="900" dirty="0"/>
          </a:p>
        </p:txBody>
      </p:sp>
      <p:sp>
        <p:nvSpPr>
          <p:cNvPr id="6" name="Shape 4"/>
          <p:cNvSpPr/>
          <p:nvPr/>
        </p:nvSpPr>
        <p:spPr>
          <a:xfrm>
            <a:off x="548640" y="1508760"/>
            <a:ext cx="6903720" cy="2514600"/>
          </a:xfrm>
          <a:prstGeom prst="roundRect">
            <a:avLst>
              <a:gd name="adj" fmla="val 1818"/>
            </a:avLst>
          </a:prstGeom>
          <a:solidFill>
            <a:srgbClr val="212121"/>
          </a:solidFill>
          <a:ln/>
        </p:spPr>
      </p:sp>
      <p:sp>
        <p:nvSpPr>
          <p:cNvPr id="7" name="Text 5"/>
          <p:cNvSpPr txBox="1"/>
          <p:nvPr/>
        </p:nvSpPr>
        <p:spPr>
          <a:xfrm>
            <a:off x="713232" y="1618488"/>
            <a:ext cx="6574536" cy="229514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ps -o pid,ppid,stat,ni,%cpu,%mem,cmd</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PID  PPID STAT  NI %CPU %MEM CMD</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1913  1912 Ss     0  0.5  0.0 -bash</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1970  1913 S      0  0.0  0.0 sleep 300</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1971  1913 R      0 97.4  0.0 yes</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1974  1913 R+     0  0.0  0.0 ps -o pid,ppid,stat,ni,%cpu,%mem,cmd</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pstree -p $$</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bash(1913)─┬─pstree(1975)</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├─sleep(1970)</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└─yes(1971)</a:t>
            </a:r>
            <a:endParaRPr lang="tr-TR" sz="1150" dirty="0"/>
          </a:p>
        </p:txBody>
      </p:sp>
      <p:sp>
        <p:nvSpPr>
          <p:cNvPr id="8" name="Shape 6"/>
          <p:cNvSpPr/>
          <p:nvPr/>
        </p:nvSpPr>
        <p:spPr>
          <a:xfrm>
            <a:off x="548640" y="4206240"/>
            <a:ext cx="6903720" cy="1188720"/>
          </a:xfrm>
          <a:prstGeom prst="roundRect">
            <a:avLst>
              <a:gd name="adj" fmla="val 3846"/>
            </a:avLst>
          </a:prstGeom>
          <a:solidFill>
            <a:srgbClr val="212121"/>
          </a:solidFill>
          <a:ln/>
        </p:spPr>
      </p:sp>
      <p:sp>
        <p:nvSpPr>
          <p:cNvPr id="9" name="Text 7"/>
          <p:cNvSpPr txBox="1"/>
          <p:nvPr/>
        </p:nvSpPr>
        <p:spPr>
          <a:xfrm>
            <a:off x="713232" y="4315968"/>
            <a:ext cx="6574536" cy="96926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kill %1 %2</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jobs</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[1]-  Terminated              sleep 300</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[2]+  Terminated              yes &gt; /dev/null</a:t>
            </a:r>
            <a:endParaRPr lang="tr-TR" sz="1150" dirty="0"/>
          </a:p>
        </p:txBody>
      </p:sp>
      <p:sp>
        <p:nvSpPr>
          <p:cNvPr id="10" name="Shape 8"/>
          <p:cNvSpPr/>
          <p:nvPr/>
        </p:nvSpPr>
        <p:spPr>
          <a:xfrm>
            <a:off x="7680960" y="1508760"/>
            <a:ext cx="3977640" cy="4754880"/>
          </a:xfrm>
          <a:prstGeom prst="roundRect">
            <a:avLst>
              <a:gd name="adj" fmla="val 137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909560" y="1691640"/>
            <a:ext cx="3520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etmeli?</a:t>
            </a:r>
            <a:endParaRPr lang="tr-TR" sz="1500" dirty="0"/>
          </a:p>
        </p:txBody>
      </p:sp>
      <p:sp>
        <p:nvSpPr>
          <p:cNvPr id="12" name="Text 10"/>
          <p:cNvSpPr txBox="1"/>
          <p:nvPr/>
        </p:nvSpPr>
        <p:spPr>
          <a:xfrm>
            <a:off x="7909560" y="2148840"/>
            <a:ext cx="3520440" cy="397764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-o tam olarak istediğiniz sütunları listeler: burada durum (STAT), nice değeri (NI), %CPU ve %MEM.</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yes: R ve ≈ %97 işlemci. sleep: S ve %0.</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pstree -p, 3. haftanın ebeveyn–çocuk ağacını gerçek PID'lerle çizer.</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kill %1 %2 iki işi de bitirir; bash bir sonraki istemde "Terminated" bildirir.</a:t>
            </a:r>
            <a:endParaRPr lang="tr-TR"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PS ÇIKTISINI OKUMAK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Sütunlar Ne Anlama Gelir?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10</a:t>
            </a:r>
            <a:endParaRPr lang="tr-TR"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1600200"/>
                <a:gridCol w="6400800"/>
                <a:gridCol w="310896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Sütun</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Anlamı</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Örnek</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PID / PPID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süreç kimliği / ebeveynin süreç kimliği (3. hafta)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1970 / 1913</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UID, USER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sürecin sahibi (11. hafta)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student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STAT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durum harfi + bayraklar (önceki slaytlar)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 R+, Ss</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%CPU</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işlemci zamanı ÷ başlangıçtan beri geçen süre, yüzde</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99.0 (yes)</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%MEM</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yerleşik bellek ÷ toplam RAM, yüzde</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VSZ / RSS</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sanal boyut / yerleşik küme (RAM'de), KiB (6–7. haftalar)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3132 / 1884</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TTY</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sürecin ait olduğu terminal; ? = yok (daemon)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pts/0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TIME</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şimdiye dek kullanılan toplam işlemci zamanı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0:02</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CMD, COMMAND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komut satırı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sleep 300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Çok iş parçacıklı bir süreçte %CPU 100'ü aşabilir: %200 = iki çekirdek tamamen dolu (4. hafta, iş parçacıkları).</a:t>
            </a:r>
            <a:endParaRPr lang="tr-T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TÜM SÜREÇLER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Herkesin Süreçleri: ps -ef ve ps aux</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11</a:t>
            </a:r>
            <a:endParaRPr lang="tr-TR" sz="900" dirty="0"/>
          </a:p>
        </p:txBody>
      </p:sp>
      <p:sp>
        <p:nvSpPr>
          <p:cNvPr id="6" name="Shape 4"/>
          <p:cNvSpPr/>
          <p:nvPr/>
        </p:nvSpPr>
        <p:spPr>
          <a:xfrm>
            <a:off x="548640" y="1508760"/>
            <a:ext cx="7543800" cy="4754880"/>
          </a:xfrm>
          <a:prstGeom prst="roundRect">
            <a:avLst>
              <a:gd name="adj" fmla="val 962"/>
            </a:avLst>
          </a:prstGeom>
          <a:solidFill>
            <a:srgbClr val="212121"/>
          </a:solidFill>
          <a:ln/>
        </p:spPr>
      </p:sp>
      <p:sp>
        <p:nvSpPr>
          <p:cNvPr id="7" name="Text 5"/>
          <p:cNvSpPr txBox="1"/>
          <p:nvPr/>
        </p:nvSpPr>
        <p:spPr>
          <a:xfrm>
            <a:off x="713232" y="1618488"/>
            <a:ext cx="7214616"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ps -ef | head -4</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UID        PID  PPID  C STIME TTY          TIME 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root         1     0  0 16:17 ?        00:00:02 /process_api --firecracker-init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root         2     0  0 16:17 ?        00:00:00 [kthreadd]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root         3     2  0 16:17 ?        00:00:00 [pool_workqueue_release]</a:t>
            </a:r>
            <a:endParaRPr lang="tr-TR" sz="1050" dirty="0"/>
          </a:p>
          <a:p>
            <a:pPr indent="0" marL="0">
              <a:lnSpc>
                <a:spcPct val="100000"/>
              </a:lnSpc>
              <a:buNone/>
            </a:pPr>
            <a:r>
              <a:rPr lang="tr-TR" sz="1050" i="1" dirty="0">
                <a:solidFill>
                  <a:srgbClr val="8A9AA0"/>
                </a:solidFill>
                <a:latin typeface="Consolas" pitchFamily="34" charset="0"/>
                <a:ea typeface="Consolas" pitchFamily="34" charset="-122"/>
                <a:cs typeface="Consolas" pitchFamily="34" charset="-120"/>
              </a:rPr>
              <a:t># ... ps -f -u student: yalnızca student kullanıcısı</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ps -f -u student</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UID        PID  PPID  C STIME TTY          TIME 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1913  1912  0 16:58 pts/0    00:00:00 -bash</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1970  1913  0 16:58 pts/0    00:00:00 sleep 300</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1971  1913 99 16:58 pts/0    00:00:01 yes</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1978  1913  0 16:58 pts/0    00:00:00 ps -f -u student</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ps aux | head -1</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USER       PID %CPU %MEM    VSZ   RSS TTY      STAT START   TIME COMMAND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ps aux | grep '^student'</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1913  0.6  0.0   8436  7532 pts/0    Ss   16:58   0:00 -bash</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1970  0.0  0.0   3132  1996 pts/0    S    16:58   0:00 sleep 300</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1971 99.0  0.0   3132  1884 pts/0    R    16:58   0:02 yes</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1981  0.0  0.0   8340  4328 pts/0    R+   16:58   0:00 ps aux</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student   1982  0.0  0.0   4100  2200 pts/0    S+   16:58   0:00 grep ^student</a:t>
            </a:r>
            <a:endParaRPr lang="tr-TR" sz="1050" dirty="0"/>
          </a:p>
        </p:txBody>
      </p:sp>
      <p:sp>
        <p:nvSpPr>
          <p:cNvPr id="8" name="Shape 6"/>
          <p:cNvSpPr/>
          <p:nvPr/>
        </p:nvSpPr>
        <p:spPr>
          <a:xfrm>
            <a:off x="8321040" y="1508760"/>
            <a:ext cx="3337560" cy="475488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549640" y="1691640"/>
            <a:ext cx="2880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İki stil, aynı veri</a:t>
            </a:r>
            <a:endParaRPr lang="tr-TR" sz="1500" dirty="0"/>
          </a:p>
        </p:txBody>
      </p:sp>
      <p:sp>
        <p:nvSpPr>
          <p:cNvPr id="10" name="Text 8"/>
          <p:cNvSpPr txBox="1"/>
          <p:nvPr/>
        </p:nvSpPr>
        <p:spPr>
          <a:xfrm>
            <a:off x="8549640" y="2148840"/>
            <a:ext cx="288036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-ef:</a:t>
            </a:r>
            <a:r>
              <a:rPr lang="tr-TR" sz="1350" dirty="0">
                <a:solidFill>
                  <a:srgbClr val="3A464C"/>
                </a:solidFill>
                <a:latin typeface="Calibri" pitchFamily="34" charset="0"/>
                <a:ea typeface="Calibri" pitchFamily="34" charset="-122"/>
                <a:cs typeface="Calibri" pitchFamily="34" charset="-120"/>
              </a:rPr>
              <a:t> her süreç, tam biçim (System V stili).</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aux:</a:t>
            </a:r>
            <a:r>
              <a:rPr lang="tr-TR" sz="1350" dirty="0">
                <a:solidFill>
                  <a:srgbClr val="3A464C"/>
                </a:solidFill>
                <a:latin typeface="Calibri" pitchFamily="34" charset="0"/>
                <a:ea typeface="Calibri" pitchFamily="34" charset="-122"/>
                <a:cs typeface="Calibri" pitchFamily="34" charset="-120"/>
              </a:rPr>
              <a:t> her süreç; %CPU, %MEM, VSZ, RSS ile (BSD stili, tiresiz).</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-u student:</a:t>
            </a:r>
            <a:r>
              <a:rPr lang="tr-TR" sz="1350" dirty="0">
                <a:solidFill>
                  <a:srgbClr val="3A464C"/>
                </a:solidFill>
                <a:latin typeface="Calibri" pitchFamily="34" charset="0"/>
                <a:ea typeface="Calibri" pitchFamily="34" charset="-122"/>
                <a:cs typeface="Calibri" pitchFamily="34" charset="-120"/>
              </a:rPr>
              <a:t> yalnızca bir kullanıcı.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PID 1 ilk süreçtir; çekirdek iş parçacıkları [köşeli parantez] içinde görünür.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grep kendini bulur!</a:t>
            </a:r>
            <a:endParaRPr lang="tr-TR"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HAFTAYLA BAĞLANTI · PCB</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/proc/&lt;pid&gt;/status: PCB'yi Okumak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12</a:t>
            </a:r>
            <a:endParaRPr lang="tr-TR" sz="900" dirty="0"/>
          </a:p>
        </p:txBody>
      </p:sp>
      <p:sp>
        <p:nvSpPr>
          <p:cNvPr id="6" name="Shape 4"/>
          <p:cNvSpPr/>
          <p:nvPr/>
        </p:nvSpPr>
        <p:spPr>
          <a:xfrm>
            <a:off x="548640" y="1508760"/>
            <a:ext cx="6903720" cy="4754880"/>
          </a:xfrm>
          <a:prstGeom prst="roundRect">
            <a:avLst>
              <a:gd name="adj" fmla="val 962"/>
            </a:avLst>
          </a:prstGeom>
          <a:solidFill>
            <a:srgbClr val="212121"/>
          </a:solidFill>
          <a:ln/>
        </p:spPr>
      </p:sp>
      <p:sp>
        <p:nvSpPr>
          <p:cNvPr id="7" name="Text 5"/>
          <p:cNvSpPr txBox="1"/>
          <p:nvPr/>
        </p:nvSpPr>
        <p:spPr>
          <a:xfrm>
            <a:off x="713232" y="1618488"/>
            <a:ext cx="6574536" cy="453542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sleep 300 &amp;</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[1] 2118</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echo $!</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2118</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grep -E '^(Name|State|Pid|PPid|Uid|Threads|VmRSS)' …</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Name:   sleep</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State:  S (sleeping)</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Pid:    2118</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PPid:   2061</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Uid:    1013    1013    1013    1013</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VmRSS:      2004 kB</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Threads:        1</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grep ctxt /proc/$!/status</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voluntary_ctxt_switches:        1</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nonvoluntary_ctxt_switches:     2</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cat /proc/$!/cmdline | tr '\0' ' '; echo</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sleep 300 </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ls -l /proc/$!/cwd /proc/$!/exe</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lrwxrwxrwx 1 student student 0 Oct 12 16:58 /proc/2118/cwd -&gt; /home/student…</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lrwxrwxrwx 1 student student 0 Oct 12 16:58 /proc/2118/exe -&gt; /usr/bin/sleep</a:t>
            </a:r>
            <a:endParaRPr lang="tr-TR" sz="1100" dirty="0"/>
          </a:p>
        </p:txBody>
      </p:sp>
      <p:sp>
        <p:nvSpPr>
          <p:cNvPr id="8" name="Shape 6"/>
          <p:cNvSpPr/>
          <p:nvPr/>
        </p:nvSpPr>
        <p:spPr>
          <a:xfrm>
            <a:off x="7680960" y="1508760"/>
            <a:ext cx="3977640" cy="4754880"/>
          </a:xfrm>
          <a:prstGeom prst="roundRect">
            <a:avLst>
              <a:gd name="adj" fmla="val 1379"/>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909560" y="1691640"/>
            <a:ext cx="3520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3. haftanın PCB alanları</a:t>
            </a:r>
            <a:endParaRPr lang="tr-TR" sz="1500" dirty="0"/>
          </a:p>
        </p:txBody>
      </p:sp>
      <p:sp>
        <p:nvSpPr>
          <p:cNvPr id="10" name="Text 8"/>
          <p:cNvSpPr txBox="1"/>
          <p:nvPr/>
        </p:nvSpPr>
        <p:spPr>
          <a:xfrm>
            <a:off x="7909560" y="2148840"/>
            <a:ext cx="352044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State:</a:t>
            </a:r>
            <a:r>
              <a:rPr lang="tr-TR" sz="1350" dirty="0">
                <a:solidFill>
                  <a:srgbClr val="3A464C"/>
                </a:solidFill>
                <a:latin typeface="Calibri" pitchFamily="34" charset="0"/>
                <a:ea typeface="Calibri" pitchFamily="34" charset="-122"/>
                <a:cs typeface="Calibri" pitchFamily="34" charset="-120"/>
              </a:rPr>
              <a:t> S (sleeping) = bekliyor.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Pid, PPid:</a:t>
            </a:r>
            <a:r>
              <a:rPr lang="tr-TR" sz="1350" dirty="0">
                <a:solidFill>
                  <a:srgbClr val="3A464C"/>
                </a:solidFill>
                <a:latin typeface="Calibri" pitchFamily="34" charset="0"/>
                <a:ea typeface="Calibri" pitchFamily="34" charset="-122"/>
                <a:cs typeface="Calibri" pitchFamily="34" charset="-120"/>
              </a:rPr>
              <a:t> kimlik ve ebeveyn.</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Uid:</a:t>
            </a:r>
            <a:r>
              <a:rPr lang="tr-TR" sz="1350" dirty="0">
                <a:solidFill>
                  <a:srgbClr val="3A464C"/>
                </a:solidFill>
                <a:latin typeface="Calibri" pitchFamily="34" charset="0"/>
                <a:ea typeface="Calibri" pitchFamily="34" charset="-122"/>
                <a:cs typeface="Calibri" pitchFamily="34" charset="-120"/>
              </a:rPr>
              <a:t> sahip (11. hafta).</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VmRSS:</a:t>
            </a:r>
            <a:r>
              <a:rPr lang="tr-TR" sz="1350" dirty="0">
                <a:solidFill>
                  <a:srgbClr val="3A464C"/>
                </a:solidFill>
                <a:latin typeface="Calibri" pitchFamily="34" charset="0"/>
                <a:ea typeface="Calibri" pitchFamily="34" charset="-122"/>
                <a:cs typeface="Calibri" pitchFamily="34" charset="-120"/>
              </a:rPr>
              <a:t> bellek bilgisi.</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ctxt_switches:</a:t>
            </a:r>
            <a:r>
              <a:rPr lang="tr-TR" sz="1350" dirty="0">
                <a:solidFill>
                  <a:srgbClr val="3A464C"/>
                </a:solidFill>
                <a:latin typeface="Calibri" pitchFamily="34" charset="0"/>
                <a:ea typeface="Calibri" pitchFamily="34" charset="-122"/>
                <a:cs typeface="Calibri" pitchFamily="34" charset="-120"/>
              </a:rPr>
              <a:t> hesap bilgisi — voluntary = işlemciyi kendisi bıraktı, nonvoluntary = elinden alındı.</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cwd, exe:</a:t>
            </a:r>
            <a:r>
              <a:rPr lang="tr-TR" sz="1350" dirty="0">
                <a:solidFill>
                  <a:srgbClr val="3A464C"/>
                </a:solidFill>
                <a:latin typeface="Calibri" pitchFamily="34" charset="0"/>
                <a:ea typeface="Calibri" pitchFamily="34" charset="-122"/>
                <a:cs typeface="Calibri" pitchFamily="34" charset="-120"/>
              </a:rPr>
              <a:t> çalışma dizini ve program dosyası.</a:t>
            </a:r>
            <a:endParaRPr lang="tr-TR"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TOP</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top: Birkaç Saniyede Bir Yenilenen Canlı Görünüm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13</a:t>
            </a:r>
            <a:endParaRPr lang="tr-TR" sz="900" dirty="0"/>
          </a:p>
        </p:txBody>
      </p:sp>
      <p:sp>
        <p:nvSpPr>
          <p:cNvPr id="6" name="Shape 4"/>
          <p:cNvSpPr/>
          <p:nvPr/>
        </p:nvSpPr>
        <p:spPr>
          <a:xfrm>
            <a:off x="548640" y="1508760"/>
            <a:ext cx="11109960" cy="3063240"/>
          </a:xfrm>
          <a:prstGeom prst="roundRect">
            <a:avLst>
              <a:gd name="adj" fmla="val 1493"/>
            </a:avLst>
          </a:prstGeom>
          <a:solidFill>
            <a:srgbClr val="212121"/>
          </a:solidFill>
          <a:ln/>
        </p:spPr>
      </p:sp>
      <p:sp>
        <p:nvSpPr>
          <p:cNvPr id="7" name="Text 5"/>
          <p:cNvSpPr txBox="1"/>
          <p:nvPr/>
        </p:nvSpPr>
        <p:spPr>
          <a:xfrm>
            <a:off x="713232" y="1618488"/>
            <a:ext cx="10780776" cy="284378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top -b -n 1 -u student | head -15</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top - 16:58:44 up 41 min,  0 user,  load average: 0.59, 0.34, 0.23</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Tasks:  71 total,   2 running,  69 sleeping,   0 stopped,   0 zombie</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%Cpu(s): 28.6 us, 23.8 sy,  0.0 ni, 42.9 id,  0.0 wa,  0.0 hi,  0.0 si,  4.8 st </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MiB Mem :   8029.6 total,   7294.2 free,    598.8 used,    357.6 buff/cache     </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MiB Swap:      0.0 total,      0.0 free,      0.0 used.   7430.8 avail Mem </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PID USER      PR  NI    VIRT    RES    SHR S  %CPU  %MEM     TIME+ COMMAND</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2260 student   20   0    3132   1876   1760 R 100.0   0.0   0:30.83 yes</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2204 student   20   0    8436   7528   3552 S   0.0   0.1   0:00.01 bash</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2261 student   20   0    3132   2004   1892 S   0.0   0.0   0:00.00 sleep</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2264 student   20   0    9380   5436   3308 R   0.0   0.1   0:00.00 top</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2265 student   20   0    3144   1956   1840 S   0.0   0.0   0:00.00 head</a:t>
            </a:r>
            <a:endParaRPr lang="tr-TR" sz="1200" dirty="0"/>
          </a:p>
        </p:txBody>
      </p:sp>
      <p:sp>
        <p:nvSpPr>
          <p:cNvPr id="8" name="Shape 6"/>
          <p:cNvSpPr/>
          <p:nvPr/>
        </p:nvSpPr>
        <p:spPr>
          <a:xfrm>
            <a:off x="548640" y="4754880"/>
            <a:ext cx="3566160" cy="1508760"/>
          </a:xfrm>
          <a:prstGeom prst="roundRect">
            <a:avLst>
              <a:gd name="adj" fmla="val 363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4937760"/>
            <a:ext cx="310896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1. satır</a:t>
            </a:r>
            <a:endParaRPr lang="tr-TR" sz="1400" dirty="0"/>
          </a:p>
        </p:txBody>
      </p:sp>
      <p:sp>
        <p:nvSpPr>
          <p:cNvPr id="10" name="Text 8"/>
          <p:cNvSpPr txBox="1"/>
          <p:nvPr/>
        </p:nvSpPr>
        <p:spPr>
          <a:xfrm>
            <a:off x="777240" y="5394960"/>
            <a:ext cx="3108960" cy="731520"/>
          </a:xfrm>
          <a:prstGeom prst="rect">
            <a:avLst/>
          </a:prstGeom>
          <a:noFill/>
          <a:ln/>
        </p:spPr>
        <p:txBody>
          <a:bodyPr wrap="square" lIns="0" tIns="0" rIns="0" bIns="0" rtlCol="0" anchor="t"/>
          <a:lstStyle/>
          <a:p>
            <a:pPr indent="0" marL="0">
              <a:spcAft>
                <a:spcPts val="400"/>
              </a:spcAft>
              <a:buNone/>
            </a:pPr>
            <a:r>
              <a:rPr lang="tr-TR" sz="1250" dirty="0">
                <a:solidFill>
                  <a:srgbClr val="3A464C"/>
                </a:solidFill>
                <a:latin typeface="Calibri" pitchFamily="34" charset="0"/>
                <a:ea typeface="Calibri" pitchFamily="34" charset="-122"/>
                <a:cs typeface="Calibri" pitchFamily="34" charset="-120"/>
              </a:rPr>
              <a:t>çalışma süresi ve yük ortalaması: işlemci kullanan ya da işlemci bekleyen süreç sayısının 1, 5 ve 15 dakikalık ortalamaları.</a:t>
            </a:r>
            <a:endParaRPr lang="tr-TR" sz="1250" dirty="0"/>
          </a:p>
        </p:txBody>
      </p:sp>
      <p:sp>
        <p:nvSpPr>
          <p:cNvPr id="11" name="Shape 9"/>
          <p:cNvSpPr/>
          <p:nvPr/>
        </p:nvSpPr>
        <p:spPr>
          <a:xfrm>
            <a:off x="4325112" y="4754880"/>
            <a:ext cx="3566160" cy="1508760"/>
          </a:xfrm>
          <a:prstGeom prst="roundRect">
            <a:avLst>
              <a:gd name="adj" fmla="val 3636"/>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4553712" y="4937760"/>
            <a:ext cx="310896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2–3. satırlar</a:t>
            </a:r>
            <a:endParaRPr lang="tr-TR" sz="1400" dirty="0"/>
          </a:p>
        </p:txBody>
      </p:sp>
      <p:sp>
        <p:nvSpPr>
          <p:cNvPr id="13" name="Text 11"/>
          <p:cNvSpPr txBox="1"/>
          <p:nvPr/>
        </p:nvSpPr>
        <p:spPr>
          <a:xfrm>
            <a:off x="4553712" y="5394960"/>
            <a:ext cx="3108960" cy="731520"/>
          </a:xfrm>
          <a:prstGeom prst="rect">
            <a:avLst/>
          </a:prstGeom>
          <a:noFill/>
          <a:ln/>
        </p:spPr>
        <p:txBody>
          <a:bodyPr wrap="square" lIns="0" tIns="0" rIns="0" bIns="0" rtlCol="0" anchor="t"/>
          <a:lstStyle/>
          <a:p>
            <a:pPr indent="0" marL="0">
              <a:spcAft>
                <a:spcPts val="400"/>
              </a:spcAft>
              <a:buNone/>
            </a:pPr>
            <a:r>
              <a:rPr lang="tr-TR" sz="1250" dirty="0">
                <a:solidFill>
                  <a:srgbClr val="3A464C"/>
                </a:solidFill>
                <a:latin typeface="Calibri" pitchFamily="34" charset="0"/>
                <a:ea typeface="Calibri" pitchFamily="34" charset="-122"/>
                <a:cs typeface="Calibri" pitchFamily="34" charset="-120"/>
              </a:rPr>
              <a:t>Durumlarına göre görevler (STAT'tan); BÜTÜN makinenin %Cpu(s) değeri: us = kullanıcı modu, sy = çekirdek modu (2. hafta), id = boşta.</a:t>
            </a:r>
            <a:endParaRPr lang="tr-TR" sz="1250" dirty="0"/>
          </a:p>
        </p:txBody>
      </p:sp>
      <p:sp>
        <p:nvSpPr>
          <p:cNvPr id="14" name="Shape 12"/>
          <p:cNvSpPr/>
          <p:nvPr/>
        </p:nvSpPr>
        <p:spPr>
          <a:xfrm>
            <a:off x="8101584" y="4754880"/>
            <a:ext cx="3566160" cy="1508760"/>
          </a:xfrm>
          <a:prstGeom prst="roundRect">
            <a:avLst>
              <a:gd name="adj" fmla="val 3636"/>
            </a:avLst>
          </a:prstGeom>
          <a:solidFill>
            <a:srgbClr val="F2F2F2"/>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8330184" y="4937760"/>
            <a:ext cx="310896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Süreç listesi</a:t>
            </a:r>
            <a:endParaRPr lang="tr-TR" sz="1400" dirty="0"/>
          </a:p>
        </p:txBody>
      </p:sp>
      <p:sp>
        <p:nvSpPr>
          <p:cNvPr id="16" name="Text 14"/>
          <p:cNvSpPr txBox="1"/>
          <p:nvPr/>
        </p:nvSpPr>
        <p:spPr>
          <a:xfrm>
            <a:off x="8330184" y="5394960"/>
            <a:ext cx="3108960" cy="731520"/>
          </a:xfrm>
          <a:prstGeom prst="rect">
            <a:avLst/>
          </a:prstGeom>
          <a:noFill/>
          <a:ln/>
        </p:spPr>
        <p:txBody>
          <a:bodyPr wrap="square" lIns="0" tIns="0" rIns="0" bIns="0" rtlCol="0" anchor="t"/>
          <a:lstStyle/>
          <a:p>
            <a:pPr indent="0" marL="0">
              <a:spcAft>
                <a:spcPts val="400"/>
              </a:spcAft>
              <a:buNone/>
            </a:pPr>
            <a:r>
              <a:rPr lang="tr-TR" sz="1250" dirty="0">
                <a:solidFill>
                  <a:srgbClr val="3A464C"/>
                </a:solidFill>
                <a:latin typeface="Calibri" pitchFamily="34" charset="0"/>
                <a:ea typeface="Calibri" pitchFamily="34" charset="-122"/>
                <a:cs typeface="Calibri" pitchFamily="34" charset="-120"/>
              </a:rPr>
              <a:t>PR = 20 + NI (5. hafta önceliği), S = durum, son aralıktaki %CPU: yes bir çekirdeğin %100'ünü kullanıyor.</a:t>
            </a:r>
            <a:endParaRPr lang="tr-TR"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Yük Ortalamasını Okumak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Yük = çalışan ya da hazır (R) süreçlerin, artı disk bekleyen (D) süreçlerin ortalama sayısı. İşlemci çekirdeği sayısıyla karşılaştırın.</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14</a:t>
            </a:r>
            <a:endParaRPr lang="tr-TR" sz="900" dirty="0"/>
          </a:p>
        </p:txBody>
      </p:sp>
      <p:sp>
        <p:nvSpPr>
          <p:cNvPr id="7" name="Shape 5"/>
          <p:cNvSpPr/>
          <p:nvPr/>
        </p:nvSpPr>
        <p:spPr>
          <a:xfrm>
            <a:off x="548640" y="2148840"/>
            <a:ext cx="4937760" cy="1600200"/>
          </a:xfrm>
          <a:prstGeom prst="roundRect">
            <a:avLst>
              <a:gd name="adj" fmla="val 2857"/>
            </a:avLst>
          </a:prstGeom>
          <a:solidFill>
            <a:srgbClr val="212121"/>
          </a:solidFill>
          <a:ln/>
        </p:spPr>
      </p:sp>
      <p:sp>
        <p:nvSpPr>
          <p:cNvPr id="8" name="Text 6"/>
          <p:cNvSpPr txBox="1"/>
          <p:nvPr/>
        </p:nvSpPr>
        <p:spPr>
          <a:xfrm>
            <a:off x="713232" y="2258568"/>
            <a:ext cx="4608576" cy="138074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cat /proc/loadavg</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0.59 0.34 0.23 3/98 2262</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nproc</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2</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uptime</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 16:58:45 up 41 min,  0 user,  </a:t>
            </a:r>
            <a:endParaRPr lang="tr-TR" sz="1100" dirty="0"/>
          </a:p>
          <a:p>
            <a:pPr indent="0" marL="0">
              <a:lnSpc>
                <a:spcPct val="100000"/>
              </a:lnSpc>
              <a:buNone/>
            </a:pPr>
            <a:r>
              <a:rPr lang="tr-TR" sz="1100" dirty="0">
                <a:solidFill>
                  <a:srgbClr val="D9DEE0"/>
                </a:solidFill>
                <a:latin typeface="Consolas" pitchFamily="34" charset="0"/>
                <a:ea typeface="Consolas" pitchFamily="34" charset="-122"/>
                <a:cs typeface="Consolas" pitchFamily="34" charset="-120"/>
              </a:rPr>
              <a:t>           load average: 0.59, 0.34, 0.23</a:t>
            </a:r>
            <a:endParaRPr lang="tr-TR" sz="1100" dirty="0"/>
          </a:p>
        </p:txBody>
      </p:sp>
      <p:sp>
        <p:nvSpPr>
          <p:cNvPr id="9" name="Shape 7"/>
          <p:cNvSpPr/>
          <p:nvPr/>
        </p:nvSpPr>
        <p:spPr>
          <a:xfrm>
            <a:off x="5715000" y="2148840"/>
            <a:ext cx="5943600" cy="3108960"/>
          </a:xfrm>
          <a:prstGeom prst="roundRect">
            <a:avLst>
              <a:gd name="adj" fmla="val 1471"/>
            </a:avLst>
          </a:prstGeom>
          <a:solidFill>
            <a:srgbClr val="212121"/>
          </a:solidFill>
          <a:ln/>
        </p:spPr>
      </p:sp>
      <p:sp>
        <p:nvSpPr>
          <p:cNvPr id="10" name="Text 8"/>
          <p:cNvSpPr txBox="1"/>
          <p:nvPr/>
        </p:nvSpPr>
        <p:spPr>
          <a:xfrm>
            <a:off x="5897880" y="2258568"/>
            <a:ext cx="5577840" cy="288950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çekirdek c = 2  (nproc)</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yük 0.59 → 0.59 / 2 = kapasitenin %29.5'i</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yük 2.00 → 2.00 / 2 = %100: her çekirdek dolu</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yük 3.00 → %150: ortalama 3 − 2 = 1 süreç</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hazır kuyruğunda bekler</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1 dk &gt; 15 dk: yük artıyor</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1 dk &lt; 15 dk: yük azalıyor</a:t>
            </a:r>
            <a:endParaRPr lang="tr-TR" sz="1300" dirty="0"/>
          </a:p>
        </p:txBody>
      </p:sp>
      <p:sp>
        <p:nvSpPr>
          <p:cNvPr id="11" name="Shape 9"/>
          <p:cNvSpPr/>
          <p:nvPr/>
        </p:nvSpPr>
        <p:spPr>
          <a:xfrm>
            <a:off x="548640" y="3977640"/>
            <a:ext cx="4937760" cy="1280160"/>
          </a:xfrm>
          <a:prstGeom prst="roundRect">
            <a:avLst>
              <a:gd name="adj" fmla="val 4286"/>
            </a:avLst>
          </a:prstGeom>
          <a:solidFill>
            <a:srgbClr val="36454F"/>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77240" y="3977640"/>
            <a:ext cx="4480560" cy="128016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Bir yes bir çekirdek ister: top onun için %100 gösterir, ama 2 çekirdeğin ortalaması olan %Cpu(s) içinde yalnızca yaklaşık %50.</a:t>
            </a:r>
            <a:endParaRPr lang="tr-TR" sz="1350" dirty="0"/>
          </a:p>
        </p:txBody>
      </p:sp>
      <p:sp>
        <p:nvSpPr>
          <p:cNvPr id="13" name="Shape 11"/>
          <p:cNvSpPr/>
          <p:nvPr/>
        </p:nvSpPr>
        <p:spPr>
          <a:xfrm>
            <a:off x="548640" y="5440680"/>
            <a:ext cx="11109960" cy="822960"/>
          </a:xfrm>
          <a:prstGeom prst="roundRect">
            <a:avLst>
              <a:gd name="adj" fmla="val 6667"/>
            </a:avLst>
          </a:prstGeom>
          <a:solidFill>
            <a:srgbClr val="36454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77240" y="5440680"/>
            <a:ext cx="10652760" cy="82296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4. haftayla bağlantı: yük &gt; çekirdek sayısı ise süreçler hazır kuyruğunda zaman geçirir — bekleme süreleri uzar.</a:t>
            </a:r>
            <a:endParaRPr lang="tr-T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KOPYA KÂĞIDI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Süreçleri İncelemek: Bir Bakışta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15</a:t>
            </a:r>
            <a:endParaRPr lang="tr-TR"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4206240"/>
                <a:gridCol w="690372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Komut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Ne gösterir?</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ps   ·   ps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bu terminalin süreçleri (kısa / tam biçim)</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ps -ef   ·   ps aux</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bütün kullanıcıların bütün süreçleri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ps -u student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bir kullanıcının bütün süreçleri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ps -o pid,ppid,stat,ni,%cpu,cmd</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tam olarak seçtiğiniz sütunlar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ps ... --sort=-%cpu</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sıralı, en yüksek işlemci kullanımı önce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pgrep -l name   ·   pgrep -c name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eşleşen süreçlerin PID'leri (ve adları) / sayısı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pstree -p   ·   pstree -p $$</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PID'leriyle süreç ağacı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top   ·   htop</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canlı görünüm; q ile çıkılır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cat /proc/&lt;pid&gt;/status</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metin olarak PCB</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echo $$   ·   echo $!</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bu kabuğun / son arka plan işinin PID'si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İş Denetimi</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Bir terminal, birçok iş: ön plan, arka plan, durdurulmuş.</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13  ·  16</a:t>
            </a:r>
            <a:endParaRPr lang="tr-TR"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İŞ DENETİMİ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Ön Plan ve Arka Plan İşleri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Klavyeye yalnızca BİR iş sahip olur: ön plan işi. Ctrl+C ve Ctrl+Z ona iletilir.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17</a:t>
            </a:r>
            <a:endParaRPr lang="tr-TR"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Ön plan:  komut</a:t>
            </a:r>
            <a:endParaRPr lang="tr-TR" sz="15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Kabuk bekler (3. haftanın wait() çağrısı) — iş bitene dek istem yok.</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İş klavyenizi okur.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Ctrl+C SIGINT gönderir: genellikle işi sonlandırır.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Ctrl+Z SIGTSTP gönderir: işi durdurur (T durumu), istemi geri verir.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Kısa komutlar ve etkileşimli her şey için (nano, less, top).</a:t>
            </a:r>
            <a:endParaRPr lang="tr-TR" sz="14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tr-TR" sz="1500" b="1" dirty="0">
                <a:solidFill>
                  <a:srgbClr val="C98A1B"/>
                </a:solidFill>
                <a:latin typeface="Cambria" pitchFamily="34" charset="0"/>
                <a:ea typeface="Cambria" pitchFamily="34" charset="-122"/>
                <a:cs typeface="Cambria" pitchFamily="34" charset="-120"/>
              </a:rPr>
              <a:t>Arka plan:  komut &amp;</a:t>
            </a:r>
            <a:endParaRPr lang="tr-TR" sz="15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Kabuk [iş] PID ve istemi hemen yazdırır.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İş çalışırken siz çalışmaya devam edersiniz.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Ctrl+C ona ulaşmaz: kill %n kullanın.</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Çıktısı yine ekranınıza gelir — yönlendirin (&gt; dosya, 12. hafta).</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Uzun, etkileşimsiz işler için: derleme, kopyalama, indirme.</a:t>
            </a:r>
            <a:endParaRPr lang="tr-TR" sz="14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jobs BU kabuğun işlerini listeler.  fg %n: ön plana getir.  bg %n: durdurulmuş bir işi arka planda sürdür.</a:t>
            </a:r>
            <a:endParaRPr lang="tr-TR"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İŞ DENETİMİ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Ctrl+Z, jobs ve bg</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18</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13232" y="1618488"/>
            <a:ext cx="6071616" cy="453542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sleep 100</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^Z</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[1]+  Stopped                 sleep 100</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jobs</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[1]+  Stopped                 sleep 100</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ps -o pid,stat,cmd</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PID STAT CMD</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2345 Ss   -bash</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2401 T    sleep 100</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2402 R+   ps -o pid,stat,cmd</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bg</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[1]+ sleep 100 &amp;</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jobs -l</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[1]+  2401 Running                 sleep 100 &amp;</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ps -o pid,stat,cmd</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PID STAT CMD</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2345 Ss   -bash</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2401 S    sleep 100</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 2403 R+   ps -o pid,stat,cmd</a:t>
            </a:r>
            <a:endParaRPr lang="tr-TR" sz="1200" dirty="0"/>
          </a:p>
        </p:txBody>
      </p:sp>
      <p:sp>
        <p:nvSpPr>
          <p:cNvPr id="8" name="Shape 6"/>
          <p:cNvSpPr/>
          <p:nvPr/>
        </p:nvSpPr>
        <p:spPr>
          <a:xfrm>
            <a:off x="7178040" y="1508760"/>
            <a:ext cx="4480560" cy="4754880"/>
          </a:xfrm>
          <a:prstGeom prst="roundRect">
            <a:avLst>
              <a:gd name="adj" fmla="val 122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406640" y="1691640"/>
            <a:ext cx="4023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Adım adım</a:t>
            </a:r>
            <a:endParaRPr lang="tr-TR" sz="1500" dirty="0"/>
          </a:p>
        </p:txBody>
      </p:sp>
      <p:sp>
        <p:nvSpPr>
          <p:cNvPr id="10" name="Text 8"/>
          <p:cNvSpPr txBox="1"/>
          <p:nvPr/>
        </p:nvSpPr>
        <p:spPr>
          <a:xfrm>
            <a:off x="7406640" y="2148840"/>
            <a:ext cx="4023360" cy="3977640"/>
          </a:xfrm>
          <a:prstGeom prst="rect">
            <a:avLst/>
          </a:prstGeom>
          <a:noFill/>
          <a:ln/>
        </p:spPr>
        <p:txBody>
          <a:bodyPr wrap="square" lIns="0" tIns="0" rIns="0" bIns="0" rtlCol="0" anchor="t"/>
          <a:lstStyle/>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sleep 100:</a:t>
            </a:r>
            <a:r>
              <a:rPr lang="tr-TR" sz="1450" dirty="0">
                <a:solidFill>
                  <a:srgbClr val="3A464C"/>
                </a:solidFill>
                <a:latin typeface="Calibri" pitchFamily="34" charset="0"/>
                <a:ea typeface="Calibri" pitchFamily="34" charset="-122"/>
                <a:cs typeface="Calibri" pitchFamily="34" charset="-120"/>
              </a:rPr>
              <a:t> ön planda — istem yok.</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Ctrl+Z (^Z):</a:t>
            </a:r>
            <a:r>
              <a:rPr lang="tr-TR" sz="1450" dirty="0">
                <a:solidFill>
                  <a:srgbClr val="3A464C"/>
                </a:solidFill>
                <a:latin typeface="Calibri" pitchFamily="34" charset="0"/>
                <a:ea typeface="Calibri" pitchFamily="34" charset="-122"/>
                <a:cs typeface="Calibri" pitchFamily="34" charset="-120"/>
              </a:rPr>
              <a:t> durduruldu; istem geri geldi.</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ps:</a:t>
            </a:r>
            <a:r>
              <a:rPr lang="tr-TR" sz="1450" dirty="0">
                <a:solidFill>
                  <a:srgbClr val="3A464C"/>
                </a:solidFill>
                <a:latin typeface="Calibri" pitchFamily="34" charset="0"/>
                <a:ea typeface="Calibri" pitchFamily="34" charset="-122"/>
                <a:cs typeface="Calibri" pitchFamily="34" charset="-120"/>
              </a:rPr>
              <a:t> STAT T — durdurulmuş durumu.</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bg:</a:t>
            </a:r>
            <a:r>
              <a:rPr lang="tr-TR" sz="1450" dirty="0">
                <a:solidFill>
                  <a:srgbClr val="3A464C"/>
                </a:solidFill>
                <a:latin typeface="Calibri" pitchFamily="34" charset="0"/>
                <a:ea typeface="Calibri" pitchFamily="34" charset="-122"/>
                <a:cs typeface="Calibri" pitchFamily="34" charset="-120"/>
              </a:rPr>
              <a:t> arka planda sürdür; kabuk &amp; ekler.</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jobs -l:</a:t>
            </a:r>
            <a:r>
              <a:rPr lang="tr-TR" sz="1450" dirty="0">
                <a:solidFill>
                  <a:srgbClr val="3A464C"/>
                </a:solidFill>
                <a:latin typeface="Calibri" pitchFamily="34" charset="0"/>
                <a:ea typeface="Calibri" pitchFamily="34" charset="-122"/>
                <a:cs typeface="Calibri" pitchFamily="34" charset="-120"/>
              </a:rPr>
              <a:t> artık Running, PID'siyle birlikte.</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ps:</a:t>
            </a:r>
            <a:r>
              <a:rPr lang="tr-TR" sz="1450" dirty="0">
                <a:solidFill>
                  <a:srgbClr val="3A464C"/>
                </a:solidFill>
                <a:latin typeface="Calibri" pitchFamily="34" charset="0"/>
                <a:ea typeface="Calibri" pitchFamily="34" charset="-122"/>
                <a:cs typeface="Calibri" pitchFamily="34" charset="-120"/>
              </a:rPr>
              <a:t> yeniden STAT S — sleep zamanlayıcısını bekliyor, takılmadı.</a:t>
            </a:r>
            <a:endParaRPr lang="tr-TR"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İŞ DENETİMİ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&amp; ile Başlatmak, fg, Ctrl+C ve kill %n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19</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13232" y="1618488"/>
            <a:ext cx="6071616" cy="4535424"/>
          </a:xfrm>
          <a:prstGeom prst="rect">
            <a:avLst/>
          </a:prstGeom>
          <a:noFill/>
          <a:ln/>
        </p:spPr>
        <p:txBody>
          <a:bodyPr wrap="square" lIns="0" tIns="0" rIns="0" bIns="0" rtlCol="0" anchor="t"/>
          <a:lstStyle/>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sleep 200 &amp;</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[2] 2404</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yes &gt; /dev/null &amp;</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[3] 2405</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jobs</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[1]   Running                 sleep 100 &amp;</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[2]-  Running                 sleep 200 &amp;</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[3]+  Running                 yes &gt; /dev/null &amp;</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fg %3</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yes &gt; /dev/null</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^C</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jobs</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[1]-  Running                 sleep 100 &amp;</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[2]+  Running                 sleep 200 &amp;</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kill %1 %2</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jobs</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[1]-  Terminated              sleep 100</a:t>
            </a:r>
            <a:endParaRPr lang="tr-TR" sz="1200" dirty="0"/>
          </a:p>
          <a:p>
            <a:pPr indent="0" marL="0">
              <a:lnSpc>
                <a:spcPct val="100000"/>
              </a:lnSpc>
              <a:buNone/>
            </a:pPr>
            <a:r>
              <a:rPr lang="tr-TR" sz="1200" dirty="0">
                <a:solidFill>
                  <a:srgbClr val="D9DEE0"/>
                </a:solidFill>
                <a:latin typeface="Consolas" pitchFamily="34" charset="0"/>
                <a:ea typeface="Consolas" pitchFamily="34" charset="-122"/>
                <a:cs typeface="Consolas" pitchFamily="34" charset="-120"/>
              </a:rPr>
              <a:t>[2]+  Terminated              sleep 200</a:t>
            </a:r>
            <a:endParaRPr lang="tr-TR" sz="1200" dirty="0"/>
          </a:p>
          <a:p>
            <a:pPr indent="0" marL="0">
              <a:lnSpc>
                <a:spcPct val="100000"/>
              </a:lnSpc>
              <a:buNone/>
            </a:pPr>
            <a:r>
              <a:rPr lang="tr-TR" sz="1200" dirty="0">
                <a:solidFill>
                  <a:srgbClr val="02C39A"/>
                </a:solidFill>
                <a:latin typeface="Consolas" pitchFamily="34" charset="0"/>
                <a:ea typeface="Consolas" pitchFamily="34" charset="-122"/>
                <a:cs typeface="Consolas" pitchFamily="34" charset="-120"/>
              </a:rPr>
              <a:t>student@okan-lab:~/lab$ </a:t>
            </a:r>
            <a:r>
              <a:rPr lang="tr-TR" sz="1200" b="1" dirty="0">
                <a:solidFill>
                  <a:srgbClr val="FFFFFF"/>
                </a:solidFill>
                <a:latin typeface="Consolas" pitchFamily="34" charset="0"/>
                <a:ea typeface="Consolas" pitchFamily="34" charset="-122"/>
                <a:cs typeface="Consolas" pitchFamily="34" charset="-120"/>
              </a:rPr>
              <a:t>jobs</a:t>
            </a:r>
            <a:endParaRPr lang="tr-TR" sz="1200" dirty="0"/>
          </a:p>
        </p:txBody>
      </p:sp>
      <p:sp>
        <p:nvSpPr>
          <p:cNvPr id="8" name="Shape 6"/>
          <p:cNvSpPr/>
          <p:nvPr/>
        </p:nvSpPr>
        <p:spPr>
          <a:xfrm>
            <a:off x="7178040" y="1508760"/>
            <a:ext cx="4480560" cy="4754880"/>
          </a:xfrm>
          <a:prstGeom prst="roundRect">
            <a:avLst>
              <a:gd name="adj" fmla="val 122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406640" y="1691640"/>
            <a:ext cx="4023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Adım adım</a:t>
            </a:r>
            <a:endParaRPr lang="tr-TR" sz="1500" dirty="0"/>
          </a:p>
        </p:txBody>
      </p:sp>
      <p:sp>
        <p:nvSpPr>
          <p:cNvPr id="10" name="Text 8"/>
          <p:cNvSpPr txBox="1"/>
          <p:nvPr/>
        </p:nvSpPr>
        <p:spPr>
          <a:xfrm>
            <a:off x="7406640" y="2148840"/>
            <a:ext cx="4023360" cy="3977640"/>
          </a:xfrm>
          <a:prstGeom prst="rect">
            <a:avLst/>
          </a:prstGeom>
          <a:noFill/>
          <a:ln/>
        </p:spPr>
        <p:txBody>
          <a:bodyPr wrap="square" lIns="0" tIns="0" rIns="0" bIns="0" rtlCol="0" anchor="t"/>
          <a:lstStyle/>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&amp;:</a:t>
            </a:r>
            <a:r>
              <a:rPr lang="tr-TR" sz="1450" dirty="0">
                <a:solidFill>
                  <a:srgbClr val="3A464C"/>
                </a:solidFill>
                <a:latin typeface="Calibri" pitchFamily="34" charset="0"/>
                <a:ea typeface="Calibri" pitchFamily="34" charset="-122"/>
                <a:cs typeface="Calibri" pitchFamily="34" charset="-120"/>
              </a:rPr>
              <a:t> [2] 2404 = 2 numaralı iş, PID 2404.</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jobs:</a:t>
            </a:r>
            <a:r>
              <a:rPr lang="tr-TR" sz="1450" dirty="0">
                <a:solidFill>
                  <a:srgbClr val="3A464C"/>
                </a:solidFill>
                <a:latin typeface="Calibri" pitchFamily="34" charset="0"/>
                <a:ea typeface="Calibri" pitchFamily="34" charset="-122"/>
                <a:cs typeface="Calibri" pitchFamily="34" charset="-120"/>
              </a:rPr>
              <a:t> + geçerli iş, - bir önceki.</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fg %3:</a:t>
            </a:r>
            <a:r>
              <a:rPr lang="tr-TR" sz="1450" dirty="0">
                <a:solidFill>
                  <a:srgbClr val="3A464C"/>
                </a:solidFill>
                <a:latin typeface="Calibri" pitchFamily="34" charset="0"/>
                <a:ea typeface="Calibri" pitchFamily="34" charset="-122"/>
                <a:cs typeface="Calibri" pitchFamily="34" charset="-120"/>
              </a:rPr>
              <a:t> yes ön plana gelir; kabuk komutunu yazdırır.</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Ctrl+C (^C):</a:t>
            </a:r>
            <a:r>
              <a:rPr lang="tr-TR" sz="1450" dirty="0">
                <a:solidFill>
                  <a:srgbClr val="3A464C"/>
                </a:solidFill>
                <a:latin typeface="Calibri" pitchFamily="34" charset="0"/>
                <a:ea typeface="Calibri" pitchFamily="34" charset="-122"/>
                <a:cs typeface="Calibri" pitchFamily="34" charset="-120"/>
              </a:rPr>
              <a:t> SIGINT onu bitirir.</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kill %1 %2:</a:t>
            </a:r>
            <a:r>
              <a:rPr lang="tr-TR" sz="1450" dirty="0">
                <a:solidFill>
                  <a:srgbClr val="3A464C"/>
                </a:solidFill>
                <a:latin typeface="Calibri" pitchFamily="34" charset="0"/>
                <a:ea typeface="Calibri" pitchFamily="34" charset="-122"/>
                <a:cs typeface="Calibri" pitchFamily="34" charset="-120"/>
              </a:rPr>
              <a:t> % iş numarası demektir.</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Terminated bir kez, bir sonraki istemden hemen önce bildirilir.</a:t>
            </a:r>
            <a:endParaRPr lang="tr-TR"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İŞ DENETİMİ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İşleri ve Süreçleri Adlandırmak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20</a:t>
            </a:r>
            <a:endParaRPr lang="tr-TR"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194560"/>
                <a:gridCol w="5760720"/>
                <a:gridCol w="3154680"/>
              </a:tblGrid>
              <a:tr h="0">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Yazdığınız</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Anlamı</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Örnek</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%1, %2 …</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bu kabuğun n numaralı işi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fg %2, kill %1</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  ya da  %%</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geçerli iş (+ ile işaretli); argümansız fg/bg de bunu kullanır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fg</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bir önceki iş (- ile işaretli)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bg %-</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%sleep</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komutu sleep ile başlayan iş</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kill %sleep</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1970</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bir PID — her terminalde, her araçla geçerli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kill 1970</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geçerli kabuğun PID'si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echo $$ → 1913</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en son arka plan işinin PID'si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kill $!</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İş numaraları (%n) yalnızca işleri başlatan kabuğun içinde vardır. PID'ler geneldir: başka bir terminaldeki ps, top ve kill de onları görür.</a:t>
            </a:r>
            <a:endParaRPr lang="tr-TR"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sinyaller — kill gerçekte nasıl çalışır — ardından öncelikler ve zombiler.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13  ·  21</a:t>
            </a:r>
            <a:endParaRPr lang="tr-TR"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3</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Sinyaller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Çekirdeğin bir sürece ilettiği küçük, numaralı iletiler.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13  ·  22</a:t>
            </a:r>
            <a:endParaRPr lang="tr-TR"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SİNYALLER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Sinyal, Bir Süreç İçin Yazılımsal Bir Kesmedir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2. hafta: donanım kesmesi işlemciyi durdurur ve bir işleyici çalıştırır. Sinyal aynısını tek bir süreç için yapar.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23</a:t>
            </a:r>
            <a:endParaRPr lang="tr-TR" sz="900" dirty="0"/>
          </a:p>
        </p:txBody>
      </p:sp>
      <p:sp>
        <p:nvSpPr>
          <p:cNvPr id="7" name="Shape 5"/>
          <p:cNvSpPr/>
          <p:nvPr/>
        </p:nvSpPr>
        <p:spPr>
          <a:xfrm>
            <a:off x="548640" y="2331720"/>
            <a:ext cx="2103120" cy="914400"/>
          </a:xfrm>
          <a:prstGeom prst="roundRect">
            <a:avLst>
              <a:gd name="adj" fmla="val 5000"/>
            </a:avLst>
          </a:prstGeom>
          <a:solidFill>
            <a:srgbClr val="F2F2F2"/>
          </a:solidFill>
          <a:ln/>
        </p:spPr>
      </p:sp>
      <p:sp>
        <p:nvSpPr>
          <p:cNvPr id="8" name="Text 6"/>
          <p:cNvSpPr txBox="1"/>
          <p:nvPr/>
        </p:nvSpPr>
        <p:spPr>
          <a:xfrm>
            <a:off x="548640" y="2331720"/>
            <a:ext cx="2103120" cy="914400"/>
          </a:xfrm>
          <a:prstGeom prst="rect">
            <a:avLst/>
          </a:prstGeom>
          <a:noFill/>
          <a:ln/>
        </p:spPr>
        <p:txBody>
          <a:bodyPr wrap="square" lIns="38100" tIns="38100" rIns="38100" bIns="38100" rtlCol="0" anchor="ctr"/>
          <a:lstStyle/>
          <a:p>
            <a:pPr algn="ctr" indent="0" marL="0">
              <a:buNone/>
            </a:pPr>
            <a:r>
              <a:rPr lang="tr-TR" sz="1500" b="1" dirty="0">
                <a:solidFill>
                  <a:srgbClr val="36454F"/>
                </a:solidFill>
                <a:latin typeface="Calibri" pitchFamily="34" charset="0"/>
                <a:ea typeface="Calibri" pitchFamily="34" charset="-122"/>
                <a:cs typeface="Calibri" pitchFamily="34" charset="-120"/>
              </a:rPr>
              <a:t>Gönderen</a:t>
            </a:r>
            <a:endParaRPr lang="tr-TR" sz="1500" dirty="0"/>
          </a:p>
          <a:p>
            <a:pPr algn="ctr" indent="0" marL="0">
              <a:buNone/>
            </a:pPr>
            <a:r>
              <a:rPr lang="tr-TR" sz="1100" dirty="0">
                <a:solidFill>
                  <a:srgbClr val="36454F"/>
                </a:solidFill>
                <a:latin typeface="Calibri" pitchFamily="34" charset="0"/>
                <a:ea typeface="Calibri" pitchFamily="34" charset="-122"/>
                <a:cs typeface="Calibri" pitchFamily="34" charset="-120"/>
              </a:rPr>
              <a:t>siz (Ctrl+C), kill, çekirdek</a:t>
            </a:r>
            <a:endParaRPr lang="tr-TR" sz="1500" dirty="0"/>
          </a:p>
        </p:txBody>
      </p:sp>
      <p:sp>
        <p:nvSpPr>
          <p:cNvPr id="9" name="Shape 7"/>
          <p:cNvSpPr/>
          <p:nvPr/>
        </p:nvSpPr>
        <p:spPr>
          <a:xfrm>
            <a:off x="3474720" y="2331720"/>
            <a:ext cx="2103120" cy="914400"/>
          </a:xfrm>
          <a:prstGeom prst="roundRect">
            <a:avLst>
              <a:gd name="adj" fmla="val 5000"/>
            </a:avLst>
          </a:prstGeom>
          <a:solidFill>
            <a:srgbClr val="36454F"/>
          </a:solidFill>
          <a:ln/>
        </p:spPr>
      </p:sp>
      <p:sp>
        <p:nvSpPr>
          <p:cNvPr id="10" name="Text 8"/>
          <p:cNvSpPr txBox="1"/>
          <p:nvPr/>
        </p:nvSpPr>
        <p:spPr>
          <a:xfrm>
            <a:off x="3474720" y="2331720"/>
            <a:ext cx="2103120" cy="91440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Çekirdek</a:t>
            </a:r>
            <a:endParaRPr lang="tr-TR" sz="1500" dirty="0"/>
          </a:p>
          <a:p>
            <a:pPr algn="ctr" indent="0" marL="0">
              <a:buNone/>
            </a:pPr>
            <a:r>
              <a:rPr lang="tr-TR" sz="1100" dirty="0">
                <a:solidFill>
                  <a:srgbClr val="FFFFFF"/>
                </a:solidFill>
                <a:latin typeface="Calibri" pitchFamily="34" charset="0"/>
                <a:ea typeface="Calibri" pitchFamily="34" charset="-122"/>
                <a:cs typeface="Calibri" pitchFamily="34" charset="-120"/>
              </a:rPr>
              <a:t>sinyali bekleyen olarak işaretler</a:t>
            </a:r>
            <a:endParaRPr lang="tr-TR" sz="1500" dirty="0"/>
          </a:p>
        </p:txBody>
      </p:sp>
      <p:sp>
        <p:nvSpPr>
          <p:cNvPr id="11" name="Shape 9"/>
          <p:cNvSpPr/>
          <p:nvPr/>
        </p:nvSpPr>
        <p:spPr>
          <a:xfrm>
            <a:off x="6400800" y="2331720"/>
            <a:ext cx="2103120" cy="914400"/>
          </a:xfrm>
          <a:prstGeom prst="roundRect">
            <a:avLst>
              <a:gd name="adj" fmla="val 5000"/>
            </a:avLst>
          </a:prstGeom>
          <a:solidFill>
            <a:srgbClr val="02C39A"/>
          </a:solidFill>
          <a:ln/>
        </p:spPr>
      </p:sp>
      <p:sp>
        <p:nvSpPr>
          <p:cNvPr id="12" name="Text 10"/>
          <p:cNvSpPr txBox="1"/>
          <p:nvPr/>
        </p:nvSpPr>
        <p:spPr>
          <a:xfrm>
            <a:off x="6400800" y="2331720"/>
            <a:ext cx="2103120" cy="91440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Süreç</a:t>
            </a:r>
            <a:endParaRPr lang="tr-TR" sz="1500" dirty="0"/>
          </a:p>
          <a:p>
            <a:pPr algn="ctr" indent="0" marL="0">
              <a:buNone/>
            </a:pPr>
            <a:r>
              <a:rPr lang="tr-TR" sz="1100" dirty="0">
                <a:solidFill>
                  <a:srgbClr val="212121"/>
                </a:solidFill>
                <a:latin typeface="Calibri" pitchFamily="34" charset="0"/>
                <a:ea typeface="Calibri" pitchFamily="34" charset="-122"/>
                <a:cs typeface="Calibri" pitchFamily="34" charset="-120"/>
              </a:rPr>
              <a:t>PID 1970</a:t>
            </a:r>
            <a:endParaRPr lang="tr-TR" sz="1500" dirty="0"/>
          </a:p>
        </p:txBody>
      </p:sp>
      <p:sp>
        <p:nvSpPr>
          <p:cNvPr id="13" name="Shape 11"/>
          <p:cNvSpPr/>
          <p:nvPr/>
        </p:nvSpPr>
        <p:spPr>
          <a:xfrm>
            <a:off x="2670048" y="2788920"/>
            <a:ext cx="786384" cy="91"/>
          </a:xfrm>
          <a:prstGeom prst="line">
            <a:avLst/>
          </a:prstGeom>
          <a:noFill/>
          <a:ln w="25400">
            <a:solidFill>
              <a:srgbClr val="028090"/>
            </a:solidFill>
            <a:prstDash val="solid"/>
            <a:tailEnd type="triangle"/>
          </a:ln>
        </p:spPr>
      </p:sp>
      <p:sp>
        <p:nvSpPr>
          <p:cNvPr id="14" name="Shape 12"/>
          <p:cNvSpPr/>
          <p:nvPr/>
        </p:nvSpPr>
        <p:spPr>
          <a:xfrm>
            <a:off x="5596128" y="2788920"/>
            <a:ext cx="786384" cy="91"/>
          </a:xfrm>
          <a:prstGeom prst="line">
            <a:avLst/>
          </a:prstGeom>
          <a:noFill/>
          <a:ln w="25400">
            <a:solidFill>
              <a:srgbClr val="028090"/>
            </a:solidFill>
            <a:prstDash val="solid"/>
            <a:tailEnd type="triangle"/>
          </a:ln>
        </p:spPr>
      </p:sp>
      <p:sp>
        <p:nvSpPr>
          <p:cNvPr id="15" name="Text 13"/>
          <p:cNvSpPr txBox="1"/>
          <p:nvPr/>
        </p:nvSpPr>
        <p:spPr>
          <a:xfrm>
            <a:off x="2011680" y="3291840"/>
            <a:ext cx="2377440" cy="274320"/>
          </a:xfrm>
          <a:prstGeom prst="rect">
            <a:avLst/>
          </a:prstGeom>
          <a:noFill/>
          <a:ln/>
        </p:spPr>
        <p:txBody>
          <a:bodyPr wrap="square" lIns="0" tIns="0" rIns="0" bIns="0" rtlCol="0" anchor="t"/>
          <a:lstStyle/>
          <a:p>
            <a:pPr algn="ctr" indent="0" marL="0">
              <a:buNone/>
            </a:pPr>
            <a:r>
              <a:rPr lang="tr-TR" sz="1200" dirty="0">
                <a:solidFill>
                  <a:srgbClr val="028090"/>
                </a:solidFill>
                <a:latin typeface="Consolas" pitchFamily="34" charset="0"/>
                <a:ea typeface="Consolas" pitchFamily="34" charset="-122"/>
                <a:cs typeface="Consolas" pitchFamily="34" charset="-120"/>
              </a:rPr>
              <a:t>kill -15 1970</a:t>
            </a:r>
            <a:endParaRPr lang="tr-TR" sz="1200" dirty="0"/>
          </a:p>
        </p:txBody>
      </p:sp>
      <p:sp>
        <p:nvSpPr>
          <p:cNvPr id="16" name="Shape 14"/>
          <p:cNvSpPr/>
          <p:nvPr/>
        </p:nvSpPr>
        <p:spPr>
          <a:xfrm>
            <a:off x="548640" y="3840480"/>
            <a:ext cx="7955280" cy="2423160"/>
          </a:xfrm>
          <a:prstGeom prst="roundRect">
            <a:avLst>
              <a:gd name="adj" fmla="val 2264"/>
            </a:avLst>
          </a:prstGeom>
          <a:solidFill>
            <a:srgbClr val="F2F2F2"/>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777240" y="4023360"/>
            <a:ext cx="7498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Süreç sinyalle ne yapar?</a:t>
            </a:r>
            <a:endParaRPr lang="tr-TR" sz="1500" dirty="0"/>
          </a:p>
        </p:txBody>
      </p:sp>
      <p:sp>
        <p:nvSpPr>
          <p:cNvPr id="18" name="Text 16"/>
          <p:cNvSpPr txBox="1"/>
          <p:nvPr/>
        </p:nvSpPr>
        <p:spPr>
          <a:xfrm>
            <a:off x="777240" y="4480560"/>
            <a:ext cx="7498080" cy="164592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Varsayılan eylem:</a:t>
            </a:r>
            <a:r>
              <a:rPr lang="tr-TR" sz="1400" dirty="0">
                <a:solidFill>
                  <a:srgbClr val="3A464C"/>
                </a:solidFill>
                <a:latin typeface="Calibri" pitchFamily="34" charset="0"/>
                <a:ea typeface="Calibri" pitchFamily="34" charset="-122"/>
                <a:cs typeface="Calibri" pitchFamily="34" charset="-120"/>
              </a:rPr>
              <a:t> sonlan, dur, sürdür ya da yok say — her sinyal için sabittir.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Yakala:</a:t>
            </a:r>
            <a:r>
              <a:rPr lang="tr-TR" sz="1400" dirty="0">
                <a:solidFill>
                  <a:srgbClr val="3A464C"/>
                </a:solidFill>
                <a:latin typeface="Calibri" pitchFamily="34" charset="0"/>
                <a:ea typeface="Calibri" pitchFamily="34" charset="-122"/>
                <a:cs typeface="Calibri" pitchFamily="34" charset="-120"/>
              </a:rPr>
              <a:t> kendi işleyici fonksiyonunu çalıştır (örneğin işi kaydet, sonra çık).</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Yok say:</a:t>
            </a:r>
            <a:r>
              <a:rPr lang="tr-TR" sz="1400" dirty="0">
                <a:solidFill>
                  <a:srgbClr val="3A464C"/>
                </a:solidFill>
                <a:latin typeface="Calibri" pitchFamily="34" charset="0"/>
                <a:ea typeface="Calibri" pitchFamily="34" charset="-122"/>
                <a:cs typeface="Calibri" pitchFamily="34" charset="-120"/>
              </a:rPr>
              <a:t> sinyalin hiçbir etkisi olmaz.</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İstisnalar:</a:t>
            </a:r>
            <a:r>
              <a:rPr lang="tr-TR" sz="1400" dirty="0">
                <a:solidFill>
                  <a:srgbClr val="3A464C"/>
                </a:solidFill>
                <a:latin typeface="Calibri" pitchFamily="34" charset="0"/>
                <a:ea typeface="Calibri" pitchFamily="34" charset="-122"/>
                <a:cs typeface="Calibri" pitchFamily="34" charset="-120"/>
              </a:rPr>
              <a:t> SIGKILL (9) ve SIGSTOP (19) yakalanamaz ve yok sayılamaz.</a:t>
            </a:r>
            <a:endParaRPr lang="tr-TR" sz="1400" dirty="0"/>
          </a:p>
        </p:txBody>
      </p:sp>
      <p:sp>
        <p:nvSpPr>
          <p:cNvPr id="19" name="Shape 17"/>
          <p:cNvSpPr/>
          <p:nvPr/>
        </p:nvSpPr>
        <p:spPr>
          <a:xfrm>
            <a:off x="8732520" y="1508760"/>
            <a:ext cx="2926080" cy="4754880"/>
          </a:xfrm>
          <a:prstGeom prst="roundRect">
            <a:avLst>
              <a:gd name="adj" fmla="val 1875"/>
            </a:avLst>
          </a:prstGeom>
          <a:solidFill>
            <a:srgbClr val="F2F2F2"/>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8961120" y="1691640"/>
            <a:ext cx="24688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Kurallar</a:t>
            </a:r>
            <a:endParaRPr lang="tr-TR" sz="1500" dirty="0"/>
          </a:p>
        </p:txBody>
      </p:sp>
      <p:sp>
        <p:nvSpPr>
          <p:cNvPr id="21" name="Text 19"/>
          <p:cNvSpPr txBox="1"/>
          <p:nvPr/>
        </p:nvSpPr>
        <p:spPr>
          <a:xfrm>
            <a:off x="8961120" y="2148840"/>
            <a:ext cx="246888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Bir kullanıcı yalnızca KENDİ süreçlerine sinyal gönderebilir (root: herkesinkine).</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kill her zaman öldürmez: bir sinyal gönderir. Varsayılan sinyal 15'tir, SIGTERM.</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Sinyallerin adları ve numaraları vardır: kill -l.</a:t>
            </a:r>
            <a:endParaRPr lang="tr-TR"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SİNYALLER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Bilmeniz Gereken Sinyaller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24</a:t>
            </a:r>
            <a:endParaRPr lang="tr-TR"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731520"/>
                <a:gridCol w="1737360"/>
                <a:gridCol w="3703320"/>
                <a:gridCol w="3017520"/>
                <a:gridCol w="1920240"/>
              </a:tblGrid>
              <a:tr h="0">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No.</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Ad</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Gönderen</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Varsayılan eylem</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50" b="1" dirty="0">
                          <a:solidFill>
                            <a:srgbClr val="FFFFFF"/>
                          </a:solidFill>
                          <a:latin typeface="Cambria" pitchFamily="34" charset="0"/>
                          <a:ea typeface="Cambria" pitchFamily="34" charset="-122"/>
                          <a:cs typeface="Cambria" pitchFamily="34" charset="-120"/>
                        </a:rPr>
                        <a:t>Yakalanır mı?</a:t>
                      </a:r>
                      <a:endParaRPr lang="tr-TR"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1</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SIGHUP</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terminali kapatmak ("hang up")</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sonlan</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evet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2</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SIGINT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Ctrl+C</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sonlan</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evet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9</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SIGKILL</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kill -9 — son çare</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hemen sonlan</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HAYIR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15</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SIGTERM</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kill (varsayılan)</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sonlan</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evet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17</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SIGCHLD</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çekirdek, bir çocuk bittiğinde</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yok say</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evet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18</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SIGCONT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fg, bg, kill -CONT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durmuşsa sürdür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evet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19</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SIGSTOP</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kill -STOP</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dur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HAYIR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50" b="1" dirty="0">
                          <a:solidFill>
                            <a:srgbClr val="3A464C"/>
                          </a:solidFill>
                          <a:latin typeface="Calibri" pitchFamily="34" charset="0"/>
                          <a:ea typeface="Calibri" pitchFamily="34" charset="-122"/>
                          <a:cs typeface="Calibri" pitchFamily="34" charset="-120"/>
                        </a:rPr>
                        <a:t>20</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SIGTSTP</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Ctrl+Z</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dur</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50" dirty="0">
                          <a:solidFill>
                            <a:srgbClr val="3A464C"/>
                          </a:solidFill>
                          <a:latin typeface="Calibri" pitchFamily="34" charset="0"/>
                          <a:ea typeface="Calibri" pitchFamily="34" charset="-122"/>
                          <a:cs typeface="Calibri" pitchFamily="34" charset="-120"/>
                        </a:rPr>
                        <a:t>evet</a:t>
                      </a:r>
                      <a:endParaRPr lang="tr-TR"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Ctrl+\ SIGQUIT (3) gönderir: SIGINT gibidir ama bir bellek dökümü (core dump) da yazabilir. SIGSEGV (11), çekirdeğin geçersiz bir bellek erişimine yanıtıdır (7. hafta).</a:t>
            </a:r>
            <a:endParaRPr lang="tr-TR"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KİLL</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kill -l, SIGTERM, SIGKILL, SIGINT — ve Çıkış Durumu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25</a:t>
            </a:r>
            <a:endParaRPr lang="tr-TR" sz="900" dirty="0"/>
          </a:p>
        </p:txBody>
      </p:sp>
      <p:sp>
        <p:nvSpPr>
          <p:cNvPr id="6" name="Shape 4"/>
          <p:cNvSpPr/>
          <p:nvPr/>
        </p:nvSpPr>
        <p:spPr>
          <a:xfrm>
            <a:off x="548640" y="1508760"/>
            <a:ext cx="6675120" cy="4754880"/>
          </a:xfrm>
          <a:prstGeom prst="roundRect">
            <a:avLst>
              <a:gd name="adj" fmla="val 962"/>
            </a:avLst>
          </a:prstGeom>
          <a:solidFill>
            <a:srgbClr val="212121"/>
          </a:solidFill>
          <a:ln/>
        </p:spPr>
      </p:sp>
      <p:sp>
        <p:nvSpPr>
          <p:cNvPr id="7" name="Text 5"/>
          <p:cNvSpPr txBox="1"/>
          <p:nvPr/>
        </p:nvSpPr>
        <p:spPr>
          <a:xfrm>
            <a:off x="713232" y="1618488"/>
            <a:ext cx="6345936"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 -l</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1) SIGHUP       2) SIGINT       3) SIGQUIT      4) SIGILL       5) SIGTRAP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6) SIGABRT      7) SIGBUS       8) SIGFPE       9) SIGKILL     10) SIGUSR1</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11) SIGSEGV     12) SIGUSR2     13) SIGPIPE     14) SIGALRM     15) SIGTERM</a:t>
            </a:r>
            <a:endParaRPr lang="tr-TR" sz="1050" dirty="0"/>
          </a:p>
          <a:p>
            <a:pPr indent="0" marL="0">
              <a:lnSpc>
                <a:spcPct val="100000"/>
              </a:lnSpc>
              <a:buNone/>
            </a:pPr>
            <a:r>
              <a:rPr lang="tr-TR" sz="1050" i="1" dirty="0">
                <a:solidFill>
                  <a:srgbClr val="8A9AA0"/>
                </a:solidFill>
                <a:latin typeface="Consolas" pitchFamily="34" charset="0"/>
                <a:ea typeface="Consolas" pitchFamily="34" charset="-122"/>
                <a:cs typeface="Consolas" pitchFamily="34" charset="-120"/>
              </a:rPr>
              <a:t># ... toplam 64 sinyal</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sleep 300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2541</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wait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Terminated              sleep 300</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echo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143</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sleep 300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2542</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 -9 $!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wait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Killed                  sleep 300</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echo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137</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sleep 300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2543</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 -INT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wait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Interrupt               sleep 300</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echo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130</a:t>
            </a:r>
            <a:endParaRPr lang="tr-TR" sz="1050" dirty="0"/>
          </a:p>
        </p:txBody>
      </p:sp>
      <p:sp>
        <p:nvSpPr>
          <p:cNvPr id="8" name="Shape 6"/>
          <p:cNvSpPr/>
          <p:nvPr/>
        </p:nvSpPr>
        <p:spPr>
          <a:xfrm>
            <a:off x="7452360" y="1508760"/>
            <a:ext cx="420624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680960" y="169164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etmeli?</a:t>
            </a:r>
            <a:endParaRPr lang="tr-TR" sz="1500" dirty="0"/>
          </a:p>
        </p:txBody>
      </p:sp>
      <p:sp>
        <p:nvSpPr>
          <p:cNvPr id="10" name="Text 8"/>
          <p:cNvSpPr txBox="1"/>
          <p:nvPr/>
        </p:nvSpPr>
        <p:spPr>
          <a:xfrm>
            <a:off x="7680960" y="2148840"/>
            <a:ext cx="3749040" cy="20574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kill -l bütün sinyalleri listeler; kill -l 15 TERM, kill -l KILL 9 yazdırır.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wait $! işi bekler ve nasıl bittiğini bildirir: Terminated, Killed, Interrupt.</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 = son komutun çıkış durumu.</a:t>
            </a:r>
            <a:endParaRPr lang="tr-TR" sz="1350" dirty="0"/>
          </a:p>
        </p:txBody>
      </p:sp>
      <p:sp>
        <p:nvSpPr>
          <p:cNvPr id="11" name="Shape 9"/>
          <p:cNvSpPr/>
          <p:nvPr/>
        </p:nvSpPr>
        <p:spPr>
          <a:xfrm>
            <a:off x="7452360" y="4526280"/>
            <a:ext cx="4206240" cy="1737360"/>
          </a:xfrm>
          <a:prstGeom prst="roundRect">
            <a:avLst>
              <a:gd name="adj" fmla="val 2632"/>
            </a:avLst>
          </a:prstGeom>
          <a:solidFill>
            <a:srgbClr val="212121"/>
          </a:solidFill>
          <a:ln/>
        </p:spPr>
      </p:sp>
      <p:sp>
        <p:nvSpPr>
          <p:cNvPr id="12" name="Text 10"/>
          <p:cNvSpPr txBox="1"/>
          <p:nvPr/>
        </p:nvSpPr>
        <p:spPr>
          <a:xfrm>
            <a:off x="7635240" y="4636008"/>
            <a:ext cx="3840480" cy="151790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n sinyaliyle öldü → $? = 128 + n</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SIGTERM: 128 + 15 = 143</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SIGKILL: 128 +  9 = 137</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SIGINT : 128 +  2 = 130</a:t>
            </a:r>
            <a:endParaRPr lang="tr-TR"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KİLL, PKİLL, KİLLALL</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Duraklat ve Sürdür; Süreçlere Adlarıyla Sinyal Gönder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26</a:t>
            </a:r>
            <a:endParaRPr lang="tr-TR" sz="900" dirty="0"/>
          </a:p>
        </p:txBody>
      </p:sp>
      <p:sp>
        <p:nvSpPr>
          <p:cNvPr id="6" name="Shape 4"/>
          <p:cNvSpPr/>
          <p:nvPr/>
        </p:nvSpPr>
        <p:spPr>
          <a:xfrm>
            <a:off x="548640" y="1508760"/>
            <a:ext cx="5897880" cy="4754880"/>
          </a:xfrm>
          <a:prstGeom prst="roundRect">
            <a:avLst>
              <a:gd name="adj" fmla="val 962"/>
            </a:avLst>
          </a:prstGeom>
          <a:solidFill>
            <a:srgbClr val="212121"/>
          </a:solidFill>
          <a:ln/>
        </p:spPr>
      </p:sp>
      <p:sp>
        <p:nvSpPr>
          <p:cNvPr id="7" name="Text 5"/>
          <p:cNvSpPr txBox="1"/>
          <p:nvPr/>
        </p:nvSpPr>
        <p:spPr>
          <a:xfrm>
            <a:off x="713232" y="1618488"/>
            <a:ext cx="5568696"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sleep 300 &amp;</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[1] 2544</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kill -STOP $!</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ps -o pid,stat,cmd -p $!</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PID STAT CMD</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2544 T    sleep 300</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[1]+  Stopped                 sleep 300</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kill -CONT $!</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ps -o pid,stat,cmd -p $!</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PID STAT CMD</a:t>
            </a:r>
            <a:endParaRPr lang="tr-TR" sz="1150" dirty="0"/>
          </a:p>
          <a:p>
            <a:pPr indent="0" marL="0">
              <a:lnSpc>
                <a:spcPct val="100000"/>
              </a:lnSpc>
              <a:buNone/>
            </a:pPr>
            <a:r>
              <a:rPr lang="tr-TR" sz="1150" dirty="0">
                <a:solidFill>
                  <a:srgbClr val="D9DEE0"/>
                </a:solidFill>
                <a:latin typeface="Consolas" pitchFamily="34" charset="0"/>
                <a:ea typeface="Consolas" pitchFamily="34" charset="-122"/>
                <a:cs typeface="Consolas" pitchFamily="34" charset="-120"/>
              </a:rPr>
              <a:t> 2544 S    sleep 300</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kill $!</a:t>
            </a:r>
            <a:endParaRPr lang="tr-TR" sz="1150" dirty="0"/>
          </a:p>
        </p:txBody>
      </p:sp>
      <p:sp>
        <p:nvSpPr>
          <p:cNvPr id="8" name="Shape 6"/>
          <p:cNvSpPr/>
          <p:nvPr/>
        </p:nvSpPr>
        <p:spPr>
          <a:xfrm>
            <a:off x="6629400" y="1508760"/>
            <a:ext cx="5029200" cy="3337560"/>
          </a:xfrm>
          <a:prstGeom prst="roundRect">
            <a:avLst>
              <a:gd name="adj" fmla="val 1370"/>
            </a:avLst>
          </a:prstGeom>
          <a:solidFill>
            <a:srgbClr val="212121"/>
          </a:solidFill>
          <a:ln/>
        </p:spPr>
      </p:sp>
      <p:sp>
        <p:nvSpPr>
          <p:cNvPr id="9" name="Text 7"/>
          <p:cNvSpPr txBox="1"/>
          <p:nvPr/>
        </p:nvSpPr>
        <p:spPr>
          <a:xfrm>
            <a:off x="6793992" y="1618488"/>
            <a:ext cx="4700016" cy="311810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sleep 401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 2548</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Terminated              sleep 300</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sleep 402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[3] 2549</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yes &gt; /dev/null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[4] 2550</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pgrep -u student -l sleep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2548 sleep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2549 sleep</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pkill -u student sleep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   Terminated              sleep 401</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[3]-  Terminated              sleep 402</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killall -u student yes</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[4]+  Terminated              yes &gt; /dev/null</a:t>
            </a:r>
            <a:endParaRPr lang="tr-TR" sz="1050" dirty="0"/>
          </a:p>
        </p:txBody>
      </p:sp>
      <p:sp>
        <p:nvSpPr>
          <p:cNvPr id="10" name="Shape 8"/>
          <p:cNvSpPr/>
          <p:nvPr/>
        </p:nvSpPr>
        <p:spPr>
          <a:xfrm>
            <a:off x="6629400" y="5029200"/>
            <a:ext cx="5029200" cy="1234440"/>
          </a:xfrm>
          <a:prstGeom prst="roundRect">
            <a:avLst>
              <a:gd name="adj" fmla="val 4444"/>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858000" y="5212080"/>
            <a:ext cx="4572000" cy="91440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pgrep / pkill / killall süreçleri ADLARINA göre seçer. Her zaman -u student ekleyin: yoksa başka kullanıcıların süreçlerini de denerler.</a:t>
            </a:r>
            <a:endParaRPr lang="tr-TR"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C</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Sinyalleri Yakalayan Bir Program: catch.c</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27</a:t>
            </a:r>
            <a:endParaRPr lang="tr-TR" sz="900" dirty="0"/>
          </a:p>
        </p:txBody>
      </p:sp>
      <p:sp>
        <p:nvSpPr>
          <p:cNvPr id="6" name="Shape 4"/>
          <p:cNvSpPr/>
          <p:nvPr/>
        </p:nvSpPr>
        <p:spPr>
          <a:xfrm>
            <a:off x="548640" y="1508760"/>
            <a:ext cx="5257800" cy="3429000"/>
          </a:xfrm>
          <a:prstGeom prst="roundRect">
            <a:avLst>
              <a:gd name="adj" fmla="val 1333"/>
            </a:avLst>
          </a:prstGeom>
          <a:solidFill>
            <a:srgbClr val="212121"/>
          </a:solidFill>
          <a:ln/>
        </p:spPr>
      </p:sp>
      <p:sp>
        <p:nvSpPr>
          <p:cNvPr id="7" name="Text 5"/>
          <p:cNvSpPr txBox="1"/>
          <p:nvPr/>
        </p:nvSpPr>
        <p:spPr>
          <a:xfrm>
            <a:off x="731520" y="1618488"/>
            <a:ext cx="4892040" cy="3209544"/>
          </a:xfrm>
          <a:prstGeom prst="rect">
            <a:avLst/>
          </a:prstGeom>
          <a:noFill/>
          <a:ln/>
        </p:spPr>
        <p:txBody>
          <a:bodyPr wrap="square" lIns="0" tIns="0" rIns="0" bIns="0" rtlCol="0" anchor="t"/>
          <a:lstStyle/>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static volatile sig_atomic_t got = 0;</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static void handler(int sig) { got = sig; }  /* minicik!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sa.sa_handler = handler;</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sigaction(SIGINT,  &amp;sa, NULL);   /* Ctrl+C, 2: yakalanır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sigaction(SIGTERM, &amp;sa, NULL);   /* kill,  15: yakalanır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if (sigaction(SIGKILL, &amp;sa, NULL) &lt; 0)  /* 9: reddedilir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perror("catch: sigaction(SIGKILL)");</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for (;;)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pause();                     /* sinyal gelene dek uyu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if (got == SIGINT)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 ignoring it, still running\n");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if (got == SIGTERM)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 cleaning up, bye\n");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return 0;</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t>
            </a:r>
            <a:endParaRPr lang="tr-TR" sz="1050" dirty="0"/>
          </a:p>
        </p:txBody>
      </p:sp>
      <p:sp>
        <p:nvSpPr>
          <p:cNvPr id="8" name="Shape 6"/>
          <p:cNvSpPr/>
          <p:nvPr/>
        </p:nvSpPr>
        <p:spPr>
          <a:xfrm>
            <a:off x="5989320" y="1508760"/>
            <a:ext cx="5669280" cy="4754880"/>
          </a:xfrm>
          <a:prstGeom prst="roundRect">
            <a:avLst>
              <a:gd name="adj" fmla="val 962"/>
            </a:avLst>
          </a:prstGeom>
          <a:solidFill>
            <a:srgbClr val="212121"/>
          </a:solidFill>
          <a:ln/>
        </p:spPr>
      </p:sp>
      <p:sp>
        <p:nvSpPr>
          <p:cNvPr id="9" name="Text 7"/>
          <p:cNvSpPr txBox="1"/>
          <p:nvPr/>
        </p:nvSpPr>
        <p:spPr>
          <a:xfrm>
            <a:off x="6153912" y="1618488"/>
            <a:ext cx="5340096" cy="4535424"/>
          </a:xfrm>
          <a:prstGeom prst="rect">
            <a:avLst/>
          </a:prstGeom>
          <a:noFill/>
          <a:ln/>
        </p:spPr>
        <p:txBody>
          <a:bodyPr wrap="square" lIns="0" tIns="0" rIns="0" bIns="0" rtlCol="0" anchor="t"/>
          <a:lstStyle/>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student@okan-lab:~/lab/src$ </a:t>
            </a:r>
            <a:r>
              <a:rPr lang="tr-TR" sz="950" b="1" dirty="0">
                <a:solidFill>
                  <a:srgbClr val="FFFFFF"/>
                </a:solidFill>
                <a:latin typeface="Consolas" pitchFamily="34" charset="0"/>
                <a:ea typeface="Consolas" pitchFamily="34" charset="-122"/>
                <a:cs typeface="Consolas" pitchFamily="34" charset="-120"/>
              </a:rPr>
              <a:t>./catch</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catch: sigaction(SIGKILL): Invalid argument</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catch: PID 2694, waiting for signals</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^Ccatch: got SIGINT (2) -- ignoring it, still running</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^Ccatch: got SIGINT (2) -- ignoring it, still running</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^Z</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[1]+  Stopped                 ./catch</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student@okan-lab:~/lab/src$ </a:t>
            </a:r>
            <a:r>
              <a:rPr lang="tr-TR" sz="950" b="1" dirty="0">
                <a:solidFill>
                  <a:srgbClr val="FFFFFF"/>
                </a:solidFill>
                <a:latin typeface="Consolas" pitchFamily="34" charset="0"/>
                <a:ea typeface="Consolas" pitchFamily="34" charset="-122"/>
                <a:cs typeface="Consolas" pitchFamily="34" charset="-120"/>
              </a:rPr>
              <a:t>bg</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[1]+ ./catch &amp;</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student@okan-lab:~/lab/src$ </a:t>
            </a:r>
            <a:r>
              <a:rPr lang="tr-TR" sz="950" b="1" dirty="0">
                <a:solidFill>
                  <a:srgbClr val="FFFFFF"/>
                </a:solidFill>
                <a:latin typeface="Consolas" pitchFamily="34" charset="0"/>
                <a:ea typeface="Consolas" pitchFamily="34" charset="-122"/>
                <a:cs typeface="Consolas" pitchFamily="34" charset="-120"/>
              </a:rPr>
              <a:t>kill -INT %1</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student@okan-lab:~/lab/src$ </a:t>
            </a:r>
            <a:r>
              <a:rPr lang="tr-TR" sz="950" b="1" dirty="0">
                <a:solidFill>
                  <a:srgbClr val="FFFFFF"/>
                </a:solidFill>
                <a:latin typeface="Consolas" pitchFamily="34" charset="0"/>
                <a:ea typeface="Consolas" pitchFamily="34" charset="-122"/>
                <a:cs typeface="Consolas" pitchFamily="34" charset="-120"/>
              </a:rPr>
              <a:t>catch: got SIGINT (2) -- ignoring it, still …</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kill -TERM %1</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student@okan-lab:~/lab/src$ </a:t>
            </a:r>
            <a:r>
              <a:rPr lang="tr-TR" sz="950" b="1" dirty="0">
                <a:solidFill>
                  <a:srgbClr val="FFFFFF"/>
                </a:solidFill>
                <a:latin typeface="Consolas" pitchFamily="34" charset="0"/>
                <a:ea typeface="Consolas" pitchFamily="34" charset="-122"/>
                <a:cs typeface="Consolas" pitchFamily="34" charset="-120"/>
              </a:rPr>
              <a:t>catch: got SIGTERM (15) -- cleaning up, bye</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jobs</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[1]+  Done                    ./catch</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student@okan-lab:~/lab/src$ </a:t>
            </a:r>
            <a:r>
              <a:rPr lang="tr-TR" sz="950" b="1" dirty="0">
                <a:solidFill>
                  <a:srgbClr val="FFFFFF"/>
                </a:solidFill>
                <a:latin typeface="Consolas" pitchFamily="34" charset="0"/>
                <a:ea typeface="Consolas" pitchFamily="34" charset="-122"/>
                <a:cs typeface="Consolas" pitchFamily="34" charset="-120"/>
              </a:rPr>
              <a:t>./catch &amp;</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[1] 2695</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student@okan-lab:~/lab/src$ </a:t>
            </a:r>
            <a:r>
              <a:rPr lang="tr-TR" sz="950" b="1" dirty="0">
                <a:solidFill>
                  <a:srgbClr val="FFFFFF"/>
                </a:solidFill>
                <a:latin typeface="Consolas" pitchFamily="34" charset="0"/>
                <a:ea typeface="Consolas" pitchFamily="34" charset="-122"/>
                <a:cs typeface="Consolas" pitchFamily="34" charset="-120"/>
              </a:rPr>
              <a:t>catch: sigaction(SIGKILL): Invalid argument</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catch: PID 2695, waiting for signals</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kill -9 %1</a:t>
            </a:r>
            <a:endParaRPr lang="tr-TR" sz="950" dirty="0"/>
          </a:p>
          <a:p>
            <a:pPr indent="0" marL="0">
              <a:lnSpc>
                <a:spcPct val="100000"/>
              </a:lnSpc>
              <a:buNone/>
            </a:pPr>
            <a:r>
              <a:rPr lang="tr-TR" sz="950" dirty="0">
                <a:solidFill>
                  <a:srgbClr val="02C39A"/>
                </a:solidFill>
                <a:latin typeface="Consolas" pitchFamily="34" charset="0"/>
                <a:ea typeface="Consolas" pitchFamily="34" charset="-122"/>
                <a:cs typeface="Consolas" pitchFamily="34" charset="-120"/>
              </a:rPr>
              <a:t>student@okan-lab:~/lab/src$ </a:t>
            </a:r>
            <a:r>
              <a:rPr lang="tr-TR" sz="950" b="1" dirty="0">
                <a:solidFill>
                  <a:srgbClr val="FFFFFF"/>
                </a:solidFill>
                <a:latin typeface="Consolas" pitchFamily="34" charset="0"/>
                <a:ea typeface="Consolas" pitchFamily="34" charset="-122"/>
                <a:cs typeface="Consolas" pitchFamily="34" charset="-120"/>
              </a:rPr>
              <a:t>jobs</a:t>
            </a:r>
            <a:endParaRPr lang="tr-TR" sz="950" dirty="0"/>
          </a:p>
          <a:p>
            <a:pPr indent="0" marL="0">
              <a:lnSpc>
                <a:spcPct val="100000"/>
              </a:lnSpc>
              <a:buNone/>
            </a:pPr>
            <a:r>
              <a:rPr lang="tr-TR" sz="950" dirty="0">
                <a:solidFill>
                  <a:srgbClr val="D9DEE0"/>
                </a:solidFill>
                <a:latin typeface="Consolas" pitchFamily="34" charset="0"/>
                <a:ea typeface="Consolas" pitchFamily="34" charset="-122"/>
                <a:cs typeface="Consolas" pitchFamily="34" charset="-120"/>
              </a:rPr>
              <a:t>[1]+  Killed                  ./catch</a:t>
            </a:r>
            <a:endParaRPr lang="tr-TR" sz="950" dirty="0"/>
          </a:p>
        </p:txBody>
      </p:sp>
      <p:sp>
        <p:nvSpPr>
          <p:cNvPr id="10" name="Shape 8"/>
          <p:cNvSpPr/>
          <p:nvPr/>
        </p:nvSpPr>
        <p:spPr>
          <a:xfrm>
            <a:off x="548640" y="5074920"/>
            <a:ext cx="5257800" cy="1188720"/>
          </a:xfrm>
          <a:prstGeom prst="roundRect">
            <a:avLst>
              <a:gd name="adj" fmla="val 4615"/>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77240" y="5257800"/>
            <a:ext cx="4800600" cy="86868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SIGINT yakalanır (yalnızca bir ileti); SIGTERM temiz bir çıkış sağlar (Done); SIGKILL işleyicisi reddedilir ve kill -9 her zaman işe yarar.</a:t>
            </a:r>
            <a:endParaRPr lang="tr-TR"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İYİ 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Süreci Güvenle Durdurmak: Önce Rica Et, En Son Zorla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28</a:t>
            </a:r>
            <a:endParaRPr lang="tr-TR" sz="900" dirty="0"/>
          </a:p>
        </p:txBody>
      </p:sp>
      <p:sp>
        <p:nvSpPr>
          <p:cNvPr id="6" name="Shape 4"/>
          <p:cNvSpPr/>
          <p:nvPr/>
        </p:nvSpPr>
        <p:spPr>
          <a:xfrm>
            <a:off x="548640" y="1691640"/>
            <a:ext cx="2606040" cy="1005840"/>
          </a:xfrm>
          <a:prstGeom prst="roundRect">
            <a:avLst>
              <a:gd name="adj" fmla="val 4545"/>
            </a:avLst>
          </a:prstGeom>
          <a:solidFill>
            <a:srgbClr val="02C39A"/>
          </a:solidFill>
          <a:ln/>
        </p:spPr>
      </p:sp>
      <p:sp>
        <p:nvSpPr>
          <p:cNvPr id="7" name="Text 5"/>
          <p:cNvSpPr txBox="1"/>
          <p:nvPr/>
        </p:nvSpPr>
        <p:spPr>
          <a:xfrm>
            <a:off x="548640" y="1691640"/>
            <a:ext cx="2606040" cy="1005840"/>
          </a:xfrm>
          <a:prstGeom prst="rect">
            <a:avLst/>
          </a:prstGeom>
          <a:noFill/>
          <a:ln/>
        </p:spPr>
        <p:txBody>
          <a:bodyPr wrap="square" lIns="38100" tIns="38100" rIns="38100" bIns="38100" rtlCol="0" anchor="ctr"/>
          <a:lstStyle/>
          <a:p>
            <a:pPr algn="ctr" indent="0" marL="0">
              <a:buNone/>
            </a:pPr>
            <a:r>
              <a:rPr lang="tr-TR" sz="1700" b="1" dirty="0">
                <a:solidFill>
                  <a:srgbClr val="212121"/>
                </a:solidFill>
                <a:latin typeface="Consolas" pitchFamily="34" charset="0"/>
                <a:ea typeface="Consolas" pitchFamily="34" charset="-122"/>
                <a:cs typeface="Consolas" pitchFamily="34" charset="-120"/>
              </a:rPr>
              <a:t>Ctrl+C</a:t>
            </a:r>
            <a:endParaRPr lang="tr-TR" sz="1700" dirty="0"/>
          </a:p>
          <a:p>
            <a:pPr algn="ctr" indent="0" marL="0">
              <a:buNone/>
            </a:pPr>
            <a:r>
              <a:rPr lang="tr-TR" sz="1200" dirty="0">
                <a:solidFill>
                  <a:srgbClr val="212121"/>
                </a:solidFill>
                <a:latin typeface="Calibri" pitchFamily="34" charset="0"/>
                <a:ea typeface="Calibri" pitchFamily="34" charset="-122"/>
                <a:cs typeface="Calibri" pitchFamily="34" charset="-120"/>
              </a:rPr>
              <a:t>ön plandaysa (SIGINT)</a:t>
            </a:r>
            <a:endParaRPr lang="tr-TR" sz="1700" dirty="0"/>
          </a:p>
        </p:txBody>
      </p:sp>
      <p:sp>
        <p:nvSpPr>
          <p:cNvPr id="8" name="Shape 6"/>
          <p:cNvSpPr/>
          <p:nvPr/>
        </p:nvSpPr>
        <p:spPr>
          <a:xfrm>
            <a:off x="3172968" y="2194560"/>
            <a:ext cx="173736" cy="91"/>
          </a:xfrm>
          <a:prstGeom prst="line">
            <a:avLst/>
          </a:prstGeom>
          <a:noFill/>
          <a:ln w="25400">
            <a:solidFill>
              <a:srgbClr val="50808E"/>
            </a:solidFill>
            <a:prstDash val="solid"/>
            <a:tailEnd type="triangle"/>
          </a:ln>
        </p:spPr>
      </p:sp>
      <p:sp>
        <p:nvSpPr>
          <p:cNvPr id="9" name="Shape 7"/>
          <p:cNvSpPr/>
          <p:nvPr/>
        </p:nvSpPr>
        <p:spPr>
          <a:xfrm>
            <a:off x="3364992" y="1691640"/>
            <a:ext cx="2606040" cy="1005840"/>
          </a:xfrm>
          <a:prstGeom prst="roundRect">
            <a:avLst>
              <a:gd name="adj" fmla="val 4545"/>
            </a:avLst>
          </a:prstGeom>
          <a:solidFill>
            <a:srgbClr val="02C39A"/>
          </a:solidFill>
          <a:ln/>
        </p:spPr>
      </p:sp>
      <p:sp>
        <p:nvSpPr>
          <p:cNvPr id="10" name="Text 8"/>
          <p:cNvSpPr txBox="1"/>
          <p:nvPr/>
        </p:nvSpPr>
        <p:spPr>
          <a:xfrm>
            <a:off x="3364992" y="1691640"/>
            <a:ext cx="2606040" cy="1005840"/>
          </a:xfrm>
          <a:prstGeom prst="rect">
            <a:avLst/>
          </a:prstGeom>
          <a:noFill/>
          <a:ln/>
        </p:spPr>
        <p:txBody>
          <a:bodyPr wrap="square" lIns="38100" tIns="38100" rIns="38100" bIns="38100" rtlCol="0" anchor="ctr"/>
          <a:lstStyle/>
          <a:p>
            <a:pPr algn="ctr" indent="0" marL="0">
              <a:buNone/>
            </a:pPr>
            <a:r>
              <a:rPr lang="tr-TR" sz="1700" b="1" dirty="0">
                <a:solidFill>
                  <a:srgbClr val="212121"/>
                </a:solidFill>
                <a:latin typeface="Consolas" pitchFamily="34" charset="0"/>
                <a:ea typeface="Consolas" pitchFamily="34" charset="-122"/>
                <a:cs typeface="Consolas" pitchFamily="34" charset="-120"/>
              </a:rPr>
              <a:t>kill PID</a:t>
            </a:r>
            <a:endParaRPr lang="tr-TR" sz="1700" dirty="0"/>
          </a:p>
          <a:p>
            <a:pPr algn="ctr" indent="0" marL="0">
              <a:buNone/>
            </a:pPr>
            <a:r>
              <a:rPr lang="tr-TR" sz="1200" dirty="0">
                <a:solidFill>
                  <a:srgbClr val="212121"/>
                </a:solidFill>
                <a:latin typeface="Calibri" pitchFamily="34" charset="0"/>
                <a:ea typeface="Calibri" pitchFamily="34" charset="-122"/>
                <a:cs typeface="Calibri" pitchFamily="34" charset="-120"/>
              </a:rPr>
              <a:t>SIGTERM: "lütfen bitir"; 5–10 s bekle</a:t>
            </a:r>
            <a:endParaRPr lang="tr-TR" sz="1700" dirty="0"/>
          </a:p>
        </p:txBody>
      </p:sp>
      <p:sp>
        <p:nvSpPr>
          <p:cNvPr id="11" name="Shape 9"/>
          <p:cNvSpPr/>
          <p:nvPr/>
        </p:nvSpPr>
        <p:spPr>
          <a:xfrm>
            <a:off x="5989320" y="2194560"/>
            <a:ext cx="173736" cy="91"/>
          </a:xfrm>
          <a:prstGeom prst="line">
            <a:avLst/>
          </a:prstGeom>
          <a:noFill/>
          <a:ln w="25400">
            <a:solidFill>
              <a:srgbClr val="50808E"/>
            </a:solidFill>
            <a:prstDash val="solid"/>
            <a:tailEnd type="triangle"/>
          </a:ln>
        </p:spPr>
      </p:sp>
      <p:sp>
        <p:nvSpPr>
          <p:cNvPr id="12" name="Shape 10"/>
          <p:cNvSpPr/>
          <p:nvPr/>
        </p:nvSpPr>
        <p:spPr>
          <a:xfrm>
            <a:off x="6181344" y="1691640"/>
            <a:ext cx="2606040" cy="1005840"/>
          </a:xfrm>
          <a:prstGeom prst="roundRect">
            <a:avLst>
              <a:gd name="adj" fmla="val 4545"/>
            </a:avLst>
          </a:prstGeom>
          <a:solidFill>
            <a:srgbClr val="D7E9E6"/>
          </a:solidFill>
          <a:ln/>
        </p:spPr>
      </p:sp>
      <p:sp>
        <p:nvSpPr>
          <p:cNvPr id="13" name="Text 11"/>
          <p:cNvSpPr txBox="1"/>
          <p:nvPr/>
        </p:nvSpPr>
        <p:spPr>
          <a:xfrm>
            <a:off x="6181344" y="1691640"/>
            <a:ext cx="2606040" cy="1005840"/>
          </a:xfrm>
          <a:prstGeom prst="rect">
            <a:avLst/>
          </a:prstGeom>
          <a:noFill/>
          <a:ln/>
        </p:spPr>
        <p:txBody>
          <a:bodyPr wrap="square" lIns="38100" tIns="38100" rIns="38100" bIns="38100" rtlCol="0" anchor="ctr"/>
          <a:lstStyle/>
          <a:p>
            <a:pPr algn="ctr" indent="0" marL="0">
              <a:buNone/>
            </a:pPr>
            <a:r>
              <a:rPr lang="tr-TR" sz="1700" b="1" dirty="0">
                <a:solidFill>
                  <a:srgbClr val="212121"/>
                </a:solidFill>
                <a:latin typeface="Consolas" pitchFamily="34" charset="0"/>
                <a:ea typeface="Consolas" pitchFamily="34" charset="-122"/>
                <a:cs typeface="Consolas" pitchFamily="34" charset="-120"/>
              </a:rPr>
              <a:t>ps -p PID</a:t>
            </a:r>
            <a:endParaRPr lang="tr-TR" sz="1700" dirty="0"/>
          </a:p>
          <a:p>
            <a:pPr algn="ctr" indent="0" marL="0">
              <a:buNone/>
            </a:pPr>
            <a:r>
              <a:rPr lang="tr-TR" sz="1200" dirty="0">
                <a:solidFill>
                  <a:srgbClr val="212121"/>
                </a:solidFill>
                <a:latin typeface="Calibri" pitchFamily="34" charset="0"/>
                <a:ea typeface="Calibri" pitchFamily="34" charset="-122"/>
                <a:cs typeface="Calibri" pitchFamily="34" charset="-120"/>
              </a:rPr>
              <a:t>hâlâ orada mı? STAT'ına bak</a:t>
            </a:r>
            <a:endParaRPr lang="tr-TR" sz="1700" dirty="0"/>
          </a:p>
        </p:txBody>
      </p:sp>
      <p:sp>
        <p:nvSpPr>
          <p:cNvPr id="14" name="Shape 12"/>
          <p:cNvSpPr/>
          <p:nvPr/>
        </p:nvSpPr>
        <p:spPr>
          <a:xfrm>
            <a:off x="8805672" y="2194560"/>
            <a:ext cx="173736" cy="91"/>
          </a:xfrm>
          <a:prstGeom prst="line">
            <a:avLst/>
          </a:prstGeom>
          <a:noFill/>
          <a:ln w="25400">
            <a:solidFill>
              <a:srgbClr val="50808E"/>
            </a:solidFill>
            <a:prstDash val="solid"/>
            <a:tailEnd type="triangle"/>
          </a:ln>
        </p:spPr>
      </p:sp>
      <p:sp>
        <p:nvSpPr>
          <p:cNvPr id="15" name="Shape 13"/>
          <p:cNvSpPr/>
          <p:nvPr/>
        </p:nvSpPr>
        <p:spPr>
          <a:xfrm>
            <a:off x="8997696" y="1691640"/>
            <a:ext cx="2606040" cy="1005840"/>
          </a:xfrm>
          <a:prstGeom prst="roundRect">
            <a:avLst>
              <a:gd name="adj" fmla="val 4545"/>
            </a:avLst>
          </a:prstGeom>
          <a:solidFill>
            <a:srgbClr val="B5453A"/>
          </a:solidFill>
          <a:ln/>
        </p:spPr>
      </p:sp>
      <p:sp>
        <p:nvSpPr>
          <p:cNvPr id="16" name="Text 14"/>
          <p:cNvSpPr txBox="1"/>
          <p:nvPr/>
        </p:nvSpPr>
        <p:spPr>
          <a:xfrm>
            <a:off x="8997696" y="1691640"/>
            <a:ext cx="2606040" cy="1005840"/>
          </a:xfrm>
          <a:prstGeom prst="rect">
            <a:avLst/>
          </a:prstGeom>
          <a:noFill/>
          <a:ln/>
        </p:spPr>
        <p:txBody>
          <a:bodyPr wrap="square" lIns="38100" tIns="38100" rIns="38100" bIns="38100" rtlCol="0" anchor="ctr"/>
          <a:lstStyle/>
          <a:p>
            <a:pPr algn="ctr" indent="0" marL="0">
              <a:buNone/>
            </a:pPr>
            <a:r>
              <a:rPr lang="tr-TR" sz="1700" b="1" dirty="0">
                <a:solidFill>
                  <a:srgbClr val="FFFFFF"/>
                </a:solidFill>
                <a:latin typeface="Consolas" pitchFamily="34" charset="0"/>
                <a:ea typeface="Consolas" pitchFamily="34" charset="-122"/>
                <a:cs typeface="Consolas" pitchFamily="34" charset="-120"/>
              </a:rPr>
              <a:t>kill -9 PID</a:t>
            </a:r>
            <a:endParaRPr lang="tr-TR" sz="1700" dirty="0"/>
          </a:p>
          <a:p>
            <a:pPr algn="ctr" indent="0" marL="0">
              <a:buNone/>
            </a:pPr>
            <a:r>
              <a:rPr lang="tr-TR" sz="1200" dirty="0">
                <a:solidFill>
                  <a:srgbClr val="FFFFFF"/>
                </a:solidFill>
                <a:latin typeface="Calibri" pitchFamily="34" charset="0"/>
                <a:ea typeface="Calibri" pitchFamily="34" charset="-122"/>
                <a:cs typeface="Calibri" pitchFamily="34" charset="-120"/>
              </a:rPr>
              <a:t>SIGKILL: temizlik yok, kayıt yok</a:t>
            </a:r>
            <a:endParaRPr lang="tr-TR" sz="1700" dirty="0"/>
          </a:p>
        </p:txBody>
      </p:sp>
      <p:sp>
        <p:nvSpPr>
          <p:cNvPr id="17" name="Shape 15"/>
          <p:cNvSpPr/>
          <p:nvPr/>
        </p:nvSpPr>
        <p:spPr>
          <a:xfrm>
            <a:off x="548640" y="2971800"/>
            <a:ext cx="5440680" cy="3291840"/>
          </a:xfrm>
          <a:prstGeom prst="roundRect">
            <a:avLst>
              <a:gd name="adj" fmla="val 1667"/>
            </a:avLst>
          </a:prstGeom>
          <a:solidFill>
            <a:srgbClr val="F6E3E0"/>
          </a:solidFill>
          <a:ln/>
          <a:effectLst>
            <a:outerShdw sx="100000" sy="100000" kx="0" ky="0" algn="bl" rotWithShape="0" blurRad="101600" dist="25400" dir="5400000">
              <a:srgbClr val="000000">
                <a:alpha val="12000"/>
              </a:srgbClr>
            </a:outerShdw>
          </a:effectLst>
        </p:spPr>
      </p:sp>
      <p:sp>
        <p:nvSpPr>
          <p:cNvPr id="18" name="Text 16"/>
          <p:cNvSpPr txBox="1"/>
          <p:nvPr/>
        </p:nvSpPr>
        <p:spPr>
          <a:xfrm>
            <a:off x="777240" y="3154680"/>
            <a:ext cx="498348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Neden her zaman kill -9 değil?</a:t>
            </a:r>
            <a:endParaRPr lang="tr-TR" sz="1500" dirty="0"/>
          </a:p>
        </p:txBody>
      </p:sp>
      <p:sp>
        <p:nvSpPr>
          <p:cNvPr id="19" name="Text 17"/>
          <p:cNvSpPr txBox="1"/>
          <p:nvPr/>
        </p:nvSpPr>
        <p:spPr>
          <a:xfrm>
            <a:off x="777240" y="3611880"/>
            <a:ext cx="4983480" cy="251460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Program açık belgeleri kaydedemez, tamponlarını boşaltamaz.</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Geçici dosyalar ve kilit dosyaları geride kalır; bir veritabanı onarım isteyebilir.</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Çocuklarına haber verilmez; yetim kalırlar.</a:t>
            </a:r>
            <a:endParaRPr lang="tr-TR" sz="1600" dirty="0"/>
          </a:p>
        </p:txBody>
      </p:sp>
      <p:sp>
        <p:nvSpPr>
          <p:cNvPr id="20" name="Shape 18"/>
          <p:cNvSpPr/>
          <p:nvPr/>
        </p:nvSpPr>
        <p:spPr>
          <a:xfrm>
            <a:off x="6217920" y="2971800"/>
            <a:ext cx="5440680" cy="3291840"/>
          </a:xfrm>
          <a:prstGeom prst="roundRect">
            <a:avLst>
              <a:gd name="adj" fmla="val 1667"/>
            </a:avLst>
          </a:prstGeom>
          <a:solidFill>
            <a:srgbClr val="F2F2F2"/>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6446520" y="315468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kill -9'un İŞE YARAMADIĞI durumlar</a:t>
            </a:r>
            <a:endParaRPr lang="tr-TR" sz="1500" dirty="0"/>
          </a:p>
        </p:txBody>
      </p:sp>
      <p:sp>
        <p:nvSpPr>
          <p:cNvPr id="22" name="Text 20"/>
          <p:cNvSpPr txBox="1"/>
          <p:nvPr/>
        </p:nvSpPr>
        <p:spPr>
          <a:xfrm>
            <a:off x="6446520" y="3611880"/>
            <a:ext cx="4983480" cy="2514600"/>
          </a:xfrm>
          <a:prstGeom prst="rect">
            <a:avLst/>
          </a:prstGeom>
          <a:noFill/>
          <a:ln/>
        </p:spPr>
        <p:txBody>
          <a:bodyPr wrap="square" lIns="0" tIns="0" rIns="0" bIns="0" rtlCol="0" anchor="t"/>
          <a:lstStyle/>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Z (zombi):</a:t>
            </a:r>
            <a:r>
              <a:rPr lang="tr-TR" sz="1600" dirty="0">
                <a:solidFill>
                  <a:srgbClr val="3A464C"/>
                </a:solidFill>
                <a:latin typeface="Calibri" pitchFamily="34" charset="0"/>
                <a:ea typeface="Calibri" pitchFamily="34" charset="-122"/>
                <a:cs typeface="Calibri" pitchFamily="34" charset="-120"/>
              </a:rPr>
              <a:t> zaten ölü — onu yalnızca ebeveynin wait() çağrısı kaldırır.</a:t>
            </a:r>
            <a:endParaRPr lang="tr-TR" sz="1600" dirty="0"/>
          </a:p>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D (disk bekleme):</a:t>
            </a:r>
            <a:r>
              <a:rPr lang="tr-TR" sz="1600" dirty="0">
                <a:solidFill>
                  <a:srgbClr val="3A464C"/>
                </a:solidFill>
                <a:latin typeface="Calibri" pitchFamily="34" charset="0"/>
                <a:ea typeface="Calibri" pitchFamily="34" charset="-122"/>
                <a:cs typeface="Calibri" pitchFamily="34" charset="-120"/>
              </a:rPr>
              <a:t> sinyal G/Ç bittiğinde iletilir.</a:t>
            </a:r>
            <a:endParaRPr lang="tr-TR" sz="1600" dirty="0"/>
          </a:p>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Başkasının süreci:</a:t>
            </a:r>
            <a:r>
              <a:rPr lang="tr-TR" sz="1600" dirty="0">
                <a:solidFill>
                  <a:srgbClr val="3A464C"/>
                </a:solidFill>
                <a:latin typeface="Calibri" pitchFamily="34" charset="0"/>
                <a:ea typeface="Calibri" pitchFamily="34" charset="-122"/>
                <a:cs typeface="Calibri" pitchFamily="34" charset="-120"/>
              </a:rPr>
              <a:t> Operation not permitted (root'a başvurun).</a:t>
            </a:r>
            <a:endParaRPr lang="tr-TR"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SIGHUP, NOHUP</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Kapanan Bir Terminalden Sağ Çıkmak: nohup</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29</a:t>
            </a:r>
            <a:endParaRPr lang="tr-TR" sz="900" dirty="0"/>
          </a:p>
        </p:txBody>
      </p:sp>
      <p:sp>
        <p:nvSpPr>
          <p:cNvPr id="6" name="Shape 4"/>
          <p:cNvSpPr/>
          <p:nvPr/>
        </p:nvSpPr>
        <p:spPr>
          <a:xfrm>
            <a:off x="548640" y="1508760"/>
            <a:ext cx="7086600" cy="4754880"/>
          </a:xfrm>
          <a:prstGeom prst="roundRect">
            <a:avLst>
              <a:gd name="adj" fmla="val 962"/>
            </a:avLst>
          </a:prstGeom>
          <a:solidFill>
            <a:srgbClr val="212121"/>
          </a:solidFill>
          <a:ln/>
        </p:spPr>
      </p:sp>
      <p:sp>
        <p:nvSpPr>
          <p:cNvPr id="7" name="Text 5"/>
          <p:cNvSpPr txBox="1"/>
          <p:nvPr/>
        </p:nvSpPr>
        <p:spPr>
          <a:xfrm>
            <a:off x="713232" y="1618488"/>
            <a:ext cx="6757416"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echo "my shell is PID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my shell is PID 2775</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sleep 500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2831</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echo "last background job is PID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last background job is PID 2831</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nohup sleep 600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 2832</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nohup: ignoring input and appending output to 'nohup.ou…</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nohup sleep 700 &gt; /dev/null 2&gt;&amp;1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[3] 2834</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README.txt  backup  data  docs  logs  nohup.out  photos  projects  scripts  src</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jobs -l</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2831 Running                 sleep 500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  2832 Running                 nohup sleep 600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[3]+  2834 Running                 nohup sleep 700 &gt; /dev/null 2&gt;&amp;1 &amp;</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 -HUP %1 %2 %3</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jobs -l</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2831 Hangup                  sleep 500</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  2832 Running                 nohup sleep 600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[3]+  2834 Running                 nohup sleep 700 &gt; /dev/null 2&gt;&amp;1 &amp;</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 %2 %3</a:t>
            </a:r>
            <a:endParaRPr lang="tr-TR" sz="1050" dirty="0"/>
          </a:p>
        </p:txBody>
      </p:sp>
      <p:sp>
        <p:nvSpPr>
          <p:cNvPr id="8" name="Shape 6"/>
          <p:cNvSpPr/>
          <p:nvPr/>
        </p:nvSpPr>
        <p:spPr>
          <a:xfrm>
            <a:off x="7863840" y="1508760"/>
            <a:ext cx="3794760" cy="475488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92440" y="1691640"/>
            <a:ext cx="3337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etmeli?</a:t>
            </a:r>
            <a:endParaRPr lang="tr-TR" sz="1500" dirty="0"/>
          </a:p>
        </p:txBody>
      </p:sp>
      <p:sp>
        <p:nvSpPr>
          <p:cNvPr id="10" name="Text 8"/>
          <p:cNvSpPr txBox="1"/>
          <p:nvPr/>
        </p:nvSpPr>
        <p:spPr>
          <a:xfrm>
            <a:off x="8092440" y="2148840"/>
            <a:ext cx="333756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 = kabuk, $! = son arka plan işi.</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Terminali kapatmak işlerine SIGHUP (1) gönderir; bunu kill -HUP ile taklit ediyoruz.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Yalın sleep 500: Hangup — gitti.</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nohup işleri SIGHUP'ı yok sayar: hâlâ Running.</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Yönlendirmezseniz nohup'ın çıktısı nohup.out dosyasına gider.</a:t>
            </a:r>
            <a:endParaRPr lang="tr-TR"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4 VE 5</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Öncelikler ve Zombiler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5. haftanın zamanlaması ve 3. haftanın sonlandırması, ölçülmüş olarak.</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13  ·  30</a:t>
            </a:r>
            <a:endParaRPr lang="tr-TR"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5. HAFTAYLA BAĞLANTI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nice Değerleri: Öteki Süreçlere Nazik Davranmak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31</a:t>
            </a:r>
            <a:endParaRPr lang="tr-TR" sz="900" dirty="0"/>
          </a:p>
        </p:txBody>
      </p:sp>
      <p:sp>
        <p:nvSpPr>
          <p:cNvPr id="6" name="Shape 4"/>
          <p:cNvSpPr/>
          <p:nvPr/>
        </p:nvSpPr>
        <p:spPr>
          <a:xfrm>
            <a:off x="731520" y="2057400"/>
            <a:ext cx="249174" cy="411480"/>
          </a:xfrm>
          <a:prstGeom prst="rect">
            <a:avLst/>
          </a:prstGeom>
          <a:solidFill>
            <a:srgbClr val="C98A1B">
              <a:alpha val="85000"/>
            </a:srgbClr>
          </a:solidFill>
          <a:ln/>
        </p:spPr>
      </p:sp>
      <p:sp>
        <p:nvSpPr>
          <p:cNvPr id="7" name="Shape 5"/>
          <p:cNvSpPr/>
          <p:nvPr/>
        </p:nvSpPr>
        <p:spPr>
          <a:xfrm>
            <a:off x="998982" y="2057400"/>
            <a:ext cx="249174" cy="411480"/>
          </a:xfrm>
          <a:prstGeom prst="rect">
            <a:avLst/>
          </a:prstGeom>
          <a:solidFill>
            <a:srgbClr val="C98A1B">
              <a:alpha val="83500"/>
            </a:srgbClr>
          </a:solidFill>
          <a:ln/>
        </p:spPr>
      </p:sp>
      <p:sp>
        <p:nvSpPr>
          <p:cNvPr id="8" name="Shape 6"/>
          <p:cNvSpPr/>
          <p:nvPr/>
        </p:nvSpPr>
        <p:spPr>
          <a:xfrm>
            <a:off x="1266444" y="2057400"/>
            <a:ext cx="249174" cy="411480"/>
          </a:xfrm>
          <a:prstGeom prst="rect">
            <a:avLst/>
          </a:prstGeom>
          <a:solidFill>
            <a:srgbClr val="C98A1B">
              <a:alpha val="82000"/>
            </a:srgbClr>
          </a:solidFill>
          <a:ln/>
        </p:spPr>
      </p:sp>
      <p:sp>
        <p:nvSpPr>
          <p:cNvPr id="9" name="Shape 7"/>
          <p:cNvSpPr/>
          <p:nvPr/>
        </p:nvSpPr>
        <p:spPr>
          <a:xfrm>
            <a:off x="1533906" y="2057400"/>
            <a:ext cx="249174" cy="411480"/>
          </a:xfrm>
          <a:prstGeom prst="rect">
            <a:avLst/>
          </a:prstGeom>
          <a:solidFill>
            <a:srgbClr val="C98A1B">
              <a:alpha val="80500"/>
            </a:srgbClr>
          </a:solidFill>
          <a:ln/>
        </p:spPr>
      </p:sp>
      <p:sp>
        <p:nvSpPr>
          <p:cNvPr id="10" name="Shape 8"/>
          <p:cNvSpPr/>
          <p:nvPr/>
        </p:nvSpPr>
        <p:spPr>
          <a:xfrm>
            <a:off x="1801368" y="2057400"/>
            <a:ext cx="249174" cy="411480"/>
          </a:xfrm>
          <a:prstGeom prst="rect">
            <a:avLst/>
          </a:prstGeom>
          <a:solidFill>
            <a:srgbClr val="C98A1B">
              <a:alpha val="79000"/>
            </a:srgbClr>
          </a:solidFill>
          <a:ln/>
        </p:spPr>
      </p:sp>
      <p:sp>
        <p:nvSpPr>
          <p:cNvPr id="11" name="Shape 9"/>
          <p:cNvSpPr/>
          <p:nvPr/>
        </p:nvSpPr>
        <p:spPr>
          <a:xfrm>
            <a:off x="2068830" y="2057400"/>
            <a:ext cx="249174" cy="411480"/>
          </a:xfrm>
          <a:prstGeom prst="rect">
            <a:avLst/>
          </a:prstGeom>
          <a:solidFill>
            <a:srgbClr val="C98A1B">
              <a:alpha val="77500"/>
            </a:srgbClr>
          </a:solidFill>
          <a:ln/>
        </p:spPr>
      </p:sp>
      <p:sp>
        <p:nvSpPr>
          <p:cNvPr id="12" name="Shape 10"/>
          <p:cNvSpPr/>
          <p:nvPr/>
        </p:nvSpPr>
        <p:spPr>
          <a:xfrm>
            <a:off x="2336292" y="2057400"/>
            <a:ext cx="249174" cy="411480"/>
          </a:xfrm>
          <a:prstGeom prst="rect">
            <a:avLst/>
          </a:prstGeom>
          <a:solidFill>
            <a:srgbClr val="C98A1B">
              <a:alpha val="76000"/>
            </a:srgbClr>
          </a:solidFill>
          <a:ln/>
        </p:spPr>
      </p:sp>
      <p:sp>
        <p:nvSpPr>
          <p:cNvPr id="13" name="Shape 11"/>
          <p:cNvSpPr/>
          <p:nvPr/>
        </p:nvSpPr>
        <p:spPr>
          <a:xfrm>
            <a:off x="2603754" y="2057400"/>
            <a:ext cx="249174" cy="411480"/>
          </a:xfrm>
          <a:prstGeom prst="rect">
            <a:avLst/>
          </a:prstGeom>
          <a:solidFill>
            <a:srgbClr val="C98A1B">
              <a:alpha val="74500"/>
            </a:srgbClr>
          </a:solidFill>
          <a:ln/>
        </p:spPr>
      </p:sp>
      <p:sp>
        <p:nvSpPr>
          <p:cNvPr id="14" name="Shape 12"/>
          <p:cNvSpPr/>
          <p:nvPr/>
        </p:nvSpPr>
        <p:spPr>
          <a:xfrm>
            <a:off x="2871216" y="2057400"/>
            <a:ext cx="249174" cy="411480"/>
          </a:xfrm>
          <a:prstGeom prst="rect">
            <a:avLst/>
          </a:prstGeom>
          <a:solidFill>
            <a:srgbClr val="C98A1B">
              <a:alpha val="73000"/>
            </a:srgbClr>
          </a:solidFill>
          <a:ln/>
        </p:spPr>
      </p:sp>
      <p:sp>
        <p:nvSpPr>
          <p:cNvPr id="15" name="Shape 13"/>
          <p:cNvSpPr/>
          <p:nvPr/>
        </p:nvSpPr>
        <p:spPr>
          <a:xfrm>
            <a:off x="3138678" y="2057400"/>
            <a:ext cx="249174" cy="411480"/>
          </a:xfrm>
          <a:prstGeom prst="rect">
            <a:avLst/>
          </a:prstGeom>
          <a:solidFill>
            <a:srgbClr val="C98A1B">
              <a:alpha val="71500"/>
            </a:srgbClr>
          </a:solidFill>
          <a:ln/>
        </p:spPr>
      </p:sp>
      <p:sp>
        <p:nvSpPr>
          <p:cNvPr id="16" name="Shape 14"/>
          <p:cNvSpPr/>
          <p:nvPr/>
        </p:nvSpPr>
        <p:spPr>
          <a:xfrm>
            <a:off x="3406140" y="2057400"/>
            <a:ext cx="249174" cy="411480"/>
          </a:xfrm>
          <a:prstGeom prst="rect">
            <a:avLst/>
          </a:prstGeom>
          <a:solidFill>
            <a:srgbClr val="C98A1B">
              <a:alpha val="70000"/>
            </a:srgbClr>
          </a:solidFill>
          <a:ln/>
        </p:spPr>
      </p:sp>
      <p:sp>
        <p:nvSpPr>
          <p:cNvPr id="17" name="Shape 15"/>
          <p:cNvSpPr/>
          <p:nvPr/>
        </p:nvSpPr>
        <p:spPr>
          <a:xfrm>
            <a:off x="3673602" y="2057400"/>
            <a:ext cx="249174" cy="411480"/>
          </a:xfrm>
          <a:prstGeom prst="rect">
            <a:avLst/>
          </a:prstGeom>
          <a:solidFill>
            <a:srgbClr val="C98A1B">
              <a:alpha val="68500"/>
            </a:srgbClr>
          </a:solidFill>
          <a:ln/>
        </p:spPr>
      </p:sp>
      <p:sp>
        <p:nvSpPr>
          <p:cNvPr id="18" name="Shape 16"/>
          <p:cNvSpPr/>
          <p:nvPr/>
        </p:nvSpPr>
        <p:spPr>
          <a:xfrm>
            <a:off x="3941064" y="2057400"/>
            <a:ext cx="249174" cy="411480"/>
          </a:xfrm>
          <a:prstGeom prst="rect">
            <a:avLst/>
          </a:prstGeom>
          <a:solidFill>
            <a:srgbClr val="C98A1B">
              <a:alpha val="67000"/>
            </a:srgbClr>
          </a:solidFill>
          <a:ln/>
        </p:spPr>
      </p:sp>
      <p:sp>
        <p:nvSpPr>
          <p:cNvPr id="19" name="Shape 17"/>
          <p:cNvSpPr/>
          <p:nvPr/>
        </p:nvSpPr>
        <p:spPr>
          <a:xfrm>
            <a:off x="4208526" y="2057400"/>
            <a:ext cx="249174" cy="411480"/>
          </a:xfrm>
          <a:prstGeom prst="rect">
            <a:avLst/>
          </a:prstGeom>
          <a:solidFill>
            <a:srgbClr val="C98A1B">
              <a:alpha val="65500"/>
            </a:srgbClr>
          </a:solidFill>
          <a:ln/>
        </p:spPr>
      </p:sp>
      <p:sp>
        <p:nvSpPr>
          <p:cNvPr id="20" name="Shape 18"/>
          <p:cNvSpPr/>
          <p:nvPr/>
        </p:nvSpPr>
        <p:spPr>
          <a:xfrm>
            <a:off x="4475988" y="2057400"/>
            <a:ext cx="249174" cy="411480"/>
          </a:xfrm>
          <a:prstGeom prst="rect">
            <a:avLst/>
          </a:prstGeom>
          <a:solidFill>
            <a:srgbClr val="C98A1B">
              <a:alpha val="64000"/>
            </a:srgbClr>
          </a:solidFill>
          <a:ln/>
        </p:spPr>
      </p:sp>
      <p:sp>
        <p:nvSpPr>
          <p:cNvPr id="21" name="Shape 19"/>
          <p:cNvSpPr/>
          <p:nvPr/>
        </p:nvSpPr>
        <p:spPr>
          <a:xfrm>
            <a:off x="4743450" y="2057400"/>
            <a:ext cx="249174" cy="411480"/>
          </a:xfrm>
          <a:prstGeom prst="rect">
            <a:avLst/>
          </a:prstGeom>
          <a:solidFill>
            <a:srgbClr val="C98A1B">
              <a:alpha val="62500"/>
            </a:srgbClr>
          </a:solidFill>
          <a:ln/>
        </p:spPr>
      </p:sp>
      <p:sp>
        <p:nvSpPr>
          <p:cNvPr id="22" name="Shape 20"/>
          <p:cNvSpPr/>
          <p:nvPr/>
        </p:nvSpPr>
        <p:spPr>
          <a:xfrm>
            <a:off x="5010912" y="2057400"/>
            <a:ext cx="249174" cy="411480"/>
          </a:xfrm>
          <a:prstGeom prst="rect">
            <a:avLst/>
          </a:prstGeom>
          <a:solidFill>
            <a:srgbClr val="C98A1B">
              <a:alpha val="61000"/>
            </a:srgbClr>
          </a:solidFill>
          <a:ln/>
        </p:spPr>
      </p:sp>
      <p:sp>
        <p:nvSpPr>
          <p:cNvPr id="23" name="Shape 21"/>
          <p:cNvSpPr/>
          <p:nvPr/>
        </p:nvSpPr>
        <p:spPr>
          <a:xfrm>
            <a:off x="5278374" y="2057400"/>
            <a:ext cx="249174" cy="411480"/>
          </a:xfrm>
          <a:prstGeom prst="rect">
            <a:avLst/>
          </a:prstGeom>
          <a:solidFill>
            <a:srgbClr val="C98A1B">
              <a:alpha val="59500"/>
            </a:srgbClr>
          </a:solidFill>
          <a:ln/>
        </p:spPr>
      </p:sp>
      <p:sp>
        <p:nvSpPr>
          <p:cNvPr id="24" name="Shape 22"/>
          <p:cNvSpPr/>
          <p:nvPr/>
        </p:nvSpPr>
        <p:spPr>
          <a:xfrm>
            <a:off x="5545836" y="2057400"/>
            <a:ext cx="249174" cy="411480"/>
          </a:xfrm>
          <a:prstGeom prst="rect">
            <a:avLst/>
          </a:prstGeom>
          <a:solidFill>
            <a:srgbClr val="C98A1B">
              <a:alpha val="58000"/>
            </a:srgbClr>
          </a:solidFill>
          <a:ln/>
        </p:spPr>
      </p:sp>
      <p:sp>
        <p:nvSpPr>
          <p:cNvPr id="25" name="Shape 23"/>
          <p:cNvSpPr/>
          <p:nvPr/>
        </p:nvSpPr>
        <p:spPr>
          <a:xfrm>
            <a:off x="5813298" y="2057400"/>
            <a:ext cx="249174" cy="411480"/>
          </a:xfrm>
          <a:prstGeom prst="rect">
            <a:avLst/>
          </a:prstGeom>
          <a:solidFill>
            <a:srgbClr val="C98A1B">
              <a:alpha val="56500"/>
            </a:srgbClr>
          </a:solidFill>
          <a:ln/>
        </p:spPr>
      </p:sp>
      <p:sp>
        <p:nvSpPr>
          <p:cNvPr id="26" name="Shape 24"/>
          <p:cNvSpPr/>
          <p:nvPr/>
        </p:nvSpPr>
        <p:spPr>
          <a:xfrm>
            <a:off x="6080760" y="2057400"/>
            <a:ext cx="249174" cy="411480"/>
          </a:xfrm>
          <a:prstGeom prst="rect">
            <a:avLst/>
          </a:prstGeom>
          <a:solidFill>
            <a:srgbClr val="36454F"/>
          </a:solidFill>
          <a:ln/>
        </p:spPr>
      </p:sp>
      <p:sp>
        <p:nvSpPr>
          <p:cNvPr id="27" name="Shape 25"/>
          <p:cNvSpPr/>
          <p:nvPr/>
        </p:nvSpPr>
        <p:spPr>
          <a:xfrm>
            <a:off x="6348222" y="2057400"/>
            <a:ext cx="249174" cy="411480"/>
          </a:xfrm>
          <a:prstGeom prst="rect">
            <a:avLst/>
          </a:prstGeom>
          <a:solidFill>
            <a:srgbClr val="02C39A">
              <a:alpha val="56500"/>
            </a:srgbClr>
          </a:solidFill>
          <a:ln/>
        </p:spPr>
      </p:sp>
      <p:sp>
        <p:nvSpPr>
          <p:cNvPr id="28" name="Shape 26"/>
          <p:cNvSpPr/>
          <p:nvPr/>
        </p:nvSpPr>
        <p:spPr>
          <a:xfrm>
            <a:off x="6615684" y="2057400"/>
            <a:ext cx="249174" cy="411480"/>
          </a:xfrm>
          <a:prstGeom prst="rect">
            <a:avLst/>
          </a:prstGeom>
          <a:solidFill>
            <a:srgbClr val="02C39A">
              <a:alpha val="58000"/>
            </a:srgbClr>
          </a:solidFill>
          <a:ln/>
        </p:spPr>
      </p:sp>
      <p:sp>
        <p:nvSpPr>
          <p:cNvPr id="29" name="Shape 27"/>
          <p:cNvSpPr/>
          <p:nvPr/>
        </p:nvSpPr>
        <p:spPr>
          <a:xfrm>
            <a:off x="6883146" y="2057400"/>
            <a:ext cx="249174" cy="411480"/>
          </a:xfrm>
          <a:prstGeom prst="rect">
            <a:avLst/>
          </a:prstGeom>
          <a:solidFill>
            <a:srgbClr val="02C39A">
              <a:alpha val="59500"/>
            </a:srgbClr>
          </a:solidFill>
          <a:ln/>
        </p:spPr>
      </p:sp>
      <p:sp>
        <p:nvSpPr>
          <p:cNvPr id="30" name="Shape 28"/>
          <p:cNvSpPr/>
          <p:nvPr/>
        </p:nvSpPr>
        <p:spPr>
          <a:xfrm>
            <a:off x="7150608" y="2057400"/>
            <a:ext cx="249174" cy="411480"/>
          </a:xfrm>
          <a:prstGeom prst="rect">
            <a:avLst/>
          </a:prstGeom>
          <a:solidFill>
            <a:srgbClr val="02C39A">
              <a:alpha val="61000"/>
            </a:srgbClr>
          </a:solidFill>
          <a:ln/>
        </p:spPr>
      </p:sp>
      <p:sp>
        <p:nvSpPr>
          <p:cNvPr id="31" name="Shape 29"/>
          <p:cNvSpPr/>
          <p:nvPr/>
        </p:nvSpPr>
        <p:spPr>
          <a:xfrm>
            <a:off x="7418070" y="2057400"/>
            <a:ext cx="249174" cy="411480"/>
          </a:xfrm>
          <a:prstGeom prst="rect">
            <a:avLst/>
          </a:prstGeom>
          <a:solidFill>
            <a:srgbClr val="02C39A">
              <a:alpha val="62500"/>
            </a:srgbClr>
          </a:solidFill>
          <a:ln/>
        </p:spPr>
      </p:sp>
      <p:sp>
        <p:nvSpPr>
          <p:cNvPr id="32" name="Shape 30"/>
          <p:cNvSpPr/>
          <p:nvPr/>
        </p:nvSpPr>
        <p:spPr>
          <a:xfrm>
            <a:off x="7685532" y="2057400"/>
            <a:ext cx="249174" cy="411480"/>
          </a:xfrm>
          <a:prstGeom prst="rect">
            <a:avLst/>
          </a:prstGeom>
          <a:solidFill>
            <a:srgbClr val="02C39A">
              <a:alpha val="64000"/>
            </a:srgbClr>
          </a:solidFill>
          <a:ln/>
        </p:spPr>
      </p:sp>
      <p:sp>
        <p:nvSpPr>
          <p:cNvPr id="33" name="Shape 31"/>
          <p:cNvSpPr/>
          <p:nvPr/>
        </p:nvSpPr>
        <p:spPr>
          <a:xfrm>
            <a:off x="7952994" y="2057400"/>
            <a:ext cx="249174" cy="411480"/>
          </a:xfrm>
          <a:prstGeom prst="rect">
            <a:avLst/>
          </a:prstGeom>
          <a:solidFill>
            <a:srgbClr val="02C39A">
              <a:alpha val="65500"/>
            </a:srgbClr>
          </a:solidFill>
          <a:ln/>
        </p:spPr>
      </p:sp>
      <p:sp>
        <p:nvSpPr>
          <p:cNvPr id="34" name="Shape 32"/>
          <p:cNvSpPr/>
          <p:nvPr/>
        </p:nvSpPr>
        <p:spPr>
          <a:xfrm>
            <a:off x="8220456" y="2057400"/>
            <a:ext cx="249174" cy="411480"/>
          </a:xfrm>
          <a:prstGeom prst="rect">
            <a:avLst/>
          </a:prstGeom>
          <a:solidFill>
            <a:srgbClr val="02C39A">
              <a:alpha val="67000"/>
            </a:srgbClr>
          </a:solidFill>
          <a:ln/>
        </p:spPr>
      </p:sp>
      <p:sp>
        <p:nvSpPr>
          <p:cNvPr id="35" name="Shape 33"/>
          <p:cNvSpPr/>
          <p:nvPr/>
        </p:nvSpPr>
        <p:spPr>
          <a:xfrm>
            <a:off x="8487918" y="2057400"/>
            <a:ext cx="249174" cy="411480"/>
          </a:xfrm>
          <a:prstGeom prst="rect">
            <a:avLst/>
          </a:prstGeom>
          <a:solidFill>
            <a:srgbClr val="02C39A">
              <a:alpha val="68500"/>
            </a:srgbClr>
          </a:solidFill>
          <a:ln/>
        </p:spPr>
      </p:sp>
      <p:sp>
        <p:nvSpPr>
          <p:cNvPr id="36" name="Shape 34"/>
          <p:cNvSpPr/>
          <p:nvPr/>
        </p:nvSpPr>
        <p:spPr>
          <a:xfrm>
            <a:off x="8755380" y="2057400"/>
            <a:ext cx="249174" cy="411480"/>
          </a:xfrm>
          <a:prstGeom prst="rect">
            <a:avLst/>
          </a:prstGeom>
          <a:solidFill>
            <a:srgbClr val="02C39A">
              <a:alpha val="70000"/>
            </a:srgbClr>
          </a:solidFill>
          <a:ln/>
        </p:spPr>
      </p:sp>
      <p:sp>
        <p:nvSpPr>
          <p:cNvPr id="37" name="Shape 35"/>
          <p:cNvSpPr/>
          <p:nvPr/>
        </p:nvSpPr>
        <p:spPr>
          <a:xfrm>
            <a:off x="9022842" y="2057400"/>
            <a:ext cx="249174" cy="411480"/>
          </a:xfrm>
          <a:prstGeom prst="rect">
            <a:avLst/>
          </a:prstGeom>
          <a:solidFill>
            <a:srgbClr val="02C39A">
              <a:alpha val="71500"/>
            </a:srgbClr>
          </a:solidFill>
          <a:ln/>
        </p:spPr>
      </p:sp>
      <p:sp>
        <p:nvSpPr>
          <p:cNvPr id="38" name="Shape 36"/>
          <p:cNvSpPr/>
          <p:nvPr/>
        </p:nvSpPr>
        <p:spPr>
          <a:xfrm>
            <a:off x="9290304" y="2057400"/>
            <a:ext cx="249174" cy="411480"/>
          </a:xfrm>
          <a:prstGeom prst="rect">
            <a:avLst/>
          </a:prstGeom>
          <a:solidFill>
            <a:srgbClr val="02C39A">
              <a:alpha val="73000"/>
            </a:srgbClr>
          </a:solidFill>
          <a:ln/>
        </p:spPr>
      </p:sp>
      <p:sp>
        <p:nvSpPr>
          <p:cNvPr id="39" name="Shape 37"/>
          <p:cNvSpPr/>
          <p:nvPr/>
        </p:nvSpPr>
        <p:spPr>
          <a:xfrm>
            <a:off x="9557766" y="2057400"/>
            <a:ext cx="249174" cy="411480"/>
          </a:xfrm>
          <a:prstGeom prst="rect">
            <a:avLst/>
          </a:prstGeom>
          <a:solidFill>
            <a:srgbClr val="02C39A">
              <a:alpha val="74500"/>
            </a:srgbClr>
          </a:solidFill>
          <a:ln/>
        </p:spPr>
      </p:sp>
      <p:sp>
        <p:nvSpPr>
          <p:cNvPr id="40" name="Shape 38"/>
          <p:cNvSpPr/>
          <p:nvPr/>
        </p:nvSpPr>
        <p:spPr>
          <a:xfrm>
            <a:off x="9825228" y="2057400"/>
            <a:ext cx="249174" cy="411480"/>
          </a:xfrm>
          <a:prstGeom prst="rect">
            <a:avLst/>
          </a:prstGeom>
          <a:solidFill>
            <a:srgbClr val="02C39A">
              <a:alpha val="76000"/>
            </a:srgbClr>
          </a:solidFill>
          <a:ln/>
        </p:spPr>
      </p:sp>
      <p:sp>
        <p:nvSpPr>
          <p:cNvPr id="41" name="Shape 39"/>
          <p:cNvSpPr/>
          <p:nvPr/>
        </p:nvSpPr>
        <p:spPr>
          <a:xfrm>
            <a:off x="10092690" y="2057400"/>
            <a:ext cx="249174" cy="411480"/>
          </a:xfrm>
          <a:prstGeom prst="rect">
            <a:avLst/>
          </a:prstGeom>
          <a:solidFill>
            <a:srgbClr val="02C39A">
              <a:alpha val="77500"/>
            </a:srgbClr>
          </a:solidFill>
          <a:ln/>
        </p:spPr>
      </p:sp>
      <p:sp>
        <p:nvSpPr>
          <p:cNvPr id="42" name="Shape 40"/>
          <p:cNvSpPr/>
          <p:nvPr/>
        </p:nvSpPr>
        <p:spPr>
          <a:xfrm>
            <a:off x="10360152" y="2057400"/>
            <a:ext cx="249174" cy="411480"/>
          </a:xfrm>
          <a:prstGeom prst="rect">
            <a:avLst/>
          </a:prstGeom>
          <a:solidFill>
            <a:srgbClr val="02C39A">
              <a:alpha val="79000"/>
            </a:srgbClr>
          </a:solidFill>
          <a:ln/>
        </p:spPr>
      </p:sp>
      <p:sp>
        <p:nvSpPr>
          <p:cNvPr id="43" name="Shape 41"/>
          <p:cNvSpPr/>
          <p:nvPr/>
        </p:nvSpPr>
        <p:spPr>
          <a:xfrm>
            <a:off x="10627614" y="2057400"/>
            <a:ext cx="249174" cy="411480"/>
          </a:xfrm>
          <a:prstGeom prst="rect">
            <a:avLst/>
          </a:prstGeom>
          <a:solidFill>
            <a:srgbClr val="02C39A">
              <a:alpha val="80500"/>
            </a:srgbClr>
          </a:solidFill>
          <a:ln/>
        </p:spPr>
      </p:sp>
      <p:sp>
        <p:nvSpPr>
          <p:cNvPr id="44" name="Shape 42"/>
          <p:cNvSpPr/>
          <p:nvPr/>
        </p:nvSpPr>
        <p:spPr>
          <a:xfrm>
            <a:off x="10895076" y="2057400"/>
            <a:ext cx="249174" cy="411480"/>
          </a:xfrm>
          <a:prstGeom prst="rect">
            <a:avLst/>
          </a:prstGeom>
          <a:solidFill>
            <a:srgbClr val="02C39A">
              <a:alpha val="82000"/>
            </a:srgbClr>
          </a:solidFill>
          <a:ln/>
        </p:spPr>
      </p:sp>
      <p:sp>
        <p:nvSpPr>
          <p:cNvPr id="45" name="Shape 43"/>
          <p:cNvSpPr/>
          <p:nvPr/>
        </p:nvSpPr>
        <p:spPr>
          <a:xfrm>
            <a:off x="11162538" y="2057400"/>
            <a:ext cx="249174" cy="411480"/>
          </a:xfrm>
          <a:prstGeom prst="rect">
            <a:avLst/>
          </a:prstGeom>
          <a:solidFill>
            <a:srgbClr val="02C39A">
              <a:alpha val="83500"/>
            </a:srgbClr>
          </a:solidFill>
          <a:ln/>
        </p:spPr>
      </p:sp>
      <p:sp>
        <p:nvSpPr>
          <p:cNvPr id="46" name="Text 44"/>
          <p:cNvSpPr txBox="1"/>
          <p:nvPr/>
        </p:nvSpPr>
        <p:spPr>
          <a:xfrm>
            <a:off x="182880" y="2514600"/>
            <a:ext cx="13716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−20</a:t>
            </a:r>
            <a:endParaRPr lang="tr-TR" sz="1200" dirty="0"/>
          </a:p>
        </p:txBody>
      </p:sp>
      <p:sp>
        <p:nvSpPr>
          <p:cNvPr id="47" name="Text 45"/>
          <p:cNvSpPr txBox="1"/>
          <p:nvPr/>
        </p:nvSpPr>
        <p:spPr>
          <a:xfrm>
            <a:off x="2857500" y="2514600"/>
            <a:ext cx="13716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−10</a:t>
            </a:r>
            <a:endParaRPr lang="tr-TR" sz="1200" dirty="0"/>
          </a:p>
        </p:txBody>
      </p:sp>
      <p:sp>
        <p:nvSpPr>
          <p:cNvPr id="48" name="Text 46"/>
          <p:cNvSpPr txBox="1"/>
          <p:nvPr/>
        </p:nvSpPr>
        <p:spPr>
          <a:xfrm>
            <a:off x="5532120" y="2514600"/>
            <a:ext cx="13716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0 (varsayılan)</a:t>
            </a:r>
            <a:endParaRPr lang="tr-TR" sz="1200" dirty="0"/>
          </a:p>
        </p:txBody>
      </p:sp>
      <p:sp>
        <p:nvSpPr>
          <p:cNvPr id="49" name="Text 47"/>
          <p:cNvSpPr txBox="1"/>
          <p:nvPr/>
        </p:nvSpPr>
        <p:spPr>
          <a:xfrm>
            <a:off x="8206740" y="2514600"/>
            <a:ext cx="13716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10</a:t>
            </a:r>
            <a:endParaRPr lang="tr-TR" sz="1200" dirty="0"/>
          </a:p>
        </p:txBody>
      </p:sp>
      <p:sp>
        <p:nvSpPr>
          <p:cNvPr id="50" name="Text 48"/>
          <p:cNvSpPr txBox="1"/>
          <p:nvPr/>
        </p:nvSpPr>
        <p:spPr>
          <a:xfrm>
            <a:off x="10613898" y="2514600"/>
            <a:ext cx="13716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19</a:t>
            </a:r>
            <a:endParaRPr lang="tr-TR" sz="1200" dirty="0"/>
          </a:p>
        </p:txBody>
      </p:sp>
      <p:sp>
        <p:nvSpPr>
          <p:cNvPr id="51" name="Text 49"/>
          <p:cNvSpPr txBox="1"/>
          <p:nvPr/>
        </p:nvSpPr>
        <p:spPr>
          <a:xfrm>
            <a:off x="731520" y="1673352"/>
            <a:ext cx="5486400" cy="320040"/>
          </a:xfrm>
          <a:prstGeom prst="rect">
            <a:avLst/>
          </a:prstGeom>
          <a:noFill/>
          <a:ln/>
        </p:spPr>
        <p:txBody>
          <a:bodyPr wrap="square" lIns="0" tIns="0" rIns="0" bIns="0" rtlCol="0" anchor="t"/>
          <a:lstStyle/>
          <a:p>
            <a:pPr indent="0" marL="0">
              <a:buNone/>
            </a:pPr>
            <a:r>
              <a:rPr lang="tr-TR" sz="1300" b="1" dirty="0">
                <a:solidFill>
                  <a:srgbClr val="C98A1B"/>
                </a:solidFill>
                <a:latin typeface="Calibri" pitchFamily="34" charset="0"/>
                <a:ea typeface="Calibri" pitchFamily="34" charset="-122"/>
                <a:cs typeface="Calibri" pitchFamily="34" charset="-120"/>
              </a:rPr>
              <a:t>← daha çok işlemci (0'ın altına yalnızca root inebilir)</a:t>
            </a:r>
            <a:endParaRPr lang="tr-TR" sz="1300" dirty="0"/>
          </a:p>
        </p:txBody>
      </p:sp>
      <p:sp>
        <p:nvSpPr>
          <p:cNvPr id="52" name="Text 50"/>
          <p:cNvSpPr txBox="1"/>
          <p:nvPr/>
        </p:nvSpPr>
        <p:spPr>
          <a:xfrm>
            <a:off x="6400800" y="1673352"/>
            <a:ext cx="5029200" cy="320040"/>
          </a:xfrm>
          <a:prstGeom prst="rect">
            <a:avLst/>
          </a:prstGeom>
          <a:noFill/>
          <a:ln/>
        </p:spPr>
        <p:txBody>
          <a:bodyPr wrap="square" lIns="0" tIns="0" rIns="0" bIns="0" rtlCol="0" anchor="t"/>
          <a:lstStyle/>
          <a:p>
            <a:pPr algn="r" indent="0" marL="0">
              <a:buNone/>
            </a:pPr>
            <a:r>
              <a:rPr lang="tr-TR" sz="1300" b="1" dirty="0">
                <a:solidFill>
                  <a:srgbClr val="028090"/>
                </a:solidFill>
                <a:latin typeface="Calibri" pitchFamily="34" charset="0"/>
                <a:ea typeface="Calibri" pitchFamily="34" charset="-122"/>
                <a:cs typeface="Calibri" pitchFamily="34" charset="-120"/>
              </a:rPr>
              <a:t>daha az işlemci (her kullanıcı yükseltebilir) →</a:t>
            </a:r>
            <a:endParaRPr lang="tr-TR" sz="1300" dirty="0"/>
          </a:p>
        </p:txBody>
      </p:sp>
      <p:sp>
        <p:nvSpPr>
          <p:cNvPr id="53" name="Shape 51"/>
          <p:cNvSpPr/>
          <p:nvPr/>
        </p:nvSpPr>
        <p:spPr>
          <a:xfrm>
            <a:off x="548640" y="3154680"/>
            <a:ext cx="544068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sp>
      <p:sp>
        <p:nvSpPr>
          <p:cNvPr id="54" name="Text 52"/>
          <p:cNvSpPr txBox="1"/>
          <p:nvPr/>
        </p:nvSpPr>
        <p:spPr>
          <a:xfrm>
            <a:off x="777240" y="333756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5. hafta tekrarı</a:t>
            </a:r>
            <a:endParaRPr lang="tr-TR" sz="1500" dirty="0"/>
          </a:p>
        </p:txBody>
      </p:sp>
      <p:sp>
        <p:nvSpPr>
          <p:cNvPr id="55" name="Text 53"/>
          <p:cNvSpPr txBox="1"/>
          <p:nvPr/>
        </p:nvSpPr>
        <p:spPr>
          <a:xfrm>
            <a:off x="777240" y="3794760"/>
            <a:ext cx="4983480" cy="233172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Küçük sayı = yüksek öncelik, 5. haftadaki gibi.</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Linux işlemciyi ağırlığa göre paylaştırır: nice 0 → 1024, nice 10 → 110; her adım ≈ × 1,25.</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top PR = 20 + NI gösterir.</a:t>
            </a:r>
            <a:endParaRPr lang="tr-TR" sz="1600" dirty="0"/>
          </a:p>
        </p:txBody>
      </p:sp>
      <p:sp>
        <p:nvSpPr>
          <p:cNvPr id="56" name="Shape 54"/>
          <p:cNvSpPr/>
          <p:nvPr/>
        </p:nvSpPr>
        <p:spPr>
          <a:xfrm>
            <a:off x="6217920" y="3154680"/>
            <a:ext cx="5440680" cy="3108960"/>
          </a:xfrm>
          <a:prstGeom prst="roundRect">
            <a:avLst>
              <a:gd name="adj" fmla="val 1471"/>
            </a:avLst>
          </a:prstGeom>
          <a:solidFill>
            <a:srgbClr val="212121"/>
          </a:solidFill>
          <a:ln/>
        </p:spPr>
      </p:sp>
      <p:sp>
        <p:nvSpPr>
          <p:cNvPr id="57" name="Text 55"/>
          <p:cNvSpPr txBox="1"/>
          <p:nvPr/>
        </p:nvSpPr>
        <p:spPr>
          <a:xfrm>
            <a:off x="6400800" y="3264408"/>
            <a:ext cx="5074920" cy="288950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TEK çekirdekte işlemci yoğun iki iş</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pay(nice 0)  = 1024 / (1024 + 110)</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%90.3</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pay(nice 10) =  110 / (1024 + 110)</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%9.7</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oran         = 1024 / 110 = 9.31</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denetim: 1.25^10 = 9.31</a:t>
            </a:r>
            <a:endParaRPr lang="tr-TR"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NİCE, RENİCE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Uygulamada nice ve renice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32</a:t>
            </a:r>
            <a:endParaRPr lang="tr-TR" sz="900" dirty="0"/>
          </a:p>
        </p:txBody>
      </p:sp>
      <p:sp>
        <p:nvSpPr>
          <p:cNvPr id="6" name="Shape 4"/>
          <p:cNvSpPr/>
          <p:nvPr/>
        </p:nvSpPr>
        <p:spPr>
          <a:xfrm>
            <a:off x="548640" y="1508760"/>
            <a:ext cx="7086600" cy="4754880"/>
          </a:xfrm>
          <a:prstGeom prst="roundRect">
            <a:avLst>
              <a:gd name="adj" fmla="val 962"/>
            </a:avLst>
          </a:prstGeom>
          <a:solidFill>
            <a:srgbClr val="212121"/>
          </a:solidFill>
          <a:ln/>
        </p:spPr>
      </p:sp>
      <p:sp>
        <p:nvSpPr>
          <p:cNvPr id="7" name="Text 5"/>
          <p:cNvSpPr txBox="1"/>
          <p:nvPr/>
        </p:nvSpPr>
        <p:spPr>
          <a:xfrm>
            <a:off x="713232" y="1618488"/>
            <a:ext cx="6757416"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nice</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0</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nice -n 10 yes &gt; /dev/null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2971</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ps -o pid,ni,stat,cmd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PID  NI STAT 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2914   0 Ss   -bash</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2971  10 RN   yes</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2972   0 R+   ps -o pid,ni,stat,cmd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renice -n 15 -p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2971 (process ID) old priority 10, new priority 15</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renice -n 5 -p $!</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renice: failed to set priority for 2971 (process ID): Permission denied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nice -n -5 sleep 1</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nice: cannot set niceness: Permission denied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 %1</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taskset -c 1 yes &gt; /dev/null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[2] 2976</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Terminated              nice -n 10 yes &gt; /dev/null</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taskset -c 1 nice -n 10 yes &gt; /dev/null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[3] 2977</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ps -o pid,ni,stat,%cpu,cmd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PID  NI STAT %CPU 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2914   0 Ss    0.0 -bash</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2976   0 R    89.3 yes</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2977  10 RN    9.6 yes</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2978   0 R+    0.0 ps -o pid,ni,stat,%cpu,cmd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kill %2 %3</a:t>
            </a:r>
            <a:endParaRPr lang="tr-TR" sz="1050" dirty="0"/>
          </a:p>
        </p:txBody>
      </p:sp>
      <p:sp>
        <p:nvSpPr>
          <p:cNvPr id="8" name="Shape 6"/>
          <p:cNvSpPr/>
          <p:nvPr/>
        </p:nvSpPr>
        <p:spPr>
          <a:xfrm>
            <a:off x="7863840" y="1508760"/>
            <a:ext cx="3794760" cy="475488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92440" y="1691640"/>
            <a:ext cx="3337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etmeli?</a:t>
            </a:r>
            <a:endParaRPr lang="tr-TR" sz="1500" dirty="0"/>
          </a:p>
        </p:txBody>
      </p:sp>
      <p:sp>
        <p:nvSpPr>
          <p:cNvPr id="10" name="Text 8"/>
          <p:cNvSpPr txBox="1"/>
          <p:nvPr/>
        </p:nvSpPr>
        <p:spPr>
          <a:xfrm>
            <a:off x="8092440" y="2148840"/>
            <a:ext cx="333756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Tek başına nice geçerli değeri yazdırır: 0.</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nice -n 10: NI 10, STAT RN (N = nice uygulanmış).</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renice yukarı (10 → 15): izinli. Aşağı (15 → 5): Permission denied.</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Tek çekirdekte iki yes (taskset -c 1): %89,3 ve %9,6, oran 9,30 — öngörülen 9,31.</a:t>
            </a:r>
            <a:endParaRPr lang="tr-TR"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HAFTAYLA BAĞLANTI · ZOMBİLER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zombie.c: Kimsenin Beklemediği Bir Çocuk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33</a:t>
            </a:r>
            <a:endParaRPr lang="tr-TR" sz="900" dirty="0"/>
          </a:p>
        </p:txBody>
      </p:sp>
      <p:sp>
        <p:nvSpPr>
          <p:cNvPr id="6" name="Shape 4"/>
          <p:cNvSpPr/>
          <p:nvPr/>
        </p:nvSpPr>
        <p:spPr>
          <a:xfrm>
            <a:off x="548640" y="1508760"/>
            <a:ext cx="7086600" cy="4754880"/>
          </a:xfrm>
          <a:prstGeom prst="roundRect">
            <a:avLst>
              <a:gd name="adj" fmla="val 962"/>
            </a:avLst>
          </a:prstGeom>
          <a:solidFill>
            <a:srgbClr val="212121"/>
          </a:solidFill>
          <a:ln/>
        </p:spPr>
      </p:sp>
      <p:sp>
        <p:nvSpPr>
          <p:cNvPr id="7" name="Text 5"/>
          <p:cNvSpPr txBox="1"/>
          <p:nvPr/>
        </p:nvSpPr>
        <p:spPr>
          <a:xfrm>
            <a:off x="731520" y="1618488"/>
            <a:ext cx="6720840" cy="4535424"/>
          </a:xfrm>
          <a:prstGeom prst="rect">
            <a:avLst/>
          </a:prstGeom>
          <a:noFill/>
          <a:ln/>
        </p:spPr>
        <p:txBody>
          <a:bodyPr wrap="square" lIns="0" tIns="0" rIns="0" bIns="0" rtlCol="0" anchor="t"/>
          <a:lstStyle/>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pid_t pid = fork();                /* bir süreç ikiye ayrılır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if (pid == 0) {                    /* ---- çocuk ----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printf("child  %d: exiting now with status 7\n", getpid());</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exit(7);                       /* sonlandı -&gt; toplanana dek zombi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8A9AA0"/>
                </a:solidFill>
                <a:latin typeface="Consolas" pitchFamily="34" charset="0"/>
                <a:ea typeface="Consolas" pitchFamily="34" charset="-122"/>
                <a:cs typeface="Consolas" pitchFamily="34" charset="-120"/>
              </a:rPr>
              <a:t>/* ---- ebeveyn: secs saniye boyunca wait() ÇAĞIRMAZ ----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printf("parent %d: child is %d, sleeping %d s without wait()\n",</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getpid(), pid, secs);</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sleep(secs);                       /* bu sırada çocuk bir zombidir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waitpid(pid, &amp;status, 0);          /* çıkış durumunu topla (reap)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printf("parent %d: reaped child %d, exit status %d\n",</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getpid(), pid, WEXITSTATUS(status));</a:t>
            </a:r>
            <a:endParaRPr lang="tr-TR" sz="1100" dirty="0"/>
          </a:p>
        </p:txBody>
      </p:sp>
      <p:sp>
        <p:nvSpPr>
          <p:cNvPr id="8" name="Shape 6"/>
          <p:cNvSpPr/>
          <p:nvPr/>
        </p:nvSpPr>
        <p:spPr>
          <a:xfrm>
            <a:off x="7909560" y="1508760"/>
            <a:ext cx="3749040" cy="475488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138160" y="1691640"/>
            <a:ext cx="32918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Plan</a:t>
            </a:r>
            <a:endParaRPr lang="tr-TR" sz="1500" dirty="0"/>
          </a:p>
        </p:txBody>
      </p:sp>
      <p:sp>
        <p:nvSpPr>
          <p:cNvPr id="10" name="Text 8"/>
          <p:cNvSpPr txBox="1"/>
          <p:nvPr/>
        </p:nvSpPr>
        <p:spPr>
          <a:xfrm>
            <a:off x="8138160" y="2148840"/>
            <a:ext cx="3291840" cy="39776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fork(): ebeveyn ve çocuk (3. hafta).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Çocuk hemen 7 durumuyla çıkar.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Ebeveyn wait() ÇAĞIRMADAN 25 s uyur: bu sırada çocuk bir zombidir.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Sonra waitpid() 7 durumunu toplar: zombi kaldırılır.</a:t>
            </a:r>
            <a:endParaRPr lang="tr-TR"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Z DURUMU</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Z Durumunu Görmek — ve Onu Öldürememek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34</a:t>
            </a:r>
            <a:endParaRPr lang="tr-TR" sz="900" dirty="0"/>
          </a:p>
        </p:txBody>
      </p:sp>
      <p:sp>
        <p:nvSpPr>
          <p:cNvPr id="6" name="Shape 4"/>
          <p:cNvSpPr/>
          <p:nvPr/>
        </p:nvSpPr>
        <p:spPr>
          <a:xfrm>
            <a:off x="548640" y="1508760"/>
            <a:ext cx="7086600" cy="4754880"/>
          </a:xfrm>
          <a:prstGeom prst="roundRect">
            <a:avLst>
              <a:gd name="adj" fmla="val 962"/>
            </a:avLst>
          </a:prstGeom>
          <a:solidFill>
            <a:srgbClr val="212121"/>
          </a:solidFill>
          <a:ln/>
        </p:spPr>
      </p:sp>
      <p:sp>
        <p:nvSpPr>
          <p:cNvPr id="7" name="Text 5"/>
          <p:cNvSpPr txBox="1"/>
          <p:nvPr/>
        </p:nvSpPr>
        <p:spPr>
          <a:xfrm>
            <a:off x="713232" y="1618488"/>
            <a:ext cx="6757416"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student@okan-lab:~/lab/src$ </a:t>
            </a:r>
            <a:r>
              <a:rPr lang="tr-TR" sz="1050" b="1" dirty="0">
                <a:solidFill>
                  <a:srgbClr val="FFFFFF"/>
                </a:solidFill>
                <a:latin typeface="Consolas" pitchFamily="34" charset="0"/>
                <a:ea typeface="Consolas" pitchFamily="34" charset="-122"/>
                <a:cs typeface="Consolas" pitchFamily="34" charset="-120"/>
              </a:rPr>
              <a:t>gcc -Wall -O2 -o zombie zombie.c</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student@okan-lab:~/lab/src$ </a:t>
            </a:r>
            <a:r>
              <a:rPr lang="tr-TR" sz="1050" b="1" dirty="0">
                <a:solidFill>
                  <a:srgbClr val="FFFFFF"/>
                </a:solidFill>
                <a:latin typeface="Consolas" pitchFamily="34" charset="0"/>
                <a:ea typeface="Consolas" pitchFamily="34" charset="-122"/>
                <a:cs typeface="Consolas" pitchFamily="34" charset="-120"/>
              </a:rPr>
              <a:t>./zombie 25 &amp;</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3119</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student@okan-lab:~/lab/src$ </a:t>
            </a:r>
            <a:r>
              <a:rPr lang="tr-TR" sz="1050" b="1" dirty="0">
                <a:solidFill>
                  <a:srgbClr val="FFFFFF"/>
                </a:solidFill>
                <a:latin typeface="Consolas" pitchFamily="34" charset="0"/>
                <a:ea typeface="Consolas" pitchFamily="34" charset="-122"/>
                <a:cs typeface="Consolas" pitchFamily="34" charset="-120"/>
              </a:rPr>
              <a:t>parent 3119: child is 3120, sleeping 25 s without w…</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child  3120: exiting now with status 7</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ps -o pid,ppid,stat,cmd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PID  PPID STAT 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3057  3056 Ss   -bash</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3119  3057 S    ./zombie 25</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3120  3119 Z    [zombie] &lt;defunct&gt;</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3121  3057 R+   ps -o pid,ppid,stat,cmd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student@okan-lab:~/lab/src$ </a:t>
            </a:r>
            <a:r>
              <a:rPr lang="tr-TR" sz="1050" b="1" dirty="0">
                <a:solidFill>
                  <a:srgbClr val="FFFFFF"/>
                </a:solidFill>
                <a:latin typeface="Consolas" pitchFamily="34" charset="0"/>
                <a:ea typeface="Consolas" pitchFamily="34" charset="-122"/>
                <a:cs typeface="Consolas" pitchFamily="34" charset="-120"/>
              </a:rPr>
              <a:t>grep State /proc/$(pgrep -u student -n zombie)/stat…</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State:  Z (zombie)</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student@okan-lab:~/lab/src$ </a:t>
            </a:r>
            <a:r>
              <a:rPr lang="tr-TR" sz="1050" b="1" dirty="0">
                <a:solidFill>
                  <a:srgbClr val="FFFFFF"/>
                </a:solidFill>
                <a:latin typeface="Consolas" pitchFamily="34" charset="0"/>
                <a:ea typeface="Consolas" pitchFamily="34" charset="-122"/>
                <a:cs typeface="Consolas" pitchFamily="34" charset="-120"/>
              </a:rPr>
              <a:t>kill -9 $(pgrep -u student -n zombie)</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student@okan-lab:~/lab/src$ </a:t>
            </a:r>
            <a:r>
              <a:rPr lang="tr-TR" sz="1050" b="1" dirty="0">
                <a:solidFill>
                  <a:srgbClr val="FFFFFF"/>
                </a:solidFill>
                <a:latin typeface="Consolas" pitchFamily="34" charset="0"/>
                <a:ea typeface="Consolas" pitchFamily="34" charset="-122"/>
                <a:cs typeface="Consolas" pitchFamily="34" charset="-120"/>
              </a:rPr>
              <a:t>ps -o pid,ppid,stat,cmd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PID  PPID STAT 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3057  3056 Ss   -bash</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3119  3057 S    ./zombie 25</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3120  3119 Z    [zombie] &lt;defunct&gt;</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3125  3057 R+   ps -o pid,ppid,stat,cmd</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student@okan-lab:~/lab/src$ </a:t>
            </a:r>
            <a:r>
              <a:rPr lang="tr-TR" sz="1050" b="1" dirty="0">
                <a:solidFill>
                  <a:srgbClr val="FFFFFF"/>
                </a:solidFill>
                <a:latin typeface="Consolas" pitchFamily="34" charset="0"/>
                <a:ea typeface="Consolas" pitchFamily="34" charset="-122"/>
                <a:cs typeface="Consolas" pitchFamily="34" charset="-120"/>
              </a:rPr>
              <a:t>wait</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parent 3119: reaped child 3120, exit status 7</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[1]+  Done                    ./zombie 25</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student@okan-lab:~/lab/src$ </a:t>
            </a:r>
            <a:r>
              <a:rPr lang="tr-TR" sz="1050" b="1" dirty="0">
                <a:solidFill>
                  <a:srgbClr val="FFFFFF"/>
                </a:solidFill>
                <a:latin typeface="Consolas" pitchFamily="34" charset="0"/>
                <a:ea typeface="Consolas" pitchFamily="34" charset="-122"/>
                <a:cs typeface="Consolas" pitchFamily="34" charset="-120"/>
              </a:rPr>
              <a:t>ps -o pid,ppid,stat,cmd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PID  PPID STAT CMD</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3057  3056 Ss   -bash</a:t>
            </a:r>
            <a:endParaRPr lang="tr-TR" sz="1050" dirty="0"/>
          </a:p>
          <a:p>
            <a:pPr indent="0" marL="0">
              <a:lnSpc>
                <a:spcPct val="100000"/>
              </a:lnSpc>
              <a:buNone/>
            </a:pPr>
            <a:r>
              <a:rPr lang="tr-TR" sz="1050" dirty="0">
                <a:solidFill>
                  <a:srgbClr val="D9DEE0"/>
                </a:solidFill>
                <a:latin typeface="Consolas" pitchFamily="34" charset="0"/>
                <a:ea typeface="Consolas" pitchFamily="34" charset="-122"/>
                <a:cs typeface="Consolas" pitchFamily="34" charset="-120"/>
              </a:rPr>
              <a:t> 3128  3057 R+   ps -o pid,ppid,stat,cmd</a:t>
            </a:r>
            <a:endParaRPr lang="tr-TR" sz="1050" dirty="0"/>
          </a:p>
        </p:txBody>
      </p:sp>
      <p:sp>
        <p:nvSpPr>
          <p:cNvPr id="8" name="Shape 6"/>
          <p:cNvSpPr/>
          <p:nvPr/>
        </p:nvSpPr>
        <p:spPr>
          <a:xfrm>
            <a:off x="7863840" y="1508760"/>
            <a:ext cx="3794760" cy="475488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92440" y="1691640"/>
            <a:ext cx="3337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etmeli?</a:t>
            </a:r>
            <a:endParaRPr lang="tr-TR" sz="1500" dirty="0"/>
          </a:p>
        </p:txBody>
      </p:sp>
      <p:sp>
        <p:nvSpPr>
          <p:cNvPr id="10" name="Text 8"/>
          <p:cNvSpPr txBox="1"/>
          <p:nvPr/>
        </p:nvSpPr>
        <p:spPr>
          <a:xfrm>
            <a:off x="8092440" y="2148840"/>
            <a:ext cx="3337560" cy="39776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PID 3120: STAT Z, [zombie] &lt;defunct&gt;, PPID 3119.</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/proc da aynısını söyler: State Z (zombie).</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kill -9 hiçbir şey yapmaz: süreç zaten ölü.</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Ebeveynin waitpid() çağrısından sonra: çıkış durumu 7 ve zombi gitti.</a:t>
            </a:r>
            <a:endParaRPr lang="tr-TR"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KOPYA KÂĞIDI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İşleri ve Süreçleri Denetlemek: Bir Bakışta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35</a:t>
            </a:r>
            <a:endParaRPr lang="tr-TR"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4206240"/>
                <a:gridCol w="690372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Komut / tuş</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Etkisi</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command &amp;</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arka planda başlat; [iş] PID yazdırır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Ctrl+C   ·   Ctrl+Z</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ön plan işine SIGINT   ·   SIGTSTP: durdur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jobs   ·   jobs -l</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bu kabuğun işlerini listele (PID'lerle)</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fg %n   ·   bg %n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ön plana getir   ·   arka planda sürdür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kill PID   ·   kill %n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bir sürece / bir işe SIGTERM (15)</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kill -9   ·   -STOP   ·   -CONT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SIGKILL (son çare)   ·   duraklat   ·   sürdür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pkill -u student name   ·   killall</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süreçlere adlarıyla sinyal gönder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nohup command &gt; log 2&gt;&amp;1 &amp;</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terminal kapandıktan sonra da çalışsın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nice -n 10 cmd   ·   renice -n 15 -p PID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nice değeriyle başlat / değiştir (kullanıcı: yalnızca yukarı)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DERSTE LABORATUVAR · 30–40 DK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Laboratuvar Alıştırmaları (1/2): İnceleme ve Denetim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36</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A · İnceleme (1–5)</a:t>
            </a:r>
            <a:endParaRPr lang="tr-TR" sz="16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echo $$ ve onu ps içinde bulun</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ps -f: ps'in ebeveyni kim?</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sleep 1000 &amp;: /proc/$!/status'tan State ve PPid</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iki sleep ile pstree -p $$</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R ve S: yes ve sleep yan yana</a:t>
            </a:r>
            <a:endParaRPr lang="tr-TR" sz="165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 · İş denetimi (6–9)</a:t>
            </a:r>
            <a:endParaRPr lang="tr-TR" sz="16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sleep 500, Ctrl+Z, jobs, STAT T</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bg; jobs -l ve ps ile denetleyin</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üç iş; fg %2, sonra Ctrl+C</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kill %1 ve kill 1: açıklayın</a:t>
            </a:r>
            <a:endParaRPr lang="tr-TR" sz="165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~/lab içinde çalışın (önce bash mcmp117_lab_setup.sh). Her komutu ve çıktısını yazın: ders notlarındaki Laboratuvar Föyü 17 alıştırmanın tümünü ve puanlarını içerir.</a:t>
            </a:r>
            <a:endParaRPr lang="tr-TR"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DERSTE LABORATUVAR · 30–40 DK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Laboratuvar Alıştırmaları (2/2): Sinyal, Öncelik, Zombi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37</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C · Sinyaller (10–13)</a:t>
            </a:r>
            <a:endParaRPr lang="tr-TR" sz="16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SIGTERM, SIGKILL, SIGINT sonrası $?: 128 + n'yi açıklayın</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STOP ve CONT: STAT'ı izleyin</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pgrep -c, pkill -u student</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nohup ve yalın iş: ikisine de kill -HUP</a:t>
            </a:r>
            <a:endParaRPr lang="tr-TR" sz="165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 · Öncelik, zombiler, meydan okuma (14–17)</a:t>
            </a:r>
            <a:endParaRPr lang="tr-TR" sz="16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nice -n 15, renice ile 19'a, sonra 0'a</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./zombie 30 &amp;: Z'yi bulun, kill -9 deneyin</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%CPU'ya göre ilk 3 süreç (--sort)</a:t>
            </a:r>
            <a:endParaRPr lang="tr-TR" sz="1650" dirty="0"/>
          </a:p>
          <a:p>
            <a:pPr marL="228600" indent="-228600">
              <a:spcAft>
                <a:spcPts val="400"/>
              </a:spcAft>
              <a:buSzPct val="100000"/>
              <a:buChar char="•"/>
            </a:pPr>
            <a:r>
              <a:rPr lang="tr-TR" sz="1650" dirty="0">
                <a:solidFill>
                  <a:srgbClr val="3A464C"/>
                </a:solidFill>
                <a:latin typeface="Calibri" pitchFamily="34" charset="0"/>
                <a:ea typeface="Calibri" pitchFamily="34" charset="-122"/>
                <a:cs typeface="Calibri" pitchFamily="34" charset="-120"/>
              </a:rPr>
              <a:t>bir 12. hafta boru hattıyla süreçlerinizi duruma göre sayın</a:t>
            </a:r>
            <a:endParaRPr lang="tr-TR" sz="165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Bitirince temizleyin: jobs boş olmalı ve pgrep -u student -l sleep hiçbir şey yazdırmamalı.</a:t>
            </a:r>
            <a:endParaRPr lang="tr-TR"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SIK YAPILAN HATALAR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Hata İletileri ve Anlamları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38</a:t>
            </a:r>
            <a:endParaRPr lang="tr-TR"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4206240"/>
                <a:gridCol w="3657600"/>
                <a:gridCol w="324612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Gördüğünüz</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Neden?</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Çözüm</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-bash: kill: (1) - Operation not permitted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kill 1, PID 1 demektir (sistem!)</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1. iş için kill %1</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-bash: kill: %6: no such job</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iş numaraları kabuğa özgüdür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önce jobs ile bakın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renice: … Permission denied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kullanıcılar nice'ı düşüremez</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yalnızca yükseltin (ya da root)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nice: cannot set niceness: Permission denied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kullanıcı olarak negatif nice</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yine de nice 0 ile çalışır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istem geri gelmiyor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bir ön plan işi çalışıyor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Ctrl+C ya da Ctrl+Z, sonra bg</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[1]+ Stopped … (tty input)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arka plan işi klavyeyi istiyor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fg %1</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Z &lt;defunct&gt; kill -9'dan sağ çıkıyor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zombiler zaten ölüdür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ebeveyni bitirin ya da düzeltin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Yeniden yazmadan önce iletiyi okuyun: bash, kill, renice ve nice hangi kuralı çiğnediğinizi size tam olarak söyler.</a:t>
            </a:r>
            <a:endParaRPr lang="tr-TR"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39</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ps sürecinizin STAT değerini T gösteriyor. Buna en yakın 3. hafta durumu hangisi; onu hangi iki komut geri getirir?</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Bir iş bitti ve echo $? 137 yazdırıyor. Ona ne oldu? 143 ne anlama gelirdi?</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Tek çekirdekte işlemci yoğun iki sürecin nice değerleri 0 ve 10. Her biri yaklaşık hangi işlemci payını alır?</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kill -9 bir zombiyi neden kaldıramaz? Onu ne kaldırır?</a:t>
            </a:r>
            <a:endParaRPr lang="tr-TR"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TOPARLAMA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13. Hafta: Akılda Kalması Gerekenler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13  ·  40</a:t>
            </a:r>
            <a:endParaRPr lang="tr-TR"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000"/>
              </a:spcAft>
              <a:buSzPct val="100000"/>
              <a:buChar char="•"/>
            </a:pPr>
            <a:r>
              <a:rPr lang="tr-TR" sz="1700" b="1" dirty="0">
                <a:solidFill>
                  <a:srgbClr val="3A464C"/>
                </a:solidFill>
                <a:latin typeface="Calibri" pitchFamily="34" charset="0"/>
                <a:ea typeface="Calibri" pitchFamily="34" charset="-122"/>
                <a:cs typeface="Calibri" pitchFamily="34" charset="-120"/>
              </a:rPr>
              <a:t>Süreçler:</a:t>
            </a:r>
            <a:r>
              <a:rPr lang="tr-TR" sz="1700" dirty="0">
                <a:solidFill>
                  <a:srgbClr val="3A464C"/>
                </a:solidFill>
                <a:latin typeface="Calibri" pitchFamily="34" charset="0"/>
                <a:ea typeface="Calibri" pitchFamily="34" charset="-122"/>
                <a:cs typeface="Calibri" pitchFamily="34" charset="-120"/>
              </a:rPr>
              <a:t> her komut, kabuğun fork + exec ile oluşturduğu, PID'si ve PPID'si olan bir süreçtir (3. hafta).</a:t>
            </a:r>
            <a:endParaRPr lang="tr-TR" sz="1700" dirty="0"/>
          </a:p>
          <a:p>
            <a:pPr marL="228600" indent="-228600">
              <a:spcAft>
                <a:spcPts val="1000"/>
              </a:spcAft>
              <a:buSzPct val="100000"/>
              <a:buChar char="•"/>
            </a:pPr>
            <a:r>
              <a:rPr lang="tr-TR" sz="1700" b="1" dirty="0">
                <a:solidFill>
                  <a:srgbClr val="3A464C"/>
                </a:solidFill>
                <a:latin typeface="Calibri" pitchFamily="34" charset="0"/>
                <a:ea typeface="Calibri" pitchFamily="34" charset="-122"/>
                <a:cs typeface="Calibri" pitchFamily="34" charset="-120"/>
              </a:rPr>
              <a:t>Bakmak:</a:t>
            </a:r>
            <a:r>
              <a:rPr lang="tr-TR" sz="1700" dirty="0">
                <a:solidFill>
                  <a:srgbClr val="3A464C"/>
                </a:solidFill>
                <a:latin typeface="Calibri" pitchFamily="34" charset="0"/>
                <a:ea typeface="Calibri" pitchFamily="34" charset="-122"/>
                <a:cs typeface="Calibri" pitchFamily="34" charset="-120"/>
              </a:rPr>
              <a:t> ps (-f, -ef, aux, -o), pstree, top/htop, /proc/&lt;pid&gt;/status (PCB).</a:t>
            </a:r>
            <a:endParaRPr lang="tr-TR" sz="1700" dirty="0"/>
          </a:p>
          <a:p>
            <a:pPr marL="228600" indent="-228600">
              <a:spcAft>
                <a:spcPts val="1000"/>
              </a:spcAft>
              <a:buSzPct val="100000"/>
              <a:buChar char="•"/>
            </a:pPr>
            <a:r>
              <a:rPr lang="tr-TR" sz="1700" b="1" dirty="0">
                <a:solidFill>
                  <a:srgbClr val="3A464C"/>
                </a:solidFill>
                <a:latin typeface="Calibri" pitchFamily="34" charset="0"/>
                <a:ea typeface="Calibri" pitchFamily="34" charset="-122"/>
                <a:cs typeface="Calibri" pitchFamily="34" charset="-120"/>
              </a:rPr>
              <a:t>STAT:</a:t>
            </a:r>
            <a:r>
              <a:rPr lang="tr-TR" sz="1700" dirty="0">
                <a:solidFill>
                  <a:srgbClr val="3A464C"/>
                </a:solidFill>
                <a:latin typeface="Calibri" pitchFamily="34" charset="0"/>
                <a:ea typeface="Calibri" pitchFamily="34" charset="-122"/>
                <a:cs typeface="Calibri" pitchFamily="34" charset="-120"/>
              </a:rPr>
              <a:t> R = hazır/çalışıyor, S/D = bekliyor, T = durdurulmuş, Z = sonlandı ama toplanmadı.</a:t>
            </a:r>
            <a:endParaRPr lang="tr-TR" sz="1700" dirty="0"/>
          </a:p>
          <a:p>
            <a:pPr marL="228600" indent="-228600">
              <a:spcAft>
                <a:spcPts val="1000"/>
              </a:spcAft>
              <a:buSzPct val="100000"/>
              <a:buChar char="•"/>
            </a:pPr>
            <a:r>
              <a:rPr lang="tr-TR" sz="1700" b="1" dirty="0">
                <a:solidFill>
                  <a:srgbClr val="3A464C"/>
                </a:solidFill>
                <a:latin typeface="Calibri" pitchFamily="34" charset="0"/>
                <a:ea typeface="Calibri" pitchFamily="34" charset="-122"/>
                <a:cs typeface="Calibri" pitchFamily="34" charset="-120"/>
              </a:rPr>
              <a:t>İş denetimi:</a:t>
            </a:r>
            <a:r>
              <a:rPr lang="tr-TR" sz="1700" dirty="0">
                <a:solidFill>
                  <a:srgbClr val="3A464C"/>
                </a:solidFill>
                <a:latin typeface="Calibri" pitchFamily="34" charset="0"/>
                <a:ea typeface="Calibri" pitchFamily="34" charset="-122"/>
                <a:cs typeface="Calibri" pitchFamily="34" charset="-120"/>
              </a:rPr>
              <a:t> &amp; arka planda başlatır; Ctrl+Z durdurur; jobs, fg, bg; %n bir iş, yalın sayı bir PID'dir.</a:t>
            </a:r>
            <a:endParaRPr lang="tr-TR" sz="1700" dirty="0"/>
          </a:p>
          <a:p>
            <a:pPr marL="228600" indent="-228600">
              <a:spcAft>
                <a:spcPts val="1000"/>
              </a:spcAft>
              <a:buSzPct val="100000"/>
              <a:buChar char="•"/>
            </a:pPr>
            <a:r>
              <a:rPr lang="tr-TR" sz="1700" b="1" dirty="0">
                <a:solidFill>
                  <a:srgbClr val="3A464C"/>
                </a:solidFill>
                <a:latin typeface="Calibri" pitchFamily="34" charset="0"/>
                <a:ea typeface="Calibri" pitchFamily="34" charset="-122"/>
                <a:cs typeface="Calibri" pitchFamily="34" charset="-120"/>
              </a:rPr>
              <a:t>Sinyaller:</a:t>
            </a:r>
            <a:r>
              <a:rPr lang="tr-TR" sz="1700" dirty="0">
                <a:solidFill>
                  <a:srgbClr val="3A464C"/>
                </a:solidFill>
                <a:latin typeface="Calibri" pitchFamily="34" charset="0"/>
                <a:ea typeface="Calibri" pitchFamily="34" charset="-122"/>
                <a:cs typeface="Calibri" pitchFamily="34" charset="-120"/>
              </a:rPr>
              <a:t> kill varsayılan olarak SIGTERM (15) gönderir; Ctrl+C = SIGINT (2); kill -9 = SIGKILL, son çare; $? = 128 + n.</a:t>
            </a:r>
            <a:endParaRPr lang="tr-TR" sz="1700" dirty="0"/>
          </a:p>
          <a:p>
            <a:pPr marL="228600" indent="-228600">
              <a:spcAft>
                <a:spcPts val="1000"/>
              </a:spcAft>
              <a:buSzPct val="100000"/>
              <a:buChar char="•"/>
            </a:pPr>
            <a:r>
              <a:rPr lang="tr-TR" sz="1700" b="1" dirty="0">
                <a:solidFill>
                  <a:srgbClr val="3A464C"/>
                </a:solidFill>
                <a:latin typeface="Calibri" pitchFamily="34" charset="0"/>
                <a:ea typeface="Calibri" pitchFamily="34" charset="-122"/>
                <a:cs typeface="Calibri" pitchFamily="34" charset="-120"/>
              </a:rPr>
              <a:t>Öncelik:</a:t>
            </a:r>
            <a:r>
              <a:rPr lang="tr-TR" sz="1700" dirty="0">
                <a:solidFill>
                  <a:srgbClr val="3A464C"/>
                </a:solidFill>
                <a:latin typeface="Calibri" pitchFamily="34" charset="0"/>
                <a:ea typeface="Calibri" pitchFamily="34" charset="-122"/>
                <a:cs typeface="Calibri" pitchFamily="34" charset="-120"/>
              </a:rPr>
              <a:t> nice −20…19, kullanıcılar yalnızca yükseltebilir; nice 10'a karşı 0 ≈ işlemcinin 1 : 9,3'ü (5. hafta).</a:t>
            </a:r>
            <a:endParaRPr lang="tr-TR" sz="1700" dirty="0"/>
          </a:p>
          <a:p>
            <a:pPr marL="228600" indent="-228600">
              <a:spcAft>
                <a:spcPts val="1000"/>
              </a:spcAft>
              <a:buSzPct val="100000"/>
              <a:buChar char="•"/>
            </a:pPr>
            <a:r>
              <a:rPr lang="tr-TR" sz="1700" b="1" dirty="0">
                <a:solidFill>
                  <a:srgbClr val="3A464C"/>
                </a:solidFill>
                <a:latin typeface="Calibri" pitchFamily="34" charset="0"/>
                <a:ea typeface="Calibri" pitchFamily="34" charset="-122"/>
                <a:cs typeface="Calibri" pitchFamily="34" charset="-120"/>
              </a:rPr>
              <a:t>Zombiler:</a:t>
            </a:r>
            <a:r>
              <a:rPr lang="tr-TR" sz="1700" dirty="0">
                <a:solidFill>
                  <a:srgbClr val="3A464C"/>
                </a:solidFill>
                <a:latin typeface="Calibri" pitchFamily="34" charset="0"/>
                <a:ea typeface="Calibri" pitchFamily="34" charset="-122"/>
                <a:cs typeface="Calibri" pitchFamily="34" charset="-120"/>
              </a:rPr>
              <a:t> onları yalnızca ebeveynin wait() çağrısı kaldırır.</a:t>
            </a:r>
            <a:endParaRPr lang="tr-TR"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Kabuk Betiklerine Giriş</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14.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Neden betik: bugün yazdıklarınızı otomatikleştirin</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Shebang, chmod +x, değişkenler, tırnaklama, $( ) ve $(( ))</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$0 $1 $# $@, read, çıkış durumu $? ve exit</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test / [ ], if, for, while, fonksiyonlar, bash -x</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İki gerçek betik: ~/lab/scripts içinde backup.sh ve report.sh</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13  ·  41</a:t>
            </a:r>
            <a:endParaRPr lang="tr-TR"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13  ·  42</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13</dc:title>
  <dc:subject>PptxGenJS Presentation</dc:subject>
  <dc:creator>PptxGenJS</dc:creator>
  <cp:lastModifiedBy>PptxGenJS</cp:lastModifiedBy>
  <cp:revision>1</cp:revision>
  <dcterms:created xsi:type="dcterms:W3CDTF">2026-10-12T17:57:15Z</dcterms:created>
  <dcterms:modified xsi:type="dcterms:W3CDTF">2026-10-12T17:57:15Z</dcterms:modified>
</cp:coreProperties>
</file>