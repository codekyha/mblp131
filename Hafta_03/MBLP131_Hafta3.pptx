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Tekrar hoş geldiniz. Geçen hafta işletim sistemini dışarıdan inşa ettik: tanımlar, hedefler, ikili mod ve yapılar. Bugün önce işletim sisteminin sunduğu arayüze (hizmetler ve sistem çağrıları, ilk saat), sonra da işletim sisteminin yönettiği en önemli şeye, sürece (ikinci saat) bakıyoruz. Her zamanki gibi ortada bir mola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Yalnızca iki dakikalık bir tekrar. Sorun: strace printf için ne gösterdi, kim hatırlıyor? (bir write sistem çağrısı). Sorun: bir program diske neden kendisi doğrudan erişemez? (ikili mod: ayrıcalıklı komutlar tuzağa düşer). Bugün doğrudan bu iki olgunun üzerine inşa ediyoruz.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 2. bölümler moladan önce, 3.–5. bölümler moladan sonra. C programları birer gösterimdir; öğrencilerden C yazmaları beklenmez, yalnızca açıklamaları okuyup ne olduğunu anlamaları beklenir.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Geçiş: bir işletim sistemi büyük ölçüde sunduğu hizmetlerle tanımlanır. Bu hizmetleri iki gruba ayırıyoruz.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Şekli yukarıdan aşağıya okuyun: insanlar ve programlar bir arayüz kullanır; her istek sistem çağrısı katmanından geçer; onun arkasında işletim sistemi, donanımın üzerinde hizmetlerini sunar. Bu, Silberschatz'ın 2. bölümündeki klasik şekildir. G/Ç: giriş/çıkış (I/O).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kart için öğrencilerin kendi deneyiminden somut bir örnek verin: çöken bir telefon uygulaması, hata algılama artı programın sonlandırılmasıdır; WhatsApp'ta mesaj göndermek soketler üzerinden iletişimdir; bir dosyayı kaydetmek dosya sistemi işlemidir.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Koruma (protection) içe dönüktür: süreçlerin kaynaklara erişimini denetler. Güvenlik (security) ise dışarıdan ve içeriden gelen saldırılara karşı savunmadır. İkisi de 2. haftadaki ikili mod donanımına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Kabuk örnekleri: Linux ve macOS'ta bash ve zsh, Windows'ta cmd.exe ve PowerShell. Vurgulanacak nokta: kabuk bir sistem programıdır ve diğer her program gibi tam olarak aynı sistem çağrılarını kullanır. 9. hafta uygulamalı Linux bölümünü başlatır.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Geçen hafta sistem çağrılarının var olduğunu ve pahalı olduklarını gördük. Şimdi: bir çağrı C kodunuzdan çekirdeğe tam olarak nasıl gider ve nasıl geri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Yığını yukarıdan aşağıya izleyin. Kırmızı kesikli çizgi 2. haftadaki kullanıcı/çekirdek sınırıdır. Üstündeki her şey süreç içinde kullanıcı modunda, altındaki her şey çekirdek modunda çalışır. printf'in tamponladığını vurgulayın: on printf çağrısı tek bir write üretebilir.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argüman: sistem çağrısı numaraları ve ayrıntıları işletim sistemleri arasında, hatta aynı işletim sisteminin farklı işlemci mimarileri arasında bile değişir. API sabittir; kütüphane uyum sağlar. Numaralar Linux çekirdek başlık dosyalarından kontrol edildi (unistd_64.h, unistd_32.h, asm-generic/unistd.h).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çekirdeğin içindeki bir fonksiyon işaretçisi dizisidir (sys_call_table). Geçersiz numaralar ENOSYS hatasını döndürür. Gösterilen numaralar unistd_64.h dosyasındaki gerçek x86-64 Linux numaralarıdır. 2. haftadaki kesme vektörüyle karşılaştırın: ikisi de bir numarayla indekslenen işleyici adresleri tablosudur.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Yılanı izleyin: üst sıra soldan sağa, sonra aşağı, sonra alt sıra sağdan sola. 2.–5. adımlar çekirdek modunda (koyu) çalışır. 4. adımda çekirdeğin tampon adresini denetlediği belirtiliyor: bir program, çekirdeği kendi adına çekirdek belleğini okumaya kandıramamalıdır. -4095 ile -1 arasındaki negatif dönüş değerleri hata demektir; sarmalayıcı hata kodunu errno'ya yazar ve -1 döndürür.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ve 3. yöntemlerin gizli bir maliyeti vardır: çekirdek parametreleri kullanıcı belleğinden kopyalamalı ve adreslerin gerçekten çağıran sürece ait olduğunu denetlemelidir. 1. yöntemde bile tamponun kendisi (26 bayt) kullanıcı belleğinde kalır; yazmaçta yalnızca adresi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Meraklısı için ayrıntı: sıradan C fonksiyon çağrıları 4. argüman için rcx'i kullanır; ama syscall komutu rcx'in (dönüş adresi) ve r11'in (bayraklar) üzerine yazdığı için çekirdek kuralı onun yerine r10'u kullanır. Bu, Linux x86-64 ABI'sinden gelir. Öğrencilerin yazmaçları ezberlemesi gerekmez; önemli olan parametrelerin yazmaçlarda taşındığıdır.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makinemizden gerçek çıktı. Satır içi assembly yalnızca gösterim içindir; pratikte kimse sistem çağrılarını böyle yazmaz. Son satır, bir sayı içeren printf'in de tek bir write'a dönüştüğünü gösterir. Yalnızca x86-64 Linux: ARM'da komut svc'dir ve yazmaçlar farklıdır.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 sütunu Windows API fonksiyonlarını listeler; her biri altta ntdll.dll'deki bir ya da daha fazla yerel Nt... sistem çağrısını çağırır. read() ve write() iki kez görünüyor: UNIX'te bir aygıt dosya gibi görünür, bu yüzden aynı çağrılar iki kategoriye de hizmet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makinemizde GNU coreutils cp 9.4 ile gerçek ölçüm; çıktı yeniden biçimlendirildi ve en büyük sayılar ile copy_file_range dışındakiler kısaltıldı. Ders kitabındaki read/write döngüsü, daha eski bir cp'nin ya da sizin yazacağınız bir kopyalama programının yapacağı şeydir. copy_file_range, veriyi kullanıcı belleğinden geçirmeden kopyalayan daha yeni bir Linux sistem çağrısıdır.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haftayı hatırlayın: çekirdek, sistem programları ve uygulamalar. Çoğu kullanıcı hiçbir zaman bir sistem çağrısı görmez; bu programları görür. Arka plan hizmetlerine UNIX'te daemon, Windows'ta service denir. Bunların çoğunu 9–14. haftalarda uygulamalı olarak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dakika. Molada düşünmek için isteğe bağlı bir soru: iki terminal penceresi açtığınızda bash'in kaç kopyası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Bundan sonra ara sınava kadar neredeyse her şey süreçlerle ilgili: nasıl temsil edildikleri, nasıl zamanlandıkları, nasıl eşzamanlandıkları ve onlara nasıl bellek verildiği.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Buradaki PID'ler temsilîdir. Eski kitaplar aynı fikir için iş (job) sözcüğünü kullanır (toplu işlem sistemlerinden kalma); iki sözcük neredeyse birbirinin yerine kullanılır. Mola sorusunun yanıtı: iki terminal penceresi, tek bir program dosyasından iki bash süreci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bss eski bir assembler adıdır (block started by symbol); asıl nokta, çalıştırılabilir dosyanın sıfırları değil yalnızca boyutu saklamasının yeterli olmasıdır. Çok fazla büyüyen bir yığıt yığıt taşmasına (stack overflow) yol açar, ör. sonsuz özyineleme. 6. ve 7. haftalardaki bellek yönetimi bu resme geri dönecek.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 çıktı. ASLR = adres alanı düzeninin rastgeleleştirilmesi (address space layout randomisation). data ve bss değişkenleri yalnızca 8 bayt uzaklıktadır: diyagramdaki gibi yan yana dururlar. Öbek ile yığıt arasındaki boşluk terabaytlarca sanal adres alanıdır; bunun neden hiçbir maliyeti olmadığını sanal bellek (7. hafta) açıklayacak.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Bunu tahtaya da çizin; haftanın en önemli şeklidir ve klasik bir sınav sorusudur. Sorun: bir süreç bekliyor durumundan doğrudan çalışıyor durumuna geçebilir mi? Hayır: G/Ç'si tamamlanınca hazır kuyruğuna katılır ve zamanlayıcının onu görevlendirmesi (dispatch) gerekir. Linux ps hem çalışan hem çalışmaya hazır süreçler için R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bölümle bağlantı: bir süreç bekliyor durumuna bir sistem çağrısı yaparak girer (read, wait, sleep). 2. haftayla bağlantı: diğer geçişlere zamanlayıcı saat kesmesi ve disk kesmesi yol açar. İşletim sistemi kesme güdümlüdür.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1. haftadaki çoklu programlama argümanının durumlar cinsinden ifadesidir. A diski beklerken işlemciyi B kullanır. Sayılar doğrulandı: art arda çalıştırmada A için 3+4+2 = 9 ms, sonra B için 7 ms, toplam 16 ms; işlemci 16 ms'nin 12'sinde meşgul. Öğrencilerden her anda tam olarak bir sürecin çalıştığını kontrol etmelerini isteyin.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PCB'ye görev denetim bloğu (task control block) da denir. Bir süreç çalışmıyorken, işlemci açısından süreç PCB'sinin ta kendisidir: onu daha sonra sürdürmek için gereken her şey oradadır. task_struct, çekirdek kaynak kodunda include/linux/sched.h dosyasında tanımlıdır.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makinemizden gerçek çıktı; grep deseni burada yer kazanmak için iki satıra bölündü (tek satırda yazın). $! son arka plan komutunun PID'sidir. sleep bekliyor durumundadır (S), çünkü çekirdekten kendisini 30 s sonra uyandırmasını istedi. /proc gerçek bir disk dizini değildir: çekirdek metni task_struct'tan anında üretir. Öğrenciler /proc'u 13. haftada yeniden kullanacak.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Klasik şekil (Silberschatz Şekil 3.6), yatay çizildi: zaman soldan sağa akar. Kırmızı oklar işlemcinin çekirdeğe girdiği anlardır. Gizli ek maliyet: bir geçişten sonra önbellekler ve TLB eski sürecin verileriyle doludur, bu yüzden yeni süreç bir süre yavaş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 değerler kısa bir Python kontrolüyle hesaplandı: s = 5 mikrosaniye ile ek yük = s/(q+s). Ör. q = 1 ms: 5/1005 = %0,4975, yaklaşık %0,50. q = 0,1 ms için: 5/105 = %4,76. q, s'ye eşit olduğunda işlemcinin yarısı boşa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Kabuğun yazdığınız her komut için yaptığı tam olarak budur: kendisinin bir kopyasını fork eder, kopya komutu exec eder, kabuk bekler. PID'ler bir sonraki slayttaki gerçek çalıştırmadan alındı. Neden iki adım? fork ile exec arasında çocuk kendi ortamını hazırlayabilir, örneğin çıktısını bir dosyaya yönlendirebilir (12. hafta, borular ve yönlendirme).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 çıktı (PID'ler her çalıştırmada değişir; son satır yer kazanmak için bölündü). STAT sütunu: ebeveyn S'dir (uyuyor = wait() içinde bekliyor), çocuk R'dir (çalışıyor; listelemeyi yapan ps'in kendisidir). strace -f altında üç çağrı clone(...) = &lt;çocuk PID&gt;, execve("/usr/bin/ps", ...) = 0 ve wait4(&lt;çocuk PID&gt;, ...) = &lt;çocuk PID&gt; olarak görünür: glibc, fork()'u clone sistem çağrısıyla gerçekler. fork'tan önceki fflush önemlidir: yoksa tampondaki metin çocuğa kopyalanır ve iki kez yazdırılır.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Sağda gerçek pstree çıktısı var (test makinemizde systemd yok, bu yüzden soldaki ağaç temsilî PID'lerle tipik bir örnektir). Kendi Linux'unuzda: pstree -p | less. Windows da ebeveyn süreci kaydeder, ama UNIX'teki gibi katı bir ağaç tutmaz.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 gösterim: sh -c 'sleep 1 &amp; exec sleep 4', sleep 1'i arka planda başlatır ve sonra kabuğun yerine hiç wait() çağırmayan sleep 4'ü koyar. Bir saniye sonra ilk sleep bir zombidir (slayttaki gerçek yakalanmış çıktı). Dört saniye sonra ebeveyn de biter; zombi yetim kalır ve toplanır.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./fork_count 3'ü canlı çalıştırın. Ağacı gerçek çıktıyla okuyun: 1937 asıl süreçtir; 1., 2. ve 3. fork'larda 1938, 1939 ve 1940'ı yarattı. Doğrulama döngüsünün çıktısı burada tek satıra konuldu; program her sayıyı ayrı bir satıra yazar. Sınav tipi soru: n = 4 için printf kaç kez çalışır?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kabuğun kendi PID'sidir. İkinci sorunun beklenen yanıtı: genellikle yalnızca bir ya da iki R süreci vardır (ps'in kendisi), çünkü çoğu süreç zamanının çoğunu girdi bekleyerek geçirir. voluntary_ctxt_switches, sürecin bekleyerek işlemciyi kaç kez bıraktığını sayar.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Akılda tutulacak altı cümle. Öğrencilerden her satır için hangi slayttan ya da gösterimden geldiğini söylemelerini isteyin.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Yanıtlar: 1) Hayır: bir kütüphane fonksiyonudur; metni bir tampona biçimlendirir, sonra write() sarmalayıcısı çekirdeğe tuzak kurar, sys_write baytları terminal sürücüsüne iletir. 2) Yazmaçlar, bellek bloğu, yığıt; yazmaçlar (rdi, rsi, rdx, numara rax'te). 3) Önce hazır kuyruğuna konmalı ve zamanlayıcı tarafından görevlendirilmelidir. 4) 10/(1000+10) = %0,99, yaklaşık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Gelecek hafta doğrudan bugünden devam ediyor: /proc/&lt;pid&gt;/status içindeki Threads satırı ve hazır süreçler arasından seçim yapan zamanlayıcı. Mümkünse dersten önce Silberschatz'ın 4. bölümünü ve 5.1 kısmını okuyun.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Sorular. Öğrencilere Telegram kanalını ve bugünün kodunun Makefile ile birlikte hafta03/code klasöründe olduğunu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121"/>
        </a:solidFill>
      </p:bgPr>
    </p:bg>
    <p:spTree>
      <p:nvGrpSpPr>
        <p:cNvPr id="1" name=""/>
        <p:cNvGrpSpPr/>
        <p:nvPr/>
      </p:nvGrpSpPr>
      <p:grpSpPr>
        <a:xfrm>
          <a:off x="0" y="0"/>
          <a:ext cx="0" cy="0"/>
          <a:chOff x="0" y="0"/>
          <a:chExt cx="0" cy="0"/>
        </a:xfrm>
      </p:grpSpPr>
      <p:sp>
        <p:nvSpPr>
          <p:cNvPr id="2" name="Text 0"/>
          <p:cNvSpPr txBox="1"/>
          <p:nvPr/>
        </p:nvSpPr>
        <p:spPr>
          <a:xfrm>
            <a:off x="548640" y="1737360"/>
            <a:ext cx="7315200" cy="320040"/>
          </a:xfrm>
          <a:prstGeom prst="rect">
            <a:avLst/>
          </a:prstGeom>
          <a:noFill/>
          <a:ln/>
        </p:spPr>
        <p:txBody>
          <a:bodyPr wrap="square" lIns="0" tIns="0" rIns="0" bIns="0" rtlCol="0" anchor="ctr"/>
          <a:lstStyle/>
          <a:p>
            <a:pPr indent="0" marL="0">
              <a:buNone/>
            </a:pPr>
            <a:r>
              <a:rPr lang="tr-TR" sz="1300" b="1" spc="300" kern="0" dirty="0">
                <a:solidFill>
                  <a:srgbClr val="02C39A"/>
                </a:solidFill>
                <a:latin typeface="Calibri" pitchFamily="34" charset="0"/>
                <a:ea typeface="Calibri" pitchFamily="34" charset="-122"/>
                <a:cs typeface="Calibri" pitchFamily="34" charset="-120"/>
              </a:rPr>
              <a:t>MBLP131  ·  HAFTA 3</a:t>
            </a:r>
            <a:endParaRPr lang="tr-TR" sz="1300" dirty="0"/>
          </a:p>
        </p:txBody>
      </p:sp>
      <p:sp>
        <p:nvSpPr>
          <p:cNvPr id="3" name="Text 1"/>
          <p:cNvSpPr txBox="1"/>
          <p:nvPr/>
        </p:nvSpPr>
        <p:spPr>
          <a:xfrm>
            <a:off x="548640" y="2148840"/>
            <a:ext cx="8229600" cy="1463040"/>
          </a:xfrm>
          <a:prstGeom prst="rect">
            <a:avLst/>
          </a:prstGeom>
          <a:noFill/>
          <a:ln/>
        </p:spPr>
        <p:txBody>
          <a:bodyPr wrap="square" lIns="0" tIns="0" rIns="0" bIns="0" rtlCol="0" anchor="t"/>
          <a:lstStyle/>
          <a:p>
            <a:pPr indent="0" marL="0">
              <a:buNone/>
            </a:pPr>
            <a:r>
              <a:rPr lang="tr-TR" sz="4000" b="1" dirty="0">
                <a:solidFill>
                  <a:srgbClr val="FFFFFF"/>
                </a:solidFill>
                <a:latin typeface="Cambria" pitchFamily="34" charset="0"/>
                <a:ea typeface="Cambria" pitchFamily="34" charset="-122"/>
                <a:cs typeface="Cambria" pitchFamily="34" charset="-120"/>
              </a:rPr>
              <a:t>İşletim Sistemleri</a:t>
            </a:r>
            <a:endParaRPr lang="tr-TR" sz="4000" dirty="0"/>
          </a:p>
          <a:p>
            <a:pPr indent="0" marL="0">
              <a:buNone/>
            </a:pPr>
            <a:r>
              <a:rPr lang="tr-TR" sz="4000" b="1" dirty="0">
                <a:solidFill>
                  <a:srgbClr val="FFFFFF"/>
                </a:solidFill>
                <a:latin typeface="Cambria" pitchFamily="34" charset="0"/>
                <a:ea typeface="Cambria" pitchFamily="34" charset="-122"/>
                <a:cs typeface="Cambria" pitchFamily="34" charset="-120"/>
              </a:rPr>
              <a:t>Temelleri</a:t>
            </a:r>
            <a:endParaRPr lang="tr-TR" sz="4000" dirty="0"/>
          </a:p>
        </p:txBody>
      </p:sp>
      <p:sp>
        <p:nvSpPr>
          <p:cNvPr id="4" name="Text 2"/>
          <p:cNvSpPr txBox="1"/>
          <p:nvPr/>
        </p:nvSpPr>
        <p:spPr>
          <a:xfrm>
            <a:off x="548640" y="3703320"/>
            <a:ext cx="10058400" cy="457200"/>
          </a:xfrm>
          <a:prstGeom prst="rect">
            <a:avLst/>
          </a:prstGeom>
          <a:noFill/>
          <a:ln/>
        </p:spPr>
        <p:txBody>
          <a:bodyPr wrap="square" lIns="0" tIns="0" rIns="0" bIns="0" rtlCol="0" anchor="ctr"/>
          <a:lstStyle/>
          <a:p>
            <a:pPr indent="0" marL="0">
              <a:buNone/>
            </a:pPr>
            <a:r>
              <a:rPr lang="tr-TR" sz="2000" dirty="0">
                <a:solidFill>
                  <a:srgbClr val="F2F2F2"/>
                </a:solidFill>
                <a:latin typeface="Calibri" pitchFamily="34" charset="0"/>
                <a:ea typeface="Calibri" pitchFamily="34" charset="-122"/>
                <a:cs typeface="Calibri" pitchFamily="34" charset="-120"/>
              </a:rPr>
              <a:t>Hafta 3  ·  İşletim Sistemi Hizmetleri, Sistem Çağrıları ve Süreçler</a:t>
            </a:r>
            <a:endParaRPr lang="tr-TR" sz="2000" dirty="0"/>
          </a:p>
        </p:txBody>
      </p:sp>
      <p:sp>
        <p:nvSpPr>
          <p:cNvPr id="5" name="Text 3"/>
          <p:cNvSpPr txBox="1"/>
          <p:nvPr/>
        </p:nvSpPr>
        <p:spPr>
          <a:xfrm>
            <a:off x="548640" y="4160520"/>
            <a:ext cx="10058400" cy="365760"/>
          </a:xfrm>
          <a:prstGeom prst="rect">
            <a:avLst/>
          </a:prstGeom>
          <a:noFill/>
          <a:ln/>
        </p:spPr>
        <p:txBody>
          <a:bodyPr wrap="square" lIns="0" tIns="0" rIns="0" bIns="0" rtlCol="0" anchor="ctr"/>
          <a:lstStyle/>
          <a:p>
            <a:pPr indent="0" marL="0">
              <a:buNone/>
            </a:pPr>
            <a:r>
              <a:rPr lang="tr-TR" sz="1400" i="1" dirty="0">
                <a:solidFill>
                  <a:srgbClr val="8A9AA0"/>
                </a:solidFill>
                <a:latin typeface="Calibri" pitchFamily="34" charset="0"/>
                <a:ea typeface="Calibri" pitchFamily="34" charset="-122"/>
                <a:cs typeface="Calibri" pitchFamily="34" charset="-120"/>
              </a:rPr>
              <a:t>İşletim sistemi bir program için ne yapar ve çalışan bir program tam olarak nedir?</a:t>
            </a:r>
            <a:endParaRPr lang="tr-TR" sz="1400" dirty="0"/>
          </a:p>
        </p:txBody>
      </p:sp>
      <p:sp>
        <p:nvSpPr>
          <p:cNvPr id="6" name="Text 4"/>
          <p:cNvSpPr txBox="1"/>
          <p:nvPr/>
        </p:nvSpPr>
        <p:spPr>
          <a:xfrm>
            <a:off x="548640" y="6217920"/>
            <a:ext cx="10058400" cy="274320"/>
          </a:xfrm>
          <a:prstGeom prst="rect">
            <a:avLst/>
          </a:prstGeom>
          <a:noFill/>
          <a:ln/>
        </p:spPr>
        <p:txBody>
          <a:bodyPr wrap="square" lIns="0" tIns="0" rIns="0" bIns="0" rtlCol="0" anchor="ctr"/>
          <a:lstStyle/>
          <a:p>
            <a:pPr indent="0" marL="0">
              <a:buNone/>
            </a:pPr>
            <a:r>
              <a:rPr lang="tr-TR" sz="1000" dirty="0">
                <a:solidFill>
                  <a:srgbClr val="8A9AA0"/>
                </a:solidFill>
                <a:latin typeface="Calibri" pitchFamily="34" charset="0"/>
                <a:ea typeface="Calibri" pitchFamily="34" charset="-122"/>
                <a:cs typeface="Calibri" pitchFamily="34" charset="-120"/>
              </a:rPr>
              <a:t>Elektronik Haberleşme Teknolojisi Programı  ·  Meslek Yüksekokulu  ·  İstanbul Okan Üniversitesi</a:t>
            </a:r>
            <a:endParaRPr lang="tr-T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GEÇEN HAFTA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Dört Fikirde 2. Hafta</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a:t>
            </a:r>
            <a:endParaRPr lang="tr-TR" sz="900" dirty="0"/>
          </a:p>
        </p:txBody>
      </p:sp>
      <p:sp>
        <p:nvSpPr>
          <p:cNvPr id="6" name="Shape 4"/>
          <p:cNvSpPr/>
          <p:nvPr/>
        </p:nvSpPr>
        <p:spPr>
          <a:xfrm>
            <a:off x="548640" y="1508760"/>
            <a:ext cx="2606040" cy="3749040"/>
          </a:xfrm>
          <a:prstGeom prst="roundRect">
            <a:avLst>
              <a:gd name="adj" fmla="val 2105"/>
            </a:avLst>
          </a:prstGeom>
          <a:solidFill>
            <a:srgbClr val="F2F2F2"/>
          </a:solidFill>
          <a:ln/>
          <a:effectLst>
            <a:outerShdw sx="100000" sy="100000" kx="0" ky="0" algn="bl" rotWithShape="0" blurRad="101600" dist="25400" dir="5400000">
              <a:srgbClr val="000000">
                <a:alpha val="12000"/>
              </a:srgbClr>
            </a:outerShdw>
          </a:effectLst>
        </p:spPr>
      </p:sp>
      <p:sp>
        <p:nvSpPr>
          <p:cNvPr id="7" name="Text 5"/>
          <p:cNvSpPr txBox="1"/>
          <p:nvPr/>
        </p:nvSpPr>
        <p:spPr>
          <a:xfrm>
            <a:off x="777240" y="1691640"/>
            <a:ext cx="214884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İki bakış</a:t>
            </a:r>
            <a:endParaRPr lang="tr-TR" sz="1600" dirty="0"/>
          </a:p>
        </p:txBody>
      </p:sp>
      <p:sp>
        <p:nvSpPr>
          <p:cNvPr id="8" name="Text 6"/>
          <p:cNvSpPr txBox="1"/>
          <p:nvPr/>
        </p:nvSpPr>
        <p:spPr>
          <a:xfrm>
            <a:off x="777240" y="2148840"/>
            <a:ext cx="2148840" cy="2971800"/>
          </a:xfrm>
          <a:prstGeom prst="rect">
            <a:avLst/>
          </a:prstGeom>
          <a:noFill/>
          <a:ln/>
        </p:spPr>
        <p:txBody>
          <a:bodyPr wrap="square" lIns="0" tIns="0" rIns="0" bIns="0" rtlCol="0" anchor="t"/>
          <a:lstStyle/>
          <a:p>
            <a:pPr indent="0" marL="0">
              <a:spcAft>
                <a:spcPts val="400"/>
              </a:spcAft>
              <a:buNone/>
            </a:pPr>
            <a:r>
              <a:rPr lang="tr-TR" sz="1600" dirty="0">
                <a:solidFill>
                  <a:srgbClr val="3A464C"/>
                </a:solidFill>
                <a:latin typeface="Calibri" pitchFamily="34" charset="0"/>
                <a:ea typeface="Calibri" pitchFamily="34" charset="-122"/>
                <a:cs typeface="Calibri" pitchFamily="34" charset="-120"/>
              </a:rPr>
              <a:t>Genişletilmiş makine (temiz soyutlamalar) ve kaynak yöneticisi (donanımı paylaştırmak).</a:t>
            </a:r>
            <a:endParaRPr lang="tr-TR" sz="1600" dirty="0"/>
          </a:p>
        </p:txBody>
      </p:sp>
      <p:sp>
        <p:nvSpPr>
          <p:cNvPr id="9" name="Shape 7"/>
          <p:cNvSpPr/>
          <p:nvPr/>
        </p:nvSpPr>
        <p:spPr>
          <a:xfrm>
            <a:off x="3383280" y="1508760"/>
            <a:ext cx="2606040" cy="3749040"/>
          </a:xfrm>
          <a:prstGeom prst="roundRect">
            <a:avLst>
              <a:gd name="adj" fmla="val 2105"/>
            </a:avLst>
          </a:prstGeom>
          <a:solidFill>
            <a:srgbClr val="F2F2F2"/>
          </a:solidFill>
          <a:ln/>
          <a:effectLst>
            <a:outerShdw sx="100000" sy="100000" kx="0" ky="0" algn="bl" rotWithShape="0" blurRad="101600" dist="25400" dir="5400000">
              <a:srgbClr val="000000">
                <a:alpha val="12000"/>
              </a:srgbClr>
            </a:outerShdw>
          </a:effectLst>
        </p:spPr>
      </p:sp>
      <p:sp>
        <p:nvSpPr>
          <p:cNvPr id="10" name="Text 8"/>
          <p:cNvSpPr txBox="1"/>
          <p:nvPr/>
        </p:nvSpPr>
        <p:spPr>
          <a:xfrm>
            <a:off x="3611880" y="1691640"/>
            <a:ext cx="214884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İkili mod</a:t>
            </a:r>
            <a:endParaRPr lang="tr-TR" sz="1600" dirty="0"/>
          </a:p>
        </p:txBody>
      </p:sp>
      <p:sp>
        <p:nvSpPr>
          <p:cNvPr id="11" name="Text 9"/>
          <p:cNvSpPr txBox="1"/>
          <p:nvPr/>
        </p:nvSpPr>
        <p:spPr>
          <a:xfrm>
            <a:off x="3611880" y="2148840"/>
            <a:ext cx="2148840" cy="2971800"/>
          </a:xfrm>
          <a:prstGeom prst="rect">
            <a:avLst/>
          </a:prstGeom>
          <a:noFill/>
          <a:ln/>
        </p:spPr>
        <p:txBody>
          <a:bodyPr wrap="square" lIns="0" tIns="0" rIns="0" bIns="0" rtlCol="0" anchor="t"/>
          <a:lstStyle/>
          <a:p>
            <a:pPr indent="0" marL="0">
              <a:spcAft>
                <a:spcPts val="400"/>
              </a:spcAft>
              <a:buNone/>
            </a:pPr>
            <a:r>
              <a:rPr lang="tr-TR" sz="1600" dirty="0">
                <a:solidFill>
                  <a:srgbClr val="3A464C"/>
                </a:solidFill>
                <a:latin typeface="Calibri" pitchFamily="34" charset="0"/>
                <a:ea typeface="Calibri" pitchFamily="34" charset="-122"/>
                <a:cs typeface="Calibri" pitchFamily="34" charset="-120"/>
              </a:rPr>
              <a:t>İşlemcide bir mod biti: kullanıcı modu kısıtlıdır, çekirdek modunda her şey yapılabilir.</a:t>
            </a:r>
            <a:endParaRPr lang="tr-TR" sz="1600" dirty="0"/>
          </a:p>
        </p:txBody>
      </p:sp>
      <p:sp>
        <p:nvSpPr>
          <p:cNvPr id="12" name="Shape 10"/>
          <p:cNvSpPr/>
          <p:nvPr/>
        </p:nvSpPr>
        <p:spPr>
          <a:xfrm>
            <a:off x="6217920" y="1508760"/>
            <a:ext cx="2606040" cy="3749040"/>
          </a:xfrm>
          <a:prstGeom prst="roundRect">
            <a:avLst>
              <a:gd name="adj" fmla="val 2105"/>
            </a:avLst>
          </a:prstGeom>
          <a:solidFill>
            <a:srgbClr val="F2F2F2"/>
          </a:solidFill>
          <a:ln/>
          <a:effectLst>
            <a:outerShdw sx="100000" sy="100000" kx="0" ky="0" algn="bl" rotWithShape="0" blurRad="101600" dist="25400" dir="5400000">
              <a:srgbClr val="000000">
                <a:alpha val="12000"/>
              </a:srgbClr>
            </a:outerShdw>
          </a:effectLst>
        </p:spPr>
      </p:sp>
      <p:sp>
        <p:nvSpPr>
          <p:cNvPr id="13" name="Text 11"/>
          <p:cNvSpPr txBox="1"/>
          <p:nvPr/>
        </p:nvSpPr>
        <p:spPr>
          <a:xfrm>
            <a:off x="6446520" y="1691640"/>
            <a:ext cx="214884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İlk sistem çağrısı</a:t>
            </a:r>
            <a:endParaRPr lang="tr-TR" sz="1600" dirty="0"/>
          </a:p>
        </p:txBody>
      </p:sp>
      <p:sp>
        <p:nvSpPr>
          <p:cNvPr id="14" name="Text 12"/>
          <p:cNvSpPr txBox="1"/>
          <p:nvPr/>
        </p:nvSpPr>
        <p:spPr>
          <a:xfrm>
            <a:off x="6446520" y="2148840"/>
            <a:ext cx="2148840" cy="2971800"/>
          </a:xfrm>
          <a:prstGeom prst="rect">
            <a:avLst/>
          </a:prstGeom>
          <a:noFill/>
          <a:ln/>
        </p:spPr>
        <p:txBody>
          <a:bodyPr wrap="square" lIns="0" tIns="0" rIns="0" bIns="0" rtlCol="0" anchor="t"/>
          <a:lstStyle/>
          <a:p>
            <a:pPr indent="0" marL="0">
              <a:spcAft>
                <a:spcPts val="400"/>
              </a:spcAft>
              <a:buNone/>
            </a:pPr>
            <a:r>
              <a:rPr lang="tr-TR" sz="1600" dirty="0">
                <a:solidFill>
                  <a:srgbClr val="3A464C"/>
                </a:solidFill>
                <a:latin typeface="Calibri" pitchFamily="34" charset="0"/>
                <a:ea typeface="Calibri" pitchFamily="34" charset="-122"/>
                <a:cs typeface="Calibri" pitchFamily="34" charset="-120"/>
              </a:rPr>
              <a:t>printf() sonunda write(1, …) oldu; strace çekirdeğe giden her isteği gösterdi.</a:t>
            </a:r>
            <a:endParaRPr lang="tr-TR" sz="1600" dirty="0"/>
          </a:p>
        </p:txBody>
      </p:sp>
      <p:sp>
        <p:nvSpPr>
          <p:cNvPr id="15" name="Shape 13"/>
          <p:cNvSpPr/>
          <p:nvPr/>
        </p:nvSpPr>
        <p:spPr>
          <a:xfrm>
            <a:off x="9052560" y="1508760"/>
            <a:ext cx="2606040" cy="3749040"/>
          </a:xfrm>
          <a:prstGeom prst="roundRect">
            <a:avLst>
              <a:gd name="adj" fmla="val 2105"/>
            </a:avLst>
          </a:prstGeom>
          <a:solidFill>
            <a:srgbClr val="F2F2F2"/>
          </a:solidFill>
          <a:ln/>
          <a:effectLst>
            <a:outerShdw sx="100000" sy="100000" kx="0" ky="0" algn="bl" rotWithShape="0" blurRad="101600" dist="25400" dir="5400000">
              <a:srgbClr val="000000">
                <a:alpha val="12000"/>
              </a:srgbClr>
            </a:outerShdw>
          </a:effectLst>
        </p:spPr>
      </p:sp>
      <p:sp>
        <p:nvSpPr>
          <p:cNvPr id="16" name="Text 14"/>
          <p:cNvSpPr txBox="1"/>
          <p:nvPr/>
        </p:nvSpPr>
        <p:spPr>
          <a:xfrm>
            <a:off x="9281160" y="1691640"/>
            <a:ext cx="214884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Çağrılar pahalıdır</a:t>
            </a:r>
            <a:endParaRPr lang="tr-TR" sz="1600" dirty="0"/>
          </a:p>
        </p:txBody>
      </p:sp>
      <p:sp>
        <p:nvSpPr>
          <p:cNvPr id="17" name="Text 15"/>
          <p:cNvSpPr txBox="1"/>
          <p:nvPr/>
        </p:nvSpPr>
        <p:spPr>
          <a:xfrm>
            <a:off x="9281160" y="2148840"/>
            <a:ext cx="2148840" cy="2971800"/>
          </a:xfrm>
          <a:prstGeom prst="rect">
            <a:avLst/>
          </a:prstGeom>
          <a:noFill/>
          <a:ln/>
        </p:spPr>
        <p:txBody>
          <a:bodyPr wrap="square" lIns="0" tIns="0" rIns="0" bIns="0" rtlCol="0" anchor="t"/>
          <a:lstStyle/>
          <a:p>
            <a:pPr indent="0" marL="0">
              <a:spcAft>
                <a:spcPts val="400"/>
              </a:spcAft>
              <a:buNone/>
            </a:pPr>
            <a:r>
              <a:rPr lang="tr-TR" sz="1600" dirty="0">
                <a:solidFill>
                  <a:srgbClr val="3A464C"/>
                </a:solidFill>
                <a:latin typeface="Calibri" pitchFamily="34" charset="0"/>
                <a:ea typeface="Calibri" pitchFamily="34" charset="-122"/>
                <a:cs typeface="Calibri" pitchFamily="34" charset="-120"/>
              </a:rPr>
              <a:t>Test makinemizde bir getpid() sistem çağrısı ≈ 116 ns sürdü; bir fonksiyon çağrısının yaklaşık 76 katı.</a:t>
            </a:r>
            <a:endParaRPr lang="tr-TR" sz="1600" dirty="0"/>
          </a:p>
        </p:txBody>
      </p:sp>
      <p:sp>
        <p:nvSpPr>
          <p:cNvPr id="18" name="Shape 16"/>
          <p:cNvSpPr/>
          <p:nvPr/>
        </p:nvSpPr>
        <p:spPr>
          <a:xfrm>
            <a:off x="548640" y="5486400"/>
            <a:ext cx="11109960" cy="777240"/>
          </a:xfrm>
          <a:prstGeom prst="roundRect">
            <a:avLst>
              <a:gd name="adj" fmla="val 7059"/>
            </a:avLst>
          </a:prstGeom>
          <a:solidFill>
            <a:srgbClr val="36454F"/>
          </a:solidFill>
          <a:ln/>
          <a:effectLst>
            <a:outerShdw sx="100000" sy="100000" kx="0" ky="0" algn="bl" rotWithShape="0" blurRad="101600" dist="25400" dir="5400000">
              <a:srgbClr val="000000">
                <a:alpha val="12000"/>
              </a:srgbClr>
            </a:outerShdw>
          </a:effectLst>
        </p:spPr>
      </p:sp>
      <p:sp>
        <p:nvSpPr>
          <p:cNvPr id="19" name="Text 17"/>
          <p:cNvSpPr txBox="1"/>
          <p:nvPr/>
        </p:nvSpPr>
        <p:spPr>
          <a:xfrm>
            <a:off x="777240" y="5486400"/>
            <a:ext cx="10652760" cy="77724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Bugün: sistem çağrısı kapısının ardında hangi hizmetler var, bir çağrı çekirdeğe gerçekte nasıl gider ve "süreç" nedir?</a:t>
            </a:r>
            <a:endParaRPr lang="tr-T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HAFTA 3</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Bugünün Gündemi</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a:t>
            </a:r>
            <a:endParaRPr lang="tr-TR" sz="900" dirty="0"/>
          </a:p>
        </p:txBody>
      </p:sp>
      <p:sp>
        <p:nvSpPr>
          <p:cNvPr id="6" name="Shape 4"/>
          <p:cNvSpPr/>
          <p:nvPr/>
        </p:nvSpPr>
        <p:spPr>
          <a:xfrm>
            <a:off x="548640" y="1554480"/>
            <a:ext cx="731520" cy="731520"/>
          </a:xfrm>
          <a:prstGeom prst="roundRect">
            <a:avLst>
              <a:gd name="adj" fmla="val 6250"/>
            </a:avLst>
          </a:prstGeom>
          <a:solidFill>
            <a:srgbClr val="02C39A"/>
          </a:solidFill>
          <a:ln/>
        </p:spPr>
      </p:sp>
      <p:sp>
        <p:nvSpPr>
          <p:cNvPr id="7" name="Text 5"/>
          <p:cNvSpPr txBox="1"/>
          <p:nvPr/>
        </p:nvSpPr>
        <p:spPr>
          <a:xfrm>
            <a:off x="548640" y="1554480"/>
            <a:ext cx="731520" cy="731520"/>
          </a:xfrm>
          <a:prstGeom prst="rect">
            <a:avLst/>
          </a:prstGeom>
          <a:noFill/>
          <a:ln/>
        </p:spPr>
        <p:txBody>
          <a:bodyPr wrap="square" lIns="38100" tIns="38100" rIns="38100" bIns="38100" rtlCol="0" anchor="ctr"/>
          <a:lstStyle/>
          <a:p>
            <a:pPr algn="ctr" indent="0" marL="0">
              <a:buNone/>
            </a:pPr>
            <a:r>
              <a:rPr lang="tr-TR" sz="2000" b="1" dirty="0">
                <a:solidFill>
                  <a:srgbClr val="36454F"/>
                </a:solidFill>
                <a:latin typeface="Cambria" pitchFamily="34" charset="0"/>
                <a:ea typeface="Cambria" pitchFamily="34" charset="-122"/>
                <a:cs typeface="Cambria" pitchFamily="34" charset="-120"/>
              </a:rPr>
              <a:t>1</a:t>
            </a:r>
            <a:endParaRPr lang="tr-TR" sz="2000" dirty="0"/>
          </a:p>
        </p:txBody>
      </p:sp>
      <p:sp>
        <p:nvSpPr>
          <p:cNvPr id="8" name="Shape 6"/>
          <p:cNvSpPr/>
          <p:nvPr/>
        </p:nvSpPr>
        <p:spPr>
          <a:xfrm>
            <a:off x="1463040" y="1554480"/>
            <a:ext cx="10195560" cy="731520"/>
          </a:xfrm>
          <a:prstGeom prst="roundRect">
            <a:avLst>
              <a:gd name="adj" fmla="val 6250"/>
            </a:avLst>
          </a:prstGeom>
          <a:solidFill>
            <a:srgbClr val="F2F2F2"/>
          </a:solidFill>
          <a:ln/>
        </p:spPr>
      </p:sp>
      <p:sp>
        <p:nvSpPr>
          <p:cNvPr id="9" name="Text 7"/>
          <p:cNvSpPr txBox="1"/>
          <p:nvPr/>
        </p:nvSpPr>
        <p:spPr>
          <a:xfrm>
            <a:off x="1737360" y="1554480"/>
            <a:ext cx="9784080" cy="731520"/>
          </a:xfrm>
          <a:prstGeom prst="rect">
            <a:avLst/>
          </a:prstGeom>
          <a:noFill/>
          <a:ln/>
        </p:spPr>
        <p:txBody>
          <a:bodyPr wrap="square" lIns="0" tIns="0" rIns="0" bIns="0" rtlCol="0" anchor="ctr"/>
          <a:lstStyle/>
          <a:p>
            <a:pPr indent="0" marL="0">
              <a:buNone/>
            </a:pPr>
            <a:r>
              <a:rPr lang="tr-TR" sz="1700" b="1" dirty="0">
                <a:solidFill>
                  <a:srgbClr val="36454F"/>
                </a:solidFill>
                <a:latin typeface="Cambria" pitchFamily="34" charset="0"/>
                <a:ea typeface="Cambria" pitchFamily="34" charset="-122"/>
                <a:cs typeface="Cambria" pitchFamily="34" charset="-120"/>
              </a:rPr>
              <a:t>Hizmetler   </a:t>
            </a:r>
            <a:r>
              <a:rPr lang="tr-TR" sz="1500" dirty="0">
                <a:solidFill>
                  <a:srgbClr val="3A464C"/>
                </a:solidFill>
                <a:latin typeface="Calibri" pitchFamily="34" charset="0"/>
                <a:ea typeface="Calibri" pitchFamily="34" charset="-122"/>
                <a:cs typeface="Calibri" pitchFamily="34" charset="-120"/>
              </a:rPr>
              <a:t>İşletim sisteminin kullanıcılara, programlara ve kendisine sundukları.</a:t>
            </a:r>
            <a:endParaRPr lang="tr-TR" sz="1400" dirty="0"/>
          </a:p>
        </p:txBody>
      </p:sp>
      <p:sp>
        <p:nvSpPr>
          <p:cNvPr id="10" name="Shape 8"/>
          <p:cNvSpPr/>
          <p:nvPr/>
        </p:nvSpPr>
        <p:spPr>
          <a:xfrm>
            <a:off x="548640" y="2468880"/>
            <a:ext cx="731520" cy="731520"/>
          </a:xfrm>
          <a:prstGeom prst="roundRect">
            <a:avLst>
              <a:gd name="adj" fmla="val 6250"/>
            </a:avLst>
          </a:prstGeom>
          <a:solidFill>
            <a:srgbClr val="02C39A"/>
          </a:solidFill>
          <a:ln/>
        </p:spPr>
      </p:sp>
      <p:sp>
        <p:nvSpPr>
          <p:cNvPr id="11" name="Text 9"/>
          <p:cNvSpPr txBox="1"/>
          <p:nvPr/>
        </p:nvSpPr>
        <p:spPr>
          <a:xfrm>
            <a:off x="548640" y="2468880"/>
            <a:ext cx="731520" cy="731520"/>
          </a:xfrm>
          <a:prstGeom prst="rect">
            <a:avLst/>
          </a:prstGeom>
          <a:noFill/>
          <a:ln/>
        </p:spPr>
        <p:txBody>
          <a:bodyPr wrap="square" lIns="38100" tIns="38100" rIns="38100" bIns="38100" rtlCol="0" anchor="ctr"/>
          <a:lstStyle/>
          <a:p>
            <a:pPr algn="ctr" indent="0" marL="0">
              <a:buNone/>
            </a:pPr>
            <a:r>
              <a:rPr lang="tr-TR" sz="2000" b="1" dirty="0">
                <a:solidFill>
                  <a:srgbClr val="36454F"/>
                </a:solidFill>
                <a:latin typeface="Cambria" pitchFamily="34" charset="0"/>
                <a:ea typeface="Cambria" pitchFamily="34" charset="-122"/>
                <a:cs typeface="Cambria" pitchFamily="34" charset="-120"/>
              </a:rPr>
              <a:t>2</a:t>
            </a:r>
            <a:endParaRPr lang="tr-TR" sz="2000" dirty="0"/>
          </a:p>
        </p:txBody>
      </p:sp>
      <p:sp>
        <p:nvSpPr>
          <p:cNvPr id="12" name="Shape 10"/>
          <p:cNvSpPr/>
          <p:nvPr/>
        </p:nvSpPr>
        <p:spPr>
          <a:xfrm>
            <a:off x="1463040" y="2468880"/>
            <a:ext cx="10195560" cy="731520"/>
          </a:xfrm>
          <a:prstGeom prst="roundRect">
            <a:avLst>
              <a:gd name="adj" fmla="val 6250"/>
            </a:avLst>
          </a:prstGeom>
          <a:solidFill>
            <a:srgbClr val="F2F2F2"/>
          </a:solidFill>
          <a:ln/>
        </p:spPr>
      </p:sp>
      <p:sp>
        <p:nvSpPr>
          <p:cNvPr id="13" name="Text 11"/>
          <p:cNvSpPr txBox="1"/>
          <p:nvPr/>
        </p:nvSpPr>
        <p:spPr>
          <a:xfrm>
            <a:off x="1737360" y="2468880"/>
            <a:ext cx="9784080" cy="731520"/>
          </a:xfrm>
          <a:prstGeom prst="rect">
            <a:avLst/>
          </a:prstGeom>
          <a:noFill/>
          <a:ln/>
        </p:spPr>
        <p:txBody>
          <a:bodyPr wrap="square" lIns="0" tIns="0" rIns="0" bIns="0" rtlCol="0" anchor="ctr"/>
          <a:lstStyle/>
          <a:p>
            <a:pPr indent="0" marL="0">
              <a:buNone/>
            </a:pPr>
            <a:r>
              <a:rPr lang="tr-TR" sz="1700" b="1" dirty="0">
                <a:solidFill>
                  <a:srgbClr val="36454F"/>
                </a:solidFill>
                <a:latin typeface="Cambria" pitchFamily="34" charset="0"/>
                <a:ea typeface="Cambria" pitchFamily="34" charset="-122"/>
                <a:cs typeface="Cambria" pitchFamily="34" charset="-120"/>
              </a:rPr>
              <a:t>Sistem çağrıları   </a:t>
            </a:r>
            <a:r>
              <a:rPr lang="tr-TR" sz="1500" dirty="0">
                <a:solidFill>
                  <a:srgbClr val="3A464C"/>
                </a:solidFill>
                <a:latin typeface="Calibri" pitchFamily="34" charset="0"/>
                <a:ea typeface="Calibri" pitchFamily="34" charset="-122"/>
                <a:cs typeface="Calibri" pitchFamily="34" charset="-120"/>
              </a:rPr>
              <a:t>API ve sistem çağrısı, sistem çağrısı tablosu, tuzak, parametre aktarımı.</a:t>
            </a:r>
            <a:endParaRPr lang="tr-TR" sz="1400" dirty="0"/>
          </a:p>
        </p:txBody>
      </p:sp>
      <p:sp>
        <p:nvSpPr>
          <p:cNvPr id="14" name="Shape 12"/>
          <p:cNvSpPr/>
          <p:nvPr/>
        </p:nvSpPr>
        <p:spPr>
          <a:xfrm>
            <a:off x="548640" y="3383280"/>
            <a:ext cx="731520" cy="731520"/>
          </a:xfrm>
          <a:prstGeom prst="roundRect">
            <a:avLst>
              <a:gd name="adj" fmla="val 6250"/>
            </a:avLst>
          </a:prstGeom>
          <a:solidFill>
            <a:srgbClr val="02C39A"/>
          </a:solidFill>
          <a:ln/>
        </p:spPr>
      </p:sp>
      <p:sp>
        <p:nvSpPr>
          <p:cNvPr id="15" name="Text 13"/>
          <p:cNvSpPr txBox="1"/>
          <p:nvPr/>
        </p:nvSpPr>
        <p:spPr>
          <a:xfrm>
            <a:off x="548640" y="3383280"/>
            <a:ext cx="731520" cy="731520"/>
          </a:xfrm>
          <a:prstGeom prst="rect">
            <a:avLst/>
          </a:prstGeom>
          <a:noFill/>
          <a:ln/>
        </p:spPr>
        <p:txBody>
          <a:bodyPr wrap="square" lIns="38100" tIns="38100" rIns="38100" bIns="38100" rtlCol="0" anchor="ctr"/>
          <a:lstStyle/>
          <a:p>
            <a:pPr algn="ctr" indent="0" marL="0">
              <a:buNone/>
            </a:pPr>
            <a:r>
              <a:rPr lang="tr-TR" sz="2000" b="1" dirty="0">
                <a:solidFill>
                  <a:srgbClr val="36454F"/>
                </a:solidFill>
                <a:latin typeface="Cambria" pitchFamily="34" charset="0"/>
                <a:ea typeface="Cambria" pitchFamily="34" charset="-122"/>
                <a:cs typeface="Cambria" pitchFamily="34" charset="-120"/>
              </a:rPr>
              <a:t>3</a:t>
            </a:r>
            <a:endParaRPr lang="tr-TR" sz="2000" dirty="0"/>
          </a:p>
        </p:txBody>
      </p:sp>
      <p:sp>
        <p:nvSpPr>
          <p:cNvPr id="16" name="Shape 14"/>
          <p:cNvSpPr/>
          <p:nvPr/>
        </p:nvSpPr>
        <p:spPr>
          <a:xfrm>
            <a:off x="1463040" y="3383280"/>
            <a:ext cx="10195560" cy="731520"/>
          </a:xfrm>
          <a:prstGeom prst="roundRect">
            <a:avLst>
              <a:gd name="adj" fmla="val 6250"/>
            </a:avLst>
          </a:prstGeom>
          <a:solidFill>
            <a:srgbClr val="F2F2F2"/>
          </a:solidFill>
          <a:ln/>
        </p:spPr>
      </p:sp>
      <p:sp>
        <p:nvSpPr>
          <p:cNvPr id="17" name="Text 15"/>
          <p:cNvSpPr txBox="1"/>
          <p:nvPr/>
        </p:nvSpPr>
        <p:spPr>
          <a:xfrm>
            <a:off x="1737360" y="3383280"/>
            <a:ext cx="9784080" cy="731520"/>
          </a:xfrm>
          <a:prstGeom prst="rect">
            <a:avLst/>
          </a:prstGeom>
          <a:noFill/>
          <a:ln/>
        </p:spPr>
        <p:txBody>
          <a:bodyPr wrap="square" lIns="0" tIns="0" rIns="0" bIns="0" rtlCol="0" anchor="ctr"/>
          <a:lstStyle/>
          <a:p>
            <a:pPr indent="0" marL="0">
              <a:buNone/>
            </a:pPr>
            <a:r>
              <a:rPr lang="tr-TR" sz="1700" b="1" dirty="0">
                <a:solidFill>
                  <a:srgbClr val="36454F"/>
                </a:solidFill>
                <a:latin typeface="Cambria" pitchFamily="34" charset="0"/>
                <a:ea typeface="Cambria" pitchFamily="34" charset="-122"/>
                <a:cs typeface="Cambria" pitchFamily="34" charset="-120"/>
              </a:rPr>
              <a:t>Süreçler   </a:t>
            </a:r>
            <a:r>
              <a:rPr lang="tr-TR" sz="1500" dirty="0">
                <a:solidFill>
                  <a:srgbClr val="3A464C"/>
                </a:solidFill>
                <a:latin typeface="Calibri" pitchFamily="34" charset="0"/>
                <a:ea typeface="Calibri" pitchFamily="34" charset="-122"/>
                <a:cs typeface="Calibri" pitchFamily="34" charset="-120"/>
              </a:rPr>
              <a:t>Program ve süreç, bellek düzeni, beş durum, süreç denetim bloğu (PCB).</a:t>
            </a:r>
            <a:endParaRPr lang="tr-TR" sz="1400" dirty="0"/>
          </a:p>
        </p:txBody>
      </p:sp>
      <p:sp>
        <p:nvSpPr>
          <p:cNvPr id="18" name="Shape 16"/>
          <p:cNvSpPr/>
          <p:nvPr/>
        </p:nvSpPr>
        <p:spPr>
          <a:xfrm>
            <a:off x="548640" y="4297680"/>
            <a:ext cx="731520" cy="731520"/>
          </a:xfrm>
          <a:prstGeom prst="roundRect">
            <a:avLst>
              <a:gd name="adj" fmla="val 6250"/>
            </a:avLst>
          </a:prstGeom>
          <a:solidFill>
            <a:srgbClr val="02C39A"/>
          </a:solidFill>
          <a:ln/>
        </p:spPr>
      </p:sp>
      <p:sp>
        <p:nvSpPr>
          <p:cNvPr id="19" name="Text 17"/>
          <p:cNvSpPr txBox="1"/>
          <p:nvPr/>
        </p:nvSpPr>
        <p:spPr>
          <a:xfrm>
            <a:off x="548640" y="4297680"/>
            <a:ext cx="731520" cy="731520"/>
          </a:xfrm>
          <a:prstGeom prst="rect">
            <a:avLst/>
          </a:prstGeom>
          <a:noFill/>
          <a:ln/>
        </p:spPr>
        <p:txBody>
          <a:bodyPr wrap="square" lIns="38100" tIns="38100" rIns="38100" bIns="38100" rtlCol="0" anchor="ctr"/>
          <a:lstStyle/>
          <a:p>
            <a:pPr algn="ctr" indent="0" marL="0">
              <a:buNone/>
            </a:pPr>
            <a:r>
              <a:rPr lang="tr-TR" sz="2000" b="1" dirty="0">
                <a:solidFill>
                  <a:srgbClr val="36454F"/>
                </a:solidFill>
                <a:latin typeface="Cambria" pitchFamily="34" charset="0"/>
                <a:ea typeface="Cambria" pitchFamily="34" charset="-122"/>
                <a:cs typeface="Cambria" pitchFamily="34" charset="-120"/>
              </a:rPr>
              <a:t>4</a:t>
            </a:r>
            <a:endParaRPr lang="tr-TR" sz="2000" dirty="0"/>
          </a:p>
        </p:txBody>
      </p:sp>
      <p:sp>
        <p:nvSpPr>
          <p:cNvPr id="20" name="Shape 18"/>
          <p:cNvSpPr/>
          <p:nvPr/>
        </p:nvSpPr>
        <p:spPr>
          <a:xfrm>
            <a:off x="1463040" y="4297680"/>
            <a:ext cx="10195560" cy="731520"/>
          </a:xfrm>
          <a:prstGeom prst="roundRect">
            <a:avLst>
              <a:gd name="adj" fmla="val 6250"/>
            </a:avLst>
          </a:prstGeom>
          <a:solidFill>
            <a:srgbClr val="F2F2F2"/>
          </a:solidFill>
          <a:ln/>
        </p:spPr>
      </p:sp>
      <p:sp>
        <p:nvSpPr>
          <p:cNvPr id="21" name="Text 19"/>
          <p:cNvSpPr txBox="1"/>
          <p:nvPr/>
        </p:nvSpPr>
        <p:spPr>
          <a:xfrm>
            <a:off x="1737360" y="4297680"/>
            <a:ext cx="9784080" cy="731520"/>
          </a:xfrm>
          <a:prstGeom prst="rect">
            <a:avLst/>
          </a:prstGeom>
          <a:noFill/>
          <a:ln/>
        </p:spPr>
        <p:txBody>
          <a:bodyPr wrap="square" lIns="0" tIns="0" rIns="0" bIns="0" rtlCol="0" anchor="ctr"/>
          <a:lstStyle/>
          <a:p>
            <a:pPr indent="0" marL="0">
              <a:buNone/>
            </a:pPr>
            <a:r>
              <a:rPr lang="tr-TR" sz="1700" b="1" dirty="0">
                <a:solidFill>
                  <a:srgbClr val="36454F"/>
                </a:solidFill>
                <a:latin typeface="Cambria" pitchFamily="34" charset="0"/>
                <a:ea typeface="Cambria" pitchFamily="34" charset="-122"/>
                <a:cs typeface="Cambria" pitchFamily="34" charset="-120"/>
              </a:rPr>
              <a:t>Bağlam değişimi   </a:t>
            </a:r>
            <a:r>
              <a:rPr lang="tr-TR" sz="1500" dirty="0">
                <a:solidFill>
                  <a:srgbClr val="3A464C"/>
                </a:solidFill>
                <a:latin typeface="Calibri" pitchFamily="34" charset="0"/>
                <a:ea typeface="Calibri" pitchFamily="34" charset="-122"/>
                <a:cs typeface="Calibri" pitchFamily="34" charset="-120"/>
              </a:rPr>
              <a:t>Ne kaydedilir, neden saf ek yüktür ve maliyeti ne kadardır?</a:t>
            </a:r>
            <a:endParaRPr lang="tr-TR" sz="1400" dirty="0"/>
          </a:p>
        </p:txBody>
      </p:sp>
      <p:sp>
        <p:nvSpPr>
          <p:cNvPr id="22" name="Shape 20"/>
          <p:cNvSpPr/>
          <p:nvPr/>
        </p:nvSpPr>
        <p:spPr>
          <a:xfrm>
            <a:off x="548640" y="5212080"/>
            <a:ext cx="731520" cy="731520"/>
          </a:xfrm>
          <a:prstGeom prst="roundRect">
            <a:avLst>
              <a:gd name="adj" fmla="val 6250"/>
            </a:avLst>
          </a:prstGeom>
          <a:solidFill>
            <a:srgbClr val="02C39A"/>
          </a:solidFill>
          <a:ln/>
        </p:spPr>
      </p:sp>
      <p:sp>
        <p:nvSpPr>
          <p:cNvPr id="23" name="Text 21"/>
          <p:cNvSpPr txBox="1"/>
          <p:nvPr/>
        </p:nvSpPr>
        <p:spPr>
          <a:xfrm>
            <a:off x="548640" y="5212080"/>
            <a:ext cx="731520" cy="731520"/>
          </a:xfrm>
          <a:prstGeom prst="rect">
            <a:avLst/>
          </a:prstGeom>
          <a:noFill/>
          <a:ln/>
        </p:spPr>
        <p:txBody>
          <a:bodyPr wrap="square" lIns="38100" tIns="38100" rIns="38100" bIns="38100" rtlCol="0" anchor="ctr"/>
          <a:lstStyle/>
          <a:p>
            <a:pPr algn="ctr" indent="0" marL="0">
              <a:buNone/>
            </a:pPr>
            <a:r>
              <a:rPr lang="tr-TR" sz="2000" b="1" dirty="0">
                <a:solidFill>
                  <a:srgbClr val="36454F"/>
                </a:solidFill>
                <a:latin typeface="Cambria" pitchFamily="34" charset="0"/>
                <a:ea typeface="Cambria" pitchFamily="34" charset="-122"/>
                <a:cs typeface="Cambria" pitchFamily="34" charset="-120"/>
              </a:rPr>
              <a:t>5</a:t>
            </a:r>
            <a:endParaRPr lang="tr-TR" sz="2000" dirty="0"/>
          </a:p>
        </p:txBody>
      </p:sp>
      <p:sp>
        <p:nvSpPr>
          <p:cNvPr id="24" name="Shape 22"/>
          <p:cNvSpPr/>
          <p:nvPr/>
        </p:nvSpPr>
        <p:spPr>
          <a:xfrm>
            <a:off x="1463040" y="5212080"/>
            <a:ext cx="10195560" cy="731520"/>
          </a:xfrm>
          <a:prstGeom prst="roundRect">
            <a:avLst>
              <a:gd name="adj" fmla="val 6250"/>
            </a:avLst>
          </a:prstGeom>
          <a:solidFill>
            <a:srgbClr val="F2F2F2"/>
          </a:solidFill>
          <a:ln/>
        </p:spPr>
      </p:sp>
      <p:sp>
        <p:nvSpPr>
          <p:cNvPr id="25" name="Text 23"/>
          <p:cNvSpPr txBox="1"/>
          <p:nvPr/>
        </p:nvSpPr>
        <p:spPr>
          <a:xfrm>
            <a:off x="1737360" y="5212080"/>
            <a:ext cx="9784080" cy="731520"/>
          </a:xfrm>
          <a:prstGeom prst="rect">
            <a:avLst/>
          </a:prstGeom>
          <a:noFill/>
          <a:ln/>
        </p:spPr>
        <p:txBody>
          <a:bodyPr wrap="square" lIns="0" tIns="0" rIns="0" bIns="0" rtlCol="0" anchor="ctr"/>
          <a:lstStyle/>
          <a:p>
            <a:pPr indent="0" marL="0">
              <a:buNone/>
            </a:pPr>
            <a:r>
              <a:rPr lang="tr-TR" sz="1700" b="1" dirty="0">
                <a:solidFill>
                  <a:srgbClr val="36454F"/>
                </a:solidFill>
                <a:latin typeface="Cambria" pitchFamily="34" charset="0"/>
                <a:ea typeface="Cambria" pitchFamily="34" charset="-122"/>
                <a:cs typeface="Cambria" pitchFamily="34" charset="-120"/>
              </a:rPr>
              <a:t>Uygulama   </a:t>
            </a:r>
            <a:r>
              <a:rPr lang="tr-TR" sz="1500" dirty="0">
                <a:solidFill>
                  <a:srgbClr val="3A464C"/>
                </a:solidFill>
                <a:latin typeface="Calibri" pitchFamily="34" charset="0"/>
                <a:ea typeface="Calibri" pitchFamily="34" charset="-122"/>
                <a:cs typeface="Calibri" pitchFamily="34" charset="-120"/>
              </a:rPr>
              <a:t>C programları: çıplak sistem çağrısı, bellek haritası, fork / exec / wait, fork ağaçları.</a:t>
            </a:r>
            <a:endParaRPr lang="tr-T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12121"/>
        </a:solidFill>
      </p:bgPr>
    </p:bg>
    <p:spTree>
      <p:nvGrpSpPr>
        <p:cNvPr id="1" name=""/>
        <p:cNvGrpSpPr/>
        <p:nvPr/>
      </p:nvGrpSpPr>
      <p:grpSpPr>
        <a:xfrm>
          <a:off x="0" y="0"/>
          <a:ext cx="0" cy="0"/>
          <a:chOff x="0" y="0"/>
          <a:chExt cx="0" cy="0"/>
        </a:xfrm>
      </p:grpSpPr>
      <p:sp>
        <p:nvSpPr>
          <p:cNvPr id="2" name="Text 0"/>
          <p:cNvSpPr txBox="1"/>
          <p:nvPr/>
        </p:nvSpPr>
        <p:spPr>
          <a:xfrm>
            <a:off x="548640" y="2514600"/>
            <a:ext cx="9144000" cy="320040"/>
          </a:xfrm>
          <a:prstGeom prst="rect">
            <a:avLst/>
          </a:prstGeom>
          <a:noFill/>
          <a:ln/>
        </p:spPr>
        <p:txBody>
          <a:bodyPr wrap="square" lIns="0" tIns="0" rIns="0" bIns="0" rtlCol="0" anchor="ctr"/>
          <a:lstStyle/>
          <a:p>
            <a:pPr indent="0" marL="0">
              <a:buNone/>
            </a:pPr>
            <a:r>
              <a:rPr lang="tr-TR" sz="1300" b="1" spc="300" kern="0" dirty="0">
                <a:solidFill>
                  <a:srgbClr val="02C39A"/>
                </a:solidFill>
                <a:latin typeface="Calibri" pitchFamily="34" charset="0"/>
                <a:ea typeface="Calibri" pitchFamily="34" charset="-122"/>
                <a:cs typeface="Calibri" pitchFamily="34" charset="-120"/>
              </a:rPr>
              <a:t>BÖLÜM 1</a:t>
            </a:r>
            <a:endParaRPr lang="tr-TR" sz="1300" dirty="0"/>
          </a:p>
        </p:txBody>
      </p:sp>
      <p:sp>
        <p:nvSpPr>
          <p:cNvPr id="3" name="Text 1"/>
          <p:cNvSpPr txBox="1"/>
          <p:nvPr/>
        </p:nvSpPr>
        <p:spPr>
          <a:xfrm>
            <a:off x="548640" y="2880360"/>
            <a:ext cx="10972800" cy="868680"/>
          </a:xfrm>
          <a:prstGeom prst="rect">
            <a:avLst/>
          </a:prstGeom>
          <a:noFill/>
          <a:ln/>
        </p:spPr>
        <p:txBody>
          <a:bodyPr wrap="square" lIns="0" tIns="0" rIns="0" bIns="0" rtlCol="0" anchor="ctr"/>
          <a:lstStyle/>
          <a:p>
            <a:pPr indent="0" marL="0">
              <a:buNone/>
            </a:pPr>
            <a:r>
              <a:rPr lang="tr-TR" sz="3800" b="1" dirty="0">
                <a:solidFill>
                  <a:srgbClr val="FFFFFF"/>
                </a:solidFill>
                <a:latin typeface="Cambria" pitchFamily="34" charset="0"/>
                <a:ea typeface="Cambria" pitchFamily="34" charset="-122"/>
                <a:cs typeface="Cambria" pitchFamily="34" charset="-120"/>
              </a:rPr>
              <a:t>İşletim Sistemi Hizmetleri</a:t>
            </a:r>
            <a:endParaRPr lang="tr-TR" sz="3800" dirty="0"/>
          </a:p>
        </p:txBody>
      </p:sp>
      <p:sp>
        <p:nvSpPr>
          <p:cNvPr id="4" name="Text 2"/>
          <p:cNvSpPr txBox="1"/>
          <p:nvPr/>
        </p:nvSpPr>
        <p:spPr>
          <a:xfrm>
            <a:off x="548640" y="3794760"/>
            <a:ext cx="10515600" cy="457200"/>
          </a:xfrm>
          <a:prstGeom prst="rect">
            <a:avLst/>
          </a:prstGeom>
          <a:noFill/>
          <a:ln/>
        </p:spPr>
        <p:txBody>
          <a:bodyPr wrap="square" lIns="0" tIns="0" rIns="0" bIns="0" rtlCol="0" anchor="ctr"/>
          <a:lstStyle/>
          <a:p>
            <a:pPr indent="0" marL="0">
              <a:buNone/>
            </a:pPr>
            <a:r>
              <a:rPr lang="tr-TR" sz="1600" i="1" dirty="0">
                <a:solidFill>
                  <a:srgbClr val="F2F2F2"/>
                </a:solidFill>
                <a:latin typeface="Calibri" pitchFamily="34" charset="0"/>
                <a:ea typeface="Calibri" pitchFamily="34" charset="-122"/>
                <a:cs typeface="Calibri" pitchFamily="34" charset="-120"/>
              </a:rPr>
              <a:t>İşletim sisteminin size, programlarınıza ve kendisine sağladıkları.</a:t>
            </a:r>
            <a:endParaRPr lang="tr-TR" sz="16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8A9AA0"/>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8A9AA0"/>
                </a:solidFill>
                <a:latin typeface="Calibri" pitchFamily="34" charset="0"/>
                <a:ea typeface="Calibri" pitchFamily="34" charset="-122"/>
                <a:cs typeface="Calibri" pitchFamily="34" charset="-120"/>
              </a:rPr>
              <a:t>Hafta 3  ·  4</a:t>
            </a:r>
            <a:endParaRPr lang="tr-T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HİZMETLER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İşletim Sistemi Hizmetlerine Genel Bakış</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5</a:t>
            </a:r>
            <a:endParaRPr lang="tr-TR" sz="900" dirty="0"/>
          </a:p>
        </p:txBody>
      </p:sp>
      <p:sp>
        <p:nvSpPr>
          <p:cNvPr id="6" name="Shape 4"/>
          <p:cNvSpPr/>
          <p:nvPr/>
        </p:nvSpPr>
        <p:spPr>
          <a:xfrm>
            <a:off x="548640" y="1508760"/>
            <a:ext cx="7040880" cy="457200"/>
          </a:xfrm>
          <a:prstGeom prst="roundRect">
            <a:avLst>
              <a:gd name="adj" fmla="val 10000"/>
            </a:avLst>
          </a:prstGeom>
          <a:solidFill>
            <a:srgbClr val="F2F2F2"/>
          </a:solidFill>
          <a:ln/>
        </p:spPr>
      </p:sp>
      <p:sp>
        <p:nvSpPr>
          <p:cNvPr id="7" name="Text 5"/>
          <p:cNvSpPr txBox="1"/>
          <p:nvPr/>
        </p:nvSpPr>
        <p:spPr>
          <a:xfrm>
            <a:off x="548640" y="1508760"/>
            <a:ext cx="7040880" cy="457200"/>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Kullanıcı ve diğer sistem programları</a:t>
            </a:r>
            <a:endParaRPr lang="tr-TR" sz="1300" dirty="0"/>
          </a:p>
        </p:txBody>
      </p:sp>
      <p:sp>
        <p:nvSpPr>
          <p:cNvPr id="8" name="Shape 6"/>
          <p:cNvSpPr/>
          <p:nvPr/>
        </p:nvSpPr>
        <p:spPr>
          <a:xfrm>
            <a:off x="548640" y="2103120"/>
            <a:ext cx="2286000" cy="457200"/>
          </a:xfrm>
          <a:prstGeom prst="roundRect">
            <a:avLst>
              <a:gd name="adj" fmla="val 10000"/>
            </a:avLst>
          </a:prstGeom>
          <a:solidFill>
            <a:srgbClr val="D7E9E6"/>
          </a:solidFill>
          <a:ln/>
        </p:spPr>
      </p:sp>
      <p:sp>
        <p:nvSpPr>
          <p:cNvPr id="9" name="Text 7"/>
          <p:cNvSpPr txBox="1"/>
          <p:nvPr/>
        </p:nvSpPr>
        <p:spPr>
          <a:xfrm>
            <a:off x="548640" y="2103120"/>
            <a:ext cx="2286000" cy="45720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alibri" pitchFamily="34" charset="0"/>
                <a:ea typeface="Calibri" pitchFamily="34" charset="-122"/>
                <a:cs typeface="Calibri" pitchFamily="34" charset="-120"/>
              </a:rPr>
              <a:t>Grafik arayüz</a:t>
            </a:r>
            <a:endParaRPr lang="tr-TR" sz="1200" dirty="0"/>
          </a:p>
        </p:txBody>
      </p:sp>
      <p:sp>
        <p:nvSpPr>
          <p:cNvPr id="10" name="Shape 8"/>
          <p:cNvSpPr/>
          <p:nvPr/>
        </p:nvSpPr>
        <p:spPr>
          <a:xfrm>
            <a:off x="2926080" y="2103120"/>
            <a:ext cx="2286000" cy="457200"/>
          </a:xfrm>
          <a:prstGeom prst="roundRect">
            <a:avLst>
              <a:gd name="adj" fmla="val 10000"/>
            </a:avLst>
          </a:prstGeom>
          <a:solidFill>
            <a:srgbClr val="D7E9E6"/>
          </a:solidFill>
          <a:ln/>
        </p:spPr>
      </p:sp>
      <p:sp>
        <p:nvSpPr>
          <p:cNvPr id="11" name="Text 9"/>
          <p:cNvSpPr txBox="1"/>
          <p:nvPr/>
        </p:nvSpPr>
        <p:spPr>
          <a:xfrm>
            <a:off x="2926080" y="2103120"/>
            <a:ext cx="2286000" cy="45720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alibri" pitchFamily="34" charset="0"/>
                <a:ea typeface="Calibri" pitchFamily="34" charset="-122"/>
                <a:cs typeface="Calibri" pitchFamily="34" charset="-120"/>
              </a:rPr>
              <a:t>Dokunmatik ekran</a:t>
            </a:r>
            <a:endParaRPr lang="tr-TR" sz="1200" dirty="0"/>
          </a:p>
        </p:txBody>
      </p:sp>
      <p:sp>
        <p:nvSpPr>
          <p:cNvPr id="12" name="Shape 10"/>
          <p:cNvSpPr/>
          <p:nvPr/>
        </p:nvSpPr>
        <p:spPr>
          <a:xfrm>
            <a:off x="5303520" y="2103120"/>
            <a:ext cx="2286000" cy="457200"/>
          </a:xfrm>
          <a:prstGeom prst="roundRect">
            <a:avLst>
              <a:gd name="adj" fmla="val 10000"/>
            </a:avLst>
          </a:prstGeom>
          <a:solidFill>
            <a:srgbClr val="D7E9E6"/>
          </a:solidFill>
          <a:ln/>
        </p:spPr>
      </p:sp>
      <p:sp>
        <p:nvSpPr>
          <p:cNvPr id="13" name="Text 11"/>
          <p:cNvSpPr txBox="1"/>
          <p:nvPr/>
        </p:nvSpPr>
        <p:spPr>
          <a:xfrm>
            <a:off x="5303520" y="2103120"/>
            <a:ext cx="2286000" cy="45720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alibri" pitchFamily="34" charset="0"/>
                <a:ea typeface="Calibri" pitchFamily="34" charset="-122"/>
                <a:cs typeface="Calibri" pitchFamily="34" charset="-120"/>
              </a:rPr>
              <a:t>Komut satırı</a:t>
            </a:r>
            <a:endParaRPr lang="tr-TR" sz="1200" dirty="0"/>
          </a:p>
        </p:txBody>
      </p:sp>
      <p:sp>
        <p:nvSpPr>
          <p:cNvPr id="14" name="Text 12"/>
          <p:cNvSpPr txBox="1"/>
          <p:nvPr/>
        </p:nvSpPr>
        <p:spPr>
          <a:xfrm>
            <a:off x="5349240" y="2578608"/>
            <a:ext cx="2240280" cy="228600"/>
          </a:xfrm>
          <a:prstGeom prst="rect">
            <a:avLst/>
          </a:prstGeom>
          <a:noFill/>
          <a:ln/>
        </p:spPr>
        <p:txBody>
          <a:bodyPr wrap="square" lIns="0" tIns="0" rIns="0" bIns="0" rtlCol="0" anchor="t"/>
          <a:lstStyle/>
          <a:p>
            <a:pPr algn="r" indent="0" marL="0">
              <a:buNone/>
            </a:pPr>
            <a:r>
              <a:rPr lang="tr-TR" sz="1000" i="1" dirty="0">
                <a:solidFill>
                  <a:srgbClr val="6B7679"/>
                </a:solidFill>
                <a:latin typeface="Calibri" pitchFamily="34" charset="0"/>
                <a:ea typeface="Calibri" pitchFamily="34" charset="-122"/>
                <a:cs typeface="Calibri" pitchFamily="34" charset="-120"/>
              </a:rPr>
              <a:t>kullanıcı arayüzleri</a:t>
            </a:r>
            <a:endParaRPr lang="tr-TR" sz="1000" dirty="0"/>
          </a:p>
        </p:txBody>
      </p:sp>
      <p:sp>
        <p:nvSpPr>
          <p:cNvPr id="15" name="Shape 13"/>
          <p:cNvSpPr/>
          <p:nvPr/>
        </p:nvSpPr>
        <p:spPr>
          <a:xfrm>
            <a:off x="548640" y="2852928"/>
            <a:ext cx="7040880" cy="411480"/>
          </a:xfrm>
          <a:prstGeom prst="roundRect">
            <a:avLst>
              <a:gd name="adj" fmla="val 11111"/>
            </a:avLst>
          </a:prstGeom>
          <a:solidFill>
            <a:srgbClr val="50808E"/>
          </a:solidFill>
          <a:ln/>
        </p:spPr>
      </p:sp>
      <p:sp>
        <p:nvSpPr>
          <p:cNvPr id="16" name="Text 14"/>
          <p:cNvSpPr txBox="1"/>
          <p:nvPr/>
        </p:nvSpPr>
        <p:spPr>
          <a:xfrm>
            <a:off x="548640" y="2852928"/>
            <a:ext cx="7040880" cy="411480"/>
          </a:xfrm>
          <a:prstGeom prst="rect">
            <a:avLst/>
          </a:prstGeom>
          <a:noFill/>
          <a:ln/>
        </p:spPr>
        <p:txBody>
          <a:bodyPr wrap="square" lIns="38100" tIns="38100" rIns="38100" bIns="38100" rtlCol="0" anchor="ctr"/>
          <a:lstStyle/>
          <a:p>
            <a:pPr algn="ctr" indent="0" marL="0">
              <a:buNone/>
            </a:pPr>
            <a:r>
              <a:rPr lang="tr-TR" sz="1300" b="1" dirty="0">
                <a:solidFill>
                  <a:srgbClr val="FFFFFF"/>
                </a:solidFill>
                <a:latin typeface="Calibri" pitchFamily="34" charset="0"/>
                <a:ea typeface="Calibri" pitchFamily="34" charset="-122"/>
                <a:cs typeface="Calibri" pitchFamily="34" charset="-120"/>
              </a:rPr>
              <a:t>Sistem çağrıları</a:t>
            </a:r>
            <a:endParaRPr lang="tr-TR" sz="1300" dirty="0"/>
          </a:p>
        </p:txBody>
      </p:sp>
      <p:sp>
        <p:nvSpPr>
          <p:cNvPr id="17" name="Shape 15"/>
          <p:cNvSpPr/>
          <p:nvPr/>
        </p:nvSpPr>
        <p:spPr>
          <a:xfrm>
            <a:off x="548640" y="3401568"/>
            <a:ext cx="7040880" cy="2240280"/>
          </a:xfrm>
          <a:prstGeom prst="roundRect">
            <a:avLst>
              <a:gd name="adj" fmla="val 2041"/>
            </a:avLst>
          </a:prstGeom>
          <a:solidFill>
            <a:srgbClr val="36454F"/>
          </a:solidFill>
          <a:ln/>
        </p:spPr>
      </p:sp>
      <p:sp>
        <p:nvSpPr>
          <p:cNvPr id="18" name="Text 16"/>
          <p:cNvSpPr txBox="1"/>
          <p:nvPr/>
        </p:nvSpPr>
        <p:spPr>
          <a:xfrm>
            <a:off x="731520" y="3474720"/>
            <a:ext cx="3657600" cy="274320"/>
          </a:xfrm>
          <a:prstGeom prst="rect">
            <a:avLst/>
          </a:prstGeom>
          <a:noFill/>
          <a:ln/>
        </p:spPr>
        <p:txBody>
          <a:bodyPr wrap="square" lIns="0" tIns="0" rIns="0" bIns="0" rtlCol="0" anchor="t"/>
          <a:lstStyle/>
          <a:p>
            <a:pPr indent="0" marL="0">
              <a:buNone/>
            </a:pPr>
            <a:r>
              <a:rPr lang="tr-TR" sz="1100" b="1" dirty="0">
                <a:solidFill>
                  <a:srgbClr val="02C39A"/>
                </a:solidFill>
                <a:latin typeface="Calibri" pitchFamily="34" charset="0"/>
                <a:ea typeface="Calibri" pitchFamily="34" charset="-122"/>
                <a:cs typeface="Calibri" pitchFamily="34" charset="-120"/>
              </a:rPr>
              <a:t>İŞLETİM SİSTEMİ</a:t>
            </a:r>
            <a:endParaRPr lang="tr-TR" sz="1100" dirty="0"/>
          </a:p>
        </p:txBody>
      </p:sp>
      <p:sp>
        <p:nvSpPr>
          <p:cNvPr id="19" name="Shape 17"/>
          <p:cNvSpPr/>
          <p:nvPr/>
        </p:nvSpPr>
        <p:spPr>
          <a:xfrm>
            <a:off x="731520" y="3794760"/>
            <a:ext cx="1247242" cy="731520"/>
          </a:xfrm>
          <a:prstGeom prst="roundRect">
            <a:avLst>
              <a:gd name="adj" fmla="val 6250"/>
            </a:avLst>
          </a:prstGeom>
          <a:solidFill>
            <a:srgbClr val="02C39A"/>
          </a:solidFill>
          <a:ln/>
        </p:spPr>
      </p:sp>
      <p:sp>
        <p:nvSpPr>
          <p:cNvPr id="20" name="Text 18"/>
          <p:cNvSpPr txBox="1"/>
          <p:nvPr/>
        </p:nvSpPr>
        <p:spPr>
          <a:xfrm>
            <a:off x="731520" y="3794760"/>
            <a:ext cx="1247242" cy="73152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Program yürütme</a:t>
            </a:r>
            <a:endParaRPr lang="tr-TR" sz="1200" dirty="0"/>
          </a:p>
        </p:txBody>
      </p:sp>
      <p:sp>
        <p:nvSpPr>
          <p:cNvPr id="21" name="Shape 19"/>
          <p:cNvSpPr/>
          <p:nvPr/>
        </p:nvSpPr>
        <p:spPr>
          <a:xfrm>
            <a:off x="2088490" y="3794760"/>
            <a:ext cx="1247242" cy="731520"/>
          </a:xfrm>
          <a:prstGeom prst="roundRect">
            <a:avLst>
              <a:gd name="adj" fmla="val 6250"/>
            </a:avLst>
          </a:prstGeom>
          <a:solidFill>
            <a:srgbClr val="02C39A"/>
          </a:solidFill>
          <a:ln/>
        </p:spPr>
      </p:sp>
      <p:sp>
        <p:nvSpPr>
          <p:cNvPr id="22" name="Text 20"/>
          <p:cNvSpPr txBox="1"/>
          <p:nvPr/>
        </p:nvSpPr>
        <p:spPr>
          <a:xfrm>
            <a:off x="2088490" y="3794760"/>
            <a:ext cx="1247242" cy="73152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G/Ç işlemleri</a:t>
            </a:r>
            <a:endParaRPr lang="tr-TR" sz="1200" dirty="0"/>
          </a:p>
        </p:txBody>
      </p:sp>
      <p:sp>
        <p:nvSpPr>
          <p:cNvPr id="23" name="Shape 21"/>
          <p:cNvSpPr/>
          <p:nvPr/>
        </p:nvSpPr>
        <p:spPr>
          <a:xfrm>
            <a:off x="3445459" y="3794760"/>
            <a:ext cx="1247242" cy="731520"/>
          </a:xfrm>
          <a:prstGeom prst="roundRect">
            <a:avLst>
              <a:gd name="adj" fmla="val 6250"/>
            </a:avLst>
          </a:prstGeom>
          <a:solidFill>
            <a:srgbClr val="02C39A"/>
          </a:solidFill>
          <a:ln/>
        </p:spPr>
      </p:sp>
      <p:sp>
        <p:nvSpPr>
          <p:cNvPr id="24" name="Text 22"/>
          <p:cNvSpPr txBox="1"/>
          <p:nvPr/>
        </p:nvSpPr>
        <p:spPr>
          <a:xfrm>
            <a:off x="3445459" y="3794760"/>
            <a:ext cx="1247242" cy="73152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Dosya sistemleri</a:t>
            </a:r>
            <a:endParaRPr lang="tr-TR" sz="1200" dirty="0"/>
          </a:p>
        </p:txBody>
      </p:sp>
      <p:sp>
        <p:nvSpPr>
          <p:cNvPr id="25" name="Shape 23"/>
          <p:cNvSpPr/>
          <p:nvPr/>
        </p:nvSpPr>
        <p:spPr>
          <a:xfrm>
            <a:off x="4802429" y="3794760"/>
            <a:ext cx="1247242" cy="731520"/>
          </a:xfrm>
          <a:prstGeom prst="roundRect">
            <a:avLst>
              <a:gd name="adj" fmla="val 6250"/>
            </a:avLst>
          </a:prstGeom>
          <a:solidFill>
            <a:srgbClr val="02C39A"/>
          </a:solidFill>
          <a:ln/>
        </p:spPr>
      </p:sp>
      <p:sp>
        <p:nvSpPr>
          <p:cNvPr id="26" name="Text 24"/>
          <p:cNvSpPr txBox="1"/>
          <p:nvPr/>
        </p:nvSpPr>
        <p:spPr>
          <a:xfrm>
            <a:off x="4802429" y="3794760"/>
            <a:ext cx="1247242" cy="73152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İletişim</a:t>
            </a:r>
            <a:endParaRPr lang="tr-TR" sz="1200" dirty="0"/>
          </a:p>
        </p:txBody>
      </p:sp>
      <p:sp>
        <p:nvSpPr>
          <p:cNvPr id="27" name="Shape 25"/>
          <p:cNvSpPr/>
          <p:nvPr/>
        </p:nvSpPr>
        <p:spPr>
          <a:xfrm>
            <a:off x="6159398" y="3794760"/>
            <a:ext cx="1247242" cy="731520"/>
          </a:xfrm>
          <a:prstGeom prst="roundRect">
            <a:avLst>
              <a:gd name="adj" fmla="val 6250"/>
            </a:avLst>
          </a:prstGeom>
          <a:solidFill>
            <a:srgbClr val="02C39A"/>
          </a:solidFill>
          <a:ln/>
        </p:spPr>
      </p:sp>
      <p:sp>
        <p:nvSpPr>
          <p:cNvPr id="28" name="Text 26"/>
          <p:cNvSpPr txBox="1"/>
          <p:nvPr/>
        </p:nvSpPr>
        <p:spPr>
          <a:xfrm>
            <a:off x="6159398" y="3794760"/>
            <a:ext cx="1247242" cy="73152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Hata algılama</a:t>
            </a:r>
            <a:endParaRPr lang="tr-TR" sz="1200" dirty="0"/>
          </a:p>
        </p:txBody>
      </p:sp>
      <p:sp>
        <p:nvSpPr>
          <p:cNvPr id="29" name="Shape 27"/>
          <p:cNvSpPr/>
          <p:nvPr/>
        </p:nvSpPr>
        <p:spPr>
          <a:xfrm>
            <a:off x="731520" y="4663440"/>
            <a:ext cx="2151888" cy="731520"/>
          </a:xfrm>
          <a:prstGeom prst="roundRect">
            <a:avLst>
              <a:gd name="adj" fmla="val 6250"/>
            </a:avLst>
          </a:prstGeom>
          <a:solidFill>
            <a:srgbClr val="50808E"/>
          </a:solidFill>
          <a:ln/>
        </p:spPr>
      </p:sp>
      <p:sp>
        <p:nvSpPr>
          <p:cNvPr id="30" name="Text 28"/>
          <p:cNvSpPr txBox="1"/>
          <p:nvPr/>
        </p:nvSpPr>
        <p:spPr>
          <a:xfrm>
            <a:off x="731520" y="4663440"/>
            <a:ext cx="2151888" cy="73152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alibri" pitchFamily="34" charset="0"/>
                <a:ea typeface="Calibri" pitchFamily="34" charset="-122"/>
                <a:cs typeface="Calibri" pitchFamily="34" charset="-120"/>
              </a:rPr>
              <a:t>Kaynak tahsisi</a:t>
            </a:r>
            <a:endParaRPr lang="tr-TR" sz="1200" dirty="0"/>
          </a:p>
        </p:txBody>
      </p:sp>
      <p:sp>
        <p:nvSpPr>
          <p:cNvPr id="31" name="Shape 29"/>
          <p:cNvSpPr/>
          <p:nvPr/>
        </p:nvSpPr>
        <p:spPr>
          <a:xfrm>
            <a:off x="2993136" y="4663440"/>
            <a:ext cx="2151888" cy="731520"/>
          </a:xfrm>
          <a:prstGeom prst="roundRect">
            <a:avLst>
              <a:gd name="adj" fmla="val 6250"/>
            </a:avLst>
          </a:prstGeom>
          <a:solidFill>
            <a:srgbClr val="50808E"/>
          </a:solidFill>
          <a:ln/>
        </p:spPr>
      </p:sp>
      <p:sp>
        <p:nvSpPr>
          <p:cNvPr id="32" name="Text 30"/>
          <p:cNvSpPr txBox="1"/>
          <p:nvPr/>
        </p:nvSpPr>
        <p:spPr>
          <a:xfrm>
            <a:off x="2993136" y="4663440"/>
            <a:ext cx="2151888" cy="73152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alibri" pitchFamily="34" charset="0"/>
                <a:ea typeface="Calibri" pitchFamily="34" charset="-122"/>
                <a:cs typeface="Calibri" pitchFamily="34" charset="-120"/>
              </a:rPr>
              <a:t>Hesap tutma</a:t>
            </a:r>
            <a:endParaRPr lang="tr-TR" sz="1200" dirty="0"/>
          </a:p>
        </p:txBody>
      </p:sp>
      <p:sp>
        <p:nvSpPr>
          <p:cNvPr id="33" name="Shape 31"/>
          <p:cNvSpPr/>
          <p:nvPr/>
        </p:nvSpPr>
        <p:spPr>
          <a:xfrm>
            <a:off x="5254752" y="4663440"/>
            <a:ext cx="2151888" cy="731520"/>
          </a:xfrm>
          <a:prstGeom prst="roundRect">
            <a:avLst>
              <a:gd name="adj" fmla="val 6250"/>
            </a:avLst>
          </a:prstGeom>
          <a:solidFill>
            <a:srgbClr val="50808E"/>
          </a:solidFill>
          <a:ln/>
        </p:spPr>
      </p:sp>
      <p:sp>
        <p:nvSpPr>
          <p:cNvPr id="34" name="Text 32"/>
          <p:cNvSpPr txBox="1"/>
          <p:nvPr/>
        </p:nvSpPr>
        <p:spPr>
          <a:xfrm>
            <a:off x="5254752" y="4663440"/>
            <a:ext cx="2151888" cy="73152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alibri" pitchFamily="34" charset="0"/>
                <a:ea typeface="Calibri" pitchFamily="34" charset="-122"/>
                <a:cs typeface="Calibri" pitchFamily="34" charset="-120"/>
              </a:rPr>
              <a:t>Koruma ve güvenlik</a:t>
            </a:r>
            <a:endParaRPr lang="tr-TR" sz="1200" dirty="0"/>
          </a:p>
        </p:txBody>
      </p:sp>
      <p:sp>
        <p:nvSpPr>
          <p:cNvPr id="35" name="Shape 33"/>
          <p:cNvSpPr/>
          <p:nvPr/>
        </p:nvSpPr>
        <p:spPr>
          <a:xfrm>
            <a:off x="548640" y="5760720"/>
            <a:ext cx="7040880" cy="457200"/>
          </a:xfrm>
          <a:prstGeom prst="roundRect">
            <a:avLst>
              <a:gd name="adj" fmla="val 10000"/>
            </a:avLst>
          </a:prstGeom>
          <a:solidFill>
            <a:srgbClr val="212121"/>
          </a:solidFill>
          <a:ln/>
        </p:spPr>
      </p:sp>
      <p:sp>
        <p:nvSpPr>
          <p:cNvPr id="36" name="Text 34"/>
          <p:cNvSpPr txBox="1"/>
          <p:nvPr/>
        </p:nvSpPr>
        <p:spPr>
          <a:xfrm>
            <a:off x="548640" y="5760720"/>
            <a:ext cx="7040880" cy="457200"/>
          </a:xfrm>
          <a:prstGeom prst="rect">
            <a:avLst/>
          </a:prstGeom>
          <a:noFill/>
          <a:ln/>
        </p:spPr>
        <p:txBody>
          <a:bodyPr wrap="square" lIns="38100" tIns="38100" rIns="38100" bIns="38100" rtlCol="0" anchor="ctr"/>
          <a:lstStyle/>
          <a:p>
            <a:pPr algn="ctr" indent="0" marL="0">
              <a:buNone/>
            </a:pPr>
            <a:r>
              <a:rPr lang="tr-TR" sz="1300" b="1" dirty="0">
                <a:solidFill>
                  <a:srgbClr val="FFFFFF"/>
                </a:solidFill>
                <a:latin typeface="Calibri" pitchFamily="34" charset="0"/>
                <a:ea typeface="Calibri" pitchFamily="34" charset="-122"/>
                <a:cs typeface="Calibri" pitchFamily="34" charset="-120"/>
              </a:rPr>
              <a:t>Donanım</a:t>
            </a:r>
            <a:endParaRPr lang="tr-TR" sz="1300" dirty="0"/>
          </a:p>
        </p:txBody>
      </p:sp>
      <p:sp>
        <p:nvSpPr>
          <p:cNvPr id="37" name="Shape 35"/>
          <p:cNvSpPr/>
          <p:nvPr/>
        </p:nvSpPr>
        <p:spPr>
          <a:xfrm>
            <a:off x="7863840" y="1508760"/>
            <a:ext cx="3794760" cy="4709160"/>
          </a:xfrm>
          <a:prstGeom prst="roundRect">
            <a:avLst>
              <a:gd name="adj" fmla="val 1446"/>
            </a:avLst>
          </a:prstGeom>
          <a:solidFill>
            <a:srgbClr val="F2F2F2"/>
          </a:solidFill>
          <a:ln/>
          <a:effectLst>
            <a:outerShdw sx="100000" sy="100000" kx="0" ky="0" algn="bl" rotWithShape="0" blurRad="101600" dist="25400" dir="5400000">
              <a:srgbClr val="000000">
                <a:alpha val="12000"/>
              </a:srgbClr>
            </a:outerShdw>
          </a:effectLst>
        </p:spPr>
      </p:sp>
      <p:sp>
        <p:nvSpPr>
          <p:cNvPr id="38" name="Text 36"/>
          <p:cNvSpPr txBox="1"/>
          <p:nvPr/>
        </p:nvSpPr>
        <p:spPr>
          <a:xfrm>
            <a:off x="8092440" y="1691640"/>
            <a:ext cx="33375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İki grup</a:t>
            </a:r>
            <a:endParaRPr lang="tr-TR" sz="1500" dirty="0"/>
          </a:p>
        </p:txBody>
      </p:sp>
      <p:sp>
        <p:nvSpPr>
          <p:cNvPr id="39" name="Text 37"/>
          <p:cNvSpPr txBox="1"/>
          <p:nvPr/>
        </p:nvSpPr>
        <p:spPr>
          <a:xfrm>
            <a:off x="8092440" y="2148840"/>
            <a:ext cx="3337560" cy="3931920"/>
          </a:xfrm>
          <a:prstGeom prst="rect">
            <a:avLst/>
          </a:prstGeom>
          <a:noFill/>
          <a:ln/>
        </p:spPr>
        <p:txBody>
          <a:bodyPr wrap="square" lIns="0" tIns="0" rIns="0" bIns="0" rtlCol="0" anchor="t"/>
          <a:lstStyle/>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Nane yeşili sıra:</a:t>
            </a:r>
            <a:r>
              <a:rPr lang="tr-TR" sz="1400" dirty="0">
                <a:solidFill>
                  <a:srgbClr val="3A464C"/>
                </a:solidFill>
                <a:latin typeface="Calibri" pitchFamily="34" charset="0"/>
                <a:ea typeface="Calibri" pitchFamily="34" charset="-122"/>
                <a:cs typeface="Calibri" pitchFamily="34" charset="-120"/>
              </a:rPr>
              <a:t> kullanıcının ve programlarının işini görmesine yardım eden hizmetler.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Gri sıra:</a:t>
            </a:r>
            <a:r>
              <a:rPr lang="tr-TR" sz="1400" dirty="0">
                <a:solidFill>
                  <a:srgbClr val="3A464C"/>
                </a:solidFill>
                <a:latin typeface="Calibri" pitchFamily="34" charset="0"/>
                <a:ea typeface="Calibri" pitchFamily="34" charset="-122"/>
                <a:cs typeface="Calibri" pitchFamily="34" charset="-120"/>
              </a:rPr>
              <a:t> birçok kullanıcı ve program sistemi paylaşırken sistemin kendisini verimli ve güvenli tutan hizmetler.</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Programlar her hizmete aynı kapıdan ulaşır: sistem çağrıları.</a:t>
            </a:r>
            <a:endParaRPr lang="tr-T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HİZMETLER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Kullanıcıya Yardım Eden Hizmetler</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6</a:t>
            </a:r>
            <a:endParaRPr lang="tr-TR" sz="900" dirty="0"/>
          </a:p>
        </p:txBody>
      </p:sp>
      <p:sp>
        <p:nvSpPr>
          <p:cNvPr id="6" name="Shape 4"/>
          <p:cNvSpPr/>
          <p:nvPr/>
        </p:nvSpPr>
        <p:spPr>
          <a:xfrm>
            <a:off x="548640" y="1508760"/>
            <a:ext cx="3550920" cy="2263140"/>
          </a:xfrm>
          <a:prstGeom prst="roundRect">
            <a:avLst>
              <a:gd name="adj" fmla="val 2424"/>
            </a:avLst>
          </a:prstGeom>
          <a:solidFill>
            <a:srgbClr val="F2F2F2"/>
          </a:solidFill>
          <a:ln/>
          <a:effectLst>
            <a:outerShdw sx="100000" sy="100000" kx="0" ky="0" algn="bl" rotWithShape="0" blurRad="101600" dist="25400" dir="5400000">
              <a:srgbClr val="000000">
                <a:alpha val="12000"/>
              </a:srgbClr>
            </a:outerShdw>
          </a:effectLst>
        </p:spPr>
      </p:sp>
      <p:sp>
        <p:nvSpPr>
          <p:cNvPr id="7" name="Text 5"/>
          <p:cNvSpPr txBox="1"/>
          <p:nvPr/>
        </p:nvSpPr>
        <p:spPr>
          <a:xfrm>
            <a:off x="777240" y="169164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Kullanıcı arayüzü</a:t>
            </a:r>
            <a:endParaRPr lang="tr-TR" sz="1600" dirty="0"/>
          </a:p>
        </p:txBody>
      </p:sp>
      <p:sp>
        <p:nvSpPr>
          <p:cNvPr id="8" name="Text 6"/>
          <p:cNvSpPr txBox="1"/>
          <p:nvPr/>
        </p:nvSpPr>
        <p:spPr>
          <a:xfrm>
            <a:off x="777240" y="2148840"/>
            <a:ext cx="3093720" cy="148590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Komut satırı (bash, PowerShell), grafik masaüstü, dokunmatik ekran ya da komutlardan oluşan bir toplu iş dosyası.</a:t>
            </a:r>
            <a:endParaRPr lang="tr-TR" sz="1400" dirty="0"/>
          </a:p>
        </p:txBody>
      </p:sp>
      <p:sp>
        <p:nvSpPr>
          <p:cNvPr id="9" name="Shape 7"/>
          <p:cNvSpPr/>
          <p:nvPr/>
        </p:nvSpPr>
        <p:spPr>
          <a:xfrm>
            <a:off x="4328160" y="1508760"/>
            <a:ext cx="3550920" cy="2263140"/>
          </a:xfrm>
          <a:prstGeom prst="roundRect">
            <a:avLst>
              <a:gd name="adj" fmla="val 2424"/>
            </a:avLst>
          </a:prstGeom>
          <a:solidFill>
            <a:srgbClr val="F2F2F2"/>
          </a:solidFill>
          <a:ln/>
          <a:effectLst>
            <a:outerShdw sx="100000" sy="100000" kx="0" ky="0" algn="bl" rotWithShape="0" blurRad="101600" dist="25400" dir="5400000">
              <a:srgbClr val="000000">
                <a:alpha val="12000"/>
              </a:srgbClr>
            </a:outerShdw>
          </a:effectLst>
        </p:spPr>
      </p:sp>
      <p:sp>
        <p:nvSpPr>
          <p:cNvPr id="10" name="Text 8"/>
          <p:cNvSpPr txBox="1"/>
          <p:nvPr/>
        </p:nvSpPr>
        <p:spPr>
          <a:xfrm>
            <a:off x="4556760" y="169164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Program yürütme</a:t>
            </a:r>
            <a:endParaRPr lang="tr-TR" sz="1600" dirty="0"/>
          </a:p>
        </p:txBody>
      </p:sp>
      <p:sp>
        <p:nvSpPr>
          <p:cNvPr id="11" name="Text 9"/>
          <p:cNvSpPr txBox="1"/>
          <p:nvPr/>
        </p:nvSpPr>
        <p:spPr>
          <a:xfrm>
            <a:off x="4556760" y="2148840"/>
            <a:ext cx="3093720" cy="148590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Bir programı belleğe yüklemek, çalıştırmak ve sonlandırmak: normal biçimde ya da bir hata koduyla.</a:t>
            </a:r>
            <a:endParaRPr lang="tr-TR" sz="1400" dirty="0"/>
          </a:p>
        </p:txBody>
      </p:sp>
      <p:sp>
        <p:nvSpPr>
          <p:cNvPr id="12" name="Shape 10"/>
          <p:cNvSpPr/>
          <p:nvPr/>
        </p:nvSpPr>
        <p:spPr>
          <a:xfrm>
            <a:off x="8107680" y="1508760"/>
            <a:ext cx="3550920" cy="2263140"/>
          </a:xfrm>
          <a:prstGeom prst="roundRect">
            <a:avLst>
              <a:gd name="adj" fmla="val 2424"/>
            </a:avLst>
          </a:prstGeom>
          <a:solidFill>
            <a:srgbClr val="F2F2F2"/>
          </a:solidFill>
          <a:ln/>
          <a:effectLst>
            <a:outerShdw sx="100000" sy="100000" kx="0" ky="0" algn="bl" rotWithShape="0" blurRad="101600" dist="25400" dir="5400000">
              <a:srgbClr val="000000">
                <a:alpha val="12000"/>
              </a:srgbClr>
            </a:outerShdw>
          </a:effectLst>
        </p:spPr>
      </p:sp>
      <p:sp>
        <p:nvSpPr>
          <p:cNvPr id="13" name="Text 11"/>
          <p:cNvSpPr txBox="1"/>
          <p:nvPr/>
        </p:nvSpPr>
        <p:spPr>
          <a:xfrm>
            <a:off x="8336280" y="169164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G/Ç işlemleri (I/O)</a:t>
            </a:r>
            <a:endParaRPr lang="tr-TR" sz="1600" dirty="0"/>
          </a:p>
        </p:txBody>
      </p:sp>
      <p:sp>
        <p:nvSpPr>
          <p:cNvPr id="14" name="Text 12"/>
          <p:cNvSpPr txBox="1"/>
          <p:nvPr/>
        </p:nvSpPr>
        <p:spPr>
          <a:xfrm>
            <a:off x="8336280" y="2148840"/>
            <a:ext cx="3093720" cy="148590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Programlar aygıtları asla doğrudan sürmez; G/Ç'yi onlar adına işletim sistemi yapar (2. hafta: ikili mod).</a:t>
            </a:r>
            <a:endParaRPr lang="tr-TR" sz="1400" dirty="0"/>
          </a:p>
        </p:txBody>
      </p:sp>
      <p:sp>
        <p:nvSpPr>
          <p:cNvPr id="15" name="Shape 13"/>
          <p:cNvSpPr/>
          <p:nvPr/>
        </p:nvSpPr>
        <p:spPr>
          <a:xfrm>
            <a:off x="548640" y="4000500"/>
            <a:ext cx="3550920" cy="2263140"/>
          </a:xfrm>
          <a:prstGeom prst="roundRect">
            <a:avLst>
              <a:gd name="adj" fmla="val 2424"/>
            </a:avLst>
          </a:prstGeom>
          <a:solidFill>
            <a:srgbClr val="F2F2F2"/>
          </a:solidFill>
          <a:ln/>
          <a:effectLst>
            <a:outerShdw sx="100000" sy="100000" kx="0" ky="0" algn="bl" rotWithShape="0" blurRad="101600" dist="25400" dir="5400000">
              <a:srgbClr val="000000">
                <a:alpha val="12000"/>
              </a:srgbClr>
            </a:outerShdw>
          </a:effectLst>
        </p:spPr>
      </p:sp>
      <p:sp>
        <p:nvSpPr>
          <p:cNvPr id="16" name="Text 14"/>
          <p:cNvSpPr txBox="1"/>
          <p:nvPr/>
        </p:nvSpPr>
        <p:spPr>
          <a:xfrm>
            <a:off x="777240" y="418338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Dosya sistemi işlemleri</a:t>
            </a:r>
            <a:endParaRPr lang="tr-TR" sz="1600" dirty="0"/>
          </a:p>
        </p:txBody>
      </p:sp>
      <p:sp>
        <p:nvSpPr>
          <p:cNvPr id="17" name="Text 15"/>
          <p:cNvSpPr txBox="1"/>
          <p:nvPr/>
        </p:nvSpPr>
        <p:spPr>
          <a:xfrm>
            <a:off x="777240" y="4640580"/>
            <a:ext cx="3093720" cy="148590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Dosya ve dizin oluşturmak, silmek, okumak, yazmak, aramak; izinleri yönetmek.</a:t>
            </a:r>
            <a:endParaRPr lang="tr-TR" sz="1400" dirty="0"/>
          </a:p>
        </p:txBody>
      </p:sp>
      <p:sp>
        <p:nvSpPr>
          <p:cNvPr id="18" name="Shape 16"/>
          <p:cNvSpPr/>
          <p:nvPr/>
        </p:nvSpPr>
        <p:spPr>
          <a:xfrm>
            <a:off x="4328160" y="4000500"/>
            <a:ext cx="3550920" cy="2263140"/>
          </a:xfrm>
          <a:prstGeom prst="roundRect">
            <a:avLst>
              <a:gd name="adj" fmla="val 2424"/>
            </a:avLst>
          </a:prstGeom>
          <a:solidFill>
            <a:srgbClr val="F2F2F2"/>
          </a:solidFill>
          <a:ln/>
          <a:effectLst>
            <a:outerShdw sx="100000" sy="100000" kx="0" ky="0" algn="bl" rotWithShape="0" blurRad="101600" dist="25400" dir="5400000">
              <a:srgbClr val="000000">
                <a:alpha val="12000"/>
              </a:srgbClr>
            </a:outerShdw>
          </a:effectLst>
        </p:spPr>
      </p:sp>
      <p:sp>
        <p:nvSpPr>
          <p:cNvPr id="19" name="Text 17"/>
          <p:cNvSpPr txBox="1"/>
          <p:nvPr/>
        </p:nvSpPr>
        <p:spPr>
          <a:xfrm>
            <a:off x="4556760" y="418338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İletişim</a:t>
            </a:r>
            <a:endParaRPr lang="tr-TR" sz="1600" dirty="0"/>
          </a:p>
        </p:txBody>
      </p:sp>
      <p:sp>
        <p:nvSpPr>
          <p:cNvPr id="20" name="Text 18"/>
          <p:cNvSpPr txBox="1"/>
          <p:nvPr/>
        </p:nvSpPr>
        <p:spPr>
          <a:xfrm>
            <a:off x="4556760" y="4640580"/>
            <a:ext cx="3093720" cy="148590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Süreçler arasında veri alışverişi: aynı bilgisayarda (boru, paylaşımlı bellek) ya da ağ üzerinden (soket).</a:t>
            </a:r>
            <a:endParaRPr lang="tr-TR" sz="1400" dirty="0"/>
          </a:p>
        </p:txBody>
      </p:sp>
      <p:sp>
        <p:nvSpPr>
          <p:cNvPr id="21" name="Shape 19"/>
          <p:cNvSpPr/>
          <p:nvPr/>
        </p:nvSpPr>
        <p:spPr>
          <a:xfrm>
            <a:off x="8107680" y="4000500"/>
            <a:ext cx="3550920" cy="2263140"/>
          </a:xfrm>
          <a:prstGeom prst="roundRect">
            <a:avLst>
              <a:gd name="adj" fmla="val 2424"/>
            </a:avLst>
          </a:prstGeom>
          <a:solidFill>
            <a:srgbClr val="F2F2F2"/>
          </a:solidFill>
          <a:ln/>
          <a:effectLst>
            <a:outerShdw sx="100000" sy="100000" kx="0" ky="0" algn="bl" rotWithShape="0" blurRad="101600" dist="25400" dir="5400000">
              <a:srgbClr val="000000">
                <a:alpha val="12000"/>
              </a:srgbClr>
            </a:outerShdw>
          </a:effectLst>
        </p:spPr>
      </p:sp>
      <p:sp>
        <p:nvSpPr>
          <p:cNvPr id="22" name="Text 20"/>
          <p:cNvSpPr txBox="1"/>
          <p:nvPr/>
        </p:nvSpPr>
        <p:spPr>
          <a:xfrm>
            <a:off x="8336280" y="418338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Hata algılama</a:t>
            </a:r>
            <a:endParaRPr lang="tr-TR" sz="1600" dirty="0"/>
          </a:p>
        </p:txBody>
      </p:sp>
      <p:sp>
        <p:nvSpPr>
          <p:cNvPr id="23" name="Text 21"/>
          <p:cNvSpPr txBox="1"/>
          <p:nvPr/>
        </p:nvSpPr>
        <p:spPr>
          <a:xfrm>
            <a:off x="8336280" y="4640580"/>
            <a:ext cx="3093720" cy="148590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Hataları fark edip ele almak: bir disk okuması başarısız olur, yazıcının kâğıdı biter, bir program sıfıra böler.</a:t>
            </a:r>
            <a:endParaRPr lang="tr-T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HİZMETLER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Sistemin İyi Çalışmasını Sağlayan Hizmetler</a:t>
            </a:r>
            <a:endParaRPr lang="tr-TR" sz="3000" dirty="0"/>
          </a:p>
        </p:txBody>
      </p:sp>
      <p:sp>
        <p:nvSpPr>
          <p:cNvPr id="4" name="Text 2"/>
          <p:cNvSpPr txBox="1"/>
          <p:nvPr/>
        </p:nvSpPr>
        <p:spPr>
          <a:xfrm>
            <a:off x="548640" y="1417320"/>
            <a:ext cx="11064240" cy="502920"/>
          </a:xfrm>
          <a:prstGeom prst="rect">
            <a:avLst/>
          </a:prstGeom>
          <a:noFill/>
          <a:ln/>
        </p:spPr>
        <p:txBody>
          <a:bodyPr wrap="square" lIns="0" tIns="0" rIns="0" bIns="0" rtlCol="0" anchor="t"/>
          <a:lstStyle/>
          <a:p>
            <a:pPr indent="0" marL="0">
              <a:buNone/>
            </a:pPr>
            <a:r>
              <a:rPr lang="tr-TR" sz="1500" dirty="0">
                <a:solidFill>
                  <a:srgbClr val="3A464C"/>
                </a:solidFill>
                <a:latin typeface="Calibri" pitchFamily="34" charset="0"/>
                <a:ea typeface="Calibri" pitchFamily="34" charset="-122"/>
                <a:cs typeface="Calibri" pitchFamily="34" charset="-120"/>
              </a:rPr>
              <a:t>Tek bir makinede çok sayıda kullanıcı ve program varken işletim sisteminin kendisi için de hizmetlere ihtiyacı vardır.</a:t>
            </a:r>
            <a:endParaRPr lang="tr-TR" sz="15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7</a:t>
            </a:r>
            <a:endParaRPr lang="tr-TR" sz="900" dirty="0"/>
          </a:p>
        </p:txBody>
      </p:sp>
      <p:sp>
        <p:nvSpPr>
          <p:cNvPr id="7" name="Shape 5"/>
          <p:cNvSpPr/>
          <p:nvPr/>
        </p:nvSpPr>
        <p:spPr>
          <a:xfrm>
            <a:off x="548640" y="2103120"/>
            <a:ext cx="3566160" cy="3063240"/>
          </a:xfrm>
          <a:prstGeom prst="roundRect">
            <a:avLst>
              <a:gd name="adj" fmla="val 1791"/>
            </a:avLst>
          </a:prstGeom>
          <a:solidFill>
            <a:srgbClr val="F2F2F2"/>
          </a:solidFill>
          <a:ln/>
          <a:effectLst>
            <a:outerShdw sx="100000" sy="100000" kx="0" ky="0" algn="bl" rotWithShape="0" blurRad="101600" dist="25400" dir="5400000">
              <a:srgbClr val="000000">
                <a:alpha val="12000"/>
              </a:srgbClr>
            </a:outerShdw>
          </a:effectLst>
        </p:spPr>
      </p:sp>
      <p:sp>
        <p:nvSpPr>
          <p:cNvPr id="8" name="Text 6"/>
          <p:cNvSpPr txBox="1"/>
          <p:nvPr/>
        </p:nvSpPr>
        <p:spPr>
          <a:xfrm>
            <a:off x="777240" y="2286000"/>
            <a:ext cx="31089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Kaynak tahsisi</a:t>
            </a:r>
            <a:endParaRPr lang="tr-TR" sz="1500" dirty="0"/>
          </a:p>
        </p:txBody>
      </p:sp>
      <p:sp>
        <p:nvSpPr>
          <p:cNvPr id="9" name="Text 7"/>
          <p:cNvSpPr txBox="1"/>
          <p:nvPr/>
        </p:nvSpPr>
        <p:spPr>
          <a:xfrm>
            <a:off x="777240" y="2743200"/>
            <a:ext cx="3108960" cy="2286000"/>
          </a:xfrm>
          <a:prstGeom prst="rect">
            <a:avLst/>
          </a:prstGeom>
          <a:noFill/>
          <a:ln/>
        </p:spPr>
        <p:txBody>
          <a:bodyPr wrap="square" lIns="0" tIns="0" rIns="0" bIns="0" rtlCol="0" anchor="t"/>
          <a:lstStyle/>
          <a:p>
            <a:pPr indent="0" marL="0">
              <a:spcAft>
                <a:spcPts val="400"/>
              </a:spcAft>
              <a:buNone/>
            </a:pPr>
            <a:r>
              <a:rPr lang="tr-TR" sz="1450" dirty="0">
                <a:solidFill>
                  <a:srgbClr val="3A464C"/>
                </a:solidFill>
                <a:latin typeface="Calibri" pitchFamily="34" charset="0"/>
                <a:ea typeface="Calibri" pitchFamily="34" charset="-122"/>
                <a:cs typeface="Calibri" pitchFamily="34" charset="-120"/>
              </a:rPr>
              <a:t>İşlemciyi kim alacak, ne kadar bellek, hangi yazıcı? Bunu zamanlayıcılar ve ayırıcılar yapar (4–7. haftalar).</a:t>
            </a:r>
            <a:endParaRPr lang="tr-TR" sz="1450" dirty="0"/>
          </a:p>
        </p:txBody>
      </p:sp>
      <p:sp>
        <p:nvSpPr>
          <p:cNvPr id="10" name="Text 8"/>
          <p:cNvSpPr txBox="1"/>
          <p:nvPr/>
        </p:nvSpPr>
        <p:spPr>
          <a:xfrm>
            <a:off x="777240" y="4526280"/>
            <a:ext cx="3108960" cy="502920"/>
          </a:xfrm>
          <a:prstGeom prst="rect">
            <a:avLst/>
          </a:prstGeom>
          <a:noFill/>
          <a:ln/>
        </p:spPr>
        <p:txBody>
          <a:bodyPr wrap="square" lIns="0" tIns="0" rIns="0" bIns="0" rtlCol="0" anchor="t"/>
          <a:lstStyle/>
          <a:p>
            <a:pPr indent="0" marL="0">
              <a:buNone/>
            </a:pPr>
            <a:r>
              <a:rPr lang="tr-TR" sz="1200" i="1" dirty="0">
                <a:solidFill>
                  <a:srgbClr val="6B7679"/>
                </a:solidFill>
                <a:latin typeface="Calibri" pitchFamily="34" charset="0"/>
                <a:ea typeface="Calibri" pitchFamily="34" charset="-122"/>
                <a:cs typeface="Calibri" pitchFamily="34" charset="-120"/>
              </a:rPr>
              <a:t>Linux: ulimit -a süreç başına sınırları gösterir.</a:t>
            </a:r>
            <a:endParaRPr lang="tr-TR" sz="1200" dirty="0"/>
          </a:p>
        </p:txBody>
      </p:sp>
      <p:sp>
        <p:nvSpPr>
          <p:cNvPr id="11" name="Shape 9"/>
          <p:cNvSpPr/>
          <p:nvPr/>
        </p:nvSpPr>
        <p:spPr>
          <a:xfrm>
            <a:off x="4325112" y="2103120"/>
            <a:ext cx="3566160" cy="3063240"/>
          </a:xfrm>
          <a:prstGeom prst="roundRect">
            <a:avLst>
              <a:gd name="adj" fmla="val 1791"/>
            </a:avLst>
          </a:prstGeom>
          <a:solidFill>
            <a:srgbClr val="F2F2F2"/>
          </a:solidFill>
          <a:ln/>
          <a:effectLst>
            <a:outerShdw sx="100000" sy="100000" kx="0" ky="0" algn="bl" rotWithShape="0" blurRad="101600" dist="25400" dir="5400000">
              <a:srgbClr val="000000">
                <a:alpha val="12000"/>
              </a:srgbClr>
            </a:outerShdw>
          </a:effectLst>
        </p:spPr>
      </p:sp>
      <p:sp>
        <p:nvSpPr>
          <p:cNvPr id="12" name="Text 10"/>
          <p:cNvSpPr txBox="1"/>
          <p:nvPr/>
        </p:nvSpPr>
        <p:spPr>
          <a:xfrm>
            <a:off x="4553712" y="2286000"/>
            <a:ext cx="31089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Hesap tutma ve günlük</a:t>
            </a:r>
            <a:endParaRPr lang="tr-TR" sz="1500" dirty="0"/>
          </a:p>
        </p:txBody>
      </p:sp>
      <p:sp>
        <p:nvSpPr>
          <p:cNvPr id="13" name="Text 11"/>
          <p:cNvSpPr txBox="1"/>
          <p:nvPr/>
        </p:nvSpPr>
        <p:spPr>
          <a:xfrm>
            <a:off x="4553712" y="2743200"/>
            <a:ext cx="3108960" cy="2286000"/>
          </a:xfrm>
          <a:prstGeom prst="rect">
            <a:avLst/>
          </a:prstGeom>
          <a:noFill/>
          <a:ln/>
        </p:spPr>
        <p:txBody>
          <a:bodyPr wrap="square" lIns="0" tIns="0" rIns="0" bIns="0" rtlCol="0" anchor="t"/>
          <a:lstStyle/>
          <a:p>
            <a:pPr indent="0" marL="0">
              <a:spcAft>
                <a:spcPts val="400"/>
              </a:spcAft>
              <a:buNone/>
            </a:pPr>
            <a:r>
              <a:rPr lang="tr-TR" sz="1450" dirty="0">
                <a:solidFill>
                  <a:srgbClr val="3A464C"/>
                </a:solidFill>
                <a:latin typeface="Calibri" pitchFamily="34" charset="0"/>
                <a:ea typeface="Calibri" pitchFamily="34" charset="-122"/>
                <a:cs typeface="Calibri" pitchFamily="34" charset="-120"/>
              </a:rPr>
              <a:t>Kimin ne kadar işlemci zamanı, bellek ve disk kullandığını izlemek: faturalama, istatistik ve ayar için.</a:t>
            </a:r>
            <a:endParaRPr lang="tr-TR" sz="1450" dirty="0"/>
          </a:p>
        </p:txBody>
      </p:sp>
      <p:sp>
        <p:nvSpPr>
          <p:cNvPr id="14" name="Text 12"/>
          <p:cNvSpPr txBox="1"/>
          <p:nvPr/>
        </p:nvSpPr>
        <p:spPr>
          <a:xfrm>
            <a:off x="4553712" y="4526280"/>
            <a:ext cx="3108960" cy="502920"/>
          </a:xfrm>
          <a:prstGeom prst="rect">
            <a:avLst/>
          </a:prstGeom>
          <a:noFill/>
          <a:ln/>
        </p:spPr>
        <p:txBody>
          <a:bodyPr wrap="square" lIns="0" tIns="0" rIns="0" bIns="0" rtlCol="0" anchor="t"/>
          <a:lstStyle/>
          <a:p>
            <a:pPr indent="0" marL="0">
              <a:buNone/>
            </a:pPr>
            <a:r>
              <a:rPr lang="tr-TR" sz="1200" i="1" dirty="0">
                <a:solidFill>
                  <a:srgbClr val="6B7679"/>
                </a:solidFill>
                <a:latin typeface="Calibri" pitchFamily="34" charset="0"/>
                <a:ea typeface="Calibri" pitchFamily="34" charset="-122"/>
                <a:cs typeface="Calibri" pitchFamily="34" charset="-120"/>
              </a:rPr>
              <a:t>Linux: ps, top, journalctl; Windows: Olay Görüntüleyicisi.</a:t>
            </a:r>
            <a:endParaRPr lang="tr-TR" sz="1200" dirty="0"/>
          </a:p>
        </p:txBody>
      </p:sp>
      <p:sp>
        <p:nvSpPr>
          <p:cNvPr id="15" name="Shape 13"/>
          <p:cNvSpPr/>
          <p:nvPr/>
        </p:nvSpPr>
        <p:spPr>
          <a:xfrm>
            <a:off x="8101584" y="2103120"/>
            <a:ext cx="3566160" cy="3063240"/>
          </a:xfrm>
          <a:prstGeom prst="roundRect">
            <a:avLst>
              <a:gd name="adj" fmla="val 1791"/>
            </a:avLst>
          </a:prstGeom>
          <a:solidFill>
            <a:srgbClr val="F2F2F2"/>
          </a:solidFill>
          <a:ln/>
          <a:effectLst>
            <a:outerShdw sx="100000" sy="100000" kx="0" ky="0" algn="bl" rotWithShape="0" blurRad="101600" dist="25400" dir="5400000">
              <a:srgbClr val="000000">
                <a:alpha val="12000"/>
              </a:srgbClr>
            </a:outerShdw>
          </a:effectLst>
        </p:spPr>
      </p:sp>
      <p:sp>
        <p:nvSpPr>
          <p:cNvPr id="16" name="Text 14"/>
          <p:cNvSpPr txBox="1"/>
          <p:nvPr/>
        </p:nvSpPr>
        <p:spPr>
          <a:xfrm>
            <a:off x="8330184" y="2286000"/>
            <a:ext cx="31089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Koruma ve güvenlik</a:t>
            </a:r>
            <a:endParaRPr lang="tr-TR" sz="1500" dirty="0"/>
          </a:p>
        </p:txBody>
      </p:sp>
      <p:sp>
        <p:nvSpPr>
          <p:cNvPr id="17" name="Text 15"/>
          <p:cNvSpPr txBox="1"/>
          <p:nvPr/>
        </p:nvSpPr>
        <p:spPr>
          <a:xfrm>
            <a:off x="8330184" y="2743200"/>
            <a:ext cx="3108960" cy="2286000"/>
          </a:xfrm>
          <a:prstGeom prst="rect">
            <a:avLst/>
          </a:prstGeom>
          <a:noFill/>
          <a:ln/>
        </p:spPr>
        <p:txBody>
          <a:bodyPr wrap="square" lIns="0" tIns="0" rIns="0" bIns="0" rtlCol="0" anchor="t"/>
          <a:lstStyle/>
          <a:p>
            <a:pPr indent="0" marL="0">
              <a:spcAft>
                <a:spcPts val="400"/>
              </a:spcAft>
              <a:buNone/>
            </a:pPr>
            <a:r>
              <a:rPr lang="tr-TR" sz="1450" dirty="0">
                <a:solidFill>
                  <a:srgbClr val="3A464C"/>
                </a:solidFill>
                <a:latin typeface="Calibri" pitchFamily="34" charset="0"/>
                <a:ea typeface="Calibri" pitchFamily="34" charset="-122"/>
                <a:cs typeface="Calibri" pitchFamily="34" charset="-120"/>
              </a:rPr>
              <a:t>Koruma: süreçler birbirinin belleğine dokunamaz. Güvenlik: kullanıcılar kimlik doğrular; saldırılar kaydedilir.</a:t>
            </a:r>
            <a:endParaRPr lang="tr-TR" sz="1450" dirty="0"/>
          </a:p>
        </p:txBody>
      </p:sp>
      <p:sp>
        <p:nvSpPr>
          <p:cNvPr id="18" name="Text 16"/>
          <p:cNvSpPr txBox="1"/>
          <p:nvPr/>
        </p:nvSpPr>
        <p:spPr>
          <a:xfrm>
            <a:off x="8330184" y="4526280"/>
            <a:ext cx="3108960" cy="502920"/>
          </a:xfrm>
          <a:prstGeom prst="rect">
            <a:avLst/>
          </a:prstGeom>
          <a:noFill/>
          <a:ln/>
        </p:spPr>
        <p:txBody>
          <a:bodyPr wrap="square" lIns="0" tIns="0" rIns="0" bIns="0" rtlCol="0" anchor="t"/>
          <a:lstStyle/>
          <a:p>
            <a:pPr indent="0" marL="0">
              <a:buNone/>
            </a:pPr>
            <a:r>
              <a:rPr lang="tr-TR" sz="1200" i="1" dirty="0">
                <a:solidFill>
                  <a:srgbClr val="6B7679"/>
                </a:solidFill>
                <a:latin typeface="Calibri" pitchFamily="34" charset="0"/>
                <a:ea typeface="Calibri" pitchFamily="34" charset="-122"/>
                <a:cs typeface="Calibri" pitchFamily="34" charset="-120"/>
              </a:rPr>
              <a:t>Linux: dosya izinleri (11. hafta), parolalar.</a:t>
            </a:r>
            <a:endParaRPr lang="tr-TR" sz="1200" dirty="0"/>
          </a:p>
        </p:txBody>
      </p:sp>
      <p:sp>
        <p:nvSpPr>
          <p:cNvPr id="19" name="Shape 17"/>
          <p:cNvSpPr/>
          <p:nvPr/>
        </p:nvSpPr>
        <p:spPr>
          <a:xfrm>
            <a:off x="548640" y="5394960"/>
            <a:ext cx="11109960" cy="868680"/>
          </a:xfrm>
          <a:prstGeom prst="roundRect">
            <a:avLst>
              <a:gd name="adj" fmla="val 6316"/>
            </a:avLst>
          </a:prstGeom>
          <a:solidFill>
            <a:srgbClr val="36454F"/>
          </a:solidFill>
          <a:ln/>
          <a:effectLst>
            <a:outerShdw sx="100000" sy="100000" kx="0" ky="0" algn="bl" rotWithShape="0" blurRad="101600" dist="25400" dir="5400000">
              <a:srgbClr val="000000">
                <a:alpha val="12000"/>
              </a:srgbClr>
            </a:outerShdw>
          </a:effectLst>
        </p:spPr>
      </p:sp>
      <p:sp>
        <p:nvSpPr>
          <p:cNvPr id="20" name="Text 18"/>
          <p:cNvSpPr txBox="1"/>
          <p:nvPr/>
        </p:nvSpPr>
        <p:spPr>
          <a:xfrm>
            <a:off x="777240" y="5394960"/>
            <a:ext cx="10652760" cy="868680"/>
          </a:xfrm>
          <a:prstGeom prst="rect">
            <a:avLst/>
          </a:prstGeom>
          <a:noFill/>
          <a:ln/>
        </p:spPr>
        <p:txBody>
          <a:bodyPr wrap="square" lIns="0" tIns="0" rIns="0" bIns="0" rtlCol="0" anchor="ctr"/>
          <a:lstStyle/>
          <a:p>
            <a:pPr indent="0" marL="0">
              <a:buNone/>
            </a:pPr>
            <a:r>
              <a:rPr lang="tr-TR" sz="1500" dirty="0">
                <a:solidFill>
                  <a:srgbClr val="F2F2F2"/>
                </a:solidFill>
                <a:latin typeface="Calibri" pitchFamily="34" charset="0"/>
                <a:ea typeface="Calibri" pitchFamily="34" charset="-122"/>
                <a:cs typeface="Calibri" pitchFamily="34" charset="-120"/>
              </a:rPr>
              <a:t>Zincir en zayıf halkası kadar güçlüdür: tahmin edilen tek bir parola, geçen hafta gördüğümüz bütün koruma donanımını boşa çıkarır.</a:t>
            </a:r>
            <a:endParaRPr lang="tr-TR"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KULLANICI ARAYÜZLERİ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Komut Satırı ve Grafik Arayüz</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8</a:t>
            </a:r>
            <a:endParaRPr lang="tr-TR" sz="900" dirty="0"/>
          </a:p>
        </p:txBody>
      </p:sp>
      <p:sp>
        <p:nvSpPr>
          <p:cNvPr id="6" name="Shape 4"/>
          <p:cNvSpPr/>
          <p:nvPr/>
        </p:nvSpPr>
        <p:spPr>
          <a:xfrm>
            <a:off x="548640" y="1508760"/>
            <a:ext cx="5760720" cy="3291840"/>
          </a:xfrm>
          <a:prstGeom prst="roundRect">
            <a:avLst>
              <a:gd name="adj" fmla="val 1389"/>
            </a:avLst>
          </a:prstGeom>
          <a:solidFill>
            <a:srgbClr val="212121"/>
          </a:solidFill>
          <a:ln/>
        </p:spPr>
      </p:sp>
      <p:sp>
        <p:nvSpPr>
          <p:cNvPr id="7" name="Text 5"/>
          <p:cNvSpPr txBox="1"/>
          <p:nvPr/>
        </p:nvSpPr>
        <p:spPr>
          <a:xfrm>
            <a:off x="731520" y="1618488"/>
            <a:ext cx="5394960" cy="3072384"/>
          </a:xfrm>
          <a:prstGeom prst="rect">
            <a:avLst/>
          </a:prstGeom>
          <a:noFill/>
          <a:ln/>
        </p:spPr>
        <p:txBody>
          <a:bodyPr wrap="square" lIns="0" tIns="0" rIns="0" bIns="0" rtlCol="0" anchor="t"/>
          <a:lstStyle/>
          <a:p>
            <a:pPr indent="0" marL="0">
              <a:lnSpc>
                <a:spcPct val="105000"/>
              </a:lnSpc>
              <a:buNone/>
            </a:pPr>
            <a:r>
              <a:rPr lang="tr-TR" sz="1300" dirty="0">
                <a:solidFill>
                  <a:srgbClr val="8A9AA0"/>
                </a:solidFill>
                <a:latin typeface="Consolas" pitchFamily="34" charset="0"/>
                <a:ea typeface="Consolas" pitchFamily="34" charset="-122"/>
                <a:cs typeface="Consolas" pitchFamily="34" charset="-120"/>
              </a:rPr>
              <a:t># bir komut satırı oturumu (Linux'ta bash)</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ls -l report.txt      # dosya sistemi hizmeti</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cp report.txt backup/ # dosya sistemi hizmeti</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./myprog &amp;            # program yürütme</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ps                    # durum bilgisi</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kill 4242             # süreç denetimi</a:t>
            </a:r>
            <a:endParaRPr lang="tr-TR" sz="1300" dirty="0"/>
          </a:p>
          <a:p>
            <a:pPr indent="0" marL="0">
              <a:lnSpc>
                <a:spcPct val="105000"/>
              </a:lnSpc>
              <a:buNone/>
            </a:pPr>
            <a:r>
              <a:rPr lang="tr-TR" sz="1300" dirty="0">
                <a:solidFill>
                  <a:srgbClr val="F2F2F2"/>
                </a:solidFill>
                <a:latin typeface="Consolas" pitchFamily="34" charset="0"/>
                <a:ea typeface="Consolas" pitchFamily="34" charset="-122"/>
                <a:cs typeface="Consolas" pitchFamily="34" charset="-120"/>
              </a:rPr>
              <a:t> </a:t>
            </a:r>
            <a:endParaRPr lang="tr-TR" sz="1300" dirty="0"/>
          </a:p>
          <a:p>
            <a:pPr indent="0" marL="0">
              <a:lnSpc>
                <a:spcPct val="105000"/>
              </a:lnSpc>
              <a:buNone/>
            </a:pPr>
            <a:r>
              <a:rPr lang="tr-TR" sz="1300" dirty="0">
                <a:solidFill>
                  <a:srgbClr val="8A9AA0"/>
                </a:solidFill>
                <a:latin typeface="Consolas" pitchFamily="34" charset="0"/>
                <a:ea typeface="Consolas" pitchFamily="34" charset="-122"/>
                <a:cs typeface="Consolas" pitchFamily="34" charset="-120"/>
              </a:rPr>
              <a:t># her komut, kabuğun sizin için başlattığı</a:t>
            </a:r>
            <a:endParaRPr lang="tr-TR" sz="1300" dirty="0"/>
          </a:p>
          <a:p>
            <a:pPr indent="0" marL="0">
              <a:lnSpc>
                <a:spcPct val="105000"/>
              </a:lnSpc>
              <a:buNone/>
            </a:pPr>
            <a:r>
              <a:rPr lang="tr-TR" sz="1300" dirty="0">
                <a:solidFill>
                  <a:srgbClr val="8A9AA0"/>
                </a:solidFill>
                <a:latin typeface="Consolas" pitchFamily="34" charset="0"/>
                <a:ea typeface="Consolas" pitchFamily="34" charset="-122"/>
                <a:cs typeface="Consolas" pitchFamily="34" charset="-120"/>
              </a:rPr>
              <a:t># ayrı bir programdır (3. bölüm: fork/exec)</a:t>
            </a:r>
            <a:endParaRPr lang="tr-TR" sz="1300" dirty="0"/>
          </a:p>
        </p:txBody>
      </p:sp>
      <p:sp>
        <p:nvSpPr>
          <p:cNvPr id="8" name="Shape 6"/>
          <p:cNvSpPr/>
          <p:nvPr/>
        </p:nvSpPr>
        <p:spPr>
          <a:xfrm>
            <a:off x="548640" y="4983480"/>
            <a:ext cx="5760720" cy="1280160"/>
          </a:xfrm>
          <a:prstGeom prst="roundRect">
            <a:avLst>
              <a:gd name="adj" fmla="val 4286"/>
            </a:avLst>
          </a:prstGeom>
          <a:solidFill>
            <a:srgbClr val="36454F"/>
          </a:solidFill>
          <a:ln/>
          <a:effectLst>
            <a:outerShdw sx="100000" sy="100000" kx="0" ky="0" algn="bl" rotWithShape="0" blurRad="101600" dist="25400" dir="5400000">
              <a:srgbClr val="000000">
                <a:alpha val="12000"/>
              </a:srgbClr>
            </a:outerShdw>
          </a:effectLst>
        </p:spPr>
      </p:sp>
      <p:sp>
        <p:nvSpPr>
          <p:cNvPr id="9" name="Text 7"/>
          <p:cNvSpPr txBox="1"/>
          <p:nvPr/>
        </p:nvSpPr>
        <p:spPr>
          <a:xfrm>
            <a:off x="777240" y="4983480"/>
            <a:ext cx="5303520" cy="128016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Kabuk (shell) çekirdeğin parçası değildir: bir komut okuyup işletim sisteminden onu çalıştırmasını isteyen sıradan bir programdır.</a:t>
            </a:r>
            <a:endParaRPr lang="tr-TR" sz="1400" dirty="0"/>
          </a:p>
        </p:txBody>
      </p:sp>
      <p:sp>
        <p:nvSpPr>
          <p:cNvPr id="10" name="Shape 8"/>
          <p:cNvSpPr/>
          <p:nvPr/>
        </p:nvSpPr>
        <p:spPr>
          <a:xfrm>
            <a:off x="6583680" y="1508760"/>
            <a:ext cx="5074920" cy="4754880"/>
          </a:xfrm>
          <a:prstGeom prst="roundRect">
            <a:avLst>
              <a:gd name="adj" fmla="val 1154"/>
            </a:avLst>
          </a:prstGeom>
          <a:solidFill>
            <a:srgbClr val="F2F2F2"/>
          </a:solidFill>
          <a:ln/>
          <a:effectLst>
            <a:outerShdw sx="100000" sy="100000" kx="0" ky="0" algn="bl" rotWithShape="0" blurRad="101600" dist="25400" dir="5400000">
              <a:srgbClr val="000000">
                <a:alpha val="12000"/>
              </a:srgbClr>
            </a:outerShdw>
          </a:effectLst>
        </p:spPr>
      </p:sp>
      <p:sp>
        <p:nvSpPr>
          <p:cNvPr id="11" name="Text 9"/>
          <p:cNvSpPr txBox="1"/>
          <p:nvPr/>
        </p:nvSpPr>
        <p:spPr>
          <a:xfrm>
            <a:off x="6812280" y="1691640"/>
            <a:ext cx="461772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Hangisi daha iyi?</a:t>
            </a:r>
            <a:endParaRPr lang="tr-TR" sz="1500" dirty="0"/>
          </a:p>
        </p:txBody>
      </p:sp>
      <p:sp>
        <p:nvSpPr>
          <p:cNvPr id="12" name="Text 10"/>
          <p:cNvSpPr txBox="1"/>
          <p:nvPr/>
        </p:nvSpPr>
        <p:spPr>
          <a:xfrm>
            <a:off x="6812280" y="2148840"/>
            <a:ext cx="4617720" cy="3977640"/>
          </a:xfrm>
          <a:prstGeom prst="rect">
            <a:avLst/>
          </a:prstGeom>
          <a:noFill/>
          <a:ln/>
        </p:spPr>
        <p:txBody>
          <a:bodyPr wrap="square" lIns="0" tIns="0" rIns="0" bIns="0" rtlCol="0" anchor="t"/>
          <a:lstStyle/>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Komut satırı (CLI):</a:t>
            </a:r>
            <a:r>
              <a:rPr lang="tr-TR" sz="1400" dirty="0">
                <a:solidFill>
                  <a:srgbClr val="3A464C"/>
                </a:solidFill>
                <a:latin typeface="Calibri" pitchFamily="34" charset="0"/>
                <a:ea typeface="Calibri" pitchFamily="34" charset="-122"/>
                <a:cs typeface="Calibri" pitchFamily="34" charset="-120"/>
              </a:rPr>
              <a:t> uzmanlar için hızlı, betiklenebilir, yavaş bir ağ bağlantısında da çalışır; komutları hatırlamak gerekir.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Grafik arayüz (GUI):</a:t>
            </a:r>
            <a:r>
              <a:rPr lang="tr-TR" sz="1400" dirty="0">
                <a:solidFill>
                  <a:srgbClr val="3A464C"/>
                </a:solidFill>
                <a:latin typeface="Calibri" pitchFamily="34" charset="0"/>
                <a:ea typeface="Calibri" pitchFamily="34" charset="-122"/>
                <a:cs typeface="Calibri" pitchFamily="34" charset="-120"/>
              </a:rPr>
              <a:t> pencereler, simgeler, fare; öğrenmesi kolay, otomatikleştirmesi zor.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Dokunmatik ekran:</a:t>
            </a:r>
            <a:r>
              <a:rPr lang="tr-TR" sz="1400" dirty="0">
                <a:solidFill>
                  <a:srgbClr val="3A464C"/>
                </a:solidFill>
                <a:latin typeface="Calibri" pitchFamily="34" charset="0"/>
                <a:ea typeface="Calibri" pitchFamily="34" charset="-122"/>
                <a:cs typeface="Calibri" pitchFamily="34" charset="-120"/>
              </a:rPr>
              <a:t> fare yerine hareketler; telefonlar ve tabletler.</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Sistem yöneticilerinin çoğu ikisini de kullanır. 9. haftadan itibaren Linux kabuğunda çalışacağız.</a:t>
            </a:r>
            <a:endParaRPr lang="tr-T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12121"/>
        </a:solidFill>
      </p:bgPr>
    </p:bg>
    <p:spTree>
      <p:nvGrpSpPr>
        <p:cNvPr id="1" name=""/>
        <p:cNvGrpSpPr/>
        <p:nvPr/>
      </p:nvGrpSpPr>
      <p:grpSpPr>
        <a:xfrm>
          <a:off x="0" y="0"/>
          <a:ext cx="0" cy="0"/>
          <a:chOff x="0" y="0"/>
          <a:chExt cx="0" cy="0"/>
        </a:xfrm>
      </p:grpSpPr>
      <p:sp>
        <p:nvSpPr>
          <p:cNvPr id="2" name="Text 0"/>
          <p:cNvSpPr txBox="1"/>
          <p:nvPr/>
        </p:nvSpPr>
        <p:spPr>
          <a:xfrm>
            <a:off x="548640" y="2514600"/>
            <a:ext cx="9144000" cy="320040"/>
          </a:xfrm>
          <a:prstGeom prst="rect">
            <a:avLst/>
          </a:prstGeom>
          <a:noFill/>
          <a:ln/>
        </p:spPr>
        <p:txBody>
          <a:bodyPr wrap="square" lIns="0" tIns="0" rIns="0" bIns="0" rtlCol="0" anchor="ctr"/>
          <a:lstStyle/>
          <a:p>
            <a:pPr indent="0" marL="0">
              <a:buNone/>
            </a:pPr>
            <a:r>
              <a:rPr lang="tr-TR" sz="1300" b="1" spc="300" kern="0" dirty="0">
                <a:solidFill>
                  <a:srgbClr val="02C39A"/>
                </a:solidFill>
                <a:latin typeface="Calibri" pitchFamily="34" charset="0"/>
                <a:ea typeface="Calibri" pitchFamily="34" charset="-122"/>
                <a:cs typeface="Calibri" pitchFamily="34" charset="-120"/>
              </a:rPr>
              <a:t>BÖLÜM 2</a:t>
            </a:r>
            <a:endParaRPr lang="tr-TR" sz="1300" dirty="0"/>
          </a:p>
        </p:txBody>
      </p:sp>
      <p:sp>
        <p:nvSpPr>
          <p:cNvPr id="3" name="Text 1"/>
          <p:cNvSpPr txBox="1"/>
          <p:nvPr/>
        </p:nvSpPr>
        <p:spPr>
          <a:xfrm>
            <a:off x="548640" y="2880360"/>
            <a:ext cx="10972800" cy="868680"/>
          </a:xfrm>
          <a:prstGeom prst="rect">
            <a:avLst/>
          </a:prstGeom>
          <a:noFill/>
          <a:ln/>
        </p:spPr>
        <p:txBody>
          <a:bodyPr wrap="square" lIns="0" tIns="0" rIns="0" bIns="0" rtlCol="0" anchor="ctr"/>
          <a:lstStyle/>
          <a:p>
            <a:pPr indent="0" marL="0">
              <a:buNone/>
            </a:pPr>
            <a:r>
              <a:rPr lang="tr-TR" sz="3800" b="1" dirty="0">
                <a:solidFill>
                  <a:srgbClr val="FFFFFF"/>
                </a:solidFill>
                <a:latin typeface="Cambria" pitchFamily="34" charset="0"/>
                <a:ea typeface="Cambria" pitchFamily="34" charset="-122"/>
                <a:cs typeface="Cambria" pitchFamily="34" charset="-120"/>
              </a:rPr>
              <a:t>Ayrıntılı Sistem Çağrıları</a:t>
            </a:r>
            <a:endParaRPr lang="tr-TR" sz="3800" dirty="0"/>
          </a:p>
        </p:txBody>
      </p:sp>
      <p:sp>
        <p:nvSpPr>
          <p:cNvPr id="4" name="Text 2"/>
          <p:cNvSpPr txBox="1"/>
          <p:nvPr/>
        </p:nvSpPr>
        <p:spPr>
          <a:xfrm>
            <a:off x="548640" y="3794760"/>
            <a:ext cx="10515600" cy="457200"/>
          </a:xfrm>
          <a:prstGeom prst="rect">
            <a:avLst/>
          </a:prstGeom>
          <a:noFill/>
          <a:ln/>
        </p:spPr>
        <p:txBody>
          <a:bodyPr wrap="square" lIns="0" tIns="0" rIns="0" bIns="0" rtlCol="0" anchor="ctr"/>
          <a:lstStyle/>
          <a:p>
            <a:pPr indent="0" marL="0">
              <a:buNone/>
            </a:pPr>
            <a:r>
              <a:rPr lang="tr-TR" sz="1600" i="1" dirty="0">
                <a:solidFill>
                  <a:srgbClr val="F2F2F2"/>
                </a:solidFill>
                <a:latin typeface="Calibri" pitchFamily="34" charset="0"/>
                <a:ea typeface="Calibri" pitchFamily="34" charset="-122"/>
                <a:cs typeface="Calibri" pitchFamily="34" charset="-120"/>
              </a:rPr>
              <a:t>Bir kullanıcı programından çekirdeğe açılan tek kapı.</a:t>
            </a:r>
            <a:endParaRPr lang="tr-TR" sz="16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8A9AA0"/>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8A9AA0"/>
                </a:solidFill>
                <a:latin typeface="Calibri" pitchFamily="34" charset="0"/>
                <a:ea typeface="Calibri" pitchFamily="34" charset="-122"/>
                <a:cs typeface="Calibri" pitchFamily="34" charset="-120"/>
              </a:rPr>
              <a:t>Hafta 3  ·  9</a:t>
            </a:r>
            <a:endParaRPr lang="tr-T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SİSTEM ÇAĞRILARI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API, Kütüphane Sarmalayıcısı ve Sistem Çağrısı</a:t>
            </a:r>
            <a:endParaRPr lang="tr-TR" sz="3000" dirty="0"/>
          </a:p>
        </p:txBody>
      </p:sp>
      <p:sp>
        <p:nvSpPr>
          <p:cNvPr id="4" name="Text 2"/>
          <p:cNvSpPr txBox="1"/>
          <p:nvPr/>
        </p:nvSpPr>
        <p:spPr>
          <a:xfrm>
            <a:off x="548640" y="1417320"/>
            <a:ext cx="11064240" cy="502920"/>
          </a:xfrm>
          <a:prstGeom prst="rect">
            <a:avLst/>
          </a:prstGeom>
          <a:noFill/>
          <a:ln/>
        </p:spPr>
        <p:txBody>
          <a:bodyPr wrap="square" lIns="0" tIns="0" rIns="0" bIns="0" rtlCol="0" anchor="t"/>
          <a:lstStyle/>
          <a:p>
            <a:pPr indent="0" marL="0">
              <a:buNone/>
            </a:pPr>
            <a:r>
              <a:rPr lang="tr-TR" sz="1500" dirty="0">
                <a:solidFill>
                  <a:srgbClr val="3A464C"/>
                </a:solidFill>
                <a:latin typeface="Calibri" pitchFamily="34" charset="0"/>
                <a:ea typeface="Calibri" pitchFamily="34" charset="-122"/>
                <a:cs typeface="Calibri" pitchFamily="34" charset="-120"/>
              </a:rPr>
              <a:t>Programcılar neredeyse hiçbir zaman sistem çağrısını doğrudan yürütmez. printf() ile donanım arasında katmanlar vardır.</a:t>
            </a:r>
            <a:endParaRPr lang="tr-TR" sz="15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10</a:t>
            </a:r>
            <a:endParaRPr lang="tr-TR" sz="900" dirty="0"/>
          </a:p>
        </p:txBody>
      </p:sp>
      <p:sp>
        <p:nvSpPr>
          <p:cNvPr id="7" name="Shape 5"/>
          <p:cNvSpPr/>
          <p:nvPr/>
        </p:nvSpPr>
        <p:spPr>
          <a:xfrm>
            <a:off x="548640" y="2103120"/>
            <a:ext cx="6035040" cy="658368"/>
          </a:xfrm>
          <a:prstGeom prst="roundRect">
            <a:avLst>
              <a:gd name="adj" fmla="val 6944"/>
            </a:avLst>
          </a:prstGeom>
          <a:solidFill>
            <a:srgbClr val="F2F2F2"/>
          </a:solidFill>
          <a:ln/>
        </p:spPr>
      </p:sp>
      <p:sp>
        <p:nvSpPr>
          <p:cNvPr id="8" name="Text 6"/>
          <p:cNvSpPr txBox="1"/>
          <p:nvPr/>
        </p:nvSpPr>
        <p:spPr>
          <a:xfrm>
            <a:off x="548640" y="2103120"/>
            <a:ext cx="6035040" cy="658368"/>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Sizin programınız</a:t>
            </a:r>
            <a:endParaRPr lang="tr-TR" sz="1300" dirty="0"/>
          </a:p>
          <a:p>
            <a:pPr algn="ctr" indent="0" marL="0">
              <a:buNone/>
            </a:pPr>
            <a:r>
              <a:rPr lang="tr-TR" sz="1200" dirty="0">
                <a:solidFill>
                  <a:srgbClr val="36454F"/>
                </a:solidFill>
                <a:latin typeface="Calibri" pitchFamily="34" charset="0"/>
                <a:ea typeface="Calibri" pitchFamily="34" charset="-122"/>
                <a:cs typeface="Calibri" pitchFamily="34" charset="-120"/>
              </a:rPr>
              <a:t>printf("x = %d\n", x);</a:t>
            </a:r>
            <a:endParaRPr lang="tr-TR" sz="1300" dirty="0"/>
          </a:p>
        </p:txBody>
      </p:sp>
      <p:sp>
        <p:nvSpPr>
          <p:cNvPr id="9" name="Shape 7"/>
          <p:cNvSpPr/>
          <p:nvPr/>
        </p:nvSpPr>
        <p:spPr>
          <a:xfrm>
            <a:off x="1005840" y="2770632"/>
            <a:ext cx="91" cy="146304"/>
          </a:xfrm>
          <a:prstGeom prst="line">
            <a:avLst/>
          </a:prstGeom>
          <a:noFill/>
          <a:ln w="19050">
            <a:solidFill>
              <a:srgbClr val="50808E"/>
            </a:solidFill>
            <a:prstDash val="solid"/>
            <a:tailEnd type="triangle"/>
          </a:ln>
        </p:spPr>
      </p:sp>
      <p:sp>
        <p:nvSpPr>
          <p:cNvPr id="10" name="Shape 8"/>
          <p:cNvSpPr/>
          <p:nvPr/>
        </p:nvSpPr>
        <p:spPr>
          <a:xfrm>
            <a:off x="548640" y="2926080"/>
            <a:ext cx="6035040" cy="658368"/>
          </a:xfrm>
          <a:prstGeom prst="roundRect">
            <a:avLst>
              <a:gd name="adj" fmla="val 6944"/>
            </a:avLst>
          </a:prstGeom>
          <a:solidFill>
            <a:srgbClr val="D7E9E6"/>
          </a:solidFill>
          <a:ln/>
        </p:spPr>
      </p:sp>
      <p:sp>
        <p:nvSpPr>
          <p:cNvPr id="11" name="Text 9"/>
          <p:cNvSpPr txBox="1"/>
          <p:nvPr/>
        </p:nvSpPr>
        <p:spPr>
          <a:xfrm>
            <a:off x="548640" y="2926080"/>
            <a:ext cx="6035040" cy="658368"/>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C kütüphanesi (API fonksiyonu)</a:t>
            </a:r>
            <a:endParaRPr lang="tr-TR" sz="1300" dirty="0"/>
          </a:p>
          <a:p>
            <a:pPr algn="ctr" indent="0" marL="0">
              <a:buNone/>
            </a:pPr>
            <a:r>
              <a:rPr lang="tr-TR" sz="1200" dirty="0">
                <a:solidFill>
                  <a:srgbClr val="36454F"/>
                </a:solidFill>
                <a:latin typeface="Calibri" pitchFamily="34" charset="0"/>
                <a:ea typeface="Calibri" pitchFamily="34" charset="-122"/>
                <a:cs typeface="Calibri" pitchFamily="34" charset="-120"/>
              </a:rPr>
              <a:t>printf metni bir tampona biçimlendirir</a:t>
            </a:r>
            <a:endParaRPr lang="tr-TR" sz="1300" dirty="0"/>
          </a:p>
        </p:txBody>
      </p:sp>
      <p:sp>
        <p:nvSpPr>
          <p:cNvPr id="12" name="Shape 10"/>
          <p:cNvSpPr/>
          <p:nvPr/>
        </p:nvSpPr>
        <p:spPr>
          <a:xfrm>
            <a:off x="1005840" y="3593592"/>
            <a:ext cx="91" cy="146304"/>
          </a:xfrm>
          <a:prstGeom prst="line">
            <a:avLst/>
          </a:prstGeom>
          <a:noFill/>
          <a:ln w="19050">
            <a:solidFill>
              <a:srgbClr val="50808E"/>
            </a:solidFill>
            <a:prstDash val="solid"/>
            <a:tailEnd type="triangle"/>
          </a:ln>
        </p:spPr>
      </p:sp>
      <p:sp>
        <p:nvSpPr>
          <p:cNvPr id="13" name="Shape 11"/>
          <p:cNvSpPr/>
          <p:nvPr/>
        </p:nvSpPr>
        <p:spPr>
          <a:xfrm>
            <a:off x="548640" y="3749040"/>
            <a:ext cx="6035040" cy="658368"/>
          </a:xfrm>
          <a:prstGeom prst="roundRect">
            <a:avLst>
              <a:gd name="adj" fmla="val 6944"/>
            </a:avLst>
          </a:prstGeom>
          <a:solidFill>
            <a:srgbClr val="D7E9E6"/>
          </a:solidFill>
          <a:ln/>
        </p:spPr>
      </p:sp>
      <p:sp>
        <p:nvSpPr>
          <p:cNvPr id="14" name="Text 12"/>
          <p:cNvSpPr txBox="1"/>
          <p:nvPr/>
        </p:nvSpPr>
        <p:spPr>
          <a:xfrm>
            <a:off x="548640" y="3749040"/>
            <a:ext cx="6035040" cy="658368"/>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C kütüphanesi (sarmalayıcı)</a:t>
            </a:r>
            <a:endParaRPr lang="tr-TR" sz="1300" dirty="0"/>
          </a:p>
          <a:p>
            <a:pPr algn="ctr" indent="0" marL="0">
              <a:buNone/>
            </a:pPr>
            <a:r>
              <a:rPr lang="tr-TR" sz="1200" dirty="0">
                <a:solidFill>
                  <a:srgbClr val="36454F"/>
                </a:solidFill>
                <a:latin typeface="Calibri" pitchFamily="34" charset="0"/>
                <a:ea typeface="Calibri" pitchFamily="34" charset="-122"/>
                <a:cs typeface="Calibri" pitchFamily="34" charset="-120"/>
              </a:rPr>
              <a:t>write(1, buf, n): numara → rax, argümanlar → yazmaçlar</a:t>
            </a:r>
            <a:endParaRPr lang="tr-TR" sz="1300" dirty="0"/>
          </a:p>
        </p:txBody>
      </p:sp>
      <p:sp>
        <p:nvSpPr>
          <p:cNvPr id="15" name="Shape 13"/>
          <p:cNvSpPr/>
          <p:nvPr/>
        </p:nvSpPr>
        <p:spPr>
          <a:xfrm>
            <a:off x="1005840" y="4416552"/>
            <a:ext cx="91" cy="329184"/>
          </a:xfrm>
          <a:prstGeom prst="line">
            <a:avLst/>
          </a:prstGeom>
          <a:noFill/>
          <a:ln w="19050">
            <a:solidFill>
              <a:srgbClr val="50808E"/>
            </a:solidFill>
            <a:prstDash val="solid"/>
            <a:tailEnd type="triangle"/>
          </a:ln>
        </p:spPr>
      </p:sp>
      <p:sp>
        <p:nvSpPr>
          <p:cNvPr id="16" name="Shape 14"/>
          <p:cNvSpPr/>
          <p:nvPr/>
        </p:nvSpPr>
        <p:spPr>
          <a:xfrm>
            <a:off x="548640" y="4754880"/>
            <a:ext cx="6035040" cy="658368"/>
          </a:xfrm>
          <a:prstGeom prst="roundRect">
            <a:avLst>
              <a:gd name="adj" fmla="val 6944"/>
            </a:avLst>
          </a:prstGeom>
          <a:solidFill>
            <a:srgbClr val="36454F"/>
          </a:solidFill>
          <a:ln/>
        </p:spPr>
      </p:sp>
      <p:sp>
        <p:nvSpPr>
          <p:cNvPr id="17" name="Text 15"/>
          <p:cNvSpPr txBox="1"/>
          <p:nvPr/>
        </p:nvSpPr>
        <p:spPr>
          <a:xfrm>
            <a:off x="548640" y="4754880"/>
            <a:ext cx="6035040" cy="658368"/>
          </a:xfrm>
          <a:prstGeom prst="rect">
            <a:avLst/>
          </a:prstGeom>
          <a:noFill/>
          <a:ln/>
        </p:spPr>
        <p:txBody>
          <a:bodyPr wrap="square" lIns="38100" tIns="38100" rIns="38100" bIns="38100" rtlCol="0" anchor="ctr"/>
          <a:lstStyle/>
          <a:p>
            <a:pPr algn="ctr" indent="0" marL="0">
              <a:buNone/>
            </a:pPr>
            <a:r>
              <a:rPr lang="tr-TR" sz="1300" b="1" dirty="0">
                <a:solidFill>
                  <a:srgbClr val="FFFFFF"/>
                </a:solidFill>
                <a:latin typeface="Calibri" pitchFamily="34" charset="0"/>
                <a:ea typeface="Calibri" pitchFamily="34" charset="-122"/>
                <a:cs typeface="Calibri" pitchFamily="34" charset="-120"/>
              </a:rPr>
              <a:t>Sistem çağrısı işleyicisi</a:t>
            </a:r>
            <a:endParaRPr lang="tr-TR" sz="1300" dirty="0"/>
          </a:p>
          <a:p>
            <a:pPr algn="ctr" indent="0" marL="0">
              <a:buNone/>
            </a:pPr>
            <a:r>
              <a:rPr lang="tr-TR" sz="1200" dirty="0">
                <a:solidFill>
                  <a:srgbClr val="FFFFFF"/>
                </a:solidFill>
                <a:latin typeface="Calibri" pitchFamily="34" charset="0"/>
                <a:ea typeface="Calibri" pitchFamily="34" charset="-122"/>
                <a:cs typeface="Calibri" pitchFamily="34" charset="-120"/>
              </a:rPr>
              <a:t>sistem çağrısı tablosunda 1 numaralı girişe bakar</a:t>
            </a:r>
            <a:endParaRPr lang="tr-TR" sz="1300" dirty="0"/>
          </a:p>
        </p:txBody>
      </p:sp>
      <p:sp>
        <p:nvSpPr>
          <p:cNvPr id="18" name="Shape 16"/>
          <p:cNvSpPr/>
          <p:nvPr/>
        </p:nvSpPr>
        <p:spPr>
          <a:xfrm>
            <a:off x="1005840" y="5422392"/>
            <a:ext cx="91" cy="146304"/>
          </a:xfrm>
          <a:prstGeom prst="line">
            <a:avLst/>
          </a:prstGeom>
          <a:noFill/>
          <a:ln w="19050">
            <a:solidFill>
              <a:srgbClr val="50808E"/>
            </a:solidFill>
            <a:prstDash val="solid"/>
            <a:tailEnd type="triangle"/>
          </a:ln>
        </p:spPr>
      </p:sp>
      <p:sp>
        <p:nvSpPr>
          <p:cNvPr id="19" name="Shape 17"/>
          <p:cNvSpPr/>
          <p:nvPr/>
        </p:nvSpPr>
        <p:spPr>
          <a:xfrm>
            <a:off x="548640" y="5577840"/>
            <a:ext cx="6035040" cy="658368"/>
          </a:xfrm>
          <a:prstGeom prst="roundRect">
            <a:avLst>
              <a:gd name="adj" fmla="val 6944"/>
            </a:avLst>
          </a:prstGeom>
          <a:solidFill>
            <a:srgbClr val="36454F"/>
          </a:solidFill>
          <a:ln/>
        </p:spPr>
      </p:sp>
      <p:sp>
        <p:nvSpPr>
          <p:cNvPr id="20" name="Text 18"/>
          <p:cNvSpPr txBox="1"/>
          <p:nvPr/>
        </p:nvSpPr>
        <p:spPr>
          <a:xfrm>
            <a:off x="548640" y="5577840"/>
            <a:ext cx="6035040" cy="658368"/>
          </a:xfrm>
          <a:prstGeom prst="rect">
            <a:avLst/>
          </a:prstGeom>
          <a:noFill/>
          <a:ln/>
        </p:spPr>
        <p:txBody>
          <a:bodyPr wrap="square" lIns="38100" tIns="38100" rIns="38100" bIns="38100" rtlCol="0" anchor="ctr"/>
          <a:lstStyle/>
          <a:p>
            <a:pPr algn="ctr" indent="0" marL="0">
              <a:buNone/>
            </a:pPr>
            <a:r>
              <a:rPr lang="tr-TR" sz="1300" b="1" dirty="0">
                <a:solidFill>
                  <a:srgbClr val="FFFFFF"/>
                </a:solidFill>
                <a:latin typeface="Calibri" pitchFamily="34" charset="0"/>
                <a:ea typeface="Calibri" pitchFamily="34" charset="-122"/>
                <a:cs typeface="Calibri" pitchFamily="34" charset="-120"/>
              </a:rPr>
              <a:t>Çekirdek fonksiyonu</a:t>
            </a:r>
            <a:endParaRPr lang="tr-TR" sz="1300" dirty="0"/>
          </a:p>
          <a:p>
            <a:pPr algn="ctr" indent="0" marL="0">
              <a:buNone/>
            </a:pPr>
            <a:r>
              <a:rPr lang="tr-TR" sz="1200" dirty="0">
                <a:solidFill>
                  <a:srgbClr val="FFFFFF"/>
                </a:solidFill>
                <a:latin typeface="Calibri" pitchFamily="34" charset="0"/>
                <a:ea typeface="Calibri" pitchFamily="34" charset="-122"/>
                <a:cs typeface="Calibri" pitchFamily="34" charset="-120"/>
              </a:rPr>
              <a:t>sys_write() → terminal sürücüsü → ekran</a:t>
            </a:r>
            <a:endParaRPr lang="tr-TR" sz="1300" dirty="0"/>
          </a:p>
        </p:txBody>
      </p:sp>
      <p:sp>
        <p:nvSpPr>
          <p:cNvPr id="21" name="Shape 19"/>
          <p:cNvSpPr/>
          <p:nvPr/>
        </p:nvSpPr>
        <p:spPr>
          <a:xfrm>
            <a:off x="548640" y="4608576"/>
            <a:ext cx="6035040" cy="0"/>
          </a:xfrm>
          <a:prstGeom prst="line">
            <a:avLst/>
          </a:prstGeom>
          <a:noFill/>
          <a:ln w="15875">
            <a:solidFill>
              <a:srgbClr val="B5453A"/>
            </a:solidFill>
            <a:prstDash val="dash"/>
          </a:ln>
        </p:spPr>
      </p:sp>
      <p:sp>
        <p:nvSpPr>
          <p:cNvPr id="22" name="Text 20"/>
          <p:cNvSpPr txBox="1"/>
          <p:nvPr/>
        </p:nvSpPr>
        <p:spPr>
          <a:xfrm>
            <a:off x="1463040" y="4389120"/>
            <a:ext cx="5029200" cy="201168"/>
          </a:xfrm>
          <a:prstGeom prst="rect">
            <a:avLst/>
          </a:prstGeom>
          <a:noFill/>
          <a:ln/>
        </p:spPr>
        <p:txBody>
          <a:bodyPr wrap="square" lIns="0" tIns="0" rIns="0" bIns="0" rtlCol="0" anchor="t"/>
          <a:lstStyle/>
          <a:p>
            <a:pPr algn="r" indent="0" marL="0">
              <a:buNone/>
            </a:pPr>
            <a:r>
              <a:rPr lang="tr-TR" sz="1100" b="1" i="1" dirty="0">
                <a:solidFill>
                  <a:srgbClr val="B5453A"/>
                </a:solidFill>
                <a:latin typeface="Calibri" pitchFamily="34" charset="0"/>
                <a:ea typeface="Calibri" pitchFamily="34" charset="-122"/>
                <a:cs typeface="Calibri" pitchFamily="34" charset="-120"/>
              </a:rPr>
              <a:t>syscall komutu: kullanıcı modu → çekirdek modu</a:t>
            </a:r>
            <a:endParaRPr lang="tr-TR" sz="1100" dirty="0"/>
          </a:p>
        </p:txBody>
      </p:sp>
      <p:sp>
        <p:nvSpPr>
          <p:cNvPr id="23" name="Shape 21"/>
          <p:cNvSpPr/>
          <p:nvPr/>
        </p:nvSpPr>
        <p:spPr>
          <a:xfrm>
            <a:off x="6858000" y="2103120"/>
            <a:ext cx="4800600" cy="4160520"/>
          </a:xfrm>
          <a:prstGeom prst="roundRect">
            <a:avLst>
              <a:gd name="adj" fmla="val 1319"/>
            </a:avLst>
          </a:prstGeom>
          <a:solidFill>
            <a:srgbClr val="F2F2F2"/>
          </a:solidFill>
          <a:ln/>
          <a:effectLst>
            <a:outerShdw sx="100000" sy="100000" kx="0" ky="0" algn="bl" rotWithShape="0" blurRad="101600" dist="25400" dir="5400000">
              <a:srgbClr val="000000">
                <a:alpha val="12000"/>
              </a:srgbClr>
            </a:outerShdw>
          </a:effectLst>
        </p:spPr>
      </p:sp>
      <p:sp>
        <p:nvSpPr>
          <p:cNvPr id="24" name="Text 22"/>
          <p:cNvSpPr txBox="1"/>
          <p:nvPr/>
        </p:nvSpPr>
        <p:spPr>
          <a:xfrm>
            <a:off x="7086600" y="2286000"/>
            <a:ext cx="434340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Üç sözcük, üç anlam</a:t>
            </a:r>
            <a:endParaRPr lang="tr-TR" sz="1500" dirty="0"/>
          </a:p>
        </p:txBody>
      </p:sp>
      <p:sp>
        <p:nvSpPr>
          <p:cNvPr id="25" name="Text 23"/>
          <p:cNvSpPr txBox="1"/>
          <p:nvPr/>
        </p:nvSpPr>
        <p:spPr>
          <a:xfrm>
            <a:off x="7086600" y="2743200"/>
            <a:ext cx="4343400" cy="3383280"/>
          </a:xfrm>
          <a:prstGeom prst="rect">
            <a:avLst/>
          </a:prstGeom>
          <a:noFill/>
          <a:ln/>
        </p:spPr>
        <p:txBody>
          <a:bodyPr wrap="square" lIns="0" tIns="0" rIns="0" bIns="0" rtlCol="0" anchor="t"/>
          <a:lstStyle/>
          <a:p>
            <a:pPr marL="228600" indent="-228600">
              <a:spcAft>
                <a:spcPts val="400"/>
              </a:spcAft>
              <a:buSzPct val="100000"/>
              <a:buChar char="•"/>
            </a:pPr>
            <a:r>
              <a:rPr lang="tr-TR" sz="1300" b="1" dirty="0">
                <a:solidFill>
                  <a:srgbClr val="3A464C"/>
                </a:solidFill>
                <a:latin typeface="Calibri" pitchFamily="34" charset="0"/>
                <a:ea typeface="Calibri" pitchFamily="34" charset="-122"/>
                <a:cs typeface="Calibri" pitchFamily="34" charset="-120"/>
              </a:rPr>
              <a:t>API</a:t>
            </a:r>
            <a:r>
              <a:rPr lang="tr-TR" sz="1300" dirty="0">
                <a:solidFill>
                  <a:srgbClr val="3A464C"/>
                </a:solidFill>
                <a:latin typeface="Calibri" pitchFamily="34" charset="0"/>
                <a:ea typeface="Calibri" pitchFamily="34" charset="-122"/>
                <a:cs typeface="Calibri" pitchFamily="34" charset="-120"/>
              </a:rPr>
              <a:t> (uygulama programlama arayüzü): programcının çağırdığı belgelenmiş fonksiyonlar; ör. POSIX ya da Windows API.</a:t>
            </a:r>
            <a:endParaRPr lang="tr-TR" sz="1300" dirty="0"/>
          </a:p>
          <a:p>
            <a:pPr marL="228600" indent="-228600">
              <a:spcAft>
                <a:spcPts val="400"/>
              </a:spcAft>
              <a:buSzPct val="100000"/>
              <a:buChar char="•"/>
            </a:pPr>
            <a:r>
              <a:rPr lang="tr-TR" sz="1300" b="1" dirty="0">
                <a:solidFill>
                  <a:srgbClr val="3A464C"/>
                </a:solidFill>
                <a:latin typeface="Calibri" pitchFamily="34" charset="0"/>
                <a:ea typeface="Calibri" pitchFamily="34" charset="-122"/>
                <a:cs typeface="Calibri" pitchFamily="34" charset="-120"/>
              </a:rPr>
              <a:t>Sarmalayıcı (wrapper):</a:t>
            </a:r>
            <a:r>
              <a:rPr lang="tr-TR" sz="1300" dirty="0">
                <a:solidFill>
                  <a:srgbClr val="3A464C"/>
                </a:solidFill>
                <a:latin typeface="Calibri" pitchFamily="34" charset="0"/>
                <a:ea typeface="Calibri" pitchFamily="34" charset="-122"/>
                <a:cs typeface="Calibri" pitchFamily="34" charset="-120"/>
              </a:rPr>
              <a:t> sistem çağrısıyla aynı adı taşıyan minik kütüphane fonksiyonu; yalnızca yazmaçları doldurur ve tuzak kurar.</a:t>
            </a:r>
            <a:endParaRPr lang="tr-TR" sz="1300" dirty="0"/>
          </a:p>
          <a:p>
            <a:pPr marL="228600" indent="-228600">
              <a:spcAft>
                <a:spcPts val="400"/>
              </a:spcAft>
              <a:buSzPct val="100000"/>
              <a:buChar char="•"/>
            </a:pPr>
            <a:r>
              <a:rPr lang="tr-TR" sz="1300" b="1" dirty="0">
                <a:solidFill>
                  <a:srgbClr val="3A464C"/>
                </a:solidFill>
                <a:latin typeface="Calibri" pitchFamily="34" charset="0"/>
                <a:ea typeface="Calibri" pitchFamily="34" charset="-122"/>
                <a:cs typeface="Calibri" pitchFamily="34" charset="-120"/>
              </a:rPr>
              <a:t>Sistem çağrısı:</a:t>
            </a:r>
            <a:r>
              <a:rPr lang="tr-TR" sz="1300" dirty="0">
                <a:solidFill>
                  <a:srgbClr val="3A464C"/>
                </a:solidFill>
                <a:latin typeface="Calibri" pitchFamily="34" charset="0"/>
                <a:ea typeface="Calibri" pitchFamily="34" charset="-122"/>
                <a:cs typeface="Calibri" pitchFamily="34" charset="-120"/>
              </a:rPr>
              <a:t> çekirdeğe asıl giriş.</a:t>
            </a:r>
            <a:endParaRPr lang="tr-TR" sz="1300" dirty="0"/>
          </a:p>
          <a:p>
            <a:pPr marL="228600" indent="-228600">
              <a:spcAft>
                <a:spcPts val="400"/>
              </a:spcAft>
              <a:buSzPct val="100000"/>
              <a:buChar char="•"/>
            </a:pPr>
            <a:r>
              <a:rPr lang="tr-TR" sz="1300" dirty="0">
                <a:solidFill>
                  <a:srgbClr val="3A464C"/>
                </a:solidFill>
                <a:latin typeface="Calibri" pitchFamily="34" charset="0"/>
                <a:ea typeface="Calibri" pitchFamily="34" charset="-122"/>
                <a:cs typeface="Calibri" pitchFamily="34" charset="-120"/>
              </a:rPr>
              <a:t>Her API fonksiyonu sistem çağrısı yapmaz: strlen() ve sqrt() hiç yapmaz; printf() yalnızca tamponu boşaltılınca yapar.</a:t>
            </a:r>
            <a:endParaRPr lang="tr-TR"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SİSTEM ÇAĞRILARI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Neden Bir API'ye Göre Programlanır?</a:t>
            </a:r>
            <a:endParaRPr lang="tr-TR" sz="3000" dirty="0"/>
          </a:p>
        </p:txBody>
      </p:sp>
      <p:sp>
        <p:nvSpPr>
          <p:cNvPr id="4" name="Text 2"/>
          <p:cNvSpPr txBox="1"/>
          <p:nvPr/>
        </p:nvSpPr>
        <p:spPr>
          <a:xfrm>
            <a:off x="548640" y="1417320"/>
            <a:ext cx="11064240" cy="502920"/>
          </a:xfrm>
          <a:prstGeom prst="rect">
            <a:avLst/>
          </a:prstGeom>
          <a:noFill/>
          <a:ln/>
        </p:spPr>
        <p:txBody>
          <a:bodyPr wrap="square" lIns="0" tIns="0" rIns="0" bIns="0" rtlCol="0" anchor="t"/>
          <a:lstStyle/>
          <a:p>
            <a:pPr indent="0" marL="0">
              <a:buNone/>
            </a:pPr>
            <a:r>
              <a:rPr lang="tr-TR" sz="1500" dirty="0">
                <a:solidFill>
                  <a:srgbClr val="3A464C"/>
                </a:solidFill>
                <a:latin typeface="Calibri" pitchFamily="34" charset="0"/>
                <a:ea typeface="Calibri" pitchFamily="34" charset="-122"/>
                <a:cs typeface="Calibri" pitchFamily="34" charset="-120"/>
              </a:rPr>
              <a:t>Yaygın üç API — her biri kendi platformunun gerçek sistem çağrılarını gizler.</a:t>
            </a:r>
            <a:endParaRPr lang="tr-TR" sz="15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11</a:t>
            </a:r>
            <a:endParaRPr lang="tr-TR" sz="900" dirty="0"/>
          </a:p>
        </p:txBody>
      </p:sp>
      <p:sp>
        <p:nvSpPr>
          <p:cNvPr id="7" name="Shape 5"/>
          <p:cNvSpPr/>
          <p:nvPr/>
        </p:nvSpPr>
        <p:spPr>
          <a:xfrm>
            <a:off x="548640" y="2103120"/>
            <a:ext cx="3550920" cy="3154680"/>
          </a:xfrm>
          <a:prstGeom prst="roundRect">
            <a:avLst>
              <a:gd name="adj" fmla="val 1739"/>
            </a:avLst>
          </a:prstGeom>
          <a:solidFill>
            <a:srgbClr val="F2F2F2"/>
          </a:solidFill>
          <a:ln/>
          <a:effectLst>
            <a:outerShdw sx="100000" sy="100000" kx="0" ky="0" algn="bl" rotWithShape="0" blurRad="101600" dist="25400" dir="5400000">
              <a:srgbClr val="000000">
                <a:alpha val="12000"/>
              </a:srgbClr>
            </a:outerShdw>
          </a:effectLst>
        </p:spPr>
      </p:sp>
      <p:sp>
        <p:nvSpPr>
          <p:cNvPr id="8" name="Text 6"/>
          <p:cNvSpPr txBox="1"/>
          <p:nvPr/>
        </p:nvSpPr>
        <p:spPr>
          <a:xfrm>
            <a:off x="777240" y="228600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POSIX API</a:t>
            </a:r>
            <a:endParaRPr lang="tr-TR" sz="1600" dirty="0"/>
          </a:p>
        </p:txBody>
      </p:sp>
      <p:sp>
        <p:nvSpPr>
          <p:cNvPr id="9" name="Text 7"/>
          <p:cNvSpPr txBox="1"/>
          <p:nvPr/>
        </p:nvSpPr>
        <p:spPr>
          <a:xfrm>
            <a:off x="777240" y="2743200"/>
            <a:ext cx="3093720" cy="2377440"/>
          </a:xfrm>
          <a:prstGeom prst="rect">
            <a:avLst/>
          </a:prstGeom>
          <a:noFill/>
          <a:ln/>
        </p:spPr>
        <p:txBody>
          <a:bodyPr wrap="square" lIns="0" tIns="0" rIns="0" bIns="0" rtlCol="0" anchor="t"/>
          <a:lstStyle/>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Linux, macOS, BSD'ler.</a:t>
            </a:r>
            <a:endParaRPr lang="tr-TR" sz="1500" dirty="0"/>
          </a:p>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C kütüphanesi sağlar (glibc, musl, …).</a:t>
            </a:r>
            <a:endParaRPr lang="tr-TR" sz="1500" dirty="0"/>
          </a:p>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write(), fork(), open()…</a:t>
            </a:r>
            <a:endParaRPr lang="tr-TR" sz="1500" dirty="0"/>
          </a:p>
        </p:txBody>
      </p:sp>
      <p:sp>
        <p:nvSpPr>
          <p:cNvPr id="10" name="Shape 8"/>
          <p:cNvSpPr/>
          <p:nvPr/>
        </p:nvSpPr>
        <p:spPr>
          <a:xfrm>
            <a:off x="4328160" y="2103120"/>
            <a:ext cx="3550920" cy="3154680"/>
          </a:xfrm>
          <a:prstGeom prst="roundRect">
            <a:avLst>
              <a:gd name="adj" fmla="val 1739"/>
            </a:avLst>
          </a:prstGeom>
          <a:solidFill>
            <a:srgbClr val="F2F2F2"/>
          </a:solidFill>
          <a:ln/>
          <a:effectLst>
            <a:outerShdw sx="100000" sy="100000" kx="0" ky="0" algn="bl" rotWithShape="0" blurRad="101600" dist="25400" dir="5400000">
              <a:srgbClr val="000000">
                <a:alpha val="12000"/>
              </a:srgbClr>
            </a:outerShdw>
          </a:effectLst>
        </p:spPr>
      </p:sp>
      <p:sp>
        <p:nvSpPr>
          <p:cNvPr id="11" name="Text 9"/>
          <p:cNvSpPr txBox="1"/>
          <p:nvPr/>
        </p:nvSpPr>
        <p:spPr>
          <a:xfrm>
            <a:off x="4556760" y="228600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Windows API</a:t>
            </a:r>
            <a:endParaRPr lang="tr-TR" sz="1600" dirty="0"/>
          </a:p>
        </p:txBody>
      </p:sp>
      <p:sp>
        <p:nvSpPr>
          <p:cNvPr id="12" name="Text 10"/>
          <p:cNvSpPr txBox="1"/>
          <p:nvPr/>
        </p:nvSpPr>
        <p:spPr>
          <a:xfrm>
            <a:off x="4556760" y="2743200"/>
            <a:ext cx="3093720" cy="2377440"/>
          </a:xfrm>
          <a:prstGeom prst="rect">
            <a:avLst/>
          </a:prstGeom>
          <a:noFill/>
          <a:ln/>
        </p:spPr>
        <p:txBody>
          <a:bodyPr wrap="square" lIns="0" tIns="0" rIns="0" bIns="0" rtlCol="0" anchor="t"/>
          <a:lstStyle/>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Windows.</a:t>
            </a:r>
            <a:endParaRPr lang="tr-TR" sz="1500" dirty="0"/>
          </a:p>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CreateProcess(), ReadFile()…</a:t>
            </a:r>
            <a:endParaRPr lang="tr-TR" sz="1500" dirty="0"/>
          </a:p>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İçeride ntdll.dll'i çağırır; asıl çekirdek çağrılarını o yapar (NtCreateUserProcess…).</a:t>
            </a:r>
            <a:endParaRPr lang="tr-TR" sz="1500" dirty="0"/>
          </a:p>
        </p:txBody>
      </p:sp>
      <p:sp>
        <p:nvSpPr>
          <p:cNvPr id="13" name="Shape 11"/>
          <p:cNvSpPr/>
          <p:nvPr/>
        </p:nvSpPr>
        <p:spPr>
          <a:xfrm>
            <a:off x="8107680" y="2103120"/>
            <a:ext cx="3550920" cy="3154680"/>
          </a:xfrm>
          <a:prstGeom prst="roundRect">
            <a:avLst>
              <a:gd name="adj" fmla="val 1739"/>
            </a:avLst>
          </a:prstGeom>
          <a:solidFill>
            <a:srgbClr val="F2F2F2"/>
          </a:solidFill>
          <a:ln/>
          <a:effectLst>
            <a:outerShdw sx="100000" sy="100000" kx="0" ky="0" algn="bl" rotWithShape="0" blurRad="101600" dist="25400" dir="5400000">
              <a:srgbClr val="000000">
                <a:alpha val="12000"/>
              </a:srgbClr>
            </a:outerShdw>
          </a:effectLst>
        </p:spPr>
      </p:sp>
      <p:sp>
        <p:nvSpPr>
          <p:cNvPr id="14" name="Text 12"/>
          <p:cNvSpPr txBox="1"/>
          <p:nvPr/>
        </p:nvSpPr>
        <p:spPr>
          <a:xfrm>
            <a:off x="8336280" y="228600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Java API</a:t>
            </a:r>
            <a:endParaRPr lang="tr-TR" sz="1600" dirty="0"/>
          </a:p>
        </p:txBody>
      </p:sp>
      <p:sp>
        <p:nvSpPr>
          <p:cNvPr id="15" name="Text 13"/>
          <p:cNvSpPr txBox="1"/>
          <p:nvPr/>
        </p:nvSpPr>
        <p:spPr>
          <a:xfrm>
            <a:off x="8336280" y="2743200"/>
            <a:ext cx="3093720" cy="2377440"/>
          </a:xfrm>
          <a:prstGeom prst="rect">
            <a:avLst/>
          </a:prstGeom>
          <a:noFill/>
          <a:ln/>
        </p:spPr>
        <p:txBody>
          <a:bodyPr wrap="square" lIns="0" tIns="0" rIns="0" bIns="0" rtlCol="0" anchor="t"/>
          <a:lstStyle/>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Java Sanal Makinesi olan her işletim sistemi.</a:t>
            </a:r>
            <a:endParaRPr lang="tr-TR" sz="1500" dirty="0"/>
          </a:p>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Files.readAllBytes(), ProcessBuilder…</a:t>
            </a:r>
            <a:endParaRPr lang="tr-TR" sz="1500" dirty="0"/>
          </a:p>
          <a:p>
            <a:pPr marL="228600" indent="-228600">
              <a:spcAft>
                <a:spcPts val="400"/>
              </a:spcAft>
              <a:buSzPct val="100000"/>
              <a:buChar char="•"/>
            </a:pPr>
            <a:r>
              <a:rPr lang="tr-TR" sz="1500" dirty="0">
                <a:solidFill>
                  <a:srgbClr val="3A464C"/>
                </a:solidFill>
                <a:latin typeface="Calibri" pitchFamily="34" charset="0"/>
                <a:ea typeface="Calibri" pitchFamily="34" charset="-122"/>
                <a:cs typeface="Calibri" pitchFamily="34" charset="-120"/>
              </a:rPr>
              <a:t>JVM bunları ana işletim sisteminin sistem çağrılarına çevirir.</a:t>
            </a:r>
            <a:endParaRPr lang="tr-TR" sz="1500" dirty="0"/>
          </a:p>
        </p:txBody>
      </p:sp>
      <p:sp>
        <p:nvSpPr>
          <p:cNvPr id="16" name="Shape 14"/>
          <p:cNvSpPr/>
          <p:nvPr/>
        </p:nvSpPr>
        <p:spPr>
          <a:xfrm>
            <a:off x="548640" y="5486400"/>
            <a:ext cx="11109960" cy="777240"/>
          </a:xfrm>
          <a:prstGeom prst="roundRect">
            <a:avLst>
              <a:gd name="adj" fmla="val 7059"/>
            </a:avLst>
          </a:prstGeom>
          <a:solidFill>
            <a:srgbClr val="36454F"/>
          </a:solidFill>
          <a:ln/>
          <a:effectLst>
            <a:outerShdw sx="100000" sy="100000" kx="0" ky="0" algn="bl" rotWithShape="0" blurRad="101600" dist="25400" dir="5400000">
              <a:srgbClr val="000000">
                <a:alpha val="12000"/>
              </a:srgbClr>
            </a:outerShdw>
          </a:effectLst>
        </p:spPr>
      </p:sp>
      <p:sp>
        <p:nvSpPr>
          <p:cNvPr id="17" name="Text 15"/>
          <p:cNvSpPr txBox="1"/>
          <p:nvPr/>
        </p:nvSpPr>
        <p:spPr>
          <a:xfrm>
            <a:off x="777240" y="5486400"/>
            <a:ext cx="10652760" cy="77724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Taşınabilirlik: write, 64 bit x86 Linux'ta 1, 32 bit x86 Linux'ta 4, ARM64 Linux'ta 64 numaralı sistem çağrısıdır. API adı write() ise her yerde aynıdır.</a:t>
            </a:r>
            <a:endParaRPr lang="tr-TR"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SİSTEM ÇAĞRILARI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Her Sistem Çağrısının Bir Numarası Vardır</a:t>
            </a:r>
            <a:endParaRPr lang="tr-TR" sz="3000" dirty="0"/>
          </a:p>
        </p:txBody>
      </p:sp>
      <p:sp>
        <p:nvSpPr>
          <p:cNvPr id="4" name="Text 2"/>
          <p:cNvSpPr txBox="1"/>
          <p:nvPr/>
        </p:nvSpPr>
        <p:spPr>
          <a:xfrm>
            <a:off x="548640" y="1417320"/>
            <a:ext cx="11064240" cy="502920"/>
          </a:xfrm>
          <a:prstGeom prst="rect">
            <a:avLst/>
          </a:prstGeom>
          <a:noFill/>
          <a:ln/>
        </p:spPr>
        <p:txBody>
          <a:bodyPr wrap="square" lIns="0" tIns="0" rIns="0" bIns="0" rtlCol="0" anchor="t"/>
          <a:lstStyle/>
          <a:p>
            <a:pPr indent="0" marL="0">
              <a:buNone/>
            </a:pPr>
            <a:r>
              <a:rPr lang="tr-TR" sz="1500" dirty="0">
                <a:solidFill>
                  <a:srgbClr val="3A464C"/>
                </a:solidFill>
                <a:latin typeface="Calibri" pitchFamily="34" charset="0"/>
                <a:ea typeface="Calibri" pitchFamily="34" charset="-122"/>
                <a:cs typeface="Calibri" pitchFamily="34" charset="-120"/>
              </a:rPr>
              <a:t>Çekirdek bir tablo tutar: sistem çağrısı numarası → işi yapan çekirdek fonksiyonunun adresi.</a:t>
            </a:r>
            <a:endParaRPr lang="tr-TR" sz="15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12</a:t>
            </a:r>
            <a:endParaRPr lang="tr-TR" sz="900" dirty="0"/>
          </a:p>
        </p:txBody>
      </p:sp>
      <p:sp>
        <p:nvSpPr>
          <p:cNvPr id="7" name="Shape 5"/>
          <p:cNvSpPr/>
          <p:nvPr/>
        </p:nvSpPr>
        <p:spPr>
          <a:xfrm>
            <a:off x="548640" y="3566160"/>
            <a:ext cx="1554480" cy="731520"/>
          </a:xfrm>
          <a:prstGeom prst="roundRect">
            <a:avLst>
              <a:gd name="adj" fmla="val 6250"/>
            </a:avLst>
          </a:prstGeom>
          <a:solidFill>
            <a:srgbClr val="02C39A"/>
          </a:solidFill>
          <a:ln/>
        </p:spPr>
      </p:sp>
      <p:sp>
        <p:nvSpPr>
          <p:cNvPr id="8" name="Text 6"/>
          <p:cNvSpPr txBox="1"/>
          <p:nvPr/>
        </p:nvSpPr>
        <p:spPr>
          <a:xfrm>
            <a:off x="548640" y="3566160"/>
            <a:ext cx="1554480" cy="731520"/>
          </a:xfrm>
          <a:prstGeom prst="rect">
            <a:avLst/>
          </a:prstGeom>
          <a:noFill/>
          <a:ln/>
        </p:spPr>
        <p:txBody>
          <a:bodyPr wrap="square" lIns="38100" tIns="38100" rIns="38100" bIns="38100" rtlCol="0" anchor="ctr"/>
          <a:lstStyle/>
          <a:p>
            <a:pPr algn="ctr" indent="0" marL="0">
              <a:buNone/>
            </a:pPr>
            <a:r>
              <a:rPr lang="tr-TR" sz="1600" b="1" dirty="0">
                <a:solidFill>
                  <a:srgbClr val="212121"/>
                </a:solidFill>
                <a:latin typeface="Consolas" pitchFamily="34" charset="0"/>
                <a:ea typeface="Consolas" pitchFamily="34" charset="-122"/>
                <a:cs typeface="Consolas" pitchFamily="34" charset="-120"/>
              </a:rPr>
              <a:t>rax = 1</a:t>
            </a:r>
            <a:endParaRPr lang="tr-TR" sz="1600" dirty="0"/>
          </a:p>
        </p:txBody>
      </p:sp>
      <p:sp>
        <p:nvSpPr>
          <p:cNvPr id="9" name="Text 7"/>
          <p:cNvSpPr txBox="1"/>
          <p:nvPr/>
        </p:nvSpPr>
        <p:spPr>
          <a:xfrm>
            <a:off x="548640" y="4361688"/>
            <a:ext cx="1737360" cy="548640"/>
          </a:xfrm>
          <a:prstGeom prst="rect">
            <a:avLst/>
          </a:prstGeom>
          <a:noFill/>
          <a:ln/>
        </p:spPr>
        <p:txBody>
          <a:bodyPr wrap="square" lIns="0" tIns="0" rIns="0" bIns="0" rtlCol="0" anchor="t"/>
          <a:lstStyle/>
          <a:p>
            <a:pPr indent="0" marL="0">
              <a:buNone/>
            </a:pPr>
            <a:r>
              <a:rPr lang="tr-TR" sz="1100" i="1" dirty="0">
                <a:solidFill>
                  <a:srgbClr val="6B7679"/>
                </a:solidFill>
                <a:latin typeface="Calibri" pitchFamily="34" charset="0"/>
                <a:ea typeface="Calibri" pitchFamily="34" charset="-122"/>
                <a:cs typeface="Calibri" pitchFamily="34" charset="-120"/>
              </a:rPr>
              <a:t>numarayı write() sarmalayıcısı koyar</a:t>
            </a:r>
            <a:endParaRPr lang="tr-TR" sz="1100" dirty="0"/>
          </a:p>
        </p:txBody>
      </p:sp>
      <p:sp>
        <p:nvSpPr>
          <p:cNvPr id="10" name="Shape 8"/>
          <p:cNvSpPr/>
          <p:nvPr/>
        </p:nvSpPr>
        <p:spPr>
          <a:xfrm>
            <a:off x="2743200" y="2148840"/>
            <a:ext cx="640080" cy="347472"/>
          </a:xfrm>
          <a:prstGeom prst="roundRect">
            <a:avLst>
              <a:gd name="adj" fmla="val 13158"/>
            </a:avLst>
          </a:prstGeom>
          <a:solidFill>
            <a:srgbClr val="F2F2F2"/>
          </a:solidFill>
          <a:ln/>
        </p:spPr>
      </p:sp>
      <p:sp>
        <p:nvSpPr>
          <p:cNvPr id="11" name="Text 9"/>
          <p:cNvSpPr txBox="1"/>
          <p:nvPr/>
        </p:nvSpPr>
        <p:spPr>
          <a:xfrm>
            <a:off x="2743200" y="2148840"/>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0</a:t>
            </a:r>
            <a:endParaRPr lang="tr-TR" sz="1200" dirty="0"/>
          </a:p>
        </p:txBody>
      </p:sp>
      <p:sp>
        <p:nvSpPr>
          <p:cNvPr id="12" name="Shape 10"/>
          <p:cNvSpPr/>
          <p:nvPr/>
        </p:nvSpPr>
        <p:spPr>
          <a:xfrm>
            <a:off x="3429000" y="2148840"/>
            <a:ext cx="1737360" cy="347472"/>
          </a:xfrm>
          <a:prstGeom prst="roundRect">
            <a:avLst>
              <a:gd name="adj" fmla="val 13158"/>
            </a:avLst>
          </a:prstGeom>
          <a:solidFill>
            <a:srgbClr val="F2F2F2"/>
          </a:solidFill>
          <a:ln/>
        </p:spPr>
      </p:sp>
      <p:sp>
        <p:nvSpPr>
          <p:cNvPr id="13" name="Text 11"/>
          <p:cNvSpPr txBox="1"/>
          <p:nvPr/>
        </p:nvSpPr>
        <p:spPr>
          <a:xfrm>
            <a:off x="3429000" y="2148840"/>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sys_read</a:t>
            </a:r>
            <a:endParaRPr lang="tr-TR" sz="1200" dirty="0"/>
          </a:p>
        </p:txBody>
      </p:sp>
      <p:sp>
        <p:nvSpPr>
          <p:cNvPr id="14" name="Shape 12"/>
          <p:cNvSpPr/>
          <p:nvPr/>
        </p:nvSpPr>
        <p:spPr>
          <a:xfrm>
            <a:off x="2743200" y="2532888"/>
            <a:ext cx="640080" cy="347472"/>
          </a:xfrm>
          <a:prstGeom prst="roundRect">
            <a:avLst>
              <a:gd name="adj" fmla="val 13158"/>
            </a:avLst>
          </a:prstGeom>
          <a:solidFill>
            <a:srgbClr val="02C39A"/>
          </a:solidFill>
          <a:ln/>
        </p:spPr>
      </p:sp>
      <p:sp>
        <p:nvSpPr>
          <p:cNvPr id="15" name="Text 13"/>
          <p:cNvSpPr txBox="1"/>
          <p:nvPr/>
        </p:nvSpPr>
        <p:spPr>
          <a:xfrm>
            <a:off x="2743200" y="2532888"/>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a:t>
            </a:r>
            <a:endParaRPr lang="tr-TR" sz="1200" dirty="0"/>
          </a:p>
        </p:txBody>
      </p:sp>
      <p:sp>
        <p:nvSpPr>
          <p:cNvPr id="16" name="Shape 14"/>
          <p:cNvSpPr/>
          <p:nvPr/>
        </p:nvSpPr>
        <p:spPr>
          <a:xfrm>
            <a:off x="3429000" y="2532888"/>
            <a:ext cx="1737360" cy="347472"/>
          </a:xfrm>
          <a:prstGeom prst="roundRect">
            <a:avLst>
              <a:gd name="adj" fmla="val 13158"/>
            </a:avLst>
          </a:prstGeom>
          <a:solidFill>
            <a:srgbClr val="02C39A"/>
          </a:solidFill>
          <a:ln/>
        </p:spPr>
      </p:sp>
      <p:sp>
        <p:nvSpPr>
          <p:cNvPr id="17" name="Text 15"/>
          <p:cNvSpPr txBox="1"/>
          <p:nvPr/>
        </p:nvSpPr>
        <p:spPr>
          <a:xfrm>
            <a:off x="3429000" y="2532888"/>
            <a:ext cx="173736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sys_write</a:t>
            </a:r>
            <a:endParaRPr lang="tr-TR" sz="1200" dirty="0"/>
          </a:p>
        </p:txBody>
      </p:sp>
      <p:sp>
        <p:nvSpPr>
          <p:cNvPr id="18" name="Shape 16"/>
          <p:cNvSpPr/>
          <p:nvPr/>
        </p:nvSpPr>
        <p:spPr>
          <a:xfrm>
            <a:off x="2743200" y="2916936"/>
            <a:ext cx="640080" cy="347472"/>
          </a:xfrm>
          <a:prstGeom prst="roundRect">
            <a:avLst>
              <a:gd name="adj" fmla="val 13158"/>
            </a:avLst>
          </a:prstGeom>
          <a:solidFill>
            <a:srgbClr val="F2F2F2"/>
          </a:solidFill>
          <a:ln/>
        </p:spPr>
      </p:sp>
      <p:sp>
        <p:nvSpPr>
          <p:cNvPr id="19" name="Text 17"/>
          <p:cNvSpPr txBox="1"/>
          <p:nvPr/>
        </p:nvSpPr>
        <p:spPr>
          <a:xfrm>
            <a:off x="2743200" y="2916936"/>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2</a:t>
            </a:r>
            <a:endParaRPr lang="tr-TR" sz="1200" dirty="0"/>
          </a:p>
        </p:txBody>
      </p:sp>
      <p:sp>
        <p:nvSpPr>
          <p:cNvPr id="20" name="Shape 18"/>
          <p:cNvSpPr/>
          <p:nvPr/>
        </p:nvSpPr>
        <p:spPr>
          <a:xfrm>
            <a:off x="3429000" y="2916936"/>
            <a:ext cx="1737360" cy="347472"/>
          </a:xfrm>
          <a:prstGeom prst="roundRect">
            <a:avLst>
              <a:gd name="adj" fmla="val 13158"/>
            </a:avLst>
          </a:prstGeom>
          <a:solidFill>
            <a:srgbClr val="F2F2F2"/>
          </a:solidFill>
          <a:ln/>
        </p:spPr>
      </p:sp>
      <p:sp>
        <p:nvSpPr>
          <p:cNvPr id="21" name="Text 19"/>
          <p:cNvSpPr txBox="1"/>
          <p:nvPr/>
        </p:nvSpPr>
        <p:spPr>
          <a:xfrm>
            <a:off x="3429000" y="2916936"/>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sys_open</a:t>
            </a:r>
            <a:endParaRPr lang="tr-TR" sz="1200" dirty="0"/>
          </a:p>
        </p:txBody>
      </p:sp>
      <p:sp>
        <p:nvSpPr>
          <p:cNvPr id="22" name="Shape 20"/>
          <p:cNvSpPr/>
          <p:nvPr/>
        </p:nvSpPr>
        <p:spPr>
          <a:xfrm>
            <a:off x="2743200" y="3300984"/>
            <a:ext cx="640080" cy="347472"/>
          </a:xfrm>
          <a:prstGeom prst="roundRect">
            <a:avLst>
              <a:gd name="adj" fmla="val 13158"/>
            </a:avLst>
          </a:prstGeom>
          <a:solidFill>
            <a:srgbClr val="F2F2F2"/>
          </a:solidFill>
          <a:ln/>
        </p:spPr>
      </p:sp>
      <p:sp>
        <p:nvSpPr>
          <p:cNvPr id="23" name="Text 21"/>
          <p:cNvSpPr txBox="1"/>
          <p:nvPr/>
        </p:nvSpPr>
        <p:spPr>
          <a:xfrm>
            <a:off x="2743200" y="3300984"/>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3</a:t>
            </a:r>
            <a:endParaRPr lang="tr-TR" sz="1200" dirty="0"/>
          </a:p>
        </p:txBody>
      </p:sp>
      <p:sp>
        <p:nvSpPr>
          <p:cNvPr id="24" name="Shape 22"/>
          <p:cNvSpPr/>
          <p:nvPr/>
        </p:nvSpPr>
        <p:spPr>
          <a:xfrm>
            <a:off x="3429000" y="3300984"/>
            <a:ext cx="1737360" cy="347472"/>
          </a:xfrm>
          <a:prstGeom prst="roundRect">
            <a:avLst>
              <a:gd name="adj" fmla="val 13158"/>
            </a:avLst>
          </a:prstGeom>
          <a:solidFill>
            <a:srgbClr val="F2F2F2"/>
          </a:solidFill>
          <a:ln/>
        </p:spPr>
      </p:sp>
      <p:sp>
        <p:nvSpPr>
          <p:cNvPr id="25" name="Text 23"/>
          <p:cNvSpPr txBox="1"/>
          <p:nvPr/>
        </p:nvSpPr>
        <p:spPr>
          <a:xfrm>
            <a:off x="3429000" y="3300984"/>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sys_close</a:t>
            </a:r>
            <a:endParaRPr lang="tr-TR" sz="1200" dirty="0"/>
          </a:p>
        </p:txBody>
      </p:sp>
      <p:sp>
        <p:nvSpPr>
          <p:cNvPr id="26" name="Shape 24"/>
          <p:cNvSpPr/>
          <p:nvPr/>
        </p:nvSpPr>
        <p:spPr>
          <a:xfrm>
            <a:off x="2743200" y="3685032"/>
            <a:ext cx="640080" cy="347472"/>
          </a:xfrm>
          <a:prstGeom prst="roundRect">
            <a:avLst>
              <a:gd name="adj" fmla="val 13158"/>
            </a:avLst>
          </a:prstGeom>
          <a:solidFill>
            <a:srgbClr val="F2F2F2"/>
          </a:solidFill>
          <a:ln/>
        </p:spPr>
      </p:sp>
      <p:sp>
        <p:nvSpPr>
          <p:cNvPr id="27" name="Text 25"/>
          <p:cNvSpPr txBox="1"/>
          <p:nvPr/>
        </p:nvSpPr>
        <p:spPr>
          <a:xfrm>
            <a:off x="2743200" y="3685032"/>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a:t>
            </a:r>
            <a:endParaRPr lang="tr-TR" sz="1200" dirty="0"/>
          </a:p>
        </p:txBody>
      </p:sp>
      <p:sp>
        <p:nvSpPr>
          <p:cNvPr id="28" name="Shape 26"/>
          <p:cNvSpPr/>
          <p:nvPr/>
        </p:nvSpPr>
        <p:spPr>
          <a:xfrm>
            <a:off x="3429000" y="3685032"/>
            <a:ext cx="1737360" cy="347472"/>
          </a:xfrm>
          <a:prstGeom prst="roundRect">
            <a:avLst>
              <a:gd name="adj" fmla="val 13158"/>
            </a:avLst>
          </a:prstGeom>
          <a:solidFill>
            <a:srgbClr val="F2F2F2"/>
          </a:solidFill>
          <a:ln/>
        </p:spPr>
      </p:sp>
      <p:sp>
        <p:nvSpPr>
          <p:cNvPr id="29" name="Text 27"/>
          <p:cNvSpPr txBox="1"/>
          <p:nvPr/>
        </p:nvSpPr>
        <p:spPr>
          <a:xfrm>
            <a:off x="3429000" y="3685032"/>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a:t>
            </a:r>
            <a:endParaRPr lang="tr-TR" sz="1200" dirty="0"/>
          </a:p>
        </p:txBody>
      </p:sp>
      <p:sp>
        <p:nvSpPr>
          <p:cNvPr id="30" name="Shape 28"/>
          <p:cNvSpPr/>
          <p:nvPr/>
        </p:nvSpPr>
        <p:spPr>
          <a:xfrm>
            <a:off x="2743200" y="4069080"/>
            <a:ext cx="640080" cy="347472"/>
          </a:xfrm>
          <a:prstGeom prst="roundRect">
            <a:avLst>
              <a:gd name="adj" fmla="val 13158"/>
            </a:avLst>
          </a:prstGeom>
          <a:solidFill>
            <a:srgbClr val="F2F2F2"/>
          </a:solidFill>
          <a:ln/>
        </p:spPr>
      </p:sp>
      <p:sp>
        <p:nvSpPr>
          <p:cNvPr id="31" name="Text 29"/>
          <p:cNvSpPr txBox="1"/>
          <p:nvPr/>
        </p:nvSpPr>
        <p:spPr>
          <a:xfrm>
            <a:off x="2743200" y="4069080"/>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39</a:t>
            </a:r>
            <a:endParaRPr lang="tr-TR" sz="1200" dirty="0"/>
          </a:p>
        </p:txBody>
      </p:sp>
      <p:sp>
        <p:nvSpPr>
          <p:cNvPr id="32" name="Shape 30"/>
          <p:cNvSpPr/>
          <p:nvPr/>
        </p:nvSpPr>
        <p:spPr>
          <a:xfrm>
            <a:off x="3429000" y="4069080"/>
            <a:ext cx="1737360" cy="347472"/>
          </a:xfrm>
          <a:prstGeom prst="roundRect">
            <a:avLst>
              <a:gd name="adj" fmla="val 13158"/>
            </a:avLst>
          </a:prstGeom>
          <a:solidFill>
            <a:srgbClr val="F2F2F2"/>
          </a:solidFill>
          <a:ln/>
        </p:spPr>
      </p:sp>
      <p:sp>
        <p:nvSpPr>
          <p:cNvPr id="33" name="Text 31"/>
          <p:cNvSpPr txBox="1"/>
          <p:nvPr/>
        </p:nvSpPr>
        <p:spPr>
          <a:xfrm>
            <a:off x="3429000" y="4069080"/>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sys_getpid</a:t>
            </a:r>
            <a:endParaRPr lang="tr-TR" sz="1200" dirty="0"/>
          </a:p>
        </p:txBody>
      </p:sp>
      <p:sp>
        <p:nvSpPr>
          <p:cNvPr id="34" name="Shape 32"/>
          <p:cNvSpPr/>
          <p:nvPr/>
        </p:nvSpPr>
        <p:spPr>
          <a:xfrm>
            <a:off x="2743200" y="4453128"/>
            <a:ext cx="640080" cy="347472"/>
          </a:xfrm>
          <a:prstGeom prst="roundRect">
            <a:avLst>
              <a:gd name="adj" fmla="val 13158"/>
            </a:avLst>
          </a:prstGeom>
          <a:solidFill>
            <a:srgbClr val="F2F2F2"/>
          </a:solidFill>
          <a:ln/>
        </p:spPr>
      </p:sp>
      <p:sp>
        <p:nvSpPr>
          <p:cNvPr id="35" name="Text 33"/>
          <p:cNvSpPr txBox="1"/>
          <p:nvPr/>
        </p:nvSpPr>
        <p:spPr>
          <a:xfrm>
            <a:off x="2743200" y="4453128"/>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57</a:t>
            </a:r>
            <a:endParaRPr lang="tr-TR" sz="1200" dirty="0"/>
          </a:p>
        </p:txBody>
      </p:sp>
      <p:sp>
        <p:nvSpPr>
          <p:cNvPr id="36" name="Shape 34"/>
          <p:cNvSpPr/>
          <p:nvPr/>
        </p:nvSpPr>
        <p:spPr>
          <a:xfrm>
            <a:off x="3429000" y="4453128"/>
            <a:ext cx="1737360" cy="347472"/>
          </a:xfrm>
          <a:prstGeom prst="roundRect">
            <a:avLst>
              <a:gd name="adj" fmla="val 13158"/>
            </a:avLst>
          </a:prstGeom>
          <a:solidFill>
            <a:srgbClr val="F2F2F2"/>
          </a:solidFill>
          <a:ln/>
        </p:spPr>
      </p:sp>
      <p:sp>
        <p:nvSpPr>
          <p:cNvPr id="37" name="Text 35"/>
          <p:cNvSpPr txBox="1"/>
          <p:nvPr/>
        </p:nvSpPr>
        <p:spPr>
          <a:xfrm>
            <a:off x="3429000" y="4453128"/>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sys_fork</a:t>
            </a:r>
            <a:endParaRPr lang="tr-TR" sz="1200" dirty="0"/>
          </a:p>
        </p:txBody>
      </p:sp>
      <p:sp>
        <p:nvSpPr>
          <p:cNvPr id="38" name="Shape 36"/>
          <p:cNvSpPr/>
          <p:nvPr/>
        </p:nvSpPr>
        <p:spPr>
          <a:xfrm>
            <a:off x="2743200" y="4837176"/>
            <a:ext cx="640080" cy="347472"/>
          </a:xfrm>
          <a:prstGeom prst="roundRect">
            <a:avLst>
              <a:gd name="adj" fmla="val 13158"/>
            </a:avLst>
          </a:prstGeom>
          <a:solidFill>
            <a:srgbClr val="F2F2F2"/>
          </a:solidFill>
          <a:ln/>
        </p:spPr>
      </p:sp>
      <p:sp>
        <p:nvSpPr>
          <p:cNvPr id="39" name="Text 37"/>
          <p:cNvSpPr txBox="1"/>
          <p:nvPr/>
        </p:nvSpPr>
        <p:spPr>
          <a:xfrm>
            <a:off x="2743200" y="4837176"/>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59</a:t>
            </a:r>
            <a:endParaRPr lang="tr-TR" sz="1200" dirty="0"/>
          </a:p>
        </p:txBody>
      </p:sp>
      <p:sp>
        <p:nvSpPr>
          <p:cNvPr id="40" name="Shape 38"/>
          <p:cNvSpPr/>
          <p:nvPr/>
        </p:nvSpPr>
        <p:spPr>
          <a:xfrm>
            <a:off x="3429000" y="4837176"/>
            <a:ext cx="1737360" cy="347472"/>
          </a:xfrm>
          <a:prstGeom prst="roundRect">
            <a:avLst>
              <a:gd name="adj" fmla="val 13158"/>
            </a:avLst>
          </a:prstGeom>
          <a:solidFill>
            <a:srgbClr val="F2F2F2"/>
          </a:solidFill>
          <a:ln/>
        </p:spPr>
      </p:sp>
      <p:sp>
        <p:nvSpPr>
          <p:cNvPr id="41" name="Text 39"/>
          <p:cNvSpPr txBox="1"/>
          <p:nvPr/>
        </p:nvSpPr>
        <p:spPr>
          <a:xfrm>
            <a:off x="3429000" y="4837176"/>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sys_execve</a:t>
            </a:r>
            <a:endParaRPr lang="tr-TR" sz="1200" dirty="0"/>
          </a:p>
        </p:txBody>
      </p:sp>
      <p:sp>
        <p:nvSpPr>
          <p:cNvPr id="42" name="Shape 40"/>
          <p:cNvSpPr/>
          <p:nvPr/>
        </p:nvSpPr>
        <p:spPr>
          <a:xfrm>
            <a:off x="2743200" y="5221224"/>
            <a:ext cx="640080" cy="347472"/>
          </a:xfrm>
          <a:prstGeom prst="roundRect">
            <a:avLst>
              <a:gd name="adj" fmla="val 13158"/>
            </a:avLst>
          </a:prstGeom>
          <a:solidFill>
            <a:srgbClr val="F2F2F2"/>
          </a:solidFill>
          <a:ln/>
        </p:spPr>
      </p:sp>
      <p:sp>
        <p:nvSpPr>
          <p:cNvPr id="43" name="Text 41"/>
          <p:cNvSpPr txBox="1"/>
          <p:nvPr/>
        </p:nvSpPr>
        <p:spPr>
          <a:xfrm>
            <a:off x="2743200" y="5221224"/>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60</a:t>
            </a:r>
            <a:endParaRPr lang="tr-TR" sz="1200" dirty="0"/>
          </a:p>
        </p:txBody>
      </p:sp>
      <p:sp>
        <p:nvSpPr>
          <p:cNvPr id="44" name="Shape 42"/>
          <p:cNvSpPr/>
          <p:nvPr/>
        </p:nvSpPr>
        <p:spPr>
          <a:xfrm>
            <a:off x="3429000" y="5221224"/>
            <a:ext cx="1737360" cy="347472"/>
          </a:xfrm>
          <a:prstGeom prst="roundRect">
            <a:avLst>
              <a:gd name="adj" fmla="val 13158"/>
            </a:avLst>
          </a:prstGeom>
          <a:solidFill>
            <a:srgbClr val="F2F2F2"/>
          </a:solidFill>
          <a:ln/>
        </p:spPr>
      </p:sp>
      <p:sp>
        <p:nvSpPr>
          <p:cNvPr id="45" name="Text 43"/>
          <p:cNvSpPr txBox="1"/>
          <p:nvPr/>
        </p:nvSpPr>
        <p:spPr>
          <a:xfrm>
            <a:off x="3429000" y="5221224"/>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sys_exit</a:t>
            </a:r>
            <a:endParaRPr lang="tr-TR" sz="1200" dirty="0"/>
          </a:p>
        </p:txBody>
      </p:sp>
      <p:sp>
        <p:nvSpPr>
          <p:cNvPr id="46" name="Shape 44"/>
          <p:cNvSpPr/>
          <p:nvPr/>
        </p:nvSpPr>
        <p:spPr>
          <a:xfrm>
            <a:off x="2743200" y="5605272"/>
            <a:ext cx="640080" cy="347472"/>
          </a:xfrm>
          <a:prstGeom prst="roundRect">
            <a:avLst>
              <a:gd name="adj" fmla="val 13158"/>
            </a:avLst>
          </a:prstGeom>
          <a:solidFill>
            <a:srgbClr val="F2F2F2"/>
          </a:solidFill>
          <a:ln/>
        </p:spPr>
      </p:sp>
      <p:sp>
        <p:nvSpPr>
          <p:cNvPr id="47" name="Text 45"/>
          <p:cNvSpPr txBox="1"/>
          <p:nvPr/>
        </p:nvSpPr>
        <p:spPr>
          <a:xfrm>
            <a:off x="2743200" y="5605272"/>
            <a:ext cx="640080" cy="347472"/>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61</a:t>
            </a:r>
            <a:endParaRPr lang="tr-TR" sz="1200" dirty="0"/>
          </a:p>
        </p:txBody>
      </p:sp>
      <p:sp>
        <p:nvSpPr>
          <p:cNvPr id="48" name="Shape 46"/>
          <p:cNvSpPr/>
          <p:nvPr/>
        </p:nvSpPr>
        <p:spPr>
          <a:xfrm>
            <a:off x="3429000" y="5605272"/>
            <a:ext cx="1737360" cy="347472"/>
          </a:xfrm>
          <a:prstGeom prst="roundRect">
            <a:avLst>
              <a:gd name="adj" fmla="val 13158"/>
            </a:avLst>
          </a:prstGeom>
          <a:solidFill>
            <a:srgbClr val="F2F2F2"/>
          </a:solidFill>
          <a:ln/>
        </p:spPr>
      </p:sp>
      <p:sp>
        <p:nvSpPr>
          <p:cNvPr id="49" name="Text 47"/>
          <p:cNvSpPr txBox="1"/>
          <p:nvPr/>
        </p:nvSpPr>
        <p:spPr>
          <a:xfrm>
            <a:off x="3429000" y="5605272"/>
            <a:ext cx="1737360" cy="347472"/>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onsolas" pitchFamily="34" charset="0"/>
                <a:ea typeface="Consolas" pitchFamily="34" charset="-122"/>
                <a:cs typeface="Consolas" pitchFamily="34" charset="-120"/>
              </a:rPr>
              <a:t>sys_wait4</a:t>
            </a:r>
            <a:endParaRPr lang="tr-TR" sz="1200" dirty="0"/>
          </a:p>
        </p:txBody>
      </p:sp>
      <p:sp>
        <p:nvSpPr>
          <p:cNvPr id="50" name="Text 48"/>
          <p:cNvSpPr txBox="1"/>
          <p:nvPr/>
        </p:nvSpPr>
        <p:spPr>
          <a:xfrm>
            <a:off x="2743200" y="6007608"/>
            <a:ext cx="2926080" cy="274320"/>
          </a:xfrm>
          <a:prstGeom prst="rect">
            <a:avLst/>
          </a:prstGeom>
          <a:noFill/>
          <a:ln/>
        </p:spPr>
        <p:txBody>
          <a:bodyPr wrap="square" lIns="0" tIns="0" rIns="0" bIns="0" rtlCol="0" anchor="t"/>
          <a:lstStyle/>
          <a:p>
            <a:pPr indent="0" marL="0">
              <a:buNone/>
            </a:pPr>
            <a:r>
              <a:rPr lang="tr-TR" sz="1100" i="1" dirty="0">
                <a:solidFill>
                  <a:srgbClr val="6B7679"/>
                </a:solidFill>
                <a:latin typeface="Calibri" pitchFamily="34" charset="0"/>
                <a:ea typeface="Calibri" pitchFamily="34" charset="-122"/>
                <a:cs typeface="Calibri" pitchFamily="34" charset="-120"/>
              </a:rPr>
              <a:t>sistem çağrısı tablosu (x86-64 Linux)</a:t>
            </a:r>
            <a:endParaRPr lang="tr-TR" sz="1100" dirty="0"/>
          </a:p>
        </p:txBody>
      </p:sp>
      <p:sp>
        <p:nvSpPr>
          <p:cNvPr id="51" name="Shape 49"/>
          <p:cNvSpPr/>
          <p:nvPr/>
        </p:nvSpPr>
        <p:spPr>
          <a:xfrm flipV="1">
            <a:off x="2121408" y="2724912"/>
            <a:ext cx="594360" cy="1207008"/>
          </a:xfrm>
          <a:prstGeom prst="line">
            <a:avLst/>
          </a:prstGeom>
          <a:noFill/>
          <a:ln w="25400">
            <a:solidFill>
              <a:srgbClr val="028090"/>
            </a:solidFill>
            <a:prstDash val="solid"/>
            <a:tailEnd type="triangle"/>
          </a:ln>
        </p:spPr>
      </p:sp>
      <p:sp>
        <p:nvSpPr>
          <p:cNvPr id="52" name="Shape 50"/>
          <p:cNvSpPr/>
          <p:nvPr/>
        </p:nvSpPr>
        <p:spPr>
          <a:xfrm>
            <a:off x="5623560" y="2286000"/>
            <a:ext cx="1600200" cy="914400"/>
          </a:xfrm>
          <a:prstGeom prst="roundRect">
            <a:avLst>
              <a:gd name="adj" fmla="val 5000"/>
            </a:avLst>
          </a:prstGeom>
          <a:solidFill>
            <a:srgbClr val="36454F"/>
          </a:solidFill>
          <a:ln/>
        </p:spPr>
      </p:sp>
      <p:sp>
        <p:nvSpPr>
          <p:cNvPr id="53" name="Text 51"/>
          <p:cNvSpPr txBox="1"/>
          <p:nvPr/>
        </p:nvSpPr>
        <p:spPr>
          <a:xfrm>
            <a:off x="5623560" y="2286000"/>
            <a:ext cx="1600200" cy="914400"/>
          </a:xfrm>
          <a:prstGeom prst="rect">
            <a:avLst/>
          </a:prstGeom>
          <a:noFill/>
          <a:ln/>
        </p:spPr>
        <p:txBody>
          <a:bodyPr wrap="square" lIns="38100" tIns="38100" rIns="38100" bIns="38100" rtlCol="0" anchor="ctr"/>
          <a:lstStyle/>
          <a:p>
            <a:pPr algn="ctr" indent="0" marL="0">
              <a:buNone/>
            </a:pPr>
            <a:r>
              <a:rPr lang="tr-TR" sz="1300" b="1" dirty="0">
                <a:solidFill>
                  <a:srgbClr val="FFFFFF"/>
                </a:solidFill>
                <a:latin typeface="Consolas" pitchFamily="34" charset="0"/>
                <a:ea typeface="Consolas" pitchFamily="34" charset="-122"/>
                <a:cs typeface="Consolas" pitchFamily="34" charset="-120"/>
              </a:rPr>
              <a:t>sys_write()</a:t>
            </a:r>
            <a:endParaRPr lang="tr-TR" sz="1300" dirty="0"/>
          </a:p>
          <a:p>
            <a:pPr algn="ctr" indent="0" marL="0">
              <a:buNone/>
            </a:pPr>
            <a:r>
              <a:rPr lang="tr-TR" sz="1100" dirty="0">
                <a:solidFill>
                  <a:srgbClr val="FFFFFF"/>
                </a:solidFill>
                <a:latin typeface="Calibri" pitchFamily="34" charset="0"/>
                <a:ea typeface="Calibri" pitchFamily="34" charset="-122"/>
                <a:cs typeface="Calibri" pitchFamily="34" charset="-120"/>
              </a:rPr>
              <a:t>çekirdek kodu</a:t>
            </a:r>
            <a:endParaRPr lang="tr-TR" sz="1300" dirty="0"/>
          </a:p>
        </p:txBody>
      </p:sp>
      <p:sp>
        <p:nvSpPr>
          <p:cNvPr id="54" name="Shape 52"/>
          <p:cNvSpPr/>
          <p:nvPr/>
        </p:nvSpPr>
        <p:spPr>
          <a:xfrm>
            <a:off x="5184648" y="2724912"/>
            <a:ext cx="420624" cy="18288"/>
          </a:xfrm>
          <a:prstGeom prst="line">
            <a:avLst/>
          </a:prstGeom>
          <a:noFill/>
          <a:ln w="25400">
            <a:solidFill>
              <a:srgbClr val="028090"/>
            </a:solidFill>
            <a:prstDash val="solid"/>
            <a:tailEnd type="triangle"/>
          </a:ln>
        </p:spPr>
      </p:sp>
      <p:sp>
        <p:nvSpPr>
          <p:cNvPr id="55" name="Shape 53"/>
          <p:cNvSpPr/>
          <p:nvPr/>
        </p:nvSpPr>
        <p:spPr>
          <a:xfrm>
            <a:off x="7452360" y="2148840"/>
            <a:ext cx="4206240" cy="4114800"/>
          </a:xfrm>
          <a:prstGeom prst="roundRect">
            <a:avLst>
              <a:gd name="adj" fmla="val 1333"/>
            </a:avLst>
          </a:prstGeom>
          <a:solidFill>
            <a:srgbClr val="F2F2F2"/>
          </a:solidFill>
          <a:ln/>
          <a:effectLst>
            <a:outerShdw sx="100000" sy="100000" kx="0" ky="0" algn="bl" rotWithShape="0" blurRad="101600" dist="25400" dir="5400000">
              <a:srgbClr val="000000">
                <a:alpha val="12000"/>
              </a:srgbClr>
            </a:outerShdw>
          </a:effectLst>
        </p:spPr>
      </p:sp>
      <p:sp>
        <p:nvSpPr>
          <p:cNvPr id="56" name="Text 54"/>
          <p:cNvSpPr txBox="1"/>
          <p:nvPr/>
        </p:nvSpPr>
        <p:spPr>
          <a:xfrm>
            <a:off x="7680960" y="2331720"/>
            <a:ext cx="374904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Neden bir tablo?</a:t>
            </a:r>
            <a:endParaRPr lang="tr-TR" sz="1500" dirty="0"/>
          </a:p>
        </p:txBody>
      </p:sp>
      <p:sp>
        <p:nvSpPr>
          <p:cNvPr id="57" name="Text 55"/>
          <p:cNvSpPr txBox="1"/>
          <p:nvPr/>
        </p:nvSpPr>
        <p:spPr>
          <a:xfrm>
            <a:off x="7680960" y="2788920"/>
            <a:ext cx="3749040" cy="3337560"/>
          </a:xfrm>
          <a:prstGeom prst="rect">
            <a:avLst/>
          </a:prstGeom>
          <a:noFill/>
          <a:ln/>
        </p:spPr>
        <p:txBody>
          <a:bodyPr wrap="square" lIns="0" tIns="0" rIns="0" bIns="0" rtlCol="0" anchor="t"/>
          <a:lstStyle/>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Kullanıcı programı çekirdeğe yalnızca tek bir sabit giriş noktasından girebilir; asla rastgele bir çekirdek adresine atlayamaz.</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Numara hizmeti seçer; çekirdek geçerli olup olmadığını denetler, sonra tablodaki fonksiyonu çağırır.</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x86-64 üzerinde Linux 6.8'de 0'dan 461'e numaralanmış yaklaşık 370 sistem çağrısı vardır.</a:t>
            </a:r>
            <a:endParaRPr lang="tr-T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SİSTEM ÇAĞRILARI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Bir write(): Çekirdeğe Yolculuk, Adım Adım</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13</a:t>
            </a:r>
            <a:endParaRPr lang="tr-TR" sz="900" dirty="0"/>
          </a:p>
        </p:txBody>
      </p:sp>
      <p:sp>
        <p:nvSpPr>
          <p:cNvPr id="6" name="Shape 4"/>
          <p:cNvSpPr/>
          <p:nvPr/>
        </p:nvSpPr>
        <p:spPr>
          <a:xfrm>
            <a:off x="548640" y="1554480"/>
            <a:ext cx="3520440" cy="1828800"/>
          </a:xfrm>
          <a:prstGeom prst="roundRect">
            <a:avLst>
              <a:gd name="adj" fmla="val 3000"/>
            </a:avLst>
          </a:prstGeom>
          <a:solidFill>
            <a:srgbClr val="F2F2F2"/>
          </a:solidFill>
          <a:ln/>
          <a:effectLst>
            <a:outerShdw sx="100000" sy="100000" kx="0" ky="0" algn="bl" rotWithShape="0" blurRad="101600" dist="25400" dir="5400000">
              <a:srgbClr val="000000">
                <a:alpha val="12000"/>
              </a:srgbClr>
            </a:outerShdw>
          </a:effectLst>
        </p:spPr>
      </p:sp>
      <p:sp>
        <p:nvSpPr>
          <p:cNvPr id="7" name="Text 5"/>
          <p:cNvSpPr txBox="1"/>
          <p:nvPr/>
        </p:nvSpPr>
        <p:spPr>
          <a:xfrm>
            <a:off x="777240" y="1737360"/>
            <a:ext cx="306324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1. Yazmaçları doldur</a:t>
            </a:r>
            <a:endParaRPr lang="tr-TR" sz="1500" dirty="0"/>
          </a:p>
        </p:txBody>
      </p:sp>
      <p:sp>
        <p:nvSpPr>
          <p:cNvPr id="8" name="Text 6"/>
          <p:cNvSpPr txBox="1"/>
          <p:nvPr/>
        </p:nvSpPr>
        <p:spPr>
          <a:xfrm>
            <a:off x="777240" y="2194560"/>
            <a:ext cx="3063240" cy="105156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Sarmalayıcı çağrı numarasını (1) rax'e, üç parametreyi rdi, rsi, rdx'e koyar.</a:t>
            </a:r>
            <a:endParaRPr lang="tr-TR" sz="1400" dirty="0"/>
          </a:p>
        </p:txBody>
      </p:sp>
      <p:sp>
        <p:nvSpPr>
          <p:cNvPr id="9" name="Shape 7"/>
          <p:cNvSpPr/>
          <p:nvPr/>
        </p:nvSpPr>
        <p:spPr>
          <a:xfrm>
            <a:off x="4343400" y="1554480"/>
            <a:ext cx="3520440" cy="1828800"/>
          </a:xfrm>
          <a:prstGeom prst="roundRect">
            <a:avLst>
              <a:gd name="adj" fmla="val 3000"/>
            </a:avLst>
          </a:prstGeom>
          <a:solidFill>
            <a:srgbClr val="36454F"/>
          </a:solidFill>
          <a:ln/>
          <a:effectLst>
            <a:outerShdw sx="100000" sy="100000" kx="0" ky="0" algn="bl" rotWithShape="0" blurRad="101600" dist="25400" dir="5400000">
              <a:srgbClr val="000000">
                <a:alpha val="12000"/>
              </a:srgbClr>
            </a:outerShdw>
          </a:effectLst>
        </p:spPr>
      </p:sp>
      <p:sp>
        <p:nvSpPr>
          <p:cNvPr id="10" name="Text 8"/>
          <p:cNvSpPr txBox="1"/>
          <p:nvPr/>
        </p:nvSpPr>
        <p:spPr>
          <a:xfrm>
            <a:off x="4572000" y="1737360"/>
            <a:ext cx="3063240" cy="384048"/>
          </a:xfrm>
          <a:prstGeom prst="rect">
            <a:avLst/>
          </a:prstGeom>
          <a:noFill/>
          <a:ln/>
        </p:spPr>
        <p:txBody>
          <a:bodyPr wrap="square" lIns="0" tIns="0" rIns="0" bIns="0" rtlCol="0" anchor="ctr"/>
          <a:lstStyle/>
          <a:p>
            <a:pPr indent="0" marL="0">
              <a:buNone/>
            </a:pPr>
            <a:r>
              <a:rPr lang="tr-TR" sz="1500" b="1" dirty="0">
                <a:solidFill>
                  <a:srgbClr val="02C39A"/>
                </a:solidFill>
                <a:latin typeface="Cambria" pitchFamily="34" charset="0"/>
                <a:ea typeface="Cambria" pitchFamily="34" charset="-122"/>
                <a:cs typeface="Cambria" pitchFamily="34" charset="-120"/>
              </a:rPr>
              <a:t>2. Tuzak</a:t>
            </a:r>
            <a:endParaRPr lang="tr-TR" sz="1500" dirty="0"/>
          </a:p>
        </p:txBody>
      </p:sp>
      <p:sp>
        <p:nvSpPr>
          <p:cNvPr id="11" name="Text 9"/>
          <p:cNvSpPr txBox="1"/>
          <p:nvPr/>
        </p:nvSpPr>
        <p:spPr>
          <a:xfrm>
            <a:off x="4572000" y="2194560"/>
            <a:ext cx="3063240" cy="1051560"/>
          </a:xfrm>
          <a:prstGeom prst="rect">
            <a:avLst/>
          </a:prstGeom>
          <a:noFill/>
          <a:ln/>
        </p:spPr>
        <p:txBody>
          <a:bodyPr wrap="square" lIns="0" tIns="0" rIns="0" bIns="0" rtlCol="0" anchor="t"/>
          <a:lstStyle/>
          <a:p>
            <a:pPr indent="0" marL="0">
              <a:spcAft>
                <a:spcPts val="400"/>
              </a:spcAft>
              <a:buNone/>
            </a:pPr>
            <a:r>
              <a:rPr lang="tr-TR" sz="1400" dirty="0">
                <a:solidFill>
                  <a:srgbClr val="F2F2F2"/>
                </a:solidFill>
                <a:latin typeface="Calibri" pitchFamily="34" charset="0"/>
                <a:ea typeface="Calibri" pitchFamily="34" charset="-122"/>
                <a:cs typeface="Calibri" pitchFamily="34" charset="-120"/>
              </a:rPr>
              <a:t>syscall komutu mod bitini çekirdeğe çevirir ve çekirdeğin tek giriş noktasına atlar.</a:t>
            </a:r>
            <a:endParaRPr lang="tr-TR" sz="1400" dirty="0"/>
          </a:p>
        </p:txBody>
      </p:sp>
      <p:sp>
        <p:nvSpPr>
          <p:cNvPr id="12" name="Shape 10"/>
          <p:cNvSpPr/>
          <p:nvPr/>
        </p:nvSpPr>
        <p:spPr>
          <a:xfrm>
            <a:off x="8138160" y="1554480"/>
            <a:ext cx="3520440" cy="1828800"/>
          </a:xfrm>
          <a:prstGeom prst="roundRect">
            <a:avLst>
              <a:gd name="adj" fmla="val 3000"/>
            </a:avLst>
          </a:prstGeom>
          <a:solidFill>
            <a:srgbClr val="36454F"/>
          </a:solidFill>
          <a:ln/>
          <a:effectLst>
            <a:outerShdw sx="100000" sy="100000" kx="0" ky="0" algn="bl" rotWithShape="0" blurRad="101600" dist="25400" dir="5400000">
              <a:srgbClr val="000000">
                <a:alpha val="12000"/>
              </a:srgbClr>
            </a:outerShdw>
          </a:effectLst>
        </p:spPr>
      </p:sp>
      <p:sp>
        <p:nvSpPr>
          <p:cNvPr id="13" name="Text 11"/>
          <p:cNvSpPr txBox="1"/>
          <p:nvPr/>
        </p:nvSpPr>
        <p:spPr>
          <a:xfrm>
            <a:off x="8366760" y="1737360"/>
            <a:ext cx="3063240" cy="384048"/>
          </a:xfrm>
          <a:prstGeom prst="rect">
            <a:avLst/>
          </a:prstGeom>
          <a:noFill/>
          <a:ln/>
        </p:spPr>
        <p:txBody>
          <a:bodyPr wrap="square" lIns="0" tIns="0" rIns="0" bIns="0" rtlCol="0" anchor="ctr"/>
          <a:lstStyle/>
          <a:p>
            <a:pPr indent="0" marL="0">
              <a:buNone/>
            </a:pPr>
            <a:r>
              <a:rPr lang="tr-TR" sz="1500" b="1" dirty="0">
                <a:solidFill>
                  <a:srgbClr val="02C39A"/>
                </a:solidFill>
                <a:latin typeface="Cambria" pitchFamily="34" charset="0"/>
                <a:ea typeface="Cambria" pitchFamily="34" charset="-122"/>
                <a:cs typeface="Cambria" pitchFamily="34" charset="-120"/>
              </a:rPr>
              <a:t>3. Kaydet ve denetle</a:t>
            </a:r>
            <a:endParaRPr lang="tr-TR" sz="1500" dirty="0"/>
          </a:p>
        </p:txBody>
      </p:sp>
      <p:sp>
        <p:nvSpPr>
          <p:cNvPr id="14" name="Text 12"/>
          <p:cNvSpPr txBox="1"/>
          <p:nvPr/>
        </p:nvSpPr>
        <p:spPr>
          <a:xfrm>
            <a:off x="8366760" y="2194560"/>
            <a:ext cx="3063240" cy="1051560"/>
          </a:xfrm>
          <a:prstGeom prst="rect">
            <a:avLst/>
          </a:prstGeom>
          <a:noFill/>
          <a:ln/>
        </p:spPr>
        <p:txBody>
          <a:bodyPr wrap="square" lIns="0" tIns="0" rIns="0" bIns="0" rtlCol="0" anchor="t"/>
          <a:lstStyle/>
          <a:p>
            <a:pPr indent="0" marL="0">
              <a:spcAft>
                <a:spcPts val="400"/>
              </a:spcAft>
              <a:buNone/>
            </a:pPr>
            <a:r>
              <a:rPr lang="tr-TR" sz="1400" dirty="0">
                <a:solidFill>
                  <a:srgbClr val="F2F2F2"/>
                </a:solidFill>
                <a:latin typeface="Calibri" pitchFamily="34" charset="0"/>
                <a:ea typeface="Calibri" pitchFamily="34" charset="-122"/>
                <a:cs typeface="Calibri" pitchFamily="34" charset="-120"/>
              </a:rPr>
              <a:t>Çekirdek kullanıcı yazmaçlarını kaydeder ve 1 numarasının geçerli bir giriş olduğunu denetler.</a:t>
            </a:r>
            <a:endParaRPr lang="tr-TR" sz="1400" dirty="0"/>
          </a:p>
        </p:txBody>
      </p:sp>
      <p:sp>
        <p:nvSpPr>
          <p:cNvPr id="15" name="Shape 13"/>
          <p:cNvSpPr/>
          <p:nvPr/>
        </p:nvSpPr>
        <p:spPr>
          <a:xfrm>
            <a:off x="548640" y="3886200"/>
            <a:ext cx="3520440" cy="1828800"/>
          </a:xfrm>
          <a:prstGeom prst="roundRect">
            <a:avLst>
              <a:gd name="adj" fmla="val 3000"/>
            </a:avLst>
          </a:prstGeom>
          <a:solidFill>
            <a:srgbClr val="F2F2F2"/>
          </a:solidFill>
          <a:ln/>
          <a:effectLst>
            <a:outerShdw sx="100000" sy="100000" kx="0" ky="0" algn="bl" rotWithShape="0" blurRad="101600" dist="25400" dir="5400000">
              <a:srgbClr val="000000">
                <a:alpha val="12000"/>
              </a:srgbClr>
            </a:outerShdw>
          </a:effectLst>
        </p:spPr>
      </p:sp>
      <p:sp>
        <p:nvSpPr>
          <p:cNvPr id="16" name="Text 14"/>
          <p:cNvSpPr txBox="1"/>
          <p:nvPr/>
        </p:nvSpPr>
        <p:spPr>
          <a:xfrm>
            <a:off x="777240" y="4069080"/>
            <a:ext cx="306324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6. Dönüş</a:t>
            </a:r>
            <a:endParaRPr lang="tr-TR" sz="1500" dirty="0"/>
          </a:p>
        </p:txBody>
      </p:sp>
      <p:sp>
        <p:nvSpPr>
          <p:cNvPr id="17" name="Text 15"/>
          <p:cNvSpPr txBox="1"/>
          <p:nvPr/>
        </p:nvSpPr>
        <p:spPr>
          <a:xfrm>
            <a:off x="777240" y="4526280"/>
            <a:ext cx="3063240" cy="105156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sysret yazmaçları geri yükler, kullanıcı moduna geçer; sarmalayıcı programa 26 döndürür.</a:t>
            </a:r>
            <a:endParaRPr lang="tr-TR" sz="1400" dirty="0"/>
          </a:p>
        </p:txBody>
      </p:sp>
      <p:sp>
        <p:nvSpPr>
          <p:cNvPr id="18" name="Shape 16"/>
          <p:cNvSpPr/>
          <p:nvPr/>
        </p:nvSpPr>
        <p:spPr>
          <a:xfrm>
            <a:off x="4343400" y="3886200"/>
            <a:ext cx="3520440" cy="1828800"/>
          </a:xfrm>
          <a:prstGeom prst="roundRect">
            <a:avLst>
              <a:gd name="adj" fmla="val 3000"/>
            </a:avLst>
          </a:prstGeom>
          <a:solidFill>
            <a:srgbClr val="36454F"/>
          </a:solidFill>
          <a:ln/>
          <a:effectLst>
            <a:outerShdw sx="100000" sy="100000" kx="0" ky="0" algn="bl" rotWithShape="0" blurRad="101600" dist="25400" dir="5400000">
              <a:srgbClr val="000000">
                <a:alpha val="12000"/>
              </a:srgbClr>
            </a:outerShdw>
          </a:effectLst>
        </p:spPr>
      </p:sp>
      <p:sp>
        <p:nvSpPr>
          <p:cNvPr id="19" name="Text 17"/>
          <p:cNvSpPr txBox="1"/>
          <p:nvPr/>
        </p:nvSpPr>
        <p:spPr>
          <a:xfrm>
            <a:off x="4572000" y="4069080"/>
            <a:ext cx="3063240" cy="384048"/>
          </a:xfrm>
          <a:prstGeom prst="rect">
            <a:avLst/>
          </a:prstGeom>
          <a:noFill/>
          <a:ln/>
        </p:spPr>
        <p:txBody>
          <a:bodyPr wrap="square" lIns="0" tIns="0" rIns="0" bIns="0" rtlCol="0" anchor="ctr"/>
          <a:lstStyle/>
          <a:p>
            <a:pPr indent="0" marL="0">
              <a:buNone/>
            </a:pPr>
            <a:r>
              <a:rPr lang="tr-TR" sz="1500" b="1" dirty="0">
                <a:solidFill>
                  <a:srgbClr val="02C39A"/>
                </a:solidFill>
                <a:latin typeface="Cambria" pitchFamily="34" charset="0"/>
                <a:ea typeface="Cambria" pitchFamily="34" charset="-122"/>
                <a:cs typeface="Cambria" pitchFamily="34" charset="-120"/>
              </a:rPr>
              <a:t>5. Sonuç</a:t>
            </a:r>
            <a:endParaRPr lang="tr-TR" sz="1500" dirty="0"/>
          </a:p>
        </p:txBody>
      </p:sp>
      <p:sp>
        <p:nvSpPr>
          <p:cNvPr id="20" name="Text 18"/>
          <p:cNvSpPr txBox="1"/>
          <p:nvPr/>
        </p:nvSpPr>
        <p:spPr>
          <a:xfrm>
            <a:off x="4572000" y="4526280"/>
            <a:ext cx="3063240" cy="1051560"/>
          </a:xfrm>
          <a:prstGeom prst="rect">
            <a:avLst/>
          </a:prstGeom>
          <a:noFill/>
          <a:ln/>
        </p:spPr>
        <p:txBody>
          <a:bodyPr wrap="square" lIns="0" tIns="0" rIns="0" bIns="0" rtlCol="0" anchor="t"/>
          <a:lstStyle/>
          <a:p>
            <a:pPr indent="0" marL="0">
              <a:spcAft>
                <a:spcPts val="400"/>
              </a:spcAft>
              <a:buNone/>
            </a:pPr>
            <a:r>
              <a:rPr lang="tr-TR" sz="1400" dirty="0">
                <a:solidFill>
                  <a:srgbClr val="F2F2F2"/>
                </a:solidFill>
                <a:latin typeface="Calibri" pitchFamily="34" charset="0"/>
                <a:ea typeface="Calibri" pitchFamily="34" charset="-122"/>
                <a:cs typeface="Calibri" pitchFamily="34" charset="-120"/>
              </a:rPr>
              <a:t>Dönüş değeri (yazılan bayt sayısı ya da negatif bir hata kodu) rax'e konur.</a:t>
            </a:r>
            <a:endParaRPr lang="tr-TR" sz="1400" dirty="0"/>
          </a:p>
        </p:txBody>
      </p:sp>
      <p:sp>
        <p:nvSpPr>
          <p:cNvPr id="21" name="Shape 19"/>
          <p:cNvSpPr/>
          <p:nvPr/>
        </p:nvSpPr>
        <p:spPr>
          <a:xfrm>
            <a:off x="8138160" y="3886200"/>
            <a:ext cx="3520440" cy="1828800"/>
          </a:xfrm>
          <a:prstGeom prst="roundRect">
            <a:avLst>
              <a:gd name="adj" fmla="val 3000"/>
            </a:avLst>
          </a:prstGeom>
          <a:solidFill>
            <a:srgbClr val="36454F"/>
          </a:solidFill>
          <a:ln/>
          <a:effectLst>
            <a:outerShdw sx="100000" sy="100000" kx="0" ky="0" algn="bl" rotWithShape="0" blurRad="101600" dist="25400" dir="5400000">
              <a:srgbClr val="000000">
                <a:alpha val="12000"/>
              </a:srgbClr>
            </a:outerShdw>
          </a:effectLst>
        </p:spPr>
      </p:sp>
      <p:sp>
        <p:nvSpPr>
          <p:cNvPr id="22" name="Text 20"/>
          <p:cNvSpPr txBox="1"/>
          <p:nvPr/>
        </p:nvSpPr>
        <p:spPr>
          <a:xfrm>
            <a:off x="8366760" y="4069080"/>
            <a:ext cx="3063240" cy="384048"/>
          </a:xfrm>
          <a:prstGeom prst="rect">
            <a:avLst/>
          </a:prstGeom>
          <a:noFill/>
          <a:ln/>
        </p:spPr>
        <p:txBody>
          <a:bodyPr wrap="square" lIns="0" tIns="0" rIns="0" bIns="0" rtlCol="0" anchor="ctr"/>
          <a:lstStyle/>
          <a:p>
            <a:pPr indent="0" marL="0">
              <a:buNone/>
            </a:pPr>
            <a:r>
              <a:rPr lang="tr-TR" sz="1500" b="1" dirty="0">
                <a:solidFill>
                  <a:srgbClr val="02C39A"/>
                </a:solidFill>
                <a:latin typeface="Cambria" pitchFamily="34" charset="0"/>
                <a:ea typeface="Cambria" pitchFamily="34" charset="-122"/>
                <a:cs typeface="Cambria" pitchFamily="34" charset="-120"/>
              </a:rPr>
              <a:t>4. Yönlendirme</a:t>
            </a:r>
            <a:endParaRPr lang="tr-TR" sz="1500" dirty="0"/>
          </a:p>
        </p:txBody>
      </p:sp>
      <p:sp>
        <p:nvSpPr>
          <p:cNvPr id="23" name="Text 21"/>
          <p:cNvSpPr txBox="1"/>
          <p:nvPr/>
        </p:nvSpPr>
        <p:spPr>
          <a:xfrm>
            <a:off x="8366760" y="4526280"/>
            <a:ext cx="3063240" cy="1051560"/>
          </a:xfrm>
          <a:prstGeom prst="rect">
            <a:avLst/>
          </a:prstGeom>
          <a:noFill/>
          <a:ln/>
        </p:spPr>
        <p:txBody>
          <a:bodyPr wrap="square" lIns="0" tIns="0" rIns="0" bIns="0" rtlCol="0" anchor="t"/>
          <a:lstStyle/>
          <a:p>
            <a:pPr indent="0" marL="0">
              <a:spcAft>
                <a:spcPts val="400"/>
              </a:spcAft>
              <a:buNone/>
            </a:pPr>
            <a:r>
              <a:rPr lang="tr-TR" sz="1400" dirty="0">
                <a:solidFill>
                  <a:srgbClr val="F2F2F2"/>
                </a:solidFill>
                <a:latin typeface="Calibri" pitchFamily="34" charset="0"/>
                <a:ea typeface="Calibri" pitchFamily="34" charset="-122"/>
                <a:cs typeface="Calibri" pitchFamily="34" charset="-120"/>
              </a:rPr>
              <a:t>Çekirdek tablo üzerinden sys_write()'ı çağırır; o da tampon adresini denetleyip sürücüyle konuşur.</a:t>
            </a:r>
            <a:endParaRPr lang="tr-TR" sz="1400" dirty="0"/>
          </a:p>
        </p:txBody>
      </p:sp>
      <p:sp>
        <p:nvSpPr>
          <p:cNvPr id="24" name="Shape 22"/>
          <p:cNvSpPr/>
          <p:nvPr/>
        </p:nvSpPr>
        <p:spPr>
          <a:xfrm>
            <a:off x="4087368" y="2468880"/>
            <a:ext cx="237744" cy="91"/>
          </a:xfrm>
          <a:prstGeom prst="line">
            <a:avLst/>
          </a:prstGeom>
          <a:noFill/>
          <a:ln w="25400">
            <a:solidFill>
              <a:srgbClr val="50808E"/>
            </a:solidFill>
            <a:prstDash val="solid"/>
            <a:tailEnd type="triangle"/>
          </a:ln>
        </p:spPr>
      </p:sp>
      <p:sp>
        <p:nvSpPr>
          <p:cNvPr id="25" name="Shape 23"/>
          <p:cNvSpPr/>
          <p:nvPr/>
        </p:nvSpPr>
        <p:spPr>
          <a:xfrm>
            <a:off x="7882128" y="2468880"/>
            <a:ext cx="237744" cy="91"/>
          </a:xfrm>
          <a:prstGeom prst="line">
            <a:avLst/>
          </a:prstGeom>
          <a:noFill/>
          <a:ln w="25400">
            <a:solidFill>
              <a:srgbClr val="50808E"/>
            </a:solidFill>
            <a:prstDash val="solid"/>
            <a:tailEnd type="triangle"/>
          </a:ln>
        </p:spPr>
      </p:sp>
      <p:sp>
        <p:nvSpPr>
          <p:cNvPr id="26" name="Shape 24"/>
          <p:cNvSpPr/>
          <p:nvPr/>
        </p:nvSpPr>
        <p:spPr>
          <a:xfrm>
            <a:off x="9898380" y="3401568"/>
            <a:ext cx="91" cy="466344"/>
          </a:xfrm>
          <a:prstGeom prst="line">
            <a:avLst/>
          </a:prstGeom>
          <a:noFill/>
          <a:ln w="25400">
            <a:solidFill>
              <a:srgbClr val="50808E"/>
            </a:solidFill>
            <a:prstDash val="solid"/>
            <a:tailEnd type="triangle"/>
          </a:ln>
        </p:spPr>
      </p:sp>
      <p:sp>
        <p:nvSpPr>
          <p:cNvPr id="27" name="Shape 25"/>
          <p:cNvSpPr/>
          <p:nvPr/>
        </p:nvSpPr>
        <p:spPr>
          <a:xfrm flipH="1">
            <a:off x="7882128" y="4800600"/>
            <a:ext cx="237744" cy="91"/>
          </a:xfrm>
          <a:prstGeom prst="line">
            <a:avLst/>
          </a:prstGeom>
          <a:noFill/>
          <a:ln w="25400">
            <a:solidFill>
              <a:srgbClr val="50808E"/>
            </a:solidFill>
            <a:prstDash val="solid"/>
            <a:tailEnd type="triangle"/>
          </a:ln>
        </p:spPr>
      </p:sp>
      <p:sp>
        <p:nvSpPr>
          <p:cNvPr id="28" name="Shape 26"/>
          <p:cNvSpPr/>
          <p:nvPr/>
        </p:nvSpPr>
        <p:spPr>
          <a:xfrm flipH="1">
            <a:off x="4087368" y="4800600"/>
            <a:ext cx="237744" cy="91"/>
          </a:xfrm>
          <a:prstGeom prst="line">
            <a:avLst/>
          </a:prstGeom>
          <a:noFill/>
          <a:ln w="25400">
            <a:solidFill>
              <a:srgbClr val="50808E"/>
            </a:solidFill>
            <a:prstDash val="solid"/>
            <a:tailEnd type="triangle"/>
          </a:ln>
        </p:spPr>
      </p:sp>
      <p:sp>
        <p:nvSpPr>
          <p:cNvPr id="29" name="Text 27"/>
          <p:cNvSpPr txBox="1"/>
          <p:nvPr/>
        </p:nvSpPr>
        <p:spPr>
          <a:xfrm>
            <a:off x="548640" y="5852160"/>
            <a:ext cx="5486400" cy="320040"/>
          </a:xfrm>
          <a:prstGeom prst="rect">
            <a:avLst/>
          </a:prstGeom>
          <a:noFill/>
          <a:ln/>
        </p:spPr>
        <p:txBody>
          <a:bodyPr wrap="square" lIns="0" tIns="0" rIns="0" bIns="0" rtlCol="0" anchor="t"/>
          <a:lstStyle/>
          <a:p>
            <a:pPr indent="0" marL="0">
              <a:buNone/>
            </a:pPr>
            <a:r>
              <a:rPr lang="tr-TR" sz="1200" i="1" dirty="0">
                <a:solidFill>
                  <a:srgbClr val="6B7679"/>
                </a:solidFill>
                <a:latin typeface="Calibri" pitchFamily="34" charset="0"/>
                <a:ea typeface="Calibri" pitchFamily="34" charset="-122"/>
                <a:cs typeface="Calibri" pitchFamily="34" charset="-120"/>
              </a:rPr>
              <a:t>açık = kullanıcı modu    koyu = çekirdek modu</a:t>
            </a:r>
            <a:endParaRPr lang="tr-TR"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PARAMETRELER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İşletim Sistemine Parametre Aktarmanın Üç Yolu</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14</a:t>
            </a:r>
            <a:endParaRPr lang="tr-TR" sz="900" dirty="0"/>
          </a:p>
        </p:txBody>
      </p:sp>
      <p:sp>
        <p:nvSpPr>
          <p:cNvPr id="6" name="Shape 4"/>
          <p:cNvSpPr/>
          <p:nvPr/>
        </p:nvSpPr>
        <p:spPr>
          <a:xfrm>
            <a:off x="548640" y="1508760"/>
            <a:ext cx="3566160" cy="3794760"/>
          </a:xfrm>
          <a:prstGeom prst="roundRect">
            <a:avLst>
              <a:gd name="adj" fmla="val 1538"/>
            </a:avLst>
          </a:prstGeom>
          <a:solidFill>
            <a:srgbClr val="F2F2F2"/>
          </a:solidFill>
          <a:ln/>
        </p:spPr>
      </p:sp>
      <p:sp>
        <p:nvSpPr>
          <p:cNvPr id="7" name="Text 5"/>
          <p:cNvSpPr txBox="1"/>
          <p:nvPr/>
        </p:nvSpPr>
        <p:spPr>
          <a:xfrm>
            <a:off x="777240" y="1645920"/>
            <a:ext cx="3108960" cy="365760"/>
          </a:xfrm>
          <a:prstGeom prst="rect">
            <a:avLst/>
          </a:prstGeom>
          <a:noFill/>
          <a:ln/>
        </p:spPr>
        <p:txBody>
          <a:bodyPr wrap="square" lIns="0" tIns="0" rIns="0" bIns="0" rtlCol="0" anchor="t"/>
          <a:lstStyle/>
          <a:p>
            <a:pPr indent="0" marL="0">
              <a:buNone/>
            </a:pPr>
            <a:r>
              <a:rPr lang="tr-TR" sz="1600" b="1" dirty="0">
                <a:solidFill>
                  <a:srgbClr val="028090"/>
                </a:solidFill>
                <a:latin typeface="Cambria" pitchFamily="34" charset="0"/>
                <a:ea typeface="Cambria" pitchFamily="34" charset="-122"/>
                <a:cs typeface="Cambria" pitchFamily="34" charset="-120"/>
              </a:rPr>
              <a:t>1. Yazmaçlarda</a:t>
            </a:r>
            <a:endParaRPr lang="tr-TR" sz="1600" dirty="0"/>
          </a:p>
        </p:txBody>
      </p:sp>
      <p:sp>
        <p:nvSpPr>
          <p:cNvPr id="8" name="Shape 6"/>
          <p:cNvSpPr/>
          <p:nvPr/>
        </p:nvSpPr>
        <p:spPr>
          <a:xfrm>
            <a:off x="4320540" y="1508760"/>
            <a:ext cx="3566160" cy="3794760"/>
          </a:xfrm>
          <a:prstGeom prst="roundRect">
            <a:avLst>
              <a:gd name="adj" fmla="val 1538"/>
            </a:avLst>
          </a:prstGeom>
          <a:solidFill>
            <a:srgbClr val="F2F2F2"/>
          </a:solidFill>
          <a:ln/>
        </p:spPr>
      </p:sp>
      <p:sp>
        <p:nvSpPr>
          <p:cNvPr id="9" name="Text 7"/>
          <p:cNvSpPr txBox="1"/>
          <p:nvPr/>
        </p:nvSpPr>
        <p:spPr>
          <a:xfrm>
            <a:off x="4549140" y="1645920"/>
            <a:ext cx="3108960" cy="365760"/>
          </a:xfrm>
          <a:prstGeom prst="rect">
            <a:avLst/>
          </a:prstGeom>
          <a:noFill/>
          <a:ln/>
        </p:spPr>
        <p:txBody>
          <a:bodyPr wrap="square" lIns="0" tIns="0" rIns="0" bIns="0" rtlCol="0" anchor="t"/>
          <a:lstStyle/>
          <a:p>
            <a:pPr indent="0" marL="0">
              <a:buNone/>
            </a:pPr>
            <a:r>
              <a:rPr lang="tr-TR" sz="1600" b="1" dirty="0">
                <a:solidFill>
                  <a:srgbClr val="028090"/>
                </a:solidFill>
                <a:latin typeface="Cambria" pitchFamily="34" charset="0"/>
                <a:ea typeface="Cambria" pitchFamily="34" charset="-122"/>
                <a:cs typeface="Cambria" pitchFamily="34" charset="-120"/>
              </a:rPr>
              <a:t>2. Bir bellek bloğunda</a:t>
            </a:r>
            <a:endParaRPr lang="tr-TR" sz="1600" dirty="0"/>
          </a:p>
        </p:txBody>
      </p:sp>
      <p:sp>
        <p:nvSpPr>
          <p:cNvPr id="10" name="Shape 8"/>
          <p:cNvSpPr/>
          <p:nvPr/>
        </p:nvSpPr>
        <p:spPr>
          <a:xfrm>
            <a:off x="8092440" y="1508760"/>
            <a:ext cx="3566160" cy="3794760"/>
          </a:xfrm>
          <a:prstGeom prst="roundRect">
            <a:avLst>
              <a:gd name="adj" fmla="val 1538"/>
            </a:avLst>
          </a:prstGeom>
          <a:solidFill>
            <a:srgbClr val="F2F2F2"/>
          </a:solidFill>
          <a:ln/>
        </p:spPr>
      </p:sp>
      <p:sp>
        <p:nvSpPr>
          <p:cNvPr id="11" name="Text 9"/>
          <p:cNvSpPr txBox="1"/>
          <p:nvPr/>
        </p:nvSpPr>
        <p:spPr>
          <a:xfrm>
            <a:off x="8321040" y="1645920"/>
            <a:ext cx="3108960" cy="365760"/>
          </a:xfrm>
          <a:prstGeom prst="rect">
            <a:avLst/>
          </a:prstGeom>
          <a:noFill/>
          <a:ln/>
        </p:spPr>
        <p:txBody>
          <a:bodyPr wrap="square" lIns="0" tIns="0" rIns="0" bIns="0" rtlCol="0" anchor="t"/>
          <a:lstStyle/>
          <a:p>
            <a:pPr indent="0" marL="0">
              <a:buNone/>
            </a:pPr>
            <a:r>
              <a:rPr lang="tr-TR" sz="1600" b="1" dirty="0">
                <a:solidFill>
                  <a:srgbClr val="028090"/>
                </a:solidFill>
                <a:latin typeface="Cambria" pitchFamily="34" charset="0"/>
                <a:ea typeface="Cambria" pitchFamily="34" charset="-122"/>
                <a:cs typeface="Cambria" pitchFamily="34" charset="-120"/>
              </a:rPr>
              <a:t>3. Yığıtta</a:t>
            </a:r>
            <a:endParaRPr lang="tr-TR" sz="1600" dirty="0"/>
          </a:p>
        </p:txBody>
      </p:sp>
      <p:sp>
        <p:nvSpPr>
          <p:cNvPr id="12" name="Shape 10"/>
          <p:cNvSpPr/>
          <p:nvPr/>
        </p:nvSpPr>
        <p:spPr>
          <a:xfrm>
            <a:off x="822960" y="2194560"/>
            <a:ext cx="731520" cy="457200"/>
          </a:xfrm>
          <a:prstGeom prst="roundRect">
            <a:avLst>
              <a:gd name="adj" fmla="val 10000"/>
            </a:avLst>
          </a:prstGeom>
          <a:solidFill>
            <a:srgbClr val="50808E"/>
          </a:solidFill>
          <a:ln/>
        </p:spPr>
      </p:sp>
      <p:sp>
        <p:nvSpPr>
          <p:cNvPr id="13" name="Text 11"/>
          <p:cNvSpPr txBox="1"/>
          <p:nvPr/>
        </p:nvSpPr>
        <p:spPr>
          <a:xfrm>
            <a:off x="822960" y="2194560"/>
            <a:ext cx="731520" cy="45720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onsolas" pitchFamily="34" charset="0"/>
                <a:ea typeface="Consolas" pitchFamily="34" charset="-122"/>
                <a:cs typeface="Consolas" pitchFamily="34" charset="-120"/>
              </a:rPr>
              <a:t>rdi</a:t>
            </a:r>
            <a:endParaRPr lang="tr-TR" sz="1200" dirty="0"/>
          </a:p>
        </p:txBody>
      </p:sp>
      <p:sp>
        <p:nvSpPr>
          <p:cNvPr id="14" name="Shape 12"/>
          <p:cNvSpPr/>
          <p:nvPr/>
        </p:nvSpPr>
        <p:spPr>
          <a:xfrm>
            <a:off x="1645920" y="2194560"/>
            <a:ext cx="914400" cy="457200"/>
          </a:xfrm>
          <a:prstGeom prst="roundRect">
            <a:avLst>
              <a:gd name="adj" fmla="val 10000"/>
            </a:avLst>
          </a:prstGeom>
          <a:solidFill>
            <a:srgbClr val="FFFFFF"/>
          </a:solidFill>
          <a:ln/>
        </p:spPr>
      </p:sp>
      <p:sp>
        <p:nvSpPr>
          <p:cNvPr id="15" name="Text 13"/>
          <p:cNvSpPr txBox="1"/>
          <p:nvPr/>
        </p:nvSpPr>
        <p:spPr>
          <a:xfrm>
            <a:off x="1645920" y="2194560"/>
            <a:ext cx="914400" cy="45720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1</a:t>
            </a:r>
            <a:endParaRPr lang="tr-TR" sz="1200" dirty="0"/>
          </a:p>
        </p:txBody>
      </p:sp>
      <p:sp>
        <p:nvSpPr>
          <p:cNvPr id="16" name="Shape 14"/>
          <p:cNvSpPr/>
          <p:nvPr/>
        </p:nvSpPr>
        <p:spPr>
          <a:xfrm>
            <a:off x="822960" y="2743200"/>
            <a:ext cx="731520" cy="457200"/>
          </a:xfrm>
          <a:prstGeom prst="roundRect">
            <a:avLst>
              <a:gd name="adj" fmla="val 10000"/>
            </a:avLst>
          </a:prstGeom>
          <a:solidFill>
            <a:srgbClr val="50808E"/>
          </a:solidFill>
          <a:ln/>
        </p:spPr>
      </p:sp>
      <p:sp>
        <p:nvSpPr>
          <p:cNvPr id="17" name="Text 15"/>
          <p:cNvSpPr txBox="1"/>
          <p:nvPr/>
        </p:nvSpPr>
        <p:spPr>
          <a:xfrm>
            <a:off x="822960" y="2743200"/>
            <a:ext cx="731520" cy="45720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onsolas" pitchFamily="34" charset="0"/>
                <a:ea typeface="Consolas" pitchFamily="34" charset="-122"/>
                <a:cs typeface="Consolas" pitchFamily="34" charset="-120"/>
              </a:rPr>
              <a:t>rsi</a:t>
            </a:r>
            <a:endParaRPr lang="tr-TR" sz="1200" dirty="0"/>
          </a:p>
        </p:txBody>
      </p:sp>
      <p:sp>
        <p:nvSpPr>
          <p:cNvPr id="18" name="Shape 16"/>
          <p:cNvSpPr/>
          <p:nvPr/>
        </p:nvSpPr>
        <p:spPr>
          <a:xfrm>
            <a:off x="1645920" y="2743200"/>
            <a:ext cx="914400" cy="457200"/>
          </a:xfrm>
          <a:prstGeom prst="roundRect">
            <a:avLst>
              <a:gd name="adj" fmla="val 10000"/>
            </a:avLst>
          </a:prstGeom>
          <a:solidFill>
            <a:srgbClr val="FFFFFF"/>
          </a:solidFill>
          <a:ln/>
        </p:spPr>
      </p:sp>
      <p:sp>
        <p:nvSpPr>
          <p:cNvPr id="19" name="Text 17"/>
          <p:cNvSpPr txBox="1"/>
          <p:nvPr/>
        </p:nvSpPr>
        <p:spPr>
          <a:xfrm>
            <a:off x="1645920" y="2743200"/>
            <a:ext cx="914400" cy="45720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msg</a:t>
            </a:r>
            <a:endParaRPr lang="tr-TR" sz="1200" dirty="0"/>
          </a:p>
        </p:txBody>
      </p:sp>
      <p:sp>
        <p:nvSpPr>
          <p:cNvPr id="20" name="Shape 18"/>
          <p:cNvSpPr/>
          <p:nvPr/>
        </p:nvSpPr>
        <p:spPr>
          <a:xfrm>
            <a:off x="822960" y="3291840"/>
            <a:ext cx="731520" cy="457200"/>
          </a:xfrm>
          <a:prstGeom prst="roundRect">
            <a:avLst>
              <a:gd name="adj" fmla="val 10000"/>
            </a:avLst>
          </a:prstGeom>
          <a:solidFill>
            <a:srgbClr val="50808E"/>
          </a:solidFill>
          <a:ln/>
        </p:spPr>
      </p:sp>
      <p:sp>
        <p:nvSpPr>
          <p:cNvPr id="21" name="Text 19"/>
          <p:cNvSpPr txBox="1"/>
          <p:nvPr/>
        </p:nvSpPr>
        <p:spPr>
          <a:xfrm>
            <a:off x="822960" y="3291840"/>
            <a:ext cx="731520" cy="45720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onsolas" pitchFamily="34" charset="0"/>
                <a:ea typeface="Consolas" pitchFamily="34" charset="-122"/>
                <a:cs typeface="Consolas" pitchFamily="34" charset="-120"/>
              </a:rPr>
              <a:t>rdx</a:t>
            </a:r>
            <a:endParaRPr lang="tr-TR" sz="1200" dirty="0"/>
          </a:p>
        </p:txBody>
      </p:sp>
      <p:sp>
        <p:nvSpPr>
          <p:cNvPr id="22" name="Shape 20"/>
          <p:cNvSpPr/>
          <p:nvPr/>
        </p:nvSpPr>
        <p:spPr>
          <a:xfrm>
            <a:off x="1645920" y="3291840"/>
            <a:ext cx="914400" cy="457200"/>
          </a:xfrm>
          <a:prstGeom prst="roundRect">
            <a:avLst>
              <a:gd name="adj" fmla="val 10000"/>
            </a:avLst>
          </a:prstGeom>
          <a:solidFill>
            <a:srgbClr val="FFFFFF"/>
          </a:solidFill>
          <a:ln/>
        </p:spPr>
      </p:sp>
      <p:sp>
        <p:nvSpPr>
          <p:cNvPr id="23" name="Text 21"/>
          <p:cNvSpPr txBox="1"/>
          <p:nvPr/>
        </p:nvSpPr>
        <p:spPr>
          <a:xfrm>
            <a:off x="1645920" y="3291840"/>
            <a:ext cx="914400" cy="45720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26</a:t>
            </a:r>
            <a:endParaRPr lang="tr-TR" sz="1200" dirty="0"/>
          </a:p>
        </p:txBody>
      </p:sp>
      <p:sp>
        <p:nvSpPr>
          <p:cNvPr id="24" name="Shape 22"/>
          <p:cNvSpPr/>
          <p:nvPr/>
        </p:nvSpPr>
        <p:spPr>
          <a:xfrm>
            <a:off x="2926080" y="2468880"/>
            <a:ext cx="914400" cy="1005840"/>
          </a:xfrm>
          <a:prstGeom prst="roundRect">
            <a:avLst>
              <a:gd name="adj" fmla="val 5000"/>
            </a:avLst>
          </a:prstGeom>
          <a:solidFill>
            <a:srgbClr val="36454F"/>
          </a:solidFill>
          <a:ln/>
        </p:spPr>
      </p:sp>
      <p:sp>
        <p:nvSpPr>
          <p:cNvPr id="25" name="Text 23"/>
          <p:cNvSpPr txBox="1"/>
          <p:nvPr/>
        </p:nvSpPr>
        <p:spPr>
          <a:xfrm>
            <a:off x="2926080" y="2468880"/>
            <a:ext cx="914400" cy="100584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alibri" pitchFamily="34" charset="0"/>
                <a:ea typeface="Calibri" pitchFamily="34" charset="-122"/>
                <a:cs typeface="Calibri" pitchFamily="34" charset="-120"/>
              </a:rPr>
              <a:t>çekirdek</a:t>
            </a:r>
            <a:endParaRPr lang="tr-TR" sz="1200" dirty="0"/>
          </a:p>
        </p:txBody>
      </p:sp>
      <p:sp>
        <p:nvSpPr>
          <p:cNvPr id="26" name="Shape 24"/>
          <p:cNvSpPr/>
          <p:nvPr/>
        </p:nvSpPr>
        <p:spPr>
          <a:xfrm>
            <a:off x="2587752" y="2971800"/>
            <a:ext cx="320040" cy="91"/>
          </a:xfrm>
          <a:prstGeom prst="line">
            <a:avLst/>
          </a:prstGeom>
          <a:noFill/>
          <a:ln w="22225">
            <a:solidFill>
              <a:srgbClr val="50808E"/>
            </a:solidFill>
            <a:prstDash val="solid"/>
            <a:tailEnd type="triangle"/>
          </a:ln>
        </p:spPr>
      </p:sp>
      <p:sp>
        <p:nvSpPr>
          <p:cNvPr id="27" name="Text 25"/>
          <p:cNvSpPr txBox="1"/>
          <p:nvPr/>
        </p:nvSpPr>
        <p:spPr>
          <a:xfrm>
            <a:off x="777240" y="4023360"/>
            <a:ext cx="3108960" cy="1097280"/>
          </a:xfrm>
          <a:prstGeom prst="rect">
            <a:avLst/>
          </a:prstGeom>
          <a:noFill/>
          <a:ln/>
        </p:spPr>
        <p:txBody>
          <a:bodyPr wrap="square" lIns="0" tIns="0" rIns="0" bIns="0" rtlCol="0" anchor="t"/>
          <a:lstStyle/>
          <a:p>
            <a:pPr indent="0" marL="0">
              <a:buNone/>
            </a:pPr>
            <a:r>
              <a:rPr lang="tr-TR" sz="1350" dirty="0">
                <a:solidFill>
                  <a:srgbClr val="3A464C"/>
                </a:solidFill>
                <a:latin typeface="Calibri" pitchFamily="34" charset="0"/>
                <a:ea typeface="Calibri" pitchFamily="34" charset="-122"/>
                <a:cs typeface="Calibri" pitchFamily="34" charset="-120"/>
              </a:rPr>
              <a:t>En hızlısı. Yazmaç sayısıyla sınırlıdır (x86-64 Linux'ta 6).</a:t>
            </a:r>
            <a:endParaRPr lang="tr-TR" sz="1350" dirty="0"/>
          </a:p>
        </p:txBody>
      </p:sp>
      <p:sp>
        <p:nvSpPr>
          <p:cNvPr id="28" name="Shape 26"/>
          <p:cNvSpPr/>
          <p:nvPr/>
        </p:nvSpPr>
        <p:spPr>
          <a:xfrm>
            <a:off x="4594860" y="2286000"/>
            <a:ext cx="731520" cy="457200"/>
          </a:xfrm>
          <a:prstGeom prst="roundRect">
            <a:avLst>
              <a:gd name="adj" fmla="val 10000"/>
            </a:avLst>
          </a:prstGeom>
          <a:solidFill>
            <a:srgbClr val="50808E"/>
          </a:solidFill>
          <a:ln/>
        </p:spPr>
      </p:sp>
      <p:sp>
        <p:nvSpPr>
          <p:cNvPr id="29" name="Text 27"/>
          <p:cNvSpPr txBox="1"/>
          <p:nvPr/>
        </p:nvSpPr>
        <p:spPr>
          <a:xfrm>
            <a:off x="4594860" y="2286000"/>
            <a:ext cx="731520" cy="45720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onsolas" pitchFamily="34" charset="0"/>
                <a:ea typeface="Consolas" pitchFamily="34" charset="-122"/>
                <a:cs typeface="Consolas" pitchFamily="34" charset="-120"/>
              </a:rPr>
              <a:t>rdi</a:t>
            </a:r>
            <a:endParaRPr lang="tr-TR" sz="1200" dirty="0"/>
          </a:p>
        </p:txBody>
      </p:sp>
      <p:sp>
        <p:nvSpPr>
          <p:cNvPr id="30" name="Shape 28"/>
          <p:cNvSpPr/>
          <p:nvPr/>
        </p:nvSpPr>
        <p:spPr>
          <a:xfrm>
            <a:off x="5417820" y="2286000"/>
            <a:ext cx="914400" cy="457200"/>
          </a:xfrm>
          <a:prstGeom prst="roundRect">
            <a:avLst>
              <a:gd name="adj" fmla="val 10000"/>
            </a:avLst>
          </a:prstGeom>
          <a:solidFill>
            <a:srgbClr val="FFFFFF"/>
          </a:solidFill>
          <a:ln/>
        </p:spPr>
      </p:sp>
      <p:sp>
        <p:nvSpPr>
          <p:cNvPr id="31" name="Text 29"/>
          <p:cNvSpPr txBox="1"/>
          <p:nvPr/>
        </p:nvSpPr>
        <p:spPr>
          <a:xfrm>
            <a:off x="5417820" y="2286000"/>
            <a:ext cx="914400" cy="45720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adres X</a:t>
            </a:r>
            <a:endParaRPr lang="tr-TR" sz="1200" dirty="0"/>
          </a:p>
        </p:txBody>
      </p:sp>
      <p:sp>
        <p:nvSpPr>
          <p:cNvPr id="32" name="Shape 30"/>
          <p:cNvSpPr/>
          <p:nvPr/>
        </p:nvSpPr>
        <p:spPr>
          <a:xfrm>
            <a:off x="6606540" y="2103120"/>
            <a:ext cx="1005840" cy="347472"/>
          </a:xfrm>
          <a:prstGeom prst="roundRect">
            <a:avLst>
              <a:gd name="adj" fmla="val 13158"/>
            </a:avLst>
          </a:prstGeom>
          <a:solidFill>
            <a:srgbClr val="D7E9E6"/>
          </a:solidFill>
          <a:ln/>
        </p:spPr>
      </p:sp>
      <p:sp>
        <p:nvSpPr>
          <p:cNvPr id="33" name="Text 31"/>
          <p:cNvSpPr txBox="1"/>
          <p:nvPr/>
        </p:nvSpPr>
        <p:spPr>
          <a:xfrm>
            <a:off x="6606540" y="2103120"/>
            <a:ext cx="1005840" cy="347472"/>
          </a:xfrm>
          <a:prstGeom prst="rect">
            <a:avLst/>
          </a:prstGeom>
          <a:noFill/>
          <a:ln/>
        </p:spPr>
        <p:txBody>
          <a:bodyPr wrap="square" lIns="38100" tIns="38100" rIns="38100" bIns="38100" rtlCol="0" anchor="ctr"/>
          <a:lstStyle/>
          <a:p>
            <a:pPr algn="ctr" indent="0" marL="0">
              <a:buNone/>
            </a:pPr>
            <a:r>
              <a:rPr lang="tr-TR" sz="1100" dirty="0">
                <a:solidFill>
                  <a:srgbClr val="36454F"/>
                </a:solidFill>
                <a:latin typeface="Calibri" pitchFamily="34" charset="0"/>
                <a:ea typeface="Calibri" pitchFamily="34" charset="-122"/>
                <a:cs typeface="Calibri" pitchFamily="34" charset="-120"/>
              </a:rPr>
              <a:t>param 1</a:t>
            </a:r>
            <a:endParaRPr lang="tr-TR" sz="1100" dirty="0"/>
          </a:p>
        </p:txBody>
      </p:sp>
      <p:sp>
        <p:nvSpPr>
          <p:cNvPr id="34" name="Shape 32"/>
          <p:cNvSpPr/>
          <p:nvPr/>
        </p:nvSpPr>
        <p:spPr>
          <a:xfrm>
            <a:off x="6606540" y="2487168"/>
            <a:ext cx="1005840" cy="347472"/>
          </a:xfrm>
          <a:prstGeom prst="roundRect">
            <a:avLst>
              <a:gd name="adj" fmla="val 13158"/>
            </a:avLst>
          </a:prstGeom>
          <a:solidFill>
            <a:srgbClr val="D7E9E6"/>
          </a:solidFill>
          <a:ln/>
        </p:spPr>
      </p:sp>
      <p:sp>
        <p:nvSpPr>
          <p:cNvPr id="35" name="Text 33"/>
          <p:cNvSpPr txBox="1"/>
          <p:nvPr/>
        </p:nvSpPr>
        <p:spPr>
          <a:xfrm>
            <a:off x="6606540" y="2487168"/>
            <a:ext cx="1005840" cy="347472"/>
          </a:xfrm>
          <a:prstGeom prst="rect">
            <a:avLst/>
          </a:prstGeom>
          <a:noFill/>
          <a:ln/>
        </p:spPr>
        <p:txBody>
          <a:bodyPr wrap="square" lIns="38100" tIns="38100" rIns="38100" bIns="38100" rtlCol="0" anchor="ctr"/>
          <a:lstStyle/>
          <a:p>
            <a:pPr algn="ctr" indent="0" marL="0">
              <a:buNone/>
            </a:pPr>
            <a:r>
              <a:rPr lang="tr-TR" sz="1100" dirty="0">
                <a:solidFill>
                  <a:srgbClr val="36454F"/>
                </a:solidFill>
                <a:latin typeface="Calibri" pitchFamily="34" charset="0"/>
                <a:ea typeface="Calibri" pitchFamily="34" charset="-122"/>
                <a:cs typeface="Calibri" pitchFamily="34" charset="-120"/>
              </a:rPr>
              <a:t>param 2</a:t>
            </a:r>
            <a:endParaRPr lang="tr-TR" sz="1100" dirty="0"/>
          </a:p>
        </p:txBody>
      </p:sp>
      <p:sp>
        <p:nvSpPr>
          <p:cNvPr id="36" name="Shape 34"/>
          <p:cNvSpPr/>
          <p:nvPr/>
        </p:nvSpPr>
        <p:spPr>
          <a:xfrm>
            <a:off x="6606540" y="2871216"/>
            <a:ext cx="1005840" cy="347472"/>
          </a:xfrm>
          <a:prstGeom prst="roundRect">
            <a:avLst>
              <a:gd name="adj" fmla="val 13158"/>
            </a:avLst>
          </a:prstGeom>
          <a:solidFill>
            <a:srgbClr val="D7E9E6"/>
          </a:solidFill>
          <a:ln/>
        </p:spPr>
      </p:sp>
      <p:sp>
        <p:nvSpPr>
          <p:cNvPr id="37" name="Text 35"/>
          <p:cNvSpPr txBox="1"/>
          <p:nvPr/>
        </p:nvSpPr>
        <p:spPr>
          <a:xfrm>
            <a:off x="6606540" y="2871216"/>
            <a:ext cx="1005840" cy="347472"/>
          </a:xfrm>
          <a:prstGeom prst="rect">
            <a:avLst/>
          </a:prstGeom>
          <a:noFill/>
          <a:ln/>
        </p:spPr>
        <p:txBody>
          <a:bodyPr wrap="square" lIns="38100" tIns="38100" rIns="38100" bIns="38100" rtlCol="0" anchor="ctr"/>
          <a:lstStyle/>
          <a:p>
            <a:pPr algn="ctr" indent="0" marL="0">
              <a:buNone/>
            </a:pPr>
            <a:r>
              <a:rPr lang="tr-TR" sz="1100" dirty="0">
                <a:solidFill>
                  <a:srgbClr val="36454F"/>
                </a:solidFill>
                <a:latin typeface="Calibri" pitchFamily="34" charset="0"/>
                <a:ea typeface="Calibri" pitchFamily="34" charset="-122"/>
                <a:cs typeface="Calibri" pitchFamily="34" charset="-120"/>
              </a:rPr>
              <a:t>…</a:t>
            </a:r>
            <a:endParaRPr lang="tr-TR" sz="1100" dirty="0"/>
          </a:p>
        </p:txBody>
      </p:sp>
      <p:sp>
        <p:nvSpPr>
          <p:cNvPr id="38" name="Shape 36"/>
          <p:cNvSpPr/>
          <p:nvPr/>
        </p:nvSpPr>
        <p:spPr>
          <a:xfrm>
            <a:off x="6606540" y="3255264"/>
            <a:ext cx="1005840" cy="347472"/>
          </a:xfrm>
          <a:prstGeom prst="roundRect">
            <a:avLst>
              <a:gd name="adj" fmla="val 13158"/>
            </a:avLst>
          </a:prstGeom>
          <a:solidFill>
            <a:srgbClr val="D7E9E6"/>
          </a:solidFill>
          <a:ln/>
        </p:spPr>
      </p:sp>
      <p:sp>
        <p:nvSpPr>
          <p:cNvPr id="39" name="Text 37"/>
          <p:cNvSpPr txBox="1"/>
          <p:nvPr/>
        </p:nvSpPr>
        <p:spPr>
          <a:xfrm>
            <a:off x="6606540" y="3255264"/>
            <a:ext cx="1005840" cy="347472"/>
          </a:xfrm>
          <a:prstGeom prst="rect">
            <a:avLst/>
          </a:prstGeom>
          <a:noFill/>
          <a:ln/>
        </p:spPr>
        <p:txBody>
          <a:bodyPr wrap="square" lIns="38100" tIns="38100" rIns="38100" bIns="38100" rtlCol="0" anchor="ctr"/>
          <a:lstStyle/>
          <a:p>
            <a:pPr algn="ctr" indent="0" marL="0">
              <a:buNone/>
            </a:pPr>
            <a:r>
              <a:rPr lang="tr-TR" sz="1100" dirty="0">
                <a:solidFill>
                  <a:srgbClr val="36454F"/>
                </a:solidFill>
                <a:latin typeface="Calibri" pitchFamily="34" charset="0"/>
                <a:ea typeface="Calibri" pitchFamily="34" charset="-122"/>
                <a:cs typeface="Calibri" pitchFamily="34" charset="-120"/>
              </a:rPr>
              <a:t>param n</a:t>
            </a:r>
            <a:endParaRPr lang="tr-TR" sz="1100" dirty="0"/>
          </a:p>
        </p:txBody>
      </p:sp>
      <p:sp>
        <p:nvSpPr>
          <p:cNvPr id="40" name="Text 38"/>
          <p:cNvSpPr txBox="1"/>
          <p:nvPr/>
        </p:nvSpPr>
        <p:spPr>
          <a:xfrm>
            <a:off x="6606540" y="3639312"/>
            <a:ext cx="1005840" cy="228600"/>
          </a:xfrm>
          <a:prstGeom prst="rect">
            <a:avLst/>
          </a:prstGeom>
          <a:noFill/>
          <a:ln/>
        </p:spPr>
        <p:txBody>
          <a:bodyPr wrap="square" lIns="0" tIns="0" rIns="0" bIns="0" rtlCol="0" anchor="t"/>
          <a:lstStyle/>
          <a:p>
            <a:pPr algn="ctr" indent="0" marL="0">
              <a:buNone/>
            </a:pPr>
            <a:r>
              <a:rPr lang="tr-TR" sz="1000" i="1" dirty="0">
                <a:solidFill>
                  <a:srgbClr val="6B7679"/>
                </a:solidFill>
                <a:latin typeface="Calibri" pitchFamily="34" charset="0"/>
                <a:ea typeface="Calibri" pitchFamily="34" charset="-122"/>
                <a:cs typeface="Calibri" pitchFamily="34" charset="-120"/>
              </a:rPr>
              <a:t>X'teki blok</a:t>
            </a:r>
            <a:endParaRPr lang="tr-TR" sz="1000" dirty="0"/>
          </a:p>
        </p:txBody>
      </p:sp>
      <p:sp>
        <p:nvSpPr>
          <p:cNvPr id="41" name="Shape 39"/>
          <p:cNvSpPr/>
          <p:nvPr/>
        </p:nvSpPr>
        <p:spPr>
          <a:xfrm flipV="1">
            <a:off x="6359652" y="2276856"/>
            <a:ext cx="228600" cy="237744"/>
          </a:xfrm>
          <a:prstGeom prst="line">
            <a:avLst/>
          </a:prstGeom>
          <a:noFill/>
          <a:ln w="22225">
            <a:solidFill>
              <a:srgbClr val="50808E"/>
            </a:solidFill>
            <a:prstDash val="solid"/>
            <a:tailEnd type="triangle"/>
          </a:ln>
        </p:spPr>
      </p:sp>
      <p:sp>
        <p:nvSpPr>
          <p:cNvPr id="42" name="Text 40"/>
          <p:cNvSpPr txBox="1"/>
          <p:nvPr/>
        </p:nvSpPr>
        <p:spPr>
          <a:xfrm>
            <a:off x="4549140" y="4023360"/>
            <a:ext cx="3108960" cy="1188720"/>
          </a:xfrm>
          <a:prstGeom prst="rect">
            <a:avLst/>
          </a:prstGeom>
          <a:noFill/>
          <a:ln/>
        </p:spPr>
        <p:txBody>
          <a:bodyPr wrap="square" lIns="0" tIns="0" rIns="0" bIns="0" rtlCol="0" anchor="t"/>
          <a:lstStyle/>
          <a:p>
            <a:pPr indent="0" marL="0">
              <a:buNone/>
            </a:pPr>
            <a:r>
              <a:rPr lang="tr-TR" sz="1350" dirty="0">
                <a:solidFill>
                  <a:srgbClr val="3A464C"/>
                </a:solidFill>
                <a:latin typeface="Calibri" pitchFamily="34" charset="0"/>
                <a:ea typeface="Calibri" pitchFamily="34" charset="-122"/>
                <a:cs typeface="Calibri" pitchFamily="34" charset="-120"/>
              </a:rPr>
              <a:t>İstenen sayıda parametre; yazmaçta yalnızca adres taşınır. Örnek: clone3() bir yapıya işaretçi alır.</a:t>
            </a:r>
            <a:endParaRPr lang="tr-TR" sz="1350" dirty="0"/>
          </a:p>
        </p:txBody>
      </p:sp>
      <p:sp>
        <p:nvSpPr>
          <p:cNvPr id="43" name="Shape 41"/>
          <p:cNvSpPr/>
          <p:nvPr/>
        </p:nvSpPr>
        <p:spPr>
          <a:xfrm>
            <a:off x="8549640" y="2194560"/>
            <a:ext cx="1188720" cy="365760"/>
          </a:xfrm>
          <a:prstGeom prst="roundRect">
            <a:avLst>
              <a:gd name="adj" fmla="val 12500"/>
            </a:avLst>
          </a:prstGeom>
          <a:solidFill>
            <a:srgbClr val="D7E9E6"/>
          </a:solidFill>
          <a:ln/>
        </p:spPr>
      </p:sp>
      <p:sp>
        <p:nvSpPr>
          <p:cNvPr id="44" name="Text 42"/>
          <p:cNvSpPr txBox="1"/>
          <p:nvPr/>
        </p:nvSpPr>
        <p:spPr>
          <a:xfrm>
            <a:off x="8549640" y="2194560"/>
            <a:ext cx="1188720" cy="365760"/>
          </a:xfrm>
          <a:prstGeom prst="rect">
            <a:avLst/>
          </a:prstGeom>
          <a:noFill/>
          <a:ln/>
        </p:spPr>
        <p:txBody>
          <a:bodyPr wrap="square" lIns="38100" tIns="38100" rIns="38100" bIns="38100" rtlCol="0" anchor="ctr"/>
          <a:lstStyle/>
          <a:p>
            <a:pPr algn="ctr" indent="0" marL="0">
              <a:buNone/>
            </a:pPr>
            <a:r>
              <a:rPr lang="tr-TR" sz="1100" dirty="0">
                <a:solidFill>
                  <a:srgbClr val="36454F"/>
                </a:solidFill>
                <a:latin typeface="Calibri" pitchFamily="34" charset="0"/>
                <a:ea typeface="Calibri" pitchFamily="34" charset="-122"/>
                <a:cs typeface="Calibri" pitchFamily="34" charset="-120"/>
              </a:rPr>
              <a:t>param 3</a:t>
            </a:r>
            <a:endParaRPr lang="tr-TR" sz="1100" dirty="0"/>
          </a:p>
        </p:txBody>
      </p:sp>
      <p:sp>
        <p:nvSpPr>
          <p:cNvPr id="45" name="Shape 43"/>
          <p:cNvSpPr/>
          <p:nvPr/>
        </p:nvSpPr>
        <p:spPr>
          <a:xfrm>
            <a:off x="8549640" y="2606040"/>
            <a:ext cx="1188720" cy="365760"/>
          </a:xfrm>
          <a:prstGeom prst="roundRect">
            <a:avLst>
              <a:gd name="adj" fmla="val 12500"/>
            </a:avLst>
          </a:prstGeom>
          <a:solidFill>
            <a:srgbClr val="D7E9E6"/>
          </a:solidFill>
          <a:ln/>
        </p:spPr>
      </p:sp>
      <p:sp>
        <p:nvSpPr>
          <p:cNvPr id="46" name="Text 44"/>
          <p:cNvSpPr txBox="1"/>
          <p:nvPr/>
        </p:nvSpPr>
        <p:spPr>
          <a:xfrm>
            <a:off x="8549640" y="2606040"/>
            <a:ext cx="1188720" cy="365760"/>
          </a:xfrm>
          <a:prstGeom prst="rect">
            <a:avLst/>
          </a:prstGeom>
          <a:noFill/>
          <a:ln/>
        </p:spPr>
        <p:txBody>
          <a:bodyPr wrap="square" lIns="38100" tIns="38100" rIns="38100" bIns="38100" rtlCol="0" anchor="ctr"/>
          <a:lstStyle/>
          <a:p>
            <a:pPr algn="ctr" indent="0" marL="0">
              <a:buNone/>
            </a:pPr>
            <a:r>
              <a:rPr lang="tr-TR" sz="1100" dirty="0">
                <a:solidFill>
                  <a:srgbClr val="36454F"/>
                </a:solidFill>
                <a:latin typeface="Calibri" pitchFamily="34" charset="0"/>
                <a:ea typeface="Calibri" pitchFamily="34" charset="-122"/>
                <a:cs typeface="Calibri" pitchFamily="34" charset="-120"/>
              </a:rPr>
              <a:t>param 2</a:t>
            </a:r>
            <a:endParaRPr lang="tr-TR" sz="1100" dirty="0"/>
          </a:p>
        </p:txBody>
      </p:sp>
      <p:sp>
        <p:nvSpPr>
          <p:cNvPr id="47" name="Shape 45"/>
          <p:cNvSpPr/>
          <p:nvPr/>
        </p:nvSpPr>
        <p:spPr>
          <a:xfrm>
            <a:off x="8549640" y="3017520"/>
            <a:ext cx="1188720" cy="365760"/>
          </a:xfrm>
          <a:prstGeom prst="roundRect">
            <a:avLst>
              <a:gd name="adj" fmla="val 12500"/>
            </a:avLst>
          </a:prstGeom>
          <a:solidFill>
            <a:srgbClr val="D7E9E6"/>
          </a:solidFill>
          <a:ln/>
        </p:spPr>
      </p:sp>
      <p:sp>
        <p:nvSpPr>
          <p:cNvPr id="48" name="Text 46"/>
          <p:cNvSpPr txBox="1"/>
          <p:nvPr/>
        </p:nvSpPr>
        <p:spPr>
          <a:xfrm>
            <a:off x="8549640" y="3017520"/>
            <a:ext cx="1188720" cy="365760"/>
          </a:xfrm>
          <a:prstGeom prst="rect">
            <a:avLst/>
          </a:prstGeom>
          <a:noFill/>
          <a:ln/>
        </p:spPr>
        <p:txBody>
          <a:bodyPr wrap="square" lIns="38100" tIns="38100" rIns="38100" bIns="38100" rtlCol="0" anchor="ctr"/>
          <a:lstStyle/>
          <a:p>
            <a:pPr algn="ctr" indent="0" marL="0">
              <a:buNone/>
            </a:pPr>
            <a:r>
              <a:rPr lang="tr-TR" sz="1100" dirty="0">
                <a:solidFill>
                  <a:srgbClr val="36454F"/>
                </a:solidFill>
                <a:latin typeface="Calibri" pitchFamily="34" charset="0"/>
                <a:ea typeface="Calibri" pitchFamily="34" charset="-122"/>
                <a:cs typeface="Calibri" pitchFamily="34" charset="-120"/>
              </a:rPr>
              <a:t>param 1</a:t>
            </a:r>
            <a:endParaRPr lang="tr-TR" sz="1100" dirty="0"/>
          </a:p>
        </p:txBody>
      </p:sp>
      <p:sp>
        <p:nvSpPr>
          <p:cNvPr id="49" name="Text 47"/>
          <p:cNvSpPr txBox="1"/>
          <p:nvPr/>
        </p:nvSpPr>
        <p:spPr>
          <a:xfrm>
            <a:off x="8183880" y="3474720"/>
            <a:ext cx="1920240" cy="228600"/>
          </a:xfrm>
          <a:prstGeom prst="rect">
            <a:avLst/>
          </a:prstGeom>
          <a:noFill/>
          <a:ln/>
        </p:spPr>
        <p:txBody>
          <a:bodyPr wrap="square" lIns="0" tIns="0" rIns="0" bIns="0" rtlCol="0" anchor="t"/>
          <a:lstStyle/>
          <a:p>
            <a:pPr algn="ctr" indent="0" marL="0">
              <a:buNone/>
            </a:pPr>
            <a:r>
              <a:rPr lang="tr-TR" sz="1000" i="1" dirty="0">
                <a:solidFill>
                  <a:srgbClr val="6B7679"/>
                </a:solidFill>
                <a:latin typeface="Calibri" pitchFamily="34" charset="0"/>
                <a:ea typeface="Calibri" pitchFamily="34" charset="-122"/>
                <a:cs typeface="Calibri" pitchFamily="34" charset="-120"/>
              </a:rPr>
              <a:t>program iter (push)</a:t>
            </a:r>
            <a:endParaRPr lang="tr-TR" sz="1000" dirty="0"/>
          </a:p>
        </p:txBody>
      </p:sp>
      <p:sp>
        <p:nvSpPr>
          <p:cNvPr id="50" name="Shape 48"/>
          <p:cNvSpPr/>
          <p:nvPr/>
        </p:nvSpPr>
        <p:spPr>
          <a:xfrm>
            <a:off x="10469880" y="2377440"/>
            <a:ext cx="914400" cy="1005840"/>
          </a:xfrm>
          <a:prstGeom prst="roundRect">
            <a:avLst>
              <a:gd name="adj" fmla="val 5000"/>
            </a:avLst>
          </a:prstGeom>
          <a:solidFill>
            <a:srgbClr val="36454F"/>
          </a:solidFill>
          <a:ln/>
        </p:spPr>
      </p:sp>
      <p:sp>
        <p:nvSpPr>
          <p:cNvPr id="51" name="Text 49"/>
          <p:cNvSpPr txBox="1"/>
          <p:nvPr/>
        </p:nvSpPr>
        <p:spPr>
          <a:xfrm>
            <a:off x="10469880" y="2377440"/>
            <a:ext cx="914400" cy="100584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alibri" pitchFamily="34" charset="0"/>
                <a:ea typeface="Calibri" pitchFamily="34" charset="-122"/>
                <a:cs typeface="Calibri" pitchFamily="34" charset="-120"/>
              </a:rPr>
              <a:t>çekirdek</a:t>
            </a:r>
            <a:endParaRPr lang="tr-TR" sz="1200" dirty="0"/>
          </a:p>
        </p:txBody>
      </p:sp>
      <p:sp>
        <p:nvSpPr>
          <p:cNvPr id="52" name="Shape 50"/>
          <p:cNvSpPr/>
          <p:nvPr/>
        </p:nvSpPr>
        <p:spPr>
          <a:xfrm>
            <a:off x="9784080" y="2880360"/>
            <a:ext cx="667512" cy="91"/>
          </a:xfrm>
          <a:prstGeom prst="line">
            <a:avLst/>
          </a:prstGeom>
          <a:noFill/>
          <a:ln w="22225">
            <a:solidFill>
              <a:srgbClr val="50808E"/>
            </a:solidFill>
            <a:prstDash val="solid"/>
            <a:tailEnd type="triangle"/>
          </a:ln>
        </p:spPr>
      </p:sp>
      <p:sp>
        <p:nvSpPr>
          <p:cNvPr id="53" name="Text 51"/>
          <p:cNvSpPr txBox="1"/>
          <p:nvPr/>
        </p:nvSpPr>
        <p:spPr>
          <a:xfrm>
            <a:off x="9692640" y="2953512"/>
            <a:ext cx="822960" cy="228600"/>
          </a:xfrm>
          <a:prstGeom prst="rect">
            <a:avLst/>
          </a:prstGeom>
          <a:noFill/>
          <a:ln/>
        </p:spPr>
        <p:txBody>
          <a:bodyPr wrap="square" lIns="0" tIns="0" rIns="0" bIns="0" rtlCol="0" anchor="t"/>
          <a:lstStyle/>
          <a:p>
            <a:pPr algn="ctr" indent="0" marL="0">
              <a:buNone/>
            </a:pPr>
            <a:r>
              <a:rPr lang="tr-TR" sz="1000" i="1" dirty="0">
                <a:solidFill>
                  <a:srgbClr val="6B7679"/>
                </a:solidFill>
                <a:latin typeface="Calibri" pitchFamily="34" charset="0"/>
                <a:ea typeface="Calibri" pitchFamily="34" charset="-122"/>
                <a:cs typeface="Calibri" pitchFamily="34" charset="-120"/>
              </a:rPr>
              <a:t>çeker (pop)</a:t>
            </a:r>
            <a:endParaRPr lang="tr-TR" sz="1000" dirty="0"/>
          </a:p>
        </p:txBody>
      </p:sp>
      <p:sp>
        <p:nvSpPr>
          <p:cNvPr id="54" name="Text 52"/>
          <p:cNvSpPr txBox="1"/>
          <p:nvPr/>
        </p:nvSpPr>
        <p:spPr>
          <a:xfrm>
            <a:off x="8321040" y="4023360"/>
            <a:ext cx="3108960" cy="1188720"/>
          </a:xfrm>
          <a:prstGeom prst="rect">
            <a:avLst/>
          </a:prstGeom>
          <a:noFill/>
          <a:ln/>
        </p:spPr>
        <p:txBody>
          <a:bodyPr wrap="square" lIns="0" tIns="0" rIns="0" bIns="0" rtlCol="0" anchor="t"/>
          <a:lstStyle/>
          <a:p>
            <a:pPr indent="0" marL="0">
              <a:buNone/>
            </a:pPr>
            <a:r>
              <a:rPr lang="tr-TR" sz="1350" dirty="0">
                <a:solidFill>
                  <a:srgbClr val="3A464C"/>
                </a:solidFill>
                <a:latin typeface="Calibri" pitchFamily="34" charset="0"/>
                <a:ea typeface="Calibri" pitchFamily="34" charset="-122"/>
                <a:cs typeface="Calibri" pitchFamily="34" charset="-120"/>
              </a:rPr>
              <a:t>Esnek, ama çekirdek kullanıcı belleğinden kopyalamalıdır. Örnek: x86 üzerinde 32 bit FreeBSD.</a:t>
            </a:r>
            <a:endParaRPr lang="tr-TR" sz="1350" dirty="0"/>
          </a:p>
        </p:txBody>
      </p:sp>
      <p:sp>
        <p:nvSpPr>
          <p:cNvPr id="55" name="Shape 53"/>
          <p:cNvSpPr/>
          <p:nvPr/>
        </p:nvSpPr>
        <p:spPr>
          <a:xfrm>
            <a:off x="548640" y="5486400"/>
            <a:ext cx="11109960" cy="777240"/>
          </a:xfrm>
          <a:prstGeom prst="roundRect">
            <a:avLst>
              <a:gd name="adj" fmla="val 7059"/>
            </a:avLst>
          </a:prstGeom>
          <a:solidFill>
            <a:srgbClr val="36454F"/>
          </a:solidFill>
          <a:ln/>
          <a:effectLst>
            <a:outerShdw sx="100000" sy="100000" kx="0" ky="0" algn="bl" rotWithShape="0" blurRad="101600" dist="25400" dir="5400000">
              <a:srgbClr val="000000">
                <a:alpha val="12000"/>
              </a:srgbClr>
            </a:outerShdw>
          </a:effectLst>
        </p:spPr>
      </p:sp>
      <p:sp>
        <p:nvSpPr>
          <p:cNvPr id="56" name="Text 54"/>
          <p:cNvSpPr txBox="1"/>
          <p:nvPr/>
        </p:nvSpPr>
        <p:spPr>
          <a:xfrm>
            <a:off x="777240" y="5486400"/>
            <a:ext cx="10652760" cy="77724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Linux 1. ve 2. yolu birleştirir: altı parametreye kadar yazmaçlarda; daha büyük veri (bir tampon, bir yapı) bir yazmaçta adres olarak aktarılır.</a:t>
            </a:r>
            <a:endParaRPr lang="tr-T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PARAMETRELER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Somut Örnek: x86-64 Linux Yazmaç Kuralı</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15</a:t>
            </a:r>
            <a:endParaRPr lang="tr-TR"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1737360"/>
                <a:gridCol w="5120640"/>
                <a:gridCol w="4251960"/>
              </a:tblGrid>
              <a:tr h="0">
                <a:tc>
                  <a:txBody>
                    <a:bodyPr/>
                    <a:lstStyle/>
                    <a:p>
                      <a:pPr indent="0" marL="0">
                        <a:buNone/>
                      </a:pPr>
                      <a:r>
                        <a:rPr lang="tr-TR" sz="1600" b="1" dirty="0">
                          <a:solidFill>
                            <a:srgbClr val="FFFFFF"/>
                          </a:solidFill>
                          <a:latin typeface="Cambria" pitchFamily="34" charset="0"/>
                          <a:ea typeface="Cambria" pitchFamily="34" charset="-122"/>
                          <a:cs typeface="Cambria" pitchFamily="34" charset="-120"/>
                        </a:rPr>
                        <a:t>Yazmaç</a:t>
                      </a:r>
                      <a:endParaRPr lang="tr-TR" sz="160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c>
                  <a:txBody>
                    <a:bodyPr/>
                    <a:lstStyle/>
                    <a:p>
                      <a:pPr indent="0" marL="0">
                        <a:buNone/>
                      </a:pPr>
                      <a:r>
                        <a:rPr lang="tr-TR" sz="1600" b="1" dirty="0">
                          <a:solidFill>
                            <a:srgbClr val="FFFFFF"/>
                          </a:solidFill>
                          <a:latin typeface="Cambria" pitchFamily="34" charset="0"/>
                          <a:ea typeface="Cambria" pitchFamily="34" charset="-122"/>
                          <a:cs typeface="Cambria" pitchFamily="34" charset="-120"/>
                        </a:rPr>
                        <a:t>Sistem çağrısındaki rolü</a:t>
                      </a:r>
                      <a:endParaRPr lang="tr-TR" sz="160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c>
                  <a:txBody>
                    <a:bodyPr/>
                    <a:lstStyle/>
                    <a:p>
                      <a:pPr indent="0" marL="0">
                        <a:buNone/>
                      </a:pPr>
                      <a:r>
                        <a:rPr lang="tr-TR" sz="1600" b="1" dirty="0">
                          <a:solidFill>
                            <a:srgbClr val="FFFFFF"/>
                          </a:solidFill>
                          <a:latin typeface="Cambria" pitchFamily="34" charset="0"/>
                          <a:ea typeface="Cambria" pitchFamily="34" charset="-122"/>
                          <a:cs typeface="Cambria" pitchFamily="34" charset="-120"/>
                        </a:rPr>
                        <a:t>write(1, msg, 26) için</a:t>
                      </a:r>
                      <a:endParaRPr lang="tr-TR" sz="160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r>
              <a:tr h="0">
                <a:tc>
                  <a:txBody>
                    <a:bodyPr/>
                    <a:lstStyle/>
                    <a:p>
                      <a:pPr indent="0" marL="0">
                        <a:buNone/>
                      </a:pPr>
                      <a:r>
                        <a:rPr lang="tr-TR" sz="1500" b="1" dirty="0">
                          <a:solidFill>
                            <a:srgbClr val="3A464C"/>
                          </a:solidFill>
                          <a:latin typeface="Calibri" pitchFamily="34" charset="0"/>
                          <a:ea typeface="Calibri" pitchFamily="34" charset="-122"/>
                          <a:cs typeface="Calibri" pitchFamily="34" charset="-120"/>
                        </a:rPr>
                        <a:t>rax</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sistem çağrısı numarası (giriş) · dönüş değeri (çıkış)</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1  →  26 (yazılan bayt)</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500" b="1" dirty="0">
                          <a:solidFill>
                            <a:srgbClr val="3A464C"/>
                          </a:solidFill>
                          <a:latin typeface="Calibri" pitchFamily="34" charset="0"/>
                          <a:ea typeface="Calibri" pitchFamily="34" charset="-122"/>
                          <a:cs typeface="Calibri" pitchFamily="34" charset="-120"/>
                        </a:rPr>
                        <a:t>rdi</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1. parametre</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1  (dosya tanımlayıcısı: standart çıktı)</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r h="0">
                <a:tc>
                  <a:txBody>
                    <a:bodyPr/>
                    <a:lstStyle/>
                    <a:p>
                      <a:pPr indent="0" marL="0">
                        <a:buNone/>
                      </a:pPr>
                      <a:r>
                        <a:rPr lang="tr-TR" sz="1500" b="1" dirty="0">
                          <a:solidFill>
                            <a:srgbClr val="3A464C"/>
                          </a:solidFill>
                          <a:latin typeface="Calibri" pitchFamily="34" charset="0"/>
                          <a:ea typeface="Calibri" pitchFamily="34" charset="-122"/>
                          <a:cs typeface="Calibri" pitchFamily="34" charset="-120"/>
                        </a:rPr>
                        <a:t>rsi</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2. parametre</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msg'nin adresi</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500" b="1" dirty="0">
                          <a:solidFill>
                            <a:srgbClr val="3A464C"/>
                          </a:solidFill>
                          <a:latin typeface="Calibri" pitchFamily="34" charset="0"/>
                          <a:ea typeface="Calibri" pitchFamily="34" charset="-122"/>
                          <a:cs typeface="Calibri" pitchFamily="34" charset="-120"/>
                        </a:rPr>
                        <a:t>rdx</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3. parametre</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26  (bayt sayısı)</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r h="0">
                <a:tc>
                  <a:txBody>
                    <a:bodyPr/>
                    <a:lstStyle/>
                    <a:p>
                      <a:pPr indent="0" marL="0">
                        <a:buNone/>
                      </a:pPr>
                      <a:r>
                        <a:rPr lang="tr-TR" sz="1500" b="1" dirty="0">
                          <a:solidFill>
                            <a:srgbClr val="3A464C"/>
                          </a:solidFill>
                          <a:latin typeface="Calibri" pitchFamily="34" charset="0"/>
                          <a:ea typeface="Calibri" pitchFamily="34" charset="-122"/>
                          <a:cs typeface="Calibri" pitchFamily="34" charset="-120"/>
                        </a:rPr>
                        <a:t>r10, r8, r9</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4., 5., 6. parametre</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 (write kullanmaz)</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500" b="1" dirty="0">
                          <a:solidFill>
                            <a:srgbClr val="3A464C"/>
                          </a:solidFill>
                          <a:latin typeface="Calibri" pitchFamily="34" charset="0"/>
                          <a:ea typeface="Calibri" pitchFamily="34" charset="-122"/>
                          <a:cs typeface="Calibri" pitchFamily="34" charset="-120"/>
                        </a:rPr>
                        <a:t>rcx, r11</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syscall komutu bunların üzerine yazar</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500" dirty="0">
                          <a:solidFill>
                            <a:srgbClr val="3A464C"/>
                          </a:solidFill>
                          <a:latin typeface="Calibri" pitchFamily="34" charset="0"/>
                          <a:ea typeface="Calibri" pitchFamily="34" charset="-122"/>
                          <a:cs typeface="Calibri" pitchFamily="34" charset="-120"/>
                        </a:rPr>
                        <a:t>işlemci dönüş adresini ve bayrakları buraya kaydeder</a:t>
                      </a:r>
                      <a:endParaRPr lang="tr-TR" sz="15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109960" cy="777240"/>
          </a:xfrm>
          <a:prstGeom prst="roundRect">
            <a:avLst>
              <a:gd name="adj" fmla="val 7059"/>
            </a:avLst>
          </a:prstGeom>
          <a:solidFill>
            <a:srgbClr val="36454F"/>
          </a:solidFill>
          <a:ln/>
          <a:effectLst>
            <a:outerShdw sx="100000" sy="100000" kx="0" ky="0" algn="bl" rotWithShape="0" blurRad="101600" dist="25400" dir="5400000">
              <a:srgbClr val="000000">
                <a:alpha val="12000"/>
              </a:srgbClr>
            </a:outerShdw>
          </a:effectLst>
        </p:spPr>
      </p:sp>
      <p:sp>
        <p:nvSpPr>
          <p:cNvPr id="8" name="Text 5"/>
          <p:cNvSpPr txBox="1"/>
          <p:nvPr/>
        </p:nvSpPr>
        <p:spPr>
          <a:xfrm>
            <a:off x="777240" y="5486400"/>
            <a:ext cx="10652760" cy="77724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−4095 ile −1 arasındaki bir dönüş değeri hata demektir: sarmalayıcı hata numarasını errno'ya yazar ve programınıza −1 döndürür.</a:t>
            </a:r>
            <a:endParaRPr lang="tr-TR"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UYGULAMA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Örnek 1: Aynı Mesaj, Üç Düzey Derinlikte</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16</a:t>
            </a:r>
            <a:endParaRPr lang="tr-TR" sz="900" dirty="0"/>
          </a:p>
        </p:txBody>
      </p:sp>
      <p:sp>
        <p:nvSpPr>
          <p:cNvPr id="6" name="Shape 4"/>
          <p:cNvSpPr/>
          <p:nvPr/>
        </p:nvSpPr>
        <p:spPr>
          <a:xfrm>
            <a:off x="548640" y="1508760"/>
            <a:ext cx="6400800" cy="4754880"/>
          </a:xfrm>
          <a:prstGeom prst="roundRect">
            <a:avLst>
              <a:gd name="adj" fmla="val 962"/>
            </a:avLst>
          </a:prstGeom>
          <a:solidFill>
            <a:srgbClr val="212121"/>
          </a:solidFill>
          <a:ln/>
        </p:spPr>
      </p:sp>
      <p:sp>
        <p:nvSpPr>
          <p:cNvPr id="7" name="Text 5"/>
          <p:cNvSpPr txBox="1"/>
          <p:nvPr/>
        </p:nvSpPr>
        <p:spPr>
          <a:xfrm>
            <a:off x="731520" y="1618488"/>
            <a:ext cx="6035040" cy="4535424"/>
          </a:xfrm>
          <a:prstGeom prst="rect">
            <a:avLst/>
          </a:prstGeom>
          <a:noFill/>
          <a:ln/>
        </p:spPr>
        <p:txBody>
          <a:bodyPr wrap="square" lIns="0" tIns="0" rIns="0" bIns="0" rtlCol="0" anchor="t"/>
          <a:lstStyle/>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int main(void)</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printf("1) printf  -&gt; libc -&gt; write\n");     /* düzey 1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fflush(stdout);</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düzey 2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if (write(1, "2) write() -&gt; libc wrapper\n", 27) != 27)</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return 1;</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düzey 3: sarmalayıcının yaptığını elle yapıyoruz.</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rax = 1   write'ın sistem çağrısı numarası (x86-64)</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rdi = 1   1. parametre: dosya tanımlayıcısı (stdout)</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rsi = msg 2. parametre: baytların adresi</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rdx = 26  3. parametre: bayt sayısı</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'syscall' komutu çekirdeğe tuzak kurar; çekirdeğin</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 dönüş değeri rax'te geri gelir.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static const char msg[] = "3) syscall instruction!!!\n";</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long ret;</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__asm__ volatile ("syscall"</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 "=a"(ret)                /* çıkış: rax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 "a"(1L), "D"(1L), "S"(msg), "d"(26L)</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 "rcx", "r11", "memory"); /* bozulanlar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printf("kernel returned %ld (bytes written)\n", ret);</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return 0;</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a:t>
            </a:r>
            <a:endParaRPr lang="tr-TR" sz="1050" dirty="0"/>
          </a:p>
        </p:txBody>
      </p:sp>
      <p:sp>
        <p:nvSpPr>
          <p:cNvPr id="8" name="Shape 6"/>
          <p:cNvSpPr/>
          <p:nvPr/>
        </p:nvSpPr>
        <p:spPr>
          <a:xfrm>
            <a:off x="7223760" y="1508760"/>
            <a:ext cx="4434840" cy="2423160"/>
          </a:xfrm>
          <a:prstGeom prst="roundRect">
            <a:avLst>
              <a:gd name="adj" fmla="val 2264"/>
            </a:avLst>
          </a:prstGeom>
          <a:solidFill>
            <a:srgbClr val="F2F2F2"/>
          </a:solidFill>
          <a:ln/>
          <a:effectLst>
            <a:outerShdw sx="100000" sy="100000" kx="0" ky="0" algn="bl" rotWithShape="0" blurRad="101600" dist="25400" dir="5400000">
              <a:srgbClr val="000000">
                <a:alpha val="12000"/>
              </a:srgbClr>
            </a:outerShdw>
          </a:effectLst>
        </p:spPr>
      </p:sp>
      <p:sp>
        <p:nvSpPr>
          <p:cNvPr id="9" name="Text 7"/>
          <p:cNvSpPr txBox="1"/>
          <p:nvPr/>
        </p:nvSpPr>
        <p:spPr>
          <a:xfrm>
            <a:off x="7452360" y="1691640"/>
            <a:ext cx="397764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Neye dikkat edin?</a:t>
            </a:r>
            <a:endParaRPr lang="tr-TR" sz="1500" dirty="0"/>
          </a:p>
        </p:txBody>
      </p:sp>
      <p:sp>
        <p:nvSpPr>
          <p:cNvPr id="10" name="Text 8"/>
          <p:cNvSpPr txBox="1"/>
          <p:nvPr/>
        </p:nvSpPr>
        <p:spPr>
          <a:xfrm>
            <a:off x="7452360" y="2148840"/>
            <a:ext cx="3977640" cy="1645920"/>
          </a:xfrm>
          <a:prstGeom prst="rect">
            <a:avLst/>
          </a:prstGeom>
          <a:noFill/>
          <a:ln/>
        </p:spPr>
        <p:txBody>
          <a:bodyPr wrap="square" lIns="0" tIns="0" rIns="0" bIns="0" rtlCol="0" anchor="t"/>
          <a:lstStyle/>
          <a:p>
            <a:pPr marL="228600" indent="-228600">
              <a:spcAft>
                <a:spcPts val="400"/>
              </a:spcAft>
              <a:buSzPct val="100000"/>
              <a:buChar char="•"/>
            </a:pPr>
            <a:r>
              <a:rPr lang="tr-TR" sz="1300" dirty="0">
                <a:solidFill>
                  <a:srgbClr val="3A464C"/>
                </a:solidFill>
                <a:latin typeface="Calibri" pitchFamily="34" charset="0"/>
                <a:ea typeface="Calibri" pitchFamily="34" charset="-122"/>
                <a:cs typeface="Calibri" pitchFamily="34" charset="-120"/>
              </a:rPr>
              <a:t>3. düzey, write() sarmalayıcısının yaptığını elle yapar: numara rax'e, parametreler rdi, rsi, rdx'e, sonra syscall.</a:t>
            </a:r>
            <a:endParaRPr lang="tr-TR" sz="1300" dirty="0"/>
          </a:p>
          <a:p>
            <a:pPr marL="228600" indent="-228600">
              <a:spcAft>
                <a:spcPts val="400"/>
              </a:spcAft>
              <a:buSzPct val="100000"/>
              <a:buChar char="•"/>
            </a:pPr>
            <a:r>
              <a:rPr lang="tr-TR" sz="1300" dirty="0">
                <a:solidFill>
                  <a:srgbClr val="3A464C"/>
                </a:solidFill>
                <a:latin typeface="Calibri" pitchFamily="34" charset="0"/>
                <a:ea typeface="Calibri" pitchFamily="34" charset="-122"/>
                <a:cs typeface="Calibri" pitchFamily="34" charset="-120"/>
              </a:rPr>
              <a:t>strace üç düzeyi birbirinden ayıramaz: çekirdek için hepsi aynıdır.</a:t>
            </a:r>
            <a:endParaRPr lang="tr-TR" sz="1300" dirty="0"/>
          </a:p>
        </p:txBody>
      </p:sp>
      <p:sp>
        <p:nvSpPr>
          <p:cNvPr id="11" name="Shape 9"/>
          <p:cNvSpPr/>
          <p:nvPr/>
        </p:nvSpPr>
        <p:spPr>
          <a:xfrm>
            <a:off x="7223760" y="4160520"/>
            <a:ext cx="4434840" cy="2103120"/>
          </a:xfrm>
          <a:prstGeom prst="roundRect">
            <a:avLst>
              <a:gd name="adj" fmla="val 2174"/>
            </a:avLst>
          </a:prstGeom>
          <a:solidFill>
            <a:srgbClr val="212121"/>
          </a:solidFill>
          <a:ln/>
        </p:spPr>
      </p:sp>
      <p:sp>
        <p:nvSpPr>
          <p:cNvPr id="12" name="Text 10"/>
          <p:cNvSpPr txBox="1"/>
          <p:nvPr/>
        </p:nvSpPr>
        <p:spPr>
          <a:xfrm>
            <a:off x="7406640" y="4270248"/>
            <a:ext cx="4069080" cy="1883664"/>
          </a:xfrm>
          <a:prstGeom prst="rect">
            <a:avLst/>
          </a:prstGeom>
          <a:noFill/>
          <a:ln/>
        </p:spPr>
        <p:txBody>
          <a:bodyPr wrap="square" lIns="0" tIns="0" rIns="0" bIns="0" rtlCol="0" anchor="t"/>
          <a:lstStyle/>
          <a:p>
            <a:pPr indent="0" marL="0">
              <a:lnSpc>
                <a:spcPct val="105000"/>
              </a:lnSpc>
              <a:buNone/>
            </a:pPr>
            <a:r>
              <a:rPr lang="tr-TR" sz="900" dirty="0">
                <a:solidFill>
                  <a:srgbClr val="02C39A"/>
                </a:solidFill>
                <a:latin typeface="Consolas" pitchFamily="34" charset="0"/>
                <a:ea typeface="Consolas" pitchFamily="34" charset="-122"/>
                <a:cs typeface="Consolas" pitchFamily="34" charset="-120"/>
              </a:rPr>
              <a:t>$ strace ./raw_write</a:t>
            </a:r>
            <a:endParaRPr lang="tr-TR" sz="900" dirty="0"/>
          </a:p>
          <a:p>
            <a:pPr indent="0" marL="0">
              <a:lnSpc>
                <a:spcPct val="105000"/>
              </a:lnSpc>
              <a:buNone/>
            </a:pPr>
            <a:r>
              <a:rPr lang="tr-TR" sz="900" dirty="0">
                <a:solidFill>
                  <a:srgbClr val="F2F2F2"/>
                </a:solidFill>
                <a:latin typeface="Consolas" pitchFamily="34" charset="0"/>
                <a:ea typeface="Consolas" pitchFamily="34" charset="-122"/>
                <a:cs typeface="Consolas" pitchFamily="34" charset="-120"/>
              </a:rPr>
              <a:t>write(1, "1) printf  -&gt; libc -&gt; write\n", 28) = 28</a:t>
            </a:r>
            <a:endParaRPr lang="tr-TR" sz="900" dirty="0"/>
          </a:p>
          <a:p>
            <a:pPr indent="0" marL="0">
              <a:lnSpc>
                <a:spcPct val="105000"/>
              </a:lnSpc>
              <a:buNone/>
            </a:pPr>
            <a:r>
              <a:rPr lang="tr-TR" sz="900" dirty="0">
                <a:solidFill>
                  <a:srgbClr val="F2F2F2"/>
                </a:solidFill>
                <a:latin typeface="Consolas" pitchFamily="34" charset="0"/>
                <a:ea typeface="Consolas" pitchFamily="34" charset="-122"/>
                <a:cs typeface="Consolas" pitchFamily="34" charset="-120"/>
              </a:rPr>
              <a:t>write(1, "2) write() -&gt; libc wrapper\n", 27) = 27</a:t>
            </a:r>
            <a:endParaRPr lang="tr-TR" sz="900" dirty="0"/>
          </a:p>
          <a:p>
            <a:pPr indent="0" marL="0">
              <a:lnSpc>
                <a:spcPct val="105000"/>
              </a:lnSpc>
              <a:buNone/>
            </a:pPr>
            <a:r>
              <a:rPr lang="tr-TR" sz="900" dirty="0">
                <a:solidFill>
                  <a:srgbClr val="F2F2F2"/>
                </a:solidFill>
                <a:latin typeface="Consolas" pitchFamily="34" charset="0"/>
                <a:ea typeface="Consolas" pitchFamily="34" charset="-122"/>
                <a:cs typeface="Consolas" pitchFamily="34" charset="-120"/>
              </a:rPr>
              <a:t>write(1, "3) syscall instruction!!!\n", 26) = 26</a:t>
            </a:r>
            <a:endParaRPr lang="tr-TR" sz="900" dirty="0"/>
          </a:p>
          <a:p>
            <a:pPr indent="0" marL="0">
              <a:lnSpc>
                <a:spcPct val="105000"/>
              </a:lnSpc>
              <a:buNone/>
            </a:pPr>
            <a:r>
              <a:rPr lang="tr-TR" sz="900" dirty="0">
                <a:solidFill>
                  <a:srgbClr val="F2F2F2"/>
                </a:solidFill>
                <a:latin typeface="Consolas" pitchFamily="34" charset="0"/>
                <a:ea typeface="Consolas" pitchFamily="34" charset="-122"/>
                <a:cs typeface="Consolas" pitchFamily="34" charset="-120"/>
              </a:rPr>
              <a:t>write(1, "kernel returned 26 (bytes writte"..., 35) = 35</a:t>
            </a:r>
            <a:endParaRPr lang="tr-TR" sz="900" dirty="0"/>
          </a:p>
          <a:p>
            <a:pPr indent="0" marL="0">
              <a:lnSpc>
                <a:spcPct val="105000"/>
              </a:lnSpc>
              <a:buNone/>
            </a:pPr>
            <a:r>
              <a:rPr lang="tr-TR" sz="900" dirty="0">
                <a:solidFill>
                  <a:srgbClr val="F2F2F2"/>
                </a:solidFill>
                <a:latin typeface="Consolas" pitchFamily="34" charset="0"/>
                <a:ea typeface="Consolas" pitchFamily="34" charset="-122"/>
                <a:cs typeface="Consolas" pitchFamily="34" charset="-120"/>
              </a:rPr>
              <a:t>exit_group(0)                    = ?</a:t>
            </a:r>
            <a:endParaRPr lang="tr-T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TÜRLER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Sistem Çağrılarının Altı Kategorisi</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17</a:t>
            </a:r>
            <a:endParaRPr lang="tr-TR"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2148840"/>
                <a:gridCol w="2788920"/>
                <a:gridCol w="2834640"/>
                <a:gridCol w="3337560"/>
              </a:tblGrid>
              <a:tr h="0">
                <a:tc>
                  <a:txBody>
                    <a:bodyPr/>
                    <a:lstStyle/>
                    <a:p>
                      <a:pPr indent="0" marL="0">
                        <a:buNone/>
                      </a:pPr>
                      <a:r>
                        <a:rPr lang="tr-TR" sz="1350" b="1" dirty="0">
                          <a:solidFill>
                            <a:srgbClr val="FFFFFF"/>
                          </a:solidFill>
                          <a:latin typeface="Cambria" pitchFamily="34" charset="0"/>
                          <a:ea typeface="Cambria" pitchFamily="34" charset="-122"/>
                          <a:cs typeface="Cambria" pitchFamily="34" charset="-120"/>
                        </a:rPr>
                        <a:t>Kategori</a:t>
                      </a:r>
                      <a:endParaRPr lang="tr-TR" sz="135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c>
                  <a:txBody>
                    <a:bodyPr/>
                    <a:lstStyle/>
                    <a:p>
                      <a:pPr indent="0" marL="0">
                        <a:buNone/>
                      </a:pPr>
                      <a:r>
                        <a:rPr lang="tr-TR" sz="1350" b="1" dirty="0">
                          <a:solidFill>
                            <a:srgbClr val="FFFFFF"/>
                          </a:solidFill>
                          <a:latin typeface="Cambria" pitchFamily="34" charset="0"/>
                          <a:ea typeface="Cambria" pitchFamily="34" charset="-122"/>
                          <a:cs typeface="Cambria" pitchFamily="34" charset="-120"/>
                        </a:rPr>
                        <a:t>Tipik istekler</a:t>
                      </a:r>
                      <a:endParaRPr lang="tr-TR" sz="135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c>
                  <a:txBody>
                    <a:bodyPr/>
                    <a:lstStyle/>
                    <a:p>
                      <a:pPr indent="0" marL="0">
                        <a:buNone/>
                      </a:pPr>
                      <a:r>
                        <a:rPr lang="tr-TR" sz="1350" b="1" dirty="0">
                          <a:solidFill>
                            <a:srgbClr val="FFFFFF"/>
                          </a:solidFill>
                          <a:latin typeface="Cambria" pitchFamily="34" charset="0"/>
                          <a:ea typeface="Cambria" pitchFamily="34" charset="-122"/>
                          <a:cs typeface="Cambria" pitchFamily="34" charset="-120"/>
                        </a:rPr>
                        <a:t>Linux (POSIX)</a:t>
                      </a:r>
                      <a:endParaRPr lang="tr-TR" sz="135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c>
                  <a:txBody>
                    <a:bodyPr/>
                    <a:lstStyle/>
                    <a:p>
                      <a:pPr indent="0" marL="0">
                        <a:buNone/>
                      </a:pPr>
                      <a:r>
                        <a:rPr lang="tr-TR" sz="1350" b="1" dirty="0">
                          <a:solidFill>
                            <a:srgbClr val="FFFFFF"/>
                          </a:solidFill>
                          <a:latin typeface="Cambria" pitchFamily="34" charset="0"/>
                          <a:ea typeface="Cambria" pitchFamily="34" charset="-122"/>
                          <a:cs typeface="Cambria" pitchFamily="34" charset="-120"/>
                        </a:rPr>
                        <a:t>Windows API</a:t>
                      </a:r>
                      <a:endParaRPr lang="tr-TR" sz="135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r>
              <a:tr h="0">
                <a:tc>
                  <a:txBody>
                    <a:bodyPr/>
                    <a:lstStyle/>
                    <a:p>
                      <a:pPr indent="0" marL="0">
                        <a:buNone/>
                      </a:pPr>
                      <a:r>
                        <a:rPr lang="tr-TR" sz="1250" b="1" dirty="0">
                          <a:solidFill>
                            <a:srgbClr val="3A464C"/>
                          </a:solidFill>
                          <a:latin typeface="Calibri" pitchFamily="34" charset="0"/>
                          <a:ea typeface="Calibri" pitchFamily="34" charset="-122"/>
                          <a:cs typeface="Calibri" pitchFamily="34" charset="-120"/>
                        </a:rPr>
                        <a:t>Süreç denetimi</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oluştur, sonlandır, yükle, bekle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fork(), execve(), exit(), wait4()</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CreateProcess(), ExitProcess(), WaitForSingleObject()</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250" b="1" dirty="0">
                          <a:solidFill>
                            <a:srgbClr val="3A464C"/>
                          </a:solidFill>
                          <a:latin typeface="Calibri" pitchFamily="34" charset="0"/>
                          <a:ea typeface="Calibri" pitchFamily="34" charset="-122"/>
                          <a:cs typeface="Calibri" pitchFamily="34" charset="-120"/>
                        </a:rPr>
                        <a:t>Dosya yönetimi</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oluştur, aç, oku, yaz, kapat</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open(), read(), write(), close()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CreateFile(), ReadFile(), WriteFile(), CloseHandle()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r h="0">
                <a:tc>
                  <a:txBody>
                    <a:bodyPr/>
                    <a:lstStyle/>
                    <a:p>
                      <a:pPr indent="0" marL="0">
                        <a:buNone/>
                      </a:pPr>
                      <a:r>
                        <a:rPr lang="tr-TR" sz="1250" b="1" dirty="0">
                          <a:solidFill>
                            <a:srgbClr val="3A464C"/>
                          </a:solidFill>
                          <a:latin typeface="Calibri" pitchFamily="34" charset="0"/>
                          <a:ea typeface="Calibri" pitchFamily="34" charset="-122"/>
                          <a:cs typeface="Calibri" pitchFamily="34" charset="-120"/>
                        </a:rPr>
                        <a:t>Aygıt yönetimi</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iste, oku, yaz, yapılandır</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ioctl(), read(), write()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SetConsoleMode(), ReadConsole(), WriteConsole()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250" b="1" dirty="0">
                          <a:solidFill>
                            <a:srgbClr val="3A464C"/>
                          </a:solidFill>
                          <a:latin typeface="Calibri" pitchFamily="34" charset="0"/>
                          <a:ea typeface="Calibri" pitchFamily="34" charset="-122"/>
                          <a:cs typeface="Calibri" pitchFamily="34" charset="-120"/>
                        </a:rPr>
                        <a:t>Bilgi bakımı</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saat, tarih, kimlikler, sistem verisi</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getpid(), uname(), clock_gettime()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GetCurrentProcessId(), GetSystemTime()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r h="0">
                <a:tc>
                  <a:txBody>
                    <a:bodyPr/>
                    <a:lstStyle/>
                    <a:p>
                      <a:pPr indent="0" marL="0">
                        <a:buNone/>
                      </a:pPr>
                      <a:r>
                        <a:rPr lang="tr-TR" sz="1250" b="1" dirty="0">
                          <a:solidFill>
                            <a:srgbClr val="3A464C"/>
                          </a:solidFill>
                          <a:latin typeface="Calibri" pitchFamily="34" charset="0"/>
                          <a:ea typeface="Calibri" pitchFamily="34" charset="-122"/>
                          <a:cs typeface="Calibri" pitchFamily="34" charset="-120"/>
                        </a:rPr>
                        <a:t>İletişim</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boru, paylaşımlı bellek, ağ</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pipe(), mmap(), socket()</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CreatePipe(), MapViewOfFile()</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250" b="1" dirty="0">
                          <a:solidFill>
                            <a:srgbClr val="3A464C"/>
                          </a:solidFill>
                          <a:latin typeface="Calibri" pitchFamily="34" charset="0"/>
                          <a:ea typeface="Calibri" pitchFamily="34" charset="-122"/>
                          <a:cs typeface="Calibri" pitchFamily="34" charset="-120"/>
                        </a:rPr>
                        <a:t>Koruma</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izinler, sahiplik</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chmod(), chown(), umask()</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250" dirty="0">
                          <a:solidFill>
                            <a:srgbClr val="3A464C"/>
                          </a:solidFill>
                          <a:latin typeface="Calibri" pitchFamily="34" charset="0"/>
                          <a:ea typeface="Calibri" pitchFamily="34" charset="-122"/>
                          <a:cs typeface="Calibri" pitchFamily="34" charset="-120"/>
                        </a:rPr>
                        <a:t>SetFileSecurity(), SetSecurityDescriptorGroup()</a:t>
                      </a:r>
                      <a:endParaRPr lang="tr-TR" sz="125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ÇÖZÜMLÜ ÖRNEK</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Bir Dosyayı Kopyalamak Kaç Sistem Çağrısı Gerektirir?</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18</a:t>
            </a:r>
            <a:endParaRPr lang="tr-TR" sz="900" dirty="0"/>
          </a:p>
        </p:txBody>
      </p:sp>
      <p:sp>
        <p:nvSpPr>
          <p:cNvPr id="6" name="Shape 4"/>
          <p:cNvSpPr/>
          <p:nvPr/>
        </p:nvSpPr>
        <p:spPr>
          <a:xfrm>
            <a:off x="548640" y="1508760"/>
            <a:ext cx="5394960" cy="4754880"/>
          </a:xfrm>
          <a:prstGeom prst="roundRect">
            <a:avLst>
              <a:gd name="adj" fmla="val 1154"/>
            </a:avLst>
          </a:prstGeom>
          <a:solidFill>
            <a:srgbClr val="F2F2F2"/>
          </a:solidFill>
          <a:ln/>
          <a:effectLst>
            <a:outerShdw sx="100000" sy="100000" kx="0" ky="0" algn="bl" rotWithShape="0" blurRad="101600" dist="25400" dir="5400000">
              <a:srgbClr val="000000">
                <a:alpha val="12000"/>
              </a:srgbClr>
            </a:outerShdw>
          </a:effectLst>
        </p:spPr>
      </p:sp>
      <p:sp>
        <p:nvSpPr>
          <p:cNvPr id="7" name="Text 5"/>
          <p:cNvSpPr txBox="1"/>
          <p:nvPr/>
        </p:nvSpPr>
        <p:spPr>
          <a:xfrm>
            <a:off x="777240" y="1691640"/>
            <a:ext cx="49377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Klasik sıra</a:t>
            </a:r>
            <a:endParaRPr lang="tr-TR" sz="1500" dirty="0"/>
          </a:p>
        </p:txBody>
      </p:sp>
      <p:sp>
        <p:nvSpPr>
          <p:cNvPr id="8" name="Text 6"/>
          <p:cNvSpPr txBox="1"/>
          <p:nvPr/>
        </p:nvSpPr>
        <p:spPr>
          <a:xfrm>
            <a:off x="777240" y="2148840"/>
            <a:ext cx="4937760" cy="3977640"/>
          </a:xfrm>
          <a:prstGeom prst="rect">
            <a:avLst/>
          </a:prstGeom>
          <a:noFill/>
          <a:ln/>
        </p:spPr>
        <p:txBody>
          <a:bodyPr wrap="square" lIns="0" tIns="0" rIns="0" bIns="0" rtlCol="0" anchor="t"/>
          <a:lstStyle/>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İki dosya adını iste (G/Ç).</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Girdi dosyasını aç; hata varsa bir mesaj yazdır ve çık (dosya yönetimi, süreç denetimi).</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Çıktı dosyasını oluştur.</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Döngü: bir blok oku, bir blok yaz; read() 0 döndürene kadar (dosya sonu).</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İki dosyayı da kapat, başarıyı bildir, çık.</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Her adım bir ya da daha fazla sistem çağrısıdır; programın kendisini yüklemek de öyle.</a:t>
            </a:r>
            <a:endParaRPr lang="tr-TR" sz="1450" dirty="0"/>
          </a:p>
        </p:txBody>
      </p:sp>
      <p:sp>
        <p:nvSpPr>
          <p:cNvPr id="9" name="Shape 7"/>
          <p:cNvSpPr/>
          <p:nvPr/>
        </p:nvSpPr>
        <p:spPr>
          <a:xfrm>
            <a:off x="6217920" y="1508760"/>
            <a:ext cx="5440680" cy="3246120"/>
          </a:xfrm>
          <a:prstGeom prst="roundRect">
            <a:avLst>
              <a:gd name="adj" fmla="val 1408"/>
            </a:avLst>
          </a:prstGeom>
          <a:solidFill>
            <a:srgbClr val="212121"/>
          </a:solidFill>
          <a:ln/>
        </p:spPr>
      </p:sp>
      <p:sp>
        <p:nvSpPr>
          <p:cNvPr id="10" name="Text 8"/>
          <p:cNvSpPr txBox="1"/>
          <p:nvPr/>
        </p:nvSpPr>
        <p:spPr>
          <a:xfrm>
            <a:off x="6400800" y="1618488"/>
            <a:ext cx="5074920" cy="3026664"/>
          </a:xfrm>
          <a:prstGeom prst="rect">
            <a:avLst/>
          </a:prstGeom>
          <a:noFill/>
          <a:ln/>
        </p:spPr>
        <p:txBody>
          <a:bodyPr wrap="square" lIns="0" tIns="0" rIns="0" bIns="0" rtlCol="0" anchor="t"/>
          <a:lstStyle/>
          <a:p>
            <a:pPr indent="0" marL="0">
              <a:lnSpc>
                <a:spcPct val="105000"/>
              </a:lnSpc>
              <a:buNone/>
            </a:pPr>
            <a:r>
              <a:rPr lang="tr-TR" sz="1250" dirty="0">
                <a:solidFill>
                  <a:srgbClr val="02C39A"/>
                </a:solidFill>
                <a:latin typeface="Consolas" pitchFamily="34" charset="0"/>
                <a:ea typeface="Consolas" pitchFamily="34" charset="-122"/>
                <a:cs typeface="Consolas" pitchFamily="34" charset="-120"/>
              </a:rPr>
              <a:t>$ strace -c cp in.bin out.bin   # in.bin = 1 MiB</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calls  syscall            (kısaltıldı)</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26  mmap</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13  close</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11  openat</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10  fstat</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9  read</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2  copy_file_range</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102  total</a:t>
            </a:r>
            <a:endParaRPr lang="tr-TR" sz="1250" dirty="0"/>
          </a:p>
        </p:txBody>
      </p:sp>
      <p:sp>
        <p:nvSpPr>
          <p:cNvPr id="11" name="Shape 9"/>
          <p:cNvSpPr/>
          <p:nvPr/>
        </p:nvSpPr>
        <p:spPr>
          <a:xfrm>
            <a:off x="6217920" y="4937760"/>
            <a:ext cx="5440680" cy="1325880"/>
          </a:xfrm>
          <a:prstGeom prst="roundRect">
            <a:avLst>
              <a:gd name="adj" fmla="val 4138"/>
            </a:avLst>
          </a:prstGeom>
          <a:solidFill>
            <a:srgbClr val="36454F"/>
          </a:solidFill>
          <a:ln/>
          <a:effectLst>
            <a:outerShdw sx="100000" sy="100000" kx="0" ky="0" algn="bl" rotWithShape="0" blurRad="101600" dist="25400" dir="5400000">
              <a:srgbClr val="000000">
                <a:alpha val="12000"/>
              </a:srgbClr>
            </a:outerShdw>
          </a:effectLst>
        </p:spPr>
      </p:sp>
      <p:sp>
        <p:nvSpPr>
          <p:cNvPr id="12" name="Text 10"/>
          <p:cNvSpPr txBox="1"/>
          <p:nvPr/>
        </p:nvSpPr>
        <p:spPr>
          <a:xfrm>
            <a:off x="6446520" y="4937760"/>
            <a:ext cx="4983480" cy="1325880"/>
          </a:xfrm>
          <a:prstGeom prst="rect">
            <a:avLst/>
          </a:prstGeom>
          <a:noFill/>
          <a:ln/>
        </p:spPr>
        <p:txBody>
          <a:bodyPr wrap="square" lIns="0" tIns="0" rIns="0" bIns="0" rtlCol="0" anchor="ctr"/>
          <a:lstStyle/>
          <a:p>
            <a:pPr indent="0" marL="0">
              <a:buNone/>
            </a:pPr>
            <a:r>
              <a:rPr lang="tr-TR" sz="1350" dirty="0">
                <a:solidFill>
                  <a:srgbClr val="F2F2F2"/>
                </a:solidFill>
                <a:latin typeface="Calibri" pitchFamily="34" charset="0"/>
                <a:ea typeface="Calibri" pitchFamily="34" charset="-122"/>
                <a:cs typeface="Calibri" pitchFamily="34" charset="-120"/>
              </a:rPr>
              <a:t>102 çağrının yalnızca 2'si veriyi taşır: modern cp, kopyalamayı çekirdeğin içinde yapmasını ister. Çağrıların çoğu programı ve kütüphanelerini yükler.</a:t>
            </a:r>
            <a:endParaRPr lang="tr-TR"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SİSTEM PROGRAMLARI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Sistem Programları: Çoğu Kullanıcının Gördüğü İşletim Sistemi</a:t>
            </a:r>
            <a:endParaRPr lang="tr-TR" sz="3000" dirty="0"/>
          </a:p>
        </p:txBody>
      </p:sp>
      <p:sp>
        <p:nvSpPr>
          <p:cNvPr id="4" name="Text 2"/>
          <p:cNvSpPr txBox="1"/>
          <p:nvPr/>
        </p:nvSpPr>
        <p:spPr>
          <a:xfrm>
            <a:off x="548640" y="1417320"/>
            <a:ext cx="11064240" cy="502920"/>
          </a:xfrm>
          <a:prstGeom prst="rect">
            <a:avLst/>
          </a:prstGeom>
          <a:noFill/>
          <a:ln/>
        </p:spPr>
        <p:txBody>
          <a:bodyPr wrap="square" lIns="0" tIns="0" rIns="0" bIns="0" rtlCol="0" anchor="t"/>
          <a:lstStyle/>
          <a:p>
            <a:pPr indent="0" marL="0">
              <a:buNone/>
            </a:pPr>
            <a:r>
              <a:rPr lang="tr-TR" sz="1500" dirty="0">
                <a:solidFill>
                  <a:srgbClr val="3A464C"/>
                </a:solidFill>
                <a:latin typeface="Calibri" pitchFamily="34" charset="0"/>
                <a:ea typeface="Calibri" pitchFamily="34" charset="-122"/>
                <a:cs typeface="Calibri" pitchFamily="34" charset="-120"/>
              </a:rPr>
              <a:t>İşletim sistemiyle birlikte gelen ve sizin adınıza sistem çağrısı yapan programlar. Kullanıcı modunda çalışırlar.</a:t>
            </a:r>
            <a:endParaRPr lang="tr-TR" sz="15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19</a:t>
            </a:r>
            <a:endParaRPr lang="tr-TR" sz="900" dirty="0"/>
          </a:p>
        </p:txBody>
      </p:sp>
      <p:sp>
        <p:nvSpPr>
          <p:cNvPr id="7" name="Shape 5"/>
          <p:cNvSpPr/>
          <p:nvPr/>
        </p:nvSpPr>
        <p:spPr>
          <a:xfrm>
            <a:off x="548640" y="2103120"/>
            <a:ext cx="3550920" cy="1965960"/>
          </a:xfrm>
          <a:prstGeom prst="roundRect">
            <a:avLst>
              <a:gd name="adj" fmla="val 2791"/>
            </a:avLst>
          </a:prstGeom>
          <a:solidFill>
            <a:srgbClr val="F2F2F2"/>
          </a:solidFill>
          <a:ln/>
          <a:effectLst>
            <a:outerShdw sx="100000" sy="100000" kx="0" ky="0" algn="bl" rotWithShape="0" blurRad="101600" dist="25400" dir="5400000">
              <a:srgbClr val="000000">
                <a:alpha val="12000"/>
              </a:srgbClr>
            </a:outerShdw>
          </a:effectLst>
        </p:spPr>
      </p:sp>
      <p:sp>
        <p:nvSpPr>
          <p:cNvPr id="8" name="Text 6"/>
          <p:cNvSpPr txBox="1"/>
          <p:nvPr/>
        </p:nvSpPr>
        <p:spPr>
          <a:xfrm>
            <a:off x="777240" y="228600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Dosya yönetimi</a:t>
            </a:r>
            <a:endParaRPr lang="tr-TR" sz="1600" dirty="0"/>
          </a:p>
        </p:txBody>
      </p:sp>
      <p:sp>
        <p:nvSpPr>
          <p:cNvPr id="9" name="Text 7"/>
          <p:cNvSpPr txBox="1"/>
          <p:nvPr/>
        </p:nvSpPr>
        <p:spPr>
          <a:xfrm>
            <a:off x="777240" y="2743200"/>
            <a:ext cx="3093720" cy="118872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ls, cp, mv, rm, mkdir; Dosya Gezgini, Finder.</a:t>
            </a:r>
            <a:endParaRPr lang="tr-TR" sz="1400" dirty="0"/>
          </a:p>
        </p:txBody>
      </p:sp>
      <p:sp>
        <p:nvSpPr>
          <p:cNvPr id="10" name="Shape 8"/>
          <p:cNvSpPr/>
          <p:nvPr/>
        </p:nvSpPr>
        <p:spPr>
          <a:xfrm>
            <a:off x="4328160" y="2103120"/>
            <a:ext cx="3550920" cy="1965960"/>
          </a:xfrm>
          <a:prstGeom prst="roundRect">
            <a:avLst>
              <a:gd name="adj" fmla="val 2791"/>
            </a:avLst>
          </a:prstGeom>
          <a:solidFill>
            <a:srgbClr val="F2F2F2"/>
          </a:solidFill>
          <a:ln/>
          <a:effectLst>
            <a:outerShdw sx="100000" sy="100000" kx="0" ky="0" algn="bl" rotWithShape="0" blurRad="101600" dist="25400" dir="5400000">
              <a:srgbClr val="000000">
                <a:alpha val="12000"/>
              </a:srgbClr>
            </a:outerShdw>
          </a:effectLst>
        </p:spPr>
      </p:sp>
      <p:sp>
        <p:nvSpPr>
          <p:cNvPr id="11" name="Text 9"/>
          <p:cNvSpPr txBox="1"/>
          <p:nvPr/>
        </p:nvSpPr>
        <p:spPr>
          <a:xfrm>
            <a:off x="4556760" y="228600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Durum bilgisi</a:t>
            </a:r>
            <a:endParaRPr lang="tr-TR" sz="1600" dirty="0"/>
          </a:p>
        </p:txBody>
      </p:sp>
      <p:sp>
        <p:nvSpPr>
          <p:cNvPr id="12" name="Text 10"/>
          <p:cNvSpPr txBox="1"/>
          <p:nvPr/>
        </p:nvSpPr>
        <p:spPr>
          <a:xfrm>
            <a:off x="4556760" y="2743200"/>
            <a:ext cx="3093720" cy="118872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date, df, free, ps, top; Görev Yöneticisi; sistem günlükleri.</a:t>
            </a:r>
            <a:endParaRPr lang="tr-TR" sz="1400" dirty="0"/>
          </a:p>
        </p:txBody>
      </p:sp>
      <p:sp>
        <p:nvSpPr>
          <p:cNvPr id="13" name="Shape 11"/>
          <p:cNvSpPr/>
          <p:nvPr/>
        </p:nvSpPr>
        <p:spPr>
          <a:xfrm>
            <a:off x="8107680" y="2103120"/>
            <a:ext cx="3550920" cy="1965960"/>
          </a:xfrm>
          <a:prstGeom prst="roundRect">
            <a:avLst>
              <a:gd name="adj" fmla="val 2791"/>
            </a:avLst>
          </a:prstGeom>
          <a:solidFill>
            <a:srgbClr val="F2F2F2"/>
          </a:solidFill>
          <a:ln/>
          <a:effectLst>
            <a:outerShdw sx="100000" sy="100000" kx="0" ky="0" algn="bl" rotWithShape="0" blurRad="101600" dist="25400" dir="5400000">
              <a:srgbClr val="000000">
                <a:alpha val="12000"/>
              </a:srgbClr>
            </a:outerShdw>
          </a:effectLst>
        </p:spPr>
      </p:sp>
      <p:sp>
        <p:nvSpPr>
          <p:cNvPr id="14" name="Text 12"/>
          <p:cNvSpPr txBox="1"/>
          <p:nvPr/>
        </p:nvSpPr>
        <p:spPr>
          <a:xfrm>
            <a:off x="8336280" y="228600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Dosya düzenleme</a:t>
            </a:r>
            <a:endParaRPr lang="tr-TR" sz="1600" dirty="0"/>
          </a:p>
        </p:txBody>
      </p:sp>
      <p:sp>
        <p:nvSpPr>
          <p:cNvPr id="15" name="Text 13"/>
          <p:cNvSpPr txBox="1"/>
          <p:nvPr/>
        </p:nvSpPr>
        <p:spPr>
          <a:xfrm>
            <a:off x="8336280" y="2743200"/>
            <a:ext cx="3093720" cy="118872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Metin düzenleyiciler (nano, vim, Not Defteri); arama araçları (grep, find).</a:t>
            </a:r>
            <a:endParaRPr lang="tr-TR" sz="1400" dirty="0"/>
          </a:p>
        </p:txBody>
      </p:sp>
      <p:sp>
        <p:nvSpPr>
          <p:cNvPr id="16" name="Shape 14"/>
          <p:cNvSpPr/>
          <p:nvPr/>
        </p:nvSpPr>
        <p:spPr>
          <a:xfrm>
            <a:off x="548640" y="4297680"/>
            <a:ext cx="3550920" cy="1965960"/>
          </a:xfrm>
          <a:prstGeom prst="roundRect">
            <a:avLst>
              <a:gd name="adj" fmla="val 2791"/>
            </a:avLst>
          </a:prstGeom>
          <a:solidFill>
            <a:srgbClr val="F2F2F2"/>
          </a:solidFill>
          <a:ln/>
          <a:effectLst>
            <a:outerShdw sx="100000" sy="100000" kx="0" ky="0" algn="bl" rotWithShape="0" blurRad="101600" dist="25400" dir="5400000">
              <a:srgbClr val="000000">
                <a:alpha val="12000"/>
              </a:srgbClr>
            </a:outerShdw>
          </a:effectLst>
        </p:spPr>
      </p:sp>
      <p:sp>
        <p:nvSpPr>
          <p:cNvPr id="17" name="Text 15"/>
          <p:cNvSpPr txBox="1"/>
          <p:nvPr/>
        </p:nvSpPr>
        <p:spPr>
          <a:xfrm>
            <a:off x="777240" y="448056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Programlama desteği</a:t>
            </a:r>
            <a:endParaRPr lang="tr-TR" sz="1600" dirty="0"/>
          </a:p>
        </p:txBody>
      </p:sp>
      <p:sp>
        <p:nvSpPr>
          <p:cNvPr id="18" name="Text 16"/>
          <p:cNvSpPr txBox="1"/>
          <p:nvPr/>
        </p:nvSpPr>
        <p:spPr>
          <a:xfrm>
            <a:off x="777240" y="4937760"/>
            <a:ext cx="3093720" cy="118872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Derleyiciler, çeviriciler, hata ayıklayıcılar, yorumlayıcılar: gcc, gdb, python.</a:t>
            </a:r>
            <a:endParaRPr lang="tr-TR" sz="1400" dirty="0"/>
          </a:p>
        </p:txBody>
      </p:sp>
      <p:sp>
        <p:nvSpPr>
          <p:cNvPr id="19" name="Shape 17"/>
          <p:cNvSpPr/>
          <p:nvPr/>
        </p:nvSpPr>
        <p:spPr>
          <a:xfrm>
            <a:off x="4328160" y="4297680"/>
            <a:ext cx="3550920" cy="1965960"/>
          </a:xfrm>
          <a:prstGeom prst="roundRect">
            <a:avLst>
              <a:gd name="adj" fmla="val 2791"/>
            </a:avLst>
          </a:prstGeom>
          <a:solidFill>
            <a:srgbClr val="F2F2F2"/>
          </a:solidFill>
          <a:ln/>
          <a:effectLst>
            <a:outerShdw sx="100000" sy="100000" kx="0" ky="0" algn="bl" rotWithShape="0" blurRad="101600" dist="25400" dir="5400000">
              <a:srgbClr val="000000">
                <a:alpha val="12000"/>
              </a:srgbClr>
            </a:outerShdw>
          </a:effectLst>
        </p:spPr>
      </p:sp>
      <p:sp>
        <p:nvSpPr>
          <p:cNvPr id="20" name="Text 18"/>
          <p:cNvSpPr txBox="1"/>
          <p:nvPr/>
        </p:nvSpPr>
        <p:spPr>
          <a:xfrm>
            <a:off x="4556760" y="448056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Yükleme ve yürütme</a:t>
            </a:r>
            <a:endParaRPr lang="tr-TR" sz="1600" dirty="0"/>
          </a:p>
        </p:txBody>
      </p:sp>
      <p:sp>
        <p:nvSpPr>
          <p:cNvPr id="21" name="Text 19"/>
          <p:cNvSpPr txBox="1"/>
          <p:nvPr/>
        </p:nvSpPr>
        <p:spPr>
          <a:xfrm>
            <a:off x="4556760" y="4937760"/>
            <a:ext cx="3093720" cy="118872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Programları ve kütüphaneleri belleğe yerleştiren yükleyiciler ve bağlayıcılar.</a:t>
            </a:r>
            <a:endParaRPr lang="tr-TR" sz="1400" dirty="0"/>
          </a:p>
        </p:txBody>
      </p:sp>
      <p:sp>
        <p:nvSpPr>
          <p:cNvPr id="22" name="Shape 20"/>
          <p:cNvSpPr/>
          <p:nvPr/>
        </p:nvSpPr>
        <p:spPr>
          <a:xfrm>
            <a:off x="8107680" y="4297680"/>
            <a:ext cx="3550920" cy="1965960"/>
          </a:xfrm>
          <a:prstGeom prst="roundRect">
            <a:avLst>
              <a:gd name="adj" fmla="val 2791"/>
            </a:avLst>
          </a:prstGeom>
          <a:solidFill>
            <a:srgbClr val="F2F2F2"/>
          </a:solidFill>
          <a:ln/>
          <a:effectLst>
            <a:outerShdw sx="100000" sy="100000" kx="0" ky="0" algn="bl" rotWithShape="0" blurRad="101600" dist="25400" dir="5400000">
              <a:srgbClr val="000000">
                <a:alpha val="12000"/>
              </a:srgbClr>
            </a:outerShdw>
          </a:effectLst>
        </p:spPr>
      </p:sp>
      <p:sp>
        <p:nvSpPr>
          <p:cNvPr id="23" name="Text 21"/>
          <p:cNvSpPr txBox="1"/>
          <p:nvPr/>
        </p:nvSpPr>
        <p:spPr>
          <a:xfrm>
            <a:off x="8336280" y="4480560"/>
            <a:ext cx="3093720" cy="384048"/>
          </a:xfrm>
          <a:prstGeom prst="rect">
            <a:avLst/>
          </a:prstGeom>
          <a:noFill/>
          <a:ln/>
        </p:spPr>
        <p:txBody>
          <a:bodyPr wrap="square" lIns="0" tIns="0" rIns="0" bIns="0" rtlCol="0" anchor="ctr"/>
          <a:lstStyle/>
          <a:p>
            <a:pPr indent="0" marL="0">
              <a:buNone/>
            </a:pPr>
            <a:r>
              <a:rPr lang="tr-TR" sz="1600" b="1" dirty="0">
                <a:solidFill>
                  <a:srgbClr val="028090"/>
                </a:solidFill>
                <a:latin typeface="Cambria" pitchFamily="34" charset="0"/>
                <a:ea typeface="Cambria" pitchFamily="34" charset="-122"/>
                <a:cs typeface="Cambria" pitchFamily="34" charset="-120"/>
              </a:rPr>
              <a:t>Arka plan hizmetleri</a:t>
            </a:r>
            <a:endParaRPr lang="tr-TR" sz="1600" dirty="0"/>
          </a:p>
        </p:txBody>
      </p:sp>
      <p:sp>
        <p:nvSpPr>
          <p:cNvPr id="24" name="Text 22"/>
          <p:cNvSpPr txBox="1"/>
          <p:nvPr/>
        </p:nvSpPr>
        <p:spPr>
          <a:xfrm>
            <a:off x="8336280" y="4937760"/>
            <a:ext cx="3093720" cy="118872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Daemon'lar / hizmetler: sshd, cron, yazdırma kuyruğu. Açılışta başlar.</a:t>
            </a:r>
            <a:endParaRPr lang="tr-T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12121"/>
        </a:solidFill>
      </p:bgPr>
    </p:bg>
    <p:spTree>
      <p:nvGrpSpPr>
        <p:cNvPr id="1" name=""/>
        <p:cNvGrpSpPr/>
        <p:nvPr/>
      </p:nvGrpSpPr>
      <p:grpSpPr>
        <a:xfrm>
          <a:off x="0" y="0"/>
          <a:ext cx="0" cy="0"/>
          <a:chOff x="0" y="0"/>
          <a:chExt cx="0" cy="0"/>
        </a:xfrm>
      </p:grpSpPr>
      <p:sp>
        <p:nvSpPr>
          <p:cNvPr id="2" name="Text 0"/>
          <p:cNvSpPr txBox="1"/>
          <p:nvPr/>
        </p:nvSpPr>
        <p:spPr>
          <a:xfrm>
            <a:off x="548640" y="2514600"/>
            <a:ext cx="9144000" cy="320040"/>
          </a:xfrm>
          <a:prstGeom prst="rect">
            <a:avLst/>
          </a:prstGeom>
          <a:noFill/>
          <a:ln/>
        </p:spPr>
        <p:txBody>
          <a:bodyPr wrap="square" lIns="0" tIns="0" rIns="0" bIns="0" rtlCol="0" anchor="ctr"/>
          <a:lstStyle/>
          <a:p>
            <a:pPr indent="0" marL="0">
              <a:buNone/>
            </a:pPr>
            <a:r>
              <a:rPr lang="tr-TR" sz="1300" b="1" spc="300" kern="0" dirty="0">
                <a:solidFill>
                  <a:srgbClr val="02C39A"/>
                </a:solidFill>
                <a:latin typeface="Calibri" pitchFamily="34" charset="0"/>
                <a:ea typeface="Calibri" pitchFamily="34" charset="-122"/>
                <a:cs typeface="Calibri" pitchFamily="34" charset="-120"/>
              </a:rPr>
              <a:t>ARA</a:t>
            </a:r>
            <a:endParaRPr lang="tr-TR" sz="1300" dirty="0"/>
          </a:p>
        </p:txBody>
      </p:sp>
      <p:sp>
        <p:nvSpPr>
          <p:cNvPr id="3" name="Text 1"/>
          <p:cNvSpPr txBox="1"/>
          <p:nvPr/>
        </p:nvSpPr>
        <p:spPr>
          <a:xfrm>
            <a:off x="548640" y="2880360"/>
            <a:ext cx="10972800" cy="868680"/>
          </a:xfrm>
          <a:prstGeom prst="rect">
            <a:avLst/>
          </a:prstGeom>
          <a:noFill/>
          <a:ln/>
        </p:spPr>
        <p:txBody>
          <a:bodyPr wrap="square" lIns="0" tIns="0" rIns="0" bIns="0" rtlCol="0" anchor="ctr"/>
          <a:lstStyle/>
          <a:p>
            <a:pPr indent="0" marL="0">
              <a:buNone/>
            </a:pPr>
            <a:r>
              <a:rPr lang="tr-TR" sz="3800" b="1" dirty="0">
                <a:solidFill>
                  <a:srgbClr val="FFFFFF"/>
                </a:solidFill>
                <a:latin typeface="Cambria" pitchFamily="34" charset="0"/>
                <a:ea typeface="Cambria" pitchFamily="34" charset="-122"/>
                <a:cs typeface="Cambria" pitchFamily="34" charset="-120"/>
              </a:rPr>
              <a:t>10 Dakika Mola</a:t>
            </a:r>
            <a:endParaRPr lang="tr-TR" sz="3800" dirty="0"/>
          </a:p>
        </p:txBody>
      </p:sp>
      <p:sp>
        <p:nvSpPr>
          <p:cNvPr id="4" name="Text 2"/>
          <p:cNvSpPr txBox="1"/>
          <p:nvPr/>
        </p:nvSpPr>
        <p:spPr>
          <a:xfrm>
            <a:off x="548640" y="3794760"/>
            <a:ext cx="10515600" cy="457200"/>
          </a:xfrm>
          <a:prstGeom prst="rect">
            <a:avLst/>
          </a:prstGeom>
          <a:noFill/>
          <a:ln/>
        </p:spPr>
        <p:txBody>
          <a:bodyPr wrap="square" lIns="0" tIns="0" rIns="0" bIns="0" rtlCol="0" anchor="ctr"/>
          <a:lstStyle/>
          <a:p>
            <a:pPr indent="0" marL="0">
              <a:buNone/>
            </a:pPr>
            <a:r>
              <a:rPr lang="tr-TR" sz="1600" i="1" dirty="0">
                <a:solidFill>
                  <a:srgbClr val="F2F2F2"/>
                </a:solidFill>
                <a:latin typeface="Calibri" pitchFamily="34" charset="0"/>
                <a:ea typeface="Calibri" pitchFamily="34" charset="-122"/>
                <a:cs typeface="Calibri" pitchFamily="34" charset="-120"/>
              </a:rPr>
              <a:t>Sırada: süreç — işletim sisteminin yönettiği iş birimi.</a:t>
            </a:r>
            <a:endParaRPr lang="tr-TR" sz="16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8A9AA0"/>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8A9AA0"/>
                </a:solidFill>
                <a:latin typeface="Calibri" pitchFamily="34" charset="0"/>
                <a:ea typeface="Calibri" pitchFamily="34" charset="-122"/>
                <a:cs typeface="Calibri" pitchFamily="34" charset="-120"/>
              </a:rPr>
              <a:t>Hafta 3  ·  20</a:t>
            </a:r>
            <a:endParaRPr lang="tr-T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12121"/>
        </a:solidFill>
      </p:bgPr>
    </p:bg>
    <p:spTree>
      <p:nvGrpSpPr>
        <p:cNvPr id="1" name=""/>
        <p:cNvGrpSpPr/>
        <p:nvPr/>
      </p:nvGrpSpPr>
      <p:grpSpPr>
        <a:xfrm>
          <a:off x="0" y="0"/>
          <a:ext cx="0" cy="0"/>
          <a:chOff x="0" y="0"/>
          <a:chExt cx="0" cy="0"/>
        </a:xfrm>
      </p:grpSpPr>
      <p:sp>
        <p:nvSpPr>
          <p:cNvPr id="2" name="Text 0"/>
          <p:cNvSpPr txBox="1"/>
          <p:nvPr/>
        </p:nvSpPr>
        <p:spPr>
          <a:xfrm>
            <a:off x="548640" y="2514600"/>
            <a:ext cx="9144000" cy="320040"/>
          </a:xfrm>
          <a:prstGeom prst="rect">
            <a:avLst/>
          </a:prstGeom>
          <a:noFill/>
          <a:ln/>
        </p:spPr>
        <p:txBody>
          <a:bodyPr wrap="square" lIns="0" tIns="0" rIns="0" bIns="0" rtlCol="0" anchor="ctr"/>
          <a:lstStyle/>
          <a:p>
            <a:pPr indent="0" marL="0">
              <a:buNone/>
            </a:pPr>
            <a:r>
              <a:rPr lang="tr-TR" sz="1300" b="1" spc="300" kern="0" dirty="0">
                <a:solidFill>
                  <a:srgbClr val="02C39A"/>
                </a:solidFill>
                <a:latin typeface="Calibri" pitchFamily="34" charset="0"/>
                <a:ea typeface="Calibri" pitchFamily="34" charset="-122"/>
                <a:cs typeface="Calibri" pitchFamily="34" charset="-120"/>
              </a:rPr>
              <a:t>BÖLÜM 3</a:t>
            </a:r>
            <a:endParaRPr lang="tr-TR" sz="1300" dirty="0"/>
          </a:p>
        </p:txBody>
      </p:sp>
      <p:sp>
        <p:nvSpPr>
          <p:cNvPr id="3" name="Text 1"/>
          <p:cNvSpPr txBox="1"/>
          <p:nvPr/>
        </p:nvSpPr>
        <p:spPr>
          <a:xfrm>
            <a:off x="548640" y="2880360"/>
            <a:ext cx="10972800" cy="868680"/>
          </a:xfrm>
          <a:prstGeom prst="rect">
            <a:avLst/>
          </a:prstGeom>
          <a:noFill/>
          <a:ln/>
        </p:spPr>
        <p:txBody>
          <a:bodyPr wrap="square" lIns="0" tIns="0" rIns="0" bIns="0" rtlCol="0" anchor="ctr"/>
          <a:lstStyle/>
          <a:p>
            <a:pPr indent="0" marL="0">
              <a:buNone/>
            </a:pPr>
            <a:r>
              <a:rPr lang="tr-TR" sz="3800" b="1" dirty="0">
                <a:solidFill>
                  <a:srgbClr val="FFFFFF"/>
                </a:solidFill>
                <a:latin typeface="Cambria" pitchFamily="34" charset="0"/>
                <a:ea typeface="Cambria" pitchFamily="34" charset="-122"/>
                <a:cs typeface="Cambria" pitchFamily="34" charset="-120"/>
              </a:rPr>
              <a:t>Süreç Kavramı</a:t>
            </a:r>
            <a:endParaRPr lang="tr-TR" sz="3800" dirty="0"/>
          </a:p>
        </p:txBody>
      </p:sp>
      <p:sp>
        <p:nvSpPr>
          <p:cNvPr id="4" name="Text 2"/>
          <p:cNvSpPr txBox="1"/>
          <p:nvPr/>
        </p:nvSpPr>
        <p:spPr>
          <a:xfrm>
            <a:off x="548640" y="3794760"/>
            <a:ext cx="10515600" cy="457200"/>
          </a:xfrm>
          <a:prstGeom prst="rect">
            <a:avLst/>
          </a:prstGeom>
          <a:noFill/>
          <a:ln/>
        </p:spPr>
        <p:txBody>
          <a:bodyPr wrap="square" lIns="0" tIns="0" rIns="0" bIns="0" rtlCol="0" anchor="ctr"/>
          <a:lstStyle/>
          <a:p>
            <a:pPr indent="0" marL="0">
              <a:buNone/>
            </a:pPr>
            <a:r>
              <a:rPr lang="tr-TR" sz="1600" i="1" dirty="0">
                <a:solidFill>
                  <a:srgbClr val="F2F2F2"/>
                </a:solidFill>
                <a:latin typeface="Calibri" pitchFamily="34" charset="0"/>
                <a:ea typeface="Calibri" pitchFamily="34" charset="-122"/>
                <a:cs typeface="Calibri" pitchFamily="34" charset="-120"/>
              </a:rPr>
              <a:t>Yürütülmekte olan bir program.</a:t>
            </a:r>
            <a:endParaRPr lang="tr-TR" sz="16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8A9AA0"/>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8A9AA0"/>
                </a:solidFill>
                <a:latin typeface="Calibri" pitchFamily="34" charset="0"/>
                <a:ea typeface="Calibri" pitchFamily="34" charset="-122"/>
                <a:cs typeface="Calibri" pitchFamily="34" charset="-120"/>
              </a:rPr>
              <a:t>Hafta 3  ·  21</a:t>
            </a:r>
            <a:endParaRPr lang="tr-T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Program ve Süreç</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22</a:t>
            </a:r>
            <a:endParaRPr lang="tr-TR" sz="900" dirty="0"/>
          </a:p>
        </p:txBody>
      </p:sp>
      <p:sp>
        <p:nvSpPr>
          <p:cNvPr id="6" name="Shape 4"/>
          <p:cNvSpPr/>
          <p:nvPr/>
        </p:nvSpPr>
        <p:spPr>
          <a:xfrm>
            <a:off x="548640" y="2788920"/>
            <a:ext cx="2194560" cy="1188720"/>
          </a:xfrm>
          <a:prstGeom prst="roundRect">
            <a:avLst>
              <a:gd name="adj" fmla="val 3846"/>
            </a:avLst>
          </a:prstGeom>
          <a:solidFill>
            <a:srgbClr val="F2F2F2"/>
          </a:solidFill>
          <a:ln/>
        </p:spPr>
      </p:sp>
      <p:sp>
        <p:nvSpPr>
          <p:cNvPr id="7" name="Text 5"/>
          <p:cNvSpPr txBox="1"/>
          <p:nvPr/>
        </p:nvSpPr>
        <p:spPr>
          <a:xfrm>
            <a:off x="548640" y="2788920"/>
            <a:ext cx="2194560" cy="1188720"/>
          </a:xfrm>
          <a:prstGeom prst="rect">
            <a:avLst/>
          </a:prstGeom>
          <a:noFill/>
          <a:ln/>
        </p:spPr>
        <p:txBody>
          <a:bodyPr wrap="square" lIns="38100" tIns="38100" rIns="38100" bIns="38100" rtlCol="0" anchor="ctr"/>
          <a:lstStyle/>
          <a:p>
            <a:pPr algn="ctr" indent="0" marL="0">
              <a:buNone/>
            </a:pPr>
            <a:r>
              <a:rPr lang="tr-TR" sz="1400" b="1" dirty="0">
                <a:solidFill>
                  <a:srgbClr val="36454F"/>
                </a:solidFill>
                <a:latin typeface="Consolas" pitchFamily="34" charset="0"/>
                <a:ea typeface="Consolas" pitchFamily="34" charset="-122"/>
                <a:cs typeface="Consolas" pitchFamily="34" charset="-120"/>
              </a:rPr>
              <a:t>/usr/bin/bash</a:t>
            </a:r>
            <a:endParaRPr lang="tr-TR" sz="1400" dirty="0"/>
          </a:p>
          <a:p>
            <a:pPr algn="ctr" indent="0" marL="0">
              <a:buNone/>
            </a:pPr>
            <a:r>
              <a:rPr lang="tr-TR" sz="1100" dirty="0">
                <a:solidFill>
                  <a:srgbClr val="36454F"/>
                </a:solidFill>
                <a:latin typeface="Calibri" pitchFamily="34" charset="0"/>
                <a:ea typeface="Calibri" pitchFamily="34" charset="-122"/>
                <a:cs typeface="Calibri" pitchFamily="34" charset="-120"/>
              </a:rPr>
              <a:t>program: diskteki bir dosya</a:t>
            </a:r>
            <a:endParaRPr lang="tr-TR" sz="1400" dirty="0"/>
          </a:p>
        </p:txBody>
      </p:sp>
      <p:sp>
        <p:nvSpPr>
          <p:cNvPr id="8" name="Shape 6"/>
          <p:cNvSpPr/>
          <p:nvPr/>
        </p:nvSpPr>
        <p:spPr>
          <a:xfrm>
            <a:off x="3840480" y="1783080"/>
            <a:ext cx="2651760" cy="1143000"/>
          </a:xfrm>
          <a:prstGeom prst="roundRect">
            <a:avLst>
              <a:gd name="adj" fmla="val 4000"/>
            </a:avLst>
          </a:prstGeom>
          <a:solidFill>
            <a:srgbClr val="36454F"/>
          </a:solidFill>
          <a:ln/>
        </p:spPr>
      </p:sp>
      <p:sp>
        <p:nvSpPr>
          <p:cNvPr id="9" name="Text 7"/>
          <p:cNvSpPr txBox="1"/>
          <p:nvPr/>
        </p:nvSpPr>
        <p:spPr>
          <a:xfrm>
            <a:off x="3840480" y="1783080"/>
            <a:ext cx="2651760" cy="1143000"/>
          </a:xfrm>
          <a:prstGeom prst="rect">
            <a:avLst/>
          </a:prstGeom>
          <a:noFill/>
          <a:ln/>
        </p:spPr>
        <p:txBody>
          <a:bodyPr wrap="square" lIns="38100" tIns="38100" rIns="38100" bIns="38100" rtlCol="0" anchor="ctr"/>
          <a:lstStyle/>
          <a:p>
            <a:pPr algn="ctr" indent="0" marL="0">
              <a:buNone/>
            </a:pPr>
            <a:r>
              <a:rPr lang="tr-TR" sz="1400" b="1" dirty="0">
                <a:solidFill>
                  <a:srgbClr val="FFFFFF"/>
                </a:solidFill>
                <a:latin typeface="Calibri" pitchFamily="34" charset="0"/>
                <a:ea typeface="Calibri" pitchFamily="34" charset="-122"/>
                <a:cs typeface="Calibri" pitchFamily="34" charset="-120"/>
              </a:rPr>
              <a:t>bash   PID 2210</a:t>
            </a:r>
            <a:endParaRPr lang="tr-TR" sz="1400" dirty="0"/>
          </a:p>
          <a:p>
            <a:pPr algn="ctr" indent="0" marL="0">
              <a:buNone/>
            </a:pPr>
            <a:r>
              <a:rPr lang="tr-TR" sz="1100" dirty="0">
                <a:solidFill>
                  <a:srgbClr val="FFFFFF"/>
                </a:solidFill>
                <a:latin typeface="Calibri" pitchFamily="34" charset="0"/>
                <a:ea typeface="Calibri" pitchFamily="34" charset="-122"/>
                <a:cs typeface="Calibri" pitchFamily="34" charset="-120"/>
              </a:rPr>
              <a:t>süreç: bellekte, çalışıyor</a:t>
            </a:r>
            <a:endParaRPr lang="tr-TR" sz="1400" dirty="0"/>
          </a:p>
        </p:txBody>
      </p:sp>
      <p:sp>
        <p:nvSpPr>
          <p:cNvPr id="10" name="Shape 8"/>
          <p:cNvSpPr/>
          <p:nvPr/>
        </p:nvSpPr>
        <p:spPr>
          <a:xfrm flipV="1">
            <a:off x="2761488" y="2350008"/>
            <a:ext cx="1060704" cy="1033272"/>
          </a:xfrm>
          <a:prstGeom prst="line">
            <a:avLst/>
          </a:prstGeom>
          <a:noFill/>
          <a:ln w="22225">
            <a:solidFill>
              <a:srgbClr val="50808E"/>
            </a:solidFill>
            <a:prstDash val="solid"/>
            <a:tailEnd type="triangle"/>
          </a:ln>
        </p:spPr>
      </p:sp>
      <p:sp>
        <p:nvSpPr>
          <p:cNvPr id="11" name="Shape 9"/>
          <p:cNvSpPr/>
          <p:nvPr/>
        </p:nvSpPr>
        <p:spPr>
          <a:xfrm>
            <a:off x="3840480" y="3886200"/>
            <a:ext cx="2651760" cy="1143000"/>
          </a:xfrm>
          <a:prstGeom prst="roundRect">
            <a:avLst>
              <a:gd name="adj" fmla="val 4000"/>
            </a:avLst>
          </a:prstGeom>
          <a:solidFill>
            <a:srgbClr val="02C39A"/>
          </a:solidFill>
          <a:ln/>
        </p:spPr>
      </p:sp>
      <p:sp>
        <p:nvSpPr>
          <p:cNvPr id="12" name="Text 10"/>
          <p:cNvSpPr txBox="1"/>
          <p:nvPr/>
        </p:nvSpPr>
        <p:spPr>
          <a:xfrm>
            <a:off x="3840480" y="3886200"/>
            <a:ext cx="2651760" cy="1143000"/>
          </a:xfrm>
          <a:prstGeom prst="rect">
            <a:avLst/>
          </a:prstGeom>
          <a:noFill/>
          <a:ln/>
        </p:spPr>
        <p:txBody>
          <a:bodyPr wrap="square" lIns="38100" tIns="38100" rIns="38100" bIns="38100" rtlCol="0" anchor="ctr"/>
          <a:lstStyle/>
          <a:p>
            <a:pPr algn="ctr" indent="0" marL="0">
              <a:buNone/>
            </a:pPr>
            <a:r>
              <a:rPr lang="tr-TR" sz="1400" b="1" dirty="0">
                <a:solidFill>
                  <a:srgbClr val="212121"/>
                </a:solidFill>
                <a:latin typeface="Calibri" pitchFamily="34" charset="0"/>
                <a:ea typeface="Calibri" pitchFamily="34" charset="-122"/>
                <a:cs typeface="Calibri" pitchFamily="34" charset="-120"/>
              </a:rPr>
              <a:t>bash   PID 2457</a:t>
            </a:r>
            <a:endParaRPr lang="tr-TR" sz="1400" dirty="0"/>
          </a:p>
          <a:p>
            <a:pPr algn="ctr" indent="0" marL="0">
              <a:buNone/>
            </a:pPr>
            <a:r>
              <a:rPr lang="tr-TR" sz="1100" dirty="0">
                <a:solidFill>
                  <a:srgbClr val="212121"/>
                </a:solidFill>
                <a:latin typeface="Calibri" pitchFamily="34" charset="0"/>
                <a:ea typeface="Calibri" pitchFamily="34" charset="-122"/>
                <a:cs typeface="Calibri" pitchFamily="34" charset="-120"/>
              </a:rPr>
              <a:t>süreç: bellekte, çalışıyor</a:t>
            </a:r>
            <a:endParaRPr lang="tr-TR" sz="1400" dirty="0"/>
          </a:p>
        </p:txBody>
      </p:sp>
      <p:sp>
        <p:nvSpPr>
          <p:cNvPr id="13" name="Shape 11"/>
          <p:cNvSpPr/>
          <p:nvPr/>
        </p:nvSpPr>
        <p:spPr>
          <a:xfrm>
            <a:off x="2761488" y="3383280"/>
            <a:ext cx="1060704" cy="1069848"/>
          </a:xfrm>
          <a:prstGeom prst="line">
            <a:avLst/>
          </a:prstGeom>
          <a:noFill/>
          <a:ln w="22225">
            <a:solidFill>
              <a:srgbClr val="50808E"/>
            </a:solidFill>
            <a:prstDash val="solid"/>
            <a:tailEnd type="triangle"/>
          </a:ln>
        </p:spPr>
      </p:sp>
      <p:sp>
        <p:nvSpPr>
          <p:cNvPr id="14" name="Text 12"/>
          <p:cNvSpPr txBox="1"/>
          <p:nvPr/>
        </p:nvSpPr>
        <p:spPr>
          <a:xfrm>
            <a:off x="548640" y="2468880"/>
            <a:ext cx="2194560" cy="274320"/>
          </a:xfrm>
          <a:prstGeom prst="rect">
            <a:avLst/>
          </a:prstGeom>
          <a:noFill/>
          <a:ln/>
        </p:spPr>
        <p:txBody>
          <a:bodyPr wrap="square" lIns="0" tIns="0" rIns="0" bIns="0" rtlCol="0" anchor="t"/>
          <a:lstStyle/>
          <a:p>
            <a:pPr algn="ctr" indent="0" marL="0">
              <a:buNone/>
            </a:pPr>
            <a:r>
              <a:rPr lang="tr-TR" sz="1100" i="1" dirty="0">
                <a:solidFill>
                  <a:srgbClr val="6B7679"/>
                </a:solidFill>
                <a:latin typeface="Calibri" pitchFamily="34" charset="0"/>
                <a:ea typeface="Calibri" pitchFamily="34" charset="-122"/>
                <a:cs typeface="Calibri" pitchFamily="34" charset="-120"/>
              </a:rPr>
              <a:t>yükle ve çalıştır</a:t>
            </a:r>
            <a:endParaRPr lang="tr-TR" sz="1100" dirty="0"/>
          </a:p>
        </p:txBody>
      </p:sp>
      <p:sp>
        <p:nvSpPr>
          <p:cNvPr id="15" name="Text 13"/>
          <p:cNvSpPr txBox="1"/>
          <p:nvPr/>
        </p:nvSpPr>
        <p:spPr>
          <a:xfrm>
            <a:off x="548640" y="5029200"/>
            <a:ext cx="5943600" cy="320040"/>
          </a:xfrm>
          <a:prstGeom prst="rect">
            <a:avLst/>
          </a:prstGeom>
          <a:noFill/>
          <a:ln/>
        </p:spPr>
        <p:txBody>
          <a:bodyPr wrap="square" lIns="0" tIns="0" rIns="0" bIns="0" rtlCol="0" anchor="t"/>
          <a:lstStyle/>
          <a:p>
            <a:pPr indent="0" marL="0">
              <a:buNone/>
            </a:pPr>
            <a:r>
              <a:rPr lang="tr-TR" sz="1200" i="1" dirty="0">
                <a:solidFill>
                  <a:srgbClr val="6B7679"/>
                </a:solidFill>
                <a:latin typeface="Calibri" pitchFamily="34" charset="0"/>
                <a:ea typeface="Calibri" pitchFamily="34" charset="-122"/>
                <a:cs typeface="Calibri" pitchFamily="34" charset="-120"/>
              </a:rPr>
              <a:t>bir program, iki süreç (iki terminal penceresi)</a:t>
            </a:r>
            <a:endParaRPr lang="tr-TR" sz="1200" dirty="0"/>
          </a:p>
        </p:txBody>
      </p:sp>
      <p:sp>
        <p:nvSpPr>
          <p:cNvPr id="16" name="Shape 14"/>
          <p:cNvSpPr/>
          <p:nvPr/>
        </p:nvSpPr>
        <p:spPr>
          <a:xfrm>
            <a:off x="6858000" y="1508760"/>
            <a:ext cx="4800600" cy="3383280"/>
          </a:xfrm>
          <a:prstGeom prst="roundRect">
            <a:avLst>
              <a:gd name="adj" fmla="val 1622"/>
            </a:avLst>
          </a:prstGeom>
          <a:solidFill>
            <a:srgbClr val="F2F2F2"/>
          </a:solidFill>
          <a:ln/>
          <a:effectLst>
            <a:outerShdw sx="100000" sy="100000" kx="0" ky="0" algn="bl" rotWithShape="0" blurRad="101600" dist="25400" dir="5400000">
              <a:srgbClr val="000000">
                <a:alpha val="12000"/>
              </a:srgbClr>
            </a:outerShdw>
          </a:effectLst>
        </p:spPr>
      </p:sp>
      <p:sp>
        <p:nvSpPr>
          <p:cNvPr id="17" name="Text 15"/>
          <p:cNvSpPr txBox="1"/>
          <p:nvPr/>
        </p:nvSpPr>
        <p:spPr>
          <a:xfrm>
            <a:off x="7086600" y="1691640"/>
            <a:ext cx="434340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Tanımlar</a:t>
            </a:r>
            <a:endParaRPr lang="tr-TR" sz="1500" dirty="0"/>
          </a:p>
        </p:txBody>
      </p:sp>
      <p:sp>
        <p:nvSpPr>
          <p:cNvPr id="18" name="Text 16"/>
          <p:cNvSpPr txBox="1"/>
          <p:nvPr/>
        </p:nvSpPr>
        <p:spPr>
          <a:xfrm>
            <a:off x="7086600" y="2148840"/>
            <a:ext cx="4343400" cy="2606040"/>
          </a:xfrm>
          <a:prstGeom prst="rect">
            <a:avLst/>
          </a:prstGeom>
          <a:noFill/>
          <a:ln/>
        </p:spPr>
        <p:txBody>
          <a:bodyPr wrap="square" lIns="0" tIns="0" rIns="0" bIns="0" rtlCol="0" anchor="t"/>
          <a:lstStyle/>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Program:</a:t>
            </a:r>
            <a:r>
              <a:rPr lang="tr-TR" sz="1400" dirty="0">
                <a:solidFill>
                  <a:srgbClr val="3A464C"/>
                </a:solidFill>
                <a:latin typeface="Calibri" pitchFamily="34" charset="0"/>
                <a:ea typeface="Calibri" pitchFamily="34" charset="-122"/>
                <a:cs typeface="Calibri" pitchFamily="34" charset="-120"/>
              </a:rPr>
              <a:t> edilgen; çalıştırılabilir bir dosyada saklanan komutlar.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Süreç (process):</a:t>
            </a:r>
            <a:r>
              <a:rPr lang="tr-TR" sz="1400" dirty="0">
                <a:solidFill>
                  <a:srgbClr val="3A464C"/>
                </a:solidFill>
                <a:latin typeface="Calibri" pitchFamily="34" charset="0"/>
                <a:ea typeface="Calibri" pitchFamily="34" charset="-122"/>
                <a:cs typeface="Calibri" pitchFamily="34" charset="-120"/>
              </a:rPr>
              <a:t> etkin; yürütülmekte olan program: kodu artı o anki etkinliği (program sayacı, yazmaçlar), belleği ve açık dosyaları.</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Program belleğe yüklendiğinde sürece dönüşür.</a:t>
            </a:r>
            <a:endParaRPr lang="tr-TR" sz="1400" dirty="0"/>
          </a:p>
        </p:txBody>
      </p:sp>
      <p:sp>
        <p:nvSpPr>
          <p:cNvPr id="19" name="Shape 17"/>
          <p:cNvSpPr/>
          <p:nvPr/>
        </p:nvSpPr>
        <p:spPr>
          <a:xfrm>
            <a:off x="548640" y="5394960"/>
            <a:ext cx="11109960" cy="868680"/>
          </a:xfrm>
          <a:prstGeom prst="roundRect">
            <a:avLst>
              <a:gd name="adj" fmla="val 6316"/>
            </a:avLst>
          </a:prstGeom>
          <a:solidFill>
            <a:srgbClr val="36454F"/>
          </a:solidFill>
          <a:ln/>
          <a:effectLst>
            <a:outerShdw sx="100000" sy="100000" kx="0" ky="0" algn="bl" rotWithShape="0" blurRad="101600" dist="25400" dir="5400000">
              <a:srgbClr val="000000">
                <a:alpha val="12000"/>
              </a:srgbClr>
            </a:outerShdw>
          </a:effectLst>
        </p:spPr>
      </p:sp>
      <p:sp>
        <p:nvSpPr>
          <p:cNvPr id="20" name="Text 18"/>
          <p:cNvSpPr txBox="1"/>
          <p:nvPr/>
        </p:nvSpPr>
        <p:spPr>
          <a:xfrm>
            <a:off x="777240" y="5394960"/>
            <a:ext cx="10652760" cy="868680"/>
          </a:xfrm>
          <a:prstGeom prst="rect">
            <a:avLst/>
          </a:prstGeom>
          <a:noFill/>
          <a:ln/>
        </p:spPr>
        <p:txBody>
          <a:bodyPr wrap="square" lIns="0" tIns="0" rIns="0" bIns="0" rtlCol="0" anchor="ctr"/>
          <a:lstStyle/>
          <a:p>
            <a:pPr indent="0" marL="0">
              <a:buNone/>
            </a:pPr>
            <a:r>
              <a:rPr lang="tr-TR" sz="1500" dirty="0">
                <a:solidFill>
                  <a:srgbClr val="F2F2F2"/>
                </a:solidFill>
                <a:latin typeface="Calibri" pitchFamily="34" charset="0"/>
                <a:ea typeface="Calibri" pitchFamily="34" charset="-122"/>
                <a:cs typeface="Calibri" pitchFamily="34" charset="-120"/>
              </a:rPr>
              <a:t>Benzetme: yemek tarifi programdır; onu pişirmek süreçtir. İki aşçı aynı tarifi aynı anda, her biri kendi malzemesi ve kendi ilerlemesiyle uygulayabilir.</a:t>
            </a:r>
            <a:endParaRPr lang="tr-TR"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SÜREÇLER</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Bellekteki Bir Süreç: Beş Bölge</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23</a:t>
            </a:r>
            <a:endParaRPr lang="tr-TR" sz="900" dirty="0"/>
          </a:p>
        </p:txBody>
      </p:sp>
      <p:sp>
        <p:nvSpPr>
          <p:cNvPr id="6" name="Shape 4"/>
          <p:cNvSpPr/>
          <p:nvPr/>
        </p:nvSpPr>
        <p:spPr>
          <a:xfrm>
            <a:off x="1371600" y="1783080"/>
            <a:ext cx="3108960" cy="832104"/>
          </a:xfrm>
          <a:prstGeom prst="roundRect">
            <a:avLst>
              <a:gd name="adj" fmla="val 5495"/>
            </a:avLst>
          </a:prstGeom>
          <a:solidFill>
            <a:srgbClr val="36454F"/>
          </a:solidFill>
          <a:ln/>
        </p:spPr>
      </p:sp>
      <p:sp>
        <p:nvSpPr>
          <p:cNvPr id="7" name="Text 5"/>
          <p:cNvSpPr txBox="1"/>
          <p:nvPr/>
        </p:nvSpPr>
        <p:spPr>
          <a:xfrm>
            <a:off x="1371600" y="1783080"/>
            <a:ext cx="3108960" cy="832104"/>
          </a:xfrm>
          <a:prstGeom prst="rect">
            <a:avLst/>
          </a:prstGeom>
          <a:noFill/>
          <a:ln/>
        </p:spPr>
        <p:txBody>
          <a:bodyPr wrap="square" lIns="38100" tIns="38100" rIns="38100" bIns="38100" rtlCol="0" anchor="ctr"/>
          <a:lstStyle/>
          <a:p>
            <a:pPr algn="ctr" indent="0" marL="0">
              <a:buNone/>
            </a:pPr>
            <a:r>
              <a:rPr lang="tr-TR" sz="1400" b="1" dirty="0">
                <a:solidFill>
                  <a:srgbClr val="FFFFFF"/>
                </a:solidFill>
                <a:latin typeface="Calibri" pitchFamily="34" charset="0"/>
                <a:ea typeface="Calibri" pitchFamily="34" charset="-122"/>
                <a:cs typeface="Calibri" pitchFamily="34" charset="-120"/>
              </a:rPr>
              <a:t>stack (yığıt)</a:t>
            </a:r>
            <a:endParaRPr lang="tr-TR" sz="1400" dirty="0"/>
          </a:p>
          <a:p>
            <a:pPr algn="ctr" indent="0" marL="0">
              <a:buNone/>
            </a:pPr>
            <a:r>
              <a:rPr lang="tr-TR" sz="1100" dirty="0">
                <a:solidFill>
                  <a:srgbClr val="FFFFFF"/>
                </a:solidFill>
                <a:latin typeface="Calibri" pitchFamily="34" charset="0"/>
                <a:ea typeface="Calibri" pitchFamily="34" charset="-122"/>
                <a:cs typeface="Calibri" pitchFamily="34" charset="-120"/>
              </a:rPr>
              <a:t>yerel değişkenler, dönüş adresleri</a:t>
            </a:r>
            <a:endParaRPr lang="tr-TR" sz="1400" dirty="0"/>
          </a:p>
        </p:txBody>
      </p:sp>
      <p:sp>
        <p:nvSpPr>
          <p:cNvPr id="8" name="Shape 6"/>
          <p:cNvSpPr/>
          <p:nvPr/>
        </p:nvSpPr>
        <p:spPr>
          <a:xfrm>
            <a:off x="1371600" y="2651760"/>
            <a:ext cx="3108960" cy="832104"/>
          </a:xfrm>
          <a:prstGeom prst="rect">
            <a:avLst/>
          </a:prstGeom>
          <a:solidFill>
            <a:srgbClr val="FFFFFF"/>
          </a:solidFill>
          <a:ln w="12700">
            <a:solidFill>
              <a:srgbClr val="50808E"/>
            </a:solidFill>
            <a:prstDash val="dash"/>
          </a:ln>
        </p:spPr>
      </p:sp>
      <p:sp>
        <p:nvSpPr>
          <p:cNvPr id="9" name="Text 7"/>
          <p:cNvSpPr txBox="1"/>
          <p:nvPr/>
        </p:nvSpPr>
        <p:spPr>
          <a:xfrm>
            <a:off x="1371600" y="2651760"/>
            <a:ext cx="3108960" cy="832104"/>
          </a:xfrm>
          <a:prstGeom prst="rect">
            <a:avLst/>
          </a:prstGeom>
          <a:noFill/>
          <a:ln/>
        </p:spPr>
        <p:txBody>
          <a:bodyPr wrap="square" lIns="0" tIns="0" rIns="0" bIns="0" rtlCol="0" anchor="ctr"/>
          <a:lstStyle/>
          <a:p>
            <a:pPr algn="ctr" indent="0" marL="0">
              <a:buNone/>
            </a:pPr>
            <a:r>
              <a:rPr lang="tr-TR" sz="1100" i="1" dirty="0">
                <a:solidFill>
                  <a:srgbClr val="6B7679"/>
                </a:solidFill>
                <a:latin typeface="Calibri" pitchFamily="34" charset="0"/>
                <a:ea typeface="Calibri" pitchFamily="34" charset="-122"/>
                <a:cs typeface="Calibri" pitchFamily="34" charset="-120"/>
              </a:rPr>
              <a:t>boş alan</a:t>
            </a:r>
            <a:endParaRPr lang="tr-TR" sz="1100" dirty="0"/>
          </a:p>
        </p:txBody>
      </p:sp>
      <p:sp>
        <p:nvSpPr>
          <p:cNvPr id="10" name="Shape 8"/>
          <p:cNvSpPr/>
          <p:nvPr/>
        </p:nvSpPr>
        <p:spPr>
          <a:xfrm>
            <a:off x="1371600" y="3520440"/>
            <a:ext cx="3108960" cy="694944"/>
          </a:xfrm>
          <a:prstGeom prst="roundRect">
            <a:avLst>
              <a:gd name="adj" fmla="val 6579"/>
            </a:avLst>
          </a:prstGeom>
          <a:solidFill>
            <a:srgbClr val="50808E"/>
          </a:solidFill>
          <a:ln/>
        </p:spPr>
      </p:sp>
      <p:sp>
        <p:nvSpPr>
          <p:cNvPr id="11" name="Text 9"/>
          <p:cNvSpPr txBox="1"/>
          <p:nvPr/>
        </p:nvSpPr>
        <p:spPr>
          <a:xfrm>
            <a:off x="1371600" y="3520440"/>
            <a:ext cx="3108960" cy="694944"/>
          </a:xfrm>
          <a:prstGeom prst="rect">
            <a:avLst/>
          </a:prstGeom>
          <a:noFill/>
          <a:ln/>
        </p:spPr>
        <p:txBody>
          <a:bodyPr wrap="square" lIns="38100" tIns="38100" rIns="38100" bIns="38100" rtlCol="0" anchor="ctr"/>
          <a:lstStyle/>
          <a:p>
            <a:pPr algn="ctr" indent="0" marL="0">
              <a:buNone/>
            </a:pPr>
            <a:r>
              <a:rPr lang="tr-TR" sz="1400" b="1" dirty="0">
                <a:solidFill>
                  <a:srgbClr val="FFFFFF"/>
                </a:solidFill>
                <a:latin typeface="Calibri" pitchFamily="34" charset="0"/>
                <a:ea typeface="Calibri" pitchFamily="34" charset="-122"/>
                <a:cs typeface="Calibri" pitchFamily="34" charset="-120"/>
              </a:rPr>
              <a:t>heap (öbek)</a:t>
            </a:r>
            <a:endParaRPr lang="tr-TR" sz="1400" dirty="0"/>
          </a:p>
          <a:p>
            <a:pPr algn="ctr" indent="0" marL="0">
              <a:buNone/>
            </a:pPr>
            <a:r>
              <a:rPr lang="tr-TR" sz="1100" dirty="0">
                <a:solidFill>
                  <a:srgbClr val="FFFFFF"/>
                </a:solidFill>
                <a:latin typeface="Calibri" pitchFamily="34" charset="0"/>
                <a:ea typeface="Calibri" pitchFamily="34" charset="-122"/>
                <a:cs typeface="Calibri" pitchFamily="34" charset="-120"/>
              </a:rPr>
              <a:t>malloc() / new</a:t>
            </a:r>
            <a:endParaRPr lang="tr-TR" sz="1400" dirty="0"/>
          </a:p>
        </p:txBody>
      </p:sp>
      <p:sp>
        <p:nvSpPr>
          <p:cNvPr id="12" name="Shape 10"/>
          <p:cNvSpPr/>
          <p:nvPr/>
        </p:nvSpPr>
        <p:spPr>
          <a:xfrm>
            <a:off x="1371600" y="4251960"/>
            <a:ext cx="3108960" cy="466344"/>
          </a:xfrm>
          <a:prstGeom prst="roundRect">
            <a:avLst>
              <a:gd name="adj" fmla="val 9804"/>
            </a:avLst>
          </a:prstGeom>
          <a:solidFill>
            <a:srgbClr val="D7E9E6"/>
          </a:solidFill>
          <a:ln/>
        </p:spPr>
      </p:sp>
      <p:sp>
        <p:nvSpPr>
          <p:cNvPr id="13" name="Text 11"/>
          <p:cNvSpPr txBox="1"/>
          <p:nvPr/>
        </p:nvSpPr>
        <p:spPr>
          <a:xfrm>
            <a:off x="1371600" y="4251960"/>
            <a:ext cx="3108960" cy="466344"/>
          </a:xfrm>
          <a:prstGeom prst="rect">
            <a:avLst/>
          </a:prstGeom>
          <a:noFill/>
          <a:ln/>
        </p:spPr>
        <p:txBody>
          <a:bodyPr wrap="square" lIns="38100" tIns="38100" rIns="38100" bIns="38100" rtlCol="0" anchor="ctr"/>
          <a:lstStyle/>
          <a:p>
            <a:pPr algn="ctr" indent="0" marL="0">
              <a:buNone/>
            </a:pPr>
            <a:r>
              <a:rPr lang="tr-TR" sz="1400" b="1" dirty="0">
                <a:solidFill>
                  <a:srgbClr val="212121"/>
                </a:solidFill>
                <a:latin typeface="Calibri" pitchFamily="34" charset="0"/>
                <a:ea typeface="Calibri" pitchFamily="34" charset="-122"/>
                <a:cs typeface="Calibri" pitchFamily="34" charset="-120"/>
              </a:rPr>
              <a:t>bss</a:t>
            </a:r>
            <a:endParaRPr lang="tr-TR" sz="1400" dirty="0"/>
          </a:p>
          <a:p>
            <a:pPr algn="ctr" indent="0" marL="0">
              <a:buNone/>
            </a:pPr>
            <a:r>
              <a:rPr lang="tr-TR" sz="1100" dirty="0">
                <a:solidFill>
                  <a:srgbClr val="212121"/>
                </a:solidFill>
                <a:latin typeface="Calibri" pitchFamily="34" charset="0"/>
                <a:ea typeface="Calibri" pitchFamily="34" charset="-122"/>
                <a:cs typeface="Calibri" pitchFamily="34" charset="-120"/>
              </a:rPr>
              <a:t>ilk değersiz globaller</a:t>
            </a:r>
            <a:endParaRPr lang="tr-TR" sz="1400" dirty="0"/>
          </a:p>
        </p:txBody>
      </p:sp>
      <p:sp>
        <p:nvSpPr>
          <p:cNvPr id="14" name="Shape 12"/>
          <p:cNvSpPr/>
          <p:nvPr/>
        </p:nvSpPr>
        <p:spPr>
          <a:xfrm>
            <a:off x="1371600" y="4754880"/>
            <a:ext cx="3108960" cy="466344"/>
          </a:xfrm>
          <a:prstGeom prst="roundRect">
            <a:avLst>
              <a:gd name="adj" fmla="val 9804"/>
            </a:avLst>
          </a:prstGeom>
          <a:solidFill>
            <a:srgbClr val="D7E9E6"/>
          </a:solidFill>
          <a:ln/>
        </p:spPr>
      </p:sp>
      <p:sp>
        <p:nvSpPr>
          <p:cNvPr id="15" name="Text 13"/>
          <p:cNvSpPr txBox="1"/>
          <p:nvPr/>
        </p:nvSpPr>
        <p:spPr>
          <a:xfrm>
            <a:off x="1371600" y="4754880"/>
            <a:ext cx="3108960" cy="466344"/>
          </a:xfrm>
          <a:prstGeom prst="rect">
            <a:avLst/>
          </a:prstGeom>
          <a:noFill/>
          <a:ln/>
        </p:spPr>
        <p:txBody>
          <a:bodyPr wrap="square" lIns="38100" tIns="38100" rIns="38100" bIns="38100" rtlCol="0" anchor="ctr"/>
          <a:lstStyle/>
          <a:p>
            <a:pPr algn="ctr" indent="0" marL="0">
              <a:buNone/>
            </a:pPr>
            <a:r>
              <a:rPr lang="tr-TR" sz="1400" b="1" dirty="0">
                <a:solidFill>
                  <a:srgbClr val="212121"/>
                </a:solidFill>
                <a:latin typeface="Calibri" pitchFamily="34" charset="0"/>
                <a:ea typeface="Calibri" pitchFamily="34" charset="-122"/>
                <a:cs typeface="Calibri" pitchFamily="34" charset="-120"/>
              </a:rPr>
              <a:t>data</a:t>
            </a:r>
            <a:endParaRPr lang="tr-TR" sz="1400" dirty="0"/>
          </a:p>
          <a:p>
            <a:pPr algn="ctr" indent="0" marL="0">
              <a:buNone/>
            </a:pPr>
            <a:r>
              <a:rPr lang="tr-TR" sz="1100" dirty="0">
                <a:solidFill>
                  <a:srgbClr val="212121"/>
                </a:solidFill>
                <a:latin typeface="Calibri" pitchFamily="34" charset="0"/>
                <a:ea typeface="Calibri" pitchFamily="34" charset="-122"/>
                <a:cs typeface="Calibri" pitchFamily="34" charset="-120"/>
              </a:rPr>
              <a:t>ilk değerli globaller</a:t>
            </a:r>
            <a:endParaRPr lang="tr-TR" sz="1400" dirty="0"/>
          </a:p>
        </p:txBody>
      </p:sp>
      <p:sp>
        <p:nvSpPr>
          <p:cNvPr id="16" name="Shape 14"/>
          <p:cNvSpPr/>
          <p:nvPr/>
        </p:nvSpPr>
        <p:spPr>
          <a:xfrm>
            <a:off x="1371600" y="5257800"/>
            <a:ext cx="3108960" cy="649224"/>
          </a:xfrm>
          <a:prstGeom prst="roundRect">
            <a:avLst>
              <a:gd name="adj" fmla="val 7042"/>
            </a:avLst>
          </a:prstGeom>
          <a:solidFill>
            <a:srgbClr val="02C39A"/>
          </a:solidFill>
          <a:ln/>
        </p:spPr>
      </p:sp>
      <p:sp>
        <p:nvSpPr>
          <p:cNvPr id="17" name="Text 15"/>
          <p:cNvSpPr txBox="1"/>
          <p:nvPr/>
        </p:nvSpPr>
        <p:spPr>
          <a:xfrm>
            <a:off x="1371600" y="5257800"/>
            <a:ext cx="3108960" cy="649224"/>
          </a:xfrm>
          <a:prstGeom prst="rect">
            <a:avLst/>
          </a:prstGeom>
          <a:noFill/>
          <a:ln/>
        </p:spPr>
        <p:txBody>
          <a:bodyPr wrap="square" lIns="38100" tIns="38100" rIns="38100" bIns="38100" rtlCol="0" anchor="ctr"/>
          <a:lstStyle/>
          <a:p>
            <a:pPr algn="ctr" indent="0" marL="0">
              <a:buNone/>
            </a:pPr>
            <a:r>
              <a:rPr lang="tr-TR" sz="1400" b="1" dirty="0">
                <a:solidFill>
                  <a:srgbClr val="212121"/>
                </a:solidFill>
                <a:latin typeface="Calibri" pitchFamily="34" charset="0"/>
                <a:ea typeface="Calibri" pitchFamily="34" charset="-122"/>
                <a:cs typeface="Calibri" pitchFamily="34" charset="-120"/>
              </a:rPr>
              <a:t>text</a:t>
            </a:r>
            <a:endParaRPr lang="tr-TR" sz="1400" dirty="0"/>
          </a:p>
          <a:p>
            <a:pPr algn="ctr" indent="0" marL="0">
              <a:buNone/>
            </a:pPr>
            <a:r>
              <a:rPr lang="tr-TR" sz="1100" dirty="0">
                <a:solidFill>
                  <a:srgbClr val="212121"/>
                </a:solidFill>
                <a:latin typeface="Calibri" pitchFamily="34" charset="0"/>
                <a:ea typeface="Calibri" pitchFamily="34" charset="-122"/>
                <a:cs typeface="Calibri" pitchFamily="34" charset="-120"/>
              </a:rPr>
              <a:t>makine kodu</a:t>
            </a:r>
            <a:endParaRPr lang="tr-TR" sz="1400" dirty="0"/>
          </a:p>
        </p:txBody>
      </p:sp>
      <p:sp>
        <p:nvSpPr>
          <p:cNvPr id="18" name="Shape 16"/>
          <p:cNvSpPr/>
          <p:nvPr/>
        </p:nvSpPr>
        <p:spPr>
          <a:xfrm>
            <a:off x="4709160" y="2103120"/>
            <a:ext cx="91" cy="868680"/>
          </a:xfrm>
          <a:prstGeom prst="line">
            <a:avLst/>
          </a:prstGeom>
          <a:noFill/>
          <a:ln w="25400">
            <a:solidFill>
              <a:srgbClr val="028090"/>
            </a:solidFill>
            <a:prstDash val="solid"/>
            <a:tailEnd type="triangle"/>
          </a:ln>
        </p:spPr>
      </p:sp>
      <p:sp>
        <p:nvSpPr>
          <p:cNvPr id="19" name="Text 17"/>
          <p:cNvSpPr txBox="1"/>
          <p:nvPr/>
        </p:nvSpPr>
        <p:spPr>
          <a:xfrm>
            <a:off x="4800600" y="2331720"/>
            <a:ext cx="1188720" cy="274320"/>
          </a:xfrm>
          <a:prstGeom prst="rect">
            <a:avLst/>
          </a:prstGeom>
          <a:noFill/>
          <a:ln/>
        </p:spPr>
        <p:txBody>
          <a:bodyPr wrap="square" lIns="0" tIns="0" rIns="0" bIns="0" rtlCol="0" anchor="t"/>
          <a:lstStyle/>
          <a:p>
            <a:pPr indent="0" marL="0">
              <a:buNone/>
            </a:pPr>
            <a:r>
              <a:rPr lang="tr-TR" sz="1100" b="1" dirty="0">
                <a:solidFill>
                  <a:srgbClr val="028090"/>
                </a:solidFill>
                <a:latin typeface="Calibri" pitchFamily="34" charset="0"/>
                <a:ea typeface="Calibri" pitchFamily="34" charset="-122"/>
                <a:cs typeface="Calibri" pitchFamily="34" charset="-120"/>
              </a:rPr>
              <a:t>aşağı büyür</a:t>
            </a:r>
            <a:endParaRPr lang="tr-TR" sz="1100" dirty="0"/>
          </a:p>
        </p:txBody>
      </p:sp>
      <p:sp>
        <p:nvSpPr>
          <p:cNvPr id="20" name="Shape 18"/>
          <p:cNvSpPr/>
          <p:nvPr/>
        </p:nvSpPr>
        <p:spPr>
          <a:xfrm flipV="1">
            <a:off x="4709160" y="3200400"/>
            <a:ext cx="91" cy="822960"/>
          </a:xfrm>
          <a:prstGeom prst="line">
            <a:avLst/>
          </a:prstGeom>
          <a:noFill/>
          <a:ln w="25400">
            <a:solidFill>
              <a:srgbClr val="028090"/>
            </a:solidFill>
            <a:prstDash val="solid"/>
            <a:tailEnd type="triangle"/>
          </a:ln>
        </p:spPr>
      </p:sp>
      <p:sp>
        <p:nvSpPr>
          <p:cNvPr id="21" name="Text 19"/>
          <p:cNvSpPr txBox="1"/>
          <p:nvPr/>
        </p:nvSpPr>
        <p:spPr>
          <a:xfrm>
            <a:off x="4800600" y="3474720"/>
            <a:ext cx="1188720" cy="274320"/>
          </a:xfrm>
          <a:prstGeom prst="rect">
            <a:avLst/>
          </a:prstGeom>
          <a:noFill/>
          <a:ln/>
        </p:spPr>
        <p:txBody>
          <a:bodyPr wrap="square" lIns="0" tIns="0" rIns="0" bIns="0" rtlCol="0" anchor="t"/>
          <a:lstStyle/>
          <a:p>
            <a:pPr indent="0" marL="0">
              <a:buNone/>
            </a:pPr>
            <a:r>
              <a:rPr lang="tr-TR" sz="1100" b="1" dirty="0">
                <a:solidFill>
                  <a:srgbClr val="028090"/>
                </a:solidFill>
                <a:latin typeface="Calibri" pitchFamily="34" charset="0"/>
                <a:ea typeface="Calibri" pitchFamily="34" charset="-122"/>
                <a:cs typeface="Calibri" pitchFamily="34" charset="-120"/>
              </a:rPr>
              <a:t>yukarı büyür</a:t>
            </a:r>
            <a:endParaRPr lang="tr-TR" sz="1100" dirty="0"/>
          </a:p>
        </p:txBody>
      </p:sp>
      <p:sp>
        <p:nvSpPr>
          <p:cNvPr id="22" name="Text 20"/>
          <p:cNvSpPr txBox="1"/>
          <p:nvPr/>
        </p:nvSpPr>
        <p:spPr>
          <a:xfrm>
            <a:off x="457200" y="1783080"/>
            <a:ext cx="822960" cy="274320"/>
          </a:xfrm>
          <a:prstGeom prst="rect">
            <a:avLst/>
          </a:prstGeom>
          <a:noFill/>
          <a:ln/>
        </p:spPr>
        <p:txBody>
          <a:bodyPr wrap="square" lIns="0" tIns="0" rIns="0" bIns="0" rtlCol="0" anchor="t"/>
          <a:lstStyle/>
          <a:p>
            <a:pPr algn="r" indent="0" marL="0">
              <a:buNone/>
            </a:pPr>
            <a:r>
              <a:rPr lang="tr-TR" sz="1100" i="1" dirty="0">
                <a:solidFill>
                  <a:srgbClr val="6B7679"/>
                </a:solidFill>
                <a:latin typeface="Calibri" pitchFamily="34" charset="0"/>
                <a:ea typeface="Calibri" pitchFamily="34" charset="-122"/>
                <a:cs typeface="Calibri" pitchFamily="34" charset="-120"/>
              </a:rPr>
              <a:t>yüksek</a:t>
            </a:r>
            <a:endParaRPr lang="tr-TR" sz="1100" dirty="0"/>
          </a:p>
        </p:txBody>
      </p:sp>
      <p:sp>
        <p:nvSpPr>
          <p:cNvPr id="23" name="Text 21"/>
          <p:cNvSpPr txBox="1"/>
          <p:nvPr/>
        </p:nvSpPr>
        <p:spPr>
          <a:xfrm>
            <a:off x="457200" y="5650992"/>
            <a:ext cx="822960" cy="274320"/>
          </a:xfrm>
          <a:prstGeom prst="rect">
            <a:avLst/>
          </a:prstGeom>
          <a:noFill/>
          <a:ln/>
        </p:spPr>
        <p:txBody>
          <a:bodyPr wrap="square" lIns="0" tIns="0" rIns="0" bIns="0" rtlCol="0" anchor="t"/>
          <a:lstStyle/>
          <a:p>
            <a:pPr algn="r" indent="0" marL="0">
              <a:buNone/>
            </a:pPr>
            <a:r>
              <a:rPr lang="tr-TR" sz="1100" i="1" dirty="0">
                <a:solidFill>
                  <a:srgbClr val="6B7679"/>
                </a:solidFill>
                <a:latin typeface="Calibri" pitchFamily="34" charset="0"/>
                <a:ea typeface="Calibri" pitchFamily="34" charset="-122"/>
                <a:cs typeface="Calibri" pitchFamily="34" charset="-120"/>
              </a:rPr>
              <a:t>adres 0</a:t>
            </a:r>
            <a:endParaRPr lang="tr-TR" sz="1100" dirty="0"/>
          </a:p>
        </p:txBody>
      </p:sp>
      <p:sp>
        <p:nvSpPr>
          <p:cNvPr id="24" name="Text 22"/>
          <p:cNvSpPr txBox="1"/>
          <p:nvPr/>
        </p:nvSpPr>
        <p:spPr>
          <a:xfrm>
            <a:off x="548640" y="6016752"/>
            <a:ext cx="5120640" cy="502920"/>
          </a:xfrm>
          <a:prstGeom prst="rect">
            <a:avLst/>
          </a:prstGeom>
          <a:noFill/>
          <a:ln/>
        </p:spPr>
        <p:txBody>
          <a:bodyPr wrap="square" lIns="0" tIns="0" rIns="0" bIns="0" rtlCol="0" anchor="t"/>
          <a:lstStyle/>
          <a:p>
            <a:pPr indent="0" marL="0">
              <a:buNone/>
            </a:pPr>
            <a:r>
              <a:rPr lang="tr-TR" sz="1100" i="1" dirty="0">
                <a:solidFill>
                  <a:srgbClr val="6B7679"/>
                </a:solidFill>
                <a:latin typeface="Calibri" pitchFamily="34" charset="0"/>
                <a:ea typeface="Calibri" pitchFamily="34" charset="-122"/>
                <a:cs typeface="Calibri" pitchFamily="34" charset="-120"/>
              </a:rPr>
              <a:t>yüklendikten sonra boyutu sabit: text, data, bss · çalışırken büyüyüp küçülür: heap, stack</a:t>
            </a:r>
            <a:endParaRPr lang="tr-TR" sz="1100" dirty="0"/>
          </a:p>
        </p:txBody>
      </p:sp>
      <p:sp>
        <p:nvSpPr>
          <p:cNvPr id="25" name="Shape 23"/>
          <p:cNvSpPr/>
          <p:nvPr/>
        </p:nvSpPr>
        <p:spPr>
          <a:xfrm>
            <a:off x="6035040" y="1508760"/>
            <a:ext cx="5623560" cy="4754880"/>
          </a:xfrm>
          <a:prstGeom prst="roundRect">
            <a:avLst>
              <a:gd name="adj" fmla="val 1154"/>
            </a:avLst>
          </a:prstGeom>
          <a:solidFill>
            <a:srgbClr val="F2F2F2"/>
          </a:solidFill>
          <a:ln/>
          <a:effectLst>
            <a:outerShdw sx="100000" sy="100000" kx="0" ky="0" algn="bl" rotWithShape="0" blurRad="101600" dist="25400" dir="5400000">
              <a:srgbClr val="000000">
                <a:alpha val="12000"/>
              </a:srgbClr>
            </a:outerShdw>
          </a:effectLst>
        </p:spPr>
      </p:sp>
      <p:sp>
        <p:nvSpPr>
          <p:cNvPr id="26" name="Text 24"/>
          <p:cNvSpPr txBox="1"/>
          <p:nvPr/>
        </p:nvSpPr>
        <p:spPr>
          <a:xfrm>
            <a:off x="6263640" y="1691640"/>
            <a:ext cx="51663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Ne nerede durur (C'de)</a:t>
            </a:r>
            <a:endParaRPr lang="tr-TR" sz="1500" dirty="0"/>
          </a:p>
        </p:txBody>
      </p:sp>
      <p:sp>
        <p:nvSpPr>
          <p:cNvPr id="27" name="Text 25"/>
          <p:cNvSpPr txBox="1"/>
          <p:nvPr/>
        </p:nvSpPr>
        <p:spPr>
          <a:xfrm>
            <a:off x="6263640" y="2148840"/>
            <a:ext cx="5166360" cy="3977640"/>
          </a:xfrm>
          <a:prstGeom prst="rect">
            <a:avLst/>
          </a:prstGeom>
          <a:noFill/>
          <a:ln/>
        </p:spPr>
        <p:txBody>
          <a:bodyPr wrap="square" lIns="0" tIns="0" rIns="0" bIns="0" rtlCol="0" anchor="t"/>
          <a:lstStyle/>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text:</a:t>
            </a:r>
            <a:r>
              <a:rPr lang="tr-TR" sz="1400" dirty="0">
                <a:solidFill>
                  <a:srgbClr val="3A464C"/>
                </a:solidFill>
                <a:latin typeface="Calibri" pitchFamily="34" charset="0"/>
                <a:ea typeface="Calibri" pitchFamily="34" charset="-122"/>
                <a:cs typeface="Calibri" pitchFamily="34" charset="-120"/>
              </a:rPr>
              <a:t> main() ve diğer tüm fonksiyonların derlenmiş kodu; salt okunur.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data:</a:t>
            </a:r>
            <a:r>
              <a:rPr lang="tr-TR" sz="1400" dirty="0">
                <a:solidFill>
                  <a:srgbClr val="3A464C"/>
                </a:solidFill>
                <a:latin typeface="Calibri" pitchFamily="34" charset="0"/>
                <a:ea typeface="Calibri" pitchFamily="34" charset="-122"/>
                <a:cs typeface="Calibri" pitchFamily="34" charset="-120"/>
              </a:rPr>
              <a:t> int initialised = 42;  (değeri olan global)</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bss:</a:t>
            </a:r>
            <a:r>
              <a:rPr lang="tr-TR" sz="1400" dirty="0">
                <a:solidFill>
                  <a:srgbClr val="3A464C"/>
                </a:solidFill>
                <a:latin typeface="Calibri" pitchFamily="34" charset="0"/>
                <a:ea typeface="Calibri" pitchFamily="34" charset="-122"/>
                <a:cs typeface="Calibri" pitchFamily="34" charset="-120"/>
              </a:rPr>
              <a:t> int uninitialised;  (değeri olmayan global; işletim sistemi sıfırla doldurur)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heap (öbek):</a:t>
            </a:r>
            <a:r>
              <a:rPr lang="tr-TR" sz="1400" dirty="0">
                <a:solidFill>
                  <a:srgbClr val="3A464C"/>
                </a:solidFill>
                <a:latin typeface="Calibri" pitchFamily="34" charset="0"/>
                <a:ea typeface="Calibri" pitchFamily="34" charset="-122"/>
                <a:cs typeface="Calibri" pitchFamily="34" charset="-120"/>
              </a:rPr>
              <a:t> malloc() ile alınan bellek; free()'ye kadar yaşar.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stack (yığıt):</a:t>
            </a:r>
            <a:r>
              <a:rPr lang="tr-TR" sz="1400" dirty="0">
                <a:solidFill>
                  <a:srgbClr val="3A464C"/>
                </a:solidFill>
                <a:latin typeface="Calibri" pitchFamily="34" charset="0"/>
                <a:ea typeface="Calibri" pitchFamily="34" charset="-122"/>
                <a:cs typeface="Calibri" pitchFamily="34" charset="-120"/>
              </a:rPr>
              <a:t> bir fonksiyon içindeki int local = 7; her etkin çağrı için bir çerçeve, fonksiyon dönünce kaldırılır.</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Öbek ve yığıt, aradaki boş alanda birbirine doğru büyür.</a:t>
            </a:r>
            <a:endParaRPr lang="tr-T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UYGULAMA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Örnek 2: Her Bölgenin Adresini Yazdırmak</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24</a:t>
            </a:r>
            <a:endParaRPr lang="tr-TR" sz="900" dirty="0"/>
          </a:p>
        </p:txBody>
      </p:sp>
      <p:sp>
        <p:nvSpPr>
          <p:cNvPr id="6" name="Shape 4"/>
          <p:cNvSpPr/>
          <p:nvPr/>
        </p:nvSpPr>
        <p:spPr>
          <a:xfrm>
            <a:off x="548640" y="1508760"/>
            <a:ext cx="6400800" cy="4754880"/>
          </a:xfrm>
          <a:prstGeom prst="roundRect">
            <a:avLst>
              <a:gd name="adj" fmla="val 962"/>
            </a:avLst>
          </a:prstGeom>
          <a:solidFill>
            <a:srgbClr val="212121"/>
          </a:solidFill>
          <a:ln/>
        </p:spPr>
      </p:sp>
      <p:sp>
        <p:nvSpPr>
          <p:cNvPr id="7" name="Text 5"/>
          <p:cNvSpPr txBox="1"/>
          <p:nvPr/>
        </p:nvSpPr>
        <p:spPr>
          <a:xfrm>
            <a:off x="731520" y="1618488"/>
            <a:ext cx="6035040" cy="4535424"/>
          </a:xfrm>
          <a:prstGeom prst="rect">
            <a:avLst/>
          </a:prstGeom>
          <a:noFill/>
          <a:ln/>
        </p:spPr>
        <p:txBody>
          <a:bodyPr wrap="square" lIns="0" tIns="0" rIns="0" bIns="0" rtlCol="0" anchor="t"/>
          <a:lstStyle/>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#include &lt;stdio.h&gt;</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#include &lt;stdlib.h&gt;</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int initialised = 42;   /* değeri olan global   -&gt; data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int uninitialised;      /* değeri olmayan global -&gt; bss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int main(void)</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int local = 7;                   /* yerel değişken -&gt; yığıt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int *dynamic = malloc(sizeof *dynamic);     /* malloc -&gt; öbek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printf("text  main()        %p\n", (void *)main);</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printf("data  initialised   %p\n", (void *)&amp;initialised);</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printf("bss   uninitialised %p\n", (void *)&amp;uninitialised);</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printf("heap  *dynamic      %p\n", (void *)dynamic);</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printf("stack local         %p\n", (void *)&amp;local);</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free(dynamic);</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    return 0;</a:t>
            </a:r>
            <a:endParaRPr lang="tr-TR" sz="1150" dirty="0"/>
          </a:p>
          <a:p>
            <a:pPr indent="0" marL="0">
              <a:lnSpc>
                <a:spcPct val="105000"/>
              </a:lnSpc>
              <a:buNone/>
            </a:pPr>
            <a:r>
              <a:rPr lang="tr-TR" sz="1150" dirty="0">
                <a:solidFill>
                  <a:srgbClr val="F2F2F2"/>
                </a:solidFill>
                <a:latin typeface="Consolas" pitchFamily="34" charset="0"/>
                <a:ea typeface="Consolas" pitchFamily="34" charset="-122"/>
                <a:cs typeface="Consolas" pitchFamily="34" charset="-120"/>
              </a:rPr>
              <a:t>}</a:t>
            </a:r>
            <a:endParaRPr lang="tr-TR" sz="1150" dirty="0"/>
          </a:p>
        </p:txBody>
      </p:sp>
      <p:sp>
        <p:nvSpPr>
          <p:cNvPr id="8" name="Shape 6"/>
          <p:cNvSpPr/>
          <p:nvPr/>
        </p:nvSpPr>
        <p:spPr>
          <a:xfrm>
            <a:off x="7223760" y="1508760"/>
            <a:ext cx="4434840" cy="2468880"/>
          </a:xfrm>
          <a:prstGeom prst="roundRect">
            <a:avLst>
              <a:gd name="adj" fmla="val 2222"/>
            </a:avLst>
          </a:prstGeom>
          <a:solidFill>
            <a:srgbClr val="F2F2F2"/>
          </a:solidFill>
          <a:ln/>
          <a:effectLst>
            <a:outerShdw sx="100000" sy="100000" kx="0" ky="0" algn="bl" rotWithShape="0" blurRad="101600" dist="25400" dir="5400000">
              <a:srgbClr val="000000">
                <a:alpha val="12000"/>
              </a:srgbClr>
            </a:outerShdw>
          </a:effectLst>
        </p:spPr>
      </p:sp>
      <p:sp>
        <p:nvSpPr>
          <p:cNvPr id="9" name="Text 7"/>
          <p:cNvSpPr txBox="1"/>
          <p:nvPr/>
        </p:nvSpPr>
        <p:spPr>
          <a:xfrm>
            <a:off x="7452360" y="1691640"/>
            <a:ext cx="397764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Neye dikkat edin?</a:t>
            </a:r>
            <a:endParaRPr lang="tr-TR" sz="1500" dirty="0"/>
          </a:p>
        </p:txBody>
      </p:sp>
      <p:sp>
        <p:nvSpPr>
          <p:cNvPr id="10" name="Text 8"/>
          <p:cNvSpPr txBox="1"/>
          <p:nvPr/>
        </p:nvSpPr>
        <p:spPr>
          <a:xfrm>
            <a:off x="7452360" y="2148840"/>
            <a:ext cx="3977640" cy="1691640"/>
          </a:xfrm>
          <a:prstGeom prst="rect">
            <a:avLst/>
          </a:prstGeom>
          <a:noFill/>
          <a:ln/>
        </p:spPr>
        <p:txBody>
          <a:bodyPr wrap="square" lIns="0" tIns="0" rIns="0" bIns="0" rtlCol="0" anchor="t"/>
          <a:lstStyle/>
          <a:p>
            <a:pPr marL="228600" indent="-228600">
              <a:spcAft>
                <a:spcPts val="400"/>
              </a:spcAft>
              <a:buSzPct val="100000"/>
              <a:buChar char="•"/>
            </a:pPr>
            <a:r>
              <a:rPr lang="tr-TR" sz="1300" dirty="0">
                <a:solidFill>
                  <a:srgbClr val="3A464C"/>
                </a:solidFill>
                <a:latin typeface="Calibri" pitchFamily="34" charset="0"/>
                <a:ea typeface="Calibri" pitchFamily="34" charset="-122"/>
                <a:cs typeface="Calibri" pitchFamily="34" charset="-120"/>
              </a:rPr>
              <a:t>Sıra: text &lt; data &lt; bss &lt; heap; yığıt çok daha yukarıda.</a:t>
            </a:r>
            <a:endParaRPr lang="tr-TR" sz="1300" dirty="0"/>
          </a:p>
          <a:p>
            <a:pPr marL="228600" indent="-228600">
              <a:spcAft>
                <a:spcPts val="400"/>
              </a:spcAft>
              <a:buSzPct val="100000"/>
              <a:buChar char="•"/>
            </a:pPr>
            <a:r>
              <a:rPr lang="tr-TR" sz="1300" dirty="0">
                <a:solidFill>
                  <a:srgbClr val="3A464C"/>
                </a:solidFill>
                <a:latin typeface="Calibri" pitchFamily="34" charset="0"/>
                <a:ea typeface="Calibri" pitchFamily="34" charset="-122"/>
                <a:cs typeface="Calibri" pitchFamily="34" charset="-120"/>
              </a:rPr>
              <a:t>İki kez çalıştırın: her adres değişir. Linux saldırıları zorlaştırmak için bölgeleri rastgele yerleştirir (ASLR).</a:t>
            </a:r>
            <a:endParaRPr lang="tr-TR" sz="1300" dirty="0"/>
          </a:p>
        </p:txBody>
      </p:sp>
      <p:sp>
        <p:nvSpPr>
          <p:cNvPr id="11" name="Shape 9"/>
          <p:cNvSpPr/>
          <p:nvPr/>
        </p:nvSpPr>
        <p:spPr>
          <a:xfrm>
            <a:off x="7223760" y="4206240"/>
            <a:ext cx="4434840" cy="2057400"/>
          </a:xfrm>
          <a:prstGeom prst="roundRect">
            <a:avLst>
              <a:gd name="adj" fmla="val 2222"/>
            </a:avLst>
          </a:prstGeom>
          <a:solidFill>
            <a:srgbClr val="212121"/>
          </a:solidFill>
          <a:ln/>
        </p:spPr>
      </p:sp>
      <p:sp>
        <p:nvSpPr>
          <p:cNvPr id="12" name="Text 10"/>
          <p:cNvSpPr txBox="1"/>
          <p:nvPr/>
        </p:nvSpPr>
        <p:spPr>
          <a:xfrm>
            <a:off x="7406640" y="4315968"/>
            <a:ext cx="4069080" cy="1837944"/>
          </a:xfrm>
          <a:prstGeom prst="rect">
            <a:avLst/>
          </a:prstGeom>
          <a:noFill/>
          <a:ln/>
        </p:spPr>
        <p:txBody>
          <a:bodyPr wrap="square" lIns="0" tIns="0" rIns="0" bIns="0" rtlCol="0" anchor="t"/>
          <a:lstStyle/>
          <a:p>
            <a:pPr indent="0" marL="0">
              <a:lnSpc>
                <a:spcPct val="105000"/>
              </a:lnSpc>
              <a:buNone/>
            </a:pPr>
            <a:r>
              <a:rPr lang="tr-TR" sz="1100" dirty="0">
                <a:solidFill>
                  <a:srgbClr val="02C39A"/>
                </a:solidFill>
                <a:latin typeface="Consolas" pitchFamily="34" charset="0"/>
                <a:ea typeface="Consolas" pitchFamily="34" charset="-122"/>
                <a:cs typeface="Consolas" pitchFamily="34" charset="-120"/>
              </a:rPr>
              <a:t>$ ./mem_layout</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text  main()        0x555d9ba160c0</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data  initialised   0x555d9ba19010</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bss   uninitialised 0x555d9ba19018</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heap  *dynamic      0x555db649d2a0</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stack local         0x7ffe2b4f6ab4</a:t>
            </a:r>
            <a:endParaRPr lang="tr-TR"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 DURUMLARI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Beş Durumlu Süreç Modeli</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25</a:t>
            </a:r>
            <a:endParaRPr lang="tr-TR" sz="900" dirty="0"/>
          </a:p>
        </p:txBody>
      </p:sp>
      <p:sp>
        <p:nvSpPr>
          <p:cNvPr id="6" name="Shape 4"/>
          <p:cNvSpPr/>
          <p:nvPr/>
        </p:nvSpPr>
        <p:spPr>
          <a:xfrm>
            <a:off x="640080" y="1645920"/>
            <a:ext cx="1737360" cy="685800"/>
          </a:xfrm>
          <a:prstGeom prst="roundRect">
            <a:avLst>
              <a:gd name="adj" fmla="val 40000"/>
            </a:avLst>
          </a:prstGeom>
          <a:solidFill>
            <a:srgbClr val="F2F2F2"/>
          </a:solidFill>
          <a:ln/>
        </p:spPr>
      </p:sp>
      <p:sp>
        <p:nvSpPr>
          <p:cNvPr id="7" name="Text 5"/>
          <p:cNvSpPr txBox="1"/>
          <p:nvPr/>
        </p:nvSpPr>
        <p:spPr>
          <a:xfrm>
            <a:off x="640080" y="1645920"/>
            <a:ext cx="1737360" cy="685800"/>
          </a:xfrm>
          <a:prstGeom prst="rect">
            <a:avLst/>
          </a:prstGeom>
          <a:noFill/>
          <a:ln/>
        </p:spPr>
        <p:txBody>
          <a:bodyPr wrap="square" lIns="0" tIns="0" rIns="0" bIns="0" rtlCol="0" anchor="ctr"/>
          <a:lstStyle/>
          <a:p>
            <a:pPr algn="ctr" indent="0" marL="0">
              <a:buNone/>
            </a:pPr>
            <a:r>
              <a:rPr lang="tr-TR" sz="1600" b="1" dirty="0">
                <a:solidFill>
                  <a:srgbClr val="36454F"/>
                </a:solidFill>
                <a:latin typeface="Cambria" pitchFamily="34" charset="0"/>
                <a:ea typeface="Cambria" pitchFamily="34" charset="-122"/>
                <a:cs typeface="Cambria" pitchFamily="34" charset="-120"/>
              </a:rPr>
              <a:t>yeni</a:t>
            </a:r>
            <a:endParaRPr lang="tr-TR" sz="1600" dirty="0"/>
          </a:p>
        </p:txBody>
      </p:sp>
      <p:sp>
        <p:nvSpPr>
          <p:cNvPr id="8" name="Shape 6"/>
          <p:cNvSpPr/>
          <p:nvPr/>
        </p:nvSpPr>
        <p:spPr>
          <a:xfrm>
            <a:off x="1737360" y="3474720"/>
            <a:ext cx="1737360" cy="685800"/>
          </a:xfrm>
          <a:prstGeom prst="roundRect">
            <a:avLst>
              <a:gd name="adj" fmla="val 40000"/>
            </a:avLst>
          </a:prstGeom>
          <a:solidFill>
            <a:srgbClr val="D7E9E6"/>
          </a:solidFill>
          <a:ln/>
        </p:spPr>
      </p:sp>
      <p:sp>
        <p:nvSpPr>
          <p:cNvPr id="9" name="Text 7"/>
          <p:cNvSpPr txBox="1"/>
          <p:nvPr/>
        </p:nvSpPr>
        <p:spPr>
          <a:xfrm>
            <a:off x="1737360" y="3474720"/>
            <a:ext cx="1737360" cy="685800"/>
          </a:xfrm>
          <a:prstGeom prst="rect">
            <a:avLst/>
          </a:prstGeom>
          <a:noFill/>
          <a:ln/>
        </p:spPr>
        <p:txBody>
          <a:bodyPr wrap="square" lIns="0" tIns="0" rIns="0" bIns="0" rtlCol="0" anchor="ctr"/>
          <a:lstStyle/>
          <a:p>
            <a:pPr algn="ctr" indent="0" marL="0">
              <a:buNone/>
            </a:pPr>
            <a:r>
              <a:rPr lang="tr-TR" sz="1600" b="1" dirty="0">
                <a:solidFill>
                  <a:srgbClr val="212121"/>
                </a:solidFill>
                <a:latin typeface="Cambria" pitchFamily="34" charset="0"/>
                <a:ea typeface="Cambria" pitchFamily="34" charset="-122"/>
                <a:cs typeface="Cambria" pitchFamily="34" charset="-120"/>
              </a:rPr>
              <a:t>hazır</a:t>
            </a:r>
            <a:endParaRPr lang="tr-TR" sz="1600" dirty="0"/>
          </a:p>
        </p:txBody>
      </p:sp>
      <p:sp>
        <p:nvSpPr>
          <p:cNvPr id="10" name="Shape 8"/>
          <p:cNvSpPr/>
          <p:nvPr/>
        </p:nvSpPr>
        <p:spPr>
          <a:xfrm>
            <a:off x="5669280" y="3474720"/>
            <a:ext cx="1737360" cy="685800"/>
          </a:xfrm>
          <a:prstGeom prst="roundRect">
            <a:avLst>
              <a:gd name="adj" fmla="val 40000"/>
            </a:avLst>
          </a:prstGeom>
          <a:solidFill>
            <a:srgbClr val="02C39A"/>
          </a:solidFill>
          <a:ln/>
        </p:spPr>
      </p:sp>
      <p:sp>
        <p:nvSpPr>
          <p:cNvPr id="11" name="Text 9"/>
          <p:cNvSpPr txBox="1"/>
          <p:nvPr/>
        </p:nvSpPr>
        <p:spPr>
          <a:xfrm>
            <a:off x="5669280" y="3474720"/>
            <a:ext cx="1737360" cy="685800"/>
          </a:xfrm>
          <a:prstGeom prst="rect">
            <a:avLst/>
          </a:prstGeom>
          <a:noFill/>
          <a:ln/>
        </p:spPr>
        <p:txBody>
          <a:bodyPr wrap="square" lIns="0" tIns="0" rIns="0" bIns="0" rtlCol="0" anchor="ctr"/>
          <a:lstStyle/>
          <a:p>
            <a:pPr algn="ctr" indent="0" marL="0">
              <a:buNone/>
            </a:pPr>
            <a:r>
              <a:rPr lang="tr-TR" sz="1600" b="1" dirty="0">
                <a:solidFill>
                  <a:srgbClr val="212121"/>
                </a:solidFill>
                <a:latin typeface="Cambria" pitchFamily="34" charset="0"/>
                <a:ea typeface="Cambria" pitchFamily="34" charset="-122"/>
                <a:cs typeface="Cambria" pitchFamily="34" charset="-120"/>
              </a:rPr>
              <a:t>çalışıyor</a:t>
            </a:r>
            <a:endParaRPr lang="tr-TR" sz="1600" dirty="0"/>
          </a:p>
        </p:txBody>
      </p:sp>
      <p:sp>
        <p:nvSpPr>
          <p:cNvPr id="12" name="Shape 10"/>
          <p:cNvSpPr/>
          <p:nvPr/>
        </p:nvSpPr>
        <p:spPr>
          <a:xfrm>
            <a:off x="6583680" y="1645920"/>
            <a:ext cx="1737360" cy="685800"/>
          </a:xfrm>
          <a:prstGeom prst="roundRect">
            <a:avLst>
              <a:gd name="adj" fmla="val 40000"/>
            </a:avLst>
          </a:prstGeom>
          <a:solidFill>
            <a:srgbClr val="F2F2F2"/>
          </a:solidFill>
          <a:ln/>
        </p:spPr>
      </p:sp>
      <p:sp>
        <p:nvSpPr>
          <p:cNvPr id="13" name="Text 11"/>
          <p:cNvSpPr txBox="1"/>
          <p:nvPr/>
        </p:nvSpPr>
        <p:spPr>
          <a:xfrm>
            <a:off x="6583680" y="1645920"/>
            <a:ext cx="1737360" cy="685800"/>
          </a:xfrm>
          <a:prstGeom prst="rect">
            <a:avLst/>
          </a:prstGeom>
          <a:noFill/>
          <a:ln/>
        </p:spPr>
        <p:txBody>
          <a:bodyPr wrap="square" lIns="0" tIns="0" rIns="0" bIns="0" rtlCol="0" anchor="ctr"/>
          <a:lstStyle/>
          <a:p>
            <a:pPr algn="ctr" indent="0" marL="0">
              <a:buNone/>
            </a:pPr>
            <a:r>
              <a:rPr lang="tr-TR" sz="1600" b="1" dirty="0">
                <a:solidFill>
                  <a:srgbClr val="36454F"/>
                </a:solidFill>
                <a:latin typeface="Cambria" pitchFamily="34" charset="0"/>
                <a:ea typeface="Cambria" pitchFamily="34" charset="-122"/>
                <a:cs typeface="Cambria" pitchFamily="34" charset="-120"/>
              </a:rPr>
              <a:t>sonlandı</a:t>
            </a:r>
            <a:endParaRPr lang="tr-TR" sz="1600" dirty="0"/>
          </a:p>
        </p:txBody>
      </p:sp>
      <p:sp>
        <p:nvSpPr>
          <p:cNvPr id="14" name="Shape 12"/>
          <p:cNvSpPr/>
          <p:nvPr/>
        </p:nvSpPr>
        <p:spPr>
          <a:xfrm>
            <a:off x="3703320" y="5212080"/>
            <a:ext cx="1737360" cy="685800"/>
          </a:xfrm>
          <a:prstGeom prst="roundRect">
            <a:avLst>
              <a:gd name="adj" fmla="val 40000"/>
            </a:avLst>
          </a:prstGeom>
          <a:solidFill>
            <a:srgbClr val="50808E"/>
          </a:solidFill>
          <a:ln/>
        </p:spPr>
      </p:sp>
      <p:sp>
        <p:nvSpPr>
          <p:cNvPr id="15" name="Text 13"/>
          <p:cNvSpPr txBox="1"/>
          <p:nvPr/>
        </p:nvSpPr>
        <p:spPr>
          <a:xfrm>
            <a:off x="3703320" y="5212080"/>
            <a:ext cx="1737360" cy="685800"/>
          </a:xfrm>
          <a:prstGeom prst="rect">
            <a:avLst/>
          </a:prstGeom>
          <a:noFill/>
          <a:ln/>
        </p:spPr>
        <p:txBody>
          <a:bodyPr wrap="square" lIns="0" tIns="0" rIns="0" bIns="0" rtlCol="0" anchor="ctr"/>
          <a:lstStyle/>
          <a:p>
            <a:pPr algn="ctr" indent="0" marL="0">
              <a:buNone/>
            </a:pPr>
            <a:r>
              <a:rPr lang="tr-TR" sz="1600" b="1" dirty="0">
                <a:solidFill>
                  <a:srgbClr val="FFFFFF"/>
                </a:solidFill>
                <a:latin typeface="Cambria" pitchFamily="34" charset="0"/>
                <a:ea typeface="Cambria" pitchFamily="34" charset="-122"/>
                <a:cs typeface="Cambria" pitchFamily="34" charset="-120"/>
              </a:rPr>
              <a:t>bekliyor</a:t>
            </a:r>
            <a:endParaRPr lang="tr-TR" sz="1600" dirty="0"/>
          </a:p>
        </p:txBody>
      </p:sp>
      <p:sp>
        <p:nvSpPr>
          <p:cNvPr id="16" name="Shape 14"/>
          <p:cNvSpPr/>
          <p:nvPr/>
        </p:nvSpPr>
        <p:spPr>
          <a:xfrm>
            <a:off x="1463040" y="2331720"/>
            <a:ext cx="822960" cy="1143000"/>
          </a:xfrm>
          <a:prstGeom prst="line">
            <a:avLst/>
          </a:prstGeom>
          <a:noFill/>
          <a:ln w="25400">
            <a:solidFill>
              <a:srgbClr val="36454F"/>
            </a:solidFill>
            <a:prstDash val="solid"/>
            <a:tailEnd type="triangle"/>
          </a:ln>
        </p:spPr>
      </p:sp>
      <p:sp>
        <p:nvSpPr>
          <p:cNvPr id="17" name="Text 15"/>
          <p:cNvSpPr txBox="1"/>
          <p:nvPr/>
        </p:nvSpPr>
        <p:spPr>
          <a:xfrm>
            <a:off x="137160" y="2651760"/>
            <a:ext cx="1371600" cy="274320"/>
          </a:xfrm>
          <a:prstGeom prst="rect">
            <a:avLst/>
          </a:prstGeom>
          <a:noFill/>
          <a:ln/>
        </p:spPr>
        <p:txBody>
          <a:bodyPr wrap="square" lIns="0" tIns="0" rIns="0" bIns="0" rtlCol="0" anchor="t"/>
          <a:lstStyle/>
          <a:p>
            <a:pPr algn="r" indent="0" marL="0">
              <a:buNone/>
            </a:pPr>
            <a:r>
              <a:rPr lang="tr-TR" sz="1200" b="1" dirty="0">
                <a:solidFill>
                  <a:srgbClr val="028090"/>
                </a:solidFill>
                <a:latin typeface="Calibri" pitchFamily="34" charset="0"/>
                <a:ea typeface="Calibri" pitchFamily="34" charset="-122"/>
                <a:cs typeface="Calibri" pitchFamily="34" charset="-120"/>
              </a:rPr>
              <a:t>kabul edildi</a:t>
            </a:r>
            <a:endParaRPr lang="tr-TR" sz="1200" dirty="0"/>
          </a:p>
        </p:txBody>
      </p:sp>
      <p:sp>
        <p:nvSpPr>
          <p:cNvPr id="18" name="Shape 16"/>
          <p:cNvSpPr/>
          <p:nvPr/>
        </p:nvSpPr>
        <p:spPr>
          <a:xfrm>
            <a:off x="3474720" y="3657600"/>
            <a:ext cx="2194560" cy="91"/>
          </a:xfrm>
          <a:prstGeom prst="line">
            <a:avLst/>
          </a:prstGeom>
          <a:noFill/>
          <a:ln w="25400">
            <a:solidFill>
              <a:srgbClr val="36454F"/>
            </a:solidFill>
            <a:prstDash val="solid"/>
            <a:tailEnd type="triangle"/>
          </a:ln>
        </p:spPr>
      </p:sp>
      <p:sp>
        <p:nvSpPr>
          <p:cNvPr id="19" name="Text 17"/>
          <p:cNvSpPr txBox="1"/>
          <p:nvPr/>
        </p:nvSpPr>
        <p:spPr>
          <a:xfrm>
            <a:off x="3566160" y="3246120"/>
            <a:ext cx="2560320" cy="274320"/>
          </a:xfrm>
          <a:prstGeom prst="rect">
            <a:avLst/>
          </a:prstGeom>
          <a:noFill/>
          <a:ln/>
        </p:spPr>
        <p:txBody>
          <a:bodyPr wrap="square" lIns="0" tIns="0" rIns="0" bIns="0" rtlCol="0" anchor="t"/>
          <a:lstStyle/>
          <a:p>
            <a:pPr algn="ctr" indent="0" marL="0">
              <a:buNone/>
            </a:pPr>
            <a:r>
              <a:rPr lang="tr-TR" sz="1200" b="1" dirty="0">
                <a:solidFill>
                  <a:srgbClr val="028090"/>
                </a:solidFill>
                <a:latin typeface="Calibri" pitchFamily="34" charset="0"/>
                <a:ea typeface="Calibri" pitchFamily="34" charset="-122"/>
                <a:cs typeface="Calibri" pitchFamily="34" charset="-120"/>
              </a:rPr>
              <a:t>zamanlayıcı görevlendirir</a:t>
            </a:r>
            <a:endParaRPr lang="tr-TR" sz="1200" dirty="0"/>
          </a:p>
        </p:txBody>
      </p:sp>
      <p:sp>
        <p:nvSpPr>
          <p:cNvPr id="20" name="Shape 18"/>
          <p:cNvSpPr/>
          <p:nvPr/>
        </p:nvSpPr>
        <p:spPr>
          <a:xfrm flipH="1">
            <a:off x="3474720" y="3977640"/>
            <a:ext cx="2194560" cy="91"/>
          </a:xfrm>
          <a:prstGeom prst="line">
            <a:avLst/>
          </a:prstGeom>
          <a:noFill/>
          <a:ln w="25400">
            <a:solidFill>
              <a:srgbClr val="36454F"/>
            </a:solidFill>
            <a:prstDash val="solid"/>
            <a:tailEnd type="triangle"/>
          </a:ln>
        </p:spPr>
      </p:sp>
      <p:sp>
        <p:nvSpPr>
          <p:cNvPr id="21" name="Text 19"/>
          <p:cNvSpPr txBox="1"/>
          <p:nvPr/>
        </p:nvSpPr>
        <p:spPr>
          <a:xfrm>
            <a:off x="3520440" y="4206240"/>
            <a:ext cx="2651760" cy="274320"/>
          </a:xfrm>
          <a:prstGeom prst="rect">
            <a:avLst/>
          </a:prstGeom>
          <a:noFill/>
          <a:ln/>
        </p:spPr>
        <p:txBody>
          <a:bodyPr wrap="square" lIns="0" tIns="0" rIns="0" bIns="0" rtlCol="0" anchor="t"/>
          <a:lstStyle/>
          <a:p>
            <a:pPr algn="ctr" indent="0" marL="0">
              <a:buNone/>
            </a:pPr>
            <a:r>
              <a:rPr lang="tr-TR" sz="1200" b="1" dirty="0">
                <a:solidFill>
                  <a:srgbClr val="028090"/>
                </a:solidFill>
                <a:latin typeface="Calibri" pitchFamily="34" charset="0"/>
                <a:ea typeface="Calibri" pitchFamily="34" charset="-122"/>
                <a:cs typeface="Calibri" pitchFamily="34" charset="-120"/>
              </a:rPr>
              <a:t>kesme (zaman dilimi bitti)</a:t>
            </a:r>
            <a:endParaRPr lang="tr-TR" sz="1200" dirty="0"/>
          </a:p>
        </p:txBody>
      </p:sp>
      <p:sp>
        <p:nvSpPr>
          <p:cNvPr id="22" name="Shape 20"/>
          <p:cNvSpPr/>
          <p:nvPr/>
        </p:nvSpPr>
        <p:spPr>
          <a:xfrm flipV="1">
            <a:off x="6858000" y="2331720"/>
            <a:ext cx="274320" cy="1143000"/>
          </a:xfrm>
          <a:prstGeom prst="line">
            <a:avLst/>
          </a:prstGeom>
          <a:noFill/>
          <a:ln w="25400">
            <a:solidFill>
              <a:srgbClr val="36454F"/>
            </a:solidFill>
            <a:prstDash val="solid"/>
            <a:tailEnd type="triangle"/>
          </a:ln>
        </p:spPr>
      </p:sp>
      <p:sp>
        <p:nvSpPr>
          <p:cNvPr id="23" name="Text 21"/>
          <p:cNvSpPr txBox="1"/>
          <p:nvPr/>
        </p:nvSpPr>
        <p:spPr>
          <a:xfrm>
            <a:off x="7086600" y="2788920"/>
            <a:ext cx="640080" cy="274320"/>
          </a:xfrm>
          <a:prstGeom prst="rect">
            <a:avLst/>
          </a:prstGeom>
          <a:noFill/>
          <a:ln/>
        </p:spPr>
        <p:txBody>
          <a:bodyPr wrap="square" lIns="0" tIns="0" rIns="0" bIns="0" rtlCol="0" anchor="t"/>
          <a:lstStyle/>
          <a:p>
            <a:pPr indent="0" marL="0">
              <a:buNone/>
            </a:pPr>
            <a:r>
              <a:rPr lang="tr-TR" sz="1200" b="1" dirty="0">
                <a:solidFill>
                  <a:srgbClr val="028090"/>
                </a:solidFill>
                <a:latin typeface="Calibri" pitchFamily="34" charset="0"/>
                <a:ea typeface="Calibri" pitchFamily="34" charset="-122"/>
                <a:cs typeface="Calibri" pitchFamily="34" charset="-120"/>
              </a:rPr>
              <a:t>çıkış</a:t>
            </a:r>
            <a:endParaRPr lang="tr-TR" sz="1200" dirty="0"/>
          </a:p>
        </p:txBody>
      </p:sp>
      <p:sp>
        <p:nvSpPr>
          <p:cNvPr id="24" name="Shape 22"/>
          <p:cNvSpPr/>
          <p:nvPr/>
        </p:nvSpPr>
        <p:spPr>
          <a:xfrm flipH="1">
            <a:off x="5257800" y="4160520"/>
            <a:ext cx="868680" cy="1051560"/>
          </a:xfrm>
          <a:prstGeom prst="line">
            <a:avLst/>
          </a:prstGeom>
          <a:noFill/>
          <a:ln w="25400">
            <a:solidFill>
              <a:srgbClr val="36454F"/>
            </a:solidFill>
            <a:prstDash val="solid"/>
            <a:tailEnd type="triangle"/>
          </a:ln>
        </p:spPr>
      </p:sp>
      <p:sp>
        <p:nvSpPr>
          <p:cNvPr id="25" name="Text 23"/>
          <p:cNvSpPr txBox="1"/>
          <p:nvPr/>
        </p:nvSpPr>
        <p:spPr>
          <a:xfrm>
            <a:off x="5806440" y="4663440"/>
            <a:ext cx="2194560" cy="274320"/>
          </a:xfrm>
          <a:prstGeom prst="rect">
            <a:avLst/>
          </a:prstGeom>
          <a:noFill/>
          <a:ln/>
        </p:spPr>
        <p:txBody>
          <a:bodyPr wrap="square" lIns="0" tIns="0" rIns="0" bIns="0" rtlCol="0" anchor="t"/>
          <a:lstStyle/>
          <a:p>
            <a:pPr indent="0" marL="0">
              <a:buNone/>
            </a:pPr>
            <a:r>
              <a:rPr lang="tr-TR" sz="1200" b="1" dirty="0">
                <a:solidFill>
                  <a:srgbClr val="028090"/>
                </a:solidFill>
                <a:latin typeface="Calibri" pitchFamily="34" charset="0"/>
                <a:ea typeface="Calibri" pitchFamily="34" charset="-122"/>
                <a:cs typeface="Calibri" pitchFamily="34" charset="-120"/>
              </a:rPr>
              <a:t>G/Ç ya da olay bekleme</a:t>
            </a:r>
            <a:endParaRPr lang="tr-TR" sz="1200" dirty="0"/>
          </a:p>
        </p:txBody>
      </p:sp>
      <p:sp>
        <p:nvSpPr>
          <p:cNvPr id="26" name="Shape 24"/>
          <p:cNvSpPr/>
          <p:nvPr/>
        </p:nvSpPr>
        <p:spPr>
          <a:xfrm flipH="1" flipV="1">
            <a:off x="2560320" y="4160520"/>
            <a:ext cx="1325880" cy="1051560"/>
          </a:xfrm>
          <a:prstGeom prst="line">
            <a:avLst/>
          </a:prstGeom>
          <a:noFill/>
          <a:ln w="25400">
            <a:solidFill>
              <a:srgbClr val="36454F"/>
            </a:solidFill>
            <a:prstDash val="solid"/>
            <a:tailEnd type="triangle"/>
          </a:ln>
        </p:spPr>
      </p:sp>
      <p:sp>
        <p:nvSpPr>
          <p:cNvPr id="27" name="Text 25"/>
          <p:cNvSpPr txBox="1"/>
          <p:nvPr/>
        </p:nvSpPr>
        <p:spPr>
          <a:xfrm>
            <a:off x="777240" y="4663440"/>
            <a:ext cx="2377440" cy="274320"/>
          </a:xfrm>
          <a:prstGeom prst="rect">
            <a:avLst/>
          </a:prstGeom>
          <a:noFill/>
          <a:ln/>
        </p:spPr>
        <p:txBody>
          <a:bodyPr wrap="square" lIns="0" tIns="0" rIns="0" bIns="0" rtlCol="0" anchor="t"/>
          <a:lstStyle/>
          <a:p>
            <a:pPr algn="r" indent="0" marL="0">
              <a:buNone/>
            </a:pPr>
            <a:r>
              <a:rPr lang="tr-TR" sz="1200" b="1" dirty="0">
                <a:solidFill>
                  <a:srgbClr val="028090"/>
                </a:solidFill>
                <a:latin typeface="Calibri" pitchFamily="34" charset="0"/>
                <a:ea typeface="Calibri" pitchFamily="34" charset="-122"/>
                <a:cs typeface="Calibri" pitchFamily="34" charset="-120"/>
              </a:rPr>
              <a:t>G/Ç ya da olay tamamlandı</a:t>
            </a:r>
            <a:endParaRPr lang="tr-TR" sz="1200" dirty="0"/>
          </a:p>
        </p:txBody>
      </p:sp>
      <p:sp>
        <p:nvSpPr>
          <p:cNvPr id="28" name="Shape 26"/>
          <p:cNvSpPr/>
          <p:nvPr/>
        </p:nvSpPr>
        <p:spPr>
          <a:xfrm>
            <a:off x="8549640" y="1508760"/>
            <a:ext cx="3108960" cy="4754880"/>
          </a:xfrm>
          <a:prstGeom prst="roundRect">
            <a:avLst>
              <a:gd name="adj" fmla="val 1765"/>
            </a:avLst>
          </a:prstGeom>
          <a:solidFill>
            <a:srgbClr val="F2F2F2"/>
          </a:solidFill>
          <a:ln/>
          <a:effectLst>
            <a:outerShdw sx="100000" sy="100000" kx="0" ky="0" algn="bl" rotWithShape="0" blurRad="101600" dist="25400" dir="5400000">
              <a:srgbClr val="000000">
                <a:alpha val="12000"/>
              </a:srgbClr>
            </a:outerShdw>
          </a:effectLst>
        </p:spPr>
      </p:sp>
      <p:sp>
        <p:nvSpPr>
          <p:cNvPr id="29" name="Text 27"/>
          <p:cNvSpPr txBox="1"/>
          <p:nvPr/>
        </p:nvSpPr>
        <p:spPr>
          <a:xfrm>
            <a:off x="8778240" y="1691640"/>
            <a:ext cx="26517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Kurallar</a:t>
            </a:r>
            <a:endParaRPr lang="tr-TR" sz="1500" dirty="0"/>
          </a:p>
        </p:txBody>
      </p:sp>
      <p:sp>
        <p:nvSpPr>
          <p:cNvPr id="30" name="Text 28"/>
          <p:cNvSpPr txBox="1"/>
          <p:nvPr/>
        </p:nvSpPr>
        <p:spPr>
          <a:xfrm>
            <a:off x="8778240" y="2148840"/>
            <a:ext cx="2651760" cy="3977640"/>
          </a:xfrm>
          <a:prstGeom prst="rect">
            <a:avLst/>
          </a:prstGeom>
          <a:noFill/>
          <a:ln/>
        </p:spPr>
        <p:txBody>
          <a:bodyPr wrap="square" lIns="0" tIns="0" rIns="0" bIns="0" rtlCol="0" anchor="t"/>
          <a:lstStyle/>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İşlemci çekirdeği başına bir çalışan süreç.</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Aynı anda çok sayıda süreç hazır ya da bekliyor olabilir.</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Hazır ve bekleyen süreçler kuyruklarda durur: PCB'lerinin bağlı listeleri.</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Linux ps'te: R = çalışıyor ya da hazır, S = bekliyor (uyuyor), Z = zombi.</a:t>
            </a:r>
            <a:endParaRPr lang="tr-TR"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 DURUMLARI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Her Geçişi Ne Tetikler?</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26</a:t>
            </a:r>
            <a:endParaRPr lang="tr-TR"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2651760"/>
                <a:gridCol w="4206240"/>
                <a:gridCol w="4251960"/>
              </a:tblGrid>
              <a:tr h="0">
                <a:tc>
                  <a:txBody>
                    <a:bodyPr/>
                    <a:lstStyle/>
                    <a:p>
                      <a:pPr indent="0" marL="0">
                        <a:buNone/>
                      </a:pPr>
                      <a:r>
                        <a:rPr lang="tr-TR" sz="1400" b="1" dirty="0">
                          <a:solidFill>
                            <a:srgbClr val="FFFFFF"/>
                          </a:solidFill>
                          <a:latin typeface="Cambria" pitchFamily="34" charset="0"/>
                          <a:ea typeface="Cambria" pitchFamily="34" charset="-122"/>
                          <a:cs typeface="Cambria" pitchFamily="34" charset="-120"/>
                        </a:rPr>
                        <a:t>Geçiş</a:t>
                      </a:r>
                      <a:endParaRPr lang="tr-TR" sz="140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c>
                  <a:txBody>
                    <a:bodyPr/>
                    <a:lstStyle/>
                    <a:p>
                      <a:pPr indent="0" marL="0">
                        <a:buNone/>
                      </a:pPr>
                      <a:r>
                        <a:rPr lang="tr-TR" sz="1400" b="1" dirty="0">
                          <a:solidFill>
                            <a:srgbClr val="FFFFFF"/>
                          </a:solidFill>
                          <a:latin typeface="Cambria" pitchFamily="34" charset="0"/>
                          <a:ea typeface="Cambria" pitchFamily="34" charset="-122"/>
                          <a:cs typeface="Cambria" pitchFamily="34" charset="-120"/>
                        </a:rPr>
                        <a:t>Tetikleyen</a:t>
                      </a:r>
                      <a:endParaRPr lang="tr-TR" sz="140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c>
                  <a:txBody>
                    <a:bodyPr/>
                    <a:lstStyle/>
                    <a:p>
                      <a:pPr indent="0" marL="0">
                        <a:buNone/>
                      </a:pPr>
                      <a:r>
                        <a:rPr lang="tr-TR" sz="1400" b="1" dirty="0">
                          <a:solidFill>
                            <a:srgbClr val="FFFFFF"/>
                          </a:solidFill>
                          <a:latin typeface="Cambria" pitchFamily="34" charset="0"/>
                          <a:ea typeface="Cambria" pitchFamily="34" charset="-122"/>
                          <a:cs typeface="Cambria" pitchFamily="34" charset="-120"/>
                        </a:rPr>
                        <a:t>Gündelik örnek</a:t>
                      </a:r>
                      <a:endParaRPr lang="tr-TR" sz="1400" dirty="0">
                        <a:latin typeface="Cambria" charset="0"/>
                        <a:ea typeface="Cambria" charset="0"/>
                        <a:cs typeface="Cambria"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36454F"/>
                    </a:solidFill>
                  </a:tcPr>
                </a:tc>
              </a:tr>
              <a:tr h="0">
                <a:tc>
                  <a:txBody>
                    <a:bodyPr/>
                    <a:lstStyle/>
                    <a:p>
                      <a:pPr indent="0" marL="0">
                        <a:buNone/>
                      </a:pPr>
                      <a:r>
                        <a:rPr lang="tr-TR" sz="1300" b="1" dirty="0">
                          <a:solidFill>
                            <a:srgbClr val="3A464C"/>
                          </a:solidFill>
                          <a:latin typeface="Calibri" pitchFamily="34" charset="0"/>
                          <a:ea typeface="Calibri" pitchFamily="34" charset="-122"/>
                          <a:cs typeface="Calibri" pitchFamily="34" charset="-120"/>
                        </a:rPr>
                        <a:t>yeni → hazır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işletim sistemi PCB'yi oluşturdu ve programı yükledi</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./mem_layout yazıp Enter'a basarsınız</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300" b="1" dirty="0">
                          <a:solidFill>
                            <a:srgbClr val="3A464C"/>
                          </a:solidFill>
                          <a:latin typeface="Calibri" pitchFamily="34" charset="0"/>
                          <a:ea typeface="Calibri" pitchFamily="34" charset="-122"/>
                          <a:cs typeface="Calibri" pitchFamily="34" charset="-120"/>
                        </a:rPr>
                        <a:t>hazır → çalışıyor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zamanlayıcı süreci görevlendirir (dispatch)</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işlemci çekirdeği boşalır ve zamanlayıcı onu seçer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r h="0">
                <a:tc>
                  <a:txBody>
                    <a:bodyPr/>
                    <a:lstStyle/>
                    <a:p>
                      <a:pPr indent="0" marL="0">
                        <a:buNone/>
                      </a:pPr>
                      <a:r>
                        <a:rPr lang="tr-TR" sz="1300" b="1" dirty="0">
                          <a:solidFill>
                            <a:srgbClr val="3A464C"/>
                          </a:solidFill>
                          <a:latin typeface="Calibri" pitchFamily="34" charset="0"/>
                          <a:ea typeface="Calibri" pitchFamily="34" charset="-122"/>
                          <a:cs typeface="Calibri" pitchFamily="34" charset="-120"/>
                        </a:rPr>
                        <a:t>çalışıyor → hazır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bir kesme, genellikle zamanlayıcı saat (zaman dilimi doldu)</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başkaları çalışabilsin diye uzun bir hesap duraklatılır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300" b="1" dirty="0">
                          <a:solidFill>
                            <a:srgbClr val="3A464C"/>
                          </a:solidFill>
                          <a:latin typeface="Calibri" pitchFamily="34" charset="0"/>
                          <a:ea typeface="Calibri" pitchFamily="34" charset="-122"/>
                          <a:cs typeface="Calibri" pitchFamily="34" charset="-120"/>
                        </a:rPr>
                        <a:t>çalışıyor → bekliyor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beklemesi gereken bir sistem çağrısı (G/Ç, çocuk, sleep)</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diskten read(); bir çocuk için wait()</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r h="0">
                <a:tc>
                  <a:txBody>
                    <a:bodyPr/>
                    <a:lstStyle/>
                    <a:p>
                      <a:pPr indent="0" marL="0">
                        <a:buNone/>
                      </a:pPr>
                      <a:r>
                        <a:rPr lang="tr-TR" sz="1300" b="1" dirty="0">
                          <a:solidFill>
                            <a:srgbClr val="3A464C"/>
                          </a:solidFill>
                          <a:latin typeface="Calibri" pitchFamily="34" charset="0"/>
                          <a:ea typeface="Calibri" pitchFamily="34" charset="-122"/>
                          <a:cs typeface="Calibri" pitchFamily="34" charset="-120"/>
                        </a:rPr>
                        <a:t>bekliyor → hazır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beklenen olay gerçekleşir (çoğunlukla bir kesme)</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disk kesmesi verinin geldiğini bildirir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2F2F2"/>
                    </a:solidFill>
                  </a:tcPr>
                </a:tc>
              </a:tr>
              <a:tr h="0">
                <a:tc>
                  <a:txBody>
                    <a:bodyPr/>
                    <a:lstStyle/>
                    <a:p>
                      <a:pPr indent="0" marL="0">
                        <a:buNone/>
                      </a:pPr>
                      <a:r>
                        <a:rPr lang="tr-TR" sz="1300" b="1" dirty="0">
                          <a:solidFill>
                            <a:srgbClr val="3A464C"/>
                          </a:solidFill>
                          <a:latin typeface="Calibri" pitchFamily="34" charset="0"/>
                          <a:ea typeface="Calibri" pitchFamily="34" charset="-122"/>
                          <a:cs typeface="Calibri" pitchFamily="34" charset="-120"/>
                        </a:rPr>
                        <a:t>çalışıyor → sonlandı</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exit() ya da ölümcül bir hata</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c>
                  <a:txBody>
                    <a:bodyPr/>
                    <a:lstStyle/>
                    <a:p>
                      <a:pPr indent="0" marL="0">
                        <a:buNone/>
                      </a:pPr>
                      <a:r>
                        <a:rPr lang="tr-TR" sz="1300" dirty="0">
                          <a:solidFill>
                            <a:srgbClr val="3A464C"/>
                          </a:solidFill>
                          <a:latin typeface="Calibri" pitchFamily="34" charset="0"/>
                          <a:ea typeface="Calibri" pitchFamily="34" charset="-122"/>
                          <a:cs typeface="Calibri" pitchFamily="34" charset="-120"/>
                        </a:rPr>
                        <a:t>main() döner; program sıfıra böler</a:t>
                      </a:r>
                      <a:endParaRPr lang="tr-TR" sz="1300" dirty="0">
                        <a:latin typeface="Calibri" charset="0"/>
                        <a:ea typeface="Calibri" charset="0"/>
                        <a:cs typeface="Calibri" charset="0"/>
                      </a:endParaRPr>
                    </a:p>
                  </a:txBody>
                  <a:tcPr marL="101600" marR="101600" marT="63500" marB="63500" anchor="ctr">
                    <a:lnL w="6350" cap="flat" cmpd="sng" algn="ctr">
                      <a:solidFill>
                        <a:srgbClr val="DADFE1"/>
                      </a:solidFill>
                      <a:prstDash val="solid"/>
                      <a:round/>
                      <a:headEnd type="none" w="med" len="med"/>
                      <a:tailEnd type="none" w="med" len="med"/>
                    </a:lnL>
                    <a:lnR w="6350" cap="flat" cmpd="sng" algn="ctr">
                      <a:solidFill>
                        <a:srgbClr val="DADFE1"/>
                      </a:solidFill>
                      <a:prstDash val="solid"/>
                      <a:round/>
                      <a:headEnd type="none" w="med" len="med"/>
                      <a:tailEnd type="none" w="med" len="med"/>
                    </a:lnR>
                    <a:lnT w="6350" cap="flat" cmpd="sng" algn="ctr">
                      <a:solidFill>
                        <a:srgbClr val="DADFE1"/>
                      </a:solidFill>
                      <a:prstDash val="solid"/>
                      <a:round/>
                      <a:headEnd type="none" w="med" len="med"/>
                      <a:tailEnd type="none" w="med" len="med"/>
                    </a:lnT>
                    <a:lnB w="6350" cap="flat" cmpd="sng" algn="ctr">
                      <a:solidFill>
                        <a:srgbClr val="DADFE1"/>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109960" cy="777240"/>
          </a:xfrm>
          <a:prstGeom prst="roundRect">
            <a:avLst>
              <a:gd name="adj" fmla="val 7059"/>
            </a:avLst>
          </a:prstGeom>
          <a:solidFill>
            <a:srgbClr val="36454F"/>
          </a:solidFill>
          <a:ln/>
          <a:effectLst>
            <a:outerShdw sx="100000" sy="100000" kx="0" ky="0" algn="bl" rotWithShape="0" blurRad="101600" dist="25400" dir="5400000">
              <a:srgbClr val="000000">
                <a:alpha val="12000"/>
              </a:srgbClr>
            </a:outerShdw>
          </a:effectLst>
        </p:spPr>
      </p:sp>
      <p:sp>
        <p:nvSpPr>
          <p:cNvPr id="8" name="Text 5"/>
          <p:cNvSpPr txBox="1"/>
          <p:nvPr/>
        </p:nvSpPr>
        <p:spPr>
          <a:xfrm>
            <a:off x="777240" y="5486400"/>
            <a:ext cx="10652760" cy="77724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Bekliyor → çalışıyor geçişi olanaksızdır: uyanan süreç önce hazır kuyruğuna katılır. Sırada kimin çalışacağını seçmek işlemci zamanlamasıdır (4–5. haftalar).</a:t>
            </a:r>
            <a:endParaRPr lang="tr-T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ÇÖZÜMLÜ ÖRNEK</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İki Süreç, Tek İşlemci: Zaman İçinde Durumlar</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27</a:t>
            </a:r>
            <a:endParaRPr lang="tr-TR" sz="900" dirty="0"/>
          </a:p>
        </p:txBody>
      </p:sp>
      <p:sp>
        <p:nvSpPr>
          <p:cNvPr id="6" name="Text 4"/>
          <p:cNvSpPr txBox="1"/>
          <p:nvPr/>
        </p:nvSpPr>
        <p:spPr>
          <a:xfrm>
            <a:off x="548640" y="1691640"/>
            <a:ext cx="640080" cy="566928"/>
          </a:xfrm>
          <a:prstGeom prst="rect">
            <a:avLst/>
          </a:prstGeom>
          <a:noFill/>
          <a:ln/>
        </p:spPr>
        <p:txBody>
          <a:bodyPr wrap="square" lIns="0" tIns="0" rIns="0" bIns="0" rtlCol="0" anchor="ctr"/>
          <a:lstStyle/>
          <a:p>
            <a:pPr indent="0" marL="0">
              <a:buNone/>
            </a:pPr>
            <a:r>
              <a:rPr lang="tr-TR" sz="1600" b="1" dirty="0">
                <a:solidFill>
                  <a:srgbClr val="36454F"/>
                </a:solidFill>
                <a:latin typeface="Cambria" pitchFamily="34" charset="0"/>
                <a:ea typeface="Cambria" pitchFamily="34" charset="-122"/>
                <a:cs typeface="Cambria" pitchFamily="34" charset="-120"/>
              </a:rPr>
              <a:t>A</a:t>
            </a:r>
            <a:endParaRPr lang="tr-TR" sz="1600" dirty="0"/>
          </a:p>
        </p:txBody>
      </p:sp>
      <p:sp>
        <p:nvSpPr>
          <p:cNvPr id="7" name="Shape 5"/>
          <p:cNvSpPr/>
          <p:nvPr/>
        </p:nvSpPr>
        <p:spPr>
          <a:xfrm>
            <a:off x="1389888" y="1691640"/>
            <a:ext cx="2103120" cy="566928"/>
          </a:xfrm>
          <a:prstGeom prst="roundRect">
            <a:avLst>
              <a:gd name="adj" fmla="val 8065"/>
            </a:avLst>
          </a:prstGeom>
          <a:solidFill>
            <a:srgbClr val="02C39A"/>
          </a:solidFill>
          <a:ln/>
        </p:spPr>
      </p:sp>
      <p:sp>
        <p:nvSpPr>
          <p:cNvPr id="8" name="Text 6"/>
          <p:cNvSpPr txBox="1"/>
          <p:nvPr/>
        </p:nvSpPr>
        <p:spPr>
          <a:xfrm>
            <a:off x="1389888" y="1691640"/>
            <a:ext cx="2103120" cy="566928"/>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çalışıyor</a:t>
            </a:r>
            <a:endParaRPr lang="tr-TR" sz="1200" dirty="0"/>
          </a:p>
        </p:txBody>
      </p:sp>
      <p:sp>
        <p:nvSpPr>
          <p:cNvPr id="9" name="Shape 7"/>
          <p:cNvSpPr/>
          <p:nvPr/>
        </p:nvSpPr>
        <p:spPr>
          <a:xfrm>
            <a:off x="3529584" y="1691640"/>
            <a:ext cx="2816352" cy="566928"/>
          </a:xfrm>
          <a:prstGeom prst="roundRect">
            <a:avLst>
              <a:gd name="adj" fmla="val 8065"/>
            </a:avLst>
          </a:prstGeom>
          <a:solidFill>
            <a:srgbClr val="50808E"/>
          </a:solidFill>
          <a:ln/>
        </p:spPr>
      </p:sp>
      <p:sp>
        <p:nvSpPr>
          <p:cNvPr id="10" name="Text 8"/>
          <p:cNvSpPr txBox="1"/>
          <p:nvPr/>
        </p:nvSpPr>
        <p:spPr>
          <a:xfrm>
            <a:off x="3529584" y="1691640"/>
            <a:ext cx="2816352" cy="566928"/>
          </a:xfrm>
          <a:prstGeom prst="rect">
            <a:avLst/>
          </a:prstGeom>
          <a:noFill/>
          <a:ln/>
        </p:spPr>
        <p:txBody>
          <a:bodyPr wrap="square" lIns="38100" tIns="38100" rIns="38100" bIns="38100" rtlCol="0" anchor="ctr"/>
          <a:lstStyle/>
          <a:p>
            <a:pPr algn="ctr" indent="0" marL="0">
              <a:buNone/>
            </a:pPr>
            <a:r>
              <a:rPr lang="tr-TR" sz="1200" dirty="0">
                <a:solidFill>
                  <a:srgbClr val="FFFFFF"/>
                </a:solidFill>
                <a:latin typeface="Calibri" pitchFamily="34" charset="0"/>
                <a:ea typeface="Calibri" pitchFamily="34" charset="-122"/>
                <a:cs typeface="Calibri" pitchFamily="34" charset="-120"/>
              </a:rPr>
              <a:t>bekliyor (disk)</a:t>
            </a:r>
            <a:endParaRPr lang="tr-TR" sz="1200" dirty="0"/>
          </a:p>
        </p:txBody>
      </p:sp>
      <p:sp>
        <p:nvSpPr>
          <p:cNvPr id="11" name="Shape 9"/>
          <p:cNvSpPr/>
          <p:nvPr/>
        </p:nvSpPr>
        <p:spPr>
          <a:xfrm>
            <a:off x="6382512" y="1691640"/>
            <a:ext cx="676656" cy="566928"/>
          </a:xfrm>
          <a:prstGeom prst="roundRect">
            <a:avLst>
              <a:gd name="adj" fmla="val 8065"/>
            </a:avLst>
          </a:prstGeom>
          <a:solidFill>
            <a:srgbClr val="D7E9E6"/>
          </a:solidFill>
          <a:ln/>
        </p:spPr>
      </p:sp>
      <p:sp>
        <p:nvSpPr>
          <p:cNvPr id="12" name="Text 10"/>
          <p:cNvSpPr txBox="1"/>
          <p:nvPr/>
        </p:nvSpPr>
        <p:spPr>
          <a:xfrm>
            <a:off x="6382512" y="1691640"/>
            <a:ext cx="676656" cy="566928"/>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alibri" pitchFamily="34" charset="0"/>
                <a:ea typeface="Calibri" pitchFamily="34" charset="-122"/>
                <a:cs typeface="Calibri" pitchFamily="34" charset="-120"/>
              </a:rPr>
              <a:t>hazır</a:t>
            </a:r>
            <a:endParaRPr lang="tr-TR" sz="1200" dirty="0"/>
          </a:p>
        </p:txBody>
      </p:sp>
      <p:sp>
        <p:nvSpPr>
          <p:cNvPr id="13" name="Shape 11"/>
          <p:cNvSpPr/>
          <p:nvPr/>
        </p:nvSpPr>
        <p:spPr>
          <a:xfrm>
            <a:off x="7095744" y="1691640"/>
            <a:ext cx="1389888" cy="566928"/>
          </a:xfrm>
          <a:prstGeom prst="roundRect">
            <a:avLst>
              <a:gd name="adj" fmla="val 8065"/>
            </a:avLst>
          </a:prstGeom>
          <a:solidFill>
            <a:srgbClr val="02C39A"/>
          </a:solidFill>
          <a:ln/>
        </p:spPr>
      </p:sp>
      <p:sp>
        <p:nvSpPr>
          <p:cNvPr id="14" name="Text 12"/>
          <p:cNvSpPr txBox="1"/>
          <p:nvPr/>
        </p:nvSpPr>
        <p:spPr>
          <a:xfrm>
            <a:off x="7095744" y="1691640"/>
            <a:ext cx="1389888" cy="566928"/>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çalışıyor</a:t>
            </a:r>
            <a:endParaRPr lang="tr-TR" sz="1200" dirty="0"/>
          </a:p>
        </p:txBody>
      </p:sp>
      <p:sp>
        <p:nvSpPr>
          <p:cNvPr id="15" name="Text 13"/>
          <p:cNvSpPr txBox="1"/>
          <p:nvPr/>
        </p:nvSpPr>
        <p:spPr>
          <a:xfrm>
            <a:off x="548640" y="2395728"/>
            <a:ext cx="640080" cy="566928"/>
          </a:xfrm>
          <a:prstGeom prst="rect">
            <a:avLst/>
          </a:prstGeom>
          <a:noFill/>
          <a:ln/>
        </p:spPr>
        <p:txBody>
          <a:bodyPr wrap="square" lIns="0" tIns="0" rIns="0" bIns="0" rtlCol="0" anchor="ctr"/>
          <a:lstStyle/>
          <a:p>
            <a:pPr indent="0" marL="0">
              <a:buNone/>
            </a:pPr>
            <a:r>
              <a:rPr lang="tr-TR" sz="1600" b="1" dirty="0">
                <a:solidFill>
                  <a:srgbClr val="36454F"/>
                </a:solidFill>
                <a:latin typeface="Cambria" pitchFamily="34" charset="0"/>
                <a:ea typeface="Cambria" pitchFamily="34" charset="-122"/>
                <a:cs typeface="Cambria" pitchFamily="34" charset="-120"/>
              </a:rPr>
              <a:t>B</a:t>
            </a:r>
            <a:endParaRPr lang="tr-TR" sz="1600" dirty="0"/>
          </a:p>
        </p:txBody>
      </p:sp>
      <p:sp>
        <p:nvSpPr>
          <p:cNvPr id="16" name="Shape 14"/>
          <p:cNvSpPr/>
          <p:nvPr/>
        </p:nvSpPr>
        <p:spPr>
          <a:xfrm>
            <a:off x="1389888" y="2395728"/>
            <a:ext cx="2103120" cy="566928"/>
          </a:xfrm>
          <a:prstGeom prst="roundRect">
            <a:avLst>
              <a:gd name="adj" fmla="val 8065"/>
            </a:avLst>
          </a:prstGeom>
          <a:solidFill>
            <a:srgbClr val="D7E9E6"/>
          </a:solidFill>
          <a:ln/>
        </p:spPr>
      </p:sp>
      <p:sp>
        <p:nvSpPr>
          <p:cNvPr id="17" name="Text 15"/>
          <p:cNvSpPr txBox="1"/>
          <p:nvPr/>
        </p:nvSpPr>
        <p:spPr>
          <a:xfrm>
            <a:off x="1389888" y="2395728"/>
            <a:ext cx="2103120" cy="566928"/>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alibri" pitchFamily="34" charset="0"/>
                <a:ea typeface="Calibri" pitchFamily="34" charset="-122"/>
                <a:cs typeface="Calibri" pitchFamily="34" charset="-120"/>
              </a:rPr>
              <a:t>hazır</a:t>
            </a:r>
            <a:endParaRPr lang="tr-TR" sz="1200" dirty="0"/>
          </a:p>
        </p:txBody>
      </p:sp>
      <p:sp>
        <p:nvSpPr>
          <p:cNvPr id="18" name="Shape 16"/>
          <p:cNvSpPr/>
          <p:nvPr/>
        </p:nvSpPr>
        <p:spPr>
          <a:xfrm>
            <a:off x="3529584" y="2395728"/>
            <a:ext cx="3529584" cy="566928"/>
          </a:xfrm>
          <a:prstGeom prst="roundRect">
            <a:avLst>
              <a:gd name="adj" fmla="val 8065"/>
            </a:avLst>
          </a:prstGeom>
          <a:solidFill>
            <a:srgbClr val="02C39A"/>
          </a:solidFill>
          <a:ln/>
        </p:spPr>
      </p:sp>
      <p:sp>
        <p:nvSpPr>
          <p:cNvPr id="19" name="Text 17"/>
          <p:cNvSpPr txBox="1"/>
          <p:nvPr/>
        </p:nvSpPr>
        <p:spPr>
          <a:xfrm>
            <a:off x="3529584" y="2395728"/>
            <a:ext cx="3529584" cy="566928"/>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çalışıyor</a:t>
            </a:r>
            <a:endParaRPr lang="tr-TR" sz="1200" dirty="0"/>
          </a:p>
        </p:txBody>
      </p:sp>
      <p:sp>
        <p:nvSpPr>
          <p:cNvPr id="20" name="Shape 18"/>
          <p:cNvSpPr/>
          <p:nvPr/>
        </p:nvSpPr>
        <p:spPr>
          <a:xfrm>
            <a:off x="7095744" y="2395728"/>
            <a:ext cx="1389888" cy="566928"/>
          </a:xfrm>
          <a:prstGeom prst="roundRect">
            <a:avLst>
              <a:gd name="adj" fmla="val 8065"/>
            </a:avLst>
          </a:prstGeom>
          <a:solidFill>
            <a:srgbClr val="D7E9E6"/>
          </a:solidFill>
          <a:ln/>
        </p:spPr>
      </p:sp>
      <p:sp>
        <p:nvSpPr>
          <p:cNvPr id="21" name="Text 19"/>
          <p:cNvSpPr txBox="1"/>
          <p:nvPr/>
        </p:nvSpPr>
        <p:spPr>
          <a:xfrm>
            <a:off x="7095744" y="2395728"/>
            <a:ext cx="1389888" cy="566928"/>
          </a:xfrm>
          <a:prstGeom prst="rect">
            <a:avLst/>
          </a:prstGeom>
          <a:noFill/>
          <a:ln/>
        </p:spPr>
        <p:txBody>
          <a:bodyPr wrap="square" lIns="38100" tIns="38100" rIns="38100" bIns="38100" rtlCol="0" anchor="ctr"/>
          <a:lstStyle/>
          <a:p>
            <a:pPr algn="ctr" indent="0" marL="0">
              <a:buNone/>
            </a:pPr>
            <a:r>
              <a:rPr lang="tr-TR" sz="1200" dirty="0">
                <a:solidFill>
                  <a:srgbClr val="212121"/>
                </a:solidFill>
                <a:latin typeface="Calibri" pitchFamily="34" charset="0"/>
                <a:ea typeface="Calibri" pitchFamily="34" charset="-122"/>
                <a:cs typeface="Calibri" pitchFamily="34" charset="-120"/>
              </a:rPr>
              <a:t>hazır</a:t>
            </a:r>
            <a:endParaRPr lang="tr-TR" sz="1200" dirty="0"/>
          </a:p>
        </p:txBody>
      </p:sp>
      <p:sp>
        <p:nvSpPr>
          <p:cNvPr id="22" name="Shape 20"/>
          <p:cNvSpPr/>
          <p:nvPr/>
        </p:nvSpPr>
        <p:spPr>
          <a:xfrm>
            <a:off x="8522208" y="2395728"/>
            <a:ext cx="1389888" cy="566928"/>
          </a:xfrm>
          <a:prstGeom prst="roundRect">
            <a:avLst>
              <a:gd name="adj" fmla="val 8065"/>
            </a:avLst>
          </a:prstGeom>
          <a:solidFill>
            <a:srgbClr val="02C39A"/>
          </a:solidFill>
          <a:ln/>
        </p:spPr>
      </p:sp>
      <p:sp>
        <p:nvSpPr>
          <p:cNvPr id="23" name="Text 21"/>
          <p:cNvSpPr txBox="1"/>
          <p:nvPr/>
        </p:nvSpPr>
        <p:spPr>
          <a:xfrm>
            <a:off x="8522208" y="2395728"/>
            <a:ext cx="1389888" cy="566928"/>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çalışıyor</a:t>
            </a:r>
            <a:endParaRPr lang="tr-TR" sz="1200" dirty="0"/>
          </a:p>
        </p:txBody>
      </p:sp>
      <p:sp>
        <p:nvSpPr>
          <p:cNvPr id="24" name="Text 22"/>
          <p:cNvSpPr txBox="1"/>
          <p:nvPr/>
        </p:nvSpPr>
        <p:spPr>
          <a:xfrm>
            <a:off x="1188720"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0</a:t>
            </a:r>
            <a:endParaRPr lang="tr-TR" sz="1100" dirty="0"/>
          </a:p>
        </p:txBody>
      </p:sp>
      <p:sp>
        <p:nvSpPr>
          <p:cNvPr id="25" name="Text 23"/>
          <p:cNvSpPr txBox="1"/>
          <p:nvPr/>
        </p:nvSpPr>
        <p:spPr>
          <a:xfrm>
            <a:off x="1901952"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1</a:t>
            </a:r>
            <a:endParaRPr lang="tr-TR" sz="1100" dirty="0"/>
          </a:p>
        </p:txBody>
      </p:sp>
      <p:sp>
        <p:nvSpPr>
          <p:cNvPr id="26" name="Text 24"/>
          <p:cNvSpPr txBox="1"/>
          <p:nvPr/>
        </p:nvSpPr>
        <p:spPr>
          <a:xfrm>
            <a:off x="2615184"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2</a:t>
            </a:r>
            <a:endParaRPr lang="tr-TR" sz="1100" dirty="0"/>
          </a:p>
        </p:txBody>
      </p:sp>
      <p:sp>
        <p:nvSpPr>
          <p:cNvPr id="27" name="Text 25"/>
          <p:cNvSpPr txBox="1"/>
          <p:nvPr/>
        </p:nvSpPr>
        <p:spPr>
          <a:xfrm>
            <a:off x="3328416"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3</a:t>
            </a:r>
            <a:endParaRPr lang="tr-TR" sz="1100" dirty="0"/>
          </a:p>
        </p:txBody>
      </p:sp>
      <p:sp>
        <p:nvSpPr>
          <p:cNvPr id="28" name="Text 26"/>
          <p:cNvSpPr txBox="1"/>
          <p:nvPr/>
        </p:nvSpPr>
        <p:spPr>
          <a:xfrm>
            <a:off x="4041648"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4</a:t>
            </a:r>
            <a:endParaRPr lang="tr-TR" sz="1100" dirty="0"/>
          </a:p>
        </p:txBody>
      </p:sp>
      <p:sp>
        <p:nvSpPr>
          <p:cNvPr id="29" name="Text 27"/>
          <p:cNvSpPr txBox="1"/>
          <p:nvPr/>
        </p:nvSpPr>
        <p:spPr>
          <a:xfrm>
            <a:off x="4754880"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5</a:t>
            </a:r>
            <a:endParaRPr lang="tr-TR" sz="1100" dirty="0"/>
          </a:p>
        </p:txBody>
      </p:sp>
      <p:sp>
        <p:nvSpPr>
          <p:cNvPr id="30" name="Text 28"/>
          <p:cNvSpPr txBox="1"/>
          <p:nvPr/>
        </p:nvSpPr>
        <p:spPr>
          <a:xfrm>
            <a:off x="5468112"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6</a:t>
            </a:r>
            <a:endParaRPr lang="tr-TR" sz="1100" dirty="0"/>
          </a:p>
        </p:txBody>
      </p:sp>
      <p:sp>
        <p:nvSpPr>
          <p:cNvPr id="31" name="Text 29"/>
          <p:cNvSpPr txBox="1"/>
          <p:nvPr/>
        </p:nvSpPr>
        <p:spPr>
          <a:xfrm>
            <a:off x="6181344"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7</a:t>
            </a:r>
            <a:endParaRPr lang="tr-TR" sz="1100" dirty="0"/>
          </a:p>
        </p:txBody>
      </p:sp>
      <p:sp>
        <p:nvSpPr>
          <p:cNvPr id="32" name="Text 30"/>
          <p:cNvSpPr txBox="1"/>
          <p:nvPr/>
        </p:nvSpPr>
        <p:spPr>
          <a:xfrm>
            <a:off x="6894576"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8</a:t>
            </a:r>
            <a:endParaRPr lang="tr-TR" sz="1100" dirty="0"/>
          </a:p>
        </p:txBody>
      </p:sp>
      <p:sp>
        <p:nvSpPr>
          <p:cNvPr id="33" name="Text 31"/>
          <p:cNvSpPr txBox="1"/>
          <p:nvPr/>
        </p:nvSpPr>
        <p:spPr>
          <a:xfrm>
            <a:off x="7607808"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9</a:t>
            </a:r>
            <a:endParaRPr lang="tr-TR" sz="1100" dirty="0"/>
          </a:p>
        </p:txBody>
      </p:sp>
      <p:sp>
        <p:nvSpPr>
          <p:cNvPr id="34" name="Text 32"/>
          <p:cNvSpPr txBox="1"/>
          <p:nvPr/>
        </p:nvSpPr>
        <p:spPr>
          <a:xfrm>
            <a:off x="8321040"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10</a:t>
            </a:r>
            <a:endParaRPr lang="tr-TR" sz="1100" dirty="0"/>
          </a:p>
        </p:txBody>
      </p:sp>
      <p:sp>
        <p:nvSpPr>
          <p:cNvPr id="35" name="Text 33"/>
          <p:cNvSpPr txBox="1"/>
          <p:nvPr/>
        </p:nvSpPr>
        <p:spPr>
          <a:xfrm>
            <a:off x="9034272"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11</a:t>
            </a:r>
            <a:endParaRPr lang="tr-TR" sz="1100" dirty="0"/>
          </a:p>
        </p:txBody>
      </p:sp>
      <p:sp>
        <p:nvSpPr>
          <p:cNvPr id="36" name="Text 34"/>
          <p:cNvSpPr txBox="1"/>
          <p:nvPr/>
        </p:nvSpPr>
        <p:spPr>
          <a:xfrm>
            <a:off x="9747504" y="3008376"/>
            <a:ext cx="365760" cy="228600"/>
          </a:xfrm>
          <a:prstGeom prst="rect">
            <a:avLst/>
          </a:prstGeom>
          <a:noFill/>
          <a:ln/>
        </p:spPr>
        <p:txBody>
          <a:bodyPr wrap="square" lIns="0" tIns="0" rIns="0" bIns="0" rtlCol="0" anchor="t"/>
          <a:lstStyle/>
          <a:p>
            <a:pPr algn="ctr" indent="0" marL="0">
              <a:buNone/>
            </a:pPr>
            <a:r>
              <a:rPr lang="tr-TR" sz="1100" dirty="0">
                <a:solidFill>
                  <a:srgbClr val="6B7679"/>
                </a:solidFill>
                <a:latin typeface="Calibri" pitchFamily="34" charset="0"/>
                <a:ea typeface="Calibri" pitchFamily="34" charset="-122"/>
                <a:cs typeface="Calibri" pitchFamily="34" charset="-120"/>
              </a:rPr>
              <a:t>12</a:t>
            </a:r>
            <a:endParaRPr lang="tr-TR" sz="1100" dirty="0"/>
          </a:p>
        </p:txBody>
      </p:sp>
      <p:sp>
        <p:nvSpPr>
          <p:cNvPr id="37" name="Text 35"/>
          <p:cNvSpPr txBox="1"/>
          <p:nvPr/>
        </p:nvSpPr>
        <p:spPr>
          <a:xfrm>
            <a:off x="10113264" y="3008376"/>
            <a:ext cx="365760" cy="228600"/>
          </a:xfrm>
          <a:prstGeom prst="rect">
            <a:avLst/>
          </a:prstGeom>
          <a:noFill/>
          <a:ln/>
        </p:spPr>
        <p:txBody>
          <a:bodyPr wrap="square" lIns="0" tIns="0" rIns="0" bIns="0" rtlCol="0" anchor="t"/>
          <a:lstStyle/>
          <a:p>
            <a:pPr indent="0" marL="0">
              <a:buNone/>
            </a:pPr>
            <a:r>
              <a:rPr lang="tr-TR" sz="1100" dirty="0">
                <a:solidFill>
                  <a:srgbClr val="6B7679"/>
                </a:solidFill>
                <a:latin typeface="Calibri" pitchFamily="34" charset="0"/>
                <a:ea typeface="Calibri" pitchFamily="34" charset="-122"/>
                <a:cs typeface="Calibri" pitchFamily="34" charset="-120"/>
              </a:rPr>
              <a:t>ms</a:t>
            </a:r>
            <a:endParaRPr lang="tr-TR" sz="1100" dirty="0"/>
          </a:p>
        </p:txBody>
      </p:sp>
      <p:sp>
        <p:nvSpPr>
          <p:cNvPr id="38" name="Text 36"/>
          <p:cNvSpPr txBox="1"/>
          <p:nvPr/>
        </p:nvSpPr>
        <p:spPr>
          <a:xfrm>
            <a:off x="8075981" y="1399032"/>
            <a:ext cx="2651760" cy="256032"/>
          </a:xfrm>
          <a:prstGeom prst="rect">
            <a:avLst/>
          </a:prstGeom>
          <a:noFill/>
          <a:ln/>
        </p:spPr>
        <p:txBody>
          <a:bodyPr wrap="square" lIns="0" tIns="0" rIns="0" bIns="0" rtlCol="0" anchor="t"/>
          <a:lstStyle/>
          <a:p>
            <a:pPr algn="r" indent="0" marL="0">
              <a:buNone/>
            </a:pPr>
            <a:r>
              <a:rPr lang="tr-TR" sz="1100" i="1" dirty="0">
                <a:solidFill>
                  <a:srgbClr val="6B7679"/>
                </a:solidFill>
                <a:latin typeface="Calibri" pitchFamily="34" charset="0"/>
                <a:ea typeface="Calibri" pitchFamily="34" charset="-122"/>
                <a:cs typeface="Calibri" pitchFamily="34" charset="-120"/>
              </a:rPr>
              <a:t>A 10'da, B 12'de çıkar</a:t>
            </a:r>
            <a:endParaRPr lang="tr-TR" sz="1100" dirty="0"/>
          </a:p>
        </p:txBody>
      </p:sp>
      <p:sp>
        <p:nvSpPr>
          <p:cNvPr id="39" name="Shape 37"/>
          <p:cNvSpPr/>
          <p:nvPr/>
        </p:nvSpPr>
        <p:spPr>
          <a:xfrm>
            <a:off x="548640" y="3474720"/>
            <a:ext cx="5852160" cy="2788920"/>
          </a:xfrm>
          <a:prstGeom prst="roundRect">
            <a:avLst>
              <a:gd name="adj" fmla="val 1967"/>
            </a:avLst>
          </a:prstGeom>
          <a:solidFill>
            <a:srgbClr val="F2F2F2"/>
          </a:solidFill>
          <a:ln/>
          <a:effectLst>
            <a:outerShdw sx="100000" sy="100000" kx="0" ky="0" algn="bl" rotWithShape="0" blurRad="101600" dist="25400" dir="5400000">
              <a:srgbClr val="000000">
                <a:alpha val="12000"/>
              </a:srgbClr>
            </a:outerShdw>
          </a:effectLst>
        </p:spPr>
      </p:sp>
      <p:sp>
        <p:nvSpPr>
          <p:cNvPr id="40" name="Text 38"/>
          <p:cNvSpPr txBox="1"/>
          <p:nvPr/>
        </p:nvSpPr>
        <p:spPr>
          <a:xfrm>
            <a:off x="777240" y="3657600"/>
            <a:ext cx="53949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Olaylar</a:t>
            </a:r>
            <a:endParaRPr lang="tr-TR" sz="1500" dirty="0"/>
          </a:p>
        </p:txBody>
      </p:sp>
      <p:sp>
        <p:nvSpPr>
          <p:cNvPr id="41" name="Text 39"/>
          <p:cNvSpPr txBox="1"/>
          <p:nvPr/>
        </p:nvSpPr>
        <p:spPr>
          <a:xfrm>
            <a:off x="777240" y="4114800"/>
            <a:ext cx="5394960" cy="2011680"/>
          </a:xfrm>
          <a:prstGeom prst="rect">
            <a:avLst/>
          </a:prstGeom>
          <a:noFill/>
          <a:ln/>
        </p:spPr>
        <p:txBody>
          <a:bodyPr wrap="square" lIns="0" tIns="0" rIns="0" bIns="0" rtlCol="0" anchor="t"/>
          <a:lstStyle/>
          <a:p>
            <a:pPr marL="228600" indent="-228600">
              <a:spcAft>
                <a:spcPts val="400"/>
              </a:spcAft>
              <a:buSzPct val="100000"/>
              <a:buChar char="•"/>
            </a:pPr>
            <a:r>
              <a:rPr lang="tr-TR" sz="1450" b="1" dirty="0">
                <a:solidFill>
                  <a:srgbClr val="3A464C"/>
                </a:solidFill>
                <a:latin typeface="Calibri" pitchFamily="34" charset="0"/>
                <a:ea typeface="Calibri" pitchFamily="34" charset="-122"/>
                <a:cs typeface="Calibri" pitchFamily="34" charset="-120"/>
              </a:rPr>
              <a:t>t = 3:</a:t>
            </a:r>
            <a:r>
              <a:rPr lang="tr-TR" sz="1450" dirty="0">
                <a:solidFill>
                  <a:srgbClr val="3A464C"/>
                </a:solidFill>
                <a:latin typeface="Calibri" pitchFamily="34" charset="0"/>
                <a:ea typeface="Calibri" pitchFamily="34" charset="-122"/>
                <a:cs typeface="Calibri" pitchFamily="34" charset="-120"/>
              </a:rPr>
              <a:t> A read() çağırır → bekliyor; B görevlendirilir.</a:t>
            </a:r>
            <a:endParaRPr lang="tr-TR" sz="1450" dirty="0"/>
          </a:p>
          <a:p>
            <a:pPr marL="228600" indent="-228600">
              <a:spcAft>
                <a:spcPts val="400"/>
              </a:spcAft>
              <a:buSzPct val="100000"/>
              <a:buChar char="•"/>
            </a:pPr>
            <a:r>
              <a:rPr lang="tr-TR" sz="1450" b="1" dirty="0">
                <a:solidFill>
                  <a:srgbClr val="3A464C"/>
                </a:solidFill>
                <a:latin typeface="Calibri" pitchFamily="34" charset="0"/>
                <a:ea typeface="Calibri" pitchFamily="34" charset="-122"/>
                <a:cs typeface="Calibri" pitchFamily="34" charset="-120"/>
              </a:rPr>
              <a:t>t = 7:</a:t>
            </a:r>
            <a:r>
              <a:rPr lang="tr-TR" sz="1450" dirty="0">
                <a:solidFill>
                  <a:srgbClr val="3A464C"/>
                </a:solidFill>
                <a:latin typeface="Calibri" pitchFamily="34" charset="0"/>
                <a:ea typeface="Calibri" pitchFamily="34" charset="-122"/>
                <a:cs typeface="Calibri" pitchFamily="34" charset="-120"/>
              </a:rPr>
              <a:t> disk kesmesi → A hazır olur (işlemci B'de kalır).</a:t>
            </a:r>
            <a:endParaRPr lang="tr-TR" sz="1450" dirty="0"/>
          </a:p>
          <a:p>
            <a:pPr marL="228600" indent="-228600">
              <a:spcAft>
                <a:spcPts val="400"/>
              </a:spcAft>
              <a:buSzPct val="100000"/>
              <a:buChar char="•"/>
            </a:pPr>
            <a:r>
              <a:rPr lang="tr-TR" sz="1450" b="1" dirty="0">
                <a:solidFill>
                  <a:srgbClr val="3A464C"/>
                </a:solidFill>
                <a:latin typeface="Calibri" pitchFamily="34" charset="0"/>
                <a:ea typeface="Calibri" pitchFamily="34" charset="-122"/>
                <a:cs typeface="Calibri" pitchFamily="34" charset="-120"/>
              </a:rPr>
              <a:t>t = 8:</a:t>
            </a:r>
            <a:r>
              <a:rPr lang="tr-TR" sz="1450" dirty="0">
                <a:solidFill>
                  <a:srgbClr val="3A464C"/>
                </a:solidFill>
                <a:latin typeface="Calibri" pitchFamily="34" charset="0"/>
                <a:ea typeface="Calibri" pitchFamily="34" charset="-122"/>
                <a:cs typeface="Calibri" pitchFamily="34" charset="-120"/>
              </a:rPr>
              <a:t> zamanlayıcı kesmesi B'nin 5 ms'lik dilimini bitirir → A çalışır.</a:t>
            </a:r>
            <a:endParaRPr lang="tr-TR" sz="1450" dirty="0"/>
          </a:p>
          <a:p>
            <a:pPr marL="228600" indent="-228600">
              <a:spcAft>
                <a:spcPts val="400"/>
              </a:spcAft>
              <a:buSzPct val="100000"/>
              <a:buChar char="•"/>
            </a:pPr>
            <a:r>
              <a:rPr lang="tr-TR" sz="1450" b="1" dirty="0">
                <a:solidFill>
                  <a:srgbClr val="3A464C"/>
                </a:solidFill>
                <a:latin typeface="Calibri" pitchFamily="34" charset="0"/>
                <a:ea typeface="Calibri" pitchFamily="34" charset="-122"/>
                <a:cs typeface="Calibri" pitchFamily="34" charset="-120"/>
              </a:rPr>
              <a:t>t = 10:</a:t>
            </a:r>
            <a:r>
              <a:rPr lang="tr-TR" sz="1450" dirty="0">
                <a:solidFill>
                  <a:srgbClr val="3A464C"/>
                </a:solidFill>
                <a:latin typeface="Calibri" pitchFamily="34" charset="0"/>
                <a:ea typeface="Calibri" pitchFamily="34" charset="-122"/>
                <a:cs typeface="Calibri" pitchFamily="34" charset="-120"/>
              </a:rPr>
              <a:t> A çıkar → B 12'de çıkana kadar çalışır.</a:t>
            </a:r>
            <a:endParaRPr lang="tr-TR" sz="1450" dirty="0"/>
          </a:p>
        </p:txBody>
      </p:sp>
      <p:sp>
        <p:nvSpPr>
          <p:cNvPr id="42" name="Shape 40"/>
          <p:cNvSpPr/>
          <p:nvPr/>
        </p:nvSpPr>
        <p:spPr>
          <a:xfrm>
            <a:off x="6675120" y="3474720"/>
            <a:ext cx="4983480" cy="2788920"/>
          </a:xfrm>
          <a:prstGeom prst="roundRect">
            <a:avLst>
              <a:gd name="adj" fmla="val 1639"/>
            </a:avLst>
          </a:prstGeom>
          <a:solidFill>
            <a:srgbClr val="212121"/>
          </a:solidFill>
          <a:ln/>
        </p:spPr>
      </p:sp>
      <p:sp>
        <p:nvSpPr>
          <p:cNvPr id="43" name="Text 41"/>
          <p:cNvSpPr txBox="1"/>
          <p:nvPr/>
        </p:nvSpPr>
        <p:spPr>
          <a:xfrm>
            <a:off x="6858000" y="3584448"/>
            <a:ext cx="4617720" cy="2569464"/>
          </a:xfrm>
          <a:prstGeom prst="rect">
            <a:avLst/>
          </a:prstGeom>
          <a:noFill/>
          <a:ln/>
        </p:spPr>
        <p:txBody>
          <a:bodyPr wrap="square" lIns="0" tIns="0" rIns="0" bIns="0" rtlCol="0" anchor="t"/>
          <a:lstStyle/>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Gereken işlemci işi: A = 3+2 = 5 ms</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                     B = 5+2 = 7 ms</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 </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Art arda (örtüşme yok):</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  A 9 ms (işlemci 4 boşta) + B 7 ms = 16 ms</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  İşlemci meşgul 12/16 = %75</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 </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İç içe (yukarıdaki gibi):</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  12 ms, işlemci meşgul 12/12 = %100</a:t>
            </a:r>
            <a:endParaRPr lang="tr-TR"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 DENETİM BLOĞU</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PCB: İşletim Sisteminin Bir Süreç Hakkında Bildiği Her Şey</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28</a:t>
            </a:r>
            <a:endParaRPr lang="tr-TR" sz="900" dirty="0"/>
          </a:p>
        </p:txBody>
      </p:sp>
      <p:sp>
        <p:nvSpPr>
          <p:cNvPr id="6" name="Shape 4"/>
          <p:cNvSpPr/>
          <p:nvPr/>
        </p:nvSpPr>
        <p:spPr>
          <a:xfrm>
            <a:off x="548640" y="1600200"/>
            <a:ext cx="4206240" cy="493776"/>
          </a:xfrm>
          <a:prstGeom prst="roundRect">
            <a:avLst>
              <a:gd name="adj" fmla="val 9259"/>
            </a:avLst>
          </a:prstGeom>
          <a:solidFill>
            <a:srgbClr val="02C39A"/>
          </a:solidFill>
          <a:ln/>
        </p:spPr>
      </p:sp>
      <p:sp>
        <p:nvSpPr>
          <p:cNvPr id="7" name="Text 5"/>
          <p:cNvSpPr txBox="1"/>
          <p:nvPr/>
        </p:nvSpPr>
        <p:spPr>
          <a:xfrm>
            <a:off x="548640" y="1600200"/>
            <a:ext cx="4206240" cy="493776"/>
          </a:xfrm>
          <a:prstGeom prst="rect">
            <a:avLst/>
          </a:prstGeom>
          <a:noFill/>
          <a:ln/>
        </p:spPr>
        <p:txBody>
          <a:bodyPr wrap="square" lIns="38100" tIns="38100" rIns="38100" bIns="38100" rtlCol="0" anchor="ctr"/>
          <a:lstStyle/>
          <a:p>
            <a:pPr algn="ctr" indent="0" marL="0">
              <a:buNone/>
            </a:pPr>
            <a:r>
              <a:rPr lang="tr-TR" sz="1300" b="1" dirty="0">
                <a:solidFill>
                  <a:srgbClr val="212121"/>
                </a:solidFill>
                <a:latin typeface="Calibri" pitchFamily="34" charset="0"/>
                <a:ea typeface="Calibri" pitchFamily="34" charset="-122"/>
                <a:cs typeface="Calibri" pitchFamily="34" charset="-120"/>
              </a:rPr>
              <a:t>süreç durumu</a:t>
            </a:r>
            <a:endParaRPr lang="tr-TR" sz="1300" dirty="0"/>
          </a:p>
        </p:txBody>
      </p:sp>
      <p:sp>
        <p:nvSpPr>
          <p:cNvPr id="8" name="Shape 6"/>
          <p:cNvSpPr/>
          <p:nvPr/>
        </p:nvSpPr>
        <p:spPr>
          <a:xfrm>
            <a:off x="548640" y="2148840"/>
            <a:ext cx="4206240" cy="493776"/>
          </a:xfrm>
          <a:prstGeom prst="roundRect">
            <a:avLst>
              <a:gd name="adj" fmla="val 9259"/>
            </a:avLst>
          </a:prstGeom>
          <a:solidFill>
            <a:srgbClr val="F2F2F2"/>
          </a:solidFill>
          <a:ln/>
        </p:spPr>
      </p:sp>
      <p:sp>
        <p:nvSpPr>
          <p:cNvPr id="9" name="Text 7"/>
          <p:cNvSpPr txBox="1"/>
          <p:nvPr/>
        </p:nvSpPr>
        <p:spPr>
          <a:xfrm>
            <a:off x="548640" y="2148840"/>
            <a:ext cx="4206240" cy="493776"/>
          </a:xfrm>
          <a:prstGeom prst="rect">
            <a:avLst/>
          </a:prstGeom>
          <a:noFill/>
          <a:ln/>
        </p:spPr>
        <p:txBody>
          <a:bodyPr wrap="square" lIns="38100" tIns="38100" rIns="38100" bIns="38100" rtlCol="0" anchor="ctr"/>
          <a:lstStyle/>
          <a:p>
            <a:pPr algn="ctr" indent="0" marL="0">
              <a:buNone/>
            </a:pPr>
            <a:r>
              <a:rPr lang="tr-TR" sz="1300" b="1" dirty="0">
                <a:solidFill>
                  <a:srgbClr val="212121"/>
                </a:solidFill>
                <a:latin typeface="Calibri" pitchFamily="34" charset="0"/>
                <a:ea typeface="Calibri" pitchFamily="34" charset="-122"/>
                <a:cs typeface="Calibri" pitchFamily="34" charset="-120"/>
              </a:rPr>
              <a:t>süreç kimliği (PID), ebeveyn PID</a:t>
            </a:r>
            <a:endParaRPr lang="tr-TR" sz="1300" dirty="0"/>
          </a:p>
        </p:txBody>
      </p:sp>
      <p:sp>
        <p:nvSpPr>
          <p:cNvPr id="10" name="Shape 8"/>
          <p:cNvSpPr/>
          <p:nvPr/>
        </p:nvSpPr>
        <p:spPr>
          <a:xfrm>
            <a:off x="548640" y="2697480"/>
            <a:ext cx="4206240" cy="493776"/>
          </a:xfrm>
          <a:prstGeom prst="roundRect">
            <a:avLst>
              <a:gd name="adj" fmla="val 9259"/>
            </a:avLst>
          </a:prstGeom>
          <a:solidFill>
            <a:srgbClr val="D7E9E6"/>
          </a:solidFill>
          <a:ln/>
        </p:spPr>
      </p:sp>
      <p:sp>
        <p:nvSpPr>
          <p:cNvPr id="11" name="Text 9"/>
          <p:cNvSpPr txBox="1"/>
          <p:nvPr/>
        </p:nvSpPr>
        <p:spPr>
          <a:xfrm>
            <a:off x="548640" y="2697480"/>
            <a:ext cx="4206240" cy="493776"/>
          </a:xfrm>
          <a:prstGeom prst="rect">
            <a:avLst/>
          </a:prstGeom>
          <a:noFill/>
          <a:ln/>
        </p:spPr>
        <p:txBody>
          <a:bodyPr wrap="square" lIns="38100" tIns="38100" rIns="38100" bIns="38100" rtlCol="0" anchor="ctr"/>
          <a:lstStyle/>
          <a:p>
            <a:pPr algn="ctr" indent="0" marL="0">
              <a:buNone/>
            </a:pPr>
            <a:r>
              <a:rPr lang="tr-TR" sz="1300" b="1" dirty="0">
                <a:solidFill>
                  <a:srgbClr val="212121"/>
                </a:solidFill>
                <a:latin typeface="Calibri" pitchFamily="34" charset="0"/>
                <a:ea typeface="Calibri" pitchFamily="34" charset="-122"/>
                <a:cs typeface="Calibri" pitchFamily="34" charset="-120"/>
              </a:rPr>
              <a:t>program sayacı</a:t>
            </a:r>
            <a:endParaRPr lang="tr-TR" sz="1300" dirty="0"/>
          </a:p>
        </p:txBody>
      </p:sp>
      <p:sp>
        <p:nvSpPr>
          <p:cNvPr id="12" name="Shape 10"/>
          <p:cNvSpPr/>
          <p:nvPr/>
        </p:nvSpPr>
        <p:spPr>
          <a:xfrm>
            <a:off x="548640" y="3246120"/>
            <a:ext cx="4206240" cy="493776"/>
          </a:xfrm>
          <a:prstGeom prst="roundRect">
            <a:avLst>
              <a:gd name="adj" fmla="val 9259"/>
            </a:avLst>
          </a:prstGeom>
          <a:solidFill>
            <a:srgbClr val="F2F2F2"/>
          </a:solidFill>
          <a:ln/>
        </p:spPr>
      </p:sp>
      <p:sp>
        <p:nvSpPr>
          <p:cNvPr id="13" name="Text 11"/>
          <p:cNvSpPr txBox="1"/>
          <p:nvPr/>
        </p:nvSpPr>
        <p:spPr>
          <a:xfrm>
            <a:off x="548640" y="3246120"/>
            <a:ext cx="4206240" cy="493776"/>
          </a:xfrm>
          <a:prstGeom prst="rect">
            <a:avLst/>
          </a:prstGeom>
          <a:noFill/>
          <a:ln/>
        </p:spPr>
        <p:txBody>
          <a:bodyPr wrap="square" lIns="38100" tIns="38100" rIns="38100" bIns="38100" rtlCol="0" anchor="ctr"/>
          <a:lstStyle/>
          <a:p>
            <a:pPr algn="ctr" indent="0" marL="0">
              <a:buNone/>
            </a:pPr>
            <a:r>
              <a:rPr lang="tr-TR" sz="1300" b="1" dirty="0">
                <a:solidFill>
                  <a:srgbClr val="212121"/>
                </a:solidFill>
                <a:latin typeface="Calibri" pitchFamily="34" charset="0"/>
                <a:ea typeface="Calibri" pitchFamily="34" charset="-122"/>
                <a:cs typeface="Calibri" pitchFamily="34" charset="-120"/>
              </a:rPr>
              <a:t>işlemci yazmaçları</a:t>
            </a:r>
            <a:endParaRPr lang="tr-TR" sz="1300" dirty="0"/>
          </a:p>
        </p:txBody>
      </p:sp>
      <p:sp>
        <p:nvSpPr>
          <p:cNvPr id="14" name="Shape 12"/>
          <p:cNvSpPr/>
          <p:nvPr/>
        </p:nvSpPr>
        <p:spPr>
          <a:xfrm>
            <a:off x="548640" y="3794760"/>
            <a:ext cx="4206240" cy="493776"/>
          </a:xfrm>
          <a:prstGeom prst="roundRect">
            <a:avLst>
              <a:gd name="adj" fmla="val 9259"/>
            </a:avLst>
          </a:prstGeom>
          <a:solidFill>
            <a:srgbClr val="D7E9E6"/>
          </a:solidFill>
          <a:ln/>
        </p:spPr>
      </p:sp>
      <p:sp>
        <p:nvSpPr>
          <p:cNvPr id="15" name="Text 13"/>
          <p:cNvSpPr txBox="1"/>
          <p:nvPr/>
        </p:nvSpPr>
        <p:spPr>
          <a:xfrm>
            <a:off x="548640" y="3794760"/>
            <a:ext cx="4206240" cy="493776"/>
          </a:xfrm>
          <a:prstGeom prst="rect">
            <a:avLst/>
          </a:prstGeom>
          <a:noFill/>
          <a:ln/>
        </p:spPr>
        <p:txBody>
          <a:bodyPr wrap="square" lIns="38100" tIns="38100" rIns="38100" bIns="38100" rtlCol="0" anchor="ctr"/>
          <a:lstStyle/>
          <a:p>
            <a:pPr algn="ctr" indent="0" marL="0">
              <a:buNone/>
            </a:pPr>
            <a:r>
              <a:rPr lang="tr-TR" sz="1300" dirty="0">
                <a:solidFill>
                  <a:srgbClr val="212121"/>
                </a:solidFill>
                <a:latin typeface="Calibri" pitchFamily="34" charset="0"/>
                <a:ea typeface="Calibri" pitchFamily="34" charset="-122"/>
                <a:cs typeface="Calibri" pitchFamily="34" charset="-120"/>
              </a:rPr>
              <a:t>işlemci zamanlama bilgisi</a:t>
            </a:r>
            <a:endParaRPr lang="tr-TR" sz="1300" dirty="0"/>
          </a:p>
        </p:txBody>
      </p:sp>
      <p:sp>
        <p:nvSpPr>
          <p:cNvPr id="16" name="Shape 14"/>
          <p:cNvSpPr/>
          <p:nvPr/>
        </p:nvSpPr>
        <p:spPr>
          <a:xfrm>
            <a:off x="548640" y="4343400"/>
            <a:ext cx="4206240" cy="493776"/>
          </a:xfrm>
          <a:prstGeom prst="roundRect">
            <a:avLst>
              <a:gd name="adj" fmla="val 9259"/>
            </a:avLst>
          </a:prstGeom>
          <a:solidFill>
            <a:srgbClr val="F2F2F2"/>
          </a:solidFill>
          <a:ln/>
        </p:spPr>
      </p:sp>
      <p:sp>
        <p:nvSpPr>
          <p:cNvPr id="17" name="Text 15"/>
          <p:cNvSpPr txBox="1"/>
          <p:nvPr/>
        </p:nvSpPr>
        <p:spPr>
          <a:xfrm>
            <a:off x="548640" y="4343400"/>
            <a:ext cx="4206240" cy="493776"/>
          </a:xfrm>
          <a:prstGeom prst="rect">
            <a:avLst/>
          </a:prstGeom>
          <a:noFill/>
          <a:ln/>
        </p:spPr>
        <p:txBody>
          <a:bodyPr wrap="square" lIns="38100" tIns="38100" rIns="38100" bIns="38100" rtlCol="0" anchor="ctr"/>
          <a:lstStyle/>
          <a:p>
            <a:pPr algn="ctr" indent="0" marL="0">
              <a:buNone/>
            </a:pPr>
            <a:r>
              <a:rPr lang="tr-TR" sz="1300" dirty="0">
                <a:solidFill>
                  <a:srgbClr val="212121"/>
                </a:solidFill>
                <a:latin typeface="Calibri" pitchFamily="34" charset="0"/>
                <a:ea typeface="Calibri" pitchFamily="34" charset="-122"/>
                <a:cs typeface="Calibri" pitchFamily="34" charset="-120"/>
              </a:rPr>
              <a:t>bellek yönetimi bilgisi</a:t>
            </a:r>
            <a:endParaRPr lang="tr-TR" sz="1300" dirty="0"/>
          </a:p>
        </p:txBody>
      </p:sp>
      <p:sp>
        <p:nvSpPr>
          <p:cNvPr id="18" name="Shape 16"/>
          <p:cNvSpPr/>
          <p:nvPr/>
        </p:nvSpPr>
        <p:spPr>
          <a:xfrm>
            <a:off x="548640" y="4892040"/>
            <a:ext cx="4206240" cy="493776"/>
          </a:xfrm>
          <a:prstGeom prst="roundRect">
            <a:avLst>
              <a:gd name="adj" fmla="val 9259"/>
            </a:avLst>
          </a:prstGeom>
          <a:solidFill>
            <a:srgbClr val="D7E9E6"/>
          </a:solidFill>
          <a:ln/>
        </p:spPr>
      </p:sp>
      <p:sp>
        <p:nvSpPr>
          <p:cNvPr id="19" name="Text 17"/>
          <p:cNvSpPr txBox="1"/>
          <p:nvPr/>
        </p:nvSpPr>
        <p:spPr>
          <a:xfrm>
            <a:off x="548640" y="4892040"/>
            <a:ext cx="4206240" cy="493776"/>
          </a:xfrm>
          <a:prstGeom prst="rect">
            <a:avLst/>
          </a:prstGeom>
          <a:noFill/>
          <a:ln/>
        </p:spPr>
        <p:txBody>
          <a:bodyPr wrap="square" lIns="38100" tIns="38100" rIns="38100" bIns="38100" rtlCol="0" anchor="ctr"/>
          <a:lstStyle/>
          <a:p>
            <a:pPr algn="ctr" indent="0" marL="0">
              <a:buNone/>
            </a:pPr>
            <a:r>
              <a:rPr lang="tr-TR" sz="1300" dirty="0">
                <a:solidFill>
                  <a:srgbClr val="212121"/>
                </a:solidFill>
                <a:latin typeface="Calibri" pitchFamily="34" charset="0"/>
                <a:ea typeface="Calibri" pitchFamily="34" charset="-122"/>
                <a:cs typeface="Calibri" pitchFamily="34" charset="-120"/>
              </a:rPr>
              <a:t>hesap bilgisi</a:t>
            </a:r>
            <a:endParaRPr lang="tr-TR" sz="1300" dirty="0"/>
          </a:p>
        </p:txBody>
      </p:sp>
      <p:sp>
        <p:nvSpPr>
          <p:cNvPr id="20" name="Shape 18"/>
          <p:cNvSpPr/>
          <p:nvPr/>
        </p:nvSpPr>
        <p:spPr>
          <a:xfrm>
            <a:off x="548640" y="5440680"/>
            <a:ext cx="4206240" cy="493776"/>
          </a:xfrm>
          <a:prstGeom prst="roundRect">
            <a:avLst>
              <a:gd name="adj" fmla="val 9259"/>
            </a:avLst>
          </a:prstGeom>
          <a:solidFill>
            <a:srgbClr val="F2F2F2"/>
          </a:solidFill>
          <a:ln/>
        </p:spPr>
      </p:sp>
      <p:sp>
        <p:nvSpPr>
          <p:cNvPr id="21" name="Text 19"/>
          <p:cNvSpPr txBox="1"/>
          <p:nvPr/>
        </p:nvSpPr>
        <p:spPr>
          <a:xfrm>
            <a:off x="548640" y="5440680"/>
            <a:ext cx="4206240" cy="493776"/>
          </a:xfrm>
          <a:prstGeom prst="rect">
            <a:avLst/>
          </a:prstGeom>
          <a:noFill/>
          <a:ln/>
        </p:spPr>
        <p:txBody>
          <a:bodyPr wrap="square" lIns="38100" tIns="38100" rIns="38100" bIns="38100" rtlCol="0" anchor="ctr"/>
          <a:lstStyle/>
          <a:p>
            <a:pPr algn="ctr" indent="0" marL="0">
              <a:buNone/>
            </a:pPr>
            <a:r>
              <a:rPr lang="tr-TR" sz="1300" dirty="0">
                <a:solidFill>
                  <a:srgbClr val="212121"/>
                </a:solidFill>
                <a:latin typeface="Calibri" pitchFamily="34" charset="0"/>
                <a:ea typeface="Calibri" pitchFamily="34" charset="-122"/>
                <a:cs typeface="Calibri" pitchFamily="34" charset="-120"/>
              </a:rPr>
              <a:t>G/Ç durumu: açık dosyalar, aygıtlar</a:t>
            </a:r>
            <a:endParaRPr lang="tr-TR" sz="1300" dirty="0"/>
          </a:p>
        </p:txBody>
      </p:sp>
      <p:sp>
        <p:nvSpPr>
          <p:cNvPr id="22" name="Text 20"/>
          <p:cNvSpPr txBox="1"/>
          <p:nvPr/>
        </p:nvSpPr>
        <p:spPr>
          <a:xfrm>
            <a:off x="548640" y="6007608"/>
            <a:ext cx="4206240" cy="274320"/>
          </a:xfrm>
          <a:prstGeom prst="rect">
            <a:avLst/>
          </a:prstGeom>
          <a:noFill/>
          <a:ln/>
        </p:spPr>
        <p:txBody>
          <a:bodyPr wrap="square" lIns="0" tIns="0" rIns="0" bIns="0" rtlCol="0" anchor="t"/>
          <a:lstStyle/>
          <a:p>
            <a:pPr algn="ctr" indent="0" marL="0">
              <a:buNone/>
            </a:pPr>
            <a:r>
              <a:rPr lang="tr-TR" sz="1100" i="1" dirty="0">
                <a:solidFill>
                  <a:srgbClr val="6B7679"/>
                </a:solidFill>
                <a:latin typeface="Calibri" pitchFamily="34" charset="0"/>
                <a:ea typeface="Calibri" pitchFamily="34" charset="-122"/>
                <a:cs typeface="Calibri" pitchFamily="34" charset="-120"/>
              </a:rPr>
              <a:t>her süreç için bir PCB, çekirdek belleğinde tutulur</a:t>
            </a:r>
            <a:endParaRPr lang="tr-TR" sz="1100" dirty="0"/>
          </a:p>
        </p:txBody>
      </p:sp>
      <p:sp>
        <p:nvSpPr>
          <p:cNvPr id="23" name="Shape 21"/>
          <p:cNvSpPr/>
          <p:nvPr/>
        </p:nvSpPr>
        <p:spPr>
          <a:xfrm>
            <a:off x="5029200" y="1508760"/>
            <a:ext cx="6629400" cy="4754880"/>
          </a:xfrm>
          <a:prstGeom prst="roundRect">
            <a:avLst>
              <a:gd name="adj" fmla="val 1154"/>
            </a:avLst>
          </a:prstGeom>
          <a:solidFill>
            <a:srgbClr val="F2F2F2"/>
          </a:solidFill>
          <a:ln/>
          <a:effectLst>
            <a:outerShdw sx="100000" sy="100000" kx="0" ky="0" algn="bl" rotWithShape="0" blurRad="101600" dist="25400" dir="5400000">
              <a:srgbClr val="000000">
                <a:alpha val="12000"/>
              </a:srgbClr>
            </a:outerShdw>
          </a:effectLst>
        </p:spPr>
      </p:sp>
      <p:sp>
        <p:nvSpPr>
          <p:cNvPr id="24" name="Text 22"/>
          <p:cNvSpPr txBox="1"/>
          <p:nvPr/>
        </p:nvSpPr>
        <p:spPr>
          <a:xfrm>
            <a:off x="5257800" y="1691640"/>
            <a:ext cx="617220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Alanlar ne işe yarar?</a:t>
            </a:r>
            <a:endParaRPr lang="tr-TR" sz="1500" dirty="0"/>
          </a:p>
        </p:txBody>
      </p:sp>
      <p:sp>
        <p:nvSpPr>
          <p:cNvPr id="25" name="Text 23"/>
          <p:cNvSpPr txBox="1"/>
          <p:nvPr/>
        </p:nvSpPr>
        <p:spPr>
          <a:xfrm>
            <a:off x="5257800" y="2148840"/>
            <a:ext cx="6172200" cy="3977640"/>
          </a:xfrm>
          <a:prstGeom prst="rect">
            <a:avLst/>
          </a:prstGeom>
          <a:noFill/>
          <a:ln/>
        </p:spPr>
        <p:txBody>
          <a:bodyPr wrap="square" lIns="0" tIns="0" rIns="0" bIns="0" rtlCol="0" anchor="t"/>
          <a:lstStyle/>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Durum:</a:t>
            </a:r>
            <a:r>
              <a:rPr lang="tr-TR" sz="1400" dirty="0">
                <a:solidFill>
                  <a:srgbClr val="3A464C"/>
                </a:solidFill>
                <a:latin typeface="Calibri" pitchFamily="34" charset="0"/>
                <a:ea typeface="Calibri" pitchFamily="34" charset="-122"/>
                <a:cs typeface="Calibri" pitchFamily="34" charset="-120"/>
              </a:rPr>
              <a:t> yeni, hazır, çalışıyor, bekliyor ya da sonlandı.</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Program sayacı ve yazmaçlar:</a:t>
            </a:r>
            <a:r>
              <a:rPr lang="tr-TR" sz="1400" dirty="0">
                <a:solidFill>
                  <a:srgbClr val="3A464C"/>
                </a:solidFill>
                <a:latin typeface="Calibri" pitchFamily="34" charset="0"/>
                <a:ea typeface="Calibri" pitchFamily="34" charset="-122"/>
                <a:cs typeface="Calibri" pitchFamily="34" charset="-120"/>
              </a:rPr>
              <a:t> süreç yeniden çalıştığında nereden devam edileceği ve geri yüklenecek değerler.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Zamanlama bilgisi:</a:t>
            </a:r>
            <a:r>
              <a:rPr lang="tr-TR" sz="1400" dirty="0">
                <a:solidFill>
                  <a:srgbClr val="3A464C"/>
                </a:solidFill>
                <a:latin typeface="Calibri" pitchFamily="34" charset="0"/>
                <a:ea typeface="Calibri" pitchFamily="34" charset="-122"/>
                <a:cs typeface="Calibri" pitchFamily="34" charset="-120"/>
              </a:rPr>
              <a:t> öncelik, zamanlama kuyruklarına işaretçiler.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Bellek bilgisi:</a:t>
            </a:r>
            <a:r>
              <a:rPr lang="tr-TR" sz="1400" dirty="0">
                <a:solidFill>
                  <a:srgbClr val="3A464C"/>
                </a:solidFill>
                <a:latin typeface="Calibri" pitchFamily="34" charset="0"/>
                <a:ea typeface="Calibri" pitchFamily="34" charset="-122"/>
                <a:cs typeface="Calibri" pitchFamily="34" charset="-120"/>
              </a:rPr>
              <a:t> sürecin bölgelerinin nerede olduğu (sayfa tabloları, sınırlar; 6–7. haftalar).</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Hesap bilgisi:</a:t>
            </a:r>
            <a:r>
              <a:rPr lang="tr-TR" sz="1400" dirty="0">
                <a:solidFill>
                  <a:srgbClr val="3A464C"/>
                </a:solidFill>
                <a:latin typeface="Calibri" pitchFamily="34" charset="0"/>
                <a:ea typeface="Calibri" pitchFamily="34" charset="-122"/>
                <a:cs typeface="Calibri" pitchFamily="34" charset="-120"/>
              </a:rPr>
              <a:t> kullanılan işlemci zamanı, zaman sınırları, süreç numaraları.</a:t>
            </a:r>
            <a:endParaRPr lang="tr-TR" sz="1400" dirty="0"/>
          </a:p>
          <a:p>
            <a:pPr marL="228600" indent="-228600">
              <a:spcAft>
                <a:spcPts val="400"/>
              </a:spcAft>
              <a:buSzPct val="100000"/>
              <a:buChar char="•"/>
            </a:pPr>
            <a:r>
              <a:rPr lang="tr-TR" sz="1400" b="1" dirty="0">
                <a:solidFill>
                  <a:srgbClr val="3A464C"/>
                </a:solidFill>
                <a:latin typeface="Calibri" pitchFamily="34" charset="0"/>
                <a:ea typeface="Calibri" pitchFamily="34" charset="-122"/>
                <a:cs typeface="Calibri" pitchFamily="34" charset="-120"/>
              </a:rPr>
              <a:t>G/Ç durumu:</a:t>
            </a:r>
            <a:r>
              <a:rPr lang="tr-TR" sz="1400" dirty="0">
                <a:solidFill>
                  <a:srgbClr val="3A464C"/>
                </a:solidFill>
                <a:latin typeface="Calibri" pitchFamily="34" charset="0"/>
                <a:ea typeface="Calibri" pitchFamily="34" charset="-122"/>
                <a:cs typeface="Calibri" pitchFamily="34" charset="-120"/>
              </a:rPr>
              <a:t> açık dosyaların ve ayrılmış aygıtların listesi.</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Linux'ta PCB, yüzlerce alanı olan bir C yapısıdır: struct task_struct.</a:t>
            </a:r>
            <a:endParaRPr lang="tr-TR"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 DENETİM BLOĞU</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Bir PCB'ye Göz Atmak: /proc/&lt;pid&gt;/status</a:t>
            </a:r>
            <a:endParaRPr lang="tr-TR" sz="3000" dirty="0"/>
          </a:p>
        </p:txBody>
      </p:sp>
      <p:sp>
        <p:nvSpPr>
          <p:cNvPr id="4" name="Text 2"/>
          <p:cNvSpPr txBox="1"/>
          <p:nvPr/>
        </p:nvSpPr>
        <p:spPr>
          <a:xfrm>
            <a:off x="548640" y="1417320"/>
            <a:ext cx="11064240" cy="502920"/>
          </a:xfrm>
          <a:prstGeom prst="rect">
            <a:avLst/>
          </a:prstGeom>
          <a:noFill/>
          <a:ln/>
        </p:spPr>
        <p:txBody>
          <a:bodyPr wrap="square" lIns="0" tIns="0" rIns="0" bIns="0" rtlCol="0" anchor="t"/>
          <a:lstStyle/>
          <a:p>
            <a:pPr indent="0" marL="0">
              <a:buNone/>
            </a:pPr>
            <a:r>
              <a:rPr lang="tr-TR" sz="1500" dirty="0">
                <a:solidFill>
                  <a:srgbClr val="3A464C"/>
                </a:solidFill>
                <a:latin typeface="Calibri" pitchFamily="34" charset="0"/>
                <a:ea typeface="Calibri" pitchFamily="34" charset="-122"/>
                <a:cs typeface="Calibri" pitchFamily="34" charset="-120"/>
              </a:rPr>
              <a:t>Linux, her sürecin PCB'sinin bazı kısımlarını /proc dizininde bir metin dosyası olarak gösterir.</a:t>
            </a:r>
            <a:endParaRPr lang="tr-TR" sz="15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29</a:t>
            </a:r>
            <a:endParaRPr lang="tr-TR" sz="900" dirty="0"/>
          </a:p>
        </p:txBody>
      </p:sp>
      <p:sp>
        <p:nvSpPr>
          <p:cNvPr id="7" name="Shape 5"/>
          <p:cNvSpPr/>
          <p:nvPr/>
        </p:nvSpPr>
        <p:spPr>
          <a:xfrm>
            <a:off x="548640" y="2103120"/>
            <a:ext cx="5760720" cy="4160520"/>
          </a:xfrm>
          <a:prstGeom prst="roundRect">
            <a:avLst>
              <a:gd name="adj" fmla="val 1099"/>
            </a:avLst>
          </a:prstGeom>
          <a:solidFill>
            <a:srgbClr val="212121"/>
          </a:solidFill>
          <a:ln/>
        </p:spPr>
      </p:sp>
      <p:sp>
        <p:nvSpPr>
          <p:cNvPr id="8" name="Text 6"/>
          <p:cNvSpPr txBox="1"/>
          <p:nvPr/>
        </p:nvSpPr>
        <p:spPr>
          <a:xfrm>
            <a:off x="731520" y="2212848"/>
            <a:ext cx="5394960" cy="3941064"/>
          </a:xfrm>
          <a:prstGeom prst="rect">
            <a:avLst/>
          </a:prstGeom>
          <a:noFill/>
          <a:ln/>
        </p:spPr>
        <p:txBody>
          <a:bodyPr wrap="square" lIns="0" tIns="0" rIns="0" bIns="0" rtlCol="0" anchor="t"/>
          <a:lstStyle/>
          <a:p>
            <a:pPr indent="0" marL="0">
              <a:lnSpc>
                <a:spcPct val="105000"/>
              </a:lnSpc>
              <a:buNone/>
            </a:pPr>
            <a:r>
              <a:rPr lang="tr-TR" sz="1200" dirty="0">
                <a:solidFill>
                  <a:srgbClr val="02C39A"/>
                </a:solidFill>
                <a:latin typeface="Consolas" pitchFamily="34" charset="0"/>
                <a:ea typeface="Consolas" pitchFamily="34" charset="-122"/>
                <a:cs typeface="Consolas" pitchFamily="34" charset="-120"/>
              </a:rPr>
              <a:t>$ sleep 30 &amp;</a:t>
            </a:r>
            <a:endParaRPr lang="tr-TR" sz="1200" dirty="0"/>
          </a:p>
          <a:p>
            <a:pPr indent="0" marL="0">
              <a:lnSpc>
                <a:spcPct val="105000"/>
              </a:lnSpc>
              <a:buNone/>
            </a:pPr>
            <a:r>
              <a:rPr lang="tr-TR" sz="1200" dirty="0">
                <a:solidFill>
                  <a:srgbClr val="02C39A"/>
                </a:solidFill>
                <a:latin typeface="Consolas" pitchFamily="34" charset="0"/>
                <a:ea typeface="Consolas" pitchFamily="34" charset="-122"/>
                <a:cs typeface="Consolas" pitchFamily="34" charset="-120"/>
              </a:rPr>
              <a:t>$ grep -E "^(Name|State|Pid|PPid|Uid|VmSize|VmRSS|</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  Threads|voluntary)" /proc/$!/status</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Name:   sleep</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State:  S (sleeping)</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Pid:    27271</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PPid:   27265</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Uid:    0       0       0       0</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VmSize:     2724 kB</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VmRSS:      1696 kB</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Threads:        1</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voluntary_ctxt_switches:        2</a:t>
            </a:r>
            <a:endParaRPr lang="tr-TR" sz="1200" dirty="0"/>
          </a:p>
          <a:p>
            <a:pPr indent="0" marL="0">
              <a:lnSpc>
                <a:spcPct val="105000"/>
              </a:lnSpc>
              <a:buNone/>
            </a:pPr>
            <a:r>
              <a:rPr lang="tr-TR" sz="1200" dirty="0">
                <a:solidFill>
                  <a:srgbClr val="F2F2F2"/>
                </a:solidFill>
                <a:latin typeface="Consolas" pitchFamily="34" charset="0"/>
                <a:ea typeface="Consolas" pitchFamily="34" charset="-122"/>
                <a:cs typeface="Consolas" pitchFamily="34" charset="-120"/>
              </a:rPr>
              <a:t>nonvoluntary_ctxt_switches:     0</a:t>
            </a:r>
            <a:endParaRPr lang="tr-TR" sz="1200" dirty="0"/>
          </a:p>
        </p:txBody>
      </p:sp>
      <p:sp>
        <p:nvSpPr>
          <p:cNvPr id="9" name="Text 7"/>
          <p:cNvSpPr txBox="1"/>
          <p:nvPr/>
        </p:nvSpPr>
        <p:spPr>
          <a:xfrm>
            <a:off x="6583680" y="2103120"/>
            <a:ext cx="5029200" cy="320040"/>
          </a:xfrm>
          <a:prstGeom prst="rect">
            <a:avLst/>
          </a:prstGeom>
          <a:noFill/>
          <a:ln/>
        </p:spPr>
        <p:txBody>
          <a:bodyPr wrap="square" lIns="0" tIns="0" rIns="0" bIns="0" rtlCol="0" anchor="t"/>
          <a:lstStyle/>
          <a:p>
            <a:pPr indent="0" marL="0">
              <a:buNone/>
            </a:pPr>
            <a:r>
              <a:rPr lang="tr-TR" sz="1500" b="1" dirty="0">
                <a:solidFill>
                  <a:srgbClr val="028090"/>
                </a:solidFill>
                <a:latin typeface="Calibri" pitchFamily="34" charset="0"/>
                <a:ea typeface="Calibri" pitchFamily="34" charset="-122"/>
                <a:cs typeface="Calibri" pitchFamily="34" charset="-120"/>
              </a:rPr>
              <a:t>alan  →  PCB girdisi</a:t>
            </a:r>
            <a:endParaRPr lang="tr-TR" sz="1500" dirty="0"/>
          </a:p>
        </p:txBody>
      </p:sp>
      <p:sp>
        <p:nvSpPr>
          <p:cNvPr id="10" name="Shape 8"/>
          <p:cNvSpPr/>
          <p:nvPr/>
        </p:nvSpPr>
        <p:spPr>
          <a:xfrm>
            <a:off x="6583680" y="2560320"/>
            <a:ext cx="2103120" cy="512064"/>
          </a:xfrm>
          <a:prstGeom prst="roundRect">
            <a:avLst>
              <a:gd name="adj" fmla="val 8929"/>
            </a:avLst>
          </a:prstGeom>
          <a:solidFill>
            <a:srgbClr val="F2F2F2"/>
          </a:solidFill>
          <a:ln/>
        </p:spPr>
      </p:sp>
      <p:sp>
        <p:nvSpPr>
          <p:cNvPr id="11" name="Text 9"/>
          <p:cNvSpPr txBox="1"/>
          <p:nvPr/>
        </p:nvSpPr>
        <p:spPr>
          <a:xfrm>
            <a:off x="6583680" y="2560320"/>
            <a:ext cx="2103120" cy="512064"/>
          </a:xfrm>
          <a:prstGeom prst="rect">
            <a:avLst/>
          </a:prstGeom>
          <a:noFill/>
          <a:ln/>
        </p:spPr>
        <p:txBody>
          <a:bodyPr wrap="square" lIns="38100" tIns="38100" rIns="38100" bIns="38100" rtlCol="0" anchor="ctr"/>
          <a:lstStyle/>
          <a:p>
            <a:pPr algn="ctr" indent="0" marL="0">
              <a:buNone/>
            </a:pPr>
            <a:r>
              <a:rPr lang="tr-TR" sz="1200" dirty="0">
                <a:solidFill>
                  <a:srgbClr val="36454F"/>
                </a:solidFill>
                <a:latin typeface="Consolas" pitchFamily="34" charset="0"/>
                <a:ea typeface="Consolas" pitchFamily="34" charset="-122"/>
                <a:cs typeface="Consolas" pitchFamily="34" charset="-120"/>
              </a:rPr>
              <a:t>State</a:t>
            </a:r>
            <a:endParaRPr lang="tr-TR" sz="1200" dirty="0"/>
          </a:p>
        </p:txBody>
      </p:sp>
      <p:sp>
        <p:nvSpPr>
          <p:cNvPr id="12" name="Shape 10"/>
          <p:cNvSpPr/>
          <p:nvPr/>
        </p:nvSpPr>
        <p:spPr>
          <a:xfrm>
            <a:off x="8714232" y="2816352"/>
            <a:ext cx="384048" cy="91"/>
          </a:xfrm>
          <a:prstGeom prst="line">
            <a:avLst/>
          </a:prstGeom>
          <a:noFill/>
          <a:ln w="19050">
            <a:solidFill>
              <a:srgbClr val="50808E"/>
            </a:solidFill>
            <a:prstDash val="solid"/>
            <a:tailEnd type="triangle"/>
          </a:ln>
        </p:spPr>
      </p:sp>
      <p:sp>
        <p:nvSpPr>
          <p:cNvPr id="13" name="Shape 11"/>
          <p:cNvSpPr/>
          <p:nvPr/>
        </p:nvSpPr>
        <p:spPr>
          <a:xfrm>
            <a:off x="9125712" y="2560320"/>
            <a:ext cx="2532888" cy="512064"/>
          </a:xfrm>
          <a:prstGeom prst="roundRect">
            <a:avLst>
              <a:gd name="adj" fmla="val 8929"/>
            </a:avLst>
          </a:prstGeom>
          <a:solidFill>
            <a:srgbClr val="D7E9E6"/>
          </a:solidFill>
          <a:ln/>
        </p:spPr>
      </p:sp>
      <p:sp>
        <p:nvSpPr>
          <p:cNvPr id="14" name="Text 12"/>
          <p:cNvSpPr txBox="1"/>
          <p:nvPr/>
        </p:nvSpPr>
        <p:spPr>
          <a:xfrm>
            <a:off x="9125712" y="2560320"/>
            <a:ext cx="2532888" cy="512064"/>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süreç durumu</a:t>
            </a:r>
            <a:endParaRPr lang="tr-TR" sz="1300" dirty="0"/>
          </a:p>
        </p:txBody>
      </p:sp>
      <p:sp>
        <p:nvSpPr>
          <p:cNvPr id="15" name="Shape 13"/>
          <p:cNvSpPr/>
          <p:nvPr/>
        </p:nvSpPr>
        <p:spPr>
          <a:xfrm>
            <a:off x="6583680" y="3182112"/>
            <a:ext cx="2103120" cy="512064"/>
          </a:xfrm>
          <a:prstGeom prst="roundRect">
            <a:avLst>
              <a:gd name="adj" fmla="val 8929"/>
            </a:avLst>
          </a:prstGeom>
          <a:solidFill>
            <a:srgbClr val="F2F2F2"/>
          </a:solidFill>
          <a:ln/>
        </p:spPr>
      </p:sp>
      <p:sp>
        <p:nvSpPr>
          <p:cNvPr id="16" name="Text 14"/>
          <p:cNvSpPr txBox="1"/>
          <p:nvPr/>
        </p:nvSpPr>
        <p:spPr>
          <a:xfrm>
            <a:off x="6583680" y="3182112"/>
            <a:ext cx="2103120" cy="512064"/>
          </a:xfrm>
          <a:prstGeom prst="rect">
            <a:avLst/>
          </a:prstGeom>
          <a:noFill/>
          <a:ln/>
        </p:spPr>
        <p:txBody>
          <a:bodyPr wrap="square" lIns="38100" tIns="38100" rIns="38100" bIns="38100" rtlCol="0" anchor="ctr"/>
          <a:lstStyle/>
          <a:p>
            <a:pPr algn="ctr" indent="0" marL="0">
              <a:buNone/>
            </a:pPr>
            <a:r>
              <a:rPr lang="tr-TR" sz="1200" dirty="0">
                <a:solidFill>
                  <a:srgbClr val="36454F"/>
                </a:solidFill>
                <a:latin typeface="Consolas" pitchFamily="34" charset="0"/>
                <a:ea typeface="Consolas" pitchFamily="34" charset="-122"/>
                <a:cs typeface="Consolas" pitchFamily="34" charset="-120"/>
              </a:rPr>
              <a:t>Pid, PPid</a:t>
            </a:r>
            <a:endParaRPr lang="tr-TR" sz="1200" dirty="0"/>
          </a:p>
        </p:txBody>
      </p:sp>
      <p:sp>
        <p:nvSpPr>
          <p:cNvPr id="17" name="Shape 15"/>
          <p:cNvSpPr/>
          <p:nvPr/>
        </p:nvSpPr>
        <p:spPr>
          <a:xfrm>
            <a:off x="8714232" y="3438144"/>
            <a:ext cx="384048" cy="91"/>
          </a:xfrm>
          <a:prstGeom prst="line">
            <a:avLst/>
          </a:prstGeom>
          <a:noFill/>
          <a:ln w="19050">
            <a:solidFill>
              <a:srgbClr val="50808E"/>
            </a:solidFill>
            <a:prstDash val="solid"/>
            <a:tailEnd type="triangle"/>
          </a:ln>
        </p:spPr>
      </p:sp>
      <p:sp>
        <p:nvSpPr>
          <p:cNvPr id="18" name="Shape 16"/>
          <p:cNvSpPr/>
          <p:nvPr/>
        </p:nvSpPr>
        <p:spPr>
          <a:xfrm>
            <a:off x="9125712" y="3182112"/>
            <a:ext cx="2532888" cy="512064"/>
          </a:xfrm>
          <a:prstGeom prst="roundRect">
            <a:avLst>
              <a:gd name="adj" fmla="val 8929"/>
            </a:avLst>
          </a:prstGeom>
          <a:solidFill>
            <a:srgbClr val="D7E9E6"/>
          </a:solidFill>
          <a:ln/>
        </p:spPr>
      </p:sp>
      <p:sp>
        <p:nvSpPr>
          <p:cNvPr id="19" name="Text 17"/>
          <p:cNvSpPr txBox="1"/>
          <p:nvPr/>
        </p:nvSpPr>
        <p:spPr>
          <a:xfrm>
            <a:off x="9125712" y="3182112"/>
            <a:ext cx="2532888" cy="512064"/>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kimlik</a:t>
            </a:r>
            <a:endParaRPr lang="tr-TR" sz="1300" dirty="0"/>
          </a:p>
        </p:txBody>
      </p:sp>
      <p:sp>
        <p:nvSpPr>
          <p:cNvPr id="20" name="Shape 18"/>
          <p:cNvSpPr/>
          <p:nvPr/>
        </p:nvSpPr>
        <p:spPr>
          <a:xfrm>
            <a:off x="6583680" y="3803904"/>
            <a:ext cx="2103120" cy="512064"/>
          </a:xfrm>
          <a:prstGeom prst="roundRect">
            <a:avLst>
              <a:gd name="adj" fmla="val 8929"/>
            </a:avLst>
          </a:prstGeom>
          <a:solidFill>
            <a:srgbClr val="F2F2F2"/>
          </a:solidFill>
          <a:ln/>
        </p:spPr>
      </p:sp>
      <p:sp>
        <p:nvSpPr>
          <p:cNvPr id="21" name="Text 19"/>
          <p:cNvSpPr txBox="1"/>
          <p:nvPr/>
        </p:nvSpPr>
        <p:spPr>
          <a:xfrm>
            <a:off x="6583680" y="3803904"/>
            <a:ext cx="2103120" cy="512064"/>
          </a:xfrm>
          <a:prstGeom prst="rect">
            <a:avLst/>
          </a:prstGeom>
          <a:noFill/>
          <a:ln/>
        </p:spPr>
        <p:txBody>
          <a:bodyPr wrap="square" lIns="38100" tIns="38100" rIns="38100" bIns="38100" rtlCol="0" anchor="ctr"/>
          <a:lstStyle/>
          <a:p>
            <a:pPr algn="ctr" indent="0" marL="0">
              <a:buNone/>
            </a:pPr>
            <a:r>
              <a:rPr lang="tr-TR" sz="1200" dirty="0">
                <a:solidFill>
                  <a:srgbClr val="36454F"/>
                </a:solidFill>
                <a:latin typeface="Consolas" pitchFamily="34" charset="0"/>
                <a:ea typeface="Consolas" pitchFamily="34" charset="-122"/>
                <a:cs typeface="Consolas" pitchFamily="34" charset="-120"/>
              </a:rPr>
              <a:t>Uid</a:t>
            </a:r>
            <a:endParaRPr lang="tr-TR" sz="1200" dirty="0"/>
          </a:p>
        </p:txBody>
      </p:sp>
      <p:sp>
        <p:nvSpPr>
          <p:cNvPr id="22" name="Shape 20"/>
          <p:cNvSpPr/>
          <p:nvPr/>
        </p:nvSpPr>
        <p:spPr>
          <a:xfrm>
            <a:off x="8714232" y="4059936"/>
            <a:ext cx="384048" cy="91"/>
          </a:xfrm>
          <a:prstGeom prst="line">
            <a:avLst/>
          </a:prstGeom>
          <a:noFill/>
          <a:ln w="19050">
            <a:solidFill>
              <a:srgbClr val="50808E"/>
            </a:solidFill>
            <a:prstDash val="solid"/>
            <a:tailEnd type="triangle"/>
          </a:ln>
        </p:spPr>
      </p:sp>
      <p:sp>
        <p:nvSpPr>
          <p:cNvPr id="23" name="Shape 21"/>
          <p:cNvSpPr/>
          <p:nvPr/>
        </p:nvSpPr>
        <p:spPr>
          <a:xfrm>
            <a:off x="9125712" y="3803904"/>
            <a:ext cx="2532888" cy="512064"/>
          </a:xfrm>
          <a:prstGeom prst="roundRect">
            <a:avLst>
              <a:gd name="adj" fmla="val 8929"/>
            </a:avLst>
          </a:prstGeom>
          <a:solidFill>
            <a:srgbClr val="D7E9E6"/>
          </a:solidFill>
          <a:ln/>
        </p:spPr>
      </p:sp>
      <p:sp>
        <p:nvSpPr>
          <p:cNvPr id="24" name="Text 22"/>
          <p:cNvSpPr txBox="1"/>
          <p:nvPr/>
        </p:nvSpPr>
        <p:spPr>
          <a:xfrm>
            <a:off x="9125712" y="3803904"/>
            <a:ext cx="2532888" cy="512064"/>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sahip (koruma)</a:t>
            </a:r>
            <a:endParaRPr lang="tr-TR" sz="1300" dirty="0"/>
          </a:p>
        </p:txBody>
      </p:sp>
      <p:sp>
        <p:nvSpPr>
          <p:cNvPr id="25" name="Shape 23"/>
          <p:cNvSpPr/>
          <p:nvPr/>
        </p:nvSpPr>
        <p:spPr>
          <a:xfrm>
            <a:off x="6583680" y="4425696"/>
            <a:ext cx="2103120" cy="512064"/>
          </a:xfrm>
          <a:prstGeom prst="roundRect">
            <a:avLst>
              <a:gd name="adj" fmla="val 8929"/>
            </a:avLst>
          </a:prstGeom>
          <a:solidFill>
            <a:srgbClr val="F2F2F2"/>
          </a:solidFill>
          <a:ln/>
        </p:spPr>
      </p:sp>
      <p:sp>
        <p:nvSpPr>
          <p:cNvPr id="26" name="Text 24"/>
          <p:cNvSpPr txBox="1"/>
          <p:nvPr/>
        </p:nvSpPr>
        <p:spPr>
          <a:xfrm>
            <a:off x="6583680" y="4425696"/>
            <a:ext cx="2103120" cy="512064"/>
          </a:xfrm>
          <a:prstGeom prst="rect">
            <a:avLst/>
          </a:prstGeom>
          <a:noFill/>
          <a:ln/>
        </p:spPr>
        <p:txBody>
          <a:bodyPr wrap="square" lIns="38100" tIns="38100" rIns="38100" bIns="38100" rtlCol="0" anchor="ctr"/>
          <a:lstStyle/>
          <a:p>
            <a:pPr algn="ctr" indent="0" marL="0">
              <a:buNone/>
            </a:pPr>
            <a:r>
              <a:rPr lang="tr-TR" sz="1200" dirty="0">
                <a:solidFill>
                  <a:srgbClr val="36454F"/>
                </a:solidFill>
                <a:latin typeface="Consolas" pitchFamily="34" charset="0"/>
                <a:ea typeface="Consolas" pitchFamily="34" charset="-122"/>
                <a:cs typeface="Consolas" pitchFamily="34" charset="-120"/>
              </a:rPr>
              <a:t>VmSize, VmRSS</a:t>
            </a:r>
            <a:endParaRPr lang="tr-TR" sz="1200" dirty="0"/>
          </a:p>
        </p:txBody>
      </p:sp>
      <p:sp>
        <p:nvSpPr>
          <p:cNvPr id="27" name="Shape 25"/>
          <p:cNvSpPr/>
          <p:nvPr/>
        </p:nvSpPr>
        <p:spPr>
          <a:xfrm>
            <a:off x="8714232" y="4681728"/>
            <a:ext cx="384048" cy="91"/>
          </a:xfrm>
          <a:prstGeom prst="line">
            <a:avLst/>
          </a:prstGeom>
          <a:noFill/>
          <a:ln w="19050">
            <a:solidFill>
              <a:srgbClr val="50808E"/>
            </a:solidFill>
            <a:prstDash val="solid"/>
            <a:tailEnd type="triangle"/>
          </a:ln>
        </p:spPr>
      </p:sp>
      <p:sp>
        <p:nvSpPr>
          <p:cNvPr id="28" name="Shape 26"/>
          <p:cNvSpPr/>
          <p:nvPr/>
        </p:nvSpPr>
        <p:spPr>
          <a:xfrm>
            <a:off x="9125712" y="4425696"/>
            <a:ext cx="2532888" cy="512064"/>
          </a:xfrm>
          <a:prstGeom prst="roundRect">
            <a:avLst>
              <a:gd name="adj" fmla="val 8929"/>
            </a:avLst>
          </a:prstGeom>
          <a:solidFill>
            <a:srgbClr val="D7E9E6"/>
          </a:solidFill>
          <a:ln/>
        </p:spPr>
      </p:sp>
      <p:sp>
        <p:nvSpPr>
          <p:cNvPr id="29" name="Text 27"/>
          <p:cNvSpPr txBox="1"/>
          <p:nvPr/>
        </p:nvSpPr>
        <p:spPr>
          <a:xfrm>
            <a:off x="9125712" y="4425696"/>
            <a:ext cx="2532888" cy="512064"/>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bellek yönetimi bilgisi</a:t>
            </a:r>
            <a:endParaRPr lang="tr-TR" sz="1300" dirty="0"/>
          </a:p>
        </p:txBody>
      </p:sp>
      <p:sp>
        <p:nvSpPr>
          <p:cNvPr id="30" name="Shape 28"/>
          <p:cNvSpPr/>
          <p:nvPr/>
        </p:nvSpPr>
        <p:spPr>
          <a:xfrm>
            <a:off x="6583680" y="5047488"/>
            <a:ext cx="2103120" cy="512064"/>
          </a:xfrm>
          <a:prstGeom prst="roundRect">
            <a:avLst>
              <a:gd name="adj" fmla="val 8929"/>
            </a:avLst>
          </a:prstGeom>
          <a:solidFill>
            <a:srgbClr val="F2F2F2"/>
          </a:solidFill>
          <a:ln/>
        </p:spPr>
      </p:sp>
      <p:sp>
        <p:nvSpPr>
          <p:cNvPr id="31" name="Text 29"/>
          <p:cNvSpPr txBox="1"/>
          <p:nvPr/>
        </p:nvSpPr>
        <p:spPr>
          <a:xfrm>
            <a:off x="6583680" y="5047488"/>
            <a:ext cx="2103120" cy="512064"/>
          </a:xfrm>
          <a:prstGeom prst="rect">
            <a:avLst/>
          </a:prstGeom>
          <a:noFill/>
          <a:ln/>
        </p:spPr>
        <p:txBody>
          <a:bodyPr wrap="square" lIns="38100" tIns="38100" rIns="38100" bIns="38100" rtlCol="0" anchor="ctr"/>
          <a:lstStyle/>
          <a:p>
            <a:pPr algn="ctr" indent="0" marL="0">
              <a:buNone/>
            </a:pPr>
            <a:r>
              <a:rPr lang="tr-TR" sz="1200" dirty="0">
                <a:solidFill>
                  <a:srgbClr val="36454F"/>
                </a:solidFill>
                <a:latin typeface="Consolas" pitchFamily="34" charset="0"/>
                <a:ea typeface="Consolas" pitchFamily="34" charset="-122"/>
                <a:cs typeface="Consolas" pitchFamily="34" charset="-120"/>
              </a:rPr>
              <a:t>Threads</a:t>
            </a:r>
            <a:endParaRPr lang="tr-TR" sz="1200" dirty="0"/>
          </a:p>
        </p:txBody>
      </p:sp>
      <p:sp>
        <p:nvSpPr>
          <p:cNvPr id="32" name="Shape 30"/>
          <p:cNvSpPr/>
          <p:nvPr/>
        </p:nvSpPr>
        <p:spPr>
          <a:xfrm>
            <a:off x="8714232" y="5303520"/>
            <a:ext cx="384048" cy="91"/>
          </a:xfrm>
          <a:prstGeom prst="line">
            <a:avLst/>
          </a:prstGeom>
          <a:noFill/>
          <a:ln w="19050">
            <a:solidFill>
              <a:srgbClr val="50808E"/>
            </a:solidFill>
            <a:prstDash val="solid"/>
            <a:tailEnd type="triangle"/>
          </a:ln>
        </p:spPr>
      </p:sp>
      <p:sp>
        <p:nvSpPr>
          <p:cNvPr id="33" name="Shape 31"/>
          <p:cNvSpPr/>
          <p:nvPr/>
        </p:nvSpPr>
        <p:spPr>
          <a:xfrm>
            <a:off x="9125712" y="5047488"/>
            <a:ext cx="2532888" cy="512064"/>
          </a:xfrm>
          <a:prstGeom prst="roundRect">
            <a:avLst>
              <a:gd name="adj" fmla="val 8929"/>
            </a:avLst>
          </a:prstGeom>
          <a:solidFill>
            <a:srgbClr val="D7E9E6"/>
          </a:solidFill>
          <a:ln/>
        </p:spPr>
      </p:sp>
      <p:sp>
        <p:nvSpPr>
          <p:cNvPr id="34" name="Text 32"/>
          <p:cNvSpPr txBox="1"/>
          <p:nvPr/>
        </p:nvSpPr>
        <p:spPr>
          <a:xfrm>
            <a:off x="9125712" y="5047488"/>
            <a:ext cx="2532888" cy="512064"/>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4. hafta!</a:t>
            </a:r>
            <a:endParaRPr lang="tr-TR" sz="1300" dirty="0"/>
          </a:p>
        </p:txBody>
      </p:sp>
      <p:sp>
        <p:nvSpPr>
          <p:cNvPr id="35" name="Shape 33"/>
          <p:cNvSpPr/>
          <p:nvPr/>
        </p:nvSpPr>
        <p:spPr>
          <a:xfrm>
            <a:off x="6583680" y="5669280"/>
            <a:ext cx="2103120" cy="512064"/>
          </a:xfrm>
          <a:prstGeom prst="roundRect">
            <a:avLst>
              <a:gd name="adj" fmla="val 8929"/>
            </a:avLst>
          </a:prstGeom>
          <a:solidFill>
            <a:srgbClr val="F2F2F2"/>
          </a:solidFill>
          <a:ln/>
        </p:spPr>
      </p:sp>
      <p:sp>
        <p:nvSpPr>
          <p:cNvPr id="36" name="Text 34"/>
          <p:cNvSpPr txBox="1"/>
          <p:nvPr/>
        </p:nvSpPr>
        <p:spPr>
          <a:xfrm>
            <a:off x="6583680" y="5669280"/>
            <a:ext cx="2103120" cy="512064"/>
          </a:xfrm>
          <a:prstGeom prst="rect">
            <a:avLst/>
          </a:prstGeom>
          <a:noFill/>
          <a:ln/>
        </p:spPr>
        <p:txBody>
          <a:bodyPr wrap="square" lIns="38100" tIns="38100" rIns="38100" bIns="38100" rtlCol="0" anchor="ctr"/>
          <a:lstStyle/>
          <a:p>
            <a:pPr algn="ctr" indent="0" marL="0">
              <a:buNone/>
            </a:pPr>
            <a:r>
              <a:rPr lang="tr-TR" sz="1200" dirty="0">
                <a:solidFill>
                  <a:srgbClr val="36454F"/>
                </a:solidFill>
                <a:latin typeface="Consolas" pitchFamily="34" charset="0"/>
                <a:ea typeface="Consolas" pitchFamily="34" charset="-122"/>
                <a:cs typeface="Consolas" pitchFamily="34" charset="-120"/>
              </a:rPr>
              <a:t>…ctxt_switches</a:t>
            </a:r>
            <a:endParaRPr lang="tr-TR" sz="1200" dirty="0"/>
          </a:p>
        </p:txBody>
      </p:sp>
      <p:sp>
        <p:nvSpPr>
          <p:cNvPr id="37" name="Shape 35"/>
          <p:cNvSpPr/>
          <p:nvPr/>
        </p:nvSpPr>
        <p:spPr>
          <a:xfrm>
            <a:off x="8714232" y="5925312"/>
            <a:ext cx="384048" cy="91"/>
          </a:xfrm>
          <a:prstGeom prst="line">
            <a:avLst/>
          </a:prstGeom>
          <a:noFill/>
          <a:ln w="19050">
            <a:solidFill>
              <a:srgbClr val="50808E"/>
            </a:solidFill>
            <a:prstDash val="solid"/>
            <a:tailEnd type="triangle"/>
          </a:ln>
        </p:spPr>
      </p:sp>
      <p:sp>
        <p:nvSpPr>
          <p:cNvPr id="38" name="Shape 36"/>
          <p:cNvSpPr/>
          <p:nvPr/>
        </p:nvSpPr>
        <p:spPr>
          <a:xfrm>
            <a:off x="9125712" y="5669280"/>
            <a:ext cx="2532888" cy="512064"/>
          </a:xfrm>
          <a:prstGeom prst="roundRect">
            <a:avLst>
              <a:gd name="adj" fmla="val 8929"/>
            </a:avLst>
          </a:prstGeom>
          <a:solidFill>
            <a:srgbClr val="D7E9E6"/>
          </a:solidFill>
          <a:ln/>
        </p:spPr>
      </p:sp>
      <p:sp>
        <p:nvSpPr>
          <p:cNvPr id="39" name="Text 37"/>
          <p:cNvSpPr txBox="1"/>
          <p:nvPr/>
        </p:nvSpPr>
        <p:spPr>
          <a:xfrm>
            <a:off x="9125712" y="5669280"/>
            <a:ext cx="2532888" cy="512064"/>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hesap bilgisi</a:t>
            </a:r>
            <a:endParaRPr lang="tr-TR"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BAĞLAM DEĞİŞİMİ</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Bağlam Değişimi: İşlemciyi Bir Süreçten Diğerine Geçirmek</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30</a:t>
            </a:r>
            <a:endParaRPr lang="tr-TR" sz="900" dirty="0"/>
          </a:p>
        </p:txBody>
      </p:sp>
      <p:sp>
        <p:nvSpPr>
          <p:cNvPr id="6" name="Text 4"/>
          <p:cNvSpPr txBox="1"/>
          <p:nvPr/>
        </p:nvSpPr>
        <p:spPr>
          <a:xfrm>
            <a:off x="548640" y="1783080"/>
            <a:ext cx="1005840" cy="566928"/>
          </a:xfrm>
          <a:prstGeom prst="rect">
            <a:avLst/>
          </a:prstGeom>
          <a:noFill/>
          <a:ln/>
        </p:spPr>
        <p:txBody>
          <a:bodyPr wrap="square" lIns="0" tIns="0" rIns="0" bIns="0" rtlCol="0" anchor="ctr"/>
          <a:lstStyle/>
          <a:p>
            <a:pPr indent="0" marL="0">
              <a:buNone/>
            </a:pPr>
            <a:r>
              <a:rPr lang="tr-TR" sz="1600" b="1" dirty="0">
                <a:solidFill>
                  <a:srgbClr val="36454F"/>
                </a:solidFill>
                <a:latin typeface="Cambria" pitchFamily="34" charset="0"/>
                <a:ea typeface="Cambria" pitchFamily="34" charset="-122"/>
                <a:cs typeface="Cambria" pitchFamily="34" charset="-120"/>
              </a:rPr>
              <a:t>P0</a:t>
            </a:r>
            <a:endParaRPr lang="tr-TR" sz="1600" dirty="0"/>
          </a:p>
        </p:txBody>
      </p:sp>
      <p:sp>
        <p:nvSpPr>
          <p:cNvPr id="7" name="Text 5"/>
          <p:cNvSpPr txBox="1"/>
          <p:nvPr/>
        </p:nvSpPr>
        <p:spPr>
          <a:xfrm>
            <a:off x="548640" y="2624328"/>
            <a:ext cx="1005840" cy="566928"/>
          </a:xfrm>
          <a:prstGeom prst="rect">
            <a:avLst/>
          </a:prstGeom>
          <a:noFill/>
          <a:ln/>
        </p:spPr>
        <p:txBody>
          <a:bodyPr wrap="square" lIns="0" tIns="0" rIns="0" bIns="0" rtlCol="0" anchor="ctr"/>
          <a:lstStyle/>
          <a:p>
            <a:pPr indent="0" marL="0">
              <a:buNone/>
            </a:pPr>
            <a:r>
              <a:rPr lang="tr-TR" sz="1600" b="1" dirty="0">
                <a:solidFill>
                  <a:srgbClr val="36454F"/>
                </a:solidFill>
                <a:latin typeface="Cambria" pitchFamily="34" charset="0"/>
                <a:ea typeface="Cambria" pitchFamily="34" charset="-122"/>
                <a:cs typeface="Cambria" pitchFamily="34" charset="-120"/>
              </a:rPr>
              <a:t>Çekirdek</a:t>
            </a:r>
            <a:endParaRPr lang="tr-TR" sz="1600" dirty="0"/>
          </a:p>
        </p:txBody>
      </p:sp>
      <p:sp>
        <p:nvSpPr>
          <p:cNvPr id="8" name="Text 6"/>
          <p:cNvSpPr txBox="1"/>
          <p:nvPr/>
        </p:nvSpPr>
        <p:spPr>
          <a:xfrm>
            <a:off x="548640" y="3465576"/>
            <a:ext cx="1005840" cy="566928"/>
          </a:xfrm>
          <a:prstGeom prst="rect">
            <a:avLst/>
          </a:prstGeom>
          <a:noFill/>
          <a:ln/>
        </p:spPr>
        <p:txBody>
          <a:bodyPr wrap="square" lIns="0" tIns="0" rIns="0" bIns="0" rtlCol="0" anchor="ctr"/>
          <a:lstStyle/>
          <a:p>
            <a:pPr indent="0" marL="0">
              <a:buNone/>
            </a:pPr>
            <a:r>
              <a:rPr lang="tr-TR" sz="1600" b="1" dirty="0">
                <a:solidFill>
                  <a:srgbClr val="36454F"/>
                </a:solidFill>
                <a:latin typeface="Cambria" pitchFamily="34" charset="0"/>
                <a:ea typeface="Cambria" pitchFamily="34" charset="-122"/>
                <a:cs typeface="Cambria" pitchFamily="34" charset="-120"/>
              </a:rPr>
              <a:t>P1</a:t>
            </a:r>
            <a:endParaRPr lang="tr-TR" sz="1600" dirty="0"/>
          </a:p>
        </p:txBody>
      </p:sp>
      <p:sp>
        <p:nvSpPr>
          <p:cNvPr id="9" name="Shape 7"/>
          <p:cNvSpPr/>
          <p:nvPr/>
        </p:nvSpPr>
        <p:spPr>
          <a:xfrm>
            <a:off x="1755648" y="1783080"/>
            <a:ext cx="2157984" cy="566928"/>
          </a:xfrm>
          <a:prstGeom prst="roundRect">
            <a:avLst>
              <a:gd name="adj" fmla="val 8065"/>
            </a:avLst>
          </a:prstGeom>
          <a:solidFill>
            <a:srgbClr val="02C39A"/>
          </a:solidFill>
          <a:ln/>
        </p:spPr>
      </p:sp>
      <p:sp>
        <p:nvSpPr>
          <p:cNvPr id="10" name="Text 8"/>
          <p:cNvSpPr txBox="1"/>
          <p:nvPr/>
        </p:nvSpPr>
        <p:spPr>
          <a:xfrm>
            <a:off x="1755648" y="1783080"/>
            <a:ext cx="2157984" cy="566928"/>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P0 yürütülüyor</a:t>
            </a:r>
            <a:endParaRPr lang="tr-TR" sz="1200" dirty="0"/>
          </a:p>
        </p:txBody>
      </p:sp>
      <p:sp>
        <p:nvSpPr>
          <p:cNvPr id="11" name="Shape 9"/>
          <p:cNvSpPr/>
          <p:nvPr/>
        </p:nvSpPr>
        <p:spPr>
          <a:xfrm>
            <a:off x="3950208" y="2624328"/>
            <a:ext cx="1572768" cy="566928"/>
          </a:xfrm>
          <a:prstGeom prst="roundRect">
            <a:avLst>
              <a:gd name="adj" fmla="val 8065"/>
            </a:avLst>
          </a:prstGeom>
          <a:solidFill>
            <a:srgbClr val="36454F"/>
          </a:solidFill>
          <a:ln/>
        </p:spPr>
      </p:sp>
      <p:sp>
        <p:nvSpPr>
          <p:cNvPr id="12" name="Text 10"/>
          <p:cNvSpPr txBox="1"/>
          <p:nvPr/>
        </p:nvSpPr>
        <p:spPr>
          <a:xfrm>
            <a:off x="3950208" y="2624328"/>
            <a:ext cx="1572768" cy="566928"/>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alibri" pitchFamily="34" charset="0"/>
                <a:ea typeface="Calibri" pitchFamily="34" charset="-122"/>
                <a:cs typeface="Calibri" pitchFamily="34" charset="-120"/>
              </a:rPr>
              <a:t>P0 → PCB0 kaydet  ·  PCB1 yükle</a:t>
            </a:r>
            <a:endParaRPr lang="tr-TR" sz="1200" dirty="0"/>
          </a:p>
        </p:txBody>
      </p:sp>
      <p:sp>
        <p:nvSpPr>
          <p:cNvPr id="13" name="Shape 11"/>
          <p:cNvSpPr/>
          <p:nvPr/>
        </p:nvSpPr>
        <p:spPr>
          <a:xfrm>
            <a:off x="5559552" y="3465576"/>
            <a:ext cx="2157984" cy="566928"/>
          </a:xfrm>
          <a:prstGeom prst="roundRect">
            <a:avLst>
              <a:gd name="adj" fmla="val 8065"/>
            </a:avLst>
          </a:prstGeom>
          <a:solidFill>
            <a:srgbClr val="02C39A"/>
          </a:solidFill>
          <a:ln/>
        </p:spPr>
      </p:sp>
      <p:sp>
        <p:nvSpPr>
          <p:cNvPr id="14" name="Text 12"/>
          <p:cNvSpPr txBox="1"/>
          <p:nvPr/>
        </p:nvSpPr>
        <p:spPr>
          <a:xfrm>
            <a:off x="5559552" y="3465576"/>
            <a:ext cx="2157984" cy="566928"/>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P1 yürütülüyor</a:t>
            </a:r>
            <a:endParaRPr lang="tr-TR" sz="1200" dirty="0"/>
          </a:p>
        </p:txBody>
      </p:sp>
      <p:sp>
        <p:nvSpPr>
          <p:cNvPr id="15" name="Shape 13"/>
          <p:cNvSpPr/>
          <p:nvPr/>
        </p:nvSpPr>
        <p:spPr>
          <a:xfrm>
            <a:off x="7754112" y="2624328"/>
            <a:ext cx="1572768" cy="566928"/>
          </a:xfrm>
          <a:prstGeom prst="roundRect">
            <a:avLst>
              <a:gd name="adj" fmla="val 8065"/>
            </a:avLst>
          </a:prstGeom>
          <a:solidFill>
            <a:srgbClr val="36454F"/>
          </a:solidFill>
          <a:ln/>
        </p:spPr>
      </p:sp>
      <p:sp>
        <p:nvSpPr>
          <p:cNvPr id="16" name="Text 14"/>
          <p:cNvSpPr txBox="1"/>
          <p:nvPr/>
        </p:nvSpPr>
        <p:spPr>
          <a:xfrm>
            <a:off x="7754112" y="2624328"/>
            <a:ext cx="1572768" cy="566928"/>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alibri" pitchFamily="34" charset="0"/>
                <a:ea typeface="Calibri" pitchFamily="34" charset="-122"/>
                <a:cs typeface="Calibri" pitchFamily="34" charset="-120"/>
              </a:rPr>
              <a:t>P1 → PCB1 kaydet  ·  PCB0 yükle</a:t>
            </a:r>
            <a:endParaRPr lang="tr-TR" sz="1200" dirty="0"/>
          </a:p>
        </p:txBody>
      </p:sp>
      <p:sp>
        <p:nvSpPr>
          <p:cNvPr id="17" name="Shape 15"/>
          <p:cNvSpPr/>
          <p:nvPr/>
        </p:nvSpPr>
        <p:spPr>
          <a:xfrm>
            <a:off x="9363456" y="1783080"/>
            <a:ext cx="1865376" cy="566928"/>
          </a:xfrm>
          <a:prstGeom prst="roundRect">
            <a:avLst>
              <a:gd name="adj" fmla="val 8065"/>
            </a:avLst>
          </a:prstGeom>
          <a:solidFill>
            <a:srgbClr val="02C39A"/>
          </a:solidFill>
          <a:ln/>
        </p:spPr>
      </p:sp>
      <p:sp>
        <p:nvSpPr>
          <p:cNvPr id="18" name="Text 16"/>
          <p:cNvSpPr txBox="1"/>
          <p:nvPr/>
        </p:nvSpPr>
        <p:spPr>
          <a:xfrm>
            <a:off x="9363456" y="1783080"/>
            <a:ext cx="1865376" cy="566928"/>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alibri" pitchFamily="34" charset="0"/>
                <a:ea typeface="Calibri" pitchFamily="34" charset="-122"/>
                <a:cs typeface="Calibri" pitchFamily="34" charset="-120"/>
              </a:rPr>
              <a:t>P0 yürütülüyor</a:t>
            </a:r>
            <a:endParaRPr lang="tr-TR" sz="1200" dirty="0"/>
          </a:p>
        </p:txBody>
      </p:sp>
      <p:sp>
        <p:nvSpPr>
          <p:cNvPr id="19" name="Shape 17"/>
          <p:cNvSpPr/>
          <p:nvPr/>
        </p:nvSpPr>
        <p:spPr>
          <a:xfrm>
            <a:off x="4023360" y="2066544"/>
            <a:ext cx="5230368" cy="0"/>
          </a:xfrm>
          <a:prstGeom prst="line">
            <a:avLst/>
          </a:prstGeom>
          <a:noFill/>
          <a:ln w="15875">
            <a:solidFill>
              <a:srgbClr val="50808E"/>
            </a:solidFill>
            <a:prstDash val="dash"/>
          </a:ln>
        </p:spPr>
      </p:sp>
      <p:sp>
        <p:nvSpPr>
          <p:cNvPr id="20" name="Text 18"/>
          <p:cNvSpPr txBox="1"/>
          <p:nvPr/>
        </p:nvSpPr>
        <p:spPr>
          <a:xfrm>
            <a:off x="3931920" y="1764792"/>
            <a:ext cx="5413248" cy="256032"/>
          </a:xfrm>
          <a:prstGeom prst="rect">
            <a:avLst/>
          </a:prstGeom>
          <a:noFill/>
          <a:ln/>
        </p:spPr>
        <p:txBody>
          <a:bodyPr wrap="square" lIns="0" tIns="0" rIns="0" bIns="0" rtlCol="0" anchor="t"/>
          <a:lstStyle/>
          <a:p>
            <a:pPr algn="ctr" indent="0" marL="0">
              <a:buNone/>
            </a:pPr>
            <a:r>
              <a:rPr lang="tr-TR" sz="1000" i="1" dirty="0">
                <a:solidFill>
                  <a:srgbClr val="6B7679"/>
                </a:solidFill>
                <a:latin typeface="Calibri" pitchFamily="34" charset="0"/>
                <a:ea typeface="Calibri" pitchFamily="34" charset="-122"/>
                <a:cs typeface="Calibri" pitchFamily="34" charset="-120"/>
              </a:rPr>
              <a:t>hazır (boşta)</a:t>
            </a:r>
            <a:endParaRPr lang="tr-TR" sz="1000" dirty="0"/>
          </a:p>
        </p:txBody>
      </p:sp>
      <p:sp>
        <p:nvSpPr>
          <p:cNvPr id="21" name="Shape 19"/>
          <p:cNvSpPr/>
          <p:nvPr/>
        </p:nvSpPr>
        <p:spPr>
          <a:xfrm>
            <a:off x="1828800" y="3749040"/>
            <a:ext cx="3621024" cy="0"/>
          </a:xfrm>
          <a:prstGeom prst="line">
            <a:avLst/>
          </a:prstGeom>
          <a:noFill/>
          <a:ln w="15875">
            <a:solidFill>
              <a:srgbClr val="50808E"/>
            </a:solidFill>
            <a:prstDash val="dash"/>
          </a:ln>
        </p:spPr>
      </p:sp>
      <p:sp>
        <p:nvSpPr>
          <p:cNvPr id="22" name="Text 20"/>
          <p:cNvSpPr txBox="1"/>
          <p:nvPr/>
        </p:nvSpPr>
        <p:spPr>
          <a:xfrm>
            <a:off x="1737360" y="3447288"/>
            <a:ext cx="3803904" cy="256032"/>
          </a:xfrm>
          <a:prstGeom prst="rect">
            <a:avLst/>
          </a:prstGeom>
          <a:noFill/>
          <a:ln/>
        </p:spPr>
        <p:txBody>
          <a:bodyPr wrap="square" lIns="0" tIns="0" rIns="0" bIns="0" rtlCol="0" anchor="t"/>
          <a:lstStyle/>
          <a:p>
            <a:pPr algn="ctr" indent="0" marL="0">
              <a:buNone/>
            </a:pPr>
            <a:r>
              <a:rPr lang="tr-TR" sz="1000" i="1" dirty="0">
                <a:solidFill>
                  <a:srgbClr val="6B7679"/>
                </a:solidFill>
                <a:latin typeface="Calibri" pitchFamily="34" charset="0"/>
                <a:ea typeface="Calibri" pitchFamily="34" charset="-122"/>
                <a:cs typeface="Calibri" pitchFamily="34" charset="-120"/>
              </a:rPr>
              <a:t>hazır (boşta)</a:t>
            </a:r>
            <a:endParaRPr lang="tr-TR" sz="1000" dirty="0"/>
          </a:p>
        </p:txBody>
      </p:sp>
      <p:sp>
        <p:nvSpPr>
          <p:cNvPr id="23" name="Shape 21"/>
          <p:cNvSpPr/>
          <p:nvPr/>
        </p:nvSpPr>
        <p:spPr>
          <a:xfrm>
            <a:off x="7827264" y="3749040"/>
            <a:ext cx="3328416" cy="0"/>
          </a:xfrm>
          <a:prstGeom prst="line">
            <a:avLst/>
          </a:prstGeom>
          <a:noFill/>
          <a:ln w="15875">
            <a:solidFill>
              <a:srgbClr val="50808E"/>
            </a:solidFill>
            <a:prstDash val="dash"/>
          </a:ln>
        </p:spPr>
      </p:sp>
      <p:sp>
        <p:nvSpPr>
          <p:cNvPr id="24" name="Text 22"/>
          <p:cNvSpPr txBox="1"/>
          <p:nvPr/>
        </p:nvSpPr>
        <p:spPr>
          <a:xfrm>
            <a:off x="7735824" y="3447288"/>
            <a:ext cx="3511296" cy="256032"/>
          </a:xfrm>
          <a:prstGeom prst="rect">
            <a:avLst/>
          </a:prstGeom>
          <a:noFill/>
          <a:ln/>
        </p:spPr>
        <p:txBody>
          <a:bodyPr wrap="square" lIns="0" tIns="0" rIns="0" bIns="0" rtlCol="0" anchor="t"/>
          <a:lstStyle/>
          <a:p>
            <a:pPr algn="ctr" indent="0" marL="0">
              <a:buNone/>
            </a:pPr>
            <a:r>
              <a:rPr lang="tr-TR" sz="1000" i="1" dirty="0">
                <a:solidFill>
                  <a:srgbClr val="6B7679"/>
                </a:solidFill>
                <a:latin typeface="Calibri" pitchFamily="34" charset="0"/>
                <a:ea typeface="Calibri" pitchFamily="34" charset="-122"/>
                <a:cs typeface="Calibri" pitchFamily="34" charset="-120"/>
              </a:rPr>
              <a:t>hazır (boşta)</a:t>
            </a:r>
            <a:endParaRPr lang="tr-TR" sz="1000" dirty="0"/>
          </a:p>
        </p:txBody>
      </p:sp>
      <p:sp>
        <p:nvSpPr>
          <p:cNvPr id="25" name="Shape 23"/>
          <p:cNvSpPr/>
          <p:nvPr/>
        </p:nvSpPr>
        <p:spPr>
          <a:xfrm>
            <a:off x="3931920" y="2368296"/>
            <a:ext cx="91" cy="237744"/>
          </a:xfrm>
          <a:prstGeom prst="line">
            <a:avLst/>
          </a:prstGeom>
          <a:noFill/>
          <a:ln w="25400">
            <a:solidFill>
              <a:srgbClr val="B5453A"/>
            </a:solidFill>
            <a:prstDash val="solid"/>
            <a:tailEnd type="triangle"/>
          </a:ln>
        </p:spPr>
      </p:sp>
      <p:sp>
        <p:nvSpPr>
          <p:cNvPr id="26" name="Shape 24"/>
          <p:cNvSpPr/>
          <p:nvPr/>
        </p:nvSpPr>
        <p:spPr>
          <a:xfrm flipV="1">
            <a:off x="7735824" y="3209544"/>
            <a:ext cx="91" cy="237744"/>
          </a:xfrm>
          <a:prstGeom prst="line">
            <a:avLst/>
          </a:prstGeom>
          <a:noFill/>
          <a:ln w="25400">
            <a:solidFill>
              <a:srgbClr val="B5453A"/>
            </a:solidFill>
            <a:prstDash val="solid"/>
            <a:tailEnd type="triangle"/>
          </a:ln>
        </p:spPr>
      </p:sp>
      <p:sp>
        <p:nvSpPr>
          <p:cNvPr id="27" name="Text 25"/>
          <p:cNvSpPr txBox="1"/>
          <p:nvPr/>
        </p:nvSpPr>
        <p:spPr>
          <a:xfrm>
            <a:off x="4005072" y="2368296"/>
            <a:ext cx="2377440" cy="228600"/>
          </a:xfrm>
          <a:prstGeom prst="rect">
            <a:avLst/>
          </a:prstGeom>
          <a:noFill/>
          <a:ln/>
        </p:spPr>
        <p:txBody>
          <a:bodyPr wrap="square" lIns="0" tIns="0" rIns="0" bIns="0" rtlCol="0" anchor="t"/>
          <a:lstStyle/>
          <a:p>
            <a:pPr indent="0" marL="0">
              <a:buNone/>
            </a:pPr>
            <a:r>
              <a:rPr lang="tr-TR" sz="1000" i="1" dirty="0">
                <a:solidFill>
                  <a:srgbClr val="B5453A"/>
                </a:solidFill>
                <a:latin typeface="Calibri" pitchFamily="34" charset="0"/>
                <a:ea typeface="Calibri" pitchFamily="34" charset="-122"/>
                <a:cs typeface="Calibri" pitchFamily="34" charset="-120"/>
              </a:rPr>
              <a:t>kesme ya da sistem çağrısı</a:t>
            </a:r>
            <a:endParaRPr lang="tr-TR" sz="1000" dirty="0"/>
          </a:p>
        </p:txBody>
      </p:sp>
      <p:sp>
        <p:nvSpPr>
          <p:cNvPr id="28" name="Shape 26"/>
          <p:cNvSpPr/>
          <p:nvPr/>
        </p:nvSpPr>
        <p:spPr>
          <a:xfrm>
            <a:off x="548640" y="4343400"/>
            <a:ext cx="6675120" cy="1920240"/>
          </a:xfrm>
          <a:prstGeom prst="roundRect">
            <a:avLst>
              <a:gd name="adj" fmla="val 2857"/>
            </a:avLst>
          </a:prstGeom>
          <a:solidFill>
            <a:srgbClr val="F2F2F2"/>
          </a:solidFill>
          <a:ln/>
          <a:effectLst>
            <a:outerShdw sx="100000" sy="100000" kx="0" ky="0" algn="bl" rotWithShape="0" blurRad="101600" dist="25400" dir="5400000">
              <a:srgbClr val="000000">
                <a:alpha val="12000"/>
              </a:srgbClr>
            </a:outerShdw>
          </a:effectLst>
        </p:spPr>
      </p:sp>
      <p:sp>
        <p:nvSpPr>
          <p:cNvPr id="29" name="Text 27"/>
          <p:cNvSpPr txBox="1"/>
          <p:nvPr/>
        </p:nvSpPr>
        <p:spPr>
          <a:xfrm>
            <a:off x="777240" y="4526280"/>
            <a:ext cx="621792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Ne kaydedilir ve geri yüklenir?</a:t>
            </a:r>
            <a:endParaRPr lang="tr-TR" sz="1500" dirty="0"/>
          </a:p>
        </p:txBody>
      </p:sp>
      <p:sp>
        <p:nvSpPr>
          <p:cNvPr id="30" name="Text 28"/>
          <p:cNvSpPr txBox="1"/>
          <p:nvPr/>
        </p:nvSpPr>
        <p:spPr>
          <a:xfrm>
            <a:off x="777240" y="4983480"/>
            <a:ext cx="6217920" cy="1143000"/>
          </a:xfrm>
          <a:prstGeom prst="rect">
            <a:avLst/>
          </a:prstGeom>
          <a:noFill/>
          <a:ln/>
        </p:spPr>
        <p:txBody>
          <a:bodyPr wrap="square" lIns="0" tIns="0" rIns="0" bIns="0" rtlCol="0" anchor="t"/>
          <a:lstStyle/>
          <a:p>
            <a:pPr indent="0" marL="0">
              <a:spcAft>
                <a:spcPts val="400"/>
              </a:spcAft>
              <a:buNone/>
            </a:pPr>
            <a:r>
              <a:rPr lang="tr-TR" sz="1400" dirty="0">
                <a:solidFill>
                  <a:srgbClr val="3A464C"/>
                </a:solidFill>
                <a:latin typeface="Calibri" pitchFamily="34" charset="0"/>
                <a:ea typeface="Calibri" pitchFamily="34" charset="-122"/>
                <a:cs typeface="Calibri" pitchFamily="34" charset="-120"/>
              </a:rPr>
              <a:t>Program sayacı, işlemci yazmaçları, yığıt işaretçisi, süreç durumu ve bellek yönetimi bilgisi (hangi sayfa tablosunun etkin olduğu). Hepsi PCB'de durur.</a:t>
            </a:r>
            <a:endParaRPr lang="tr-TR" sz="1400" dirty="0"/>
          </a:p>
        </p:txBody>
      </p:sp>
      <p:sp>
        <p:nvSpPr>
          <p:cNvPr id="31" name="Shape 29"/>
          <p:cNvSpPr/>
          <p:nvPr/>
        </p:nvSpPr>
        <p:spPr>
          <a:xfrm>
            <a:off x="7452360" y="4343400"/>
            <a:ext cx="4206240" cy="1920240"/>
          </a:xfrm>
          <a:prstGeom prst="roundRect">
            <a:avLst>
              <a:gd name="adj" fmla="val 2857"/>
            </a:avLst>
          </a:prstGeom>
          <a:solidFill>
            <a:srgbClr val="36454F"/>
          </a:solidFill>
          <a:ln/>
          <a:effectLst>
            <a:outerShdw sx="100000" sy="100000" kx="0" ky="0" algn="bl" rotWithShape="0" blurRad="101600" dist="25400" dir="5400000">
              <a:srgbClr val="000000">
                <a:alpha val="12000"/>
              </a:srgbClr>
            </a:outerShdw>
          </a:effectLst>
        </p:spPr>
      </p:sp>
      <p:sp>
        <p:nvSpPr>
          <p:cNvPr id="32" name="Text 30"/>
          <p:cNvSpPr txBox="1"/>
          <p:nvPr/>
        </p:nvSpPr>
        <p:spPr>
          <a:xfrm>
            <a:off x="7680960" y="4343400"/>
            <a:ext cx="3749040" cy="1920240"/>
          </a:xfrm>
          <a:prstGeom prst="rect">
            <a:avLst/>
          </a:prstGeom>
          <a:noFill/>
          <a:ln/>
        </p:spPr>
        <p:txBody>
          <a:bodyPr wrap="square" lIns="0" tIns="0" rIns="0" bIns="0" rtlCol="0" anchor="ctr"/>
          <a:lstStyle/>
          <a:p>
            <a:pPr indent="0" marL="0">
              <a:buNone/>
            </a:pPr>
            <a:r>
              <a:rPr lang="tr-TR" sz="1500" dirty="0">
                <a:solidFill>
                  <a:srgbClr val="F2F2F2"/>
                </a:solidFill>
                <a:latin typeface="Calibri" pitchFamily="34" charset="0"/>
                <a:ea typeface="Calibri" pitchFamily="34" charset="-122"/>
                <a:cs typeface="Calibri" pitchFamily="34" charset="-120"/>
              </a:rPr>
              <a:t>Koyu kutular süresince hiçbir süreç yararlı iş yapmaz: bağlam değişimi saf ek yüktür.</a:t>
            </a:r>
            <a:endParaRPr lang="tr-TR"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ÇÖZÜMLÜ ÖRNEK</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Bağlam Değişimi Ne Kadara Mal Olur?</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31</a:t>
            </a:r>
            <a:endParaRPr lang="tr-TR" sz="900" dirty="0"/>
          </a:p>
        </p:txBody>
      </p:sp>
      <p:sp>
        <p:nvSpPr>
          <p:cNvPr id="6" name="Shape 4"/>
          <p:cNvSpPr/>
          <p:nvPr/>
        </p:nvSpPr>
        <p:spPr>
          <a:xfrm>
            <a:off x="548640" y="1508760"/>
            <a:ext cx="5120640" cy="4754880"/>
          </a:xfrm>
          <a:prstGeom prst="roundRect">
            <a:avLst>
              <a:gd name="adj" fmla="val 1154"/>
            </a:avLst>
          </a:prstGeom>
          <a:solidFill>
            <a:srgbClr val="F2F2F2"/>
          </a:solidFill>
          <a:ln/>
          <a:effectLst>
            <a:outerShdw sx="100000" sy="100000" kx="0" ky="0" algn="bl" rotWithShape="0" blurRad="101600" dist="25400" dir="5400000">
              <a:srgbClr val="000000">
                <a:alpha val="12000"/>
              </a:srgbClr>
            </a:outerShdw>
          </a:effectLst>
        </p:spPr>
      </p:sp>
      <p:sp>
        <p:nvSpPr>
          <p:cNvPr id="7" name="Text 5"/>
          <p:cNvSpPr txBox="1"/>
          <p:nvPr/>
        </p:nvSpPr>
        <p:spPr>
          <a:xfrm>
            <a:off x="777240" y="1691640"/>
            <a:ext cx="466344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Model</a:t>
            </a:r>
            <a:endParaRPr lang="tr-TR" sz="1500" dirty="0"/>
          </a:p>
        </p:txBody>
      </p:sp>
      <p:sp>
        <p:nvSpPr>
          <p:cNvPr id="8" name="Text 6"/>
          <p:cNvSpPr txBox="1"/>
          <p:nvPr/>
        </p:nvSpPr>
        <p:spPr>
          <a:xfrm>
            <a:off x="777240" y="2148840"/>
            <a:ext cx="4663440" cy="3977640"/>
          </a:xfrm>
          <a:prstGeom prst="rect">
            <a:avLst/>
          </a:prstGeom>
          <a:noFill/>
          <a:ln/>
        </p:spPr>
        <p:txBody>
          <a:bodyPr wrap="square" lIns="0" tIns="0" rIns="0" bIns="0" rtlCol="0" anchor="t"/>
          <a:lstStyle/>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Her süreç q zaman dilimi kadar çalışır, sonra işletim sisteminin geçiş için s süresine ihtiyacı olur.</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Kaybedilen işlemci zamanı oranı:</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     ek yük = s / (q + s)</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s = 5 µs varsayalım (temsilî; gerçek geçişler birkaç µs sürer, önbellekler yeniden dolarken daha fazla).</a:t>
            </a:r>
            <a:endParaRPr lang="tr-TR" sz="1450" dirty="0"/>
          </a:p>
          <a:p>
            <a:pPr marL="228600" indent="-228600">
              <a:spcAft>
                <a:spcPts val="400"/>
              </a:spcAft>
              <a:buSzPct val="100000"/>
              <a:buChar char="•"/>
            </a:pPr>
            <a:r>
              <a:rPr lang="tr-TR" sz="1450" dirty="0">
                <a:solidFill>
                  <a:srgbClr val="3A464C"/>
                </a:solidFill>
                <a:latin typeface="Calibri" pitchFamily="34" charset="0"/>
                <a:ea typeface="Calibri" pitchFamily="34" charset="-122"/>
                <a:cs typeface="Calibri" pitchFamily="34" charset="-120"/>
              </a:rPr>
              <a:t>Örnek: saniyede 1000 geçiş × 5 µs = saniyede 5 ms = %0,5.</a:t>
            </a:r>
            <a:endParaRPr lang="tr-TR" sz="1450" dirty="0"/>
          </a:p>
        </p:txBody>
      </p:sp>
      <p:sp>
        <p:nvSpPr>
          <p:cNvPr id="9" name="Shape 7"/>
          <p:cNvSpPr/>
          <p:nvPr/>
        </p:nvSpPr>
        <p:spPr>
          <a:xfrm>
            <a:off x="5943600" y="1508760"/>
            <a:ext cx="5715000" cy="3291840"/>
          </a:xfrm>
          <a:prstGeom prst="roundRect">
            <a:avLst>
              <a:gd name="adj" fmla="val 1389"/>
            </a:avLst>
          </a:prstGeom>
          <a:solidFill>
            <a:srgbClr val="212121"/>
          </a:solidFill>
          <a:ln/>
        </p:spPr>
      </p:sp>
      <p:sp>
        <p:nvSpPr>
          <p:cNvPr id="10" name="Text 8"/>
          <p:cNvSpPr txBox="1"/>
          <p:nvPr/>
        </p:nvSpPr>
        <p:spPr>
          <a:xfrm>
            <a:off x="6126480" y="1618488"/>
            <a:ext cx="5349240" cy="3072384"/>
          </a:xfrm>
          <a:prstGeom prst="rect">
            <a:avLst/>
          </a:prstGeom>
          <a:noFill/>
          <a:ln/>
        </p:spPr>
        <p:txBody>
          <a:bodyPr wrap="square" lIns="0" tIns="0" rIns="0" bIns="0" rtlCol="0" anchor="t"/>
          <a:lstStyle/>
          <a:p>
            <a:pPr indent="0" marL="0">
              <a:lnSpc>
                <a:spcPct val="105000"/>
              </a:lnSpc>
              <a:buNone/>
            </a:pPr>
            <a:r>
              <a:rPr lang="tr-TR" sz="1350" dirty="0">
                <a:solidFill>
                  <a:srgbClr val="F2F2F2"/>
                </a:solidFill>
                <a:latin typeface="Consolas" pitchFamily="34" charset="0"/>
                <a:ea typeface="Consolas" pitchFamily="34" charset="-122"/>
                <a:cs typeface="Consolas" pitchFamily="34" charset="-120"/>
              </a:rPr>
              <a:t>  zaman dilimi q   ek yük s/(q+s)</a:t>
            </a:r>
            <a:endParaRPr lang="tr-TR" sz="1350" dirty="0"/>
          </a:p>
          <a:p>
            <a:pPr indent="0" marL="0">
              <a:lnSpc>
                <a:spcPct val="105000"/>
              </a:lnSpc>
              <a:buNone/>
            </a:pPr>
            <a:r>
              <a:rPr lang="tr-TR" sz="1350" dirty="0">
                <a:solidFill>
                  <a:srgbClr val="F2F2F2"/>
                </a:solidFill>
                <a:latin typeface="Consolas" pitchFamily="34" charset="0"/>
                <a:ea typeface="Consolas" pitchFamily="34" charset="-122"/>
                <a:cs typeface="Consolas" pitchFamily="34" charset="-120"/>
              </a:rPr>
              <a:t>  100   ms         %0.005</a:t>
            </a:r>
            <a:endParaRPr lang="tr-TR" sz="1350" dirty="0"/>
          </a:p>
          <a:p>
            <a:pPr indent="0" marL="0">
              <a:lnSpc>
                <a:spcPct val="105000"/>
              </a:lnSpc>
              <a:buNone/>
            </a:pPr>
            <a:r>
              <a:rPr lang="tr-TR" sz="1350" dirty="0">
                <a:solidFill>
                  <a:srgbClr val="F2F2F2"/>
                </a:solidFill>
                <a:latin typeface="Consolas" pitchFamily="34" charset="0"/>
                <a:ea typeface="Consolas" pitchFamily="34" charset="-122"/>
                <a:cs typeface="Consolas" pitchFamily="34" charset="-120"/>
              </a:rPr>
              <a:t>   10   ms         %0.05</a:t>
            </a:r>
            <a:endParaRPr lang="tr-TR" sz="1350" dirty="0"/>
          </a:p>
          <a:p>
            <a:pPr indent="0" marL="0">
              <a:lnSpc>
                <a:spcPct val="105000"/>
              </a:lnSpc>
              <a:buNone/>
            </a:pPr>
            <a:r>
              <a:rPr lang="tr-TR" sz="1350" dirty="0">
                <a:solidFill>
                  <a:srgbClr val="F2F2F2"/>
                </a:solidFill>
                <a:latin typeface="Consolas" pitchFamily="34" charset="0"/>
                <a:ea typeface="Consolas" pitchFamily="34" charset="-122"/>
                <a:cs typeface="Consolas" pitchFamily="34" charset="-120"/>
              </a:rPr>
              <a:t>    1   ms         %0.50</a:t>
            </a:r>
            <a:endParaRPr lang="tr-TR" sz="1350" dirty="0"/>
          </a:p>
          <a:p>
            <a:pPr indent="0" marL="0">
              <a:lnSpc>
                <a:spcPct val="105000"/>
              </a:lnSpc>
              <a:buNone/>
            </a:pPr>
            <a:r>
              <a:rPr lang="tr-TR" sz="1350" dirty="0">
                <a:solidFill>
                  <a:srgbClr val="F2F2F2"/>
                </a:solidFill>
                <a:latin typeface="Consolas" pitchFamily="34" charset="0"/>
                <a:ea typeface="Consolas" pitchFamily="34" charset="-122"/>
                <a:cs typeface="Consolas" pitchFamily="34" charset="-120"/>
              </a:rPr>
              <a:t>    0.1 ms         %4.76</a:t>
            </a:r>
            <a:endParaRPr lang="tr-TR" sz="1350" dirty="0"/>
          </a:p>
          <a:p>
            <a:pPr indent="0" marL="0">
              <a:lnSpc>
                <a:spcPct val="105000"/>
              </a:lnSpc>
              <a:buNone/>
            </a:pPr>
            <a:r>
              <a:rPr lang="tr-TR" sz="1350" dirty="0">
                <a:solidFill>
                  <a:srgbClr val="F2F2F2"/>
                </a:solidFill>
                <a:latin typeface="Consolas" pitchFamily="34" charset="0"/>
                <a:ea typeface="Consolas" pitchFamily="34" charset="-122"/>
                <a:cs typeface="Consolas" pitchFamily="34" charset="-120"/>
              </a:rPr>
              <a:t>    0.01 ms        %33.3</a:t>
            </a:r>
            <a:endParaRPr lang="tr-TR" sz="1350" dirty="0"/>
          </a:p>
          <a:p>
            <a:pPr indent="0" marL="0">
              <a:lnSpc>
                <a:spcPct val="105000"/>
              </a:lnSpc>
              <a:buNone/>
            </a:pPr>
            <a:r>
              <a:rPr lang="tr-TR" sz="1350" dirty="0">
                <a:solidFill>
                  <a:srgbClr val="F2F2F2"/>
                </a:solidFill>
                <a:latin typeface="Consolas" pitchFamily="34" charset="0"/>
                <a:ea typeface="Consolas" pitchFamily="34" charset="-122"/>
                <a:cs typeface="Consolas" pitchFamily="34" charset="-120"/>
              </a:rPr>
              <a:t>    0.005 ms       %50     (q = s)</a:t>
            </a:r>
            <a:endParaRPr lang="tr-TR" sz="1350" dirty="0"/>
          </a:p>
        </p:txBody>
      </p:sp>
      <p:sp>
        <p:nvSpPr>
          <p:cNvPr id="11" name="Shape 9"/>
          <p:cNvSpPr/>
          <p:nvPr/>
        </p:nvSpPr>
        <p:spPr>
          <a:xfrm>
            <a:off x="5943600" y="4983480"/>
            <a:ext cx="5715000" cy="1280160"/>
          </a:xfrm>
          <a:prstGeom prst="roundRect">
            <a:avLst>
              <a:gd name="adj" fmla="val 4286"/>
            </a:avLst>
          </a:prstGeom>
          <a:solidFill>
            <a:srgbClr val="36454F"/>
          </a:solidFill>
          <a:ln/>
          <a:effectLst>
            <a:outerShdw sx="100000" sy="100000" kx="0" ky="0" algn="bl" rotWithShape="0" blurRad="101600" dist="25400" dir="5400000">
              <a:srgbClr val="000000">
                <a:alpha val="12000"/>
              </a:srgbClr>
            </a:outerShdw>
          </a:effectLst>
        </p:spPr>
      </p:sp>
      <p:sp>
        <p:nvSpPr>
          <p:cNvPr id="12" name="Text 10"/>
          <p:cNvSpPr txBox="1"/>
          <p:nvPr/>
        </p:nvSpPr>
        <p:spPr>
          <a:xfrm>
            <a:off x="6172200" y="4983480"/>
            <a:ext cx="5257800" cy="128016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Kısa dilimler hızlı tepki verir ama işlemciyi harcar; uzun dilimler az harcar ama hantal hissettirir. q'yu seçmek bir Round-Robin sorusudur (5. hafta).</a:t>
            </a:r>
            <a:endParaRPr lang="tr-T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 OLUŞTURMA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Süreç Oluşturmak: fork(), exec(), wait()</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32</a:t>
            </a:r>
            <a:endParaRPr lang="tr-TR" sz="900" dirty="0"/>
          </a:p>
        </p:txBody>
      </p:sp>
      <p:sp>
        <p:nvSpPr>
          <p:cNvPr id="6" name="Shape 4"/>
          <p:cNvSpPr/>
          <p:nvPr/>
        </p:nvSpPr>
        <p:spPr>
          <a:xfrm>
            <a:off x="548640" y="2834640"/>
            <a:ext cx="1371600" cy="640080"/>
          </a:xfrm>
          <a:prstGeom prst="roundRect">
            <a:avLst>
              <a:gd name="adj" fmla="val 7143"/>
            </a:avLst>
          </a:prstGeom>
          <a:solidFill>
            <a:srgbClr val="36454F"/>
          </a:solidFill>
          <a:ln/>
        </p:spPr>
      </p:sp>
      <p:sp>
        <p:nvSpPr>
          <p:cNvPr id="7" name="Text 5"/>
          <p:cNvSpPr txBox="1"/>
          <p:nvPr/>
        </p:nvSpPr>
        <p:spPr>
          <a:xfrm>
            <a:off x="548640" y="2834640"/>
            <a:ext cx="1371600" cy="640080"/>
          </a:xfrm>
          <a:prstGeom prst="rect">
            <a:avLst/>
          </a:prstGeom>
          <a:noFill/>
          <a:ln/>
        </p:spPr>
        <p:txBody>
          <a:bodyPr wrap="square" lIns="38100" tIns="38100" rIns="38100" bIns="38100" rtlCol="0" anchor="ctr"/>
          <a:lstStyle/>
          <a:p>
            <a:pPr algn="ctr" indent="0" marL="0">
              <a:buNone/>
            </a:pPr>
            <a:r>
              <a:rPr lang="tr-TR" sz="1300" b="1" dirty="0">
                <a:solidFill>
                  <a:srgbClr val="FFFFFF"/>
                </a:solidFill>
                <a:latin typeface="Calibri" pitchFamily="34" charset="0"/>
                <a:ea typeface="Calibri" pitchFamily="34" charset="-122"/>
                <a:cs typeface="Calibri" pitchFamily="34" charset="-120"/>
              </a:rPr>
              <a:t>ebeveyn</a:t>
            </a:r>
            <a:endParaRPr lang="tr-TR" sz="1300" dirty="0"/>
          </a:p>
          <a:p>
            <a:pPr algn="ctr" indent="0" marL="0">
              <a:buNone/>
            </a:pPr>
            <a:r>
              <a:rPr lang="tr-TR" sz="1100" dirty="0">
                <a:solidFill>
                  <a:srgbClr val="FFFFFF"/>
                </a:solidFill>
                <a:latin typeface="Calibri" pitchFamily="34" charset="0"/>
                <a:ea typeface="Calibri" pitchFamily="34" charset="-122"/>
                <a:cs typeface="Calibri" pitchFamily="34" charset="-120"/>
              </a:rPr>
              <a:t>PID 32268</a:t>
            </a:r>
            <a:endParaRPr lang="tr-TR" sz="1300" dirty="0"/>
          </a:p>
        </p:txBody>
      </p:sp>
      <p:sp>
        <p:nvSpPr>
          <p:cNvPr id="8" name="Shape 6"/>
          <p:cNvSpPr/>
          <p:nvPr/>
        </p:nvSpPr>
        <p:spPr>
          <a:xfrm>
            <a:off x="2286000" y="2834640"/>
            <a:ext cx="1097280" cy="640080"/>
          </a:xfrm>
          <a:prstGeom prst="roundRect">
            <a:avLst>
              <a:gd name="adj" fmla="val 7143"/>
            </a:avLst>
          </a:prstGeom>
          <a:solidFill>
            <a:srgbClr val="02C39A"/>
          </a:solidFill>
          <a:ln/>
        </p:spPr>
      </p:sp>
      <p:sp>
        <p:nvSpPr>
          <p:cNvPr id="9" name="Text 7"/>
          <p:cNvSpPr txBox="1"/>
          <p:nvPr/>
        </p:nvSpPr>
        <p:spPr>
          <a:xfrm>
            <a:off x="2286000" y="2834640"/>
            <a:ext cx="1097280" cy="640080"/>
          </a:xfrm>
          <a:prstGeom prst="rect">
            <a:avLst/>
          </a:prstGeom>
          <a:noFill/>
          <a:ln/>
        </p:spPr>
        <p:txBody>
          <a:bodyPr wrap="square" lIns="38100" tIns="38100" rIns="38100" bIns="38100" rtlCol="0" anchor="ctr"/>
          <a:lstStyle/>
          <a:p>
            <a:pPr algn="ctr" indent="0" marL="0">
              <a:buNone/>
            </a:pPr>
            <a:r>
              <a:rPr lang="tr-TR" sz="1400" b="1" dirty="0">
                <a:solidFill>
                  <a:srgbClr val="212121"/>
                </a:solidFill>
                <a:latin typeface="Consolas" pitchFamily="34" charset="0"/>
                <a:ea typeface="Consolas" pitchFamily="34" charset="-122"/>
                <a:cs typeface="Consolas" pitchFamily="34" charset="-120"/>
              </a:rPr>
              <a:t>fork()</a:t>
            </a:r>
            <a:endParaRPr lang="tr-TR" sz="1400" dirty="0"/>
          </a:p>
        </p:txBody>
      </p:sp>
      <p:sp>
        <p:nvSpPr>
          <p:cNvPr id="10" name="Shape 8"/>
          <p:cNvSpPr/>
          <p:nvPr/>
        </p:nvSpPr>
        <p:spPr>
          <a:xfrm>
            <a:off x="1938528" y="3154680"/>
            <a:ext cx="329184" cy="91"/>
          </a:xfrm>
          <a:prstGeom prst="line">
            <a:avLst/>
          </a:prstGeom>
          <a:noFill/>
          <a:ln w="25400">
            <a:solidFill>
              <a:srgbClr val="50808E"/>
            </a:solidFill>
            <a:prstDash val="solid"/>
            <a:tailEnd type="triangle"/>
          </a:ln>
        </p:spPr>
      </p:sp>
      <p:sp>
        <p:nvSpPr>
          <p:cNvPr id="11" name="Shape 9"/>
          <p:cNvSpPr/>
          <p:nvPr/>
        </p:nvSpPr>
        <p:spPr>
          <a:xfrm flipV="1">
            <a:off x="2834640" y="2240280"/>
            <a:ext cx="1005840" cy="576072"/>
          </a:xfrm>
          <a:prstGeom prst="line">
            <a:avLst/>
          </a:prstGeom>
          <a:noFill/>
          <a:ln w="25400">
            <a:solidFill>
              <a:srgbClr val="50808E"/>
            </a:solidFill>
            <a:prstDash val="solid"/>
            <a:tailEnd type="triangle"/>
          </a:ln>
        </p:spPr>
      </p:sp>
      <p:sp>
        <p:nvSpPr>
          <p:cNvPr id="12" name="Shape 10"/>
          <p:cNvSpPr/>
          <p:nvPr/>
        </p:nvSpPr>
        <p:spPr>
          <a:xfrm>
            <a:off x="3858768" y="1920240"/>
            <a:ext cx="1280160" cy="640080"/>
          </a:xfrm>
          <a:prstGeom prst="roundRect">
            <a:avLst>
              <a:gd name="adj" fmla="val 7143"/>
            </a:avLst>
          </a:prstGeom>
          <a:solidFill>
            <a:srgbClr val="02C39A"/>
          </a:solidFill>
          <a:ln/>
        </p:spPr>
      </p:sp>
      <p:sp>
        <p:nvSpPr>
          <p:cNvPr id="13" name="Text 11"/>
          <p:cNvSpPr txBox="1"/>
          <p:nvPr/>
        </p:nvSpPr>
        <p:spPr>
          <a:xfrm>
            <a:off x="3858768" y="1920240"/>
            <a:ext cx="1280160" cy="640080"/>
          </a:xfrm>
          <a:prstGeom prst="rect">
            <a:avLst/>
          </a:prstGeom>
          <a:noFill/>
          <a:ln/>
        </p:spPr>
        <p:txBody>
          <a:bodyPr wrap="square" lIns="38100" tIns="38100" rIns="38100" bIns="38100" rtlCol="0" anchor="ctr"/>
          <a:lstStyle/>
          <a:p>
            <a:pPr algn="ctr" indent="0" marL="0">
              <a:buNone/>
            </a:pPr>
            <a:r>
              <a:rPr lang="tr-TR" sz="1400" b="1" dirty="0">
                <a:solidFill>
                  <a:srgbClr val="212121"/>
                </a:solidFill>
                <a:latin typeface="Consolas" pitchFamily="34" charset="0"/>
                <a:ea typeface="Consolas" pitchFamily="34" charset="-122"/>
                <a:cs typeface="Consolas" pitchFamily="34" charset="-120"/>
              </a:rPr>
              <a:t>wait()</a:t>
            </a:r>
            <a:endParaRPr lang="tr-TR" sz="1400" dirty="0"/>
          </a:p>
        </p:txBody>
      </p:sp>
      <p:sp>
        <p:nvSpPr>
          <p:cNvPr id="14" name="Shape 12"/>
          <p:cNvSpPr/>
          <p:nvPr/>
        </p:nvSpPr>
        <p:spPr>
          <a:xfrm>
            <a:off x="5184648" y="2240280"/>
            <a:ext cx="2331720" cy="0"/>
          </a:xfrm>
          <a:prstGeom prst="line">
            <a:avLst/>
          </a:prstGeom>
          <a:noFill/>
          <a:ln w="19050">
            <a:solidFill>
              <a:srgbClr val="50808E"/>
            </a:solidFill>
            <a:prstDash val="dash"/>
          </a:ln>
        </p:spPr>
      </p:sp>
      <p:sp>
        <p:nvSpPr>
          <p:cNvPr id="15" name="Text 13"/>
          <p:cNvSpPr txBox="1"/>
          <p:nvPr/>
        </p:nvSpPr>
        <p:spPr>
          <a:xfrm>
            <a:off x="4983480" y="1645920"/>
            <a:ext cx="2834640" cy="256032"/>
          </a:xfrm>
          <a:prstGeom prst="rect">
            <a:avLst/>
          </a:prstGeom>
          <a:noFill/>
          <a:ln/>
        </p:spPr>
        <p:txBody>
          <a:bodyPr wrap="square" lIns="0" tIns="0" rIns="0" bIns="0" rtlCol="0" anchor="t"/>
          <a:lstStyle/>
          <a:p>
            <a:pPr algn="ctr" indent="0" marL="0">
              <a:buNone/>
            </a:pPr>
            <a:r>
              <a:rPr lang="tr-TR" sz="1100" i="1" dirty="0">
                <a:solidFill>
                  <a:srgbClr val="6B7679"/>
                </a:solidFill>
                <a:latin typeface="Calibri" pitchFamily="34" charset="0"/>
                <a:ea typeface="Calibri" pitchFamily="34" charset="-122"/>
                <a:cs typeface="Calibri" pitchFamily="34" charset="-120"/>
              </a:rPr>
              <a:t>ebeveyn bekler (durum: bekliyor)</a:t>
            </a:r>
            <a:endParaRPr lang="tr-TR" sz="1100" dirty="0"/>
          </a:p>
        </p:txBody>
      </p:sp>
      <p:sp>
        <p:nvSpPr>
          <p:cNvPr id="16" name="Shape 14"/>
          <p:cNvSpPr/>
          <p:nvPr/>
        </p:nvSpPr>
        <p:spPr>
          <a:xfrm>
            <a:off x="7543800" y="1920240"/>
            <a:ext cx="1371600" cy="640080"/>
          </a:xfrm>
          <a:prstGeom prst="roundRect">
            <a:avLst>
              <a:gd name="adj" fmla="val 7143"/>
            </a:avLst>
          </a:prstGeom>
          <a:solidFill>
            <a:srgbClr val="36454F"/>
          </a:solidFill>
          <a:ln/>
        </p:spPr>
      </p:sp>
      <p:sp>
        <p:nvSpPr>
          <p:cNvPr id="17" name="Text 15"/>
          <p:cNvSpPr txBox="1"/>
          <p:nvPr/>
        </p:nvSpPr>
        <p:spPr>
          <a:xfrm>
            <a:off x="7543800" y="1920240"/>
            <a:ext cx="1371600" cy="640080"/>
          </a:xfrm>
          <a:prstGeom prst="rect">
            <a:avLst/>
          </a:prstGeom>
          <a:noFill/>
          <a:ln/>
        </p:spPr>
        <p:txBody>
          <a:bodyPr wrap="square" lIns="38100" tIns="38100" rIns="38100" bIns="38100" rtlCol="0" anchor="ctr"/>
          <a:lstStyle/>
          <a:p>
            <a:pPr algn="ctr" indent="0" marL="0">
              <a:buNone/>
            </a:pPr>
            <a:r>
              <a:rPr lang="tr-TR" sz="1300" b="1" dirty="0">
                <a:solidFill>
                  <a:srgbClr val="FFFFFF"/>
                </a:solidFill>
                <a:latin typeface="Calibri" pitchFamily="34" charset="0"/>
                <a:ea typeface="Calibri" pitchFamily="34" charset="-122"/>
                <a:cs typeface="Calibri" pitchFamily="34" charset="-120"/>
              </a:rPr>
              <a:t>devam eder</a:t>
            </a:r>
            <a:endParaRPr lang="tr-TR" sz="1300" dirty="0"/>
          </a:p>
          <a:p>
            <a:pPr algn="ctr" indent="0" marL="0">
              <a:buNone/>
            </a:pPr>
            <a:r>
              <a:rPr lang="tr-TR" sz="1100" dirty="0">
                <a:solidFill>
                  <a:srgbClr val="FFFFFF"/>
                </a:solidFill>
                <a:latin typeface="Calibri" pitchFamily="34" charset="0"/>
                <a:ea typeface="Calibri" pitchFamily="34" charset="-122"/>
                <a:cs typeface="Calibri" pitchFamily="34" charset="-120"/>
              </a:rPr>
              <a:t>durumu yazar</a:t>
            </a:r>
            <a:endParaRPr lang="tr-TR" sz="1300" dirty="0"/>
          </a:p>
        </p:txBody>
      </p:sp>
      <p:sp>
        <p:nvSpPr>
          <p:cNvPr id="18" name="Shape 16"/>
          <p:cNvSpPr/>
          <p:nvPr/>
        </p:nvSpPr>
        <p:spPr>
          <a:xfrm>
            <a:off x="2834640" y="3493008"/>
            <a:ext cx="1005840" cy="576072"/>
          </a:xfrm>
          <a:prstGeom prst="line">
            <a:avLst/>
          </a:prstGeom>
          <a:noFill/>
          <a:ln w="25400">
            <a:solidFill>
              <a:srgbClr val="50808E"/>
            </a:solidFill>
            <a:prstDash val="solid"/>
            <a:tailEnd type="triangle"/>
          </a:ln>
        </p:spPr>
      </p:sp>
      <p:sp>
        <p:nvSpPr>
          <p:cNvPr id="19" name="Shape 17"/>
          <p:cNvSpPr/>
          <p:nvPr/>
        </p:nvSpPr>
        <p:spPr>
          <a:xfrm>
            <a:off x="3858768" y="3749040"/>
            <a:ext cx="1280160" cy="640080"/>
          </a:xfrm>
          <a:prstGeom prst="roundRect">
            <a:avLst>
              <a:gd name="adj" fmla="val 7143"/>
            </a:avLst>
          </a:prstGeom>
          <a:solidFill>
            <a:srgbClr val="02C39A"/>
          </a:solidFill>
          <a:ln/>
        </p:spPr>
      </p:sp>
      <p:sp>
        <p:nvSpPr>
          <p:cNvPr id="20" name="Text 18"/>
          <p:cNvSpPr txBox="1"/>
          <p:nvPr/>
        </p:nvSpPr>
        <p:spPr>
          <a:xfrm>
            <a:off x="3858768" y="3749040"/>
            <a:ext cx="1280160" cy="640080"/>
          </a:xfrm>
          <a:prstGeom prst="rect">
            <a:avLst/>
          </a:prstGeom>
          <a:noFill/>
          <a:ln/>
        </p:spPr>
        <p:txBody>
          <a:bodyPr wrap="square" lIns="38100" tIns="38100" rIns="38100" bIns="38100" rtlCol="0" anchor="ctr"/>
          <a:lstStyle/>
          <a:p>
            <a:pPr algn="ctr" indent="0" marL="0">
              <a:buNone/>
            </a:pPr>
            <a:r>
              <a:rPr lang="tr-TR" sz="1300" b="1" dirty="0">
                <a:solidFill>
                  <a:srgbClr val="212121"/>
                </a:solidFill>
                <a:latin typeface="Consolas" pitchFamily="34" charset="0"/>
                <a:ea typeface="Consolas" pitchFamily="34" charset="-122"/>
                <a:cs typeface="Consolas" pitchFamily="34" charset="-120"/>
              </a:rPr>
              <a:t>exec("ps")</a:t>
            </a:r>
            <a:endParaRPr lang="tr-TR" sz="1300" dirty="0"/>
          </a:p>
        </p:txBody>
      </p:sp>
      <p:sp>
        <p:nvSpPr>
          <p:cNvPr id="21" name="Shape 19"/>
          <p:cNvSpPr/>
          <p:nvPr/>
        </p:nvSpPr>
        <p:spPr>
          <a:xfrm>
            <a:off x="5394960" y="3749040"/>
            <a:ext cx="1463040" cy="640080"/>
          </a:xfrm>
          <a:prstGeom prst="roundRect">
            <a:avLst>
              <a:gd name="adj" fmla="val 7143"/>
            </a:avLst>
          </a:prstGeom>
          <a:solidFill>
            <a:srgbClr val="F2F2F2"/>
          </a:solidFill>
          <a:ln/>
        </p:spPr>
      </p:sp>
      <p:sp>
        <p:nvSpPr>
          <p:cNvPr id="22" name="Text 20"/>
          <p:cNvSpPr txBox="1"/>
          <p:nvPr/>
        </p:nvSpPr>
        <p:spPr>
          <a:xfrm>
            <a:off x="5394960" y="3749040"/>
            <a:ext cx="1463040" cy="640080"/>
          </a:xfrm>
          <a:prstGeom prst="rect">
            <a:avLst/>
          </a:prstGeom>
          <a:noFill/>
          <a:ln/>
        </p:spPr>
        <p:txBody>
          <a:bodyPr wrap="square" lIns="38100" tIns="38100" rIns="38100" bIns="38100" rtlCol="0" anchor="ctr"/>
          <a:lstStyle/>
          <a:p>
            <a:pPr algn="ctr" indent="0" marL="0">
              <a:buNone/>
            </a:pPr>
            <a:r>
              <a:rPr lang="tr-TR" sz="1300" b="1" dirty="0">
                <a:solidFill>
                  <a:srgbClr val="36454F"/>
                </a:solidFill>
                <a:latin typeface="Calibri" pitchFamily="34" charset="0"/>
                <a:ea typeface="Calibri" pitchFamily="34" charset="-122"/>
                <a:cs typeface="Calibri" pitchFamily="34" charset="-120"/>
              </a:rPr>
              <a:t>ps çalışır</a:t>
            </a:r>
            <a:endParaRPr lang="tr-TR" sz="1300" dirty="0"/>
          </a:p>
          <a:p>
            <a:pPr algn="ctr" indent="0" marL="0">
              <a:buNone/>
            </a:pPr>
            <a:r>
              <a:rPr lang="tr-TR" sz="1100" dirty="0">
                <a:solidFill>
                  <a:srgbClr val="36454F"/>
                </a:solidFill>
                <a:latin typeface="Calibri" pitchFamily="34" charset="0"/>
                <a:ea typeface="Calibri" pitchFamily="34" charset="-122"/>
                <a:cs typeface="Calibri" pitchFamily="34" charset="-120"/>
              </a:rPr>
              <a:t>aynı PID 32269</a:t>
            </a:r>
            <a:endParaRPr lang="tr-TR" sz="1300" dirty="0"/>
          </a:p>
        </p:txBody>
      </p:sp>
      <p:sp>
        <p:nvSpPr>
          <p:cNvPr id="23" name="Shape 21"/>
          <p:cNvSpPr/>
          <p:nvPr/>
        </p:nvSpPr>
        <p:spPr>
          <a:xfrm>
            <a:off x="5157216" y="4069080"/>
            <a:ext cx="219456" cy="91"/>
          </a:xfrm>
          <a:prstGeom prst="line">
            <a:avLst/>
          </a:prstGeom>
          <a:noFill/>
          <a:ln w="25400">
            <a:solidFill>
              <a:srgbClr val="50808E"/>
            </a:solidFill>
            <a:prstDash val="solid"/>
            <a:tailEnd type="triangle"/>
          </a:ln>
        </p:spPr>
      </p:sp>
      <p:sp>
        <p:nvSpPr>
          <p:cNvPr id="24" name="Shape 22"/>
          <p:cNvSpPr/>
          <p:nvPr/>
        </p:nvSpPr>
        <p:spPr>
          <a:xfrm>
            <a:off x="7132320" y="3749040"/>
            <a:ext cx="1005840" cy="640080"/>
          </a:xfrm>
          <a:prstGeom prst="roundRect">
            <a:avLst>
              <a:gd name="adj" fmla="val 7143"/>
            </a:avLst>
          </a:prstGeom>
          <a:solidFill>
            <a:srgbClr val="02C39A"/>
          </a:solidFill>
          <a:ln/>
        </p:spPr>
      </p:sp>
      <p:sp>
        <p:nvSpPr>
          <p:cNvPr id="25" name="Text 23"/>
          <p:cNvSpPr txBox="1"/>
          <p:nvPr/>
        </p:nvSpPr>
        <p:spPr>
          <a:xfrm>
            <a:off x="7132320" y="3749040"/>
            <a:ext cx="1005840" cy="640080"/>
          </a:xfrm>
          <a:prstGeom prst="rect">
            <a:avLst/>
          </a:prstGeom>
          <a:noFill/>
          <a:ln/>
        </p:spPr>
        <p:txBody>
          <a:bodyPr wrap="square" lIns="38100" tIns="38100" rIns="38100" bIns="38100" rtlCol="0" anchor="ctr"/>
          <a:lstStyle/>
          <a:p>
            <a:pPr algn="ctr" indent="0" marL="0">
              <a:buNone/>
            </a:pPr>
            <a:r>
              <a:rPr lang="tr-TR" sz="1300" b="1" dirty="0">
                <a:solidFill>
                  <a:srgbClr val="212121"/>
                </a:solidFill>
                <a:latin typeface="Consolas" pitchFamily="34" charset="0"/>
                <a:ea typeface="Consolas" pitchFamily="34" charset="-122"/>
                <a:cs typeface="Consolas" pitchFamily="34" charset="-120"/>
              </a:rPr>
              <a:t>exit()</a:t>
            </a:r>
            <a:endParaRPr lang="tr-TR" sz="1300" dirty="0"/>
          </a:p>
        </p:txBody>
      </p:sp>
      <p:sp>
        <p:nvSpPr>
          <p:cNvPr id="26" name="Shape 24"/>
          <p:cNvSpPr/>
          <p:nvPr/>
        </p:nvSpPr>
        <p:spPr>
          <a:xfrm>
            <a:off x="6876288" y="4069080"/>
            <a:ext cx="237744" cy="91"/>
          </a:xfrm>
          <a:prstGeom prst="line">
            <a:avLst/>
          </a:prstGeom>
          <a:noFill/>
          <a:ln w="25400">
            <a:solidFill>
              <a:srgbClr val="50808E"/>
            </a:solidFill>
            <a:prstDash val="solid"/>
            <a:tailEnd type="triangle"/>
          </a:ln>
        </p:spPr>
      </p:sp>
      <p:sp>
        <p:nvSpPr>
          <p:cNvPr id="27" name="Shape 25"/>
          <p:cNvSpPr/>
          <p:nvPr/>
        </p:nvSpPr>
        <p:spPr>
          <a:xfrm flipV="1">
            <a:off x="7863840" y="2578608"/>
            <a:ext cx="274320" cy="1152144"/>
          </a:xfrm>
          <a:prstGeom prst="line">
            <a:avLst/>
          </a:prstGeom>
          <a:noFill/>
          <a:ln w="25400">
            <a:solidFill>
              <a:srgbClr val="B5453A"/>
            </a:solidFill>
            <a:prstDash val="solid"/>
            <a:tailEnd type="triangle"/>
          </a:ln>
        </p:spPr>
      </p:sp>
      <p:sp>
        <p:nvSpPr>
          <p:cNvPr id="28" name="Text 26"/>
          <p:cNvSpPr txBox="1"/>
          <p:nvPr/>
        </p:nvSpPr>
        <p:spPr>
          <a:xfrm>
            <a:off x="8092440" y="2971800"/>
            <a:ext cx="1188720" cy="274320"/>
          </a:xfrm>
          <a:prstGeom prst="rect">
            <a:avLst/>
          </a:prstGeom>
          <a:noFill/>
          <a:ln/>
        </p:spPr>
        <p:txBody>
          <a:bodyPr wrap="square" lIns="0" tIns="0" rIns="0" bIns="0" rtlCol="0" anchor="t"/>
          <a:lstStyle/>
          <a:p>
            <a:pPr indent="0" marL="0">
              <a:buNone/>
            </a:pPr>
            <a:r>
              <a:rPr lang="tr-TR" sz="1100" b="1" dirty="0">
                <a:solidFill>
                  <a:srgbClr val="B5453A"/>
                </a:solidFill>
                <a:latin typeface="Calibri" pitchFamily="34" charset="0"/>
                <a:ea typeface="Calibri" pitchFamily="34" charset="-122"/>
                <a:cs typeface="Calibri" pitchFamily="34" charset="-120"/>
              </a:rPr>
              <a:t>çıkış durumu</a:t>
            </a:r>
            <a:endParaRPr lang="tr-TR" sz="1100" dirty="0"/>
          </a:p>
        </p:txBody>
      </p:sp>
      <p:sp>
        <p:nvSpPr>
          <p:cNvPr id="29" name="Text 27"/>
          <p:cNvSpPr txBox="1"/>
          <p:nvPr/>
        </p:nvSpPr>
        <p:spPr>
          <a:xfrm>
            <a:off x="2468880" y="4480560"/>
            <a:ext cx="1645920" cy="274320"/>
          </a:xfrm>
          <a:prstGeom prst="rect">
            <a:avLst/>
          </a:prstGeom>
          <a:noFill/>
          <a:ln/>
        </p:spPr>
        <p:txBody>
          <a:bodyPr wrap="square" lIns="0" tIns="0" rIns="0" bIns="0" rtlCol="0" anchor="t"/>
          <a:lstStyle/>
          <a:p>
            <a:pPr indent="0" marL="0">
              <a:buNone/>
            </a:pPr>
            <a:r>
              <a:rPr lang="tr-TR" sz="1100" i="1" dirty="0">
                <a:solidFill>
                  <a:srgbClr val="6B7679"/>
                </a:solidFill>
                <a:latin typeface="Calibri" pitchFamily="34" charset="0"/>
                <a:ea typeface="Calibri" pitchFamily="34" charset="-122"/>
                <a:cs typeface="Calibri" pitchFamily="34" charset="-120"/>
              </a:rPr>
              <a:t>çocuk (PID 32269)</a:t>
            </a:r>
            <a:endParaRPr lang="tr-TR" sz="1100" dirty="0"/>
          </a:p>
        </p:txBody>
      </p:sp>
      <p:sp>
        <p:nvSpPr>
          <p:cNvPr id="30" name="Shape 28"/>
          <p:cNvSpPr/>
          <p:nvPr/>
        </p:nvSpPr>
        <p:spPr>
          <a:xfrm>
            <a:off x="548640" y="4709160"/>
            <a:ext cx="3657600" cy="1554480"/>
          </a:xfrm>
          <a:prstGeom prst="roundRect">
            <a:avLst>
              <a:gd name="adj" fmla="val 3529"/>
            </a:avLst>
          </a:prstGeom>
          <a:solidFill>
            <a:srgbClr val="F2F2F2"/>
          </a:solidFill>
          <a:ln/>
          <a:effectLst>
            <a:outerShdw sx="100000" sy="100000" kx="0" ky="0" algn="bl" rotWithShape="0" blurRad="101600" dist="25400" dir="5400000">
              <a:srgbClr val="000000">
                <a:alpha val="12000"/>
              </a:srgbClr>
            </a:outerShdw>
          </a:effectLst>
        </p:spPr>
      </p:sp>
      <p:sp>
        <p:nvSpPr>
          <p:cNvPr id="31" name="Text 29"/>
          <p:cNvSpPr txBox="1"/>
          <p:nvPr/>
        </p:nvSpPr>
        <p:spPr>
          <a:xfrm>
            <a:off x="777240" y="4892040"/>
            <a:ext cx="320040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fork()</a:t>
            </a:r>
            <a:endParaRPr lang="tr-TR" sz="1500" dirty="0"/>
          </a:p>
        </p:txBody>
      </p:sp>
      <p:sp>
        <p:nvSpPr>
          <p:cNvPr id="32" name="Text 30"/>
          <p:cNvSpPr txBox="1"/>
          <p:nvPr/>
        </p:nvSpPr>
        <p:spPr>
          <a:xfrm>
            <a:off x="777240" y="5349240"/>
            <a:ext cx="3200400" cy="777240"/>
          </a:xfrm>
          <a:prstGeom prst="rect">
            <a:avLst/>
          </a:prstGeom>
          <a:noFill/>
          <a:ln/>
        </p:spPr>
        <p:txBody>
          <a:bodyPr wrap="square" lIns="0" tIns="0" rIns="0" bIns="0" rtlCol="0" anchor="t"/>
          <a:lstStyle/>
          <a:p>
            <a:pPr indent="0" marL="0">
              <a:spcAft>
                <a:spcPts val="400"/>
              </a:spcAft>
              <a:buNone/>
            </a:pPr>
            <a:r>
              <a:rPr lang="tr-TR" sz="1300" dirty="0">
                <a:solidFill>
                  <a:srgbClr val="3A464C"/>
                </a:solidFill>
                <a:latin typeface="Calibri" pitchFamily="34" charset="0"/>
                <a:ea typeface="Calibri" pitchFamily="34" charset="-122"/>
                <a:cs typeface="Calibri" pitchFamily="34" charset="-120"/>
              </a:rPr>
              <a:t>Çağıran süreci kopyalar. İki kez döner: çocukta 0, ebeveynde çocuğun PID'si (hatada −1).</a:t>
            </a:r>
            <a:endParaRPr lang="tr-TR" sz="1300" dirty="0"/>
          </a:p>
        </p:txBody>
      </p:sp>
      <p:sp>
        <p:nvSpPr>
          <p:cNvPr id="33" name="Shape 31"/>
          <p:cNvSpPr/>
          <p:nvPr/>
        </p:nvSpPr>
        <p:spPr>
          <a:xfrm>
            <a:off x="4343400" y="4709160"/>
            <a:ext cx="3657600" cy="1554480"/>
          </a:xfrm>
          <a:prstGeom prst="roundRect">
            <a:avLst>
              <a:gd name="adj" fmla="val 3529"/>
            </a:avLst>
          </a:prstGeom>
          <a:solidFill>
            <a:srgbClr val="F2F2F2"/>
          </a:solidFill>
          <a:ln/>
          <a:effectLst>
            <a:outerShdw sx="100000" sy="100000" kx="0" ky="0" algn="bl" rotWithShape="0" blurRad="101600" dist="25400" dir="5400000">
              <a:srgbClr val="000000">
                <a:alpha val="12000"/>
              </a:srgbClr>
            </a:outerShdw>
          </a:effectLst>
        </p:spPr>
      </p:sp>
      <p:sp>
        <p:nvSpPr>
          <p:cNvPr id="34" name="Text 32"/>
          <p:cNvSpPr txBox="1"/>
          <p:nvPr/>
        </p:nvSpPr>
        <p:spPr>
          <a:xfrm>
            <a:off x="4572000" y="4892040"/>
            <a:ext cx="320040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exec()</a:t>
            </a:r>
            <a:endParaRPr lang="tr-TR" sz="1500" dirty="0"/>
          </a:p>
        </p:txBody>
      </p:sp>
      <p:sp>
        <p:nvSpPr>
          <p:cNvPr id="35" name="Text 33"/>
          <p:cNvSpPr txBox="1"/>
          <p:nvPr/>
        </p:nvSpPr>
        <p:spPr>
          <a:xfrm>
            <a:off x="4572000" y="5349240"/>
            <a:ext cx="3200400" cy="777240"/>
          </a:xfrm>
          <a:prstGeom prst="rect">
            <a:avLst/>
          </a:prstGeom>
          <a:noFill/>
          <a:ln/>
        </p:spPr>
        <p:txBody>
          <a:bodyPr wrap="square" lIns="0" tIns="0" rIns="0" bIns="0" rtlCol="0" anchor="t"/>
          <a:lstStyle/>
          <a:p>
            <a:pPr indent="0" marL="0">
              <a:spcAft>
                <a:spcPts val="400"/>
              </a:spcAft>
              <a:buNone/>
            </a:pPr>
            <a:r>
              <a:rPr lang="tr-TR" sz="1300" dirty="0">
                <a:solidFill>
                  <a:srgbClr val="3A464C"/>
                </a:solidFill>
                <a:latin typeface="Calibri" pitchFamily="34" charset="0"/>
                <a:ea typeface="Calibri" pitchFamily="34" charset="-122"/>
                <a:cs typeface="Calibri" pitchFamily="34" charset="-120"/>
              </a:rPr>
              <a:t>Süreçteki programı yenisiyle değiştirir. PID aynı kalır; başarılı olursa asla geri dönmez.</a:t>
            </a:r>
            <a:endParaRPr lang="tr-TR" sz="1300" dirty="0"/>
          </a:p>
        </p:txBody>
      </p:sp>
      <p:sp>
        <p:nvSpPr>
          <p:cNvPr id="36" name="Shape 34"/>
          <p:cNvSpPr/>
          <p:nvPr/>
        </p:nvSpPr>
        <p:spPr>
          <a:xfrm>
            <a:off x="8138160" y="4709160"/>
            <a:ext cx="3520440" cy="1554480"/>
          </a:xfrm>
          <a:prstGeom prst="roundRect">
            <a:avLst>
              <a:gd name="adj" fmla="val 3529"/>
            </a:avLst>
          </a:prstGeom>
          <a:solidFill>
            <a:srgbClr val="F2F2F2"/>
          </a:solidFill>
          <a:ln/>
          <a:effectLst>
            <a:outerShdw sx="100000" sy="100000" kx="0" ky="0" algn="bl" rotWithShape="0" blurRad="101600" dist="25400" dir="5400000">
              <a:srgbClr val="000000">
                <a:alpha val="12000"/>
              </a:srgbClr>
            </a:outerShdw>
          </a:effectLst>
        </p:spPr>
      </p:sp>
      <p:sp>
        <p:nvSpPr>
          <p:cNvPr id="37" name="Text 35"/>
          <p:cNvSpPr txBox="1"/>
          <p:nvPr/>
        </p:nvSpPr>
        <p:spPr>
          <a:xfrm>
            <a:off x="8366760" y="4892040"/>
            <a:ext cx="306324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wait()</a:t>
            </a:r>
            <a:endParaRPr lang="tr-TR" sz="1500" dirty="0"/>
          </a:p>
        </p:txBody>
      </p:sp>
      <p:sp>
        <p:nvSpPr>
          <p:cNvPr id="38" name="Text 36"/>
          <p:cNvSpPr txBox="1"/>
          <p:nvPr/>
        </p:nvSpPr>
        <p:spPr>
          <a:xfrm>
            <a:off x="8366760" y="5349240"/>
            <a:ext cx="3063240" cy="777240"/>
          </a:xfrm>
          <a:prstGeom prst="rect">
            <a:avLst/>
          </a:prstGeom>
          <a:noFill/>
          <a:ln/>
        </p:spPr>
        <p:txBody>
          <a:bodyPr wrap="square" lIns="0" tIns="0" rIns="0" bIns="0" rtlCol="0" anchor="t"/>
          <a:lstStyle/>
          <a:p>
            <a:pPr indent="0" marL="0">
              <a:spcAft>
                <a:spcPts val="400"/>
              </a:spcAft>
              <a:buNone/>
            </a:pPr>
            <a:r>
              <a:rPr lang="tr-TR" sz="1300" dirty="0">
                <a:solidFill>
                  <a:srgbClr val="3A464C"/>
                </a:solidFill>
                <a:latin typeface="Calibri" pitchFamily="34" charset="0"/>
                <a:ea typeface="Calibri" pitchFamily="34" charset="-122"/>
                <a:cs typeface="Calibri" pitchFamily="34" charset="-120"/>
              </a:rPr>
              <a:t>Ebeveyn bir çocuk bitene kadar uyur, sonra çıkış durumunu toplar.</a:t>
            </a:r>
            <a:endParaRPr lang="tr-TR" sz="1300" dirty="0"/>
          </a:p>
        </p:txBody>
      </p:sp>
      <p:sp>
        <p:nvSpPr>
          <p:cNvPr id="39" name="Shape 37"/>
          <p:cNvSpPr/>
          <p:nvPr/>
        </p:nvSpPr>
        <p:spPr>
          <a:xfrm>
            <a:off x="9326880" y="1508760"/>
            <a:ext cx="2331720" cy="2971800"/>
          </a:xfrm>
          <a:prstGeom prst="roundRect">
            <a:avLst>
              <a:gd name="adj" fmla="val 2353"/>
            </a:avLst>
          </a:prstGeom>
          <a:solidFill>
            <a:srgbClr val="36454F"/>
          </a:solidFill>
          <a:ln/>
          <a:effectLst>
            <a:outerShdw sx="100000" sy="100000" kx="0" ky="0" algn="bl" rotWithShape="0" blurRad="101600" dist="25400" dir="5400000">
              <a:srgbClr val="000000">
                <a:alpha val="12000"/>
              </a:srgbClr>
            </a:outerShdw>
          </a:effectLst>
        </p:spPr>
      </p:sp>
      <p:sp>
        <p:nvSpPr>
          <p:cNvPr id="40" name="Text 38"/>
          <p:cNvSpPr txBox="1"/>
          <p:nvPr/>
        </p:nvSpPr>
        <p:spPr>
          <a:xfrm>
            <a:off x="9555480" y="1508760"/>
            <a:ext cx="1874520" cy="297180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Windows iki adımı tek çağrıda yapar: CreateProcess().</a:t>
            </a:r>
            <a:endParaRPr lang="tr-T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UYGULAMA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Örnek 3: C ile fork, exec ve wait</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33</a:t>
            </a:r>
            <a:endParaRPr lang="tr-TR" sz="900" dirty="0"/>
          </a:p>
        </p:txBody>
      </p:sp>
      <p:sp>
        <p:nvSpPr>
          <p:cNvPr id="6" name="Shape 4"/>
          <p:cNvSpPr/>
          <p:nvPr/>
        </p:nvSpPr>
        <p:spPr>
          <a:xfrm>
            <a:off x="548640" y="1508760"/>
            <a:ext cx="6583680" cy="4754880"/>
          </a:xfrm>
          <a:prstGeom prst="roundRect">
            <a:avLst>
              <a:gd name="adj" fmla="val 962"/>
            </a:avLst>
          </a:prstGeom>
          <a:solidFill>
            <a:srgbClr val="212121"/>
          </a:solidFill>
          <a:ln/>
        </p:spPr>
      </p:sp>
      <p:sp>
        <p:nvSpPr>
          <p:cNvPr id="7" name="Text 5"/>
          <p:cNvSpPr txBox="1"/>
          <p:nvPr/>
        </p:nvSpPr>
        <p:spPr>
          <a:xfrm>
            <a:off x="731520" y="1618488"/>
            <a:ext cx="6217920" cy="4535424"/>
          </a:xfrm>
          <a:prstGeom prst="rect">
            <a:avLst/>
          </a:prstGeom>
          <a:noFill/>
          <a:ln/>
        </p:spPr>
        <p:txBody>
          <a:bodyPr wrap="square" lIns="0" tIns="0" rIns="0" bIns="0" rtlCol="0" anchor="t"/>
          <a:lstStyle/>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int main(void)</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printf("parent: my PID is %d\n", getpid());</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fflush(stdout);            /* fork'tan ÖNCE tamponu boşalt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pid_t pid = fork();        /* biri çağırır, ikisi döner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if (pid == 0) {            /* ---- çocuk: fork 0 döndürdü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printf("child : PID %d, my parent is %d\n",</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getpid(), getppid());</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fflush(stdout);</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char list[32];         /* ps -p için "ebeveyn,çocuk"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snprintf(list, sizeof list, "%d,%d", getppid(), getpid());</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execlp("ps", "ps", "-o", "pid,ppid,stat,comm",</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 list, NULL);   /* bu programın yerine geçer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exit(127);             /* yalnızca exec başarısızsa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int status;                /* ---- ebeveyn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waitpid(pid, &amp;status, 0);  /* çocuk bitene kadar uyu */</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printf("parent: child %d finished, exit status %d\n",</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           pid, WEXITSTATUS(status));</a:t>
            </a:r>
            <a:endParaRPr lang="tr-TR" sz="1050" dirty="0"/>
          </a:p>
          <a:p>
            <a:pPr indent="0" marL="0">
              <a:lnSpc>
                <a:spcPct val="105000"/>
              </a:lnSpc>
              <a:buNone/>
            </a:pPr>
            <a:r>
              <a:rPr lang="tr-TR" sz="1050" dirty="0">
                <a:solidFill>
                  <a:srgbClr val="F2F2F2"/>
                </a:solidFill>
                <a:latin typeface="Consolas" pitchFamily="34" charset="0"/>
                <a:ea typeface="Consolas" pitchFamily="34" charset="-122"/>
                <a:cs typeface="Consolas" pitchFamily="34" charset="-120"/>
              </a:rPr>
              <a:t>}</a:t>
            </a:r>
            <a:endParaRPr lang="tr-TR" sz="1050" dirty="0"/>
          </a:p>
          <a:p>
            <a:pPr indent="0" marL="0">
              <a:lnSpc>
                <a:spcPct val="105000"/>
              </a:lnSpc>
              <a:buNone/>
            </a:pPr>
            <a:r>
              <a:rPr lang="tr-TR" sz="1050" dirty="0">
                <a:solidFill>
                  <a:srgbClr val="8A9AA0"/>
                </a:solidFill>
                <a:latin typeface="Consolas" pitchFamily="34" charset="0"/>
                <a:ea typeface="Consolas" pitchFamily="34" charset="-122"/>
                <a:cs typeface="Consolas" pitchFamily="34" charset="-120"/>
              </a:rPr>
              <a:t>/* hata denetimli tam program: code/fork_exec_wait.c */</a:t>
            </a:r>
            <a:endParaRPr lang="tr-TR" sz="1050" dirty="0"/>
          </a:p>
        </p:txBody>
      </p:sp>
      <p:sp>
        <p:nvSpPr>
          <p:cNvPr id="8" name="Shape 6"/>
          <p:cNvSpPr/>
          <p:nvPr/>
        </p:nvSpPr>
        <p:spPr>
          <a:xfrm>
            <a:off x="7406640" y="1508760"/>
            <a:ext cx="4251960" cy="2240280"/>
          </a:xfrm>
          <a:prstGeom prst="roundRect">
            <a:avLst>
              <a:gd name="adj" fmla="val 2449"/>
            </a:avLst>
          </a:prstGeom>
          <a:solidFill>
            <a:srgbClr val="F2F2F2"/>
          </a:solidFill>
          <a:ln/>
          <a:effectLst>
            <a:outerShdw sx="100000" sy="100000" kx="0" ky="0" algn="bl" rotWithShape="0" blurRad="101600" dist="25400" dir="5400000">
              <a:srgbClr val="000000">
                <a:alpha val="12000"/>
              </a:srgbClr>
            </a:outerShdw>
          </a:effectLst>
        </p:spPr>
      </p:sp>
      <p:sp>
        <p:nvSpPr>
          <p:cNvPr id="9" name="Text 7"/>
          <p:cNvSpPr txBox="1"/>
          <p:nvPr/>
        </p:nvSpPr>
        <p:spPr>
          <a:xfrm>
            <a:off x="7635240" y="1691640"/>
            <a:ext cx="37947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Neye dikkat edin?</a:t>
            </a:r>
            <a:endParaRPr lang="tr-TR" sz="1500" dirty="0"/>
          </a:p>
        </p:txBody>
      </p:sp>
      <p:sp>
        <p:nvSpPr>
          <p:cNvPr id="10" name="Text 8"/>
          <p:cNvSpPr txBox="1"/>
          <p:nvPr/>
        </p:nvSpPr>
        <p:spPr>
          <a:xfrm>
            <a:off x="7635240" y="2148840"/>
            <a:ext cx="3794760" cy="1463040"/>
          </a:xfrm>
          <a:prstGeom prst="rect">
            <a:avLst/>
          </a:prstGeom>
          <a:noFill/>
          <a:ln/>
        </p:spPr>
        <p:txBody>
          <a:bodyPr wrap="square" lIns="0" tIns="0" rIns="0" bIns="0" rtlCol="0" anchor="t"/>
          <a:lstStyle/>
          <a:p>
            <a:pPr marL="228600" indent="-228600">
              <a:spcAft>
                <a:spcPts val="400"/>
              </a:spcAft>
              <a:buSzPct val="100000"/>
              <a:buChar char="•"/>
            </a:pPr>
            <a:r>
              <a:rPr lang="tr-TR" sz="1300" dirty="0">
                <a:solidFill>
                  <a:srgbClr val="3A464C"/>
                </a:solidFill>
                <a:latin typeface="Calibri" pitchFamily="34" charset="0"/>
                <a:ea typeface="Calibri" pitchFamily="34" charset="-122"/>
                <a:cs typeface="Calibri" pitchFamily="34" charset="-120"/>
              </a:rPr>
              <a:t>Aynı if testi, iki farklı yanıt: çocuk 0 görür, ebeveyn çocuğun PID'sini.</a:t>
            </a:r>
            <a:endParaRPr lang="tr-TR" sz="1300" dirty="0"/>
          </a:p>
          <a:p>
            <a:pPr marL="228600" indent="-228600">
              <a:spcAft>
                <a:spcPts val="400"/>
              </a:spcAft>
              <a:buSzPct val="100000"/>
              <a:buChar char="•"/>
            </a:pPr>
            <a:r>
              <a:rPr lang="tr-TR" sz="1300" dirty="0">
                <a:solidFill>
                  <a:srgbClr val="3A464C"/>
                </a:solidFill>
                <a:latin typeface="Calibri" pitchFamily="34" charset="0"/>
                <a:ea typeface="Calibri" pitchFamily="34" charset="-122"/>
                <a:cs typeface="Calibri" pitchFamily="34" charset="-120"/>
              </a:rPr>
              <a:t>ps, PID 32269'u "ps" olarak listeler: exec PID'yi korudu.</a:t>
            </a:r>
            <a:endParaRPr lang="tr-TR" sz="1300" dirty="0"/>
          </a:p>
        </p:txBody>
      </p:sp>
      <p:sp>
        <p:nvSpPr>
          <p:cNvPr id="11" name="Shape 9"/>
          <p:cNvSpPr/>
          <p:nvPr/>
        </p:nvSpPr>
        <p:spPr>
          <a:xfrm>
            <a:off x="7406640" y="3977640"/>
            <a:ext cx="4251960" cy="2286000"/>
          </a:xfrm>
          <a:prstGeom prst="roundRect">
            <a:avLst>
              <a:gd name="adj" fmla="val 2000"/>
            </a:avLst>
          </a:prstGeom>
          <a:solidFill>
            <a:srgbClr val="212121"/>
          </a:solidFill>
          <a:ln/>
        </p:spPr>
      </p:sp>
      <p:sp>
        <p:nvSpPr>
          <p:cNvPr id="12" name="Text 10"/>
          <p:cNvSpPr txBox="1"/>
          <p:nvPr/>
        </p:nvSpPr>
        <p:spPr>
          <a:xfrm>
            <a:off x="7589520" y="4087368"/>
            <a:ext cx="3886200" cy="2066544"/>
          </a:xfrm>
          <a:prstGeom prst="rect">
            <a:avLst/>
          </a:prstGeom>
          <a:noFill/>
          <a:ln/>
        </p:spPr>
        <p:txBody>
          <a:bodyPr wrap="square" lIns="0" tIns="0" rIns="0" bIns="0" rtlCol="0" anchor="t"/>
          <a:lstStyle/>
          <a:p>
            <a:pPr indent="0" marL="0">
              <a:lnSpc>
                <a:spcPct val="105000"/>
              </a:lnSpc>
              <a:buNone/>
            </a:pPr>
            <a:r>
              <a:rPr lang="tr-TR" sz="1000" dirty="0">
                <a:solidFill>
                  <a:srgbClr val="02C39A"/>
                </a:solidFill>
                <a:latin typeface="Consolas" pitchFamily="34" charset="0"/>
                <a:ea typeface="Consolas" pitchFamily="34" charset="-122"/>
                <a:cs typeface="Consolas" pitchFamily="34" charset="-120"/>
              </a:rPr>
              <a:t>$ ./fork_exec_wait</a:t>
            </a:r>
            <a:endParaRPr lang="tr-TR" sz="1000" dirty="0"/>
          </a:p>
          <a:p>
            <a:pPr indent="0" marL="0">
              <a:lnSpc>
                <a:spcPct val="105000"/>
              </a:lnSpc>
              <a:buNone/>
            </a:pPr>
            <a:r>
              <a:rPr lang="tr-TR" sz="1000" dirty="0">
                <a:solidFill>
                  <a:srgbClr val="F2F2F2"/>
                </a:solidFill>
                <a:latin typeface="Consolas" pitchFamily="34" charset="0"/>
                <a:ea typeface="Consolas" pitchFamily="34" charset="-122"/>
                <a:cs typeface="Consolas" pitchFamily="34" charset="-120"/>
              </a:rPr>
              <a:t>parent: my PID is 32268</a:t>
            </a:r>
            <a:endParaRPr lang="tr-TR" sz="1000" dirty="0"/>
          </a:p>
          <a:p>
            <a:pPr indent="0" marL="0">
              <a:lnSpc>
                <a:spcPct val="105000"/>
              </a:lnSpc>
              <a:buNone/>
            </a:pPr>
            <a:r>
              <a:rPr lang="tr-TR" sz="1000" dirty="0">
                <a:solidFill>
                  <a:srgbClr val="F2F2F2"/>
                </a:solidFill>
                <a:latin typeface="Consolas" pitchFamily="34" charset="0"/>
                <a:ea typeface="Consolas" pitchFamily="34" charset="-122"/>
                <a:cs typeface="Consolas" pitchFamily="34" charset="-120"/>
              </a:rPr>
              <a:t>child : PID 32269, my parent is 32268</a:t>
            </a:r>
            <a:endParaRPr lang="tr-TR" sz="1000" dirty="0"/>
          </a:p>
          <a:p>
            <a:pPr indent="0" marL="0">
              <a:lnSpc>
                <a:spcPct val="105000"/>
              </a:lnSpc>
              <a:buNone/>
            </a:pPr>
            <a:r>
              <a:rPr lang="tr-TR" sz="1000" dirty="0">
                <a:solidFill>
                  <a:srgbClr val="F2F2F2"/>
                </a:solidFill>
                <a:latin typeface="Consolas" pitchFamily="34" charset="0"/>
                <a:ea typeface="Consolas" pitchFamily="34" charset="-122"/>
                <a:cs typeface="Consolas" pitchFamily="34" charset="-120"/>
              </a:rPr>
              <a:t>  PID  PPID STAT COMMAND</a:t>
            </a:r>
            <a:endParaRPr lang="tr-TR" sz="1000" dirty="0"/>
          </a:p>
          <a:p>
            <a:pPr indent="0" marL="0">
              <a:lnSpc>
                <a:spcPct val="105000"/>
              </a:lnSpc>
              <a:buNone/>
            </a:pPr>
            <a:r>
              <a:rPr lang="tr-TR" sz="1000" dirty="0">
                <a:solidFill>
                  <a:srgbClr val="F2F2F2"/>
                </a:solidFill>
                <a:latin typeface="Consolas" pitchFamily="34" charset="0"/>
                <a:ea typeface="Consolas" pitchFamily="34" charset="-122"/>
                <a:cs typeface="Consolas" pitchFamily="34" charset="-120"/>
              </a:rPr>
              <a:t>32268 32251 S    fork_exec_wait</a:t>
            </a:r>
            <a:endParaRPr lang="tr-TR" sz="1000" dirty="0"/>
          </a:p>
          <a:p>
            <a:pPr indent="0" marL="0">
              <a:lnSpc>
                <a:spcPct val="105000"/>
              </a:lnSpc>
              <a:buNone/>
            </a:pPr>
            <a:r>
              <a:rPr lang="tr-TR" sz="1000" dirty="0">
                <a:solidFill>
                  <a:srgbClr val="F2F2F2"/>
                </a:solidFill>
                <a:latin typeface="Consolas" pitchFamily="34" charset="0"/>
                <a:ea typeface="Consolas" pitchFamily="34" charset="-122"/>
                <a:cs typeface="Consolas" pitchFamily="34" charset="-120"/>
              </a:rPr>
              <a:t>32269 32268 R    ps</a:t>
            </a:r>
            <a:endParaRPr lang="tr-TR" sz="1000" dirty="0"/>
          </a:p>
          <a:p>
            <a:pPr indent="0" marL="0">
              <a:lnSpc>
                <a:spcPct val="105000"/>
              </a:lnSpc>
              <a:buNone/>
            </a:pPr>
            <a:r>
              <a:rPr lang="tr-TR" sz="1000" dirty="0">
                <a:solidFill>
                  <a:srgbClr val="F2F2F2"/>
                </a:solidFill>
                <a:latin typeface="Consolas" pitchFamily="34" charset="0"/>
                <a:ea typeface="Consolas" pitchFamily="34" charset="-122"/>
                <a:cs typeface="Consolas" pitchFamily="34" charset="-120"/>
              </a:rPr>
              <a:t>parent: child 32269 finished,</a:t>
            </a:r>
            <a:endParaRPr lang="tr-TR" sz="1000" dirty="0"/>
          </a:p>
          <a:p>
            <a:pPr indent="0" marL="0">
              <a:lnSpc>
                <a:spcPct val="105000"/>
              </a:lnSpc>
              <a:buNone/>
            </a:pPr>
            <a:r>
              <a:rPr lang="tr-TR" sz="1000" dirty="0">
                <a:solidFill>
                  <a:srgbClr val="F2F2F2"/>
                </a:solidFill>
                <a:latin typeface="Consolas" pitchFamily="34" charset="0"/>
                <a:ea typeface="Consolas" pitchFamily="34" charset="-122"/>
                <a:cs typeface="Consolas" pitchFamily="34" charset="-120"/>
              </a:rPr>
              <a:t>        exit status 0</a:t>
            </a:r>
            <a:endParaRPr lang="tr-TR"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 OLUŞTURMA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Süreç Ağacı ve Süreç Kimlikleri</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34</a:t>
            </a:r>
            <a:endParaRPr lang="tr-TR" sz="900" dirty="0"/>
          </a:p>
        </p:txBody>
      </p:sp>
      <p:sp>
        <p:nvSpPr>
          <p:cNvPr id="6" name="Shape 4"/>
          <p:cNvSpPr/>
          <p:nvPr/>
        </p:nvSpPr>
        <p:spPr>
          <a:xfrm>
            <a:off x="2743200" y="1600200"/>
            <a:ext cx="1737360" cy="548640"/>
          </a:xfrm>
          <a:prstGeom prst="roundRect">
            <a:avLst>
              <a:gd name="adj" fmla="val 8333"/>
            </a:avLst>
          </a:prstGeom>
          <a:solidFill>
            <a:srgbClr val="36454F"/>
          </a:solidFill>
          <a:ln/>
        </p:spPr>
      </p:sp>
      <p:sp>
        <p:nvSpPr>
          <p:cNvPr id="7" name="Text 5"/>
          <p:cNvSpPr txBox="1"/>
          <p:nvPr/>
        </p:nvSpPr>
        <p:spPr>
          <a:xfrm>
            <a:off x="2743200" y="160020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onsolas" pitchFamily="34" charset="0"/>
                <a:ea typeface="Consolas" pitchFamily="34" charset="-122"/>
                <a:cs typeface="Consolas" pitchFamily="34" charset="-120"/>
              </a:rPr>
              <a:t>systemd (1)</a:t>
            </a:r>
            <a:endParaRPr lang="tr-TR" sz="1200" dirty="0"/>
          </a:p>
        </p:txBody>
      </p:sp>
      <p:sp>
        <p:nvSpPr>
          <p:cNvPr id="8" name="Shape 6"/>
          <p:cNvSpPr/>
          <p:nvPr/>
        </p:nvSpPr>
        <p:spPr>
          <a:xfrm>
            <a:off x="548640" y="2606040"/>
            <a:ext cx="1737360" cy="548640"/>
          </a:xfrm>
          <a:prstGeom prst="roundRect">
            <a:avLst>
              <a:gd name="adj" fmla="val 8333"/>
            </a:avLst>
          </a:prstGeom>
          <a:solidFill>
            <a:srgbClr val="F2F2F2"/>
          </a:solidFill>
          <a:ln/>
        </p:spPr>
      </p:sp>
      <p:sp>
        <p:nvSpPr>
          <p:cNvPr id="9" name="Text 7"/>
          <p:cNvSpPr txBox="1"/>
          <p:nvPr/>
        </p:nvSpPr>
        <p:spPr>
          <a:xfrm>
            <a:off x="548640" y="260604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cron (640)</a:t>
            </a:r>
            <a:endParaRPr lang="tr-TR" sz="1200" dirty="0"/>
          </a:p>
        </p:txBody>
      </p:sp>
      <p:sp>
        <p:nvSpPr>
          <p:cNvPr id="10" name="Shape 8"/>
          <p:cNvSpPr/>
          <p:nvPr/>
        </p:nvSpPr>
        <p:spPr>
          <a:xfrm flipH="1">
            <a:off x="1417320" y="2167128"/>
            <a:ext cx="2194560" cy="420624"/>
          </a:xfrm>
          <a:prstGeom prst="line">
            <a:avLst/>
          </a:prstGeom>
          <a:noFill/>
          <a:ln w="19050">
            <a:solidFill>
              <a:srgbClr val="50808E"/>
            </a:solidFill>
            <a:prstDash val="solid"/>
            <a:tailEnd type="triangle"/>
          </a:ln>
        </p:spPr>
      </p:sp>
      <p:sp>
        <p:nvSpPr>
          <p:cNvPr id="11" name="Shape 9"/>
          <p:cNvSpPr/>
          <p:nvPr/>
        </p:nvSpPr>
        <p:spPr>
          <a:xfrm>
            <a:off x="2743200" y="2606040"/>
            <a:ext cx="1737360" cy="548640"/>
          </a:xfrm>
          <a:prstGeom prst="roundRect">
            <a:avLst>
              <a:gd name="adj" fmla="val 8333"/>
            </a:avLst>
          </a:prstGeom>
          <a:solidFill>
            <a:srgbClr val="F2F2F2"/>
          </a:solidFill>
          <a:ln/>
        </p:spPr>
      </p:sp>
      <p:sp>
        <p:nvSpPr>
          <p:cNvPr id="12" name="Text 10"/>
          <p:cNvSpPr txBox="1"/>
          <p:nvPr/>
        </p:nvSpPr>
        <p:spPr>
          <a:xfrm>
            <a:off x="2743200" y="260604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sshd (812)</a:t>
            </a:r>
            <a:endParaRPr lang="tr-TR" sz="1200" dirty="0"/>
          </a:p>
        </p:txBody>
      </p:sp>
      <p:sp>
        <p:nvSpPr>
          <p:cNvPr id="13" name="Shape 11"/>
          <p:cNvSpPr/>
          <p:nvPr/>
        </p:nvSpPr>
        <p:spPr>
          <a:xfrm>
            <a:off x="3611880" y="2167128"/>
            <a:ext cx="91" cy="420624"/>
          </a:xfrm>
          <a:prstGeom prst="line">
            <a:avLst/>
          </a:prstGeom>
          <a:noFill/>
          <a:ln w="19050">
            <a:solidFill>
              <a:srgbClr val="50808E"/>
            </a:solidFill>
            <a:prstDash val="solid"/>
            <a:tailEnd type="triangle"/>
          </a:ln>
        </p:spPr>
      </p:sp>
      <p:sp>
        <p:nvSpPr>
          <p:cNvPr id="14" name="Shape 12"/>
          <p:cNvSpPr/>
          <p:nvPr/>
        </p:nvSpPr>
        <p:spPr>
          <a:xfrm>
            <a:off x="4937760" y="2606040"/>
            <a:ext cx="1737360" cy="548640"/>
          </a:xfrm>
          <a:prstGeom prst="roundRect">
            <a:avLst>
              <a:gd name="adj" fmla="val 8333"/>
            </a:avLst>
          </a:prstGeom>
          <a:solidFill>
            <a:srgbClr val="F2F2F2"/>
          </a:solidFill>
          <a:ln/>
        </p:spPr>
      </p:sp>
      <p:sp>
        <p:nvSpPr>
          <p:cNvPr id="15" name="Text 13"/>
          <p:cNvSpPr txBox="1"/>
          <p:nvPr/>
        </p:nvSpPr>
        <p:spPr>
          <a:xfrm>
            <a:off x="4937760" y="260604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login (900)</a:t>
            </a:r>
            <a:endParaRPr lang="tr-TR" sz="1200" dirty="0"/>
          </a:p>
        </p:txBody>
      </p:sp>
      <p:sp>
        <p:nvSpPr>
          <p:cNvPr id="16" name="Shape 14"/>
          <p:cNvSpPr/>
          <p:nvPr/>
        </p:nvSpPr>
        <p:spPr>
          <a:xfrm>
            <a:off x="3611880" y="2167128"/>
            <a:ext cx="2194560" cy="420624"/>
          </a:xfrm>
          <a:prstGeom prst="line">
            <a:avLst/>
          </a:prstGeom>
          <a:noFill/>
          <a:ln w="19050">
            <a:solidFill>
              <a:srgbClr val="50808E"/>
            </a:solidFill>
            <a:prstDash val="solid"/>
            <a:tailEnd type="triangle"/>
          </a:ln>
        </p:spPr>
      </p:sp>
      <p:sp>
        <p:nvSpPr>
          <p:cNvPr id="17" name="Shape 15"/>
          <p:cNvSpPr/>
          <p:nvPr/>
        </p:nvSpPr>
        <p:spPr>
          <a:xfrm>
            <a:off x="2743200" y="3611880"/>
            <a:ext cx="1737360" cy="548640"/>
          </a:xfrm>
          <a:prstGeom prst="roundRect">
            <a:avLst>
              <a:gd name="adj" fmla="val 8333"/>
            </a:avLst>
          </a:prstGeom>
          <a:solidFill>
            <a:srgbClr val="F2F2F2"/>
          </a:solidFill>
          <a:ln/>
        </p:spPr>
      </p:sp>
      <p:sp>
        <p:nvSpPr>
          <p:cNvPr id="18" name="Text 16"/>
          <p:cNvSpPr txBox="1"/>
          <p:nvPr/>
        </p:nvSpPr>
        <p:spPr>
          <a:xfrm>
            <a:off x="2743200" y="361188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sshd (2201)</a:t>
            </a:r>
            <a:endParaRPr lang="tr-TR" sz="1200" dirty="0"/>
          </a:p>
        </p:txBody>
      </p:sp>
      <p:sp>
        <p:nvSpPr>
          <p:cNvPr id="19" name="Shape 17"/>
          <p:cNvSpPr/>
          <p:nvPr/>
        </p:nvSpPr>
        <p:spPr>
          <a:xfrm>
            <a:off x="3611880" y="3172968"/>
            <a:ext cx="91" cy="420624"/>
          </a:xfrm>
          <a:prstGeom prst="line">
            <a:avLst/>
          </a:prstGeom>
          <a:noFill/>
          <a:ln w="19050">
            <a:solidFill>
              <a:srgbClr val="50808E"/>
            </a:solidFill>
            <a:prstDash val="solid"/>
            <a:tailEnd type="triangle"/>
          </a:ln>
        </p:spPr>
      </p:sp>
      <p:sp>
        <p:nvSpPr>
          <p:cNvPr id="20" name="Shape 18"/>
          <p:cNvSpPr/>
          <p:nvPr/>
        </p:nvSpPr>
        <p:spPr>
          <a:xfrm>
            <a:off x="2743200" y="4617720"/>
            <a:ext cx="1737360" cy="548640"/>
          </a:xfrm>
          <a:prstGeom prst="roundRect">
            <a:avLst>
              <a:gd name="adj" fmla="val 8333"/>
            </a:avLst>
          </a:prstGeom>
          <a:solidFill>
            <a:srgbClr val="D7E9E6"/>
          </a:solidFill>
          <a:ln/>
        </p:spPr>
      </p:sp>
      <p:sp>
        <p:nvSpPr>
          <p:cNvPr id="21" name="Text 19"/>
          <p:cNvSpPr txBox="1"/>
          <p:nvPr/>
        </p:nvSpPr>
        <p:spPr>
          <a:xfrm>
            <a:off x="2743200" y="461772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36454F"/>
                </a:solidFill>
                <a:latin typeface="Consolas" pitchFamily="34" charset="0"/>
                <a:ea typeface="Consolas" pitchFamily="34" charset="-122"/>
                <a:cs typeface="Consolas" pitchFamily="34" charset="-120"/>
              </a:rPr>
              <a:t>bash (2210)</a:t>
            </a:r>
            <a:endParaRPr lang="tr-TR" sz="1200" dirty="0"/>
          </a:p>
        </p:txBody>
      </p:sp>
      <p:sp>
        <p:nvSpPr>
          <p:cNvPr id="22" name="Shape 20"/>
          <p:cNvSpPr/>
          <p:nvPr/>
        </p:nvSpPr>
        <p:spPr>
          <a:xfrm>
            <a:off x="3611880" y="4178808"/>
            <a:ext cx="91" cy="420624"/>
          </a:xfrm>
          <a:prstGeom prst="line">
            <a:avLst/>
          </a:prstGeom>
          <a:noFill/>
          <a:ln w="19050">
            <a:solidFill>
              <a:srgbClr val="50808E"/>
            </a:solidFill>
            <a:prstDash val="solid"/>
            <a:tailEnd type="triangle"/>
          </a:ln>
        </p:spPr>
      </p:sp>
      <p:sp>
        <p:nvSpPr>
          <p:cNvPr id="23" name="Shape 21"/>
          <p:cNvSpPr/>
          <p:nvPr/>
        </p:nvSpPr>
        <p:spPr>
          <a:xfrm>
            <a:off x="1645920" y="5623560"/>
            <a:ext cx="1737360" cy="548640"/>
          </a:xfrm>
          <a:prstGeom prst="roundRect">
            <a:avLst>
              <a:gd name="adj" fmla="val 8333"/>
            </a:avLst>
          </a:prstGeom>
          <a:solidFill>
            <a:srgbClr val="02C39A"/>
          </a:solidFill>
          <a:ln/>
        </p:spPr>
      </p:sp>
      <p:sp>
        <p:nvSpPr>
          <p:cNvPr id="24" name="Text 22"/>
          <p:cNvSpPr txBox="1"/>
          <p:nvPr/>
        </p:nvSpPr>
        <p:spPr>
          <a:xfrm>
            <a:off x="1645920" y="562356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vim (2275)</a:t>
            </a:r>
            <a:endParaRPr lang="tr-TR" sz="1200" dirty="0"/>
          </a:p>
        </p:txBody>
      </p:sp>
      <p:sp>
        <p:nvSpPr>
          <p:cNvPr id="25" name="Shape 23"/>
          <p:cNvSpPr/>
          <p:nvPr/>
        </p:nvSpPr>
        <p:spPr>
          <a:xfrm>
            <a:off x="3840480" y="5623560"/>
            <a:ext cx="1737360" cy="548640"/>
          </a:xfrm>
          <a:prstGeom prst="roundRect">
            <a:avLst>
              <a:gd name="adj" fmla="val 8333"/>
            </a:avLst>
          </a:prstGeom>
          <a:solidFill>
            <a:srgbClr val="02C39A"/>
          </a:solidFill>
          <a:ln/>
        </p:spPr>
      </p:sp>
      <p:sp>
        <p:nvSpPr>
          <p:cNvPr id="26" name="Text 24"/>
          <p:cNvSpPr txBox="1"/>
          <p:nvPr/>
        </p:nvSpPr>
        <p:spPr>
          <a:xfrm>
            <a:off x="3840480" y="5623560"/>
            <a:ext cx="1737360" cy="54864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ps (2290)</a:t>
            </a:r>
            <a:endParaRPr lang="tr-TR" sz="1200" dirty="0"/>
          </a:p>
        </p:txBody>
      </p:sp>
      <p:sp>
        <p:nvSpPr>
          <p:cNvPr id="27" name="Shape 25"/>
          <p:cNvSpPr/>
          <p:nvPr/>
        </p:nvSpPr>
        <p:spPr>
          <a:xfrm flipH="1">
            <a:off x="2514600" y="5184648"/>
            <a:ext cx="1097280" cy="420624"/>
          </a:xfrm>
          <a:prstGeom prst="line">
            <a:avLst/>
          </a:prstGeom>
          <a:noFill/>
          <a:ln w="19050">
            <a:solidFill>
              <a:srgbClr val="50808E"/>
            </a:solidFill>
            <a:prstDash val="solid"/>
            <a:tailEnd type="triangle"/>
          </a:ln>
        </p:spPr>
      </p:sp>
      <p:sp>
        <p:nvSpPr>
          <p:cNvPr id="28" name="Shape 26"/>
          <p:cNvSpPr/>
          <p:nvPr/>
        </p:nvSpPr>
        <p:spPr>
          <a:xfrm>
            <a:off x="3611880" y="5184648"/>
            <a:ext cx="1097280" cy="420624"/>
          </a:xfrm>
          <a:prstGeom prst="line">
            <a:avLst/>
          </a:prstGeom>
          <a:noFill/>
          <a:ln w="19050">
            <a:solidFill>
              <a:srgbClr val="50808E"/>
            </a:solidFill>
            <a:prstDash val="solid"/>
            <a:tailEnd type="triangle"/>
          </a:ln>
        </p:spPr>
      </p:sp>
      <p:sp>
        <p:nvSpPr>
          <p:cNvPr id="29" name="Text 27"/>
          <p:cNvSpPr txBox="1"/>
          <p:nvPr/>
        </p:nvSpPr>
        <p:spPr>
          <a:xfrm>
            <a:off x="548640" y="6217920"/>
            <a:ext cx="6035040" cy="274320"/>
          </a:xfrm>
          <a:prstGeom prst="rect">
            <a:avLst/>
          </a:prstGeom>
          <a:noFill/>
          <a:ln/>
        </p:spPr>
        <p:txBody>
          <a:bodyPr wrap="square" lIns="0" tIns="0" rIns="0" bIns="0" rtlCol="0" anchor="t"/>
          <a:lstStyle/>
          <a:p>
            <a:pPr indent="0" marL="0">
              <a:buNone/>
            </a:pPr>
            <a:r>
              <a:rPr lang="tr-TR" sz="1100" i="1" dirty="0">
                <a:solidFill>
                  <a:srgbClr val="6B7679"/>
                </a:solidFill>
                <a:latin typeface="Calibri" pitchFamily="34" charset="0"/>
                <a:ea typeface="Calibri" pitchFamily="34" charset="-122"/>
                <a:cs typeface="Calibri" pitchFamily="34" charset="-120"/>
              </a:rPr>
              <a:t>tipik bir Linux sunucusu (PID'ler temsilî)</a:t>
            </a:r>
            <a:endParaRPr lang="tr-TR" sz="1100" dirty="0"/>
          </a:p>
        </p:txBody>
      </p:sp>
      <p:sp>
        <p:nvSpPr>
          <p:cNvPr id="30" name="Shape 28"/>
          <p:cNvSpPr/>
          <p:nvPr/>
        </p:nvSpPr>
        <p:spPr>
          <a:xfrm>
            <a:off x="6949440" y="1508760"/>
            <a:ext cx="4709160" cy="1600200"/>
          </a:xfrm>
          <a:prstGeom prst="roundRect">
            <a:avLst>
              <a:gd name="adj" fmla="val 2857"/>
            </a:avLst>
          </a:prstGeom>
          <a:solidFill>
            <a:srgbClr val="212121"/>
          </a:solidFill>
          <a:ln/>
        </p:spPr>
      </p:sp>
      <p:sp>
        <p:nvSpPr>
          <p:cNvPr id="31" name="Text 29"/>
          <p:cNvSpPr txBox="1"/>
          <p:nvPr/>
        </p:nvSpPr>
        <p:spPr>
          <a:xfrm>
            <a:off x="7132320" y="1618488"/>
            <a:ext cx="4343400" cy="1380744"/>
          </a:xfrm>
          <a:prstGeom prst="rect">
            <a:avLst/>
          </a:prstGeom>
          <a:noFill/>
          <a:ln/>
        </p:spPr>
        <p:txBody>
          <a:bodyPr wrap="square" lIns="0" tIns="0" rIns="0" bIns="0" rtlCol="0" anchor="t"/>
          <a:lstStyle/>
          <a:p>
            <a:pPr indent="0" marL="0">
              <a:lnSpc>
                <a:spcPct val="105000"/>
              </a:lnSpc>
              <a:buNone/>
            </a:pPr>
            <a:r>
              <a:rPr lang="tr-TR" sz="1100" dirty="0">
                <a:solidFill>
                  <a:srgbClr val="02C39A"/>
                </a:solidFill>
                <a:latin typeface="Consolas" pitchFamily="34" charset="0"/>
                <a:ea typeface="Consolas" pitchFamily="34" charset="-122"/>
                <a:cs typeface="Consolas" pitchFamily="34" charset="-120"/>
              </a:rPr>
              <a:t>$ bash -c 'sleep 5 &amp; sleep 5 &amp; pstree -p $$'</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bash(6297)-+-pstree(6300)</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           |-sleep(6298)</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           `-sleep(6299)</a:t>
            </a:r>
            <a:endParaRPr lang="tr-TR" sz="1100" dirty="0"/>
          </a:p>
        </p:txBody>
      </p:sp>
      <p:sp>
        <p:nvSpPr>
          <p:cNvPr id="32" name="Shape 30"/>
          <p:cNvSpPr/>
          <p:nvPr/>
        </p:nvSpPr>
        <p:spPr>
          <a:xfrm>
            <a:off x="6949440" y="3291840"/>
            <a:ext cx="4709160" cy="2971800"/>
          </a:xfrm>
          <a:prstGeom prst="roundRect">
            <a:avLst>
              <a:gd name="adj" fmla="val 1846"/>
            </a:avLst>
          </a:prstGeom>
          <a:solidFill>
            <a:srgbClr val="F2F2F2"/>
          </a:solidFill>
          <a:ln/>
          <a:effectLst>
            <a:outerShdw sx="100000" sy="100000" kx="0" ky="0" algn="bl" rotWithShape="0" blurRad="101600" dist="25400" dir="5400000">
              <a:srgbClr val="000000">
                <a:alpha val="12000"/>
              </a:srgbClr>
            </a:outerShdw>
          </a:effectLst>
        </p:spPr>
      </p:sp>
      <p:sp>
        <p:nvSpPr>
          <p:cNvPr id="33" name="Text 31"/>
          <p:cNvSpPr txBox="1"/>
          <p:nvPr/>
        </p:nvSpPr>
        <p:spPr>
          <a:xfrm>
            <a:off x="7178040" y="3474720"/>
            <a:ext cx="425196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Süreç kimlikleri</a:t>
            </a:r>
            <a:endParaRPr lang="tr-TR" sz="1500" dirty="0"/>
          </a:p>
        </p:txBody>
      </p:sp>
      <p:sp>
        <p:nvSpPr>
          <p:cNvPr id="34" name="Text 32"/>
          <p:cNvSpPr txBox="1"/>
          <p:nvPr/>
        </p:nvSpPr>
        <p:spPr>
          <a:xfrm>
            <a:off x="7178040" y="3931920"/>
            <a:ext cx="4251960" cy="2194560"/>
          </a:xfrm>
          <a:prstGeom prst="rect">
            <a:avLst/>
          </a:prstGeom>
          <a:noFill/>
          <a:ln/>
        </p:spPr>
        <p:txBody>
          <a:bodyPr wrap="square" lIns="0" tIns="0" rIns="0" bIns="0" rtlCol="0" anchor="t"/>
          <a:lstStyle/>
          <a:p>
            <a:pPr marL="228600" indent="-228600">
              <a:spcAft>
                <a:spcPts val="400"/>
              </a:spcAft>
              <a:buSzPct val="100000"/>
              <a:buChar char="•"/>
            </a:pPr>
            <a:r>
              <a:rPr lang="tr-TR" sz="1350" dirty="0">
                <a:solidFill>
                  <a:srgbClr val="3A464C"/>
                </a:solidFill>
                <a:latin typeface="Calibri" pitchFamily="34" charset="0"/>
                <a:ea typeface="Calibri" pitchFamily="34" charset="-122"/>
                <a:cs typeface="Calibri" pitchFamily="34" charset="-120"/>
              </a:rPr>
              <a:t>Her sürecin benzersiz bir PID'si vardır ve ebeveyninin PID'sini (PPID) bilir.</a:t>
            </a:r>
            <a:endParaRPr lang="tr-TR" sz="1350" dirty="0"/>
          </a:p>
          <a:p>
            <a:pPr marL="228600" indent="-228600">
              <a:spcAft>
                <a:spcPts val="400"/>
              </a:spcAft>
              <a:buSzPct val="100000"/>
              <a:buChar char="•"/>
            </a:pPr>
            <a:r>
              <a:rPr lang="tr-TR" sz="1350" dirty="0">
                <a:solidFill>
                  <a:srgbClr val="3A464C"/>
                </a:solidFill>
                <a:latin typeface="Calibri" pitchFamily="34" charset="0"/>
                <a:ea typeface="Calibri" pitchFamily="34" charset="-122"/>
                <a:cs typeface="Calibri" pitchFamily="34" charset="-120"/>
              </a:rPr>
              <a:t>PID 1'i (systemd ya da init) çekirdek açılışta başlatır: tüm kullanıcı süreçlerinin atası.</a:t>
            </a:r>
            <a:endParaRPr lang="tr-TR" sz="1350" dirty="0"/>
          </a:p>
          <a:p>
            <a:pPr marL="228600" indent="-228600">
              <a:spcAft>
                <a:spcPts val="400"/>
              </a:spcAft>
              <a:buSzPct val="100000"/>
              <a:buChar char="•"/>
            </a:pPr>
            <a:r>
              <a:rPr lang="tr-TR" sz="1350" dirty="0">
                <a:solidFill>
                  <a:srgbClr val="3A464C"/>
                </a:solidFill>
                <a:latin typeface="Calibri" pitchFamily="34" charset="0"/>
                <a:ea typeface="Calibri" pitchFamily="34" charset="-122"/>
                <a:cs typeface="Calibri" pitchFamily="34" charset="-120"/>
              </a:rPr>
              <a:t>PID'ler süreç bitince yeniden kullanılır; üst sınır /proc/sys/kernel/pid_max'tedir.</a:t>
            </a:r>
            <a:endParaRPr lang="tr-TR"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SÜREÇ SONLANDIRMA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Zombiler ve Yetimler</a:t>
            </a:r>
            <a:endParaRPr lang="tr-TR" sz="3000" dirty="0"/>
          </a:p>
        </p:txBody>
      </p:sp>
      <p:sp>
        <p:nvSpPr>
          <p:cNvPr id="4" name="Text 2"/>
          <p:cNvSpPr txBox="1"/>
          <p:nvPr/>
        </p:nvSpPr>
        <p:spPr>
          <a:xfrm>
            <a:off x="548640" y="1417320"/>
            <a:ext cx="11064240" cy="502920"/>
          </a:xfrm>
          <a:prstGeom prst="rect">
            <a:avLst/>
          </a:prstGeom>
          <a:noFill/>
          <a:ln/>
        </p:spPr>
        <p:txBody>
          <a:bodyPr wrap="square" lIns="0" tIns="0" rIns="0" bIns="0" rtlCol="0" anchor="t"/>
          <a:lstStyle/>
          <a:p>
            <a:pPr indent="0" marL="0">
              <a:buNone/>
            </a:pPr>
            <a:r>
              <a:rPr lang="tr-TR" sz="1500" dirty="0">
                <a:solidFill>
                  <a:srgbClr val="3A464C"/>
                </a:solidFill>
                <a:latin typeface="Calibri" pitchFamily="34" charset="0"/>
                <a:ea typeface="Calibri" pitchFamily="34" charset="-122"/>
                <a:cs typeface="Calibri" pitchFamily="34" charset="-120"/>
              </a:rPr>
              <a:t>Bir süreç bittiğinde, PCB girdisi biri çıkış durumunu toplayana kadar yaşamaya devam etmelidir.</a:t>
            </a:r>
            <a:endParaRPr lang="tr-TR" sz="1500" dirty="0"/>
          </a:p>
        </p:txBody>
      </p:sp>
      <p:sp>
        <p:nvSpPr>
          <p:cNvPr id="5" name="Text 3"/>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6" name="Text 4"/>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35</a:t>
            </a:r>
            <a:endParaRPr lang="tr-TR" sz="900" dirty="0"/>
          </a:p>
        </p:txBody>
      </p:sp>
      <p:sp>
        <p:nvSpPr>
          <p:cNvPr id="7" name="Shape 5"/>
          <p:cNvSpPr/>
          <p:nvPr/>
        </p:nvSpPr>
        <p:spPr>
          <a:xfrm>
            <a:off x="548640" y="2103120"/>
            <a:ext cx="5440680" cy="2377440"/>
          </a:xfrm>
          <a:prstGeom prst="roundRect">
            <a:avLst>
              <a:gd name="adj" fmla="val 2308"/>
            </a:avLst>
          </a:prstGeom>
          <a:solidFill>
            <a:srgbClr val="F2F2F2"/>
          </a:solidFill>
          <a:ln/>
          <a:effectLst>
            <a:outerShdw sx="100000" sy="100000" kx="0" ky="0" algn="bl" rotWithShape="0" blurRad="101600" dist="25400" dir="5400000">
              <a:srgbClr val="000000">
                <a:alpha val="12000"/>
              </a:srgbClr>
            </a:outerShdw>
          </a:effectLst>
        </p:spPr>
      </p:sp>
      <p:sp>
        <p:nvSpPr>
          <p:cNvPr id="8" name="Text 6"/>
          <p:cNvSpPr txBox="1"/>
          <p:nvPr/>
        </p:nvSpPr>
        <p:spPr>
          <a:xfrm>
            <a:off x="777240" y="2286000"/>
            <a:ext cx="498348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Zombi (zombie)</a:t>
            </a:r>
            <a:endParaRPr lang="tr-TR" sz="1500" dirty="0"/>
          </a:p>
        </p:txBody>
      </p:sp>
      <p:sp>
        <p:nvSpPr>
          <p:cNvPr id="9" name="Text 7"/>
          <p:cNvSpPr txBox="1"/>
          <p:nvPr/>
        </p:nvSpPr>
        <p:spPr>
          <a:xfrm>
            <a:off x="777240" y="2743200"/>
            <a:ext cx="4983480" cy="1600200"/>
          </a:xfrm>
          <a:prstGeom prst="rect">
            <a:avLst/>
          </a:prstGeom>
          <a:noFill/>
          <a:ln/>
        </p:spPr>
        <p:txBody>
          <a:bodyPr wrap="square" lIns="0" tIns="0" rIns="0" bIns="0" rtlCol="0" anchor="t"/>
          <a:lstStyle/>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Çocuk sonlandı, ama ebeveyni henüz wait() çağırmadı.</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Bellek serbest bırakıldı; yalnızca PCB girdisi (PID, çıkış durumu) kalır.</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Çok sayıda zombi tüm PID'leri tüketebilir.</a:t>
            </a:r>
            <a:endParaRPr lang="tr-TR" sz="1400" dirty="0"/>
          </a:p>
        </p:txBody>
      </p:sp>
      <p:sp>
        <p:nvSpPr>
          <p:cNvPr id="10" name="Shape 8"/>
          <p:cNvSpPr/>
          <p:nvPr/>
        </p:nvSpPr>
        <p:spPr>
          <a:xfrm>
            <a:off x="6217920" y="2103120"/>
            <a:ext cx="5440680" cy="2377440"/>
          </a:xfrm>
          <a:prstGeom prst="roundRect">
            <a:avLst>
              <a:gd name="adj" fmla="val 2308"/>
            </a:avLst>
          </a:prstGeom>
          <a:solidFill>
            <a:srgbClr val="F2F2F2"/>
          </a:solidFill>
          <a:ln/>
          <a:effectLst>
            <a:outerShdw sx="100000" sy="100000" kx="0" ky="0" algn="bl" rotWithShape="0" blurRad="101600" dist="25400" dir="5400000">
              <a:srgbClr val="000000">
                <a:alpha val="12000"/>
              </a:srgbClr>
            </a:outerShdw>
          </a:effectLst>
        </p:spPr>
      </p:sp>
      <p:sp>
        <p:nvSpPr>
          <p:cNvPr id="11" name="Text 9"/>
          <p:cNvSpPr txBox="1"/>
          <p:nvPr/>
        </p:nvSpPr>
        <p:spPr>
          <a:xfrm>
            <a:off x="6446520" y="2286000"/>
            <a:ext cx="498348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Yetim (orphan)</a:t>
            </a:r>
            <a:endParaRPr lang="tr-TR" sz="1500" dirty="0"/>
          </a:p>
        </p:txBody>
      </p:sp>
      <p:sp>
        <p:nvSpPr>
          <p:cNvPr id="12" name="Text 10"/>
          <p:cNvSpPr txBox="1"/>
          <p:nvPr/>
        </p:nvSpPr>
        <p:spPr>
          <a:xfrm>
            <a:off x="6446520" y="2743200"/>
            <a:ext cx="4983480" cy="1600200"/>
          </a:xfrm>
          <a:prstGeom prst="rect">
            <a:avLst/>
          </a:prstGeom>
          <a:noFill/>
          <a:ln/>
        </p:spPr>
        <p:txBody>
          <a:bodyPr wrap="square" lIns="0" tIns="0" rIns="0" bIns="0" rtlCol="0" anchor="t"/>
          <a:lstStyle/>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Çocuk hâlâ çalışırken ebeveyn önce sonlandı.</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Linux onu PID 1'e (ya da bir "subreaper"a) bağlar; o da onun için wait() çağırır.</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Bazı sistemler bunun yerine tüm çocukları öldürür (zincirleme sonlandırma).</a:t>
            </a:r>
            <a:endParaRPr lang="tr-TR" sz="1400" dirty="0"/>
          </a:p>
        </p:txBody>
      </p:sp>
      <p:sp>
        <p:nvSpPr>
          <p:cNvPr id="13" name="Shape 11"/>
          <p:cNvSpPr/>
          <p:nvPr/>
        </p:nvSpPr>
        <p:spPr>
          <a:xfrm>
            <a:off x="548640" y="4663440"/>
            <a:ext cx="6766560" cy="1600200"/>
          </a:xfrm>
          <a:prstGeom prst="roundRect">
            <a:avLst>
              <a:gd name="adj" fmla="val 2857"/>
            </a:avLst>
          </a:prstGeom>
          <a:solidFill>
            <a:srgbClr val="212121"/>
          </a:solidFill>
          <a:ln/>
        </p:spPr>
      </p:sp>
      <p:sp>
        <p:nvSpPr>
          <p:cNvPr id="14" name="Text 12"/>
          <p:cNvSpPr txBox="1"/>
          <p:nvPr/>
        </p:nvSpPr>
        <p:spPr>
          <a:xfrm>
            <a:off x="731520" y="4773168"/>
            <a:ext cx="6400800" cy="1380744"/>
          </a:xfrm>
          <a:prstGeom prst="rect">
            <a:avLst/>
          </a:prstGeom>
          <a:noFill/>
          <a:ln/>
        </p:spPr>
        <p:txBody>
          <a:bodyPr wrap="square" lIns="0" tIns="0" rIns="0" bIns="0" rtlCol="0" anchor="t"/>
          <a:lstStyle/>
          <a:p>
            <a:pPr indent="0" marL="0">
              <a:lnSpc>
                <a:spcPct val="105000"/>
              </a:lnSpc>
              <a:buNone/>
            </a:pPr>
            <a:r>
              <a:rPr lang="tr-TR" sz="1100" dirty="0">
                <a:solidFill>
                  <a:srgbClr val="02C39A"/>
                </a:solidFill>
                <a:latin typeface="Consolas" pitchFamily="34" charset="0"/>
                <a:ea typeface="Consolas" pitchFamily="34" charset="-122"/>
                <a:cs typeface="Consolas" pitchFamily="34" charset="-120"/>
              </a:rPr>
              <a:t>$ sh -c 'sleep 1 &amp; exec sleep 4' &amp;      # 2 s sonra:</a:t>
            </a:r>
            <a:endParaRPr lang="tr-TR" sz="1100" dirty="0"/>
          </a:p>
          <a:p>
            <a:pPr indent="0" marL="0">
              <a:lnSpc>
                <a:spcPct val="105000"/>
              </a:lnSpc>
              <a:buNone/>
            </a:pPr>
            <a:r>
              <a:rPr lang="tr-TR" sz="1100" dirty="0">
                <a:solidFill>
                  <a:srgbClr val="02C39A"/>
                </a:solidFill>
                <a:latin typeface="Consolas" pitchFamily="34" charset="0"/>
                <a:ea typeface="Consolas" pitchFamily="34" charset="-122"/>
                <a:cs typeface="Consolas" pitchFamily="34" charset="-120"/>
              </a:rPr>
              <a:t>$ ps -o pid,ppid,stat,cmd -p 6385 --ppid 6385</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  PID  PPID STAT CMD</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 6385  6384 S    sleep 4</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 6387  6385 Z    [sleep] &lt;defunct&gt;</a:t>
            </a:r>
            <a:endParaRPr lang="tr-TR" sz="1100" dirty="0"/>
          </a:p>
        </p:txBody>
      </p:sp>
      <p:sp>
        <p:nvSpPr>
          <p:cNvPr id="15" name="Shape 13"/>
          <p:cNvSpPr/>
          <p:nvPr/>
        </p:nvSpPr>
        <p:spPr>
          <a:xfrm>
            <a:off x="7543800" y="4663440"/>
            <a:ext cx="4114800" cy="1600200"/>
          </a:xfrm>
          <a:prstGeom prst="roundRect">
            <a:avLst>
              <a:gd name="adj" fmla="val 3429"/>
            </a:avLst>
          </a:prstGeom>
          <a:solidFill>
            <a:srgbClr val="36454F"/>
          </a:solidFill>
          <a:ln/>
          <a:effectLst>
            <a:outerShdw sx="100000" sy="100000" kx="0" ky="0" algn="bl" rotWithShape="0" blurRad="101600" dist="25400" dir="5400000">
              <a:srgbClr val="000000">
                <a:alpha val="12000"/>
              </a:srgbClr>
            </a:outerShdw>
          </a:effectLst>
        </p:spPr>
      </p:sp>
      <p:sp>
        <p:nvSpPr>
          <p:cNvPr id="16" name="Text 14"/>
          <p:cNvSpPr txBox="1"/>
          <p:nvPr/>
        </p:nvSpPr>
        <p:spPr>
          <a:xfrm>
            <a:off x="7772400" y="4663440"/>
            <a:ext cx="3657600" cy="1600200"/>
          </a:xfrm>
          <a:prstGeom prst="rect">
            <a:avLst/>
          </a:prstGeom>
          <a:noFill/>
          <a:ln/>
        </p:spPr>
        <p:txBody>
          <a:bodyPr wrap="square" lIns="0" tIns="0" rIns="0" bIns="0" rtlCol="0" anchor="ctr"/>
          <a:lstStyle/>
          <a:p>
            <a:pPr indent="0" marL="0">
              <a:buNone/>
            </a:pPr>
            <a:r>
              <a:rPr lang="tr-TR" sz="1400" dirty="0">
                <a:solidFill>
                  <a:srgbClr val="F2F2F2"/>
                </a:solidFill>
                <a:latin typeface="Calibri" pitchFamily="34" charset="0"/>
                <a:ea typeface="Calibri" pitchFamily="34" charset="-122"/>
                <a:cs typeface="Calibri" pitchFamily="34" charset="-120"/>
              </a:rPr>
              <a:t>sleep 4 hiç wait() çağırmaz; bu yüzden biten çocuğu zombi olarak kalır (durum Z).</a:t>
            </a:r>
            <a:endParaRPr lang="tr-T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ALIŞTIRMA</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n Kez fork() Çağrısından Sonra Kaç Süreç Olur?</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36</a:t>
            </a:r>
            <a:endParaRPr lang="tr-TR" sz="900" dirty="0"/>
          </a:p>
        </p:txBody>
      </p:sp>
      <p:sp>
        <p:nvSpPr>
          <p:cNvPr id="6" name="Shape 4"/>
          <p:cNvSpPr/>
          <p:nvPr/>
        </p:nvSpPr>
        <p:spPr>
          <a:xfrm flipH="1">
            <a:off x="1303020" y="2075688"/>
            <a:ext cx="2194560" cy="557784"/>
          </a:xfrm>
          <a:prstGeom prst="line">
            <a:avLst/>
          </a:prstGeom>
          <a:noFill/>
          <a:ln w="15875">
            <a:solidFill>
              <a:srgbClr val="36454F"/>
            </a:solidFill>
            <a:prstDash val="solid"/>
            <a:tailEnd type="triangle"/>
          </a:ln>
        </p:spPr>
      </p:sp>
      <p:sp>
        <p:nvSpPr>
          <p:cNvPr id="7" name="Shape 5"/>
          <p:cNvSpPr/>
          <p:nvPr/>
        </p:nvSpPr>
        <p:spPr>
          <a:xfrm>
            <a:off x="3497580" y="2075688"/>
            <a:ext cx="91" cy="557784"/>
          </a:xfrm>
          <a:prstGeom prst="line">
            <a:avLst/>
          </a:prstGeom>
          <a:noFill/>
          <a:ln w="15875">
            <a:solidFill>
              <a:srgbClr val="028090"/>
            </a:solidFill>
            <a:prstDash val="solid"/>
            <a:tailEnd type="triangle"/>
          </a:ln>
        </p:spPr>
      </p:sp>
      <p:sp>
        <p:nvSpPr>
          <p:cNvPr id="8" name="Shape 6"/>
          <p:cNvSpPr/>
          <p:nvPr/>
        </p:nvSpPr>
        <p:spPr>
          <a:xfrm>
            <a:off x="3497580" y="2075688"/>
            <a:ext cx="2103120" cy="557784"/>
          </a:xfrm>
          <a:prstGeom prst="line">
            <a:avLst/>
          </a:prstGeom>
          <a:noFill/>
          <a:ln w="15875">
            <a:solidFill>
              <a:srgbClr val="C98A1B"/>
            </a:solidFill>
            <a:prstDash val="solid"/>
            <a:tailEnd type="triangle"/>
          </a:ln>
        </p:spPr>
      </p:sp>
      <p:sp>
        <p:nvSpPr>
          <p:cNvPr id="9" name="Shape 7"/>
          <p:cNvSpPr/>
          <p:nvPr/>
        </p:nvSpPr>
        <p:spPr>
          <a:xfrm flipH="1">
            <a:off x="1120140" y="3127248"/>
            <a:ext cx="182880" cy="557784"/>
          </a:xfrm>
          <a:prstGeom prst="line">
            <a:avLst/>
          </a:prstGeom>
          <a:noFill/>
          <a:ln w="15875">
            <a:solidFill>
              <a:srgbClr val="028090"/>
            </a:solidFill>
            <a:prstDash val="solid"/>
            <a:tailEnd type="triangle"/>
          </a:ln>
        </p:spPr>
      </p:sp>
      <p:sp>
        <p:nvSpPr>
          <p:cNvPr id="10" name="Shape 8"/>
          <p:cNvSpPr/>
          <p:nvPr/>
        </p:nvSpPr>
        <p:spPr>
          <a:xfrm>
            <a:off x="1303020" y="3127248"/>
            <a:ext cx="1097280" cy="557784"/>
          </a:xfrm>
          <a:prstGeom prst="line">
            <a:avLst/>
          </a:prstGeom>
          <a:noFill/>
          <a:ln w="15875">
            <a:solidFill>
              <a:srgbClr val="C98A1B"/>
            </a:solidFill>
            <a:prstDash val="solid"/>
            <a:tailEnd type="triangle"/>
          </a:ln>
        </p:spPr>
      </p:sp>
      <p:sp>
        <p:nvSpPr>
          <p:cNvPr id="11" name="Shape 9"/>
          <p:cNvSpPr/>
          <p:nvPr/>
        </p:nvSpPr>
        <p:spPr>
          <a:xfrm>
            <a:off x="3497580" y="3127248"/>
            <a:ext cx="91" cy="557784"/>
          </a:xfrm>
          <a:prstGeom prst="line">
            <a:avLst/>
          </a:prstGeom>
          <a:noFill/>
          <a:ln w="15875">
            <a:solidFill>
              <a:srgbClr val="C98A1B"/>
            </a:solidFill>
            <a:prstDash val="solid"/>
            <a:tailEnd type="triangle"/>
          </a:ln>
        </p:spPr>
      </p:sp>
      <p:sp>
        <p:nvSpPr>
          <p:cNvPr id="12" name="Shape 10"/>
          <p:cNvSpPr/>
          <p:nvPr/>
        </p:nvSpPr>
        <p:spPr>
          <a:xfrm>
            <a:off x="1120140" y="4178808"/>
            <a:ext cx="91" cy="557784"/>
          </a:xfrm>
          <a:prstGeom prst="line">
            <a:avLst/>
          </a:prstGeom>
          <a:noFill/>
          <a:ln w="15875">
            <a:solidFill>
              <a:srgbClr val="C98A1B"/>
            </a:solidFill>
            <a:prstDash val="solid"/>
            <a:tailEnd type="triangle"/>
          </a:ln>
        </p:spPr>
      </p:sp>
      <p:sp>
        <p:nvSpPr>
          <p:cNvPr id="13" name="Shape 11"/>
          <p:cNvSpPr/>
          <p:nvPr/>
        </p:nvSpPr>
        <p:spPr>
          <a:xfrm>
            <a:off x="2926080" y="1600200"/>
            <a:ext cx="1143000" cy="457200"/>
          </a:xfrm>
          <a:prstGeom prst="roundRect">
            <a:avLst>
              <a:gd name="adj" fmla="val 10000"/>
            </a:avLst>
          </a:prstGeom>
          <a:solidFill>
            <a:srgbClr val="36454F"/>
          </a:solidFill>
          <a:ln/>
        </p:spPr>
      </p:sp>
      <p:sp>
        <p:nvSpPr>
          <p:cNvPr id="14" name="Text 12"/>
          <p:cNvSpPr txBox="1"/>
          <p:nvPr/>
        </p:nvSpPr>
        <p:spPr>
          <a:xfrm>
            <a:off x="2926080" y="160020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FFFFFF"/>
                </a:solidFill>
                <a:latin typeface="Consolas" pitchFamily="34" charset="0"/>
                <a:ea typeface="Consolas" pitchFamily="34" charset="-122"/>
                <a:cs typeface="Consolas" pitchFamily="34" charset="-120"/>
              </a:rPr>
              <a:t>1937</a:t>
            </a:r>
            <a:endParaRPr lang="tr-TR" sz="1200" dirty="0"/>
          </a:p>
        </p:txBody>
      </p:sp>
      <p:sp>
        <p:nvSpPr>
          <p:cNvPr id="15" name="Shape 13"/>
          <p:cNvSpPr/>
          <p:nvPr/>
        </p:nvSpPr>
        <p:spPr>
          <a:xfrm>
            <a:off x="731520" y="2651760"/>
            <a:ext cx="1143000" cy="457200"/>
          </a:xfrm>
          <a:prstGeom prst="roundRect">
            <a:avLst>
              <a:gd name="adj" fmla="val 10000"/>
            </a:avLst>
          </a:prstGeom>
          <a:solidFill>
            <a:srgbClr val="F2F2F2"/>
          </a:solidFill>
          <a:ln/>
        </p:spPr>
      </p:sp>
      <p:sp>
        <p:nvSpPr>
          <p:cNvPr id="16" name="Text 14"/>
          <p:cNvSpPr txBox="1"/>
          <p:nvPr/>
        </p:nvSpPr>
        <p:spPr>
          <a:xfrm>
            <a:off x="731520" y="265176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1938</a:t>
            </a:r>
            <a:endParaRPr lang="tr-TR" sz="1200" dirty="0"/>
          </a:p>
        </p:txBody>
      </p:sp>
      <p:sp>
        <p:nvSpPr>
          <p:cNvPr id="17" name="Shape 15"/>
          <p:cNvSpPr/>
          <p:nvPr/>
        </p:nvSpPr>
        <p:spPr>
          <a:xfrm>
            <a:off x="2926080" y="2651760"/>
            <a:ext cx="1143000" cy="457200"/>
          </a:xfrm>
          <a:prstGeom prst="roundRect">
            <a:avLst>
              <a:gd name="adj" fmla="val 10000"/>
            </a:avLst>
          </a:prstGeom>
          <a:solidFill>
            <a:srgbClr val="F2F2F2"/>
          </a:solidFill>
          <a:ln/>
        </p:spPr>
      </p:sp>
      <p:sp>
        <p:nvSpPr>
          <p:cNvPr id="18" name="Text 16"/>
          <p:cNvSpPr txBox="1"/>
          <p:nvPr/>
        </p:nvSpPr>
        <p:spPr>
          <a:xfrm>
            <a:off x="2926080" y="265176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1939</a:t>
            </a:r>
            <a:endParaRPr lang="tr-TR" sz="1200" dirty="0"/>
          </a:p>
        </p:txBody>
      </p:sp>
      <p:sp>
        <p:nvSpPr>
          <p:cNvPr id="19" name="Shape 17"/>
          <p:cNvSpPr/>
          <p:nvPr/>
        </p:nvSpPr>
        <p:spPr>
          <a:xfrm>
            <a:off x="5029200" y="2651760"/>
            <a:ext cx="1143000" cy="457200"/>
          </a:xfrm>
          <a:prstGeom prst="roundRect">
            <a:avLst>
              <a:gd name="adj" fmla="val 10000"/>
            </a:avLst>
          </a:prstGeom>
          <a:solidFill>
            <a:srgbClr val="F2F2F2"/>
          </a:solidFill>
          <a:ln/>
        </p:spPr>
      </p:sp>
      <p:sp>
        <p:nvSpPr>
          <p:cNvPr id="20" name="Text 18"/>
          <p:cNvSpPr txBox="1"/>
          <p:nvPr/>
        </p:nvSpPr>
        <p:spPr>
          <a:xfrm>
            <a:off x="5029200" y="265176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1940</a:t>
            </a:r>
            <a:endParaRPr lang="tr-TR" sz="1200" dirty="0"/>
          </a:p>
        </p:txBody>
      </p:sp>
      <p:sp>
        <p:nvSpPr>
          <p:cNvPr id="21" name="Shape 19"/>
          <p:cNvSpPr/>
          <p:nvPr/>
        </p:nvSpPr>
        <p:spPr>
          <a:xfrm>
            <a:off x="548640" y="3703320"/>
            <a:ext cx="1143000" cy="457200"/>
          </a:xfrm>
          <a:prstGeom prst="roundRect">
            <a:avLst>
              <a:gd name="adj" fmla="val 10000"/>
            </a:avLst>
          </a:prstGeom>
          <a:solidFill>
            <a:srgbClr val="F2F2F2"/>
          </a:solidFill>
          <a:ln/>
        </p:spPr>
      </p:sp>
      <p:sp>
        <p:nvSpPr>
          <p:cNvPr id="22" name="Text 20"/>
          <p:cNvSpPr txBox="1"/>
          <p:nvPr/>
        </p:nvSpPr>
        <p:spPr>
          <a:xfrm>
            <a:off x="548640" y="370332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1941</a:t>
            </a:r>
            <a:endParaRPr lang="tr-TR" sz="1200" dirty="0"/>
          </a:p>
        </p:txBody>
      </p:sp>
      <p:sp>
        <p:nvSpPr>
          <p:cNvPr id="23" name="Shape 21"/>
          <p:cNvSpPr/>
          <p:nvPr/>
        </p:nvSpPr>
        <p:spPr>
          <a:xfrm>
            <a:off x="1828800" y="3703320"/>
            <a:ext cx="1143000" cy="457200"/>
          </a:xfrm>
          <a:prstGeom prst="roundRect">
            <a:avLst>
              <a:gd name="adj" fmla="val 10000"/>
            </a:avLst>
          </a:prstGeom>
          <a:solidFill>
            <a:srgbClr val="F2F2F2"/>
          </a:solidFill>
          <a:ln/>
        </p:spPr>
      </p:sp>
      <p:sp>
        <p:nvSpPr>
          <p:cNvPr id="24" name="Text 22"/>
          <p:cNvSpPr txBox="1"/>
          <p:nvPr/>
        </p:nvSpPr>
        <p:spPr>
          <a:xfrm>
            <a:off x="1828800" y="370332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1943</a:t>
            </a:r>
            <a:endParaRPr lang="tr-TR" sz="1200" dirty="0"/>
          </a:p>
        </p:txBody>
      </p:sp>
      <p:sp>
        <p:nvSpPr>
          <p:cNvPr id="25" name="Shape 23"/>
          <p:cNvSpPr/>
          <p:nvPr/>
        </p:nvSpPr>
        <p:spPr>
          <a:xfrm>
            <a:off x="2926080" y="3703320"/>
            <a:ext cx="1143000" cy="457200"/>
          </a:xfrm>
          <a:prstGeom prst="roundRect">
            <a:avLst>
              <a:gd name="adj" fmla="val 10000"/>
            </a:avLst>
          </a:prstGeom>
          <a:solidFill>
            <a:srgbClr val="F2F2F2"/>
          </a:solidFill>
          <a:ln/>
        </p:spPr>
      </p:sp>
      <p:sp>
        <p:nvSpPr>
          <p:cNvPr id="26" name="Text 24"/>
          <p:cNvSpPr txBox="1"/>
          <p:nvPr/>
        </p:nvSpPr>
        <p:spPr>
          <a:xfrm>
            <a:off x="2926080" y="370332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1942</a:t>
            </a:r>
            <a:endParaRPr lang="tr-TR" sz="1200" dirty="0"/>
          </a:p>
        </p:txBody>
      </p:sp>
      <p:sp>
        <p:nvSpPr>
          <p:cNvPr id="27" name="Shape 25"/>
          <p:cNvSpPr/>
          <p:nvPr/>
        </p:nvSpPr>
        <p:spPr>
          <a:xfrm>
            <a:off x="548640" y="4754880"/>
            <a:ext cx="1143000" cy="457200"/>
          </a:xfrm>
          <a:prstGeom prst="roundRect">
            <a:avLst>
              <a:gd name="adj" fmla="val 10000"/>
            </a:avLst>
          </a:prstGeom>
          <a:solidFill>
            <a:srgbClr val="F2F2F2"/>
          </a:solidFill>
          <a:ln/>
        </p:spPr>
      </p:sp>
      <p:sp>
        <p:nvSpPr>
          <p:cNvPr id="28" name="Text 26"/>
          <p:cNvSpPr txBox="1"/>
          <p:nvPr/>
        </p:nvSpPr>
        <p:spPr>
          <a:xfrm>
            <a:off x="548640" y="4754880"/>
            <a:ext cx="1143000" cy="457200"/>
          </a:xfrm>
          <a:prstGeom prst="rect">
            <a:avLst/>
          </a:prstGeom>
          <a:noFill/>
          <a:ln/>
        </p:spPr>
        <p:txBody>
          <a:bodyPr wrap="square" lIns="38100" tIns="38100" rIns="38100" bIns="38100" rtlCol="0" anchor="ctr"/>
          <a:lstStyle/>
          <a:p>
            <a:pPr algn="ctr" indent="0" marL="0">
              <a:buNone/>
            </a:pPr>
            <a:r>
              <a:rPr lang="tr-TR" sz="1200" b="1" dirty="0">
                <a:solidFill>
                  <a:srgbClr val="212121"/>
                </a:solidFill>
                <a:latin typeface="Consolas" pitchFamily="34" charset="0"/>
                <a:ea typeface="Consolas" pitchFamily="34" charset="-122"/>
                <a:cs typeface="Consolas" pitchFamily="34" charset="-120"/>
              </a:rPr>
              <a:t>1944</a:t>
            </a:r>
            <a:endParaRPr lang="tr-TR" sz="1200" dirty="0"/>
          </a:p>
        </p:txBody>
      </p:sp>
      <p:sp>
        <p:nvSpPr>
          <p:cNvPr id="29" name="Text 27"/>
          <p:cNvSpPr txBox="1"/>
          <p:nvPr/>
        </p:nvSpPr>
        <p:spPr>
          <a:xfrm>
            <a:off x="548640" y="5394960"/>
            <a:ext cx="5943600" cy="274320"/>
          </a:xfrm>
          <a:prstGeom prst="rect">
            <a:avLst/>
          </a:prstGeom>
          <a:noFill/>
          <a:ln/>
        </p:spPr>
        <p:txBody>
          <a:bodyPr wrap="square" lIns="0" tIns="0" rIns="0" bIns="0" rtlCol="0" anchor="t"/>
          <a:lstStyle/>
          <a:p>
            <a:pPr indent="0" marL="0">
              <a:buNone/>
            </a:pPr>
            <a:r>
              <a:rPr lang="tr-TR" sz="1100" i="1" dirty="0">
                <a:solidFill>
                  <a:srgbClr val="6B7679"/>
                </a:solidFill>
                <a:latin typeface="Calibri" pitchFamily="34" charset="0"/>
                <a:ea typeface="Calibri" pitchFamily="34" charset="-122"/>
                <a:cs typeface="Calibri" pitchFamily="34" charset="-120"/>
              </a:rPr>
              <a:t>ok rengi = çocuğu hangi fork yarattı:  </a:t>
            </a:r>
            <a:r>
              <a:rPr lang="tr-TR" sz="1100" b="1" i="1" dirty="0">
                <a:solidFill>
                  <a:srgbClr val="36454F"/>
                </a:solidFill>
                <a:latin typeface="Calibri" pitchFamily="34" charset="0"/>
                <a:ea typeface="Calibri" pitchFamily="34" charset="-122"/>
                <a:cs typeface="Calibri" pitchFamily="34" charset="-120"/>
              </a:rPr>
              <a:t>1.  </a:t>
            </a:r>
            <a:r>
              <a:rPr lang="tr-TR" sz="1100" b="1" i="1" dirty="0">
                <a:solidFill>
                  <a:srgbClr val="028090"/>
                </a:solidFill>
                <a:latin typeface="Calibri" pitchFamily="34" charset="0"/>
                <a:ea typeface="Calibri" pitchFamily="34" charset="-122"/>
                <a:cs typeface="Calibri" pitchFamily="34" charset="-120"/>
              </a:rPr>
              <a:t>2.  </a:t>
            </a:r>
            <a:r>
              <a:rPr lang="tr-TR" sz="1100" b="1" i="1" dirty="0">
                <a:solidFill>
                  <a:srgbClr val="C98A1B"/>
                </a:solidFill>
                <a:latin typeface="Calibri" pitchFamily="34" charset="0"/>
                <a:ea typeface="Calibri" pitchFamily="34" charset="-122"/>
                <a:cs typeface="Calibri" pitchFamily="34" charset="-120"/>
              </a:rPr>
              <a:t>3.</a:t>
            </a:r>
            <a:endParaRPr lang="tr-TR" sz="1100" dirty="0"/>
          </a:p>
        </p:txBody>
      </p:sp>
      <p:sp>
        <p:nvSpPr>
          <p:cNvPr id="30" name="Text 28"/>
          <p:cNvSpPr txBox="1"/>
          <p:nvPr/>
        </p:nvSpPr>
        <p:spPr>
          <a:xfrm>
            <a:off x="548640" y="5715000"/>
            <a:ext cx="5943600" cy="274320"/>
          </a:xfrm>
          <a:prstGeom prst="rect">
            <a:avLst/>
          </a:prstGeom>
          <a:noFill/>
          <a:ln/>
        </p:spPr>
        <p:txBody>
          <a:bodyPr wrap="square" lIns="0" tIns="0" rIns="0" bIns="0" rtlCol="0" anchor="t"/>
          <a:lstStyle/>
          <a:p>
            <a:pPr indent="0" marL="0">
              <a:buNone/>
            </a:pPr>
            <a:r>
              <a:rPr lang="tr-TR" sz="1100" i="1" dirty="0">
                <a:solidFill>
                  <a:srgbClr val="6B7679"/>
                </a:solidFill>
                <a:latin typeface="Calibri" pitchFamily="34" charset="0"/>
                <a:ea typeface="Calibri" pitchFamily="34" charset="-122"/>
                <a:cs typeface="Calibri" pitchFamily="34" charset="-120"/>
              </a:rPr>
              <a:t>./fork_count 3'ten gerçek PID'ler</a:t>
            </a:r>
            <a:endParaRPr lang="tr-TR" sz="1100" dirty="0"/>
          </a:p>
        </p:txBody>
      </p:sp>
      <p:sp>
        <p:nvSpPr>
          <p:cNvPr id="31" name="Shape 29"/>
          <p:cNvSpPr/>
          <p:nvPr/>
        </p:nvSpPr>
        <p:spPr>
          <a:xfrm>
            <a:off x="6583680" y="1508760"/>
            <a:ext cx="5074920" cy="1463040"/>
          </a:xfrm>
          <a:prstGeom prst="roundRect">
            <a:avLst>
              <a:gd name="adj" fmla="val 3125"/>
            </a:avLst>
          </a:prstGeom>
          <a:solidFill>
            <a:srgbClr val="212121"/>
          </a:solidFill>
          <a:ln/>
        </p:spPr>
      </p:sp>
      <p:sp>
        <p:nvSpPr>
          <p:cNvPr id="32" name="Text 30"/>
          <p:cNvSpPr txBox="1"/>
          <p:nvPr/>
        </p:nvSpPr>
        <p:spPr>
          <a:xfrm>
            <a:off x="6766560" y="1618488"/>
            <a:ext cx="4709160" cy="1243584"/>
          </a:xfrm>
          <a:prstGeom prst="rect">
            <a:avLst/>
          </a:prstGeom>
          <a:noFill/>
          <a:ln/>
        </p:spPr>
        <p:txBody>
          <a:bodyPr wrap="square" lIns="0" tIns="0" rIns="0" bIns="0" rtlCol="0" anchor="t"/>
          <a:lstStyle/>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for (int i = 0; i &lt; n; i++)</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fork();     /* herkes fork eder */</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printf("PID %6d  parent %6d\n",</a:t>
            </a:r>
            <a:endParaRPr lang="tr-TR" sz="1250" dirty="0"/>
          </a:p>
          <a:p>
            <a:pPr indent="0" marL="0">
              <a:lnSpc>
                <a:spcPct val="105000"/>
              </a:lnSpc>
              <a:buNone/>
            </a:pPr>
            <a:r>
              <a:rPr lang="tr-TR" sz="1250" dirty="0">
                <a:solidFill>
                  <a:srgbClr val="F2F2F2"/>
                </a:solidFill>
                <a:latin typeface="Consolas" pitchFamily="34" charset="0"/>
                <a:ea typeface="Consolas" pitchFamily="34" charset="-122"/>
                <a:cs typeface="Consolas" pitchFamily="34" charset="-120"/>
              </a:rPr>
              <a:t>       getpid(), getppid());</a:t>
            </a:r>
            <a:endParaRPr lang="tr-TR" sz="1250" dirty="0"/>
          </a:p>
        </p:txBody>
      </p:sp>
      <p:sp>
        <p:nvSpPr>
          <p:cNvPr id="33" name="Shape 31"/>
          <p:cNvSpPr/>
          <p:nvPr/>
        </p:nvSpPr>
        <p:spPr>
          <a:xfrm>
            <a:off x="6583680" y="3154680"/>
            <a:ext cx="5074920" cy="1097280"/>
          </a:xfrm>
          <a:prstGeom prst="roundRect">
            <a:avLst>
              <a:gd name="adj" fmla="val 4167"/>
            </a:avLst>
          </a:prstGeom>
          <a:solidFill>
            <a:srgbClr val="212121"/>
          </a:solidFill>
          <a:ln/>
        </p:spPr>
      </p:sp>
      <p:sp>
        <p:nvSpPr>
          <p:cNvPr id="34" name="Text 32"/>
          <p:cNvSpPr txBox="1"/>
          <p:nvPr/>
        </p:nvSpPr>
        <p:spPr>
          <a:xfrm>
            <a:off x="6766560" y="3264408"/>
            <a:ext cx="4709160" cy="877824"/>
          </a:xfrm>
          <a:prstGeom prst="rect">
            <a:avLst/>
          </a:prstGeom>
          <a:noFill/>
          <a:ln/>
        </p:spPr>
        <p:txBody>
          <a:bodyPr wrap="square" lIns="0" tIns="0" rIns="0" bIns="0" rtlCol="0" anchor="t"/>
          <a:lstStyle/>
          <a:p>
            <a:pPr indent="0" marL="0">
              <a:lnSpc>
                <a:spcPct val="105000"/>
              </a:lnSpc>
              <a:buNone/>
            </a:pPr>
            <a:r>
              <a:rPr lang="tr-TR" sz="1100" dirty="0">
                <a:solidFill>
                  <a:srgbClr val="02C39A"/>
                </a:solidFill>
                <a:latin typeface="Consolas" pitchFamily="34" charset="0"/>
                <a:ea typeface="Consolas" pitchFamily="34" charset="-122"/>
                <a:cs typeface="Consolas" pitchFamily="34" charset="-120"/>
              </a:rPr>
              <a:t>$ for n in 1 2 3 4 5 10; do</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&gt;   ./fork_count $n | wc -l; done</a:t>
            </a:r>
            <a:endParaRPr lang="tr-TR" sz="1100" dirty="0"/>
          </a:p>
          <a:p>
            <a:pPr indent="0" marL="0">
              <a:lnSpc>
                <a:spcPct val="105000"/>
              </a:lnSpc>
              <a:buNone/>
            </a:pPr>
            <a:r>
              <a:rPr lang="tr-TR" sz="1100" dirty="0">
                <a:solidFill>
                  <a:srgbClr val="F2F2F2"/>
                </a:solidFill>
                <a:latin typeface="Consolas" pitchFamily="34" charset="0"/>
                <a:ea typeface="Consolas" pitchFamily="34" charset="-122"/>
                <a:cs typeface="Consolas" pitchFamily="34" charset="-120"/>
              </a:rPr>
              <a:t>2  4  8  16  32  1024      (süreç başına bir satır)</a:t>
            </a:r>
            <a:endParaRPr lang="tr-TR" sz="1100" dirty="0"/>
          </a:p>
        </p:txBody>
      </p:sp>
      <p:sp>
        <p:nvSpPr>
          <p:cNvPr id="35" name="Shape 33"/>
          <p:cNvSpPr/>
          <p:nvPr/>
        </p:nvSpPr>
        <p:spPr>
          <a:xfrm>
            <a:off x="6583680" y="4434840"/>
            <a:ext cx="5074920" cy="1828800"/>
          </a:xfrm>
          <a:prstGeom prst="roundRect">
            <a:avLst>
              <a:gd name="adj" fmla="val 3000"/>
            </a:avLst>
          </a:prstGeom>
          <a:solidFill>
            <a:srgbClr val="36454F"/>
          </a:solidFill>
          <a:ln/>
          <a:effectLst>
            <a:outerShdw sx="100000" sy="100000" kx="0" ky="0" algn="bl" rotWithShape="0" blurRad="101600" dist="25400" dir="5400000">
              <a:srgbClr val="000000">
                <a:alpha val="12000"/>
              </a:srgbClr>
            </a:outerShdw>
          </a:effectLst>
        </p:spPr>
      </p:sp>
      <p:sp>
        <p:nvSpPr>
          <p:cNvPr id="36" name="Text 34"/>
          <p:cNvSpPr txBox="1"/>
          <p:nvPr/>
        </p:nvSpPr>
        <p:spPr>
          <a:xfrm>
            <a:off x="6812280" y="4434840"/>
            <a:ext cx="4617720" cy="1828800"/>
          </a:xfrm>
          <a:prstGeom prst="rect">
            <a:avLst/>
          </a:prstGeom>
          <a:noFill/>
          <a:ln/>
        </p:spPr>
        <p:txBody>
          <a:bodyPr wrap="square" lIns="0" tIns="0" rIns="0" bIns="0" rtlCol="0" anchor="ctr"/>
          <a:lstStyle/>
          <a:p>
            <a:pPr indent="0" marL="0">
              <a:buNone/>
            </a:pPr>
            <a:r>
              <a:rPr lang="tr-TR" sz="1500" dirty="0">
                <a:solidFill>
                  <a:srgbClr val="F2F2F2"/>
                </a:solidFill>
                <a:latin typeface="Calibri" pitchFamily="34" charset="0"/>
                <a:ea typeface="Calibri" pitchFamily="34" charset="-122"/>
                <a:cs typeface="Calibri" pitchFamily="34" charset="-120"/>
              </a:rPr>
              <a:t>Her fork'ta süreç sayısı ikiye katlanır: n fork'tan sonra toplam 2ⁿ süreç olur, bunların 2ⁿ − 1'i yeni yaratılmıştır. printf 2ⁿ kez çalışır.</a:t>
            </a:r>
            <a:endParaRPr lang="tr-TR"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KENDİNİZ DENEYİN</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Kendi Makinenizdeki Süreçlere Bakın</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37</a:t>
            </a:r>
            <a:endParaRPr lang="tr-TR" sz="900" dirty="0"/>
          </a:p>
        </p:txBody>
      </p:sp>
      <p:sp>
        <p:nvSpPr>
          <p:cNvPr id="6" name="Shape 4"/>
          <p:cNvSpPr/>
          <p:nvPr/>
        </p:nvSpPr>
        <p:spPr>
          <a:xfrm>
            <a:off x="548640" y="1508760"/>
            <a:ext cx="6035040" cy="4754880"/>
          </a:xfrm>
          <a:prstGeom prst="roundRect">
            <a:avLst>
              <a:gd name="adj" fmla="val 962"/>
            </a:avLst>
          </a:prstGeom>
          <a:solidFill>
            <a:srgbClr val="212121"/>
          </a:solidFill>
          <a:ln/>
        </p:spPr>
      </p:sp>
      <p:sp>
        <p:nvSpPr>
          <p:cNvPr id="7" name="Text 5"/>
          <p:cNvSpPr txBox="1"/>
          <p:nvPr/>
        </p:nvSpPr>
        <p:spPr>
          <a:xfrm>
            <a:off x="731520" y="1618488"/>
            <a:ext cx="5669280" cy="4535424"/>
          </a:xfrm>
          <a:prstGeom prst="rect">
            <a:avLst/>
          </a:prstGeom>
          <a:noFill/>
          <a:ln/>
        </p:spPr>
        <p:txBody>
          <a:bodyPr wrap="square" lIns="0" tIns="0" rIns="0" bIns="0" rtlCol="0" anchor="t"/>
          <a:lstStyle/>
          <a:p>
            <a:pPr indent="0" marL="0">
              <a:lnSpc>
                <a:spcPct val="105000"/>
              </a:lnSpc>
              <a:buNone/>
            </a:pPr>
            <a:r>
              <a:rPr lang="tr-TR" sz="1300" dirty="0">
                <a:solidFill>
                  <a:srgbClr val="8A9AA0"/>
                </a:solidFill>
                <a:latin typeface="Consolas" pitchFamily="34" charset="0"/>
                <a:ea typeface="Consolas" pitchFamily="34" charset="-122"/>
                <a:cs typeface="Consolas" pitchFamily="34" charset="-120"/>
              </a:rPr>
              <a:t># Linux (laboratuvar, WSL ya da sanal makine)</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ps -ef | head            # tüm süreçler, PPID ile</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ps -o pid,ppid,stat,cmd  # süreçleriniz + durum</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pstree -p | less         # süreç ağacı</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cat /proc/$$/status      # kabuğunuzun PCB'si</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strace -c ls             # türe göre sistem çağrıları</a:t>
            </a:r>
            <a:endParaRPr lang="tr-TR" sz="1300" dirty="0"/>
          </a:p>
          <a:p>
            <a:pPr indent="0" marL="0">
              <a:lnSpc>
                <a:spcPct val="105000"/>
              </a:lnSpc>
              <a:buNone/>
            </a:pPr>
            <a:r>
              <a:rPr lang="tr-TR" sz="1300" dirty="0">
                <a:solidFill>
                  <a:srgbClr val="02C39A"/>
                </a:solidFill>
                <a:latin typeface="Consolas" pitchFamily="34" charset="0"/>
                <a:ea typeface="Consolas" pitchFamily="34" charset="-122"/>
                <a:cs typeface="Consolas" pitchFamily="34" charset="-120"/>
              </a:rPr>
              <a:t>$ make &amp;&amp; ./fork_count 4   # 3. hafta kod klasörü</a:t>
            </a:r>
            <a:endParaRPr lang="tr-TR" sz="1300" dirty="0"/>
          </a:p>
          <a:p>
            <a:pPr indent="0" marL="0">
              <a:lnSpc>
                <a:spcPct val="105000"/>
              </a:lnSpc>
              <a:buNone/>
            </a:pPr>
            <a:r>
              <a:rPr lang="tr-TR" sz="1300" dirty="0">
                <a:solidFill>
                  <a:srgbClr val="F2F2F2"/>
                </a:solidFill>
                <a:latin typeface="Consolas" pitchFamily="34" charset="0"/>
                <a:ea typeface="Consolas" pitchFamily="34" charset="-122"/>
                <a:cs typeface="Consolas" pitchFamily="34" charset="-120"/>
              </a:rPr>
              <a:t> </a:t>
            </a:r>
            <a:endParaRPr lang="tr-TR" sz="1300" dirty="0"/>
          </a:p>
          <a:p>
            <a:pPr indent="0" marL="0">
              <a:lnSpc>
                <a:spcPct val="105000"/>
              </a:lnSpc>
              <a:buNone/>
            </a:pPr>
            <a:r>
              <a:rPr lang="tr-TR" sz="1300" dirty="0">
                <a:solidFill>
                  <a:srgbClr val="8A9AA0"/>
                </a:solidFill>
                <a:latin typeface="Consolas" pitchFamily="34" charset="0"/>
                <a:ea typeface="Consolas" pitchFamily="34" charset="-122"/>
                <a:cs typeface="Consolas" pitchFamily="34" charset="-120"/>
              </a:rPr>
              <a:t># Windows</a:t>
            </a:r>
            <a:endParaRPr lang="tr-TR" sz="1300" dirty="0"/>
          </a:p>
          <a:p>
            <a:pPr indent="0" marL="0">
              <a:lnSpc>
                <a:spcPct val="105000"/>
              </a:lnSpc>
              <a:buNone/>
            </a:pPr>
            <a:r>
              <a:rPr lang="tr-TR" sz="1300" dirty="0">
                <a:solidFill>
                  <a:srgbClr val="F2F2F2"/>
                </a:solidFill>
                <a:latin typeface="Consolas" pitchFamily="34" charset="0"/>
                <a:ea typeface="Consolas" pitchFamily="34" charset="-122"/>
                <a:cs typeface="Consolas" pitchFamily="34" charset="-120"/>
              </a:rPr>
              <a:t>&gt; tasklist                 # süreçleri listele</a:t>
            </a:r>
            <a:endParaRPr lang="tr-TR" sz="1300" dirty="0"/>
          </a:p>
          <a:p>
            <a:pPr indent="0" marL="0">
              <a:lnSpc>
                <a:spcPct val="105000"/>
              </a:lnSpc>
              <a:buNone/>
            </a:pPr>
            <a:r>
              <a:rPr lang="tr-TR" sz="1300" dirty="0">
                <a:solidFill>
                  <a:srgbClr val="8A9AA0"/>
                </a:solidFill>
                <a:latin typeface="Consolas" pitchFamily="34" charset="0"/>
                <a:ea typeface="Consolas" pitchFamily="34" charset="-122"/>
                <a:cs typeface="Consolas" pitchFamily="34" charset="-120"/>
              </a:rPr>
              <a:t># Görev Yöneticisi &gt; Ayrıntılar: PID sütunu</a:t>
            </a:r>
            <a:endParaRPr lang="tr-TR" sz="1300" dirty="0"/>
          </a:p>
        </p:txBody>
      </p:sp>
      <p:sp>
        <p:nvSpPr>
          <p:cNvPr id="8" name="Shape 6"/>
          <p:cNvSpPr/>
          <p:nvPr/>
        </p:nvSpPr>
        <p:spPr>
          <a:xfrm>
            <a:off x="6858000" y="1508760"/>
            <a:ext cx="4800600" cy="4754880"/>
          </a:xfrm>
          <a:prstGeom prst="roundRect">
            <a:avLst>
              <a:gd name="adj" fmla="val 1154"/>
            </a:avLst>
          </a:prstGeom>
          <a:solidFill>
            <a:srgbClr val="F2F2F2"/>
          </a:solidFill>
          <a:ln/>
          <a:effectLst>
            <a:outerShdw sx="100000" sy="100000" kx="0" ky="0" algn="bl" rotWithShape="0" blurRad="101600" dist="25400" dir="5400000">
              <a:srgbClr val="000000">
                <a:alpha val="12000"/>
              </a:srgbClr>
            </a:outerShdw>
          </a:effectLst>
        </p:spPr>
      </p:sp>
      <p:sp>
        <p:nvSpPr>
          <p:cNvPr id="9" name="Text 7"/>
          <p:cNvSpPr txBox="1"/>
          <p:nvPr/>
        </p:nvSpPr>
        <p:spPr>
          <a:xfrm>
            <a:off x="7086600" y="1691640"/>
            <a:ext cx="4343400" cy="384048"/>
          </a:xfrm>
          <a:prstGeom prst="rect">
            <a:avLst/>
          </a:prstGeom>
          <a:noFill/>
          <a:ln/>
        </p:spPr>
        <p:txBody>
          <a:bodyPr wrap="square" lIns="0" tIns="0" rIns="0" bIns="0" rtlCol="0" anchor="ctr"/>
          <a:lstStyle/>
          <a:p>
            <a:pPr indent="0" marL="0">
              <a:buNone/>
            </a:pPr>
            <a:r>
              <a:rPr lang="tr-TR" sz="1500" b="1" dirty="0">
                <a:solidFill>
                  <a:srgbClr val="028090"/>
                </a:solidFill>
                <a:latin typeface="Cambria" pitchFamily="34" charset="0"/>
                <a:ea typeface="Cambria" pitchFamily="34" charset="-122"/>
                <a:cs typeface="Cambria" pitchFamily="34" charset="-120"/>
              </a:rPr>
              <a:t>Yanıtlanacak sorular</a:t>
            </a:r>
            <a:endParaRPr lang="tr-TR" sz="1500" dirty="0"/>
          </a:p>
        </p:txBody>
      </p:sp>
      <p:sp>
        <p:nvSpPr>
          <p:cNvPr id="10" name="Text 8"/>
          <p:cNvSpPr txBox="1"/>
          <p:nvPr/>
        </p:nvSpPr>
        <p:spPr>
          <a:xfrm>
            <a:off x="7086600" y="2148840"/>
            <a:ext cx="4343400" cy="3977640"/>
          </a:xfrm>
          <a:prstGeom prst="rect">
            <a:avLst/>
          </a:prstGeom>
          <a:noFill/>
          <a:ln/>
        </p:spPr>
        <p:txBody>
          <a:bodyPr wrap="square" lIns="0" tIns="0" rIns="0" bIns="0" rtlCol="0" anchor="t"/>
          <a:lstStyle/>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Kabuğunuzun PID'si nedir ve ebeveyni kimdir?</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Şu anda R durumunda kaç süreç var? Neden bu kadar az?</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Kabuğunuz şimdiye kadar kaç gönüllü bağlam değişimi yaptı?</a:t>
            </a:r>
            <a:endParaRPr lang="tr-TR" sz="1400" dirty="0"/>
          </a:p>
          <a:p>
            <a:pPr marL="228600" indent="-228600">
              <a:spcAft>
                <a:spcPts val="400"/>
              </a:spcAft>
              <a:buSzPct val="100000"/>
              <a:buChar char="•"/>
            </a:pPr>
            <a:r>
              <a:rPr lang="tr-TR" sz="1400" dirty="0">
                <a:solidFill>
                  <a:srgbClr val="3A464C"/>
                </a:solidFill>
                <a:latin typeface="Calibri" pitchFamily="34" charset="0"/>
                <a:ea typeface="Calibri" pitchFamily="34" charset="-122"/>
                <a:cs typeface="Calibri" pitchFamily="34" charset="-120"/>
              </a:rPr>
              <a:t>ls'in en çok altı sistem çağrısı kategorisinden hangisini kullandığını bulun.</a:t>
            </a:r>
            <a:endParaRPr lang="tr-T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KAPANIŞ</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3. Hafta: Temel Çıkarımlar</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38</a:t>
            </a:r>
            <a:endParaRPr lang="tr-TR" sz="900" dirty="0"/>
          </a:p>
        </p:txBody>
      </p:sp>
      <p:sp>
        <p:nvSpPr>
          <p:cNvPr id="6" name="Text 4"/>
          <p:cNvSpPr txBox="1"/>
          <p:nvPr/>
        </p:nvSpPr>
        <p:spPr>
          <a:xfrm>
            <a:off x="548640" y="1600200"/>
            <a:ext cx="11064240" cy="4663440"/>
          </a:xfrm>
          <a:prstGeom prst="rect">
            <a:avLst/>
          </a:prstGeom>
          <a:noFill/>
          <a:ln/>
        </p:spPr>
        <p:txBody>
          <a:bodyPr wrap="square" lIns="0" tIns="0" rIns="0" bIns="0" rtlCol="0" anchor="t"/>
          <a:lstStyle/>
          <a:p>
            <a:pPr marL="228600" indent="-228600">
              <a:spcAft>
                <a:spcPts val="1400"/>
              </a:spcAft>
              <a:buSzPct val="100000"/>
              <a:buChar char="•"/>
            </a:pPr>
            <a:r>
              <a:rPr lang="tr-TR" sz="1800" b="1" dirty="0">
                <a:solidFill>
                  <a:srgbClr val="3A464C"/>
                </a:solidFill>
                <a:latin typeface="Calibri" pitchFamily="34" charset="0"/>
                <a:ea typeface="Calibri" pitchFamily="34" charset="-122"/>
                <a:cs typeface="Calibri" pitchFamily="34" charset="-120"/>
              </a:rPr>
              <a:t>Hizmetler:</a:t>
            </a:r>
            <a:r>
              <a:rPr lang="tr-TR" sz="1800" dirty="0">
                <a:solidFill>
                  <a:srgbClr val="3A464C"/>
                </a:solidFill>
                <a:latin typeface="Calibri" pitchFamily="34" charset="0"/>
                <a:ea typeface="Calibri" pitchFamily="34" charset="-122"/>
                <a:cs typeface="Calibri" pitchFamily="34" charset="-120"/>
              </a:rPr>
              <a:t> kullanıcıya dönük (arayüz, yürütme, G/Ç, dosyalar, iletişim, hatalar) ve sisteme dönük (tahsis, hesap tutma, koruma).</a:t>
            </a:r>
            <a:endParaRPr lang="tr-TR" sz="1800" dirty="0"/>
          </a:p>
          <a:p>
            <a:pPr marL="228600" indent="-228600">
              <a:spcAft>
                <a:spcPts val="1400"/>
              </a:spcAft>
              <a:buSzPct val="100000"/>
              <a:buChar char="•"/>
            </a:pPr>
            <a:r>
              <a:rPr lang="tr-TR" sz="1800" b="1" dirty="0">
                <a:solidFill>
                  <a:srgbClr val="3A464C"/>
                </a:solidFill>
                <a:latin typeface="Calibri" pitchFamily="34" charset="0"/>
                <a:ea typeface="Calibri" pitchFamily="34" charset="-122"/>
                <a:cs typeface="Calibri" pitchFamily="34" charset="-120"/>
              </a:rPr>
              <a:t>Sistem çağrıları:</a:t>
            </a:r>
            <a:r>
              <a:rPr lang="tr-TR" sz="1800" dirty="0">
                <a:solidFill>
                  <a:srgbClr val="3A464C"/>
                </a:solidFill>
                <a:latin typeface="Calibri" pitchFamily="34" charset="0"/>
                <a:ea typeface="Calibri" pitchFamily="34" charset="-122"/>
                <a:cs typeface="Calibri" pitchFamily="34" charset="-120"/>
              </a:rPr>
              <a:t> bir API ve bir libc sarmalayıcısı üzerinden ulaşılır; sistem çağrısı tablosunda bir numarayla seçilir; bir tuzakla girilir.</a:t>
            </a:r>
            <a:endParaRPr lang="tr-TR" sz="1800" dirty="0"/>
          </a:p>
          <a:p>
            <a:pPr marL="228600" indent="-228600">
              <a:spcAft>
                <a:spcPts val="1400"/>
              </a:spcAft>
              <a:buSzPct val="100000"/>
              <a:buChar char="•"/>
            </a:pPr>
            <a:r>
              <a:rPr lang="tr-TR" sz="1800" b="1" dirty="0">
                <a:solidFill>
                  <a:srgbClr val="3A464C"/>
                </a:solidFill>
                <a:latin typeface="Calibri" pitchFamily="34" charset="0"/>
                <a:ea typeface="Calibri" pitchFamily="34" charset="-122"/>
                <a:cs typeface="Calibri" pitchFamily="34" charset="-120"/>
              </a:rPr>
              <a:t>Parametreler:</a:t>
            </a:r>
            <a:r>
              <a:rPr lang="tr-TR" sz="1800" dirty="0">
                <a:solidFill>
                  <a:srgbClr val="3A464C"/>
                </a:solidFill>
                <a:latin typeface="Calibri" pitchFamily="34" charset="0"/>
                <a:ea typeface="Calibri" pitchFamily="34" charset="-122"/>
                <a:cs typeface="Calibri" pitchFamily="34" charset="-120"/>
              </a:rPr>
              <a:t> yazmaçlar, bir bellek bloğu ya da yığıt; x86-64 Linux rax + en çok altı yazmaç kullanır.</a:t>
            </a:r>
            <a:endParaRPr lang="tr-TR" sz="1800" dirty="0"/>
          </a:p>
          <a:p>
            <a:pPr marL="228600" indent="-228600">
              <a:spcAft>
                <a:spcPts val="1400"/>
              </a:spcAft>
              <a:buSzPct val="100000"/>
              <a:buChar char="•"/>
            </a:pPr>
            <a:r>
              <a:rPr lang="tr-TR" sz="1800" b="1" dirty="0">
                <a:solidFill>
                  <a:srgbClr val="3A464C"/>
                </a:solidFill>
                <a:latin typeface="Calibri" pitchFamily="34" charset="0"/>
                <a:ea typeface="Calibri" pitchFamily="34" charset="-122"/>
                <a:cs typeface="Calibri" pitchFamily="34" charset="-120"/>
              </a:rPr>
              <a:t>Süreç:</a:t>
            </a:r>
            <a:r>
              <a:rPr lang="tr-TR" sz="1800" dirty="0">
                <a:solidFill>
                  <a:srgbClr val="3A464C"/>
                </a:solidFill>
                <a:latin typeface="Calibri" pitchFamily="34" charset="0"/>
                <a:ea typeface="Calibri" pitchFamily="34" charset="-122"/>
                <a:cs typeface="Calibri" pitchFamily="34" charset="-120"/>
              </a:rPr>
              <a:t> text, data, bss, heap ve stack bölgeleri olan, yürütülmekte olan program; PCB'siyle tanımlanır.</a:t>
            </a:r>
            <a:endParaRPr lang="tr-TR" sz="1800" dirty="0"/>
          </a:p>
          <a:p>
            <a:pPr marL="228600" indent="-228600">
              <a:spcAft>
                <a:spcPts val="1400"/>
              </a:spcAft>
              <a:buSzPct val="100000"/>
              <a:buChar char="•"/>
            </a:pPr>
            <a:r>
              <a:rPr lang="tr-TR" sz="1800" b="1" dirty="0">
                <a:solidFill>
                  <a:srgbClr val="3A464C"/>
                </a:solidFill>
                <a:latin typeface="Calibri" pitchFamily="34" charset="0"/>
                <a:ea typeface="Calibri" pitchFamily="34" charset="-122"/>
                <a:cs typeface="Calibri" pitchFamily="34" charset="-120"/>
              </a:rPr>
              <a:t>Durumlar:</a:t>
            </a:r>
            <a:r>
              <a:rPr lang="tr-TR" sz="1800" dirty="0">
                <a:solidFill>
                  <a:srgbClr val="3A464C"/>
                </a:solidFill>
                <a:latin typeface="Calibri" pitchFamily="34" charset="0"/>
                <a:ea typeface="Calibri" pitchFamily="34" charset="-122"/>
                <a:cs typeface="Calibri" pitchFamily="34" charset="-120"/>
              </a:rPr>
              <a:t> yeni, hazır, çalışıyor, bekliyor, sonlandı; geçişlere kesmeler ve sistem çağrıları yol açar.</a:t>
            </a:r>
            <a:endParaRPr lang="tr-TR" sz="1800" dirty="0"/>
          </a:p>
          <a:p>
            <a:pPr marL="228600" indent="-228600">
              <a:spcAft>
                <a:spcPts val="1400"/>
              </a:spcAft>
              <a:buSzPct val="100000"/>
              <a:buChar char="•"/>
            </a:pPr>
            <a:r>
              <a:rPr lang="tr-TR" sz="1800" b="1" dirty="0">
                <a:solidFill>
                  <a:srgbClr val="3A464C"/>
                </a:solidFill>
                <a:latin typeface="Calibri" pitchFamily="34" charset="0"/>
                <a:ea typeface="Calibri" pitchFamily="34" charset="-122"/>
                <a:cs typeface="Calibri" pitchFamily="34" charset="-120"/>
              </a:rPr>
              <a:t>Bağlam değişimi ve oluşturma:</a:t>
            </a:r>
            <a:r>
              <a:rPr lang="tr-TR" sz="1800" dirty="0">
                <a:solidFill>
                  <a:srgbClr val="3A464C"/>
                </a:solidFill>
                <a:latin typeface="Calibri" pitchFamily="34" charset="0"/>
                <a:ea typeface="Calibri" pitchFamily="34" charset="-122"/>
                <a:cs typeface="Calibri" pitchFamily="34" charset="-120"/>
              </a:rPr>
              <a:t> geçiş saf ek yüktür, s/(q+s); fork–exec–wait süreç ağacını kurar.</a:t>
            </a:r>
            <a:endParaRPr lang="tr-TR"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0972800" cy="292608"/>
          </a:xfrm>
          <a:prstGeom prst="rect">
            <a:avLst/>
          </a:prstGeom>
          <a:noFill/>
          <a:ln/>
        </p:spPr>
        <p:txBody>
          <a:bodyPr wrap="square" lIns="0" tIns="0" rIns="0" bIns="0" rtlCol="0" anchor="ctr"/>
          <a:lstStyle/>
          <a:p>
            <a:pPr indent="0" marL="0">
              <a:buNone/>
            </a:pPr>
            <a:r>
              <a:rPr lang="tr-TR" sz="1200" b="1" spc="200" kern="0" dirty="0">
                <a:solidFill>
                  <a:srgbClr val="02C39A"/>
                </a:solidFill>
                <a:latin typeface="Calibri" pitchFamily="34" charset="0"/>
                <a:ea typeface="Calibri" pitchFamily="34" charset="-122"/>
                <a:cs typeface="Calibri" pitchFamily="34" charset="-120"/>
              </a:rPr>
              <a:t>KISA SINAV</a:t>
            </a:r>
            <a:endParaRPr lang="tr-TR" sz="1200" dirty="0"/>
          </a:p>
        </p:txBody>
      </p:sp>
      <p:sp>
        <p:nvSpPr>
          <p:cNvPr id="3" name="Text 1"/>
          <p:cNvSpPr txBox="1"/>
          <p:nvPr/>
        </p:nvSpPr>
        <p:spPr>
          <a:xfrm>
            <a:off x="548640" y="566928"/>
            <a:ext cx="11064240" cy="777240"/>
          </a:xfrm>
          <a:prstGeom prst="rect">
            <a:avLst/>
          </a:prstGeom>
          <a:noFill/>
          <a:ln/>
        </p:spPr>
        <p:txBody>
          <a:bodyPr wrap="square" lIns="0" tIns="0" rIns="0" bIns="0" rtlCol="0" anchor="ctr"/>
          <a:lstStyle/>
          <a:p>
            <a:pPr indent="0" marL="0">
              <a:buNone/>
            </a:pPr>
            <a:r>
              <a:rPr lang="tr-TR" sz="3000" b="1" dirty="0">
                <a:solidFill>
                  <a:srgbClr val="36454F"/>
                </a:solidFill>
                <a:latin typeface="Cambria" pitchFamily="34" charset="0"/>
                <a:ea typeface="Cambria" pitchFamily="34" charset="-122"/>
                <a:cs typeface="Cambria" pitchFamily="34" charset="-120"/>
              </a:rPr>
              <a:t>Kendinizi Sınayın</a:t>
            </a:r>
            <a:endParaRPr lang="tr-TR" sz="3000" dirty="0"/>
          </a:p>
        </p:txBody>
      </p:sp>
      <p:sp>
        <p:nvSpPr>
          <p:cNvPr id="4" name="Text 2"/>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6B7679"/>
                </a:solidFill>
                <a:latin typeface="Calibri" pitchFamily="34" charset="0"/>
                <a:ea typeface="Calibri" pitchFamily="34" charset="-122"/>
                <a:cs typeface="Calibri" pitchFamily="34" charset="-120"/>
              </a:rPr>
              <a:t>MBLP131 — İşletim Sistemleri Temelleri</a:t>
            </a:r>
            <a:endParaRPr lang="tr-TR" sz="900" dirty="0"/>
          </a:p>
        </p:txBody>
      </p:sp>
      <p:sp>
        <p:nvSpPr>
          <p:cNvPr id="5" name="Text 3"/>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6B7679"/>
                </a:solidFill>
                <a:latin typeface="Calibri" pitchFamily="34" charset="0"/>
                <a:ea typeface="Calibri" pitchFamily="34" charset="-122"/>
                <a:cs typeface="Calibri" pitchFamily="34" charset="-120"/>
              </a:rPr>
              <a:t>Hafta 3  ·  39</a:t>
            </a:r>
            <a:endParaRPr lang="tr-TR" sz="900" dirty="0"/>
          </a:p>
        </p:txBody>
      </p:sp>
      <p:sp>
        <p:nvSpPr>
          <p:cNvPr id="6" name="Shape 4"/>
          <p:cNvSpPr/>
          <p:nvPr/>
        </p:nvSpPr>
        <p:spPr>
          <a:xfrm>
            <a:off x="548640" y="1508760"/>
            <a:ext cx="11109960" cy="1037844"/>
          </a:xfrm>
          <a:prstGeom prst="roundRect">
            <a:avLst>
              <a:gd name="adj" fmla="val 5286"/>
            </a:avLst>
          </a:prstGeom>
          <a:solidFill>
            <a:srgbClr val="F2F2F2"/>
          </a:solidFill>
          <a:ln/>
          <a:effectLst>
            <a:outerShdw sx="100000" sy="100000" kx="0" ky="0" algn="bl" rotWithShape="0" blurRad="101600" dist="25400" dir="5400000">
              <a:srgbClr val="000000">
                <a:alpha val="12000"/>
              </a:srgbClr>
            </a:outerShdw>
          </a:effectLst>
        </p:spPr>
      </p:sp>
      <p:sp>
        <p:nvSpPr>
          <p:cNvPr id="7" name="Shape 5"/>
          <p:cNvSpPr/>
          <p:nvPr/>
        </p:nvSpPr>
        <p:spPr>
          <a:xfrm>
            <a:off x="777240" y="1780794"/>
            <a:ext cx="493776" cy="493776"/>
          </a:xfrm>
          <a:prstGeom prst="ellipse">
            <a:avLst/>
          </a:prstGeom>
          <a:solidFill>
            <a:srgbClr val="02C39A"/>
          </a:solidFill>
          <a:ln/>
        </p:spPr>
      </p:sp>
      <p:sp>
        <p:nvSpPr>
          <p:cNvPr id="8" name="Text 6"/>
          <p:cNvSpPr txBox="1"/>
          <p:nvPr/>
        </p:nvSpPr>
        <p:spPr>
          <a:xfrm>
            <a:off x="777240" y="1780794"/>
            <a:ext cx="493776" cy="493776"/>
          </a:xfrm>
          <a:prstGeom prst="rect">
            <a:avLst/>
          </a:prstGeom>
          <a:noFill/>
          <a:ln/>
        </p:spPr>
        <p:txBody>
          <a:bodyPr wrap="square" lIns="0" tIns="0" rIns="0" bIns="0" rtlCol="0" anchor="ctr"/>
          <a:lstStyle/>
          <a:p>
            <a:pPr algn="ctr" indent="0" marL="0">
              <a:buNone/>
            </a:pPr>
            <a:r>
              <a:rPr lang="tr-TR" sz="1600" b="1" dirty="0">
                <a:solidFill>
                  <a:srgbClr val="FFFFFF"/>
                </a:solidFill>
                <a:latin typeface="Cambria" pitchFamily="34" charset="0"/>
                <a:ea typeface="Cambria" pitchFamily="34" charset="-122"/>
                <a:cs typeface="Cambria" pitchFamily="34" charset="-120"/>
              </a:rPr>
              <a:t>1</a:t>
            </a:r>
            <a:endParaRPr lang="tr-TR" sz="1600" dirty="0"/>
          </a:p>
        </p:txBody>
      </p:sp>
      <p:sp>
        <p:nvSpPr>
          <p:cNvPr id="9" name="Text 7"/>
          <p:cNvSpPr txBox="1"/>
          <p:nvPr/>
        </p:nvSpPr>
        <p:spPr>
          <a:xfrm>
            <a:off x="1508760" y="1508760"/>
            <a:ext cx="9921240" cy="1037844"/>
          </a:xfrm>
          <a:prstGeom prst="rect">
            <a:avLst/>
          </a:prstGeom>
          <a:noFill/>
          <a:ln/>
        </p:spPr>
        <p:txBody>
          <a:bodyPr wrap="square" lIns="0" tIns="0" rIns="0" bIns="0" rtlCol="0" anchor="ctr"/>
          <a:lstStyle/>
          <a:p>
            <a:pPr indent="0" marL="0">
              <a:buNone/>
            </a:pPr>
            <a:r>
              <a:rPr lang="tr-TR" sz="1600" dirty="0">
                <a:solidFill>
                  <a:srgbClr val="3A464C"/>
                </a:solidFill>
                <a:latin typeface="Calibri" pitchFamily="34" charset="0"/>
                <a:ea typeface="Calibri" pitchFamily="34" charset="-122"/>
                <a:cs typeface="Calibri" pitchFamily="34" charset="-120"/>
              </a:rPr>
              <a:t>printf() bir sistem çağrısı mıdır? printf() ile ekran arasında ne olduğunu açıklayın.</a:t>
            </a:r>
            <a:endParaRPr lang="tr-TR" sz="1600" dirty="0"/>
          </a:p>
        </p:txBody>
      </p:sp>
      <p:sp>
        <p:nvSpPr>
          <p:cNvPr id="10" name="Shape 8"/>
          <p:cNvSpPr/>
          <p:nvPr/>
        </p:nvSpPr>
        <p:spPr>
          <a:xfrm>
            <a:off x="548640" y="2747772"/>
            <a:ext cx="11109960" cy="1037844"/>
          </a:xfrm>
          <a:prstGeom prst="roundRect">
            <a:avLst>
              <a:gd name="adj" fmla="val 5286"/>
            </a:avLst>
          </a:prstGeom>
          <a:solidFill>
            <a:srgbClr val="F2F2F2"/>
          </a:solidFill>
          <a:ln/>
          <a:effectLst>
            <a:outerShdw sx="100000" sy="100000" kx="0" ky="0" algn="bl" rotWithShape="0" blurRad="101600" dist="25400" dir="5400000">
              <a:srgbClr val="000000">
                <a:alpha val="12000"/>
              </a:srgbClr>
            </a:outerShdw>
          </a:effectLst>
        </p:spPr>
      </p:sp>
      <p:sp>
        <p:nvSpPr>
          <p:cNvPr id="11" name="Shape 9"/>
          <p:cNvSpPr/>
          <p:nvPr/>
        </p:nvSpPr>
        <p:spPr>
          <a:xfrm>
            <a:off x="777240" y="3019806"/>
            <a:ext cx="493776" cy="493776"/>
          </a:xfrm>
          <a:prstGeom prst="ellipse">
            <a:avLst/>
          </a:prstGeom>
          <a:solidFill>
            <a:srgbClr val="02C39A"/>
          </a:solidFill>
          <a:ln/>
        </p:spPr>
      </p:sp>
      <p:sp>
        <p:nvSpPr>
          <p:cNvPr id="12" name="Text 10"/>
          <p:cNvSpPr txBox="1"/>
          <p:nvPr/>
        </p:nvSpPr>
        <p:spPr>
          <a:xfrm>
            <a:off x="777240" y="3019806"/>
            <a:ext cx="493776" cy="493776"/>
          </a:xfrm>
          <a:prstGeom prst="rect">
            <a:avLst/>
          </a:prstGeom>
          <a:noFill/>
          <a:ln/>
        </p:spPr>
        <p:txBody>
          <a:bodyPr wrap="square" lIns="0" tIns="0" rIns="0" bIns="0" rtlCol="0" anchor="ctr"/>
          <a:lstStyle/>
          <a:p>
            <a:pPr algn="ctr" indent="0" marL="0">
              <a:buNone/>
            </a:pPr>
            <a:r>
              <a:rPr lang="tr-TR" sz="1600" b="1" dirty="0">
                <a:solidFill>
                  <a:srgbClr val="FFFFFF"/>
                </a:solidFill>
                <a:latin typeface="Cambria" pitchFamily="34" charset="0"/>
                <a:ea typeface="Cambria" pitchFamily="34" charset="-122"/>
                <a:cs typeface="Cambria" pitchFamily="34" charset="-120"/>
              </a:rPr>
              <a:t>2</a:t>
            </a:r>
            <a:endParaRPr lang="tr-TR" sz="1600" dirty="0"/>
          </a:p>
        </p:txBody>
      </p:sp>
      <p:sp>
        <p:nvSpPr>
          <p:cNvPr id="13" name="Text 11"/>
          <p:cNvSpPr txBox="1"/>
          <p:nvPr/>
        </p:nvSpPr>
        <p:spPr>
          <a:xfrm>
            <a:off x="1508760" y="2747772"/>
            <a:ext cx="9921240" cy="1037844"/>
          </a:xfrm>
          <a:prstGeom prst="rect">
            <a:avLst/>
          </a:prstGeom>
          <a:noFill/>
          <a:ln/>
        </p:spPr>
        <p:txBody>
          <a:bodyPr wrap="square" lIns="0" tIns="0" rIns="0" bIns="0" rtlCol="0" anchor="ctr"/>
          <a:lstStyle/>
          <a:p>
            <a:pPr indent="0" marL="0">
              <a:buNone/>
            </a:pPr>
            <a:r>
              <a:rPr lang="tr-TR" sz="1600" dirty="0">
                <a:solidFill>
                  <a:srgbClr val="3A464C"/>
                </a:solidFill>
                <a:latin typeface="Calibri" pitchFamily="34" charset="0"/>
                <a:ea typeface="Calibri" pitchFamily="34" charset="-122"/>
                <a:cs typeface="Calibri" pitchFamily="34" charset="-120"/>
              </a:rPr>
              <a:t>İşletim sistemine parametre aktarmanın üç yolunu sayın. x86-64 Linux write() için hangisini kullanır?</a:t>
            </a:r>
            <a:endParaRPr lang="tr-TR" sz="1600" dirty="0"/>
          </a:p>
        </p:txBody>
      </p:sp>
      <p:sp>
        <p:nvSpPr>
          <p:cNvPr id="14" name="Shape 12"/>
          <p:cNvSpPr/>
          <p:nvPr/>
        </p:nvSpPr>
        <p:spPr>
          <a:xfrm>
            <a:off x="548640" y="3986784"/>
            <a:ext cx="11109960" cy="1037844"/>
          </a:xfrm>
          <a:prstGeom prst="roundRect">
            <a:avLst>
              <a:gd name="adj" fmla="val 5286"/>
            </a:avLst>
          </a:prstGeom>
          <a:solidFill>
            <a:srgbClr val="F2F2F2"/>
          </a:solidFill>
          <a:ln/>
          <a:effectLst>
            <a:outerShdw sx="100000" sy="100000" kx="0" ky="0" algn="bl" rotWithShape="0" blurRad="101600" dist="25400" dir="5400000">
              <a:srgbClr val="000000">
                <a:alpha val="12000"/>
              </a:srgbClr>
            </a:outerShdw>
          </a:effectLst>
        </p:spPr>
      </p:sp>
      <p:sp>
        <p:nvSpPr>
          <p:cNvPr id="15" name="Shape 13"/>
          <p:cNvSpPr/>
          <p:nvPr/>
        </p:nvSpPr>
        <p:spPr>
          <a:xfrm>
            <a:off x="777240" y="4258818"/>
            <a:ext cx="493776" cy="493776"/>
          </a:xfrm>
          <a:prstGeom prst="ellipse">
            <a:avLst/>
          </a:prstGeom>
          <a:solidFill>
            <a:srgbClr val="02C39A"/>
          </a:solidFill>
          <a:ln/>
        </p:spPr>
      </p:sp>
      <p:sp>
        <p:nvSpPr>
          <p:cNvPr id="16" name="Text 14"/>
          <p:cNvSpPr txBox="1"/>
          <p:nvPr/>
        </p:nvSpPr>
        <p:spPr>
          <a:xfrm>
            <a:off x="777240" y="4258818"/>
            <a:ext cx="493776" cy="493776"/>
          </a:xfrm>
          <a:prstGeom prst="rect">
            <a:avLst/>
          </a:prstGeom>
          <a:noFill/>
          <a:ln/>
        </p:spPr>
        <p:txBody>
          <a:bodyPr wrap="square" lIns="0" tIns="0" rIns="0" bIns="0" rtlCol="0" anchor="ctr"/>
          <a:lstStyle/>
          <a:p>
            <a:pPr algn="ctr" indent="0" marL="0">
              <a:buNone/>
            </a:pPr>
            <a:r>
              <a:rPr lang="tr-TR" sz="1600" b="1" dirty="0">
                <a:solidFill>
                  <a:srgbClr val="FFFFFF"/>
                </a:solidFill>
                <a:latin typeface="Cambria" pitchFamily="34" charset="0"/>
                <a:ea typeface="Cambria" pitchFamily="34" charset="-122"/>
                <a:cs typeface="Cambria" pitchFamily="34" charset="-120"/>
              </a:rPr>
              <a:t>3</a:t>
            </a:r>
            <a:endParaRPr lang="tr-TR" sz="1600" dirty="0"/>
          </a:p>
        </p:txBody>
      </p:sp>
      <p:sp>
        <p:nvSpPr>
          <p:cNvPr id="17" name="Text 15"/>
          <p:cNvSpPr txBox="1"/>
          <p:nvPr/>
        </p:nvSpPr>
        <p:spPr>
          <a:xfrm>
            <a:off x="1508760" y="3986784"/>
            <a:ext cx="9921240" cy="1037844"/>
          </a:xfrm>
          <a:prstGeom prst="rect">
            <a:avLst/>
          </a:prstGeom>
          <a:noFill/>
          <a:ln/>
        </p:spPr>
        <p:txBody>
          <a:bodyPr wrap="square" lIns="0" tIns="0" rIns="0" bIns="0" rtlCol="0" anchor="ctr"/>
          <a:lstStyle/>
          <a:p>
            <a:pPr indent="0" marL="0">
              <a:buNone/>
            </a:pPr>
            <a:r>
              <a:rPr lang="tr-TR" sz="1600" dirty="0">
                <a:solidFill>
                  <a:srgbClr val="3A464C"/>
                </a:solidFill>
                <a:latin typeface="Calibri" pitchFamily="34" charset="0"/>
                <a:ea typeface="Calibri" pitchFamily="34" charset="-122"/>
                <a:cs typeface="Calibri" pitchFamily="34" charset="-120"/>
              </a:rPr>
              <a:t>Bir süreç neden bekliyor durumundan doğrudan çalışıyor durumuna geçemez?</a:t>
            </a:r>
            <a:endParaRPr lang="tr-TR" sz="1600" dirty="0"/>
          </a:p>
        </p:txBody>
      </p:sp>
      <p:sp>
        <p:nvSpPr>
          <p:cNvPr id="18" name="Shape 16"/>
          <p:cNvSpPr/>
          <p:nvPr/>
        </p:nvSpPr>
        <p:spPr>
          <a:xfrm>
            <a:off x="548640" y="5225796"/>
            <a:ext cx="11109960" cy="1037844"/>
          </a:xfrm>
          <a:prstGeom prst="roundRect">
            <a:avLst>
              <a:gd name="adj" fmla="val 5286"/>
            </a:avLst>
          </a:prstGeom>
          <a:solidFill>
            <a:srgbClr val="F2F2F2"/>
          </a:solidFill>
          <a:ln/>
          <a:effectLst>
            <a:outerShdw sx="100000" sy="100000" kx="0" ky="0" algn="bl" rotWithShape="0" blurRad="101600" dist="25400" dir="5400000">
              <a:srgbClr val="000000">
                <a:alpha val="12000"/>
              </a:srgbClr>
            </a:outerShdw>
          </a:effectLst>
        </p:spPr>
      </p:sp>
      <p:sp>
        <p:nvSpPr>
          <p:cNvPr id="19" name="Shape 17"/>
          <p:cNvSpPr/>
          <p:nvPr/>
        </p:nvSpPr>
        <p:spPr>
          <a:xfrm>
            <a:off x="777240" y="5497830"/>
            <a:ext cx="493776" cy="493776"/>
          </a:xfrm>
          <a:prstGeom prst="ellipse">
            <a:avLst/>
          </a:prstGeom>
          <a:solidFill>
            <a:srgbClr val="02C39A"/>
          </a:solidFill>
          <a:ln/>
        </p:spPr>
      </p:sp>
      <p:sp>
        <p:nvSpPr>
          <p:cNvPr id="20" name="Text 18"/>
          <p:cNvSpPr txBox="1"/>
          <p:nvPr/>
        </p:nvSpPr>
        <p:spPr>
          <a:xfrm>
            <a:off x="777240" y="5497830"/>
            <a:ext cx="493776" cy="493776"/>
          </a:xfrm>
          <a:prstGeom prst="rect">
            <a:avLst/>
          </a:prstGeom>
          <a:noFill/>
          <a:ln/>
        </p:spPr>
        <p:txBody>
          <a:bodyPr wrap="square" lIns="0" tIns="0" rIns="0" bIns="0" rtlCol="0" anchor="ctr"/>
          <a:lstStyle/>
          <a:p>
            <a:pPr algn="ctr" indent="0" marL="0">
              <a:buNone/>
            </a:pPr>
            <a:r>
              <a:rPr lang="tr-TR" sz="1600" b="1" dirty="0">
                <a:solidFill>
                  <a:srgbClr val="FFFFFF"/>
                </a:solidFill>
                <a:latin typeface="Cambria" pitchFamily="34" charset="0"/>
                <a:ea typeface="Cambria" pitchFamily="34" charset="-122"/>
                <a:cs typeface="Cambria" pitchFamily="34" charset="-120"/>
              </a:rPr>
              <a:t>4</a:t>
            </a:r>
            <a:endParaRPr lang="tr-TR" sz="1600" dirty="0"/>
          </a:p>
        </p:txBody>
      </p:sp>
      <p:sp>
        <p:nvSpPr>
          <p:cNvPr id="21" name="Text 19"/>
          <p:cNvSpPr txBox="1"/>
          <p:nvPr/>
        </p:nvSpPr>
        <p:spPr>
          <a:xfrm>
            <a:off x="1508760" y="5225796"/>
            <a:ext cx="9921240" cy="1037844"/>
          </a:xfrm>
          <a:prstGeom prst="rect">
            <a:avLst/>
          </a:prstGeom>
          <a:noFill/>
          <a:ln/>
        </p:spPr>
        <p:txBody>
          <a:bodyPr wrap="square" lIns="0" tIns="0" rIns="0" bIns="0" rtlCol="0" anchor="ctr"/>
          <a:lstStyle/>
          <a:p>
            <a:pPr indent="0" marL="0">
              <a:buNone/>
            </a:pPr>
            <a:r>
              <a:rPr lang="tr-TR" sz="1600" dirty="0">
                <a:solidFill>
                  <a:srgbClr val="3A464C"/>
                </a:solidFill>
                <a:latin typeface="Calibri" pitchFamily="34" charset="0"/>
                <a:ea typeface="Calibri" pitchFamily="34" charset="-122"/>
                <a:cs typeface="Calibri" pitchFamily="34" charset="-120"/>
              </a:rPr>
              <a:t>Bir bağlam değişimi 10 µs, zaman dilimi 1 ms sürüyor. İşlemci zamanının yüzde kaçı ek yüktür?</a:t>
            </a:r>
            <a:endParaRPr lang="tr-TR"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12121"/>
        </a:solidFill>
      </p:bgPr>
    </p:bg>
    <p:spTree>
      <p:nvGrpSpPr>
        <p:cNvPr id="1" name=""/>
        <p:cNvGrpSpPr/>
        <p:nvPr/>
      </p:nvGrpSpPr>
      <p:grpSpPr>
        <a:xfrm>
          <a:off x="0" y="0"/>
          <a:ext cx="0" cy="0"/>
          <a:chOff x="0" y="0"/>
          <a:chExt cx="0" cy="0"/>
        </a:xfrm>
      </p:grpSpPr>
      <p:sp>
        <p:nvSpPr>
          <p:cNvPr id="2" name="Text 0"/>
          <p:cNvSpPr txBox="1"/>
          <p:nvPr/>
        </p:nvSpPr>
        <p:spPr>
          <a:xfrm>
            <a:off x="548640" y="1417320"/>
            <a:ext cx="9144000" cy="320040"/>
          </a:xfrm>
          <a:prstGeom prst="rect">
            <a:avLst/>
          </a:prstGeom>
          <a:noFill/>
          <a:ln/>
        </p:spPr>
        <p:txBody>
          <a:bodyPr wrap="square" lIns="0" tIns="0" rIns="0" bIns="0" rtlCol="0" anchor="ctr"/>
          <a:lstStyle/>
          <a:p>
            <a:pPr indent="0" marL="0">
              <a:buNone/>
            </a:pPr>
            <a:r>
              <a:rPr lang="tr-TR" sz="1300" b="1" spc="300" kern="0" dirty="0">
                <a:solidFill>
                  <a:srgbClr val="02C39A"/>
                </a:solidFill>
                <a:latin typeface="Calibri" pitchFamily="34" charset="0"/>
                <a:ea typeface="Calibri" pitchFamily="34" charset="-122"/>
                <a:cs typeface="Calibri" pitchFamily="34" charset="-120"/>
              </a:rPr>
              <a:t>GELECEK HAFTA</a:t>
            </a:r>
            <a:endParaRPr lang="tr-TR" sz="1300" dirty="0"/>
          </a:p>
        </p:txBody>
      </p:sp>
      <p:sp>
        <p:nvSpPr>
          <p:cNvPr id="3" name="Text 1"/>
          <p:cNvSpPr txBox="1"/>
          <p:nvPr/>
        </p:nvSpPr>
        <p:spPr>
          <a:xfrm>
            <a:off x="548640" y="1783080"/>
            <a:ext cx="10972800" cy="777240"/>
          </a:xfrm>
          <a:prstGeom prst="rect">
            <a:avLst/>
          </a:prstGeom>
          <a:noFill/>
          <a:ln/>
        </p:spPr>
        <p:txBody>
          <a:bodyPr wrap="square" lIns="0" tIns="0" rIns="0" bIns="0" rtlCol="0" anchor="ctr"/>
          <a:lstStyle/>
          <a:p>
            <a:pPr indent="0" marL="0">
              <a:buNone/>
            </a:pPr>
            <a:r>
              <a:rPr lang="tr-TR" sz="3400" b="1" dirty="0">
                <a:solidFill>
                  <a:srgbClr val="FFFFFF"/>
                </a:solidFill>
                <a:latin typeface="Cambria" pitchFamily="34" charset="0"/>
                <a:ea typeface="Cambria" pitchFamily="34" charset="-122"/>
                <a:cs typeface="Cambria" pitchFamily="34" charset="-120"/>
              </a:rPr>
              <a:t>İş Parçacıkları ve İşlemci Zamanlamasının Temelleri</a:t>
            </a:r>
            <a:endParaRPr lang="tr-TR" sz="3400" dirty="0"/>
          </a:p>
        </p:txBody>
      </p:sp>
      <p:sp>
        <p:nvSpPr>
          <p:cNvPr id="4" name="Shape 2"/>
          <p:cNvSpPr/>
          <p:nvPr/>
        </p:nvSpPr>
        <p:spPr>
          <a:xfrm>
            <a:off x="548640" y="2834640"/>
            <a:ext cx="7680960" cy="2926080"/>
          </a:xfrm>
          <a:prstGeom prst="roundRect">
            <a:avLst>
              <a:gd name="adj" fmla="val 1875"/>
            </a:avLst>
          </a:prstGeom>
          <a:solidFill>
            <a:srgbClr val="36454F"/>
          </a:solidFill>
          <a:ln/>
        </p:spPr>
      </p:sp>
      <p:sp>
        <p:nvSpPr>
          <p:cNvPr id="5" name="Text 3"/>
          <p:cNvSpPr txBox="1"/>
          <p:nvPr/>
        </p:nvSpPr>
        <p:spPr>
          <a:xfrm>
            <a:off x="868680" y="3017520"/>
            <a:ext cx="7132320" cy="365760"/>
          </a:xfrm>
          <a:prstGeom prst="rect">
            <a:avLst/>
          </a:prstGeom>
          <a:noFill/>
          <a:ln/>
        </p:spPr>
        <p:txBody>
          <a:bodyPr wrap="square" lIns="0" tIns="0" rIns="0" bIns="0" rtlCol="0" anchor="ctr"/>
          <a:lstStyle/>
          <a:p>
            <a:pPr indent="0" marL="0">
              <a:buNone/>
            </a:pPr>
            <a:r>
              <a:rPr lang="tr-TR" sz="1400" b="1" dirty="0">
                <a:solidFill>
                  <a:srgbClr val="02C39A"/>
                </a:solidFill>
                <a:latin typeface="Calibri" pitchFamily="34" charset="0"/>
                <a:ea typeface="Calibri" pitchFamily="34" charset="-122"/>
                <a:cs typeface="Calibri" pitchFamily="34" charset="-120"/>
              </a:rPr>
              <a:t>4. haftanın konuları:</a:t>
            </a:r>
            <a:endParaRPr lang="tr-TR" sz="1400" dirty="0"/>
          </a:p>
        </p:txBody>
      </p:sp>
      <p:sp>
        <p:nvSpPr>
          <p:cNvPr id="6" name="Text 4"/>
          <p:cNvSpPr txBox="1"/>
          <p:nvPr/>
        </p:nvSpPr>
        <p:spPr>
          <a:xfrm>
            <a:off x="868680" y="3474720"/>
            <a:ext cx="7132320" cy="2148840"/>
          </a:xfrm>
          <a:prstGeom prst="rect">
            <a:avLst/>
          </a:prstGeom>
          <a:noFill/>
          <a:ln/>
        </p:spPr>
        <p:txBody>
          <a:bodyPr wrap="square" lIns="0" tIns="0" rIns="0" bIns="0" rtlCol="0" anchor="t"/>
          <a:lstStyle/>
          <a:p>
            <a:pPr marL="228600" indent="-228600">
              <a:spcAft>
                <a:spcPts val="600"/>
              </a:spcAft>
              <a:buSzPct val="100000"/>
              <a:buChar char="•"/>
            </a:pPr>
            <a:r>
              <a:rPr lang="tr-TR" sz="1500" dirty="0">
                <a:solidFill>
                  <a:srgbClr val="F2F2F2"/>
                </a:solidFill>
                <a:latin typeface="Calibri" pitchFamily="34" charset="0"/>
                <a:ea typeface="Calibri" pitchFamily="34" charset="-122"/>
                <a:cs typeface="Calibri" pitchFamily="34" charset="-120"/>
              </a:rPr>
              <a:t>İş parçacıkları (threads): tek süreç, birden çok yürütme akışı</a:t>
            </a:r>
            <a:endParaRPr lang="tr-TR" sz="1500" dirty="0"/>
          </a:p>
          <a:p>
            <a:pPr marL="228600" indent="-228600">
              <a:spcAft>
                <a:spcPts val="600"/>
              </a:spcAft>
              <a:buSzPct val="100000"/>
              <a:buChar char="•"/>
            </a:pPr>
            <a:r>
              <a:rPr lang="tr-TR" sz="1500" dirty="0">
                <a:solidFill>
                  <a:srgbClr val="F2F2F2"/>
                </a:solidFill>
                <a:latin typeface="Calibri" pitchFamily="34" charset="0"/>
                <a:ea typeface="Calibri" pitchFamily="34" charset="-122"/>
                <a:cs typeface="Calibri" pitchFamily="34" charset="-120"/>
              </a:rPr>
              <a:t>Kullanıcı iş parçacıkları, çekirdek iş parçacıkları ve çoklu iş parçacığı modelleri</a:t>
            </a:r>
            <a:endParaRPr lang="tr-TR" sz="1500" dirty="0"/>
          </a:p>
          <a:p>
            <a:pPr marL="228600" indent="-228600">
              <a:spcAft>
                <a:spcPts val="600"/>
              </a:spcAft>
              <a:buSzPct val="100000"/>
              <a:buChar char="•"/>
            </a:pPr>
            <a:r>
              <a:rPr lang="tr-TR" sz="1500" dirty="0">
                <a:solidFill>
                  <a:srgbClr val="F2F2F2"/>
                </a:solidFill>
                <a:latin typeface="Calibri" pitchFamily="34" charset="0"/>
                <a:ea typeface="Calibri" pitchFamily="34" charset="-122"/>
                <a:cs typeface="Calibri" pitchFamily="34" charset="-120"/>
              </a:rPr>
              <a:t>İşlemci zamanlaması: işlemci–G/Ç patlama döngüsü ve dağıtıcı (dispatcher)</a:t>
            </a:r>
            <a:endParaRPr lang="tr-TR" sz="1500" dirty="0"/>
          </a:p>
          <a:p>
            <a:pPr marL="228600" indent="-228600">
              <a:spcAft>
                <a:spcPts val="600"/>
              </a:spcAft>
              <a:buSzPct val="100000"/>
              <a:buChar char="•"/>
            </a:pPr>
            <a:r>
              <a:rPr lang="tr-TR" sz="1500" dirty="0">
                <a:solidFill>
                  <a:srgbClr val="F2F2F2"/>
                </a:solidFill>
                <a:latin typeface="Calibri" pitchFamily="34" charset="0"/>
                <a:ea typeface="Calibri" pitchFamily="34" charset="-122"/>
                <a:cs typeface="Calibri" pitchFamily="34" charset="-120"/>
              </a:rPr>
              <a:t>Zamanlama ölçütleri: işlemci kullanımı, iş hacmi, tamamlanma, bekleme ve yanıt süresi</a:t>
            </a:r>
            <a:endParaRPr lang="tr-TR" sz="1500" dirty="0"/>
          </a:p>
        </p:txBody>
      </p:sp>
      <p:sp>
        <p:nvSpPr>
          <p:cNvPr id="7" name="Text 5"/>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8A9AA0"/>
                </a:solidFill>
                <a:latin typeface="Calibri" pitchFamily="34" charset="0"/>
                <a:ea typeface="Calibri" pitchFamily="34" charset="-122"/>
                <a:cs typeface="Calibri" pitchFamily="34" charset="-120"/>
              </a:rPr>
              <a:t>MBLP131 — İşletim Sistemleri Temelleri</a:t>
            </a:r>
            <a:endParaRPr lang="tr-TR" sz="900" dirty="0"/>
          </a:p>
        </p:txBody>
      </p:sp>
      <p:sp>
        <p:nvSpPr>
          <p:cNvPr id="8" name="Text 6"/>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8A9AA0"/>
                </a:solidFill>
                <a:latin typeface="Calibri" pitchFamily="34" charset="0"/>
                <a:ea typeface="Calibri" pitchFamily="34" charset="-122"/>
                <a:cs typeface="Calibri" pitchFamily="34" charset="-120"/>
              </a:rPr>
              <a:t>Hafta 3  ·  40</a:t>
            </a:r>
            <a:endParaRPr lang="tr-TR"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12121"/>
        </a:solidFill>
      </p:bgPr>
    </p:bg>
    <p:spTree>
      <p:nvGrpSpPr>
        <p:cNvPr id="1" name=""/>
        <p:cNvGrpSpPr/>
        <p:nvPr/>
      </p:nvGrpSpPr>
      <p:grpSpPr>
        <a:xfrm>
          <a:off x="0" y="0"/>
          <a:ext cx="0" cy="0"/>
          <a:chOff x="0" y="0"/>
          <a:chExt cx="0" cy="0"/>
        </a:xfrm>
      </p:grpSpPr>
      <p:sp>
        <p:nvSpPr>
          <p:cNvPr id="2" name="Text 0"/>
          <p:cNvSpPr txBox="1"/>
          <p:nvPr/>
        </p:nvSpPr>
        <p:spPr>
          <a:xfrm>
            <a:off x="548640" y="1417320"/>
            <a:ext cx="9144000" cy="320040"/>
          </a:xfrm>
          <a:prstGeom prst="rect">
            <a:avLst/>
          </a:prstGeom>
          <a:noFill/>
          <a:ln/>
        </p:spPr>
        <p:txBody>
          <a:bodyPr wrap="square" lIns="0" tIns="0" rIns="0" bIns="0" rtlCol="0" anchor="ctr"/>
          <a:lstStyle/>
          <a:p>
            <a:pPr indent="0" marL="0">
              <a:buNone/>
            </a:pPr>
            <a:r>
              <a:rPr lang="tr-TR" sz="1300" b="1" spc="300" kern="0" dirty="0">
                <a:solidFill>
                  <a:srgbClr val="02C39A"/>
                </a:solidFill>
                <a:latin typeface="Calibri" pitchFamily="34" charset="0"/>
                <a:ea typeface="Calibri" pitchFamily="34" charset="-122"/>
                <a:cs typeface="Calibri" pitchFamily="34" charset="-120"/>
              </a:rPr>
              <a:t>SORULAR?</a:t>
            </a:r>
            <a:endParaRPr lang="tr-TR" sz="1300" dirty="0"/>
          </a:p>
        </p:txBody>
      </p:sp>
      <p:sp>
        <p:nvSpPr>
          <p:cNvPr id="3" name="Text 1"/>
          <p:cNvSpPr txBox="1"/>
          <p:nvPr/>
        </p:nvSpPr>
        <p:spPr>
          <a:xfrm>
            <a:off x="548640" y="1783080"/>
            <a:ext cx="9144000" cy="777240"/>
          </a:xfrm>
          <a:prstGeom prst="rect">
            <a:avLst/>
          </a:prstGeom>
          <a:noFill/>
          <a:ln/>
        </p:spPr>
        <p:txBody>
          <a:bodyPr wrap="square" lIns="0" tIns="0" rIns="0" bIns="0" rtlCol="0" anchor="ctr"/>
          <a:lstStyle/>
          <a:p>
            <a:pPr indent="0" marL="0">
              <a:buNone/>
            </a:pPr>
            <a:r>
              <a:rPr lang="tr-TR" sz="3800" b="1" dirty="0">
                <a:solidFill>
                  <a:srgbClr val="FFFFFF"/>
                </a:solidFill>
                <a:latin typeface="Cambria" pitchFamily="34" charset="0"/>
                <a:ea typeface="Cambria" pitchFamily="34" charset="-122"/>
                <a:cs typeface="Cambria" pitchFamily="34" charset="-120"/>
              </a:rPr>
              <a:t>Tartışma</a:t>
            </a:r>
            <a:endParaRPr lang="tr-TR" sz="3800" dirty="0"/>
          </a:p>
        </p:txBody>
      </p:sp>
      <p:sp>
        <p:nvSpPr>
          <p:cNvPr id="4" name="Text 2"/>
          <p:cNvSpPr txBox="1"/>
          <p:nvPr/>
        </p:nvSpPr>
        <p:spPr>
          <a:xfrm>
            <a:off x="548640" y="2697480"/>
            <a:ext cx="6858000" cy="640080"/>
          </a:xfrm>
          <a:prstGeom prst="rect">
            <a:avLst/>
          </a:prstGeom>
          <a:noFill/>
          <a:ln/>
        </p:spPr>
        <p:txBody>
          <a:bodyPr wrap="square" lIns="0" tIns="0" rIns="0" bIns="0" rtlCol="0" anchor="ctr"/>
          <a:lstStyle/>
          <a:p>
            <a:pPr indent="0" marL="0">
              <a:buNone/>
            </a:pPr>
            <a:r>
              <a:rPr lang="tr-TR" sz="1400" i="1" dirty="0">
                <a:solidFill>
                  <a:srgbClr val="F2F2F2"/>
                </a:solidFill>
                <a:latin typeface="Calibri" pitchFamily="34" charset="0"/>
                <a:ea typeface="Calibri" pitchFamily="34" charset="-122"/>
                <a:cs typeface="Calibri" pitchFamily="34" charset="-120"/>
              </a:rPr>
              <a:t>Dersten sonra sorularınız olursa dersin Telegram kanalında sorun — yanıttan herkes yararlanır.</a:t>
            </a:r>
            <a:endParaRPr lang="tr-TR" sz="1400" dirty="0"/>
          </a:p>
        </p:txBody>
      </p:sp>
      <p:sp>
        <p:nvSpPr>
          <p:cNvPr id="7" name="Text 4"/>
          <p:cNvSpPr txBox="1"/>
          <p:nvPr/>
        </p:nvSpPr>
        <p:spPr>
          <a:xfrm>
            <a:off x="3108960" y="3703320"/>
            <a:ext cx="5486400" cy="1463040"/>
          </a:xfrm>
          <a:prstGeom prst="rect">
            <a:avLst/>
          </a:prstGeom>
          <a:noFill/>
          <a:ln/>
        </p:spPr>
        <p:txBody>
          <a:bodyPr wrap="square" lIns="0" tIns="0" rIns="0" bIns="0" rtlCol="0" anchor="t"/>
          <a:lstStyle/>
          <a:p>
            <a:pPr indent="0" marL="0">
              <a:spcAft>
                <a:spcPts val="400"/>
              </a:spcAft>
              <a:buNone/>
            </a:pPr>
            <a:r>
              <a:rPr lang="tr-TR" sz="1400" b="1" dirty="0">
                <a:solidFill>
                  <a:srgbClr val="F2F2F2"/>
                </a:solidFill>
                <a:latin typeface="Calibri" pitchFamily="34" charset="0"/>
                <a:ea typeface="Calibri" pitchFamily="34" charset="-122"/>
                <a:cs typeface="Calibri" pitchFamily="34" charset="-120"/>
              </a:rPr>
              <a:t>Dr. Öğr. Üyesi Hasan Oğuz</a:t>
            </a:r>
            <a:endParaRPr lang="tr-TR" sz="1400" dirty="0"/>
          </a:p>
        </p:txBody>
      </p:sp>
      <p:sp>
        <p:nvSpPr>
          <p:cNvPr id="8" name="Text 5"/>
          <p:cNvSpPr txBox="1"/>
          <p:nvPr/>
        </p:nvSpPr>
        <p:spPr>
          <a:xfrm>
            <a:off x="548640" y="6528816"/>
            <a:ext cx="6400800" cy="274320"/>
          </a:xfrm>
          <a:prstGeom prst="rect">
            <a:avLst/>
          </a:prstGeom>
          <a:noFill/>
          <a:ln/>
        </p:spPr>
        <p:txBody>
          <a:bodyPr wrap="square" lIns="0" tIns="0" rIns="0" bIns="0" rtlCol="0" anchor="ctr"/>
          <a:lstStyle/>
          <a:p>
            <a:pPr indent="0" marL="0">
              <a:buNone/>
            </a:pPr>
            <a:r>
              <a:rPr lang="tr-TR" sz="900" dirty="0">
                <a:solidFill>
                  <a:srgbClr val="8A9AA0"/>
                </a:solidFill>
                <a:latin typeface="Calibri" pitchFamily="34" charset="0"/>
                <a:ea typeface="Calibri" pitchFamily="34" charset="-122"/>
                <a:cs typeface="Calibri" pitchFamily="34" charset="-120"/>
              </a:rPr>
              <a:t>MBLP131 — İşletim Sistemleri Temelleri</a:t>
            </a:r>
            <a:endParaRPr lang="tr-TR" sz="900" dirty="0"/>
          </a:p>
        </p:txBody>
      </p:sp>
      <p:sp>
        <p:nvSpPr>
          <p:cNvPr id="9" name="Text 6"/>
          <p:cNvSpPr txBox="1"/>
          <p:nvPr/>
        </p:nvSpPr>
        <p:spPr>
          <a:xfrm>
            <a:off x="10271455" y="6528816"/>
            <a:ext cx="1371600" cy="274320"/>
          </a:xfrm>
          <a:prstGeom prst="rect">
            <a:avLst/>
          </a:prstGeom>
          <a:noFill/>
          <a:ln/>
        </p:spPr>
        <p:txBody>
          <a:bodyPr wrap="square" lIns="0" tIns="0" rIns="0" bIns="0" rtlCol="0" anchor="ctr"/>
          <a:lstStyle/>
          <a:p>
            <a:pPr algn="r" indent="0" marL="0">
              <a:buNone/>
            </a:pPr>
            <a:r>
              <a:rPr lang="tr-TR" sz="900" dirty="0">
                <a:solidFill>
                  <a:srgbClr val="8A9AA0"/>
                </a:solidFill>
                <a:latin typeface="Calibri" pitchFamily="34" charset="0"/>
                <a:ea typeface="Calibri" pitchFamily="34" charset="-122"/>
                <a:cs typeface="Calibri" pitchFamily="34" charset="-120"/>
              </a:rPr>
              <a:t>Hafta 3  ·  41</a:t>
            </a:r>
            <a:endParaRPr lang="tr-T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MBLP131 Hafta 3</dc:title>
  <dc:subject>PptxGenJS Presentation</dc:subject>
  <dc:creator>PptxGenJS</dc:creator>
  <cp:lastModifiedBy>PptxGenJS</cp:lastModifiedBy>
  <cp:revision>1</cp:revision>
  <dcterms:created xsi:type="dcterms:W3CDTF">2026-10-08T13:04:35Z</dcterms:created>
  <dcterms:modified xsi:type="dcterms:W3CDTF">2026-10-08T13:04:35Z</dcterms:modified>
</cp:coreProperties>
</file>