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haftaya hoş geldiniz; bu, ikinci uygulamalı Linux haftamız. Geçen hafta dosya sisteminde dolaşmayı öğrendik; bugün onu değiştiriyoruz: dosya oluşturacak, kopyalayacak, taşıyacak, yeniden adlandıracak, silecek, görüntüleyecek ve bağlayacağız. Her öğrencinin önünde açık bir terminal olmalı (laboratuvar bilgisayarı, WSL ya da sanal makine); kurulum betiğini şimdi çalıştırsınlar: bash ~/mcmp117_lab_setup.sh, ardından cd ~/lab. Slaytlardaki her çıktı, tam olarak bu klasörde student kullanıcısıyla yakalanmış gerçek çıktıdır.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Sorularla iki dakikalık tekrar. Sorun: /home/student/lab/docs ile docs arasındaki fark nedir? (mutlak ve göreli yol.) .. ne demektir? Yapılandırma dosyaları nerede durur? (/etc.) Tab ne yapar? Hatırlatın: bugün Tab tamamlama, özellikle adında boşluk bulunan dosyalarda, yazım hatalarının çoğundan sizi kurtaracak.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moladan önce; joker karakterler, tırnaklama, görüntüleme ve bağlantılar moladan sonra; ardından yaklaşık 35 dakika boyunca laboratuvar föyü (ders notlarında). Öğrenciler her gösterimde komutları birlikte yazar.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Komut yazmaya başlamadan önce beş dakikalık kuram; böylece bugünkü her komut anlam kazanır.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tek slayt bütün haftayı açıklıyor. 7. haftadan hatırlayın: dizin, (ad, düğüm numarası) çiftlerinden oluşan bir tablodur; düğüm (inode) adı dışındaki her şeyi tutar (tür, boyut, sahip, izinler, zamanlar, bağlantı sayısı, blok işaretçileri). Tabloyu adım adım anlatın: cp ikinci, bağımsız bir dosya oluşturur; mv yalnızca dizin girdilerini düzenler, bu yüzden 4 GB'lık bir filmi aynı disk içinde taşımak anında biter; ln aynı düğüme ikinci bir ad ekler; rm bir adı siler ve bloklar ancak bağlantı sayısı 0'a indiğinde (ve dosyayı açık tutan bir program yoksa) serbest bırakılır. Düğüm numaraları gerçektir: moladan sonraki bağlantı gösteriminde tam olarak bu durumu oluşturacağız. Veri kutularındaki 'Week 1 …' dosyanın gerçek içeriğidir (lab dosyaları İngilizcedir).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strace (2. hafta) bir programın yaptığı sistem çağrılarını gösterir; -e trace=... listeyi ilginç olanlarla sınırlar. Çıktı student kullanıcısıyla alınmış gerçek çıktıdır. Gösterin: mv hiçbir şey kopyalamadı, tek bir renameat2() çağrısı yaptı (RENAME_NOREPLACE: coreutils önce sessizce üzerine yazmamayı dener). Üç adlı rm, üç unlinkat() çağrısıdır. 'at' sürümleri bir dizin dosya tanımlayıcısı alır; AT_FDCWD 'geçerli dizine göre' demektir (9. hafta). Her komut, kabuğun fork() ve exec() ile başlattığı (3. hafta) /usr/bin içindeki küçük bir programdır.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 bash ~/mcmp117_lab_setup.sh ve cd ~/lab. Her gösterimi birlikte yazın.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Yazın: mkdir test, ardından ls -ld test (-d olmadan ls boş içeriği listeler ve hiçbir şey yazmaz). Hatayı görmek için mkdir test komutunu yeniden çalıştırın. mkdir trip/day1 başarısız olur, çünkü trip yoktur; mkdir -p bütün yolu oluşturur. mkdir iletilerindeki ‘ ’ tırnakları cp ve rm'dekilerden farklı bir tırnak biçimidir, o kadar. tree yapıyı yazdırır; başlangıç dizinlerini de sayar (work, 2026, october, trip, day1 = 5). Sık hata: öğrenciler mkdir -p ile yolun içine boşluk koyar ve iki ayrı dizin elde eder. Türkçe yerel ayarlı (tr_TR.UTF-8) bir sistemde hata iletileri Türkçe çıkabilir; ders çıktıları LC_ALL=C.UTF-8 ile alınmıştır.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 aslında bir dosyanın değişiklik zamanını güncellemek için icat edildi (örneğin 'make' bir şeyi yeniden derlesin diye), ama çoğunlukla boş dosya oluşturmak için kullanılır. touch -d'den sonra Access ve Modify 15 Ocak olur, Change (ctime) ise şimdidir: zamanları değiştirmek de düğümde bir değişikliktir. Birth oluşturulma zamanıdır; her dosya sistemi bunu kaydetmez. Test makinemizde zamanlar UTC (+0000) olarak görünür; Türkiye'deki bir bilgisayarda +0300 göreceksiniz. touch todo.txt komutunu bir kez daha çalıştırmak zamanları yeniden şimdiye ayarlar (betikteki son komut).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makinemizde (ext4, relatime ile bağlanmış) her işlemden sonra stat ile doğrulandı. Okuma: güncel Linux 'relatime' kullanır; atime yalnızca mtime'dan eskiyse ya da 24 saatten eskiyse güncellenir, böylece her okuma bir disk yazmasına yol açmaz. Her veri yazması mtime ve ctime'ı değiştirir. Yeniden adlandırma, bağlantı ve chmod yalnızca düğümü değiştirir, dolayısıyla yalnızca ctime değişir. Sınav tipi soru: bir dosyanın içeriğinin en son ne zaman değiştiğini hangi zaman söyler? (mtime.) Yedekleme programları neyi kopyalayacaklarına mtime'a bakarak karar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syllabus.txt'yi backup/ içine iki kez kopyalayın (bir kez adını koruyarak, bir kez yeni adla). Sonra iki kaynakla -v. cp -i için n yanıtını verdik; betikte yanıtı echo n yazar, derste n yazıp Enter'a basmanız yeterli. Son hata günün en sık hatasıdır: 'cp: -r not specified; omitting directory' (-r belirtilmedi; dizin atlanıyor). Öğrencilere sorun: ilk komutta backup/ var olmasaydı ne olurdu? (cp, backup adında bir DOSYA oluştururdu.)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kopyalanan alpha projesini backup içinde gösterir. Ardından ls -i: iki farklı düğüm numarası, yani iki bağımsız dosya — bunu daha sonra AYNI düğüm numarasına sahip sabit bağlantıyla karşılaştırın. Özyinelemeli şu demektir: dizini kopyala, sonra aynı işlemi içindeki her girdiye uygula, ve böyle devam et. cp -a (arşiv) = -r artı zamanları, izinleri ve bağlantıları korumak; yedekleme için istediğiniz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bir dosya için ayrı bir yeniden adlandırma komutu yoktur: mv ikisini de yapar. backup/syllabus.txt'nin düğüm numarası yeniden adlandırmadan önce 804330 idi (önceki slayt) ve sonra da aynıdır. Bu yüzden aynı dosya sistemi içinde mv, dosya boyutu ne olursa olsun anında biter. İki dosya sistemi arasında (örneğin bir USB belleğe) mv önce veriyi kopyalamak, sonra özgün dosyayı silmek zorundadır. Not: ls 'final report.txt' adını tırnak içinde gösterir, çünkü adda boşluk vardır — 3. bölüm.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junk1-3'ü touch ile oluşturduk (betikte). rm junk1.txt: sessiz. rm -i 'remove regular empty file?' diye sorar; y yanıtını veriyoruz. ls junk* başarısız olur, çünkü artık hiçbir şey eşleşmez — kalıp olduğu gibi kalır (3. bölüm). rmdir projects/beta reddeder: dizin boş değil. -r olmadan rm dizinleri reddeder. Bir kopya üzerinde rm -rv sırayı gösterir: rm her dizini silebilmek için önce onu boşaltmak zorundadır, çünkü çekirdeğin rmdir() çağrısı yalnızca boş dizinlerde çalışır. Yalnızca bir kopyayı sildik: rm -r alıştırmasını asla özgün dosyalar üzerinde yapmayın.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 -r için gereken somut uyarı. Bir öykü anlatın: bir öğrenci rm -r ~/lab/old yazmak istedi ama rm -r ~/lab /old yazdı. İlk argüman bütün lab klasörüdür. Öğrenciler için: lab klasörünü silerseniz kurulum betiğini yeniden çalıştırmanız yeter — betiğin var olma nedeni budur. Gerçek bir sunucuda böyle bir betik yoktur. -f ayrıca hata iletilerini ve soruları bastırır; -r ve sudo ile birleşince bir Linux sistemindeki en tehlikeli komut olur. sudo'yu 11. haftada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bu slaytın fotoğrafını çekebilir; aynı tablo ders notlarında da var (Komut başvuru tablosu). Sorun: boş olmayan bir dizini hangi komut silebilir? (rm -r.) Hangisi yalnızca adı değiştirir? (mv.)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Geride kalan öğrenciler: kurulum betiğini yeniden çalıştırıp cp ve mv gösterimlerini yetiştirin.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~/lab/photos. photos klasöründe bu alıştırma için hazırlanmış 15 boş dosya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bölümün en önemli fikri budur. *.jpg kalıbı ls'ye hiç ulaşmaz; bash dizini okur (opendir/readdir), eşleşen adları sıralar ve onları ayrı argümanlar olarak geçirir. Kanıt: echo *.png, img013.png yazdırır — echo dosyalar hakkında hiçbir şey bilmez. Hiçbir şey eşleşmezse bash kalıbı değiştirmeden geçirir ve ls, adı tam olarak 'junk*' olan bir dosyadan yakınır. Joker karakter (wildcard) eşleştirmenin resmî adı 'globbing'dir (glob adlı eski bir UNIX programından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satırların sonuçları demo_wildcards.sh'den (sonraki slayt). [!...] satırı: img0[!0]* şu demektir: 'img0', ardından 0 dışında herhangi bir karakter, ardından herhangi bir şey; yani img010'dan img013'e kadar — dördüncü karakteri 1 olan dört ad. (Bazı kabuklar [^...] biçimini de kabul eder.) Göstermeden önce öğrencilerden tahmin isteyin: img0?? kaç adla eşleşir? (Hiçbiriyle; ?? tam olarak iki karakterdir, adlar ise daha uzundur.)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~/lab/photos içinde birlikte yazın. Sıralama yerel ayara (locale) bağlıdır: Türkçe ya da İngilizce yerel ayarda ls, IMG_014.JPG'yi i'lerin arasına yerleştirebilir; herkes slaytlardakiyle aynı çıktıyı alsın diye C.UTF-8 kullandık. Sorun: yalnızca PNG dosyalarını hangi kalıp listeler? (*.png.) Yalnızca 004-006 resimlerini? (img00[4-6].jpg.)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Süslü parantez genişletmesini (brace expansion) de bash yapar, hem de glob genişletmeden önce. Joker karakterlerden farklı olarak diske hiç bakmaz: metin üretir; bu yüzden yeni adlar oluşturmak (mkdir, touch) için idealdir. Sayıyı öğrencilerle denetleyin: 1 (trip) + 3 (günler) + 3 × 2 (her günde photos ve notes) = 10 dizin; tree'nin bildirdiği tam olarak budur. Sık hata: virgülden sonra boşluk, {a, b}, genişletmeyi bozar.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Farkı birer cümleyle özetleyin: joker karakterler adları BULUR, süslü parantezler adları ÜRETİR. Sınav tipi soru: mkdir -p site/{css,js,img}/{v1,v2} kaç dizin oluşturur? (1 + 3 + 3 × 2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kullanıcılarının boşluklu pek çok dosya adı vardır. Kabuk, cat başlamadan önce komut satırını boşluklardan böler; böylece cat, docs/final ve report.txt adlarını alır. Üç çözüm: çift tırnak, tek tırnak (farkı 14. haftada önemli olacak: değişkenler yalnızca çift tırnak içinde genişletilir) ya da ters eğik çizgi. ls bu tür adları tırnak içinde yazar ('final report.txt'), böylece onları kopyalayıp bir komuta geri yapıştırabilirsiniz; son listede 'my'nin önündeki boşluk yalnızca hizalama içindir. Öğrenciler için temizlik: rmdir my 'my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~/lab'a dönün. Bu komutlar yalnızca okur: denemek güvenlidir.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concatenate (art arda eklemek) sözcüğünden gelir: cat a b önce a'yı, sonra b'yi yazar; -n ile numaralama dosyalar boyunca sürer. Bir CSV'nin sütun adlarını görmenin en hızlı yolu head -n 3'tür. tail, en yeni satırları sonda olan günlük (log) dosyaları için doğal araçtır. Sorun: syllabus dosyasının 1-5. satırlarını nasıl görürsünüz? (head -n 5 docs/syllabus.txt.)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terminal penceresiyle gösterin: birincide tail -n 2 -f logs/system.log, ikincide echo ... &gt;&gt; komutunu çalıştırın; yeni WARN satırı hemen birinci pencerede belirir. Durdurmak için Ctrl+C'ye basın (^C). Yakalanan çıktı demo_view.sh'den gelir; orada ikinci terminalin rolünü bir arka plan işi oynar. Sonra less logs/access.log'u canlı gösterin: boşluk, /404, n, q. less bir seferde yalnızca bir ekran okur, bu yüzden çok büyük dosyaları bile anında açar. 9. haftadaki man sayfaları da less ile görüntülenir.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 = word count (sözcük sayımı). Birden çok dosyada bir toplam satırı ekler. file adı yok sayar: laboratuvarımızdaki fotoğraflar .jpg adlı boş dosyalardır ve file 'empty' (boş) bildirir; gerçek bir JPEG FF D8 FF baytlarıyla başlar. /usr/bin/ls bir ELF yürütülebilir dosyasıdır (uzun satır … ile kesildi). Sorun: syllabus kaç satırdır? (wc -l docs/syllabus.txt →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7. haftadaki düğümün alan alan yazdırılmış hâlidir. 578 baytlık bir dosya bile bütün bir 4096 baytlık bloğu kaplar: Blocks 512 baytlık birimleri sayar, yani 8 x 512 = 4096. -rw-rw-r-- izin dizgisi ve onun sekizli (octal) biçimi 0664 gelecek haftanın konusudur. Biçim dizgili stat -c betiklerde kullanışlıdır (14. hafta): %n ad, %s boyut, %i düğüm, %h sabit bağlantı sayısı. Altı dosyanın tam çıktısı code/out_stat_du_df.txt içindedir.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ayrılmış blokları sayar, bu yüzden küçük dosyalar 4 KiB'a yuvarlanır: access.log 23.604 bayttır ve ceil(23604/4096) = 6 blok = 24 KiB gerektirir; system.log 5.207 bayttır, 2 blok = 8 KiB; artı dizin için 4 KiB = 36K. df dosya sistemi başına (bağlanmış her disk için) bildirir. Size, Used + Avail'e eşit değildir: alanın bir kısmı ayrılmıştır ve sıradan kullanıcılara açık değildir (sanal test makinemizde epey fazla; normal bir ext4 diskte root için %5). Sizin makinenizdeki sayılar farklı olacaktır.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~/lab/docs içinde çalıştırın (önce cd docs). Bu, 5. slayttaki durumdur. plan.txt üzerinden bir satır ekledikten sonra tail onu syllabus.txt'nin sonunda gösterir — ikisi tek bir dosyadır. Kopya hâlâ 'Week 15 Final exam' ile biter. Boyut 593 = 578 + 15 bayt ('Week 16  Party' ve satır sonu). rm syllabus.txt'den sonra veriye plan.txt adıyla hâlâ ulaşılabilir; sembolik bağlantı yalnızca artık var olmayan 'syllabus.txt' yolunu saklar, bu yüzden cat başarısız olur (askıda kalan bağlantı, dangling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Sembolik bağlantılar gündelik 'kısayol'dur: alpha_docs ağacın derinlerindeki bir dizini gösterir (ls -l'de baştaki l ve ok). Dizinlere sabit bağlantı yasaktır, çünkü döngüler oluşturabilirler (7. hafta, genel çizge dizinleri). Bir dizinin bağlantı sayısı '.' ve '..' girdilerini açıklar: projects'in ~/lab içinde 'projects' adı, kendi içinde '.' girdisi ve alpha ile beta'nın '..' girdileri vardır: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fileops.c (code klasöründe, gcc -Wall -O2 ile derlenir) sistem çağrılarını doğrudan yapar; bugünkü her kabuk komutu için bir çağrı. Bir çağrı başarısız olursa CHECK, nedenini perror() ile yazar; tıpkı komutların hata iletileri gibi. Gerçek çıktı: link()'ten sonra iki ad da 2 bağlantılı aynı düğümü gösterir; rename düğümü korur; unlink'ten sonra sayı yeniden 1'dir. Boş olmayan box üzerinde rmdir() 'Directory not empty' ile başarısız olur — kabukta rmdir'in yazdığı metnin aynısı, çünkü ileti çekirdeğin ENOTEMPTY hata kodundan gelir. İsteğe bağlı gösterim; zaman azsa atlayın.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Başvuru tablosunun ikinci yarısı. Yine: daha çok seçenek içeren tam sürüm ders notlarında.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tek başına ya da ikili çalışır; aralarında dolaşın. 9. alıştırma asıl 'fotoğrafları düzenle' görevidir: IMG_014.JPG ve holiday.jpeg'in *.jpg ile eşleşmediğini unutan öğrencilere dikkat edin (büyük/küçük harf duyarlılığı, farklı uzantı). Kalıplı her mv ya da rm'den önce aynı kalıpla ls çalıştırmalarında ısrar 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alıştırmanın yanıtı: 1 + 14 + 14 × 2 = 43 dizin (course, 14 hafta, 28 alt dizin). 17. alıştırma: practice boş olmadığı için rmdir reddeder; rm -r practice course iki ağacı da siler — önce ls çalıştırın. Erken bitirenler: 9. alıştırmayı TEK mkdir ve üç mv komutuyla yeniden yapsın, sonra 15. alıştırmayı projects/ içinde göreli bir sembolik bağlantıyla denesin.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Bütün iletiler bugünkü gösterimlerin gerçek çıktılarıdır (mkdir adı ‘ ’ tırnaklarıyla yazar). Türkçe yerel ayarlı bir sistemde bu iletiler Türkçe görünebilir; anlamları aynıdır. Hepsinden kötüsü sessiz hatadır: cp ve mv var olan bir hedefin üzerine sormadan yazar; emin değilseniz -i kullanın. Bir başka sessiz hata: backup yokken cp file backup (eğik çizgisiz) yazmak, backup adında bir DOSYA oluşturur.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(hepsi lab klasöründe denetlendi). (1) img010.jpg img011.jpg img012.jpg img013.png — ? 0, 1, 2, 3 ile eşleşir; .* herhangi bir uzantıyla eşleşir. (2) cp yeni bir düğüm oluşturur; aynı dosya sistemi içinde mv yalnızca dizin girdisini değiştirir, bu yüzden anında biter. (3) 1 + 3 + 3 × 2 = 10. (4) cat b.txt içeriği yazdırır (bağlantı sayısı artık 1); cat c.txt 'No such file or directory' ile başarısız olur, çünkü sembolik bağlantı askıda kalmıştır.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Hızlıca okuyun. Laboratuvar föyünün notlandırıldığını ve Telegram'daki duyuruya göre teslim edileceğini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bugün görmezden geldiğimiz ls -l'nin ilk sütununu, -rw-rw-r--'yi, ve stat'ın Access: (0664/...) satırını açıklayacağız. Bu bilgi, bütün gün kullandığımız aynı düğümde saklanır. Öğrencilerden ~/lab klasörlerini korumalarını isteyin; gelecek hafta kurulum betiğini zaten yeniden çalıştıracağız.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 Telegram kanalındaki soruların herkese yardımcı olduğunu ve bu haftanın her gösterim betiğinin ve gerçek çıktısının code klasöründe bulunduğunu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10</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10  ·  Dosya ve Dizin İşlemleri</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Dosya oluşturun, kopyalayın, taşıyın, silin, görüntüleyin, bağlayın — ve her seferinde çekirdeğin ne yaptığını bilin.</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9.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Terminal, kabuk, çekirdek</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Kabuk (bash) komutunuzu okuyan ve başka programları başlatan bir programdır; onlar da çekirdekten sistem çağrılarıyla iş ister (2. hafta).</a:t>
            </a:r>
            <a:endParaRPr lang="tr-TR" sz="155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Komutun yapısı</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komut  -seçenekler  argümanlar</a:t>
            </a:r>
            <a:endParaRPr lang="tr-TR" sz="1550" dirty="0"/>
          </a:p>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ls  -l  /etc</a:t>
            </a:r>
            <a:endParaRPr lang="tr-TR" sz="1550" dirty="0"/>
          </a:p>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Seçenek nasıl, argüman neyi söyler.</a:t>
            </a:r>
            <a:endParaRPr lang="tr-TR" sz="155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Yollar</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Mutlak: /home/student/lab</a:t>
            </a:r>
            <a:endParaRPr lang="tr-TR" sz="1550" dirty="0"/>
          </a:p>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Göreli: docs, ../data</a:t>
            </a:r>
            <a:endParaRPr lang="tr-TR" sz="1550" dirty="0"/>
          </a:p>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Kısayollar: ~  .  ..  -  (cd - geri döner)</a:t>
            </a:r>
            <a:endParaRPr lang="tr-TR" sz="155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Ağaç ve yardım</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/home /etc /usr /var /tmp /dev /proc (FHS). Yardım: --help, man, Tab tamamlama, history ve !!.</a:t>
            </a:r>
            <a:endParaRPr lang="tr-TR" sz="15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Geçen hafta pwd, ls ve cd ile ağaçta dolaştık. Bugün onu değiştiriyoruz: bugünkü her komut bir ad, bir düğüm ya da veri oluşturur, taşır veya siler.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10</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Adlar, düğümler, sistem çağrıları   </a:t>
            </a:r>
            <a:r>
              <a:rPr lang="tr-TR" sz="1500" dirty="0">
                <a:solidFill>
                  <a:srgbClr val="3A464C"/>
                </a:solidFill>
                <a:latin typeface="Calibri" pitchFamily="34" charset="0"/>
                <a:ea typeface="Calibri" pitchFamily="34" charset="-122"/>
                <a:cs typeface="Calibri" pitchFamily="34" charset="-120"/>
              </a:rPr>
              <a:t>Dosyalarla çalışırken diskte gerçekte ne değişir (7. hafta tekrarı).</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Oluştur, kopyala, taşı, sil   </a:t>
            </a:r>
            <a:r>
              <a:rPr lang="tr-TR" sz="1500" dirty="0">
                <a:solidFill>
                  <a:srgbClr val="3A464C"/>
                </a:solidFill>
                <a:latin typeface="Calibri" pitchFamily="34" charset="0"/>
                <a:ea typeface="Calibri" pitchFamily="34" charset="-122"/>
                <a:cs typeface="Calibri" pitchFamily="34" charset="-120"/>
              </a:rPr>
              <a:t>mkdir, touch, cp, mv, rm, rmdir — ve rm neden geri alınamaz.</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Joker karakterler ve süslü parantez   </a:t>
            </a:r>
            <a:r>
              <a:rPr lang="tr-TR" sz="1500" dirty="0">
                <a:solidFill>
                  <a:srgbClr val="3A464C"/>
                </a:solidFill>
                <a:latin typeface="Calibri" pitchFamily="34" charset="0"/>
                <a:ea typeface="Calibri" pitchFamily="34" charset="-122"/>
                <a:cs typeface="Calibri" pitchFamily="34" charset="-120"/>
              </a:rPr>
              <a:t>*  ?  [ ]  { } — ve onları kim genişletir: komut değil, kabuk.</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Boşluklu adlar   </a:t>
            </a:r>
            <a:r>
              <a:rPr lang="tr-TR" sz="1500" dirty="0">
                <a:solidFill>
                  <a:srgbClr val="3A464C"/>
                </a:solidFill>
                <a:latin typeface="Calibri" pitchFamily="34" charset="0"/>
                <a:ea typeface="Calibri" pitchFamily="34" charset="-122"/>
                <a:cs typeface="Calibri" pitchFamily="34" charset="-120"/>
              </a:rPr>
              <a:t>" ", ' ' ve \ ile tırnaklama.</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Dosyaların içine bakmak   </a:t>
            </a:r>
            <a:r>
              <a:rPr lang="tr-TR" sz="1500" dirty="0">
                <a:solidFill>
                  <a:srgbClr val="3A464C"/>
                </a:solidFill>
                <a:latin typeface="Calibri" pitchFamily="34" charset="0"/>
                <a:ea typeface="Calibri" pitchFamily="34" charset="-122"/>
                <a:cs typeface="Calibri" pitchFamily="34" charset="-120"/>
              </a:rPr>
              <a:t>cat, less, head, tail -f, wc, file, stat, du, df.</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Bağlantılar ve laboratuvar   </a:t>
            </a:r>
            <a:r>
              <a:rPr lang="tr-TR" sz="1500" dirty="0">
                <a:solidFill>
                  <a:srgbClr val="3A464C"/>
                </a:solidFill>
                <a:latin typeface="Calibri" pitchFamily="34" charset="0"/>
                <a:ea typeface="Calibri" pitchFamily="34" charset="-122"/>
                <a:cs typeface="Calibri" pitchFamily="34" charset="-120"/>
              </a:rPr>
              <a:t>Yeniden ln ve ln -s; ardından 35 dakikalık notlu uygulama.</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Adlar, Düğümler ve Sistem Çağrıları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7. haftanın kuramı, komut satırından bakınca.</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TEKRAR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Gerçekte Ne Değişir: Adlar, Düğümler, Veri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5</a:t>
            </a:r>
            <a:endParaRPr lang="tr-TR" sz="900" dirty="0"/>
          </a:p>
        </p:txBody>
      </p:sp>
      <p:sp>
        <p:nvSpPr>
          <p:cNvPr id="6" name="Text 4"/>
          <p:cNvSpPr txBox="1"/>
          <p:nvPr/>
        </p:nvSpPr>
        <p:spPr>
          <a:xfrm>
            <a:off x="548640" y="1508760"/>
            <a:ext cx="2926080" cy="365760"/>
          </a:xfrm>
          <a:prstGeom prst="rect">
            <a:avLst/>
          </a:prstGeom>
          <a:noFill/>
          <a:ln/>
        </p:spPr>
        <p:txBody>
          <a:bodyPr wrap="square" lIns="0" tIns="0" rIns="0" bIns="0" rtlCol="0" anchor="b"/>
          <a:lstStyle/>
          <a:p>
            <a:pPr indent="0" marL="0">
              <a:buNone/>
            </a:pPr>
            <a:r>
              <a:rPr lang="tr-TR" sz="1250" b="1" dirty="0">
                <a:solidFill>
                  <a:srgbClr val="36454F"/>
                </a:solidFill>
                <a:latin typeface="Calibri" pitchFamily="34" charset="0"/>
                <a:ea typeface="Calibri" pitchFamily="34" charset="-122"/>
                <a:cs typeface="Calibri" pitchFamily="34" charset="-120"/>
              </a:rPr>
              <a:t>docs/ dizini  (ad → düğüm)</a:t>
            </a:r>
            <a:endParaRPr lang="tr-TR" sz="1250" dirty="0"/>
          </a:p>
        </p:txBody>
      </p:sp>
      <p:sp>
        <p:nvSpPr>
          <p:cNvPr id="7" name="Shape 5"/>
          <p:cNvSpPr/>
          <p:nvPr/>
        </p:nvSpPr>
        <p:spPr>
          <a:xfrm>
            <a:off x="548640" y="1965960"/>
            <a:ext cx="1600200" cy="429768"/>
          </a:xfrm>
          <a:prstGeom prst="roundRect">
            <a:avLst>
              <a:gd name="adj" fmla="val 10638"/>
            </a:avLst>
          </a:prstGeom>
          <a:solidFill>
            <a:srgbClr val="F2F2F2"/>
          </a:solidFill>
          <a:ln/>
        </p:spPr>
      </p:sp>
      <p:sp>
        <p:nvSpPr>
          <p:cNvPr id="8" name="Text 6"/>
          <p:cNvSpPr txBox="1"/>
          <p:nvPr/>
        </p:nvSpPr>
        <p:spPr>
          <a:xfrm>
            <a:off x="548640" y="1965960"/>
            <a:ext cx="1600200" cy="42976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syllabus.txt</a:t>
            </a:r>
            <a:endParaRPr lang="tr-TR" sz="1200" dirty="0"/>
          </a:p>
        </p:txBody>
      </p:sp>
      <p:sp>
        <p:nvSpPr>
          <p:cNvPr id="9" name="Shape 7"/>
          <p:cNvSpPr/>
          <p:nvPr/>
        </p:nvSpPr>
        <p:spPr>
          <a:xfrm>
            <a:off x="2194560" y="1965960"/>
            <a:ext cx="914400" cy="429768"/>
          </a:xfrm>
          <a:prstGeom prst="roundRect">
            <a:avLst>
              <a:gd name="adj" fmla="val 10638"/>
            </a:avLst>
          </a:prstGeom>
          <a:solidFill>
            <a:srgbClr val="D7E9E6"/>
          </a:solidFill>
          <a:ln/>
        </p:spPr>
      </p:sp>
      <p:sp>
        <p:nvSpPr>
          <p:cNvPr id="10" name="Text 8"/>
          <p:cNvSpPr txBox="1"/>
          <p:nvPr/>
        </p:nvSpPr>
        <p:spPr>
          <a:xfrm>
            <a:off x="2194560" y="1965960"/>
            <a:ext cx="914400" cy="4297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804123</a:t>
            </a:r>
            <a:endParaRPr lang="tr-TR" sz="1200" dirty="0"/>
          </a:p>
        </p:txBody>
      </p:sp>
      <p:sp>
        <p:nvSpPr>
          <p:cNvPr id="11" name="Shape 9"/>
          <p:cNvSpPr/>
          <p:nvPr/>
        </p:nvSpPr>
        <p:spPr>
          <a:xfrm>
            <a:off x="548640" y="2468880"/>
            <a:ext cx="1600200" cy="429768"/>
          </a:xfrm>
          <a:prstGeom prst="roundRect">
            <a:avLst>
              <a:gd name="adj" fmla="val 10638"/>
            </a:avLst>
          </a:prstGeom>
          <a:solidFill>
            <a:srgbClr val="F2F2F2"/>
          </a:solidFill>
          <a:ln/>
        </p:spPr>
      </p:sp>
      <p:sp>
        <p:nvSpPr>
          <p:cNvPr id="12" name="Text 10"/>
          <p:cNvSpPr txBox="1"/>
          <p:nvPr/>
        </p:nvSpPr>
        <p:spPr>
          <a:xfrm>
            <a:off x="548640" y="2468880"/>
            <a:ext cx="1600200" cy="42976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plan.txt</a:t>
            </a:r>
            <a:endParaRPr lang="tr-TR" sz="1200" dirty="0"/>
          </a:p>
        </p:txBody>
      </p:sp>
      <p:sp>
        <p:nvSpPr>
          <p:cNvPr id="13" name="Shape 11"/>
          <p:cNvSpPr/>
          <p:nvPr/>
        </p:nvSpPr>
        <p:spPr>
          <a:xfrm>
            <a:off x="2194560" y="2468880"/>
            <a:ext cx="914400" cy="429768"/>
          </a:xfrm>
          <a:prstGeom prst="roundRect">
            <a:avLst>
              <a:gd name="adj" fmla="val 10638"/>
            </a:avLst>
          </a:prstGeom>
          <a:solidFill>
            <a:srgbClr val="D7E9E6"/>
          </a:solidFill>
          <a:ln/>
        </p:spPr>
      </p:sp>
      <p:sp>
        <p:nvSpPr>
          <p:cNvPr id="14" name="Text 12"/>
          <p:cNvSpPr txBox="1"/>
          <p:nvPr/>
        </p:nvSpPr>
        <p:spPr>
          <a:xfrm>
            <a:off x="2194560" y="2468880"/>
            <a:ext cx="914400" cy="4297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804123</a:t>
            </a:r>
            <a:endParaRPr lang="tr-TR" sz="1200" dirty="0"/>
          </a:p>
        </p:txBody>
      </p:sp>
      <p:sp>
        <p:nvSpPr>
          <p:cNvPr id="15" name="Shape 13"/>
          <p:cNvSpPr/>
          <p:nvPr/>
        </p:nvSpPr>
        <p:spPr>
          <a:xfrm>
            <a:off x="548640" y="2971800"/>
            <a:ext cx="1600200" cy="429768"/>
          </a:xfrm>
          <a:prstGeom prst="roundRect">
            <a:avLst>
              <a:gd name="adj" fmla="val 10638"/>
            </a:avLst>
          </a:prstGeom>
          <a:solidFill>
            <a:srgbClr val="F2F2F2"/>
          </a:solidFill>
          <a:ln/>
        </p:spPr>
      </p:sp>
      <p:sp>
        <p:nvSpPr>
          <p:cNvPr id="16" name="Text 14"/>
          <p:cNvSpPr txBox="1"/>
          <p:nvPr/>
        </p:nvSpPr>
        <p:spPr>
          <a:xfrm>
            <a:off x="548640" y="2971800"/>
            <a:ext cx="1600200" cy="42976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copy.txt</a:t>
            </a:r>
            <a:endParaRPr lang="tr-TR" sz="1200" dirty="0"/>
          </a:p>
        </p:txBody>
      </p:sp>
      <p:sp>
        <p:nvSpPr>
          <p:cNvPr id="17" name="Shape 15"/>
          <p:cNvSpPr/>
          <p:nvPr/>
        </p:nvSpPr>
        <p:spPr>
          <a:xfrm>
            <a:off x="2194560" y="2971800"/>
            <a:ext cx="914400" cy="429768"/>
          </a:xfrm>
          <a:prstGeom prst="roundRect">
            <a:avLst>
              <a:gd name="adj" fmla="val 10638"/>
            </a:avLst>
          </a:prstGeom>
          <a:solidFill>
            <a:srgbClr val="D7E9E6"/>
          </a:solidFill>
          <a:ln/>
        </p:spPr>
      </p:sp>
      <p:sp>
        <p:nvSpPr>
          <p:cNvPr id="18" name="Text 16"/>
          <p:cNvSpPr txBox="1"/>
          <p:nvPr/>
        </p:nvSpPr>
        <p:spPr>
          <a:xfrm>
            <a:off x="2194560" y="2971800"/>
            <a:ext cx="914400" cy="4297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804702</a:t>
            </a:r>
            <a:endParaRPr lang="tr-TR" sz="1200" dirty="0"/>
          </a:p>
        </p:txBody>
      </p:sp>
      <p:sp>
        <p:nvSpPr>
          <p:cNvPr id="19" name="Shape 17"/>
          <p:cNvSpPr/>
          <p:nvPr/>
        </p:nvSpPr>
        <p:spPr>
          <a:xfrm>
            <a:off x="548640" y="3474720"/>
            <a:ext cx="1600200" cy="429768"/>
          </a:xfrm>
          <a:prstGeom prst="roundRect">
            <a:avLst>
              <a:gd name="adj" fmla="val 10638"/>
            </a:avLst>
          </a:prstGeom>
          <a:solidFill>
            <a:srgbClr val="F2F2F2"/>
          </a:solidFill>
          <a:ln/>
        </p:spPr>
      </p:sp>
      <p:sp>
        <p:nvSpPr>
          <p:cNvPr id="20" name="Text 18"/>
          <p:cNvSpPr txBox="1"/>
          <p:nvPr/>
        </p:nvSpPr>
        <p:spPr>
          <a:xfrm>
            <a:off x="548640" y="3474720"/>
            <a:ext cx="1600200" cy="42976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shortcut.txt</a:t>
            </a:r>
            <a:endParaRPr lang="tr-TR" sz="1200" dirty="0"/>
          </a:p>
        </p:txBody>
      </p:sp>
      <p:sp>
        <p:nvSpPr>
          <p:cNvPr id="21" name="Shape 19"/>
          <p:cNvSpPr/>
          <p:nvPr/>
        </p:nvSpPr>
        <p:spPr>
          <a:xfrm>
            <a:off x="2194560" y="3474720"/>
            <a:ext cx="914400" cy="429768"/>
          </a:xfrm>
          <a:prstGeom prst="roundRect">
            <a:avLst>
              <a:gd name="adj" fmla="val 10638"/>
            </a:avLst>
          </a:prstGeom>
          <a:solidFill>
            <a:srgbClr val="D7E9E6"/>
          </a:solidFill>
          <a:ln/>
        </p:spPr>
      </p:sp>
      <p:sp>
        <p:nvSpPr>
          <p:cNvPr id="22" name="Text 20"/>
          <p:cNvSpPr txBox="1"/>
          <p:nvPr/>
        </p:nvSpPr>
        <p:spPr>
          <a:xfrm>
            <a:off x="2194560" y="3474720"/>
            <a:ext cx="914400" cy="42976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804703</a:t>
            </a:r>
            <a:endParaRPr lang="tr-TR" sz="1200" dirty="0"/>
          </a:p>
        </p:txBody>
      </p:sp>
      <p:sp>
        <p:nvSpPr>
          <p:cNvPr id="23" name="Shape 21"/>
          <p:cNvSpPr/>
          <p:nvPr/>
        </p:nvSpPr>
        <p:spPr>
          <a:xfrm>
            <a:off x="3611880" y="1874520"/>
            <a:ext cx="1874520" cy="868680"/>
          </a:xfrm>
          <a:prstGeom prst="roundRect">
            <a:avLst>
              <a:gd name="adj" fmla="val 5263"/>
            </a:avLst>
          </a:prstGeom>
          <a:solidFill>
            <a:srgbClr val="36454F"/>
          </a:solidFill>
          <a:ln/>
        </p:spPr>
      </p:sp>
      <p:sp>
        <p:nvSpPr>
          <p:cNvPr id="24" name="Text 22"/>
          <p:cNvSpPr txBox="1"/>
          <p:nvPr/>
        </p:nvSpPr>
        <p:spPr>
          <a:xfrm>
            <a:off x="3611880" y="1874520"/>
            <a:ext cx="1874520" cy="8686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düğüm 804123</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normal · 2 bağlantı · 578 B</a:t>
            </a:r>
            <a:endParaRPr lang="tr-TR" sz="1300" dirty="0"/>
          </a:p>
        </p:txBody>
      </p:sp>
      <p:sp>
        <p:nvSpPr>
          <p:cNvPr id="25" name="Shape 23"/>
          <p:cNvSpPr/>
          <p:nvPr/>
        </p:nvSpPr>
        <p:spPr>
          <a:xfrm>
            <a:off x="3611880" y="2971800"/>
            <a:ext cx="1874520" cy="868680"/>
          </a:xfrm>
          <a:prstGeom prst="roundRect">
            <a:avLst>
              <a:gd name="adj" fmla="val 5263"/>
            </a:avLst>
          </a:prstGeom>
          <a:solidFill>
            <a:srgbClr val="36454F"/>
          </a:solidFill>
          <a:ln/>
        </p:spPr>
      </p:sp>
      <p:sp>
        <p:nvSpPr>
          <p:cNvPr id="26" name="Text 24"/>
          <p:cNvSpPr txBox="1"/>
          <p:nvPr/>
        </p:nvSpPr>
        <p:spPr>
          <a:xfrm>
            <a:off x="3611880" y="2971800"/>
            <a:ext cx="1874520" cy="8686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düğüm 804702</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normal · 1 bağlantı · 578 B</a:t>
            </a:r>
            <a:endParaRPr lang="tr-TR" sz="1300" dirty="0"/>
          </a:p>
        </p:txBody>
      </p:sp>
      <p:sp>
        <p:nvSpPr>
          <p:cNvPr id="27" name="Shape 25"/>
          <p:cNvSpPr/>
          <p:nvPr/>
        </p:nvSpPr>
        <p:spPr>
          <a:xfrm>
            <a:off x="3611880" y="4069080"/>
            <a:ext cx="1874520" cy="868680"/>
          </a:xfrm>
          <a:prstGeom prst="roundRect">
            <a:avLst>
              <a:gd name="adj" fmla="val 5263"/>
            </a:avLst>
          </a:prstGeom>
          <a:solidFill>
            <a:srgbClr val="36454F"/>
          </a:solidFill>
          <a:ln/>
        </p:spPr>
      </p:sp>
      <p:sp>
        <p:nvSpPr>
          <p:cNvPr id="28" name="Text 26"/>
          <p:cNvSpPr txBox="1"/>
          <p:nvPr/>
        </p:nvSpPr>
        <p:spPr>
          <a:xfrm>
            <a:off x="3611880" y="4069080"/>
            <a:ext cx="1874520" cy="8686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düğüm 804703</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sembolik · 12 B</a:t>
            </a:r>
            <a:endParaRPr lang="tr-TR" sz="1300" dirty="0"/>
          </a:p>
        </p:txBody>
      </p:sp>
      <p:sp>
        <p:nvSpPr>
          <p:cNvPr id="29" name="Shape 27"/>
          <p:cNvSpPr/>
          <p:nvPr/>
        </p:nvSpPr>
        <p:spPr>
          <a:xfrm>
            <a:off x="5852160" y="2075688"/>
            <a:ext cx="1188720" cy="457200"/>
          </a:xfrm>
          <a:prstGeom prst="roundRect">
            <a:avLst>
              <a:gd name="adj" fmla="val 10000"/>
            </a:avLst>
          </a:prstGeom>
          <a:solidFill>
            <a:srgbClr val="02C39A"/>
          </a:solidFill>
          <a:ln/>
        </p:spPr>
      </p:sp>
      <p:sp>
        <p:nvSpPr>
          <p:cNvPr id="30" name="Text 28"/>
          <p:cNvSpPr txBox="1"/>
          <p:nvPr/>
        </p:nvSpPr>
        <p:spPr>
          <a:xfrm>
            <a:off x="5852160" y="2075688"/>
            <a:ext cx="1188720" cy="457200"/>
          </a:xfrm>
          <a:prstGeom prst="rect">
            <a:avLst/>
          </a:prstGeom>
          <a:noFill/>
          <a:ln/>
        </p:spPr>
        <p:txBody>
          <a:bodyPr wrap="square" lIns="38100" tIns="38100" rIns="38100" bIns="38100" rtlCol="0" anchor="ctr"/>
          <a:lstStyle/>
          <a:p>
            <a:pPr algn="ctr" indent="0" marL="0">
              <a:buNone/>
            </a:pPr>
            <a:r>
              <a:rPr lang="tr-TR" sz="1150" dirty="0">
                <a:solidFill>
                  <a:srgbClr val="212121"/>
                </a:solidFill>
                <a:latin typeface="Consolas" pitchFamily="34" charset="0"/>
                <a:ea typeface="Consolas" pitchFamily="34" charset="-122"/>
                <a:cs typeface="Consolas" pitchFamily="34" charset="-120"/>
              </a:rPr>
              <a:t>Week 1 …</a:t>
            </a:r>
            <a:endParaRPr lang="tr-TR" sz="1150" dirty="0"/>
          </a:p>
        </p:txBody>
      </p:sp>
      <p:sp>
        <p:nvSpPr>
          <p:cNvPr id="31" name="Shape 29"/>
          <p:cNvSpPr/>
          <p:nvPr/>
        </p:nvSpPr>
        <p:spPr>
          <a:xfrm>
            <a:off x="5852160" y="3172968"/>
            <a:ext cx="1188720" cy="457200"/>
          </a:xfrm>
          <a:prstGeom prst="roundRect">
            <a:avLst>
              <a:gd name="adj" fmla="val 10000"/>
            </a:avLst>
          </a:prstGeom>
          <a:solidFill>
            <a:srgbClr val="D7E9E6"/>
          </a:solidFill>
          <a:ln/>
        </p:spPr>
      </p:sp>
      <p:sp>
        <p:nvSpPr>
          <p:cNvPr id="32" name="Text 30"/>
          <p:cNvSpPr txBox="1"/>
          <p:nvPr/>
        </p:nvSpPr>
        <p:spPr>
          <a:xfrm>
            <a:off x="5852160" y="3172968"/>
            <a:ext cx="1188720" cy="457200"/>
          </a:xfrm>
          <a:prstGeom prst="rect">
            <a:avLst/>
          </a:prstGeom>
          <a:noFill/>
          <a:ln/>
        </p:spPr>
        <p:txBody>
          <a:bodyPr wrap="square" lIns="38100" tIns="38100" rIns="38100" bIns="38100" rtlCol="0" anchor="ctr"/>
          <a:lstStyle/>
          <a:p>
            <a:pPr algn="ctr" indent="0" marL="0">
              <a:buNone/>
            </a:pPr>
            <a:r>
              <a:rPr lang="tr-TR" sz="1150" dirty="0">
                <a:solidFill>
                  <a:srgbClr val="212121"/>
                </a:solidFill>
                <a:latin typeface="Consolas" pitchFamily="34" charset="0"/>
                <a:ea typeface="Consolas" pitchFamily="34" charset="-122"/>
                <a:cs typeface="Consolas" pitchFamily="34" charset="-120"/>
              </a:rPr>
              <a:t>Week 1 …</a:t>
            </a:r>
            <a:endParaRPr lang="tr-TR" sz="1150" dirty="0"/>
          </a:p>
        </p:txBody>
      </p:sp>
      <p:sp>
        <p:nvSpPr>
          <p:cNvPr id="33" name="Shape 31"/>
          <p:cNvSpPr/>
          <p:nvPr/>
        </p:nvSpPr>
        <p:spPr>
          <a:xfrm>
            <a:off x="5852160" y="4270248"/>
            <a:ext cx="1188720" cy="457200"/>
          </a:xfrm>
          <a:prstGeom prst="roundRect">
            <a:avLst>
              <a:gd name="adj" fmla="val 10000"/>
            </a:avLst>
          </a:prstGeom>
          <a:solidFill>
            <a:srgbClr val="F6E7CC"/>
          </a:solidFill>
          <a:ln/>
        </p:spPr>
      </p:sp>
      <p:sp>
        <p:nvSpPr>
          <p:cNvPr id="34" name="Text 32"/>
          <p:cNvSpPr txBox="1"/>
          <p:nvPr/>
        </p:nvSpPr>
        <p:spPr>
          <a:xfrm>
            <a:off x="5852160" y="4270248"/>
            <a:ext cx="1188720" cy="457200"/>
          </a:xfrm>
          <a:prstGeom prst="rect">
            <a:avLst/>
          </a:prstGeom>
          <a:noFill/>
          <a:ln/>
        </p:spPr>
        <p:txBody>
          <a:bodyPr wrap="square" lIns="38100" tIns="38100" rIns="38100" bIns="38100" rtlCol="0" anchor="ctr"/>
          <a:lstStyle/>
          <a:p>
            <a:pPr algn="ctr" indent="0" marL="0">
              <a:buNone/>
            </a:pPr>
            <a:r>
              <a:rPr lang="tr-TR" sz="1000" dirty="0">
                <a:solidFill>
                  <a:srgbClr val="212121"/>
                </a:solidFill>
                <a:latin typeface="Consolas" pitchFamily="34" charset="0"/>
                <a:ea typeface="Consolas" pitchFamily="34" charset="-122"/>
                <a:cs typeface="Consolas" pitchFamily="34" charset="-120"/>
              </a:rPr>
              <a:t>"syllabus.txt"</a:t>
            </a:r>
            <a:endParaRPr lang="tr-TR" sz="1000" dirty="0"/>
          </a:p>
        </p:txBody>
      </p:sp>
      <p:sp>
        <p:nvSpPr>
          <p:cNvPr id="35" name="Shape 33"/>
          <p:cNvSpPr/>
          <p:nvPr/>
        </p:nvSpPr>
        <p:spPr>
          <a:xfrm>
            <a:off x="3127248" y="2176272"/>
            <a:ext cx="466344" cy="18288"/>
          </a:xfrm>
          <a:prstGeom prst="line">
            <a:avLst/>
          </a:prstGeom>
          <a:noFill/>
          <a:ln w="22225">
            <a:solidFill>
              <a:srgbClr val="028090"/>
            </a:solidFill>
            <a:prstDash val="solid"/>
            <a:tailEnd type="triangle"/>
          </a:ln>
        </p:spPr>
      </p:sp>
      <p:sp>
        <p:nvSpPr>
          <p:cNvPr id="36" name="Shape 34"/>
          <p:cNvSpPr/>
          <p:nvPr/>
        </p:nvSpPr>
        <p:spPr>
          <a:xfrm flipV="1">
            <a:off x="3127248" y="2423160"/>
            <a:ext cx="466344" cy="256032"/>
          </a:xfrm>
          <a:prstGeom prst="line">
            <a:avLst/>
          </a:prstGeom>
          <a:noFill/>
          <a:ln w="22225">
            <a:solidFill>
              <a:srgbClr val="028090"/>
            </a:solidFill>
            <a:prstDash val="solid"/>
            <a:tailEnd type="triangle"/>
          </a:ln>
        </p:spPr>
      </p:sp>
      <p:sp>
        <p:nvSpPr>
          <p:cNvPr id="37" name="Shape 35"/>
          <p:cNvSpPr/>
          <p:nvPr/>
        </p:nvSpPr>
        <p:spPr>
          <a:xfrm>
            <a:off x="3127248" y="3182112"/>
            <a:ext cx="466344" cy="155448"/>
          </a:xfrm>
          <a:prstGeom prst="line">
            <a:avLst/>
          </a:prstGeom>
          <a:noFill/>
          <a:ln w="22225">
            <a:solidFill>
              <a:srgbClr val="028090"/>
            </a:solidFill>
            <a:prstDash val="solid"/>
            <a:tailEnd type="triangle"/>
          </a:ln>
        </p:spPr>
      </p:sp>
      <p:sp>
        <p:nvSpPr>
          <p:cNvPr id="38" name="Shape 36"/>
          <p:cNvSpPr/>
          <p:nvPr/>
        </p:nvSpPr>
        <p:spPr>
          <a:xfrm>
            <a:off x="3127248" y="3685032"/>
            <a:ext cx="466344" cy="749808"/>
          </a:xfrm>
          <a:prstGeom prst="line">
            <a:avLst/>
          </a:prstGeom>
          <a:noFill/>
          <a:ln w="22225">
            <a:solidFill>
              <a:srgbClr val="C98A1B"/>
            </a:solidFill>
            <a:prstDash val="solid"/>
            <a:tailEnd type="triangle"/>
          </a:ln>
        </p:spPr>
      </p:sp>
      <p:sp>
        <p:nvSpPr>
          <p:cNvPr id="39" name="Shape 37"/>
          <p:cNvSpPr/>
          <p:nvPr/>
        </p:nvSpPr>
        <p:spPr>
          <a:xfrm>
            <a:off x="5504688" y="2304288"/>
            <a:ext cx="329184" cy="91"/>
          </a:xfrm>
          <a:prstGeom prst="line">
            <a:avLst/>
          </a:prstGeom>
          <a:noFill/>
          <a:ln w="19050">
            <a:solidFill>
              <a:srgbClr val="50808E"/>
            </a:solidFill>
            <a:prstDash val="solid"/>
            <a:tailEnd type="triangle"/>
          </a:ln>
        </p:spPr>
      </p:sp>
      <p:sp>
        <p:nvSpPr>
          <p:cNvPr id="40" name="Shape 38"/>
          <p:cNvSpPr/>
          <p:nvPr/>
        </p:nvSpPr>
        <p:spPr>
          <a:xfrm>
            <a:off x="5504688" y="3401568"/>
            <a:ext cx="329184" cy="91"/>
          </a:xfrm>
          <a:prstGeom prst="line">
            <a:avLst/>
          </a:prstGeom>
          <a:noFill/>
          <a:ln w="19050">
            <a:solidFill>
              <a:srgbClr val="50808E"/>
            </a:solidFill>
            <a:prstDash val="solid"/>
            <a:tailEnd type="triangle"/>
          </a:ln>
        </p:spPr>
      </p:sp>
      <p:sp>
        <p:nvSpPr>
          <p:cNvPr id="41" name="Shape 39"/>
          <p:cNvSpPr/>
          <p:nvPr/>
        </p:nvSpPr>
        <p:spPr>
          <a:xfrm>
            <a:off x="5504688" y="4498848"/>
            <a:ext cx="329184" cy="91"/>
          </a:xfrm>
          <a:prstGeom prst="line">
            <a:avLst/>
          </a:prstGeom>
          <a:noFill/>
          <a:ln w="19050">
            <a:solidFill>
              <a:srgbClr val="50808E"/>
            </a:solidFill>
            <a:prstDash val="solid"/>
            <a:tailEnd type="triangle"/>
          </a:ln>
        </p:spPr>
      </p:sp>
      <p:sp>
        <p:nvSpPr>
          <p:cNvPr id="42" name="Text 40"/>
          <p:cNvSpPr txBox="1"/>
          <p:nvPr/>
        </p:nvSpPr>
        <p:spPr>
          <a:xfrm>
            <a:off x="5760720" y="4773168"/>
            <a:ext cx="123444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veri blokları</a:t>
            </a:r>
            <a:endParaRPr lang="tr-TR" sz="1100" dirty="0"/>
          </a:p>
        </p:txBody>
      </p:sp>
      <p:sp>
        <p:nvSpPr>
          <p:cNvPr id="43" name="Shape 41"/>
          <p:cNvSpPr/>
          <p:nvPr/>
        </p:nvSpPr>
        <p:spPr>
          <a:xfrm>
            <a:off x="548640" y="5212080"/>
            <a:ext cx="635508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sp>
      <p:sp>
        <p:nvSpPr>
          <p:cNvPr id="44" name="Text 42"/>
          <p:cNvSpPr txBox="1"/>
          <p:nvPr/>
        </p:nvSpPr>
        <p:spPr>
          <a:xfrm>
            <a:off x="777240" y="5212080"/>
            <a:ext cx="5897880" cy="105156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ls -li'den gerçek düğüm numaraları (demo_links.sh): plan.txt bir sabit bağlantı, copy.txt bir kopya, shortcut.txt ise bir yol saklayan sembolik bağlantı.</a:t>
            </a:r>
            <a:endParaRPr lang="tr-TR"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69480" y="1554480"/>
          <a:ext cx="4389120" cy="914400"/>
        </p:xfrm>
        <a:graphic>
          <a:graphicData uri="http://schemas.openxmlformats.org/drawingml/2006/table">
            <a:tbl>
              <a:tblPr/>
              <a:tblGrid>
                <a:gridCol w="1143000"/>
                <a:gridCol w="3246120"/>
              </a:tblGrid>
              <a:tr h="0">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Komut</a:t>
                      </a:r>
                      <a:endParaRPr lang="tr-TR" sz="13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Ne değişir</a:t>
                      </a:r>
                      <a:endParaRPr lang="tr-TR" sz="13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touch new</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yeni ad + yeni (boş) düğüm</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cp a b</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yeni ad + yeni düğüm + verinin kopyası</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mv a b</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yalnızca ad; düğüm aynı, veriye dokunulmaz</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ln a b</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yeni ad → aynı düğüm; bağlantı sayısı + 1</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ln -s a b</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yeni ad + a yolunu saklayan küçük düğüm</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onsolas" pitchFamily="34" charset="0"/>
                          <a:ea typeface="Consolas" pitchFamily="34" charset="-122"/>
                          <a:cs typeface="Consolas" pitchFamily="34" charset="-120"/>
                        </a:rPr>
                        <a:t>rm a</a:t>
                      </a:r>
                      <a:endParaRPr lang="tr-TR" sz="12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ad silinir; bağlantı sayısı − 1; 0'da veri serbest</a:t>
                      </a:r>
                      <a:endParaRPr lang="tr-TR" sz="12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TEKRAR · 2. VE 3.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Komut, Sistem Çağrısı Yapan Bir Programdır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6</a:t>
            </a:r>
            <a:endParaRPr lang="tr-TR" sz="900" dirty="0"/>
          </a:p>
        </p:txBody>
      </p:sp>
      <p:sp>
        <p:nvSpPr>
          <p:cNvPr id="6" name="Shape 4"/>
          <p:cNvSpPr/>
          <p:nvPr/>
        </p:nvSpPr>
        <p:spPr>
          <a:xfrm>
            <a:off x="548640" y="1508760"/>
            <a:ext cx="7315200" cy="4754880"/>
          </a:xfrm>
          <a:prstGeom prst="roundRect">
            <a:avLst>
              <a:gd name="adj" fmla="val 962"/>
            </a:avLst>
          </a:prstGeom>
          <a:solidFill>
            <a:srgbClr val="212121"/>
          </a:solidFill>
          <a:ln/>
        </p:spPr>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trace=mkdir,mkdirat mkdir newdir</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mkdir("newdir", 0777)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trace=rename,renameat,renameat2 mv newdir olddir</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renameat2(AT_FDCWD, "newdir", AT_FDCWD, "olddir", RENAME_NOREPLACE)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touch file1</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trace=link,linkat ln file1 file2</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linkat(AT_FDCWD, "file1", AT_FDCWD, "file2", 0)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trace=symlink,symlinkat ln -s olddir sym</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symlinkat("olddir", AT_FDCWD, "sym")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trace=unlink,unlinkat rm file1 file2 sym</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unlinkat(AT_FDCWD, "file1", 0)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unlinkat(AT_FDCWD, "file2", 0)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unlinkat(AT_FDCWD, "sym", 0)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strace -e trace=rmdir,unlinkat rmdir olddir</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rmdir("olddir")                         = 0</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 exited with 0 +++</a:t>
            </a:r>
            <a:endParaRPr lang="tr-TR" sz="105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 komut, bir çağrı</a:t>
            </a:r>
            <a:endParaRPr lang="tr-TR"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mkdir</a:t>
            </a:r>
            <a:r>
              <a:rPr lang="tr-TR" sz="1400" dirty="0">
                <a:solidFill>
                  <a:srgbClr val="3A464C"/>
                </a:solidFill>
                <a:latin typeface="Calibri" pitchFamily="34" charset="0"/>
                <a:ea typeface="Calibri" pitchFamily="34" charset="-122"/>
                <a:cs typeface="Calibri" pitchFamily="34" charset="-120"/>
              </a:rPr>
              <a:t> → mkdir()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mv</a:t>
            </a:r>
            <a:r>
              <a:rPr lang="tr-TR" sz="1400" dirty="0">
                <a:solidFill>
                  <a:srgbClr val="3A464C"/>
                </a:solidFill>
                <a:latin typeface="Calibri" pitchFamily="34" charset="0"/>
                <a:ea typeface="Calibri" pitchFamily="34" charset="-122"/>
                <a:cs typeface="Calibri" pitchFamily="34" charset="-120"/>
              </a:rPr>
              <a:t> → renameat2()</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ln</a:t>
            </a:r>
            <a:r>
              <a:rPr lang="tr-TR" sz="1400" dirty="0">
                <a:solidFill>
                  <a:srgbClr val="3A464C"/>
                </a:solidFill>
                <a:latin typeface="Calibri" pitchFamily="34" charset="0"/>
                <a:ea typeface="Calibri" pitchFamily="34" charset="-122"/>
                <a:cs typeface="Calibri" pitchFamily="34" charset="-120"/>
              </a:rPr>
              <a:t> → linkat()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ln -s</a:t>
            </a:r>
            <a:r>
              <a:rPr lang="tr-TR" sz="1400" dirty="0">
                <a:solidFill>
                  <a:srgbClr val="3A464C"/>
                </a:solidFill>
                <a:latin typeface="Calibri" pitchFamily="34" charset="0"/>
                <a:ea typeface="Calibri" pitchFamily="34" charset="-122"/>
                <a:cs typeface="Calibri" pitchFamily="34" charset="-120"/>
              </a:rPr>
              <a:t> → symlinkat()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rm</a:t>
            </a:r>
            <a:r>
              <a:rPr lang="tr-TR" sz="1400" dirty="0">
                <a:solidFill>
                  <a:srgbClr val="3A464C"/>
                </a:solidFill>
                <a:latin typeface="Calibri" pitchFamily="34" charset="0"/>
                <a:ea typeface="Calibri" pitchFamily="34" charset="-122"/>
                <a:cs typeface="Calibri" pitchFamily="34" charset="-120"/>
              </a:rPr>
              <a:t> → unlinkat()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rmdir</a:t>
            </a:r>
            <a:r>
              <a:rPr lang="tr-TR" sz="1400" dirty="0">
                <a:solidFill>
                  <a:srgbClr val="3A464C"/>
                </a:solidFill>
                <a:latin typeface="Calibri" pitchFamily="34" charset="0"/>
                <a:ea typeface="Calibri" pitchFamily="34" charset="-122"/>
                <a:cs typeface="Calibri" pitchFamily="34" charset="-120"/>
              </a:rPr>
              <a:t> → rmdir()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Çekirdek silmeye "unlink" der: bir düğümün tek bir adını (bağlantısını) kaldırır.</a:t>
            </a:r>
            <a:endParaRPr lang="tr-T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Oluştur, Kopyala, Taşı, Sil</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mkdir · touch · cp · mv · rm · rmdir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7</a:t>
            </a:r>
            <a:endParaRPr lang="tr-TR"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mkdir: Dizin Oluştur (-p ile Bütün Yol)</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8</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mkdir test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-ld test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drwxrwxr-x 2 student student 4096 Oct 12 08:47 test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mkdir test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mkdir trip/day1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mkdir: cannot create directory ‘trip/day1’: No such file or directory</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mkdir -p trip/day1</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mkdir -p work/2026/october</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tree work trip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work</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2026</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october</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trip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day1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5 directories, 0 files</a:t>
            </a:r>
            <a:endParaRPr lang="tr-TR"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mkdir ad, boş bir dizin oluşturur.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File exists:</a:t>
            </a:r>
            <a:r>
              <a:rPr lang="tr-TR" sz="1350" dirty="0">
                <a:solidFill>
                  <a:srgbClr val="3A464C"/>
                </a:solidFill>
                <a:latin typeface="Calibri" pitchFamily="34" charset="0"/>
                <a:ea typeface="Calibri" pitchFamily="34" charset="-122"/>
                <a:cs typeface="Calibri" pitchFamily="34" charset="-120"/>
              </a:rPr>
              <a:t> ad zaten kullanılıyor.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No such file or directory:</a:t>
            </a:r>
            <a:r>
              <a:rPr lang="tr-TR" sz="1350" dirty="0">
                <a:solidFill>
                  <a:srgbClr val="3A464C"/>
                </a:solidFill>
                <a:latin typeface="Calibri" pitchFamily="34" charset="0"/>
                <a:ea typeface="Calibri" pitchFamily="34" charset="-122"/>
                <a:cs typeface="Calibri" pitchFamily="34" charset="-120"/>
              </a:rPr>
              <a:t> bir üst dizin (trip) yok.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-p:</a:t>
            </a:r>
            <a:r>
              <a:rPr lang="tr-TR" sz="1350" dirty="0">
                <a:solidFill>
                  <a:srgbClr val="3A464C"/>
                </a:solidFill>
                <a:latin typeface="Calibri" pitchFamily="34" charset="0"/>
                <a:ea typeface="Calibri" pitchFamily="34" charset="-122"/>
                <a:cs typeface="Calibri" pitchFamily="34" charset="-120"/>
              </a:rPr>
              <a:t> eksik bütün üst dizinleri oluşturur; dizin zaten varsa hata vermez.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ls -ld içeriği değil, dizinin kendisini gösterir.</a:t>
            </a:r>
            <a:endParaRPr lang="tr-TR"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touch: Boş Dosya Oluştur, Zaman Damgasını Değiştir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9</a:t>
            </a:r>
            <a:endParaRPr lang="tr-TR" sz="900" dirty="0"/>
          </a:p>
        </p:txBody>
      </p:sp>
      <p:sp>
        <p:nvSpPr>
          <p:cNvPr id="6" name="Shape 4"/>
          <p:cNvSpPr/>
          <p:nvPr/>
        </p:nvSpPr>
        <p:spPr>
          <a:xfrm>
            <a:off x="548640" y="1508760"/>
            <a:ext cx="7498080" cy="4754880"/>
          </a:xfrm>
          <a:prstGeom prst="roundRect">
            <a:avLst>
              <a:gd name="adj" fmla="val 962"/>
            </a:avLst>
          </a:prstGeom>
          <a:solidFill>
            <a:srgbClr val="212121"/>
          </a:solidFill>
          <a:ln/>
        </p:spPr>
      </p:sp>
      <p:sp>
        <p:nvSpPr>
          <p:cNvPr id="7" name="Text 5"/>
          <p:cNvSpPr txBox="1"/>
          <p:nvPr/>
        </p:nvSpPr>
        <p:spPr>
          <a:xfrm>
            <a:off x="731520" y="1618488"/>
            <a:ext cx="713232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touch todo.txt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-l todo.txt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-rw-rw-r-- 1 student student 0 Oct 12 08:47 todo.txt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touch -d "2026-01-15 09:30" todo.txt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ls -l todo.txt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-rw-rw-r-- 1 student student 0 Jan 15  2026 todo.txt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stat todo.txt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File: todo.txt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Size: 0               Blocks: 0          IO Block: 4096   regular empty file</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Device: 254,0   Inode: 804708      Links: 1</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Access: (0664/-rw-rw-r--)  Uid: ( 1010/ student)   Gid: ( 1012/ student)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Access: 2026-01-15 09:30:00.000000000 +0000</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Modify: 2026-01-15 09:30:00.000000000 +0000</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Change: 2026-10-12 08:47:56.442757013 +0000</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Birth: 2026-10-12 08:47:56.430757013 +0000</a:t>
            </a:r>
            <a:endParaRPr lang="tr-TR" sz="1100" dirty="0"/>
          </a:p>
        </p:txBody>
      </p:sp>
      <p:sp>
        <p:nvSpPr>
          <p:cNvPr id="8" name="Shape 6"/>
          <p:cNvSpPr/>
          <p:nvPr/>
        </p:nvSpPr>
        <p:spPr>
          <a:xfrm>
            <a:off x="8321040" y="1508760"/>
            <a:ext cx="3337560" cy="4754880"/>
          </a:xfrm>
          <a:prstGeom prst="roundRect">
            <a:avLst>
              <a:gd name="adj" fmla="val 164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549640" y="1691640"/>
            <a:ext cx="2880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549640" y="2148840"/>
            <a:ext cx="288036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Dosya yoksa:</a:t>
            </a:r>
            <a:r>
              <a:rPr lang="tr-TR" sz="1300" dirty="0">
                <a:solidFill>
                  <a:srgbClr val="3A464C"/>
                </a:solidFill>
                <a:latin typeface="Calibri" pitchFamily="34" charset="0"/>
                <a:ea typeface="Calibri" pitchFamily="34" charset="-122"/>
                <a:cs typeface="Calibri" pitchFamily="34" charset="-120"/>
              </a:rPr>
              <a:t> touch onu 0 baytlık olarak oluşturur.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Dosya varsa:</a:t>
            </a:r>
            <a:r>
              <a:rPr lang="tr-TR" sz="1300" dirty="0">
                <a:solidFill>
                  <a:srgbClr val="3A464C"/>
                </a:solidFill>
                <a:latin typeface="Calibri" pitchFamily="34" charset="0"/>
                <a:ea typeface="Calibri" pitchFamily="34" charset="-122"/>
                <a:cs typeface="Calibri" pitchFamily="34" charset="-120"/>
              </a:rPr>
              <a:t> touch yalnızca zamanlarını şimdiye ayarlar; içerik değişmez.</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-d "tarih":</a:t>
            </a:r>
            <a:r>
              <a:rPr lang="tr-TR" sz="1300" dirty="0">
                <a:solidFill>
                  <a:srgbClr val="3A464C"/>
                </a:solidFill>
                <a:latin typeface="Calibri" pitchFamily="34" charset="0"/>
                <a:ea typeface="Calibri" pitchFamily="34" charset="-122"/>
                <a:cs typeface="Calibri" pitchFamily="34" charset="-120"/>
              </a:rPr>
              <a:t> seçilen bir zamanı ayarlar.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ls -l, 6 aydan uzak tarihlerde saat yerine yılı gösterir.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stat, düğümde tutulan bütün zamanları gösterir.</a:t>
            </a:r>
            <a:endParaRPr lang="tr-TR"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DÜĞÜM ÜST VERİSİ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Üç Zaman Damgası: Hangi İşlem Hangisini Değiştirir?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10</a:t>
            </a:r>
            <a:endParaRPr lang="tr-TR"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291840"/>
                <a:gridCol w="2606040"/>
                <a:gridCol w="2606040"/>
                <a:gridCol w="260604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İşlem (örnek)</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atime (Access)</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mtime (Modify)</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ctime (Change)</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veriyi oku:  cat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 (gecikmeli)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veriyi yaz:  echo x &gt;&gt;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touch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yeniden adlandır:  mv f 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ad ekle:  ln f h</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izinleri değiştir:  chmod (11. hafta)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ctime oluşturulma zamanı DEĞİLDİR: düğümün son değişikliğidir. Oluşturulma "Birth"tür. ls -l mtime'ı gösterir; cp -p özgün mtime'ı korur.</a:t>
            </a:r>
            <a:endParaRPr lang="tr-T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cp: Dosya Kopyala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11</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docs/syllabus.txt backup/</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docs/syllabus.txt backup/syllabus_copy.txt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syllabus.txt  syllabus_copy.txt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-v docs/notes_01.txt docs/notes_02.txt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'docs/notes_01.txt' -&gt; 'backup/notes_01.txt'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'docs/notes_02.txt' -&gt; 'backup/notes_02.txt'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-i docs/syllabus.txt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cp: overwrite 'backup/syllabus.txt'? n</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projects/alpha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cp: -r not specified; omitting directory 'projects/alpha'</a:t>
            </a:r>
            <a:endParaRPr lang="tr-TR"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cp KAYNAK HEDEF:</a:t>
            </a:r>
            <a:r>
              <a:rPr lang="tr-TR" sz="1300" dirty="0">
                <a:solidFill>
                  <a:srgbClr val="3A464C"/>
                </a:solidFill>
                <a:latin typeface="Calibri" pitchFamily="34" charset="0"/>
                <a:ea typeface="Calibri" pitchFamily="34" charset="-122"/>
                <a:cs typeface="Calibri" pitchFamily="34" charset="-120"/>
              </a:rPr>
              <a:t> hedef bir dizinse ad korunur; değilse hedef yeni addır.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Birden çok kaynak:</a:t>
            </a:r>
            <a:r>
              <a:rPr lang="tr-TR" sz="1300" dirty="0">
                <a:solidFill>
                  <a:srgbClr val="3A464C"/>
                </a:solidFill>
                <a:latin typeface="Calibri" pitchFamily="34" charset="0"/>
                <a:ea typeface="Calibri" pitchFamily="34" charset="-122"/>
                <a:cs typeface="Calibri" pitchFamily="34" charset="-120"/>
              </a:rPr>
              <a:t> son argüman bir dizin olmalıdır.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-v:</a:t>
            </a:r>
            <a:r>
              <a:rPr lang="tr-TR" sz="1300" dirty="0">
                <a:solidFill>
                  <a:srgbClr val="3A464C"/>
                </a:solidFill>
                <a:latin typeface="Calibri" pitchFamily="34" charset="0"/>
                <a:ea typeface="Calibri" pitchFamily="34" charset="-122"/>
                <a:cs typeface="Calibri" pitchFamily="34" charset="-120"/>
              </a:rPr>
              <a:t> yapılanı söyler.  -i: üzerine yazmadan önce sorar.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Uyarı:</a:t>
            </a:r>
            <a:r>
              <a:rPr lang="tr-TR" sz="1300" dirty="0">
                <a:solidFill>
                  <a:srgbClr val="3A464C"/>
                </a:solidFill>
                <a:latin typeface="Calibri" pitchFamily="34" charset="0"/>
                <a:ea typeface="Calibri" pitchFamily="34" charset="-122"/>
                <a:cs typeface="Calibri" pitchFamily="34" charset="-120"/>
              </a:rPr>
              <a:t> -i olmadan cp var olan dosyanın üzerine sessizce yazar.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Dizinler için -r gerekir.</a:t>
            </a:r>
            <a:endParaRPr lang="tr-TR"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cp -r: Bütün Bir Dizin Ağacını Kopyala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12</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cp -r projects/alpha backup/</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tree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alpha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README.md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 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 main.c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notes_01.txt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notes_02.txt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syllabus_copy.txt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4 directories, 7 files</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-i docs/syllabus.txt backup/syllabus.txt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804330 backup/syllabus.txt  804123 docs/syllabus.txt</a:t>
            </a:r>
            <a:endParaRPr lang="tr-TR"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 (özyinelemeli, recursive):</a:t>
            </a:r>
            <a:r>
              <a:rPr lang="tr-TR" sz="1350" dirty="0">
                <a:solidFill>
                  <a:srgbClr val="3A464C"/>
                </a:solidFill>
                <a:latin typeface="Calibri" pitchFamily="34" charset="0"/>
                <a:ea typeface="Calibri" pitchFamily="34" charset="-122"/>
                <a:cs typeface="Calibri" pitchFamily="34" charset="-120"/>
              </a:rPr>
              <a:t> dizin ve altındaki her şey.</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Kopya yeni bir dosyadır:</a:t>
            </a:r>
            <a:r>
              <a:rPr lang="tr-TR" sz="1350" dirty="0">
                <a:solidFill>
                  <a:srgbClr val="3A464C"/>
                </a:solidFill>
                <a:latin typeface="Calibri" pitchFamily="34" charset="0"/>
                <a:ea typeface="Calibri" pitchFamily="34" charset="-122"/>
                <a:cs typeface="Calibri" pitchFamily="34" charset="-120"/>
              </a:rPr>
              <a:t> yeni düğüm numarası, kendi veri blokları.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Kopyayı değiştirin: özgün etkilenmez (tersi de geçerli).</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cp -p:</a:t>
            </a:r>
            <a:r>
              <a:rPr lang="tr-TR" sz="1350" dirty="0">
                <a:solidFill>
                  <a:srgbClr val="3A464C"/>
                </a:solidFill>
                <a:latin typeface="Calibri" pitchFamily="34" charset="0"/>
                <a:ea typeface="Calibri" pitchFamily="34" charset="-122"/>
                <a:cs typeface="Calibri" pitchFamily="34" charset="-120"/>
              </a:rPr>
              <a:t> zamanları ve izinleri de korur; tam yedek için cp -a.</a:t>
            </a:r>
            <a:endParaRPr lang="tr-TR"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mv: Yeniden Adlandır ve Taşı (Düğüm Aynı!)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13</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mv backup/syllabus.txt backup/syllabus_old.txt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-i backup/syllabus_old.txt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804330 backup/syllabus_old.txt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mv -v docs/notes_03.txt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renamed 'docs/notes_03.txt' -&gt; 'backup/notes_03.txt'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mv backup/alpha backup/alpha_2026</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docs 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backup:</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alpha_2026    notes_02.txt  syllabus_copy.txt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notes_01.txt  notes_03.txt  syllabus_old.txt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'final report.txt'   notes_01.txt   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linux_quotes.txt    notes_02.txt</a:t>
            </a:r>
            <a:endParaRPr lang="tr-TR"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Yeniden adlandırma:</a:t>
            </a:r>
            <a:r>
              <a:rPr lang="tr-TR" sz="1350" dirty="0">
                <a:solidFill>
                  <a:srgbClr val="3A464C"/>
                </a:solidFill>
                <a:latin typeface="Calibri" pitchFamily="34" charset="0"/>
                <a:ea typeface="Calibri" pitchFamily="34" charset="-122"/>
                <a:cs typeface="Calibri" pitchFamily="34" charset="-120"/>
              </a:rPr>
              <a:t> aynı dizinde mv eski yeni.</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Taşıma:</a:t>
            </a:r>
            <a:r>
              <a:rPr lang="tr-TR" sz="1350" dirty="0">
                <a:solidFill>
                  <a:srgbClr val="3A464C"/>
                </a:solidFill>
                <a:latin typeface="Calibri" pitchFamily="34" charset="0"/>
                <a:ea typeface="Calibri" pitchFamily="34" charset="-122"/>
                <a:cs typeface="Calibri" pitchFamily="34" charset="-120"/>
              </a:rPr>
              <a:t> mv dosya dizin/ — ad başka bir dizine geçer.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Düğüm aynı</a:t>
            </a:r>
            <a:r>
              <a:rPr lang="tr-TR" sz="1350" dirty="0">
                <a:solidFill>
                  <a:srgbClr val="3A464C"/>
                </a:solidFill>
                <a:latin typeface="Calibri" pitchFamily="34" charset="0"/>
                <a:ea typeface="Calibri" pitchFamily="34" charset="-122"/>
                <a:cs typeface="Calibri" pitchFamily="34" charset="-120"/>
              </a:rPr>
              <a:t> (804330), önce ve sonra: yalnızca dizin girdisi değişti.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Dizinler için -r gerekmez. cp gibi mv de sessizce üzerine yazar: -i kullanın.</a:t>
            </a:r>
            <a:endParaRPr lang="tr-T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rm ve rmdir: Dosya ve Dizin Silmek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14</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 junk1.txt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 -i junk2.txt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rm: remove regular empty file 'junk2.txt'? y</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 -v junk3.txt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'junk3.txt'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junk*</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ls: cannot access 'junk*': No such file or directory</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rmdir empty_dir</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rmdir projects/beta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rmdir: failed to remove 'projects/beta': Directory not empty</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 projects/beta</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rm: cannot remove 'projects/beta': Is a directory</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rm -rv beta_copy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'beta_copy/src/main.c'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directory 'beta_copy/src'</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'beta_copy/README.md'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'beta_copy/docs/design.txt'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directory 'beta_copy/docs'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removed directory 'beta_copy'</a:t>
            </a:r>
            <a:endParaRPr lang="tr-TR" sz="11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rm dosya: soru yok, ileti yok, geri dönüşüm kutusu yok.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-i:</a:t>
            </a:r>
            <a:r>
              <a:rPr lang="tr-TR" sz="1350" dirty="0">
                <a:solidFill>
                  <a:srgbClr val="3A464C"/>
                </a:solidFill>
                <a:latin typeface="Calibri" pitchFamily="34" charset="0"/>
                <a:ea typeface="Calibri" pitchFamily="34" charset="-122"/>
                <a:cs typeface="Calibri" pitchFamily="34" charset="-120"/>
              </a:rPr>
              <a:t> önce sorar.  -v: her silmeyi bildirir.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rmdir:</a:t>
            </a:r>
            <a:r>
              <a:rPr lang="tr-TR" sz="1350" dirty="0">
                <a:solidFill>
                  <a:srgbClr val="3A464C"/>
                </a:solidFill>
                <a:latin typeface="Calibri" pitchFamily="34" charset="0"/>
                <a:ea typeface="Calibri" pitchFamily="34" charset="-122"/>
                <a:cs typeface="Calibri" pitchFamily="34" charset="-120"/>
              </a:rPr>
              <a:t> yalnızca BOŞ dizinler — güvenli bir araç.</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rm -r dizin:</a:t>
            </a:r>
            <a:r>
              <a:rPr lang="tr-TR" sz="1350" dirty="0">
                <a:solidFill>
                  <a:srgbClr val="3A464C"/>
                </a:solidFill>
                <a:latin typeface="Calibri" pitchFamily="34" charset="0"/>
                <a:ea typeface="Calibri" pitchFamily="34" charset="-122"/>
                <a:cs typeface="Calibri" pitchFamily="34" charset="-120"/>
              </a:rPr>
              <a:t> dizin ve içindeki her şey, özyinelemeli olarak.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Uyarı:</a:t>
            </a:r>
            <a:r>
              <a:rPr lang="tr-TR" sz="1350" dirty="0">
                <a:solidFill>
                  <a:srgbClr val="3A464C"/>
                </a:solidFill>
                <a:latin typeface="Calibri" pitchFamily="34" charset="0"/>
                <a:ea typeface="Calibri" pitchFamily="34" charset="-122"/>
                <a:cs typeface="Calibri" pitchFamily="34" charset="-120"/>
              </a:rPr>
              <a:t> -f (force, zorla) hiç sormaz ve hataları gizler.</a:t>
            </a:r>
            <a:endParaRPr lang="tr-TR"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GÜVENLİK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rm Kalıcıdır: Güvenle Silin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15</a:t>
            </a:r>
            <a:endParaRPr lang="tr-TR"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B5453A"/>
                </a:solidFill>
                <a:latin typeface="Cambria" pitchFamily="34" charset="0"/>
                <a:ea typeface="Cambria" pitchFamily="34" charset="-122"/>
                <a:cs typeface="Cambria" pitchFamily="34" charset="-120"/>
              </a:rPr>
              <a:t>Geri dönüşüm kutusu yok</a:t>
            </a:r>
            <a:endParaRPr lang="tr-TR"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rm, unlinkat() çağırır. Bağlantı sayısı 0 olunca bloklar serbest kalır ve kısa sürede yeniden kullanılır. Masaüstündeki Çöp Kutusu çekirdeğin değil, dosya yöneticisinin özelliğidir.</a:t>
            </a:r>
            <a:endParaRPr lang="tr-TR" sz="145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Silmeden önce bakın</a:t>
            </a:r>
            <a:endParaRPr lang="tr-TR"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Aynı kalıbı önce ls (ya da echo) ile çalıştırın:</a:t>
            </a:r>
            <a:endParaRPr lang="tr-TR" sz="1450" dirty="0"/>
          </a:p>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ls *.tmp   →   rm *.tmp</a:t>
            </a:r>
            <a:endParaRPr lang="tr-TR" sz="1450" dirty="0"/>
          </a:p>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Nerede olduğunuzu pwd ile denetleyin.</a:t>
            </a:r>
            <a:endParaRPr lang="tr-TR" sz="145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Emin değilseniz sorsun</a:t>
            </a:r>
            <a:endParaRPr lang="tr-TR"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rm -i, rm -ri, cp -i, mv -i her silme ya da üzerine yazmadan önce sorar. y ya da n yanıtını verin.</a:t>
            </a:r>
            <a:endParaRPr lang="tr-TR" sz="145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tr-TR" sz="1600" b="1" dirty="0">
                <a:solidFill>
                  <a:srgbClr val="B5453A"/>
                </a:solidFill>
                <a:latin typeface="Cambria" pitchFamily="34" charset="0"/>
                <a:ea typeface="Cambria" pitchFamily="34" charset="-122"/>
                <a:cs typeface="Cambria" pitchFamily="34" charset="-120"/>
              </a:rPr>
              <a:t>Bir boşluk fazla</a:t>
            </a:r>
            <a:endParaRPr lang="tr-TR"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rm -r ~/lab /old   (yazım hatası: boşluk)</a:t>
            </a:r>
            <a:endParaRPr lang="tr-TR" sz="1450" dirty="0"/>
          </a:p>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~/lab'ı siler VE /old'u dener.</a:t>
            </a:r>
            <a:endParaRPr lang="tr-TR" sz="1450" dirty="0"/>
          </a:p>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rm -rf hiç sormaz — sudo ile sistemi yok edebilir.</a:t>
            </a:r>
            <a:endParaRPr lang="tr-TR" sz="14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Güvenli alışkanlık: pwd → kalıbı ls ile dene → rm. Gerçek tek "geri al" yedektir.</a:t>
            </a:r>
            <a:endParaRPr lang="tr-T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 TABLO 1</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Oluşturma, Kopyalama, Taşıma, Silme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16</a:t>
            </a:r>
            <a:endParaRPr lang="tr-TR"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468880"/>
                <a:gridCol w="4343400"/>
                <a:gridCol w="429768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Ne yapar</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Yararlı seçenekler</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mkdir dir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dizin oluşturur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  bütün yol, varsa hata yok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touch file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boş dosya oluşturur / zamanlarını günceller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 "2026-01-15 09:30"  zaman ayarla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cp src dst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dosya kopyalar (yeni düğüm)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-r  dizinler   -i  sor   -v  ayrıntılı   -p  zamanları koru</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mv src dst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yeniden adlandırır ya da taşır (düğüm aynı)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  üzerine yazmadan sor   -v  ayrıntılı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rm file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adları siler — geri alma yok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  sor   -r  özyinelemeli   -v  ayrıntılı   -f  zorla (!)</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rmdir dir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boş bir dizini siler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  boş üst dizinleri de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Dördünün ortak kalıbı: komut  -seçenekler  kaynaklar…  hedef. Birden çok kaynak varsa hedef var olan bir dizin olmalıdır.</a:t>
            </a:r>
            <a:endParaRPr lang="tr-T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joker karakterler ve süslü parantezler, boşluklu adlar, dosyaların içine bakmak, bağlantılar — ve laboratuvar.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17</a:t>
            </a:r>
            <a:endParaRPr lang="tr-TR"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Joker Karakterler, Süslü Parantezler, Tırnaklama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Aynı anda çok sayıda dosyayla — ve zor adlarla — çalışmak.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18</a:t>
            </a:r>
            <a:endParaRPr lang="tr-TR"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GLOB GENİŞLETME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 Karakterini Kim Genişletir? Komut Değil, Kabuk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19</a:t>
            </a:r>
            <a:endParaRPr lang="tr-TR" sz="900" dirty="0"/>
          </a:p>
        </p:txBody>
      </p:sp>
      <p:sp>
        <p:nvSpPr>
          <p:cNvPr id="6" name="Shape 4"/>
          <p:cNvSpPr/>
          <p:nvPr/>
        </p:nvSpPr>
        <p:spPr>
          <a:xfrm>
            <a:off x="548640" y="1600200"/>
            <a:ext cx="2514600" cy="1234440"/>
          </a:xfrm>
          <a:prstGeom prst="roundRect">
            <a:avLst>
              <a:gd name="adj" fmla="val 3704"/>
            </a:avLst>
          </a:prstGeom>
          <a:solidFill>
            <a:srgbClr val="F2F2F2"/>
          </a:solidFill>
          <a:ln/>
        </p:spPr>
      </p:sp>
      <p:sp>
        <p:nvSpPr>
          <p:cNvPr id="7" name="Text 5"/>
          <p:cNvSpPr txBox="1"/>
          <p:nvPr/>
        </p:nvSpPr>
        <p:spPr>
          <a:xfrm>
            <a:off x="548640" y="1600200"/>
            <a:ext cx="2514600" cy="123444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Siz yazarsınız</a:t>
            </a:r>
            <a:endParaRPr lang="tr-TR" sz="1400" dirty="0"/>
          </a:p>
          <a:p>
            <a:pPr algn="ctr" indent="0" marL="0">
              <a:buNone/>
            </a:pPr>
            <a:r>
              <a:rPr lang="tr-TR" sz="1250" dirty="0">
                <a:solidFill>
                  <a:srgbClr val="36454F"/>
                </a:solidFill>
                <a:latin typeface="Calibri" pitchFamily="34" charset="0"/>
                <a:ea typeface="Calibri" pitchFamily="34" charset="-122"/>
                <a:cs typeface="Calibri" pitchFamily="34" charset="-120"/>
              </a:rPr>
              <a:t>ls *.jpg</a:t>
            </a:r>
            <a:endParaRPr lang="tr-TR" sz="1400" dirty="0"/>
          </a:p>
        </p:txBody>
      </p:sp>
      <p:sp>
        <p:nvSpPr>
          <p:cNvPr id="8" name="Shape 6"/>
          <p:cNvSpPr/>
          <p:nvPr/>
        </p:nvSpPr>
        <p:spPr>
          <a:xfrm>
            <a:off x="3081528" y="2217420"/>
            <a:ext cx="310896" cy="91"/>
          </a:xfrm>
          <a:prstGeom prst="line">
            <a:avLst/>
          </a:prstGeom>
          <a:noFill/>
          <a:ln w="25400">
            <a:solidFill>
              <a:srgbClr val="028090"/>
            </a:solidFill>
            <a:prstDash val="solid"/>
            <a:tailEnd type="triangle"/>
          </a:ln>
        </p:spPr>
      </p:sp>
      <p:sp>
        <p:nvSpPr>
          <p:cNvPr id="9" name="Shape 7"/>
          <p:cNvSpPr/>
          <p:nvPr/>
        </p:nvSpPr>
        <p:spPr>
          <a:xfrm>
            <a:off x="3410712" y="1600200"/>
            <a:ext cx="2514600" cy="1234440"/>
          </a:xfrm>
          <a:prstGeom prst="roundRect">
            <a:avLst>
              <a:gd name="adj" fmla="val 3704"/>
            </a:avLst>
          </a:prstGeom>
          <a:solidFill>
            <a:srgbClr val="D7E9E6"/>
          </a:solidFill>
          <a:ln/>
        </p:spPr>
      </p:sp>
      <p:sp>
        <p:nvSpPr>
          <p:cNvPr id="10" name="Text 8"/>
          <p:cNvSpPr txBox="1"/>
          <p:nvPr/>
        </p:nvSpPr>
        <p:spPr>
          <a:xfrm>
            <a:off x="3410712" y="1600200"/>
            <a:ext cx="2514600" cy="123444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bash genişletir</a:t>
            </a:r>
            <a:endParaRPr lang="tr-TR" sz="1400" dirty="0"/>
          </a:p>
          <a:p>
            <a:pPr algn="ctr" indent="0" marL="0">
              <a:buNone/>
            </a:pPr>
            <a:r>
              <a:rPr lang="tr-TR" sz="1250" dirty="0">
                <a:solidFill>
                  <a:srgbClr val="36454F"/>
                </a:solidFill>
                <a:latin typeface="Calibri" pitchFamily="34" charset="0"/>
                <a:ea typeface="Calibri" pitchFamily="34" charset="-122"/>
                <a:cs typeface="Calibri" pitchFamily="34" charset="-120"/>
              </a:rPr>
              <a:t>dizini okur, *.jpg yerine eşleşen adları koyar</a:t>
            </a:r>
            <a:endParaRPr lang="tr-TR" sz="1400" dirty="0"/>
          </a:p>
        </p:txBody>
      </p:sp>
      <p:sp>
        <p:nvSpPr>
          <p:cNvPr id="11" name="Shape 9"/>
          <p:cNvSpPr/>
          <p:nvPr/>
        </p:nvSpPr>
        <p:spPr>
          <a:xfrm>
            <a:off x="5943600" y="2217420"/>
            <a:ext cx="310896" cy="91"/>
          </a:xfrm>
          <a:prstGeom prst="line">
            <a:avLst/>
          </a:prstGeom>
          <a:noFill/>
          <a:ln w="25400">
            <a:solidFill>
              <a:srgbClr val="028090"/>
            </a:solidFill>
            <a:prstDash val="solid"/>
            <a:tailEnd type="triangle"/>
          </a:ln>
        </p:spPr>
      </p:sp>
      <p:sp>
        <p:nvSpPr>
          <p:cNvPr id="12" name="Shape 10"/>
          <p:cNvSpPr/>
          <p:nvPr/>
        </p:nvSpPr>
        <p:spPr>
          <a:xfrm>
            <a:off x="6272784" y="1600200"/>
            <a:ext cx="2514600" cy="1234440"/>
          </a:xfrm>
          <a:prstGeom prst="roundRect">
            <a:avLst>
              <a:gd name="adj" fmla="val 3704"/>
            </a:avLst>
          </a:prstGeom>
          <a:solidFill>
            <a:srgbClr val="F2F2F2"/>
          </a:solidFill>
          <a:ln/>
        </p:spPr>
      </p:sp>
      <p:sp>
        <p:nvSpPr>
          <p:cNvPr id="13" name="Text 11"/>
          <p:cNvSpPr txBox="1"/>
          <p:nvPr/>
        </p:nvSpPr>
        <p:spPr>
          <a:xfrm>
            <a:off x="6272784" y="1600200"/>
            <a:ext cx="2514600" cy="123444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ls şunu alır</a:t>
            </a:r>
            <a:endParaRPr lang="tr-TR" sz="1400" dirty="0"/>
          </a:p>
          <a:p>
            <a:pPr algn="ctr" indent="0" marL="0">
              <a:buNone/>
            </a:pPr>
            <a:r>
              <a:rPr lang="tr-TR" sz="1250" dirty="0">
                <a:solidFill>
                  <a:srgbClr val="36454F"/>
                </a:solidFill>
                <a:latin typeface="Calibri" pitchFamily="34" charset="0"/>
                <a:ea typeface="Calibri" pitchFamily="34" charset="-122"/>
                <a:cs typeface="Calibri" pitchFamily="34" charset="-120"/>
              </a:rPr>
              <a:t>12 argüman:</a:t>
            </a:r>
            <a:endParaRPr lang="tr-TR" sz="1400" dirty="0"/>
          </a:p>
          <a:p>
            <a:pPr algn="ctr" indent="0" marL="0">
              <a:buNone/>
            </a:pPr>
            <a:r>
              <a:rPr lang="tr-TR" sz="1250" dirty="0">
                <a:solidFill>
                  <a:srgbClr val="36454F"/>
                </a:solidFill>
                <a:latin typeface="Calibri" pitchFamily="34" charset="0"/>
                <a:ea typeface="Calibri" pitchFamily="34" charset="-122"/>
                <a:cs typeface="Calibri" pitchFamily="34" charset="-120"/>
              </a:rPr>
              <a:t>img001.jpg … img012.jpg</a:t>
            </a:r>
            <a:endParaRPr lang="tr-TR" sz="1400" dirty="0"/>
          </a:p>
        </p:txBody>
      </p:sp>
      <p:sp>
        <p:nvSpPr>
          <p:cNvPr id="14" name="Shape 12"/>
          <p:cNvSpPr/>
          <p:nvPr/>
        </p:nvSpPr>
        <p:spPr>
          <a:xfrm>
            <a:off x="8805672" y="2217420"/>
            <a:ext cx="310896" cy="91"/>
          </a:xfrm>
          <a:prstGeom prst="line">
            <a:avLst/>
          </a:prstGeom>
          <a:noFill/>
          <a:ln w="25400">
            <a:solidFill>
              <a:srgbClr val="028090"/>
            </a:solidFill>
            <a:prstDash val="solid"/>
            <a:tailEnd type="triangle"/>
          </a:ln>
        </p:spPr>
      </p:sp>
      <p:sp>
        <p:nvSpPr>
          <p:cNvPr id="15" name="Shape 13"/>
          <p:cNvSpPr/>
          <p:nvPr/>
        </p:nvSpPr>
        <p:spPr>
          <a:xfrm>
            <a:off x="9134856" y="1600200"/>
            <a:ext cx="2514600" cy="1234440"/>
          </a:xfrm>
          <a:prstGeom prst="roundRect">
            <a:avLst>
              <a:gd name="adj" fmla="val 3704"/>
            </a:avLst>
          </a:prstGeom>
          <a:solidFill>
            <a:srgbClr val="36454F"/>
          </a:solidFill>
          <a:ln/>
        </p:spPr>
      </p:sp>
      <p:sp>
        <p:nvSpPr>
          <p:cNvPr id="16" name="Text 14"/>
          <p:cNvSpPr txBox="1"/>
          <p:nvPr/>
        </p:nvSpPr>
        <p:spPr>
          <a:xfrm>
            <a:off x="9134856" y="1600200"/>
            <a:ext cx="2514600" cy="123444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çekirdek</a:t>
            </a:r>
            <a:endParaRPr lang="tr-TR" sz="1400" dirty="0"/>
          </a:p>
          <a:p>
            <a:pPr algn="ctr" indent="0" marL="0">
              <a:buNone/>
            </a:pPr>
            <a:r>
              <a:rPr lang="tr-TR" sz="1250" dirty="0">
                <a:solidFill>
                  <a:srgbClr val="FFFFFF"/>
                </a:solidFill>
                <a:latin typeface="Calibri" pitchFamily="34" charset="0"/>
                <a:ea typeface="Calibri" pitchFamily="34" charset="-122"/>
                <a:cs typeface="Calibri" pitchFamily="34" charset="-120"/>
              </a:rPr>
              <a:t>execve("/usr/bin/ls", …) ls'yi bu argümanlarla başlatır</a:t>
            </a:r>
            <a:endParaRPr lang="tr-TR" sz="1400" dirty="0"/>
          </a:p>
        </p:txBody>
      </p:sp>
      <p:sp>
        <p:nvSpPr>
          <p:cNvPr id="17" name="Shape 15"/>
          <p:cNvSpPr/>
          <p:nvPr/>
        </p:nvSpPr>
        <p:spPr>
          <a:xfrm>
            <a:off x="548640" y="3108960"/>
            <a:ext cx="5394960" cy="1783080"/>
          </a:xfrm>
          <a:prstGeom prst="roundRect">
            <a:avLst>
              <a:gd name="adj" fmla="val 2564"/>
            </a:avLst>
          </a:prstGeom>
          <a:solidFill>
            <a:srgbClr val="212121"/>
          </a:solidFill>
          <a:ln/>
        </p:spPr>
      </p:sp>
      <p:sp>
        <p:nvSpPr>
          <p:cNvPr id="18" name="Text 16"/>
          <p:cNvSpPr txBox="1"/>
          <p:nvPr/>
        </p:nvSpPr>
        <p:spPr>
          <a:xfrm>
            <a:off x="731520" y="3218688"/>
            <a:ext cx="5029200" cy="15636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student@okan-lab:~/lab/photos$ </a:t>
            </a:r>
            <a:r>
              <a:rPr lang="tr-TR" sz="1150" b="1" dirty="0">
                <a:solidFill>
                  <a:srgbClr val="FFFFFF"/>
                </a:solidFill>
                <a:latin typeface="Consolas" pitchFamily="34" charset="0"/>
                <a:ea typeface="Consolas" pitchFamily="34" charset="-122"/>
                <a:cs typeface="Consolas" pitchFamily="34" charset="-120"/>
              </a:rPr>
              <a:t>echo *.png</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img013.png</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student@okan-lab:~/lab/photos$ </a:t>
            </a:r>
            <a:r>
              <a:rPr lang="tr-TR" sz="1150" b="1" dirty="0">
                <a:solidFill>
                  <a:srgbClr val="FFFFFF"/>
                </a:solidFill>
                <a:latin typeface="Consolas" pitchFamily="34" charset="0"/>
                <a:ea typeface="Consolas" pitchFamily="34" charset="-122"/>
                <a:cs typeface="Consolas" pitchFamily="34" charset="-120"/>
              </a:rPr>
              <a:t>echo *.gif</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*.gif</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ls junk*</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ls: cannot access 'junk*': No such file or directory</a:t>
            </a:r>
            <a:endParaRPr lang="tr-TR" sz="1150" dirty="0"/>
          </a:p>
        </p:txBody>
      </p:sp>
      <p:sp>
        <p:nvSpPr>
          <p:cNvPr id="19" name="Shape 17"/>
          <p:cNvSpPr/>
          <p:nvPr/>
        </p:nvSpPr>
        <p:spPr>
          <a:xfrm>
            <a:off x="6217920" y="310896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6446520" y="32918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Sonuçları</a:t>
            </a:r>
            <a:endParaRPr lang="tr-TR" sz="1500" dirty="0"/>
          </a:p>
        </p:txBody>
      </p:sp>
      <p:sp>
        <p:nvSpPr>
          <p:cNvPr id="21" name="Text 19"/>
          <p:cNvSpPr txBox="1"/>
          <p:nvPr/>
        </p:nvSpPr>
        <p:spPr>
          <a:xfrm>
            <a:off x="6446520" y="374904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echo, bir komutun neyi alacağını gösterir.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Her komut joker karakterleri "destekler" — onları hiç görmez.</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Eşleşme yoksa bash kalıbı olduğu gibi bırakır; ls de adı tam olarak junk* olan bir dosya arar.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Kalıplar içerikle değil adlarla eşleşir; * gizli adları (. ile başlayan) atlar.</a:t>
            </a:r>
            <a:endParaRPr lang="tr-TR" sz="1350" dirty="0"/>
          </a:p>
        </p:txBody>
      </p:sp>
      <p:sp>
        <p:nvSpPr>
          <p:cNvPr id="22" name="Shape 20"/>
          <p:cNvSpPr/>
          <p:nvPr/>
        </p:nvSpPr>
        <p:spPr>
          <a:xfrm>
            <a:off x="548640" y="5074920"/>
            <a:ext cx="5394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777240" y="5074920"/>
            <a:ext cx="4937760" cy="118872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3. haftayla bağlantı: bash genişletir, sonra fork() + exec() ls'yi hazır argüman listesiyle başlatır.</a:t>
            </a:r>
            <a:endParaRPr lang="tr-TR"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GLOB GENİŞLETME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Joker Karakter Kalıpları (~/lab/photos içinde)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20</a:t>
            </a:r>
            <a:endParaRPr lang="tr-TR"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280160"/>
                <a:gridCol w="3108960"/>
                <a:gridCol w="2194560"/>
                <a:gridCol w="452628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Kalıp</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Eşleşir</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Örnek</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Sonuç (gerçek)</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herhangi bir dizgi, boş dizgi de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12 ad: img001.jpg … img012.jpg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tam olarak bir karakter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img00?.jpg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9 ad: img001.jpg … img009.jpg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[0-2]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bir aralıktan bir karakter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img01[0-2].jpg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img010.jpg  img011.jpg  img012.jpg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[135]</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listelenen karakterlerden biri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img00[135].jpg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img001.jpg  img003.jpg  img005.jpg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[jJ]</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bir harfin küçük ya da büyüğü</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*.[jJ][pP]*</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12 .jpg, holiday.jpeg, IMG_014.JPG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[!0-9]</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kümede OLMAYAN bir karakter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img010.jpg … img013.png</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Linux adları büyük/küçük harfe duyarlıdır: *.jpg, IMG_014.JPG ile eşleşmez. Baştaki . (gizli ad) açıkça yazılmalıdır: .*</a:t>
            </a:r>
            <a:endParaRPr lang="tr-T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Joker Karakterler İş Başında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21</a:t>
            </a:r>
            <a:endParaRPr lang="tr-TR" sz="900" dirty="0"/>
          </a:p>
        </p:txBody>
      </p:sp>
      <p:sp>
        <p:nvSpPr>
          <p:cNvPr id="6" name="Shape 4"/>
          <p:cNvSpPr/>
          <p:nvPr/>
        </p:nvSpPr>
        <p:spPr>
          <a:xfrm>
            <a:off x="548640" y="1508760"/>
            <a:ext cx="7315200" cy="4754880"/>
          </a:xfrm>
          <a:prstGeom prst="roundRect">
            <a:avLst>
              <a:gd name="adj" fmla="val 962"/>
            </a:avLst>
          </a:prstGeom>
          <a:solidFill>
            <a:srgbClr val="212121"/>
          </a:solidFill>
          <a:ln/>
        </p:spPr>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cd photos</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IMG_014.JPG   img002.jpg  img005.jpg  img008.jpg  img011.jpg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holiday.jpeg  img003.jpg  img006.jpg  img009.jpg  img012.jpg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img001.jpg    img004.jpg  img007.jpg  img010.jpg  img013.png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 *.jpg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img001.jpg  img003.jpg  img005.jpg  img007.jpg  img009.jpg  img011.jpg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img002.jpg  img004.jpg  img006.jpg  img008.jpg  img010.jpg  img012.jpg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 img00?.jpg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img001.jpg  img003.jpg  img005.jpg  img007.jpg  img009.jpg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img002.jpg  img004.jpg  img006.jpg  img008.jpg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 img01[0-2].jpg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img010.jpg  img011.jpg  img012.jpg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 img00[135].jpg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img001.jpg  img003.jpg  img005.jpg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ls *.[jJ][pP]*</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IMG_014.JPG   img002.jpg  img005.jpg  img008.jpg  img011.jpg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holiday.jpeg  img003.jpg  img006.jpg  img009.jpg  img012.jpg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img001.jpg    img004.jpg  img007.jpg  img010.jpg</a:t>
            </a:r>
            <a:endParaRPr lang="tr-TR" sz="110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Terminalde ls, ada göre sıralı sütunlar yazar.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LC_ALL=C.UTF-8 ile büyük harfler önce gelir: IMG_014.JPG en üsttedir.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img00?, img001 … img009 ile eşleşir ama img010 ile eşleşmez.</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Bir kalıbı rm ya da mv ile kullanmadan önce mutlaka ls ile deneyin.</a:t>
            </a:r>
            <a:endParaRPr lang="tr-TR"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Eşleşme Yok, Tırnaklar ve Süslü Parantez Genişletmesi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22</a:t>
            </a:r>
            <a:endParaRPr lang="tr-TR" sz="900" dirty="0"/>
          </a:p>
        </p:txBody>
      </p:sp>
      <p:sp>
        <p:nvSpPr>
          <p:cNvPr id="6" name="Shape 4"/>
          <p:cNvSpPr/>
          <p:nvPr/>
        </p:nvSpPr>
        <p:spPr>
          <a:xfrm>
            <a:off x="548640" y="1508760"/>
            <a:ext cx="7315200" cy="4754880"/>
          </a:xfrm>
          <a:prstGeom prst="roundRect">
            <a:avLst>
              <a:gd name="adj" fmla="val 962"/>
            </a:avLst>
          </a:prstGeom>
          <a:solidFill>
            <a:srgbClr val="212121"/>
          </a:solidFill>
          <a:ln/>
        </p:spPr>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echo *.gif</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*.gif</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echo "*.jpg"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echo {1..5}</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1 2 3 4 5</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echo img{01..03}.jpg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img01.jpg img02.jpg img03.jpg</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echo report_{draft,final}.txt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report_draft.txt report_final.txt</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mkdir -p ../trip/{day1,day2,day3}/{photos,notes}</a:t>
            </a:r>
            <a:endParaRPr lang="tr-TR" sz="1100" dirty="0"/>
          </a:p>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student@okan-lab:~/lab/photos$ </a:t>
            </a:r>
            <a:r>
              <a:rPr lang="tr-TR" sz="1100" b="1" dirty="0">
                <a:solidFill>
                  <a:srgbClr val="FFFFFF"/>
                </a:solidFill>
                <a:latin typeface="Consolas" pitchFamily="34" charset="0"/>
                <a:ea typeface="Consolas" pitchFamily="34" charset="-122"/>
                <a:cs typeface="Consolas" pitchFamily="34" charset="-120"/>
              </a:rPr>
              <a:t>tree ../trip</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../trip</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day1</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notes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photos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day2</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notes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photos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day3</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notes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 photos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10 directories, 0 files</a:t>
            </a:r>
            <a:endParaRPr lang="tr-TR" sz="1100" dirty="0"/>
          </a:p>
        </p:txBody>
      </p:sp>
      <p:sp>
        <p:nvSpPr>
          <p:cNvPr id="8" name="Shape 6"/>
          <p:cNvSpPr/>
          <p:nvPr/>
        </p:nvSpPr>
        <p:spPr>
          <a:xfrm>
            <a:off x="8138160" y="1508760"/>
            <a:ext cx="3520440" cy="475488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366760" y="2148840"/>
            <a:ext cx="306324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Tırnaklar</a:t>
            </a:r>
            <a:r>
              <a:rPr lang="tr-TR" sz="1350" dirty="0">
                <a:solidFill>
                  <a:srgbClr val="3A464C"/>
                </a:solidFill>
                <a:latin typeface="Calibri" pitchFamily="34" charset="0"/>
                <a:ea typeface="Calibri" pitchFamily="34" charset="-122"/>
                <a:cs typeface="Calibri" pitchFamily="34" charset="-120"/>
              </a:rPr>
              <a:t> genişletmeyi kapatır.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{a,b}:</a:t>
            </a:r>
            <a:r>
              <a:rPr lang="tr-TR" sz="1350" dirty="0">
                <a:solidFill>
                  <a:srgbClr val="3A464C"/>
                </a:solidFill>
                <a:latin typeface="Calibri" pitchFamily="34" charset="0"/>
                <a:ea typeface="Calibri" pitchFamily="34" charset="-122"/>
                <a:cs typeface="Calibri" pitchFamily="34" charset="-120"/>
              </a:rPr>
              <a:t> bir liste.  {1..5}: bir aralık.</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{01..03}:</a:t>
            </a:r>
            <a:r>
              <a:rPr lang="tr-TR" sz="1350" dirty="0">
                <a:solidFill>
                  <a:srgbClr val="3A464C"/>
                </a:solidFill>
                <a:latin typeface="Calibri" pitchFamily="34" charset="0"/>
                <a:ea typeface="Calibri" pitchFamily="34" charset="-122"/>
                <a:cs typeface="Calibri" pitchFamily="34" charset="-120"/>
              </a:rPr>
              <a:t> başı sıfırla doldurulmuş sayılar.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Çarpım:</a:t>
            </a:r>
            <a:r>
              <a:rPr lang="tr-TR" sz="1350" dirty="0">
                <a:solidFill>
                  <a:srgbClr val="3A464C"/>
                </a:solidFill>
                <a:latin typeface="Calibri" pitchFamily="34" charset="0"/>
                <a:ea typeface="Calibri" pitchFamily="34" charset="-122"/>
                <a:cs typeface="Calibri" pitchFamily="34" charset="-120"/>
              </a:rPr>
              <a:t> {day1,day2,day3}/{photos,notes} 3 × 2 = 6 dizin verir; trip ve 3 günle tree 10 sayar.</a:t>
            </a:r>
            <a:endParaRPr lang="tr-TR"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İKİ GENİŞLETME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Joker Karakterler ve Süslü Parantezler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23</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Joker karakterler  *  ?  [ ]</a:t>
            </a:r>
            <a:endParaRPr lang="tr-TR"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dizinde zaten var olan adlarla eşleşir.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Sonuçlar alfabetik sıralanır.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Eşleşme yoksa kalıp değişmeden kalır.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Tipik kullanım: çok sayıda var olan dosyada ls, cp, mv, rm.</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Örnek: mv *.png png/</a:t>
            </a:r>
            <a:endParaRPr lang="tr-TR"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Süslü parantezler  { , }  {1..5}</a:t>
            </a:r>
            <a:endParaRPr lang="tr-TR"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Dizgi üretir — dosyaların var olması gerekmez.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Sıra tam olarak yazıldığı gibi korunur.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Birden çok parantez çarpılır: {a,b}{1,2} → a1 a2 b1 b2.</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Tipik kullanım: mkdir, touch, çok sayıda yeni ad oluşturmak.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Örnek: mkdir -p week{01..14}</a:t>
            </a:r>
            <a:endParaRPr lang="tr-TR"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İkisini de bash, komut başlamadan önce yapar — ve ikisi de tırnaklarla ('…' ya da "…") kapatılır.</a:t>
            </a:r>
            <a:endParaRPr lang="tr-T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Boşluklu Adlar: Tırnak ya da Kaçış</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24</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ls docs</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'final report.txt'   notes_01.txt   notes_03.txt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 linux_quotes.txt    notes_02.txt   syllabus.txt</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cat docs/final report.txt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cat: docs/final: No such file or directory</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cat: report.txt: No such file or directory</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cat "docs/final report.txt"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Final report draft.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This file name contains a space.</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cat 'docs/final report.txt'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Final report draft.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This file name contains a space.</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cat docs/final\ report.txt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Final report draft.</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This file name contains a space.</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mkdir my photos</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mkdir: cannot create directory ‘photos’: File exists</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mkdir "my photos"</a:t>
            </a:r>
            <a:endParaRPr lang="tr-TR" sz="1250" dirty="0"/>
          </a:p>
          <a:p>
            <a:pPr indent="0" marL="0">
              <a:lnSpc>
                <a:spcPct val="100000"/>
              </a:lnSpc>
              <a:buNone/>
            </a:pPr>
            <a:r>
              <a:rPr lang="tr-TR" sz="1250" dirty="0">
                <a:solidFill>
                  <a:srgbClr val="02C39A"/>
                </a:solidFill>
                <a:latin typeface="Consolas" pitchFamily="34" charset="0"/>
                <a:ea typeface="Consolas" pitchFamily="34" charset="-122"/>
                <a:cs typeface="Consolas" pitchFamily="34" charset="-120"/>
              </a:rPr>
              <a:t>student@okan-lab:~/lab$ </a:t>
            </a:r>
            <a:r>
              <a:rPr lang="tr-TR" sz="1250" b="1" dirty="0">
                <a:solidFill>
                  <a:srgbClr val="FFFFFF"/>
                </a:solidFill>
                <a:latin typeface="Consolas" pitchFamily="34" charset="0"/>
                <a:ea typeface="Consolas" pitchFamily="34" charset="-122"/>
                <a:cs typeface="Consolas" pitchFamily="34" charset="-120"/>
              </a:rPr>
              <a:t>ls -d my*</a:t>
            </a:r>
            <a:endParaRPr lang="tr-TR" sz="1250" dirty="0"/>
          </a:p>
          <a:p>
            <a:pPr indent="0" marL="0">
              <a:lnSpc>
                <a:spcPct val="100000"/>
              </a:lnSpc>
              <a:buNone/>
            </a:pPr>
            <a:r>
              <a:rPr lang="tr-TR" sz="1250" dirty="0">
                <a:solidFill>
                  <a:srgbClr val="F2F2F2"/>
                </a:solidFill>
                <a:latin typeface="Consolas" pitchFamily="34" charset="0"/>
                <a:ea typeface="Consolas" pitchFamily="34" charset="-122"/>
                <a:cs typeface="Consolas" pitchFamily="34" charset="-120"/>
              </a:rPr>
              <a:t> my  'my photos'</a:t>
            </a:r>
            <a:endParaRPr lang="tr-TR" sz="12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Boşluk argümanları ayırır: cat İKİ ad aldı.</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 ya da '…':</a:t>
            </a:r>
            <a:r>
              <a:rPr lang="tr-TR" sz="1300" dirty="0">
                <a:solidFill>
                  <a:srgbClr val="3A464C"/>
                </a:solidFill>
                <a:latin typeface="Calibri" pitchFamily="34" charset="0"/>
                <a:ea typeface="Calibri" pitchFamily="34" charset="-122"/>
                <a:cs typeface="Calibri" pitchFamily="34" charset="-120"/>
              </a:rPr>
              <a:t> tek argüman.</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 (ters eğik çizgi):</a:t>
            </a:r>
            <a:r>
              <a:rPr lang="tr-TR" sz="1300" dirty="0">
                <a:solidFill>
                  <a:srgbClr val="3A464C"/>
                </a:solidFill>
                <a:latin typeface="Calibri" pitchFamily="34" charset="0"/>
                <a:ea typeface="Calibri" pitchFamily="34" charset="-122"/>
                <a:cs typeface="Calibri" pitchFamily="34" charset="-120"/>
              </a:rPr>
              <a:t> sonraki karakteri kaçışlar.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Tab tamamlama ters eğik çizgiyi sizin için ekler.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mkdir my photos, "my"yi oluşturdu, "photos"ta başarısız oldu.</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İpucu:</a:t>
            </a:r>
            <a:r>
              <a:rPr lang="tr-TR" sz="1300" dirty="0">
                <a:solidFill>
                  <a:srgbClr val="3A464C"/>
                </a:solidFill>
                <a:latin typeface="Calibri" pitchFamily="34" charset="0"/>
                <a:ea typeface="Calibri" pitchFamily="34" charset="-122"/>
                <a:cs typeface="Calibri" pitchFamily="34" charset="-120"/>
              </a:rPr>
              <a:t> kendi adlarınızda boşluk yerine _ ya da - kullanın.</a:t>
            </a:r>
            <a:endParaRPr lang="tr-TR"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4</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Dosyaların İçine Bakmak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cat · less · head · tail · wc · file · stat · du · df</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25</a:t>
            </a:r>
            <a:endParaRPr lang="tr-TR"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cat, head ve tail</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26</a:t>
            </a:r>
            <a:endParaRPr lang="tr-TR" sz="900" dirty="0"/>
          </a:p>
        </p:txBody>
      </p:sp>
      <p:sp>
        <p:nvSpPr>
          <p:cNvPr id="6" name="Shape 4"/>
          <p:cNvSpPr/>
          <p:nvPr/>
        </p:nvSpPr>
        <p:spPr>
          <a:xfrm>
            <a:off x="548640" y="1508760"/>
            <a:ext cx="7589520" cy="4754880"/>
          </a:xfrm>
          <a:prstGeom prst="roundRect">
            <a:avLst>
              <a:gd name="adj" fmla="val 962"/>
            </a:avLst>
          </a:prstGeom>
          <a:solidFill>
            <a:srgbClr val="212121"/>
          </a:solidFill>
          <a:ln/>
        </p:spPr>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cat docs/linux_quotes.txt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Talk is cheap. Show me the code.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Given enough eyeballs, all bugs are shallow.</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Most good programmers do programming not because they expect to get paid.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Theory and practice sometimes clash. And when that happens, theory loses.</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Intelligence is the ability to avoid doing work, yet getting the work done.</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cat -n docs/notes_01.txt docs/notes_02.txt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1  Meeting notes 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2  Meeting notes 2</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head -n 3 data/students.csv</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id,name,department,midterm,final</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2026001,Elif Yilmaz,ECT,96,99</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2026002,Zeynep Dogan,ME,95,36</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tail -n 3 logs/system.log</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2026-10-12 14:27:00 INFO  user login</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2026-10-12 14:38:00 INFO  backup finished</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2026-10-12 14:49:00 INFO  network link up</a:t>
            </a:r>
            <a:endParaRPr lang="tr-TR"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cat:</a:t>
            </a:r>
            <a:r>
              <a:rPr lang="tr-TR" sz="1300" dirty="0">
                <a:solidFill>
                  <a:srgbClr val="3A464C"/>
                </a:solidFill>
                <a:latin typeface="Calibri" pitchFamily="34" charset="0"/>
                <a:ea typeface="Calibri" pitchFamily="34" charset="-122"/>
                <a:cs typeface="Calibri" pitchFamily="34" charset="-120"/>
              </a:rPr>
              <a:t> dosyaların tamamını yazar; birden çok dosyayı art arda ekler (concatenate).</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-n:</a:t>
            </a:r>
            <a:r>
              <a:rPr lang="tr-TR" sz="1300" dirty="0">
                <a:solidFill>
                  <a:srgbClr val="3A464C"/>
                </a:solidFill>
                <a:latin typeface="Calibri" pitchFamily="34" charset="0"/>
                <a:ea typeface="Calibri" pitchFamily="34" charset="-122"/>
                <a:cs typeface="Calibri" pitchFamily="34" charset="-120"/>
              </a:rPr>
              <a:t> satırları numaralar.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head / tail -n N:</a:t>
            </a:r>
            <a:r>
              <a:rPr lang="tr-TR" sz="1300" dirty="0">
                <a:solidFill>
                  <a:srgbClr val="3A464C"/>
                </a:solidFill>
                <a:latin typeface="Calibri" pitchFamily="34" charset="0"/>
                <a:ea typeface="Calibri" pitchFamily="34" charset="-122"/>
                <a:cs typeface="Calibri" pitchFamily="34" charset="-120"/>
              </a:rPr>
              <a:t> ilk / son N satır (varsayılan 10).</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Uzun dosyalarda cat ekrandan kayar gider: less kullanın.</a:t>
            </a:r>
            <a:endParaRPr lang="tr-TR"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tail -f ile Günlük İzlemek; less ile Sayfalamak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27</a:t>
            </a:r>
            <a:endParaRPr lang="tr-TR" sz="900" dirty="0"/>
          </a:p>
        </p:txBody>
      </p:sp>
      <p:sp>
        <p:nvSpPr>
          <p:cNvPr id="6" name="Text 4"/>
          <p:cNvSpPr txBox="1"/>
          <p:nvPr/>
        </p:nvSpPr>
        <p:spPr>
          <a:xfrm>
            <a:off x="548640" y="1481328"/>
            <a:ext cx="2743200" cy="292608"/>
          </a:xfrm>
          <a:prstGeom prst="rect">
            <a:avLst/>
          </a:prstGeom>
          <a:noFill/>
          <a:ln/>
        </p:spPr>
        <p:txBody>
          <a:bodyPr wrap="square" lIns="0" tIns="0" rIns="0" bIns="0" rtlCol="0" anchor="t"/>
          <a:lstStyle/>
          <a:p>
            <a:pPr indent="0" marL="0">
              <a:buNone/>
            </a:pPr>
            <a:r>
              <a:rPr lang="tr-TR" sz="1250" b="1" dirty="0">
                <a:solidFill>
                  <a:srgbClr val="028090"/>
                </a:solidFill>
                <a:latin typeface="Calibri" pitchFamily="34" charset="0"/>
                <a:ea typeface="Calibri" pitchFamily="34" charset="-122"/>
                <a:cs typeface="Calibri" pitchFamily="34" charset="-120"/>
              </a:rPr>
              <a:t>Terminal 1</a:t>
            </a:r>
            <a:endParaRPr lang="tr-TR" sz="1250" dirty="0"/>
          </a:p>
        </p:txBody>
      </p:sp>
      <p:sp>
        <p:nvSpPr>
          <p:cNvPr id="7" name="Shape 5"/>
          <p:cNvSpPr/>
          <p:nvPr/>
        </p:nvSpPr>
        <p:spPr>
          <a:xfrm>
            <a:off x="548640" y="1783080"/>
            <a:ext cx="6949440" cy="1737360"/>
          </a:xfrm>
          <a:prstGeom prst="roundRect">
            <a:avLst>
              <a:gd name="adj" fmla="val 2632"/>
            </a:avLst>
          </a:prstGeom>
          <a:solidFill>
            <a:srgbClr val="212121"/>
          </a:solidFill>
          <a:ln/>
        </p:spPr>
      </p:sp>
      <p:sp>
        <p:nvSpPr>
          <p:cNvPr id="8" name="Text 6"/>
          <p:cNvSpPr txBox="1"/>
          <p:nvPr/>
        </p:nvSpPr>
        <p:spPr>
          <a:xfrm>
            <a:off x="731520" y="1892808"/>
            <a:ext cx="6583680" cy="151790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tail -n 2 -f logs/system.log</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2026-10-12 14:38:00 INFO  backup finished</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2026-10-12 14:49:00 INFO  network link up</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2026-10-12 15:00:00 WARN  disk almost full</a:t>
            </a:r>
            <a:endParaRPr lang="tr-TR" sz="1100" dirty="0"/>
          </a:p>
          <a:p>
            <a:pPr indent="0" marL="0">
              <a:lnSpc>
                <a:spcPct val="100000"/>
              </a:lnSpc>
              <a:buNone/>
            </a:pPr>
            <a:r>
              <a:rPr lang="tr-TR" sz="1100" dirty="0">
                <a:solidFill>
                  <a:srgbClr val="8A9AA0"/>
                </a:solidFill>
                <a:latin typeface="Consolas" pitchFamily="34" charset="0"/>
                <a:ea typeface="Consolas" pitchFamily="34" charset="-122"/>
                <a:cs typeface="Consolas" pitchFamily="34" charset="-120"/>
              </a:rPr>
              <a:t>^C</a:t>
            </a:r>
            <a:endParaRPr lang="tr-TR" sz="1100" dirty="0"/>
          </a:p>
        </p:txBody>
      </p:sp>
      <p:sp>
        <p:nvSpPr>
          <p:cNvPr id="9" name="Text 7"/>
          <p:cNvSpPr txBox="1"/>
          <p:nvPr/>
        </p:nvSpPr>
        <p:spPr>
          <a:xfrm>
            <a:off x="548640" y="3657600"/>
            <a:ext cx="6949440" cy="292608"/>
          </a:xfrm>
          <a:prstGeom prst="rect">
            <a:avLst/>
          </a:prstGeom>
          <a:noFill/>
          <a:ln/>
        </p:spPr>
        <p:txBody>
          <a:bodyPr wrap="square" lIns="0" tIns="0" rIns="0" bIns="0" rtlCol="0" anchor="t"/>
          <a:lstStyle/>
          <a:p>
            <a:pPr indent="0" marL="0">
              <a:buNone/>
            </a:pPr>
            <a:r>
              <a:rPr lang="tr-TR" sz="1250" b="1" dirty="0">
                <a:solidFill>
                  <a:srgbClr val="028090"/>
                </a:solidFill>
                <a:latin typeface="Calibri" pitchFamily="34" charset="0"/>
                <a:ea typeface="Calibri" pitchFamily="34" charset="-122"/>
                <a:cs typeface="Calibri" pitchFamily="34" charset="-120"/>
              </a:rPr>
              <a:t>Terminal 2 (bu sırada bir program bir satır ekler)</a:t>
            </a:r>
            <a:endParaRPr lang="tr-TR" sz="1250" dirty="0"/>
          </a:p>
        </p:txBody>
      </p:sp>
      <p:sp>
        <p:nvSpPr>
          <p:cNvPr id="10" name="Shape 8"/>
          <p:cNvSpPr/>
          <p:nvPr/>
        </p:nvSpPr>
        <p:spPr>
          <a:xfrm>
            <a:off x="548640" y="3959352"/>
            <a:ext cx="6949440" cy="777240"/>
          </a:xfrm>
          <a:prstGeom prst="roundRect">
            <a:avLst>
              <a:gd name="adj" fmla="val 5882"/>
            </a:avLst>
          </a:prstGeom>
          <a:solidFill>
            <a:srgbClr val="212121"/>
          </a:solidFill>
          <a:ln/>
        </p:spPr>
      </p:sp>
      <p:sp>
        <p:nvSpPr>
          <p:cNvPr id="11" name="Text 9"/>
          <p:cNvSpPr txBox="1"/>
          <p:nvPr/>
        </p:nvSpPr>
        <p:spPr>
          <a:xfrm>
            <a:off x="731520" y="4069080"/>
            <a:ext cx="6583680" cy="557784"/>
          </a:xfrm>
          <a:prstGeom prst="rect">
            <a:avLst/>
          </a:prstGeom>
          <a:noFill/>
          <a:ln/>
        </p:spPr>
        <p:txBody>
          <a:bodyPr wrap="square" lIns="0" tIns="0" rIns="0" bIns="0" rtlCol="0" anchor="t"/>
          <a:lstStyle/>
          <a:p>
            <a:pPr indent="0" marL="0">
              <a:lnSpc>
                <a:spcPct val="100000"/>
              </a:lnSpc>
              <a:buNone/>
            </a:pPr>
            <a:r>
              <a:rPr lang="tr-TR" sz="900" dirty="0">
                <a:solidFill>
                  <a:srgbClr val="02C39A"/>
                </a:solidFill>
                <a:latin typeface="Consolas" pitchFamily="34" charset="0"/>
                <a:ea typeface="Consolas" pitchFamily="34" charset="-122"/>
                <a:cs typeface="Consolas" pitchFamily="34" charset="-120"/>
              </a:rPr>
              <a:t>student@okan-lab:~/lab$ </a:t>
            </a:r>
            <a:r>
              <a:rPr lang="tr-TR" sz="900" b="1" dirty="0">
                <a:solidFill>
                  <a:srgbClr val="FFFFFF"/>
                </a:solidFill>
                <a:latin typeface="Consolas" pitchFamily="34" charset="0"/>
                <a:ea typeface="Consolas" pitchFamily="34" charset="-122"/>
                <a:cs typeface="Consolas" pitchFamily="34" charset="-120"/>
              </a:rPr>
              <a:t>echo "2026-10-12 15:00:00 WARN  disk almost full" &gt;&gt; logs/system.log</a:t>
            </a:r>
            <a:endParaRPr lang="tr-TR" sz="900" dirty="0"/>
          </a:p>
        </p:txBody>
      </p:sp>
      <p:sp>
        <p:nvSpPr>
          <p:cNvPr id="12" name="Shape 10"/>
          <p:cNvSpPr/>
          <p:nvPr/>
        </p:nvSpPr>
        <p:spPr>
          <a:xfrm>
            <a:off x="548640" y="4937760"/>
            <a:ext cx="6949440" cy="1325880"/>
          </a:xfrm>
          <a:prstGeom prst="roundRect">
            <a:avLst>
              <a:gd name="adj" fmla="val 4138"/>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4937760"/>
            <a:ext cx="6492240" cy="132588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tail -f dosyayı açık tutar ve her yeni satırı geldiği anda yazar — bir günlüğü izlemenin standart yolu. Ctrl+C ile durdurun.</a:t>
            </a:r>
            <a:endParaRPr lang="tr-TR"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0" y="1508760"/>
          <a:ext cx="3886200" cy="914400"/>
        </p:xfrm>
        <a:graphic>
          <a:graphicData uri="http://schemas.openxmlformats.org/drawingml/2006/table">
            <a:tbl>
              <a:tblPr/>
              <a:tblGrid>
                <a:gridCol w="1417320"/>
                <a:gridCol w="2468880"/>
              </a:tblGrid>
              <a:tr h="0">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less tuşu</a:t>
                      </a: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İşlem</a:t>
                      </a: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Space / b</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sonraki / önceki sayfa</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 ↑</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bir satır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/sözcük</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ileri doğru ara</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n  N</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sonraki / önceki eşleşme</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g  G</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dosyanın başı / sonu</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q</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çık</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7772400" y="4800600"/>
            <a:ext cx="3886200" cy="502920"/>
          </a:xfrm>
          <a:prstGeom prst="rect">
            <a:avLst/>
          </a:prstGeom>
          <a:noFill/>
          <a:ln/>
        </p:spPr>
        <p:txBody>
          <a:bodyPr wrap="square" lIns="0" tIns="0" rIns="0" bIns="0" rtlCol="0" anchor="t"/>
          <a:lstStyle/>
          <a:p>
            <a:pPr indent="0" marL="0">
              <a:buNone/>
            </a:pPr>
            <a:r>
              <a:rPr lang="tr-TR" sz="1250" i="1" dirty="0">
                <a:solidFill>
                  <a:srgbClr val="6B7679"/>
                </a:solidFill>
                <a:latin typeface="Calibri" pitchFamily="34" charset="0"/>
                <a:ea typeface="Calibri" pitchFamily="34" charset="-122"/>
                <a:cs typeface="Calibri" pitchFamily="34" charset="-120"/>
              </a:rPr>
              <a:t>less logs/access.log  ·  man sayfaları da aynı tuşları kullanır</a:t>
            </a:r>
            <a:endParaRPr lang="tr-TR"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wc Sayar, file Tanır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28</a:t>
            </a:r>
            <a:endParaRPr lang="tr-TR" sz="900" dirty="0"/>
          </a:p>
        </p:txBody>
      </p:sp>
      <p:sp>
        <p:nvSpPr>
          <p:cNvPr id="6" name="Shape 4"/>
          <p:cNvSpPr/>
          <p:nvPr/>
        </p:nvSpPr>
        <p:spPr>
          <a:xfrm>
            <a:off x="548640" y="1508760"/>
            <a:ext cx="7589520" cy="4754880"/>
          </a:xfrm>
          <a:prstGeom prst="roundRect">
            <a:avLst>
              <a:gd name="adj" fmla="val 962"/>
            </a:avLst>
          </a:prstGeom>
          <a:solidFill>
            <a:srgbClr val="212121"/>
          </a:solidFill>
          <a:ln/>
        </p:spPr>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wc docs/linux_quotes.txt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5  50 302 docs/linux_quotes.txt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wc -l data/*.csv data/*.txt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41 data/students.csv</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30 data/cities.txt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20 data/numbers.txt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91 total</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file README.txt src/hello.c data/students.csv photos/img…</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README.txt:        ASCII text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src/hello.c:       C source, ASCII text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data/students.csv: CSV ASCII text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photos/img001.jpg: empty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projects:          directory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/usr/bin/ls:       ELF 64-bit LSB pie executable, x86-64, version 1 (SYSV), dyna…</a:t>
            </a:r>
            <a:endParaRPr lang="tr-TR"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wc:</a:t>
            </a:r>
            <a:r>
              <a:rPr lang="tr-TR" sz="1300" dirty="0">
                <a:solidFill>
                  <a:srgbClr val="3A464C"/>
                </a:solidFill>
                <a:latin typeface="Calibri" pitchFamily="34" charset="0"/>
                <a:ea typeface="Calibri" pitchFamily="34" charset="-122"/>
                <a:cs typeface="Calibri" pitchFamily="34" charset="-120"/>
              </a:rPr>
              <a:t> satır, sözcük, bayt — burada 5, 50, 302.</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-l -w -c:</a:t>
            </a:r>
            <a:r>
              <a:rPr lang="tr-TR" sz="1300" dirty="0">
                <a:solidFill>
                  <a:srgbClr val="3A464C"/>
                </a:solidFill>
                <a:latin typeface="Calibri" pitchFamily="34" charset="0"/>
                <a:ea typeface="Calibri" pitchFamily="34" charset="-122"/>
                <a:cs typeface="Calibri" pitchFamily="34" charset="-120"/>
              </a:rPr>
              <a:t> yalnızca satır, sözcük ya da bayt.</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students.csv: 41 satır = 1 başlık + 40 öğrenci.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file</a:t>
            </a:r>
            <a:r>
              <a:rPr lang="tr-TR" sz="1300" dirty="0">
                <a:solidFill>
                  <a:srgbClr val="3A464C"/>
                </a:solidFill>
                <a:latin typeface="Calibri" pitchFamily="34" charset="0"/>
                <a:ea typeface="Calibri" pitchFamily="34" charset="-122"/>
                <a:cs typeface="Calibri" pitchFamily="34" charset="-120"/>
              </a:rPr>
              <a:t> uzantıyı değil içeriği okur (sihirli sayı, 7. hafta): img001.jpg "empty"dir.</a:t>
            </a:r>
            <a:endParaRPr lang="tr-TR"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TEKRAR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stat: Düğümü Okumak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29</a:t>
            </a:r>
            <a:endParaRPr lang="tr-TR" sz="900" dirty="0"/>
          </a:p>
        </p:txBody>
      </p:sp>
      <p:sp>
        <p:nvSpPr>
          <p:cNvPr id="6" name="Shape 4"/>
          <p:cNvSpPr/>
          <p:nvPr/>
        </p:nvSpPr>
        <p:spPr>
          <a:xfrm>
            <a:off x="548640" y="1508760"/>
            <a:ext cx="7589520" cy="2880360"/>
          </a:xfrm>
          <a:prstGeom prst="roundRect">
            <a:avLst>
              <a:gd name="adj" fmla="val 1587"/>
            </a:avLst>
          </a:prstGeom>
          <a:solidFill>
            <a:srgbClr val="212121"/>
          </a:solidFill>
          <a:ln/>
        </p:spPr>
      </p:sp>
      <p:sp>
        <p:nvSpPr>
          <p:cNvPr id="7" name="Text 5"/>
          <p:cNvSpPr txBox="1"/>
          <p:nvPr/>
        </p:nvSpPr>
        <p:spPr>
          <a:xfrm>
            <a:off x="731520" y="1618488"/>
            <a:ext cx="7223760" cy="266090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 </a:t>
            </a:r>
            <a:r>
              <a:rPr lang="tr-TR" sz="1150" b="1" dirty="0">
                <a:solidFill>
                  <a:srgbClr val="FFFFFF"/>
                </a:solidFill>
                <a:latin typeface="Consolas" pitchFamily="34" charset="0"/>
                <a:ea typeface="Consolas" pitchFamily="34" charset="-122"/>
                <a:cs typeface="Consolas" pitchFamily="34" charset="-120"/>
              </a:rPr>
              <a:t>stat docs/syllabus.txt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File: docs/syllabus.txt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Size: 578             Blocks: 8          IO Block: 4096   regular file</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Device: 254,0   Inode: 804123      Links: 1</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Access: (0664/-rw-rw-r--)  Uid: ( 1010/ student)   Gid: ( 1012/ student)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Access: 2026-10-12 08:47:57.251900492 +0000</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Modify: 2026-10-12 08:47:57.254669759 +0000</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Change: 2026-10-12 08:47:57.254669759 +0000</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Birth: 2026-10-12 08:47:57.251900492 +0000</a:t>
            </a:r>
            <a:endParaRPr lang="tr-TR" sz="1150" dirty="0"/>
          </a:p>
        </p:txBody>
      </p:sp>
      <p:sp>
        <p:nvSpPr>
          <p:cNvPr id="8" name="Shape 6"/>
          <p:cNvSpPr/>
          <p:nvPr/>
        </p:nvSpPr>
        <p:spPr>
          <a:xfrm>
            <a:off x="548640" y="4572000"/>
            <a:ext cx="7589520" cy="1691640"/>
          </a:xfrm>
          <a:prstGeom prst="roundRect">
            <a:avLst>
              <a:gd name="adj" fmla="val 2703"/>
            </a:avLst>
          </a:prstGeom>
          <a:solidFill>
            <a:srgbClr val="212121"/>
          </a:solidFill>
          <a:ln/>
        </p:spPr>
      </p:sp>
      <p:sp>
        <p:nvSpPr>
          <p:cNvPr id="9" name="Text 7"/>
          <p:cNvSpPr txBox="1"/>
          <p:nvPr/>
        </p:nvSpPr>
        <p:spPr>
          <a:xfrm>
            <a:off x="731520" y="4681728"/>
            <a:ext cx="7223760" cy="1472184"/>
          </a:xfrm>
          <a:prstGeom prst="rect">
            <a:avLst/>
          </a:prstGeom>
          <a:noFill/>
          <a:ln/>
        </p:spPr>
        <p:txBody>
          <a:bodyPr wrap="square" lIns="0" tIns="0" rIns="0" bIns="0" rtlCol="0" anchor="t"/>
          <a:lstStyle/>
          <a:p>
            <a:pPr indent="0" marL="0">
              <a:lnSpc>
                <a:spcPct val="100000"/>
              </a:lnSpc>
              <a:buNone/>
            </a:pPr>
            <a:r>
              <a:rPr lang="tr-TR" sz="1100" dirty="0">
                <a:solidFill>
                  <a:srgbClr val="02C39A"/>
                </a:solidFill>
                <a:latin typeface="Consolas" pitchFamily="34" charset="0"/>
                <a:ea typeface="Consolas" pitchFamily="34" charset="-122"/>
                <a:cs typeface="Consolas" pitchFamily="34" charset="-120"/>
              </a:rPr>
              <a:t>student@okan-lab:~/lab$ </a:t>
            </a:r>
            <a:r>
              <a:rPr lang="tr-TR" sz="1100" b="1" dirty="0">
                <a:solidFill>
                  <a:srgbClr val="FFFFFF"/>
                </a:solidFill>
                <a:latin typeface="Consolas" pitchFamily="34" charset="0"/>
                <a:ea typeface="Consolas" pitchFamily="34" charset="-122"/>
                <a:cs typeface="Consolas" pitchFamily="34" charset="-120"/>
              </a:rPr>
              <a:t>stat -c "%n: %s bytes, inode %i, %h link(s)" docs/*.txt</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docs/final report.txt: 53 bytes, inode 804125, 1 link(s)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docs/linux_quotes.txt: 302 bytes, inode 804124, 1 link(s)</a:t>
            </a:r>
            <a:endParaRPr lang="tr-TR" sz="1100" dirty="0"/>
          </a:p>
          <a:p>
            <a:pPr indent="0" marL="0">
              <a:lnSpc>
                <a:spcPct val="100000"/>
              </a:lnSpc>
              <a:buNone/>
            </a:pPr>
            <a:r>
              <a:rPr lang="tr-TR" sz="1100" dirty="0">
                <a:solidFill>
                  <a:srgbClr val="F2F2F2"/>
                </a:solidFill>
                <a:latin typeface="Consolas" pitchFamily="34" charset="0"/>
                <a:ea typeface="Consolas" pitchFamily="34" charset="-122"/>
                <a:cs typeface="Consolas" pitchFamily="34" charset="-120"/>
              </a:rPr>
              <a:t>docs/notes_01.txt: 16 bytes, inode 804127, 1 link(s)</a:t>
            </a:r>
            <a:endParaRPr lang="tr-TR" sz="1100" dirty="0"/>
          </a:p>
          <a:p>
            <a:pPr indent="0" marL="0">
              <a:lnSpc>
                <a:spcPct val="100000"/>
              </a:lnSpc>
              <a:buNone/>
            </a:pPr>
            <a:r>
              <a:rPr lang="tr-TR" sz="1100" dirty="0">
                <a:solidFill>
                  <a:srgbClr val="8A9AA0"/>
                </a:solidFill>
                <a:latin typeface="Consolas" pitchFamily="34" charset="0"/>
                <a:ea typeface="Consolas" pitchFamily="34" charset="-122"/>
                <a:cs typeface="Consolas" pitchFamily="34" charset="-120"/>
              </a:rPr>
              <a:t>...</a:t>
            </a:r>
            <a:endParaRPr lang="tr-TR" sz="1100" dirty="0"/>
          </a:p>
        </p:txBody>
      </p:sp>
      <p:sp>
        <p:nvSpPr>
          <p:cNvPr id="10" name="Shape 8"/>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8641080" y="1691640"/>
            <a:ext cx="2788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Nasıl okunur</a:t>
            </a:r>
            <a:endParaRPr lang="tr-TR" sz="1500" dirty="0"/>
          </a:p>
        </p:txBody>
      </p:sp>
      <p:sp>
        <p:nvSpPr>
          <p:cNvPr id="12" name="Text 10"/>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Size 578:</a:t>
            </a:r>
            <a:r>
              <a:rPr lang="tr-TR" sz="1300" dirty="0">
                <a:solidFill>
                  <a:srgbClr val="3A464C"/>
                </a:solidFill>
                <a:latin typeface="Calibri" pitchFamily="34" charset="0"/>
                <a:ea typeface="Calibri" pitchFamily="34" charset="-122"/>
                <a:cs typeface="Calibri" pitchFamily="34" charset="-120"/>
              </a:rPr>
              <a:t> verinin bayt sayısı.</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Blocks 8:</a:t>
            </a:r>
            <a:r>
              <a:rPr lang="tr-TR" sz="1300" dirty="0">
                <a:solidFill>
                  <a:srgbClr val="3A464C"/>
                </a:solidFill>
                <a:latin typeface="Calibri" pitchFamily="34" charset="0"/>
                <a:ea typeface="Calibri" pitchFamily="34" charset="-122"/>
                <a:cs typeface="Calibri" pitchFamily="34" charset="-120"/>
              </a:rPr>
              <a:t> 8 × 512 B = 4096 B = bir adet 4 KiB blok.</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Inode, Links:</a:t>
            </a:r>
            <a:r>
              <a:rPr lang="tr-TR" sz="1300" dirty="0">
                <a:solidFill>
                  <a:srgbClr val="3A464C"/>
                </a:solidFill>
                <a:latin typeface="Calibri" pitchFamily="34" charset="0"/>
                <a:ea typeface="Calibri" pitchFamily="34" charset="-122"/>
                <a:cs typeface="Calibri" pitchFamily="34" charset="-120"/>
              </a:rPr>
              <a:t> düğüm numarası ve bağlantı sayısı.</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Access (0664/…):</a:t>
            </a:r>
            <a:r>
              <a:rPr lang="tr-TR" sz="1300" dirty="0">
                <a:solidFill>
                  <a:srgbClr val="3A464C"/>
                </a:solidFill>
                <a:latin typeface="Calibri" pitchFamily="34" charset="0"/>
                <a:ea typeface="Calibri" pitchFamily="34" charset="-122"/>
                <a:cs typeface="Calibri" pitchFamily="34" charset="-120"/>
              </a:rPr>
              <a:t> izinler → 11. hafta.</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-c:</a:t>
            </a:r>
            <a:r>
              <a:rPr lang="tr-TR" sz="1300" dirty="0">
                <a:solidFill>
                  <a:srgbClr val="3A464C"/>
                </a:solidFill>
                <a:latin typeface="Calibri" pitchFamily="34" charset="0"/>
                <a:ea typeface="Calibri" pitchFamily="34" charset="-122"/>
                <a:cs typeface="Calibri" pitchFamily="34" charset="-120"/>
              </a:rPr>
              <a:t> yalnızca seçilen alanları yazar (%s %i %h …).</a:t>
            </a:r>
            <a:endParaRPr lang="tr-TR"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du ve df: Ne Kadar Yer?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30</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du -sh docs data logs photos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32K     docs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16K     data</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36K     logs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4.0K    photos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du -h projects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8.0K    projects/beta/src</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8.0K    projects/beta/docs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24K     projects/beta</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8.0K    projects/alpha/src</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8.0K    projects/alpha/docs</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24K     projects/alpha</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52K     projects</a:t>
            </a:r>
            <a:endParaRPr lang="tr-TR" sz="1300" dirty="0"/>
          </a:p>
          <a:p>
            <a:pPr indent="0" marL="0">
              <a:lnSpc>
                <a:spcPct val="100000"/>
              </a:lnSpc>
              <a:buNone/>
            </a:pPr>
            <a:r>
              <a:rPr lang="tr-TR" sz="1300" dirty="0">
                <a:solidFill>
                  <a:srgbClr val="02C39A"/>
                </a:solidFill>
                <a:latin typeface="Consolas" pitchFamily="34" charset="0"/>
                <a:ea typeface="Consolas" pitchFamily="34" charset="-122"/>
                <a:cs typeface="Consolas" pitchFamily="34" charset="-120"/>
              </a:rPr>
              <a:t>student@okan-lab:~/lab$ </a:t>
            </a:r>
            <a:r>
              <a:rPr lang="tr-TR" sz="1300" b="1" dirty="0">
                <a:solidFill>
                  <a:srgbClr val="FFFFFF"/>
                </a:solidFill>
                <a:latin typeface="Consolas" pitchFamily="34" charset="0"/>
                <a:ea typeface="Consolas" pitchFamily="34" charset="-122"/>
                <a:cs typeface="Consolas" pitchFamily="34" charset="-120"/>
              </a:rPr>
              <a:t>df -h ~</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Filesystem      Size  Used Avail Use% Mounted on</a:t>
            </a:r>
            <a:endParaRPr lang="tr-TR" sz="1300" dirty="0"/>
          </a:p>
          <a:p>
            <a:pPr indent="0" marL="0">
              <a:lnSpc>
                <a:spcPct val="100000"/>
              </a:lnSpc>
              <a:buNone/>
            </a:pPr>
            <a:r>
              <a:rPr lang="tr-TR" sz="1300" dirty="0">
                <a:solidFill>
                  <a:srgbClr val="F2F2F2"/>
                </a:solidFill>
                <a:latin typeface="Consolas" pitchFamily="34" charset="0"/>
                <a:ea typeface="Consolas" pitchFamily="34" charset="-122"/>
                <a:cs typeface="Consolas" pitchFamily="34" charset="-120"/>
              </a:rPr>
              <a:t>/dev/vda        252G   13G   30G  29% /</a:t>
            </a:r>
            <a:endParaRPr lang="tr-TR" sz="1300" dirty="0"/>
          </a:p>
        </p:txBody>
      </p:sp>
      <p:sp>
        <p:nvSpPr>
          <p:cNvPr id="8" name="Shape 6"/>
          <p:cNvSpPr/>
          <p:nvPr/>
        </p:nvSpPr>
        <p:spPr>
          <a:xfrm>
            <a:off x="7223760" y="1508760"/>
            <a:ext cx="4434840" cy="4754880"/>
          </a:xfrm>
          <a:prstGeom prst="roundRect">
            <a:avLst>
              <a:gd name="adj" fmla="val 123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7452360" y="2148840"/>
            <a:ext cx="3977640" cy="3977640"/>
          </a:xfrm>
          <a:prstGeom prst="rect">
            <a:avLst/>
          </a:prstGeom>
          <a:noFill/>
          <a:ln/>
        </p:spPr>
        <p:txBody>
          <a:bodyPr wrap="square" lIns="0" tIns="0" rIns="0" bIns="0" rtlCol="0" anchor="t"/>
          <a:lstStyle/>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du:</a:t>
            </a:r>
            <a:r>
              <a:rPr lang="tr-TR" sz="1250" dirty="0">
                <a:solidFill>
                  <a:srgbClr val="3A464C"/>
                </a:solidFill>
                <a:latin typeface="Calibri" pitchFamily="34" charset="0"/>
                <a:ea typeface="Calibri" pitchFamily="34" charset="-122"/>
                <a:cs typeface="Calibri" pitchFamily="34" charset="-120"/>
              </a:rPr>
              <a:t> dosyaların kullandığı disk alanı, tam bloklarla. -s argüman başına toplam, -h K/M/G.</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photos 4.0K:</a:t>
            </a:r>
            <a:r>
              <a:rPr lang="tr-TR" sz="1250" dirty="0">
                <a:solidFill>
                  <a:srgbClr val="3A464C"/>
                </a:solidFill>
                <a:latin typeface="Calibri" pitchFamily="34" charset="0"/>
                <a:ea typeface="Calibri" pitchFamily="34" charset="-122"/>
                <a:cs typeface="Calibri" pitchFamily="34" charset="-120"/>
              </a:rPr>
              <a:t> 15 boş dosya 0 blok kullanır; yalnızca dizinin 4 KiB'lık bloğu sayılır.</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logs 36K</a:t>
            </a:r>
            <a:r>
              <a:rPr lang="tr-TR" sz="1250" dirty="0">
                <a:solidFill>
                  <a:srgbClr val="3A464C"/>
                </a:solidFill>
                <a:latin typeface="Calibri" pitchFamily="34" charset="0"/>
                <a:ea typeface="Calibri" pitchFamily="34" charset="-122"/>
                <a:cs typeface="Calibri" pitchFamily="34" charset="-120"/>
              </a:rPr>
              <a:t> = 4 K (dizin) + 24 K + 8 K (iki günlük).</a:t>
            </a:r>
            <a:endParaRPr lang="tr-TR" sz="1250" dirty="0"/>
          </a:p>
          <a:p>
            <a:pPr marL="228600" indent="-228600">
              <a:spcAft>
                <a:spcPts val="400"/>
              </a:spcAft>
              <a:buSzPct val="100000"/>
              <a:buChar char="•"/>
            </a:pPr>
            <a:r>
              <a:rPr lang="tr-TR" sz="1250" b="1" dirty="0">
                <a:solidFill>
                  <a:srgbClr val="3A464C"/>
                </a:solidFill>
                <a:latin typeface="Calibri" pitchFamily="34" charset="0"/>
                <a:ea typeface="Calibri" pitchFamily="34" charset="-122"/>
                <a:cs typeface="Calibri" pitchFamily="34" charset="-120"/>
              </a:rPr>
              <a:t>df:</a:t>
            </a:r>
            <a:r>
              <a:rPr lang="tr-TR" sz="1250" dirty="0">
                <a:solidFill>
                  <a:srgbClr val="3A464C"/>
                </a:solidFill>
                <a:latin typeface="Calibri" pitchFamily="34" charset="0"/>
                <a:ea typeface="Calibri" pitchFamily="34" charset="-122"/>
                <a:cs typeface="Calibri" pitchFamily="34" charset="-120"/>
              </a:rPr>
              <a:t> dosya sistemi başına boyut, kullanılan ve boş alan. Use% = Used / (Used + Avail) ≈ 12 / 42 ≈ %29.</a:t>
            </a:r>
            <a:endParaRPr lang="tr-TR"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CANLI GÖSTERİM · BAĞLANTILAR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Sabit Bağlantı, Kopya ve Sembolik Bağlantı Yan Yana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31</a:t>
            </a:r>
            <a:endParaRPr lang="tr-TR" sz="900" dirty="0"/>
          </a:p>
        </p:txBody>
      </p:sp>
      <p:sp>
        <p:nvSpPr>
          <p:cNvPr id="6" name="Shape 4"/>
          <p:cNvSpPr/>
          <p:nvPr/>
        </p:nvSpPr>
        <p:spPr>
          <a:xfrm>
            <a:off x="548640" y="1508760"/>
            <a:ext cx="7589520" cy="4754880"/>
          </a:xfrm>
          <a:prstGeom prst="roundRect">
            <a:avLst>
              <a:gd name="adj" fmla="val 962"/>
            </a:avLst>
          </a:prstGeom>
          <a:solidFill>
            <a:srgbClr val="212121"/>
          </a:solidFill>
          <a:ln/>
        </p:spPr>
      </p:sp>
      <p:sp>
        <p:nvSpPr>
          <p:cNvPr id="7" name="Text 5"/>
          <p:cNvSpPr txBox="1"/>
          <p:nvPr/>
        </p:nvSpPr>
        <p:spPr>
          <a:xfrm>
            <a:off x="731520" y="1618488"/>
            <a:ext cx="7223760" cy="4535424"/>
          </a:xfrm>
          <a:prstGeom prst="rect">
            <a:avLst/>
          </a:prstGeom>
          <a:noFill/>
          <a:ln/>
        </p:spPr>
        <p:txBody>
          <a:bodyPr wrap="square" lIns="0" tIns="0" rIns="0" bIns="0" rtlCol="0" anchor="t"/>
          <a:lstStyle/>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ln syllabus.txt plan.txt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cp syllabus.txt copy.txt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ln -s syllabus.txt shortcut.txt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ls -li syllabus.txt plan.txt copy.txt shortcut.txt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804702 -rw-rw-r-- 1 student student 578 Oct 12 08:47 copy.txt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804123 -rw-rw-r-- 2 student student 578 Oct 12 08:47 plan.txt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804703 lrwxrwxrwx 1 student student  12 Oct 12 08:47 shortcut.txt -&gt; syllabus.txt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804123 -rw-rw-r-- 2 student student 578 Oct 12 08:47 syllabus.txt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echo "Week 16  Party" &gt;&gt; plan.txt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tail -n 1 syllabus.txt copy.txt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==&gt; syllabus.txt &lt;==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Week 16  Party</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==&gt; copy.txt &lt;==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Week 15 Final exam</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rm syllabus.txt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ls -li plan.txt shortcut.txt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804123 -rw-rw-r-- 1 student student 593 Oct 12 08:47 plan.txt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804703 lrwxrwxrwx 1 student student  12 Oct 12 08:47 shortcut.txt -&gt; syllabus.txt</a:t>
            </a:r>
            <a:endParaRPr lang="tr-TR" sz="1150" dirty="0"/>
          </a:p>
          <a:p>
            <a:pPr indent="0" marL="0">
              <a:lnSpc>
                <a:spcPct val="100000"/>
              </a:lnSpc>
              <a:buNone/>
            </a:pPr>
            <a:r>
              <a:rPr lang="tr-TR" sz="1150" dirty="0">
                <a:solidFill>
                  <a:srgbClr val="02C39A"/>
                </a:solidFill>
                <a:latin typeface="Consolas" pitchFamily="34" charset="0"/>
                <a:ea typeface="Consolas" pitchFamily="34" charset="-122"/>
                <a:cs typeface="Consolas" pitchFamily="34" charset="-120"/>
              </a:rPr>
              <a:t>student@okan-lab:~/lab/docs$ </a:t>
            </a:r>
            <a:r>
              <a:rPr lang="tr-TR" sz="1150" b="1" dirty="0">
                <a:solidFill>
                  <a:srgbClr val="FFFFFF"/>
                </a:solidFill>
                <a:latin typeface="Consolas" pitchFamily="34" charset="0"/>
                <a:ea typeface="Consolas" pitchFamily="34" charset="-122"/>
                <a:cs typeface="Consolas" pitchFamily="34" charset="-120"/>
              </a:rPr>
              <a:t>cat shortcut.txt</a:t>
            </a:r>
            <a:endParaRPr lang="tr-TR" sz="1150" dirty="0"/>
          </a:p>
          <a:p>
            <a:pPr indent="0" marL="0">
              <a:lnSpc>
                <a:spcPct val="100000"/>
              </a:lnSpc>
              <a:buNone/>
            </a:pPr>
            <a:r>
              <a:rPr lang="tr-TR" sz="1150" dirty="0">
                <a:solidFill>
                  <a:srgbClr val="F2F2F2"/>
                </a:solidFill>
                <a:latin typeface="Consolas" pitchFamily="34" charset="0"/>
                <a:ea typeface="Consolas" pitchFamily="34" charset="-122"/>
                <a:cs typeface="Consolas" pitchFamily="34" charset="-120"/>
              </a:rPr>
              <a:t>cat: shortcut.txt: No such file or directory</a:t>
            </a:r>
            <a:endParaRPr lang="tr-TR" sz="1150" dirty="0"/>
          </a:p>
        </p:txBody>
      </p:sp>
      <p:sp>
        <p:nvSpPr>
          <p:cNvPr id="8" name="Shape 6"/>
          <p:cNvSpPr/>
          <p:nvPr/>
        </p:nvSpPr>
        <p:spPr>
          <a:xfrm>
            <a:off x="8412480" y="1508760"/>
            <a:ext cx="3246120" cy="475488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641080" y="1691640"/>
            <a:ext cx="2788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641080" y="2148840"/>
            <a:ext cx="2788920" cy="397764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plan.txt = aynı düğüm 804123, bağlantı sayısı 2.</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plan.txt üzerinden yapılan değişiklik syllabus.txt'de görünür, copy.txt'de görünmez.</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shortcut.txt: kendi düğümü, boyut 12 = "syllabus.txt" uzunluğu.</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rm'den sonra: plan.txt veriyi korur (sayı 1); shortcut.txt askıda kalır.</a:t>
            </a:r>
            <a:endParaRPr lang="tr-TR"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BAĞLANTILAR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Sabit Bağlantı, Sembolik Bağlantı ve Kopya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32</a:t>
            </a:r>
            <a:endParaRPr lang="tr-TR"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194560"/>
                <a:gridCol w="2880360"/>
                <a:gridCol w="3154680"/>
                <a:gridCol w="2880360"/>
              </a:tblGrid>
              <a:tr h="0">
                <a:tc>
                  <a:txBody>
                    <a:bodyPr/>
                    <a:lstStyle/>
                    <a:p>
                      <a:pPr indent="0" marL="0">
                        <a:buNone/>
                      </a:pP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Sabit bağlantı  ln</a:t>
                      </a: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Sembolik bağlantı  ln -s</a:t>
                      </a: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50" b="1" dirty="0">
                          <a:solidFill>
                            <a:srgbClr val="FFFFFF"/>
                          </a:solidFill>
                          <a:latin typeface="Cambria" pitchFamily="34" charset="0"/>
                          <a:ea typeface="Cambria" pitchFamily="34" charset="-122"/>
                          <a:cs typeface="Cambria" pitchFamily="34" charset="-120"/>
                        </a:rPr>
                        <a:t>Kopya  cp</a:t>
                      </a:r>
                      <a:endParaRPr lang="tr-TR" sz="1450" dirty="0">
                        <a:latin typeface="Cambria" charset="0"/>
                        <a:ea typeface="Cambria" charset="0"/>
                        <a:cs typeface="Cambria"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Düğüm</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hedefle aynı</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kendine ait (yol saklar)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kendine ait</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Veri</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paylaşılır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yol üzerinden ulaşılır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çoğaltılır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Hedef silinirse</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veri kalır (sayı − 1)</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bağlantı askıda kalır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kopya etkilenmez</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Dizinler</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izin verilmez</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izin verilir</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-r ile</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onsolas" pitchFamily="34" charset="0"/>
                          <a:ea typeface="Consolas" pitchFamily="34" charset="-122"/>
                          <a:cs typeface="Consolas" pitchFamily="34" charset="-120"/>
                        </a:rPr>
                        <a:t>Başka dosya sistemi</a:t>
                      </a:r>
                      <a:endParaRPr lang="tr-TR" sz="1350" dirty="0">
                        <a:latin typeface="Consolas" charset="0"/>
                        <a:ea typeface="Consolas" charset="0"/>
                        <a:cs typeface="Consolas"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olanaksız</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olanaklı</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olanaklı</a:t>
                      </a:r>
                      <a:endParaRPr lang="tr-TR" sz="1350" dirty="0">
                        <a:latin typeface="Calibri" charset="0"/>
                        <a:ea typeface="Calibri" charset="0"/>
                        <a:cs typeface="Calibri" charset="0"/>
                      </a:endParaRPr>
                    </a:p>
                  </a:txBody>
                  <a:tcPr marL="88900" marR="889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4069080"/>
            <a:ext cx="7315200" cy="2194560"/>
          </a:xfrm>
          <a:prstGeom prst="roundRect">
            <a:avLst>
              <a:gd name="adj" fmla="val 2083"/>
            </a:avLst>
          </a:prstGeom>
          <a:solidFill>
            <a:srgbClr val="212121"/>
          </a:solidFill>
          <a:ln/>
        </p:spPr>
      </p:sp>
      <p:sp>
        <p:nvSpPr>
          <p:cNvPr id="8" name="Text 5"/>
          <p:cNvSpPr txBox="1"/>
          <p:nvPr/>
        </p:nvSpPr>
        <p:spPr>
          <a:xfrm>
            <a:off x="731520" y="4178808"/>
            <a:ext cx="6949440" cy="1975104"/>
          </a:xfrm>
          <a:prstGeom prst="rect">
            <a:avLst/>
          </a:prstGeom>
          <a:noFill/>
          <a:ln/>
        </p:spPr>
        <p:txBody>
          <a:bodyPr wrap="square" lIns="0" tIns="0" rIns="0" bIns="0" rtlCol="0" anchor="t"/>
          <a:lstStyle/>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ln -s projects/alpha/docs alpha_docs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-l alpha_docs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lrwxrwxrwx 1 student student 19 Oct 12 08:47 alpha_docs -&gt; projects/alpha/docs</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ln projects alpha_hard</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ln: projects: hard link not allowed for directory</a:t>
            </a:r>
            <a:endParaRPr lang="tr-TR" sz="1050" dirty="0"/>
          </a:p>
          <a:p>
            <a:pPr indent="0" marL="0">
              <a:lnSpc>
                <a:spcPct val="100000"/>
              </a:lnSpc>
              <a:buNone/>
            </a:pPr>
            <a:r>
              <a:rPr lang="tr-TR" sz="1050" dirty="0">
                <a:solidFill>
                  <a:srgbClr val="02C39A"/>
                </a:solidFill>
                <a:latin typeface="Consolas" pitchFamily="34" charset="0"/>
                <a:ea typeface="Consolas" pitchFamily="34" charset="-122"/>
                <a:cs typeface="Consolas" pitchFamily="34" charset="-120"/>
              </a:rPr>
              <a:t>student@okan-lab:~/lab$ </a:t>
            </a:r>
            <a:r>
              <a:rPr lang="tr-TR" sz="1050" b="1" dirty="0">
                <a:solidFill>
                  <a:srgbClr val="FFFFFF"/>
                </a:solidFill>
                <a:latin typeface="Consolas" pitchFamily="34" charset="0"/>
                <a:ea typeface="Consolas" pitchFamily="34" charset="-122"/>
                <a:cs typeface="Consolas" pitchFamily="34" charset="-120"/>
              </a:rPr>
              <a:t>ls -ld projects projects/alpha</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drwxrwxr-x 4 student student 4096 Oct 12 08:47 projects</a:t>
            </a:r>
            <a:endParaRPr lang="tr-TR" sz="1050" dirty="0"/>
          </a:p>
          <a:p>
            <a:pPr indent="0" marL="0">
              <a:lnSpc>
                <a:spcPct val="100000"/>
              </a:lnSpc>
              <a:buNone/>
            </a:pPr>
            <a:r>
              <a:rPr lang="tr-TR" sz="1050" dirty="0">
                <a:solidFill>
                  <a:srgbClr val="F2F2F2"/>
                </a:solidFill>
                <a:latin typeface="Consolas" pitchFamily="34" charset="0"/>
                <a:ea typeface="Consolas" pitchFamily="34" charset="-122"/>
                <a:cs typeface="Consolas" pitchFamily="34" charset="-120"/>
              </a:rPr>
              <a:t>drwxrwxr-x 4 student student 4096 Oct 12 08:47 projects/alpha</a:t>
            </a:r>
            <a:endParaRPr lang="tr-TR" sz="1050" dirty="0"/>
          </a:p>
        </p:txBody>
      </p:sp>
      <p:sp>
        <p:nvSpPr>
          <p:cNvPr id="9" name="Shape 6"/>
          <p:cNvSpPr/>
          <p:nvPr/>
        </p:nvSpPr>
        <p:spPr>
          <a:xfrm>
            <a:off x="8138160" y="4069080"/>
            <a:ext cx="352044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8366760" y="425196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Dizinin bağlantı sayısı</a:t>
            </a:r>
            <a:endParaRPr lang="tr-TR" sz="1500" dirty="0"/>
          </a:p>
        </p:txBody>
      </p:sp>
      <p:sp>
        <p:nvSpPr>
          <p:cNvPr id="11" name="Text 8"/>
          <p:cNvSpPr txBox="1"/>
          <p:nvPr/>
        </p:nvSpPr>
        <p:spPr>
          <a:xfrm>
            <a:off x="8366760" y="4709160"/>
            <a:ext cx="3063240" cy="141732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2 + alt dizin sayısı: üst dizindeki adı, kendi . girdisi ve her çocuğun .. girdisi. projects: 2 + 2 = 4.</a:t>
            </a:r>
            <a:endParaRPr lang="tr-TR"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 · C</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Aynı İşlemler, C'de Sistem Çağrısı Olarak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33</a:t>
            </a:r>
            <a:endParaRPr lang="tr-TR" sz="900" dirty="0"/>
          </a:p>
        </p:txBody>
      </p:sp>
      <p:sp>
        <p:nvSpPr>
          <p:cNvPr id="6" name="Shape 4"/>
          <p:cNvSpPr/>
          <p:nvPr/>
        </p:nvSpPr>
        <p:spPr>
          <a:xfrm>
            <a:off x="548640" y="1508760"/>
            <a:ext cx="7315200" cy="4754880"/>
          </a:xfrm>
          <a:prstGeom prst="roundRect">
            <a:avLst>
              <a:gd name="adj" fmla="val 962"/>
            </a:avLst>
          </a:prstGeom>
          <a:solidFill>
            <a:srgbClr val="212121"/>
          </a:solidFill>
          <a:ln/>
        </p:spPr>
      </p:sp>
      <p:sp>
        <p:nvSpPr>
          <p:cNvPr id="7" name="Text 5"/>
          <p:cNvSpPr txBox="1"/>
          <p:nvPr/>
        </p:nvSpPr>
        <p:spPr>
          <a:xfrm>
            <a:off x="731520" y="1618488"/>
            <a:ext cx="694944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CHECK(mkdir("box", 0775));                               /* mkdir box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CHECK(fd = open("box/a.txt", O_WRONLY | O_CREAT, 0664)); /* touch box/a.txt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CHECK(write(fd, "hello\n", 6));  CHECK(close(fd));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CHECK(link("box/a.txt", "box/b.txt"));                   /* ln a.txt b.txt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CHECK(symlink("a.txt", "box/s.txt"));                    /* ln -s a.txt s.txt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CHECK(rename("box/a.txt", "box/c.txt"));                 /* mv a.txt c.txt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CHECK(unlink("box/b.txt"));                              /* rm b.txt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if (rmdir("box") == -1) perror("rmdir(\"box\")");        /* not empty: fails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CHECK(unlink("box/c.txt"));  CHECK(unlink("box/s.txt")); /* rm c.txt s.txt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CHECK(rmdir("box"));                                     /* rmdir box: now OK */</a:t>
            </a:r>
            <a:endParaRPr lang="tr-TR" sz="1100" dirty="0"/>
          </a:p>
        </p:txBody>
      </p:sp>
      <p:sp>
        <p:nvSpPr>
          <p:cNvPr id="8" name="Shape 6"/>
          <p:cNvSpPr/>
          <p:nvPr/>
        </p:nvSpPr>
        <p:spPr>
          <a:xfrm>
            <a:off x="8138160" y="1508760"/>
            <a:ext cx="3520440" cy="1417320"/>
          </a:xfrm>
          <a:prstGeom prst="roundRect">
            <a:avLst>
              <a:gd name="adj" fmla="val 3871"/>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366760" y="169164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8366760" y="2148840"/>
            <a:ext cx="3063240" cy="6400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link(): düğüm aynı, bağlantı 2.</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rename(): düğüm değişmez.</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box boş değilken rmdir() başarısız olur.</a:t>
            </a:r>
            <a:endParaRPr lang="tr-TR" sz="1300" dirty="0"/>
          </a:p>
        </p:txBody>
      </p:sp>
      <p:sp>
        <p:nvSpPr>
          <p:cNvPr id="11" name="Shape 9"/>
          <p:cNvSpPr/>
          <p:nvPr/>
        </p:nvSpPr>
        <p:spPr>
          <a:xfrm>
            <a:off x="8138160" y="3154680"/>
            <a:ext cx="3520440" cy="3108960"/>
          </a:xfrm>
          <a:prstGeom prst="roundRect">
            <a:avLst>
              <a:gd name="adj" fmla="val 1471"/>
            </a:avLst>
          </a:prstGeom>
          <a:solidFill>
            <a:srgbClr val="212121"/>
          </a:solidFill>
          <a:ln/>
        </p:spPr>
      </p:sp>
      <p:sp>
        <p:nvSpPr>
          <p:cNvPr id="12" name="Text 10"/>
          <p:cNvSpPr txBox="1"/>
          <p:nvPr/>
        </p:nvSpPr>
        <p:spPr>
          <a:xfrm>
            <a:off x="8321040" y="3264408"/>
            <a:ext cx="3154680" cy="2889504"/>
          </a:xfrm>
          <a:prstGeom prst="rect">
            <a:avLst/>
          </a:prstGeom>
          <a:noFill/>
          <a:ln/>
        </p:spPr>
        <p:txBody>
          <a:bodyPr wrap="square" lIns="0" tIns="0" rIns="0" bIns="0" rtlCol="0" anchor="t"/>
          <a:lstStyle/>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./fileops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after open(O_CREAT):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box/a.txt  inode 804677  links 1</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after link() and symlink():</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box/a.txt  inode 804677  links 2</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box/b.txt  inode 804677  links 2</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box/s.txt  inode 804678  links 1</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after rename() a.txt -&gt; c.txt: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box/c.txt  inode 804677  links 2</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after unlink() b.txt: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box/c.txt  inode 804677  links 1</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rmdir("box"): Directory not empty</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box removed</a:t>
            </a:r>
            <a:endParaRPr lang="tr-TR"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 TABLO 2</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Görüntüleme, İnceleme ve Bağlama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34</a:t>
            </a:r>
            <a:endParaRPr lang="tr-TR"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560320"/>
                <a:gridCol w="4572000"/>
                <a:gridCol w="3977640"/>
              </a:tblGrid>
              <a:tr h="0">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Komut</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Ne yapar</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Yararlı seçenekler</a:t>
                      </a:r>
                      <a:endParaRPr lang="tr-TR" sz="15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cat file…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dosyaları yazar (art arda ekler)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-n  satırları numarala</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less file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dosyada sayfa sayfa gezinir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Space  /sözcük  n  q</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head / tail file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ilk / son satırlar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-n N  kaç satır   tail -f  izle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wc file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satır, sözcük, bayt sayar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-l  -w  -c</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file name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içerik türünü tanır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stat file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düğümü gösterir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-c "%n %s %i %h"  seçilen alanlar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du / df</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dosyaların kullandığı alan / dosya sistemi başına boş alan</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  özet   -h  okunabilir birimler</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ln / ln -s</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sabit bağlantı / sembolik bağlantı</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ls -li  düğüm ve sayıyı denetle</a:t>
                      </a:r>
                      <a:endParaRPr lang="tr-TR" sz="14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SINIF İÇİ LABORATUVAR · 35 DAKİKA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Föyü: A (Temel) ve B (Orta) Bölümleri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Temiz başlangıç: bash ~/mcmp117_lab_setup.sh &amp;&amp; cd ~/lab — sonra alıştırmaları sırayla yapın. Tam metin ve puanlar ders notlarında.</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35</a:t>
            </a:r>
            <a:endParaRPr lang="tr-TR" sz="900" dirty="0"/>
          </a:p>
        </p:txBody>
      </p:sp>
      <p:sp>
        <p:nvSpPr>
          <p:cNvPr id="7" name="Shape 5"/>
          <p:cNvSpPr/>
          <p:nvPr/>
        </p:nvSpPr>
        <p:spPr>
          <a:xfrm>
            <a:off x="548640" y="2103120"/>
            <a:ext cx="54406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 bölümü — 33 puan</a:t>
            </a:r>
            <a:endParaRPr lang="tr-TR" sz="1500" dirty="0"/>
          </a:p>
        </p:txBody>
      </p:sp>
      <p:sp>
        <p:nvSpPr>
          <p:cNvPr id="9" name="Text 7"/>
          <p:cNvSpPr txBox="1"/>
          <p:nvPr/>
        </p:nvSpPr>
        <p:spPr>
          <a:xfrm>
            <a:off x="777240" y="2743200"/>
            <a:ext cx="4983480" cy="338328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  mkdir -p practice/a/b/c</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2  tek touch ile üç boş dosya</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3  syllabus.txt'yi backup/ içine yeni adla kopyalayın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4  yeniden adlandırın; düğümün aynı kaldığını kanıtlayın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5  syllabus'un ilk 4 ve son 2 satırı</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6  satır/sözcük/bayt sayın; kaç öğrenci var?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7  "final report.txt"yi iki yolla gösterin</a:t>
            </a:r>
            <a:endParaRPr lang="tr-TR" sz="1500" dirty="0"/>
          </a:p>
        </p:txBody>
      </p:sp>
      <p:sp>
        <p:nvSpPr>
          <p:cNvPr id="10" name="Shape 8"/>
          <p:cNvSpPr/>
          <p:nvPr/>
        </p:nvSpPr>
        <p:spPr>
          <a:xfrm>
            <a:off x="6217920" y="2103120"/>
            <a:ext cx="54406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 bölümü — 39 puan</a:t>
            </a:r>
            <a:endParaRPr lang="tr-TR" sz="1500" dirty="0"/>
          </a:p>
        </p:txBody>
      </p:sp>
      <p:sp>
        <p:nvSpPr>
          <p:cNvPr id="12" name="Text 10"/>
          <p:cNvSpPr txBox="1"/>
          <p:nvPr/>
        </p:nvSpPr>
        <p:spPr>
          <a:xfrm>
            <a:off x="6446520" y="2743200"/>
            <a:ext cx="4983480" cy="338328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8  fotoğrafları ? ve [ ] ile listeleyin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9  photos/'u jpg/, png/, other/ içine ayırın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10  docs/* neden .settings'i göstermez?</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11  docs/'u cp -r ile yedekleyin; du ile karşılaştırın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12  dosya türleri ve disk kullanımı</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13  touch -d ile zaman ayarlayın; stat ile okuyun</a:t>
            </a:r>
            <a:endParaRPr lang="tr-TR"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SINIF İÇİ LABORATUVAR · DEVAM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Laboratuvar Föyü: C (Zor) Bölümü ve Notlandırma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C bölümü 7. haftanın kuramını gerektirir: düğümler, bağlantı sayıları, askıda kalan bağlantılar.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36</a:t>
            </a:r>
            <a:endParaRPr lang="tr-TR" sz="900" dirty="0"/>
          </a:p>
        </p:txBody>
      </p:sp>
      <p:sp>
        <p:nvSpPr>
          <p:cNvPr id="7" name="Shape 5"/>
          <p:cNvSpPr/>
          <p:nvPr/>
        </p:nvSpPr>
        <p:spPr>
          <a:xfrm>
            <a:off x="548640" y="2103120"/>
            <a:ext cx="676656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6309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C bölümü — 28 puan</a:t>
            </a:r>
            <a:endParaRPr lang="tr-TR" sz="1500" dirty="0"/>
          </a:p>
        </p:txBody>
      </p:sp>
      <p:sp>
        <p:nvSpPr>
          <p:cNvPr id="9" name="Text 7"/>
          <p:cNvSpPr txBox="1"/>
          <p:nvPr/>
        </p:nvSpPr>
        <p:spPr>
          <a:xfrm>
            <a:off x="777240" y="2743200"/>
            <a:ext cx="6309360" cy="338328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14  syllabus'a sabit bağlantı; özgünü silin; verinin yaşadığını gösterin</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15  alpha_docs sembolik bağlantısı; hedefini yeniden adlandırın; askıda kalan bağlantıyı onarın</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16  tek komut: course/week01 … week14, her birinde slides/ ve notes/ — kaç dizin?</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17  temizlik: rmdir practice neden başarısız olur? practice ve course'u güvenle silin</a:t>
            </a:r>
            <a:endParaRPr lang="tr-TR" sz="1600" dirty="0"/>
          </a:p>
        </p:txBody>
      </p:sp>
      <p:sp>
        <p:nvSpPr>
          <p:cNvPr id="10" name="Shape 8"/>
          <p:cNvSpPr/>
          <p:nvPr/>
        </p:nvSpPr>
        <p:spPr>
          <a:xfrm>
            <a:off x="7543800" y="2103120"/>
            <a:ext cx="4114800" cy="416052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772400" y="2286000"/>
            <a:ext cx="36576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Nasıl notlandırılır</a:t>
            </a:r>
            <a:endParaRPr lang="tr-TR" sz="1500" dirty="0"/>
          </a:p>
        </p:txBody>
      </p:sp>
      <p:sp>
        <p:nvSpPr>
          <p:cNvPr id="12" name="Text 10"/>
          <p:cNvSpPr txBox="1"/>
          <p:nvPr/>
        </p:nvSpPr>
        <p:spPr>
          <a:xfrm>
            <a:off x="7772400" y="2743200"/>
            <a:ext cx="3657600" cy="338328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Toplam 100 puan (A 33, B 39, C 28).</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Komutları VE önemli çıktı satırlarını yazın.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İstenen yerde bir cümleyle açıklayın ("neden").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Beklenen çıktılarıyla çözümler: notların son bölümü.</a:t>
            </a:r>
            <a:endParaRPr lang="tr-TR"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SIK YAPILAN HATALAR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Hata İletileri ve Anlamları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37</a:t>
            </a:r>
            <a:endParaRPr lang="tr-TR"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4846320"/>
                <a:gridCol w="3474720"/>
                <a:gridCol w="278892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İleti (gerçek)</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Neden</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Çözüm</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cp: -r not specified; omitting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bir dizini kopyalamak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cp -r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rm: cannot remove 'x': Is a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-r olmadan rm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rmdir (boşsa) ya da rm -r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rmdir: failed to remove 'x': Directory not empty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rmdir yalnızca boş dizinleri siler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boşaltın ya da dikkatle rm -r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mkdir: cannot create directory 'a/b': No such file or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üst dizin a yok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mkdir -p a/b</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cat: docs/final: No such file or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addaki boşluk tırnaksız</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"docs/final report.txt"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ls: cannot access 'junk*': No such file or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kalıp hiçbir şeyle eşleşmedi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ls / echo ile denetleyin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ln: projects: hard link not allowed for directory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dizine sabit bağlantı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ln -s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38</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~/lab/photos içinde echo img01?.* ne yazdırır?</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mv report.txt old/ mu, cp report.txt old/ mu: hangisi yeni bir düğüm oluşturur? 4 GB'lık bir dosyada hangisi anında biter?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mkdir -p site/{css,js,img}/{v1,v2}, site dahil kaç dizin oluşturur?</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ln a.txt b.txt; ln -s a.txt c.txt; rm a.txt komutlarından sonra cat b.txt ve cat c.txt ne yazdırır?</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10. Hafta — Akılda Kalacaklar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10  ·  39</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Adlar ve düğümler:</a:t>
            </a:r>
            <a:r>
              <a:rPr lang="tr-TR" sz="2000" dirty="0">
                <a:solidFill>
                  <a:srgbClr val="3A464C"/>
                </a:solidFill>
                <a:latin typeface="Calibri" pitchFamily="34" charset="0"/>
                <a:ea typeface="Calibri" pitchFamily="34" charset="-122"/>
                <a:cs typeface="Calibri" pitchFamily="34" charset="-120"/>
              </a:rPr>
              <a:t> cp yeni düğüm oluşturur, mv yeniden adlandırır (düğüm aynı), ln ad ekler, rm ad siler — bağlantı sayısı 0 olunca veri serbest kalır.</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Oluşturma:</a:t>
            </a:r>
            <a:r>
              <a:rPr lang="tr-TR" sz="2000" dirty="0">
                <a:solidFill>
                  <a:srgbClr val="3A464C"/>
                </a:solidFill>
                <a:latin typeface="Calibri" pitchFamily="34" charset="0"/>
                <a:ea typeface="Calibri" pitchFamily="34" charset="-122"/>
                <a:cs typeface="Calibri" pitchFamily="34" charset="-120"/>
              </a:rPr>
              <a:t> bütün yollar için mkdir -p; boş dosyalar ve zaman damgaları (atime, mtime, ctime) için touch.</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Kopyalama, taşıma:</a:t>
            </a:r>
            <a:r>
              <a:rPr lang="tr-TR" sz="2000" dirty="0">
                <a:solidFill>
                  <a:srgbClr val="3A464C"/>
                </a:solidFill>
                <a:latin typeface="Calibri" pitchFamily="34" charset="0"/>
                <a:ea typeface="Calibri" pitchFamily="34" charset="-122"/>
                <a:cs typeface="Calibri" pitchFamily="34" charset="-120"/>
              </a:rPr>
              <a:t> dizinler için cp -r; cp ve mv sessizce üzerine yazar — -i kullanın.</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Silme:</a:t>
            </a:r>
            <a:r>
              <a:rPr lang="tr-TR" sz="2000" dirty="0">
                <a:solidFill>
                  <a:srgbClr val="3A464C"/>
                </a:solidFill>
                <a:latin typeface="Calibri" pitchFamily="34" charset="0"/>
                <a:ea typeface="Calibri" pitchFamily="34" charset="-122"/>
                <a:cs typeface="Calibri" pitchFamily="34" charset="-120"/>
              </a:rPr>
              <a:t> rm'nin geri alması yoktur; rmdir yalnızca boş dizinleri siler; rm -r'den önce ls ile bakın.</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Genişletme:</a:t>
            </a:r>
            <a:r>
              <a:rPr lang="tr-TR" sz="2000" dirty="0">
                <a:solidFill>
                  <a:srgbClr val="3A464C"/>
                </a:solidFill>
                <a:latin typeface="Calibri" pitchFamily="34" charset="0"/>
                <a:ea typeface="Calibri" pitchFamily="34" charset="-122"/>
                <a:cs typeface="Calibri" pitchFamily="34" charset="-120"/>
              </a:rPr>
              <a:t> kabuk * ? [ ] (var olan adlar) ve { } (üretilen metin) kalıplarını komut çalışmadan önce genişletir; echo sonucu gösterir.</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Görüntüleme:</a:t>
            </a:r>
            <a:r>
              <a:rPr lang="tr-TR" sz="2000" dirty="0">
                <a:solidFill>
                  <a:srgbClr val="3A464C"/>
                </a:solidFill>
                <a:latin typeface="Calibri" pitchFamily="34" charset="0"/>
                <a:ea typeface="Calibri" pitchFamily="34" charset="-122"/>
                <a:cs typeface="Calibri" pitchFamily="34" charset="-120"/>
              </a:rPr>
              <a:t> cat, less, head, tail -f, wc, file, stat, du, df.</a:t>
            </a:r>
            <a:endParaRPr lang="tr-TR" sz="2000" dirty="0"/>
          </a:p>
          <a:p>
            <a:pPr marL="228600" indent="-228600">
              <a:spcAft>
                <a:spcPts val="1400"/>
              </a:spcAft>
              <a:buSzPct val="100000"/>
              <a:buChar char="•"/>
            </a:pPr>
            <a:r>
              <a:rPr lang="tr-TR" sz="2000" b="1" dirty="0">
                <a:solidFill>
                  <a:srgbClr val="3A464C"/>
                </a:solidFill>
                <a:latin typeface="Calibri" pitchFamily="34" charset="0"/>
                <a:ea typeface="Calibri" pitchFamily="34" charset="-122"/>
                <a:cs typeface="Calibri" pitchFamily="34" charset="-120"/>
              </a:rPr>
              <a:t>Her komut bir sistem çağrısıdır:</a:t>
            </a:r>
            <a:r>
              <a:rPr lang="tr-TR" sz="2000" dirty="0">
                <a:solidFill>
                  <a:srgbClr val="3A464C"/>
                </a:solidFill>
                <a:latin typeface="Calibri" pitchFamily="34" charset="0"/>
                <a:ea typeface="Calibri" pitchFamily="34" charset="-122"/>
                <a:cs typeface="Calibri" pitchFamily="34" charset="-120"/>
              </a:rPr>
              <a:t> mkdir(), renameat2(), linkat(), symlinkat(), unlinkat(), rmdir().</a:t>
            </a:r>
            <a:endParaRPr lang="tr-TR"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İzinler, Sahiplik ve Kullanıcılar</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11.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Neden koruma? İkili mod (2. hafta) ve dosya koruması (7. hafta) ile bağlantı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Kullanıcılar ve gruplar: id, whoami, /etc/passwd, /etc/group</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-rw-rw-r-- okumak; sembolik (u+x) ve sekizli (754) chmod</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umask, chown/chgrp, sudo — ve student olarak Permission denied</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Laboratuvar: bir proje klasörünü güvenli hâle getirin, bir betiği çalıştırılabilir yapın</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10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10</dc:title>
  <dc:subject>PptxGenJS Presentation</dc:subject>
  <dc:creator>PptxGenJS</dc:creator>
  <cp:lastModifiedBy>PptxGenJS</cp:lastModifiedBy>
  <cp:revision>1</cp:revision>
  <dcterms:created xsi:type="dcterms:W3CDTF">2026-10-12T17:57:05Z</dcterms:created>
  <dcterms:modified xsi:type="dcterms:W3CDTF">2026-10-12T17:57:05Z</dcterms:modified>
</cp:coreProperties>
</file>