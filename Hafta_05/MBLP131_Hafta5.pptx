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6454F"/>
                </a:solidFill>
                <a:latin typeface="Calibri"/>
              </a:defRPr>
            </a:pPr>
            <a:r>
              <a:rPr sz="1400" b="0" i="0" u="none" strike="noStrike">
                <a:solidFill>
                  <a:srgbClr val="36454F"/>
                </a:solidFill>
                <a:latin typeface="Calibri"/>
              </a:rPr>
              <a:t>Patlama uzunluğu (ms) ve patlama numarası n</a:t>
            </a:r>
          </a:p>
        </c:rich>
      </c:tx>
      <c:layout/>
      <c:overlay val="0"/>
    </c:title>
    <c:autoTitleDeleted val="0"/>
    <c:plotArea>
      <c:layout/>
      <c:lineChart>
        <c:varyColors val="0"/>
        <c:ser>
          <c:idx val="0"/>
          <c:order val="0"/>
          <c:tx>
            <c:strRef>
              <c:f>Sheet1!$B$1</c:f>
              <c:strCache>
                <c:ptCount val="1"/>
                <c:pt idx="0">
                  <c:v>gerçek patlama t</c:v>
                </c:pt>
              </c:strCache>
            </c:strRef>
          </c:tx>
          <c:spPr>
            <a:solidFill>
              <a:srgbClr val="36454F"/>
            </a:solidFill>
            <a:ln w="31750" cap="flat">
              <a:solidFill>
                <a:srgbClr val="3645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36454F"/>
              </a:solidFill>
              <a:ln w="9525" cap="flat">
                <a:solidFill>
                  <a:srgbClr val="36454F"/>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Sheet1!$B$2:$B$8</c:f>
              <c:numCache>
                <c:formatCode>General</c:formatCode>
                <c:ptCount val="7"/>
                <c:pt idx="0">
                  <c:v>6</c:v>
                </c:pt>
                <c:pt idx="1">
                  <c:v>4</c:v>
                </c:pt>
                <c:pt idx="2">
                  <c:v>6</c:v>
                </c:pt>
                <c:pt idx="3">
                  <c:v>4</c:v>
                </c:pt>
                <c:pt idx="4">
                  <c:v>13</c:v>
                </c:pt>
                <c:pt idx="5">
                  <c:v>13</c:v>
                </c:pt>
                <c:pt idx="6">
                  <c:v>13</c:v>
                </c:pt>
              </c:numCache>
            </c:numRef>
          </c:val>
          <c:smooth val="0"/>
        </c:ser>
        <c:ser>
          <c:idx val="1"/>
          <c:order val="1"/>
          <c:tx>
            <c:strRef>
              <c:f>Sheet1!$C$1</c:f>
              <c:strCache>
                <c:ptCount val="1"/>
                <c:pt idx="0">
                  <c:v>tahmin τ</c:v>
                </c:pt>
              </c:strCache>
            </c:strRef>
          </c:tx>
          <c:spPr>
            <a:solidFill>
              <a:srgbClr val="02C39A"/>
            </a:solidFill>
            <a:ln w="3175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2C39A"/>
              </a:solidFill>
              <a:ln w="9525" cap="flat">
                <a:solidFill>
                  <a:srgbClr val="02C39A"/>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Sheet1!$C$2:$C$8</c:f>
              <c:numCache>
                <c:formatCode>General</c:formatCode>
                <c:ptCount val="7"/>
                <c:pt idx="0">
                  <c:v>10</c:v>
                </c:pt>
                <c:pt idx="1">
                  <c:v>8</c:v>
                </c:pt>
                <c:pt idx="2">
                  <c:v>6</c:v>
                </c:pt>
                <c:pt idx="3">
                  <c:v>6</c:v>
                </c:pt>
                <c:pt idx="4">
                  <c:v>5</c:v>
                </c:pt>
                <c:pt idx="5">
                  <c:v>9</c:v>
                </c:pt>
                <c:pt idx="6">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679"/>
                    </a:solidFill>
                    <a:latin typeface="Arial"/>
                  </a:defRPr>
                </a:pPr>
                <a:r>
                  <a:rPr sz="1200" b="0" i="0" u="none" strike="noStrike">
                    <a:solidFill>
                      <a:srgbClr val="6B7679"/>
                    </a:solidFill>
                    <a:latin typeface="Arial"/>
                  </a:rPr>
                  <a:t>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79"/>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E3E7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79"/>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Tekrar hoş geldiniz. İlk saatte zamanlama algoritmalarının kendisini işliyoruz: 'İşlemciyi sıradaki hangi hazır süreç alacak?' sorusunu nihayet sayılarla yanıtlıyoruz. Aradan sonra birkaç iş parçacığı aynı veriyi paylaştığında neyin ters gidebileceğine ve bunu düzelten araçlara (kilitler, semaforlar) bakacağız. Dersi, bu makinede gerçekten oluşan bir yarış durumunu gösteren C programlarıyla bitiriyoruz.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dakikalık bir tekrar. Üç formülü tahtaya yazın; bugün her algoritma slaydında kullanacağız. Öğrencilere hatırlatın: işlemci kullanımını ve iş çıkarma hızını (throughput) en büyük, dönüş, bekleme ve yanıt sürelerini en küçük yapmak istiyoruz.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ve 2. bölümler aradan önce, 3–5. bölümler aradan sonra. 1. bölümdeki her şey TEK bir dört süreçlik iş kümesini kullanıyor; böylece sonunda algoritmaları tek bir tabloda adil biçimde karşılaştırabileceğiz.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Hazır kuyruğunda birkaç süreç bekliyor. Zamanlayıcı birini seçer, dağıtıcı ona işlemciyi verir. Aşağıdaki her algoritma, 'birini seç' adımı için farklı bir kuraldan ibarettir.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 kümesini yavaşça tanıtın; öğrenciler bunu defterlerine yazmalı. Toplam CPU işi 7+4+1+4 = 16 ms'dir; burada işlemci hiç boş kalmadığından her plan t = 16'da biter. Simülatör dosyası ders klasöründe; biraz Python bilen öğrenciler işleri değiştirip yeniden çalıştırabilir.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bir satırı birlikte hesaplayın: P3 t = 4'te gelir, 11'de başlar, 12'de biter. Dönüş 12 − 4 = 8, bekleme 8 − 1 = 7, yanıt 11 − 4 = 7. Kesintisiz her algoritmada bekleme = yanıt olur, çünkü süreç tek parça hâlinde çalışır. Ortalama bekleme 4,75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kitabındaki klasik örnek (Silberschatz). B sırasını göstermeden önce sınıfa sorun: İşleri değiştirmeden daha iyisini yapabilir miyiz? Yalnızca sırayı değiştirerek ortalama bekleme 17 ms'den 3 ms'ye düşüyor. Bu, sonraki slaytlardaki SJF'ye geçişi hazırlar.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Kesintisiz SJF'nin zayıflığına dikkat çekin: P1, başka kimse olmadığı için t = 0'da başladı ve sonra kısa P3'ü bir süre bekletti. Sonraki slayttaki kesintili sürüm bunu düzeltir.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varış anını tek tek izleyin. P1 iki parçaya bölünür: 0–2 ve 11–16. Bekleme süresi 16 − 0 − 7 = 9 ms ile en büyüğüdür: kısa işlerin hızının bedelini uzun işler öder. Ortalama yanıt süresi yalnızca 0,5 ms'dir, çünkü üç süreç geldiği anda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öğrencilerin izleyebileceği bir ispattır. Konvoy örneğinde B sırası tam olarak en kısa önce sırasıdır ve 3 ms vermişti. Bizim iş kümemizde SRTF (3 ms) kesintisiz SJF'yi (4 ms) geçer, çünkü işler farklı zamanlarda gelir. Sonra püf noktasını sorun: İşletim sistemine bir sonraki patlamanın ne kadar süreceğini kimse söylemez.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Formülü bir kez açın: tau_{n+1} = a t_n + (1-a) a t_{n-1} + (1-a)^2 a t_{n-2} + ... — eski patlamaların ağırlığı giderek (üstel olarak) azalır. alfa = 0 şimdiki durumu yok sayar; alfa = 1 yalnızca son patlamaya güvenir. Grafikte patlamalar 6, 4, 6, 4, 13, 13, 13: tahmin 13'e sıçramayı gecikmeli izler (5 → 9 → 11, sonra 12); yumuşatmanın bedeli budur. Tüm değerler sched_check.py'den.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Kesintili izleme: t=2'de P2 (1), P1'i (3) yener ve 2–6 arasında çalışır; 5'te gelen P4 (2) 6–10 arasında çalışır; sonra P1 (3) 10–15; en son P3 (4) 15–16. Mağdur P3'tür. Şimdi yüksek öncelikli işlerin sonsuza kadar gelmeye devam ettiğini düşünün: P3 hiç çalışamaz. Bu, sonraki slaydın konusu.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7094 anekdotu Silberschatz'da bir söylenti olarak aktarılır; bir halk hikâyesi olarak sunun. Yaşlandırma hesabı: her biri 1 s olan 127 adım = 127 s. Sorun: Yaşlandırmanın dezavantajı nedir? (Öncelikler daha az anlamlı hâle gelir; daha fazla kayıt tutmak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Döngüsel zamanlama, zaman paylaşımının (1. hafta) temelidir. İyi yanıt süresini sağlayan şey (n-1)q sınırıdır. Eşzamanlı olaylar için kuralımıza dikkat çekin: ders kitapları bu konuda farklıdır; bizimki Silberschatz'ı izler. Farklı kurallar biraz farklı Gantt şemaları verebilir; sınav yanıtında kuralınızı her zaman belirtin.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İlerledikçe kuyruğu tahtaya çizin. Ortalama bekleme 4,5 ms (SJF'den kötü), ama ortalama yanıt 3,25 ms. 4 bağlam değişimi. P4'ün 7 ms beklediğine dikkat edin: P1 kuyruğa yeniden katıldıktan hemen sonra gelmişti.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 için kuyruk izlemesi: t=2 [P2,P1]; t=4 [P1,P3,P2]; t=6 [P3,P2,P4,P1]; P3 7'de biter; P2 9'da biter; [P4,P1]; ... Daha küçük zaman dilimi sistemi daha duyarlı hissettirir, ama gerçek geçiş maliyetleriyle daha çok işlemci zamanı harcar — sonraki slayt.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 yük formülü: her q kadar yararlı iş, bir s geçişine mal olur; bu yüzden boşa giden pay s/(q+s)'dir. s = 0,1 ms, etkiyi görünür kılmak için bilerek kötümser seçildi; gerçek geçişler birkaç mikrosaniye sürer, artı soğuk önbelleklerin dolaylı maliyeti vardır. Tablodaki ödünleşimi gösterin: q küçüldükçe yanıt iyileşir, geçiş sayısı patlar.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Yalnızca genel bakış; ayrıntısıyla sınav konusu değil. Örnek, Silberschatz'daki üç kuyruklu MLFQ'dur. Ana fikir: MLFQ, patlama uzunluklarını bilmeden, sürecin bir önceki davranışını gözleyerek SJF'ye yaklaşır.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Derleme konteynerimizde yapılmış gerçek bir ölçüm (code/cpu_hog.c, EEVDF'li 6.18 çekirdeği). 88,0/9,4 = 9,4 oranı, beklenen 1024/110 = 9,3 oranına çok yakındır; ikisinin toplamı %100 etmez, çünkü ps her sürecin başladığı andan beri olan ortalamayı bildirir. CLS TS = 'time sharing' (zaman paylaşımı), yani normal adil sınıf. Öğrenciler bunu 13. haftada (süreçler ve iş denetimi) tekrarlayabilir.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 değerler sched_check.py ile hesaplandı. Öğrencilere hatırlatın: bunlar TEK bir küçük iş kümesinin ortalamalarıdır; başka bir iş kümesi tablonun ortasının sırasını değiştirebilir, ama SRTF her zaman en küçük ortalama bekleme süresini verir (geçiş maliyeti sıfırken). Sorun: Bir masaüstü bilgisayar için hangi algoritmayı seçerdiniz? Bir toplu iş sunucusu için? Bir arabanın fren denetleyicisi için (hiçbiri — gerçek zamanlı zamanlama)?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İsteğe bağlı: ara sırasında karşılaştırma tablosunu ekranda bırakın.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Köprü: 1. bölümde zamanlayıcı süreçleri istediği an kesiyordu. Bağımsız süreçler için bu zararsızdır, ama bir sürecin iş parçacıkları belleği paylaşır (4.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gerçek derleyici çıktısıdır (gcc 13, -O2, x86-64); değişken volatile olduğu için derleyici her seferinde okuyup yazmak zorundadır. Bir RISC işlemcide (ARM) ldr / add / str olurdu — aynı üç adım.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Bunu iki öğrenci ve tahtadaki bir sayıyla canlandırın: her biri sayıyı defterine kopyalar (oku), bir ekler (ekle) ve geri yazar (yaz). İkisi de geri yazmadan önce kopyalarsa bir güncelleme kaybolur. Başka iç içe geçmeler 7 verir: sonuç zamanlamaya bağlıdır; bu tür hataları yeniden üretmeyi bu kadar zorlaştıran da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Çekirdek örneği Silberschatz'dandır: next_available_pid değişkeni. Vurgulayın: yalnızca yazılan ortak veri yarışabilir; salt okunur paylaşım güvenlidir.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Genel yapı Silberschatz'dandır. race.c'de kritik bölge tek bir satırdır: counter++. Gerçek programlarda bir bağlı listenin, bir banka bakiyesinin ya da bir dosyanın güncellenmesi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biri için bir karşı örnek verin: 'kimseyi asla içeri alma' karşılıklı dışlamayı sağlar ama ilerlemeyi ihlal eder; 'katı sırayla A, B, A, B' B girmek istemediğinde ilerlemeyi ihlal eder; her zaman A'yı kayıran bir kilit sınırlı beklemeyi ihlal edebilir.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haftaya bağlayın: kesmeleri kapatmak ayrıcalıklı bir komuttur, bu yüzden yalnızca çekirdek modunda kullanılabilir. Linux çok kısa bölümler için kesmeleri yerel olarak hâlâ kapatır, ama çok işlemcili sistemlerde bunu her zaman bir döner kilitle (spinlock) birlikte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Yalnızca kavramsal. İkisinin de bayrağını kaldırdığı durumu izleyin: A turn = B yapar, sonra B turn = A yapar; turn A olarak kalır, bu yüzden B (en son yazan) bekler ve A girer. Gary Peterson, 1981. Bellek yeniden sıralama uyarısı, gerçek sistemlerin donanım komutlarını kullanmasının nedenidir.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Atomikliği donanım garanti eder (işlemci bu süre boyunca önbellek satırını / veri yolunu kilitler). Bu basit kilit karşılıklı dışlamayı ve ilerlemeyi sağlar; sınırlı bekleme biraz daha fazlasını ister (ör. bir bilet kilidi ya da Silberschatz'daki waiting[] dizisi). C11 bunları atomic_flag_test_and_set ve atomic_compare_exchange olarak sunar.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Muteks = MUTual EXclusion (karşılıklı dışlama). Silberschatz'ın pratik kuralı: kilit iki bağlam değişiminden daha kısa süre tutulacaksa dönerek bekleyin. Tek işlemcide dönmek anlamsızdır: siz dönerken kilidi tutan iş parçacığı çalışamaz.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Meşgul beklemeli tanım ders kitabındakidir; gerçek gerçekleştirmeler bloklanmış iş parçacıkları için bir kuyruk tutar, böylece wait() dönmek yerine uyur. O zaman değer şöyle okunabilir: S &gt; 0 → boş kaynaklar; S = 0 → boş kaynak yok (negatif değerlere izin veren gerçekleştirmelerde −S = bekleyen sayısı).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örnekte iki tür semafor kullanımı: empty ve full sayan semaforlardır (kaynak sayarlar), mutex ise ikili semafordur (karşılıklı dışlama). Sınıfa soru: Tampon doluyken üretici wait(empty)'den ÖNCE wait(mutex) yaparsa ne olur? Yanıt sonraki slaytta.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Bilerek tek slayt. Sınırlı tampon sorusunun yanıtı: üretici mutex'i tutarken empty üzerinde uyur; tüketici bir öğe çıkarmak için mutex'i alamaz; kimse ilerleyemez. Kilitlenmenin açlıktan farklı olduğuna dikkat çekin: kilitlenmede kimse ilerlemez, açlıkta başkaları ilerler.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Derleme konteynerimizde (2 işlemci) yapılmış gerçek çalıştırmalar. Artırmaların yaklaşık %28–40'ı kayboluyor ve sayı her çalıştırmada değişiyor. TEK işlemciye sabitlendiğinde bile (taskset -c 0) güncellemeler kayboluyor: bir iş parçacığı okuma ile yazma arasında kesilirse, onun eskimiş yazması daha sonra diğer iş parçacığının bütün zaman dilimi boyunca yaptığı her şeyi siler. Öğrenciler bunu 9. haftada herhangi bir Linux makinesinde derleyebilir.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önce doğruluk, sonra başarım. Daha iyi tasarım: her iş parçacığı özel bir yerel değişkende saysın ve toplamı ortak sayaca kilit altında YALNIZCA BİR KEZ eklesin — o zaman 20 milyon yerine yalnızca iki kilit işlemi olur. Bu, notlarda bir alıştırma.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Programın tamamı: code/prodcons.c. 210 = 20·21/2 toplam denetimi, hiçbir öğenin kaybolmadığını ya da iki kez alınmadığını gösterir. Alıştırma: üreticideki iki sem_wait çağrısının yerini değiştirin ve tampon boyutunu 1 yapın — program takılır (kilitlenme).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sıra 2, 5, 8 → beklemeler 0, 2, 7 → ortalama 3 ms. (2) 0,5·12 + 0,5·8 = 10 ms. (3) FCFS: hiçbir iş zaman dilimini doldurmaz. (4) Karşılıklı dışlama, ilerleme, sınırlı bekleme; ilerlemeyi (ve B için sınırlı beklemeyi) ihlal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Bunları bir kontrol listesi gibi okuyun; her satır, öğrencilerin ara sınavda (8. hafta) hesaplayabilmesi ya da açıklayabilmesi gereken bir şeydir.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hafta işlemciden ikinci büyük kaynağa geçiyor: ana bellek. Öğrencilerden ikilik sayıları ve ikinin kuvvetlerini (2^10 = 1024, 2^12 = 4096) gözden geçirmelerini isteyin — sayfa boyutları ve adresler için gerekecek.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 Öğrencilere 5. hafta notlarında sayısal tekrar sorularının çözümlü yanıtlarının bulunduğunu ve sched_check.py simülatörüyle kendi Gantt şemalarını denetleyebileceklerini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5</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5  ·  İşlemci Zamanlama Algoritmaları ve Süreç Eşzamanlaması</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Sırada kim çalışacak ve iş parçacıkları veriyi bozmadan nasıl paylaşır?</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4.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İş parçacıkları</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Bir süreç içindeki iş parçacıkları kodu, veriyi ve açık dosyaları paylaşır; her birinin kendi yazmaçları ve yığıtı (stack) vardır.</a:t>
            </a:r>
            <a:endParaRPr lang="tr-TR" sz="15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CPU–G/Ç patlamaları</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Süreç, CPU patlamaları (CPU burst) ile G/Ç beklemeleri arasında gidip gelir. Patlamaların çoğu kısa, birkaçı uzundur.</a:t>
            </a:r>
            <a:endParaRPr lang="tr-TR" sz="15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Kesintili mi, değil mi?</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Kesintisiz: süreç bloklanana ya da bitene kadar işlemciyi tutar. Kesintili (preemptive): işletim sistemi işlemciyi geri alabilir. Geçişi dağıtıcı yapar.</a:t>
            </a:r>
            <a:endParaRPr lang="tr-TR" sz="15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Bir planı puanlamak</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Dönüş</a:t>
            </a:r>
            <a:r>
              <a:rPr lang="tr-TR" sz="1500" dirty="0">
                <a:solidFill>
                  <a:srgbClr val="3A464C"/>
                </a:solidFill>
                <a:latin typeface="Calibri" pitchFamily="34" charset="0"/>
                <a:ea typeface="Calibri" pitchFamily="34" charset="-122"/>
                <a:cs typeface="Calibri" pitchFamily="34" charset="-120"/>
              </a:rPr>
              <a:t> = bitiş − varış</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Bekleme</a:t>
            </a:r>
            <a:r>
              <a:rPr lang="tr-TR" sz="1500" dirty="0">
                <a:solidFill>
                  <a:srgbClr val="3A464C"/>
                </a:solidFill>
                <a:latin typeface="Calibri" pitchFamily="34" charset="0"/>
                <a:ea typeface="Calibri" pitchFamily="34" charset="-122"/>
                <a:cs typeface="Calibri" pitchFamily="34" charset="-120"/>
              </a:rPr>
              <a:t> = dönüş − patlama</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Yanıt</a:t>
            </a:r>
            <a:r>
              <a:rPr lang="tr-TR" sz="1500" dirty="0">
                <a:solidFill>
                  <a:srgbClr val="3A464C"/>
                </a:solidFill>
                <a:latin typeface="Calibri" pitchFamily="34" charset="0"/>
                <a:ea typeface="Calibri" pitchFamily="34" charset="-122"/>
                <a:cs typeface="Calibri" pitchFamily="34" charset="-120"/>
              </a:rPr>
              <a:t> = ilk çalışma − varış</a:t>
            </a:r>
            <a:endParaRPr lang="tr-TR" sz="15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Bugün: bu kararı veren algoritmalar ve zamanladığımız iş parçacıkları veri paylaştığında olanlar.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5</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a:t>
            </a:r>
            <a:endParaRPr lang="tr-TR" sz="900" dirty="0"/>
          </a:p>
        </p:txBody>
      </p:sp>
      <p:sp>
        <p:nvSpPr>
          <p:cNvPr id="6" name="Shape 4"/>
          <p:cNvSpPr/>
          <p:nvPr/>
        </p:nvSpPr>
        <p:spPr>
          <a:xfrm>
            <a:off x="548640" y="1554480"/>
            <a:ext cx="731520" cy="731520"/>
          </a:xfrm>
          <a:prstGeom prst="roundRect">
            <a:avLst>
              <a:gd name="adj" fmla="val 6250"/>
            </a:avLst>
          </a:prstGeom>
          <a:solidFill>
            <a:srgbClr val="02C39A"/>
          </a:solidFill>
          <a:ln/>
        </p:spPr>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463040" y="1554480"/>
            <a:ext cx="10195560" cy="731520"/>
          </a:xfrm>
          <a:prstGeom prst="roundRect">
            <a:avLst>
              <a:gd name="adj" fmla="val 6250"/>
            </a:avLst>
          </a:prstGeom>
          <a:solidFill>
            <a:srgbClr val="F2F2F2"/>
          </a:solidFill>
          <a:ln/>
        </p:spPr>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FCFS ve SJF   </a:t>
            </a:r>
            <a:r>
              <a:rPr lang="tr-TR" sz="1500" dirty="0">
                <a:solidFill>
                  <a:srgbClr val="3A464C"/>
                </a:solidFill>
                <a:latin typeface="Calibri" pitchFamily="34" charset="0"/>
                <a:ea typeface="Calibri" pitchFamily="34" charset="-122"/>
                <a:cs typeface="Calibri" pitchFamily="34" charset="-120"/>
              </a:rPr>
              <a:t>İlk gelen ilk hizmet alır, en kısa iş önce, en kısa kalan süre önce.</a:t>
            </a:r>
            <a:endParaRPr lang="tr-TR" sz="1400" dirty="0"/>
          </a:p>
        </p:txBody>
      </p:sp>
      <p:sp>
        <p:nvSpPr>
          <p:cNvPr id="10" name="Shape 8"/>
          <p:cNvSpPr/>
          <p:nvPr/>
        </p:nvSpPr>
        <p:spPr>
          <a:xfrm>
            <a:off x="548640" y="2468880"/>
            <a:ext cx="731520" cy="731520"/>
          </a:xfrm>
          <a:prstGeom prst="roundRect">
            <a:avLst>
              <a:gd name="adj" fmla="val 6250"/>
            </a:avLst>
          </a:prstGeom>
          <a:solidFill>
            <a:srgbClr val="02C39A"/>
          </a:solidFill>
          <a:ln/>
        </p:spPr>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Öncelik ve döngüsel   </a:t>
            </a:r>
            <a:r>
              <a:rPr lang="tr-TR" sz="1500" dirty="0">
                <a:solidFill>
                  <a:srgbClr val="3A464C"/>
                </a:solidFill>
                <a:latin typeface="Calibri" pitchFamily="34" charset="0"/>
                <a:ea typeface="Calibri" pitchFamily="34" charset="-122"/>
                <a:cs typeface="Calibri" pitchFamily="34" charset="-120"/>
              </a:rPr>
              <a:t>Açlık ve yaşlandırma; zaman dilimi; çok düzeyli kuyruklar; Linux ne yapıyor?</a:t>
            </a:r>
            <a:endParaRPr lang="tr-TR" sz="1400" dirty="0"/>
          </a:p>
        </p:txBody>
      </p:sp>
      <p:sp>
        <p:nvSpPr>
          <p:cNvPr id="14" name="Shape 12"/>
          <p:cNvSpPr/>
          <p:nvPr/>
        </p:nvSpPr>
        <p:spPr>
          <a:xfrm>
            <a:off x="548640" y="3383280"/>
            <a:ext cx="731520" cy="731520"/>
          </a:xfrm>
          <a:prstGeom prst="roundRect">
            <a:avLst>
              <a:gd name="adj" fmla="val 6250"/>
            </a:avLst>
          </a:prstGeom>
          <a:solidFill>
            <a:srgbClr val="02C39A"/>
          </a:solidFill>
          <a:ln/>
        </p:spPr>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Yarış durumları   </a:t>
            </a:r>
            <a:r>
              <a:rPr lang="tr-TR" sz="1500" dirty="0">
                <a:solidFill>
                  <a:srgbClr val="3A464C"/>
                </a:solidFill>
                <a:latin typeface="Calibri" pitchFamily="34" charset="0"/>
                <a:ea typeface="Calibri" pitchFamily="34" charset="-122"/>
                <a:cs typeface="Calibri" pitchFamily="34" charset="-120"/>
              </a:rPr>
              <a:t>counter++ neden güncelleme kaybedebilir; kritik bölge problemi.</a:t>
            </a:r>
            <a:endParaRPr lang="tr-TR" sz="1400" dirty="0"/>
          </a:p>
        </p:txBody>
      </p:sp>
      <p:sp>
        <p:nvSpPr>
          <p:cNvPr id="18" name="Shape 16"/>
          <p:cNvSpPr/>
          <p:nvPr/>
        </p:nvSpPr>
        <p:spPr>
          <a:xfrm>
            <a:off x="548640" y="4297680"/>
            <a:ext cx="731520" cy="731520"/>
          </a:xfrm>
          <a:prstGeom prst="roundRect">
            <a:avLst>
              <a:gd name="adj" fmla="val 6250"/>
            </a:avLst>
          </a:prstGeom>
          <a:solidFill>
            <a:srgbClr val="02C39A"/>
          </a:solidFill>
          <a:ln/>
        </p:spPr>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Eşzamanlama araçları   </a:t>
            </a:r>
            <a:r>
              <a:rPr lang="tr-TR" sz="1500" dirty="0">
                <a:solidFill>
                  <a:srgbClr val="3A464C"/>
                </a:solidFill>
                <a:latin typeface="Calibri" pitchFamily="34" charset="0"/>
                <a:ea typeface="Calibri" pitchFamily="34" charset="-122"/>
                <a:cs typeface="Calibri" pitchFamily="34" charset="-120"/>
              </a:rPr>
              <a:t>Peterson, atomik komutlar, muteks kilitleri, semaforlar, üretici–tüketici.</a:t>
            </a:r>
            <a:endParaRPr lang="tr-TR" sz="1400" dirty="0"/>
          </a:p>
        </p:txBody>
      </p:sp>
      <p:sp>
        <p:nvSpPr>
          <p:cNvPr id="22" name="Shape 20"/>
          <p:cNvSpPr/>
          <p:nvPr/>
        </p:nvSpPr>
        <p:spPr>
          <a:xfrm>
            <a:off x="548640" y="5212080"/>
            <a:ext cx="731520" cy="731520"/>
          </a:xfrm>
          <a:prstGeom prst="roundRect">
            <a:avLst>
              <a:gd name="adj" fmla="val 6250"/>
            </a:avLst>
          </a:prstGeom>
          <a:solidFill>
            <a:srgbClr val="02C39A"/>
          </a:solidFill>
          <a:ln/>
        </p:spPr>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Uygulama   </a:t>
            </a:r>
            <a:r>
              <a:rPr lang="tr-TR" sz="1500" dirty="0">
                <a:solidFill>
                  <a:srgbClr val="3A464C"/>
                </a:solidFill>
                <a:latin typeface="Calibri" pitchFamily="34" charset="0"/>
                <a:ea typeface="Calibri" pitchFamily="34" charset="-122"/>
                <a:cs typeface="Calibri" pitchFamily="34" charset="-120"/>
              </a:rPr>
              <a:t>pthreads ile C'de gerçek bir yarış ve ölçülmüş çözümü.</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İşlemci Zamanlama Algoritmaları</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Tek iş kümesi, yedi plan, tek karşılaştırma tablosu.</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5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SÜREKLİ ÖRNEĞİMİZ</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Her Algoritma için Tek Bir İş Kümesi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Dört süreç. Süreler milisaniye cinsinden. Öncelik numarası küçüldükçe öncelik yükselir.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5</a:t>
            </a:r>
            <a:endParaRPr lang="tr-TR"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035040" cy="914400"/>
        </p:xfrm>
        <a:graphic>
          <a:graphicData uri="http://schemas.openxmlformats.org/drawingml/2006/table">
            <a:tbl>
              <a:tblPr/>
              <a:tblGrid>
                <a:gridCol w="1188720"/>
                <a:gridCol w="1691640"/>
                <a:gridCol w="1737360"/>
                <a:gridCol w="1417320"/>
              </a:tblGrid>
              <a:tr h="457200">
                <a:tc>
                  <a:txBody>
                    <a:bodyPr/>
                    <a:lstStyle/>
                    <a:p>
                      <a:pPr algn="ctr" indent="0" marL="0">
                        <a:buNone/>
                      </a:pPr>
                      <a:r>
                        <a:rPr lang="tr-TR" sz="1500" b="1" dirty="0">
                          <a:solidFill>
                            <a:srgbClr val="FFFFFF"/>
                          </a:solidFill>
                          <a:latin typeface="Cambria" pitchFamily="34" charset="0"/>
                          <a:ea typeface="Cambria" pitchFamily="34" charset="-122"/>
                          <a:cs typeface="Cambria" pitchFamily="34" charset="-120"/>
                        </a:rPr>
                        <a:t>Süreç</a:t>
                      </a:r>
                      <a:endParaRPr lang="tr-TR"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500" b="1" dirty="0">
                          <a:solidFill>
                            <a:srgbClr val="FFFFFF"/>
                          </a:solidFill>
                          <a:latin typeface="Cambria" pitchFamily="34" charset="0"/>
                          <a:ea typeface="Cambria" pitchFamily="34" charset="-122"/>
                          <a:cs typeface="Cambria" pitchFamily="34" charset="-120"/>
                        </a:rPr>
                        <a:t>Varış zamanı</a:t>
                      </a:r>
                      <a:endParaRPr lang="tr-TR"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500" b="1" dirty="0">
                          <a:solidFill>
                            <a:srgbClr val="FFFFFF"/>
                          </a:solidFill>
                          <a:latin typeface="Cambria" pitchFamily="34" charset="0"/>
                          <a:ea typeface="Cambria" pitchFamily="34" charset="-122"/>
                          <a:cs typeface="Cambria" pitchFamily="34" charset="-120"/>
                        </a:rPr>
                        <a:t>CPU patlaması</a:t>
                      </a:r>
                      <a:endParaRPr lang="tr-TR"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500" b="1" dirty="0">
                          <a:solidFill>
                            <a:srgbClr val="FFFFFF"/>
                          </a:solidFill>
                          <a:latin typeface="Cambria" pitchFamily="34" charset="0"/>
                          <a:ea typeface="Cambria" pitchFamily="34" charset="-122"/>
                          <a:cs typeface="Cambria" pitchFamily="34" charset="-120"/>
                        </a:rPr>
                        <a:t>Öncelik</a:t>
                      </a:r>
                      <a:endParaRPr lang="tr-TR" sz="15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57200">
                <a:tc>
                  <a:txBody>
                    <a:bodyPr/>
                    <a:lstStyle/>
                    <a:p>
                      <a:pPr algn="ctr" indent="0" marL="0">
                        <a:buNone/>
                      </a:pPr>
                      <a:r>
                        <a:rPr lang="tr-TR" sz="1600" b="1" dirty="0">
                          <a:solidFill>
                            <a:srgbClr val="028090"/>
                          </a:solidFill>
                          <a:latin typeface="Calibri" pitchFamily="34" charset="0"/>
                          <a:ea typeface="Calibri" pitchFamily="34" charset="-122"/>
                          <a:cs typeface="Calibri" pitchFamily="34" charset="-120"/>
                        </a:rPr>
                        <a:t>P1</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0</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7</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3</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algn="ctr" indent="0" marL="0">
                        <a:buNone/>
                      </a:pPr>
                      <a:r>
                        <a:rPr lang="tr-TR" sz="1600" b="1" dirty="0">
                          <a:solidFill>
                            <a:srgbClr val="50808E"/>
                          </a:solidFill>
                          <a:latin typeface="Calibri" pitchFamily="34" charset="0"/>
                          <a:ea typeface="Calibri" pitchFamily="34" charset="-122"/>
                          <a:cs typeface="Calibri" pitchFamily="34" charset="-120"/>
                        </a:rPr>
                        <a:t>P2</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2</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1</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algn="ctr" indent="0" marL="0">
                        <a:buNone/>
                      </a:pPr>
                      <a:r>
                        <a:rPr lang="tr-TR" sz="1600" b="1" dirty="0">
                          <a:solidFill>
                            <a:srgbClr val="C98A1B"/>
                          </a:solidFill>
                          <a:latin typeface="Calibri" pitchFamily="34" charset="0"/>
                          <a:ea typeface="Calibri" pitchFamily="34" charset="-122"/>
                          <a:cs typeface="Calibri" pitchFamily="34" charset="-120"/>
                        </a:rPr>
                        <a:t>P3</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1</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algn="ctr" indent="0" marL="0">
                        <a:buNone/>
                      </a:pPr>
                      <a:r>
                        <a:rPr lang="tr-TR" sz="1600" b="1" dirty="0">
                          <a:solidFill>
                            <a:srgbClr val="36454F"/>
                          </a:solidFill>
                          <a:latin typeface="Calibri" pitchFamily="34" charset="0"/>
                          <a:ea typeface="Calibri" pitchFamily="34" charset="-122"/>
                          <a:cs typeface="Calibri" pitchFamily="34" charset="-120"/>
                        </a:rPr>
                        <a:t>P4</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5</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600" dirty="0">
                          <a:solidFill>
                            <a:srgbClr val="3A464C"/>
                          </a:solidFill>
                          <a:latin typeface="Calibri" pitchFamily="34" charset="0"/>
                          <a:ea typeface="Calibri" pitchFamily="34" charset="-122"/>
                          <a:cs typeface="Calibri" pitchFamily="34" charset="-120"/>
                        </a:rPr>
                        <a:t>2</a:t>
                      </a:r>
                      <a:endParaRPr lang="tr-TR" sz="160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Shape 5"/>
          <p:cNvSpPr/>
          <p:nvPr/>
        </p:nvSpPr>
        <p:spPr>
          <a:xfrm>
            <a:off x="822960" y="5715000"/>
            <a:ext cx="5486400" cy="0"/>
          </a:xfrm>
          <a:prstGeom prst="line">
            <a:avLst/>
          </a:prstGeom>
          <a:noFill/>
          <a:ln w="19050">
            <a:solidFill>
              <a:srgbClr val="50808E"/>
            </a:solidFill>
            <a:prstDash val="solid"/>
            <a:tailEnd type="triangle"/>
          </a:ln>
        </p:spPr>
      </p:sp>
      <p:sp>
        <p:nvSpPr>
          <p:cNvPr id="9" name="Text 6"/>
          <p:cNvSpPr txBox="1"/>
          <p:nvPr/>
        </p:nvSpPr>
        <p:spPr>
          <a:xfrm>
            <a:off x="6400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10" name="Text 7"/>
          <p:cNvSpPr txBox="1"/>
          <p:nvPr/>
        </p:nvSpPr>
        <p:spPr>
          <a:xfrm>
            <a:off x="13258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a:t>
            </a:r>
            <a:endParaRPr lang="tr-TR" sz="1200" dirty="0"/>
          </a:p>
        </p:txBody>
      </p:sp>
      <p:sp>
        <p:nvSpPr>
          <p:cNvPr id="11" name="Text 8"/>
          <p:cNvSpPr txBox="1"/>
          <p:nvPr/>
        </p:nvSpPr>
        <p:spPr>
          <a:xfrm>
            <a:off x="20116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2</a:t>
            </a:r>
            <a:endParaRPr lang="tr-TR" sz="1200" dirty="0"/>
          </a:p>
        </p:txBody>
      </p:sp>
      <p:sp>
        <p:nvSpPr>
          <p:cNvPr id="12" name="Text 9"/>
          <p:cNvSpPr txBox="1"/>
          <p:nvPr/>
        </p:nvSpPr>
        <p:spPr>
          <a:xfrm>
            <a:off x="26974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3</a:t>
            </a:r>
            <a:endParaRPr lang="tr-TR" sz="1200" dirty="0"/>
          </a:p>
        </p:txBody>
      </p:sp>
      <p:sp>
        <p:nvSpPr>
          <p:cNvPr id="13" name="Text 10"/>
          <p:cNvSpPr txBox="1"/>
          <p:nvPr/>
        </p:nvSpPr>
        <p:spPr>
          <a:xfrm>
            <a:off x="33832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4</a:t>
            </a:r>
            <a:endParaRPr lang="tr-TR" sz="1200" dirty="0"/>
          </a:p>
        </p:txBody>
      </p:sp>
      <p:sp>
        <p:nvSpPr>
          <p:cNvPr id="14" name="Text 11"/>
          <p:cNvSpPr txBox="1"/>
          <p:nvPr/>
        </p:nvSpPr>
        <p:spPr>
          <a:xfrm>
            <a:off x="40690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5</a:t>
            </a:r>
            <a:endParaRPr lang="tr-TR" sz="1200" dirty="0"/>
          </a:p>
        </p:txBody>
      </p:sp>
      <p:sp>
        <p:nvSpPr>
          <p:cNvPr id="15" name="Text 12"/>
          <p:cNvSpPr txBox="1"/>
          <p:nvPr/>
        </p:nvSpPr>
        <p:spPr>
          <a:xfrm>
            <a:off x="47548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6</a:t>
            </a:r>
            <a:endParaRPr lang="tr-TR" sz="1200" dirty="0"/>
          </a:p>
        </p:txBody>
      </p:sp>
      <p:sp>
        <p:nvSpPr>
          <p:cNvPr id="16" name="Text 13"/>
          <p:cNvSpPr txBox="1"/>
          <p:nvPr/>
        </p:nvSpPr>
        <p:spPr>
          <a:xfrm>
            <a:off x="5440680" y="5769864"/>
            <a:ext cx="36576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7</a:t>
            </a:r>
            <a:endParaRPr lang="tr-TR" sz="1200" dirty="0"/>
          </a:p>
        </p:txBody>
      </p:sp>
      <p:sp>
        <p:nvSpPr>
          <p:cNvPr id="17" name="Text 14"/>
          <p:cNvSpPr txBox="1"/>
          <p:nvPr/>
        </p:nvSpPr>
        <p:spPr>
          <a:xfrm>
            <a:off x="5120640" y="6035040"/>
            <a:ext cx="1280160" cy="274320"/>
          </a:xfrm>
          <a:prstGeom prst="rect">
            <a:avLst/>
          </a:prstGeom>
          <a:noFill/>
          <a:ln/>
        </p:spPr>
        <p:txBody>
          <a:bodyPr wrap="square" lIns="0" tIns="0" rIns="0" bIns="0" rtlCol="0" anchor="t"/>
          <a:lstStyle/>
          <a:p>
            <a:pPr algn="r" indent="0" marL="0">
              <a:buNone/>
            </a:pPr>
            <a:r>
              <a:rPr lang="tr-TR" sz="1200" i="1" dirty="0">
                <a:solidFill>
                  <a:srgbClr val="6B7679"/>
                </a:solidFill>
                <a:latin typeface="Calibri" pitchFamily="34" charset="0"/>
                <a:ea typeface="Calibri" pitchFamily="34" charset="-122"/>
                <a:cs typeface="Calibri" pitchFamily="34" charset="-120"/>
              </a:rPr>
              <a:t>zaman (ms)</a:t>
            </a:r>
            <a:endParaRPr lang="tr-TR" sz="1200" dirty="0"/>
          </a:p>
        </p:txBody>
      </p:sp>
      <p:sp>
        <p:nvSpPr>
          <p:cNvPr id="18" name="Shape 15"/>
          <p:cNvSpPr/>
          <p:nvPr/>
        </p:nvSpPr>
        <p:spPr>
          <a:xfrm>
            <a:off x="548640" y="5029200"/>
            <a:ext cx="548640" cy="411480"/>
          </a:xfrm>
          <a:prstGeom prst="roundRect">
            <a:avLst>
              <a:gd name="adj" fmla="val 11111"/>
            </a:avLst>
          </a:prstGeom>
          <a:solidFill>
            <a:srgbClr val="02C39A"/>
          </a:solidFill>
          <a:ln/>
        </p:spPr>
      </p:sp>
      <p:sp>
        <p:nvSpPr>
          <p:cNvPr id="19" name="Text 16"/>
          <p:cNvSpPr txBox="1"/>
          <p:nvPr/>
        </p:nvSpPr>
        <p:spPr>
          <a:xfrm>
            <a:off x="548640" y="5029200"/>
            <a:ext cx="548640" cy="41148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20" name="Shape 17"/>
          <p:cNvSpPr/>
          <p:nvPr/>
        </p:nvSpPr>
        <p:spPr>
          <a:xfrm>
            <a:off x="822960" y="5458968"/>
            <a:ext cx="91" cy="228600"/>
          </a:xfrm>
          <a:prstGeom prst="line">
            <a:avLst/>
          </a:prstGeom>
          <a:noFill/>
          <a:ln w="15875">
            <a:solidFill>
              <a:srgbClr val="50808E"/>
            </a:solidFill>
            <a:prstDash val="solid"/>
            <a:tailEnd type="triangle"/>
          </a:ln>
        </p:spPr>
      </p:sp>
      <p:sp>
        <p:nvSpPr>
          <p:cNvPr id="21" name="Shape 18"/>
          <p:cNvSpPr/>
          <p:nvPr/>
        </p:nvSpPr>
        <p:spPr>
          <a:xfrm>
            <a:off x="1920240" y="5029200"/>
            <a:ext cx="548640" cy="411480"/>
          </a:xfrm>
          <a:prstGeom prst="roundRect">
            <a:avLst>
              <a:gd name="adj" fmla="val 11111"/>
            </a:avLst>
          </a:prstGeom>
          <a:solidFill>
            <a:srgbClr val="50808E"/>
          </a:solidFill>
          <a:ln/>
        </p:spPr>
      </p:sp>
      <p:sp>
        <p:nvSpPr>
          <p:cNvPr id="22" name="Text 19"/>
          <p:cNvSpPr txBox="1"/>
          <p:nvPr/>
        </p:nvSpPr>
        <p:spPr>
          <a:xfrm>
            <a:off x="1920240" y="5029200"/>
            <a:ext cx="548640" cy="4114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23" name="Shape 20"/>
          <p:cNvSpPr/>
          <p:nvPr/>
        </p:nvSpPr>
        <p:spPr>
          <a:xfrm>
            <a:off x="2194560" y="5458968"/>
            <a:ext cx="91" cy="228600"/>
          </a:xfrm>
          <a:prstGeom prst="line">
            <a:avLst/>
          </a:prstGeom>
          <a:noFill/>
          <a:ln w="15875">
            <a:solidFill>
              <a:srgbClr val="50808E"/>
            </a:solidFill>
            <a:prstDash val="solid"/>
            <a:tailEnd type="triangle"/>
          </a:ln>
        </p:spPr>
      </p:sp>
      <p:sp>
        <p:nvSpPr>
          <p:cNvPr id="24" name="Shape 21"/>
          <p:cNvSpPr/>
          <p:nvPr/>
        </p:nvSpPr>
        <p:spPr>
          <a:xfrm>
            <a:off x="3291840" y="5029200"/>
            <a:ext cx="548640" cy="411480"/>
          </a:xfrm>
          <a:prstGeom prst="roundRect">
            <a:avLst>
              <a:gd name="adj" fmla="val 11111"/>
            </a:avLst>
          </a:prstGeom>
          <a:solidFill>
            <a:srgbClr val="C98A1B"/>
          </a:solidFill>
          <a:ln/>
        </p:spPr>
      </p:sp>
      <p:sp>
        <p:nvSpPr>
          <p:cNvPr id="25" name="Text 22"/>
          <p:cNvSpPr txBox="1"/>
          <p:nvPr/>
        </p:nvSpPr>
        <p:spPr>
          <a:xfrm>
            <a:off x="3291840" y="5029200"/>
            <a:ext cx="548640" cy="4114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26" name="Shape 23"/>
          <p:cNvSpPr/>
          <p:nvPr/>
        </p:nvSpPr>
        <p:spPr>
          <a:xfrm>
            <a:off x="3566160" y="5458968"/>
            <a:ext cx="91" cy="228600"/>
          </a:xfrm>
          <a:prstGeom prst="line">
            <a:avLst/>
          </a:prstGeom>
          <a:noFill/>
          <a:ln w="15875">
            <a:solidFill>
              <a:srgbClr val="50808E"/>
            </a:solidFill>
            <a:prstDash val="solid"/>
            <a:tailEnd type="triangle"/>
          </a:ln>
        </p:spPr>
      </p:sp>
      <p:sp>
        <p:nvSpPr>
          <p:cNvPr id="27" name="Shape 24"/>
          <p:cNvSpPr/>
          <p:nvPr/>
        </p:nvSpPr>
        <p:spPr>
          <a:xfrm>
            <a:off x="3977640" y="5029200"/>
            <a:ext cx="548640" cy="411480"/>
          </a:xfrm>
          <a:prstGeom prst="roundRect">
            <a:avLst>
              <a:gd name="adj" fmla="val 11111"/>
            </a:avLst>
          </a:prstGeom>
          <a:solidFill>
            <a:srgbClr val="36454F"/>
          </a:solidFill>
          <a:ln/>
        </p:spPr>
      </p:sp>
      <p:sp>
        <p:nvSpPr>
          <p:cNvPr id="28" name="Text 25"/>
          <p:cNvSpPr txBox="1"/>
          <p:nvPr/>
        </p:nvSpPr>
        <p:spPr>
          <a:xfrm>
            <a:off x="3977640" y="5029200"/>
            <a:ext cx="548640" cy="4114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29" name="Shape 26"/>
          <p:cNvSpPr/>
          <p:nvPr/>
        </p:nvSpPr>
        <p:spPr>
          <a:xfrm>
            <a:off x="4251960" y="5458968"/>
            <a:ext cx="91" cy="228600"/>
          </a:xfrm>
          <a:prstGeom prst="line">
            <a:avLst/>
          </a:prstGeom>
          <a:noFill/>
          <a:ln w="15875">
            <a:solidFill>
              <a:srgbClr val="50808E"/>
            </a:solidFill>
            <a:prstDash val="solid"/>
            <a:tailEnd type="triangle"/>
          </a:ln>
        </p:spPr>
      </p:sp>
      <p:sp>
        <p:nvSpPr>
          <p:cNvPr id="30" name="Text 27"/>
          <p:cNvSpPr txBox="1"/>
          <p:nvPr/>
        </p:nvSpPr>
        <p:spPr>
          <a:xfrm>
            <a:off x="548640" y="4663440"/>
            <a:ext cx="2743200" cy="2743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varışlar</a:t>
            </a:r>
            <a:endParaRPr lang="tr-TR" sz="1200" dirty="0"/>
          </a:p>
        </p:txBody>
      </p:sp>
      <p:sp>
        <p:nvSpPr>
          <p:cNvPr id="31" name="Shape 28"/>
          <p:cNvSpPr/>
          <p:nvPr/>
        </p:nvSpPr>
        <p:spPr>
          <a:xfrm>
            <a:off x="6858000" y="2103120"/>
            <a:ext cx="48006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32" name="Text 29"/>
          <p:cNvSpPr txBox="1"/>
          <p:nvPr/>
        </p:nvSpPr>
        <p:spPr>
          <a:xfrm>
            <a:off x="7086600" y="228600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Oyunun kuralları</a:t>
            </a:r>
            <a:endParaRPr lang="tr-TR" sz="1500" dirty="0"/>
          </a:p>
        </p:txBody>
      </p:sp>
      <p:sp>
        <p:nvSpPr>
          <p:cNvPr id="33" name="Text 30"/>
          <p:cNvSpPr txBox="1"/>
          <p:nvPr/>
        </p:nvSpPr>
        <p:spPr>
          <a:xfrm>
            <a:off x="7086600" y="2743200"/>
            <a:ext cx="4343400" cy="3383280"/>
          </a:xfrm>
          <a:prstGeom prst="rect">
            <a:avLst/>
          </a:prstGeom>
          <a:noFill/>
          <a:ln/>
        </p:spPr>
        <p:txBody>
          <a:bodyPr wrap="square" lIns="0" tIns="0" rIns="0" bIns="0" rtlCol="0" anchor="t"/>
          <a:lstStyle/>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Gantt şeması:</a:t>
            </a:r>
            <a:r>
              <a:rPr lang="tr-TR" sz="1550" dirty="0">
                <a:solidFill>
                  <a:srgbClr val="3A464C"/>
                </a:solidFill>
                <a:latin typeface="Calibri" pitchFamily="34" charset="0"/>
                <a:ea typeface="Calibri" pitchFamily="34" charset="-122"/>
                <a:cs typeface="Calibri" pitchFamily="34" charset="-120"/>
              </a:rPr>
              <a:t> bir sıra kutu; her kutu bir CPU kullanım aralığı, altındaki işaretler zamanlar.</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Bağlam değişimi</a:t>
            </a:r>
            <a:r>
              <a:rPr lang="tr-TR" sz="1550" dirty="0">
                <a:solidFill>
                  <a:srgbClr val="3A464C"/>
                </a:solidFill>
                <a:latin typeface="Calibri" pitchFamily="34" charset="0"/>
                <a:ea typeface="Calibri" pitchFamily="34" charset="-122"/>
                <a:cs typeface="Calibri" pitchFamily="34" charset="-120"/>
              </a:rPr>
              <a:t> süresi 0 alınır (geçişleri ayrıca sayarız).</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Eşitlikler</a:t>
            </a:r>
            <a:r>
              <a:rPr lang="tr-TR" sz="1550" dirty="0">
                <a:solidFill>
                  <a:srgbClr val="3A464C"/>
                </a:solidFill>
                <a:latin typeface="Calibri" pitchFamily="34" charset="0"/>
                <a:ea typeface="Calibri" pitchFamily="34" charset="-122"/>
                <a:cs typeface="Calibri" pitchFamily="34" charset="-120"/>
              </a:rPr>
              <a:t> önce varış zamanına, sonra ada göre bozulur.</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Tüm sayılar</a:t>
            </a:r>
            <a:r>
              <a:rPr lang="tr-TR" sz="1550" dirty="0">
                <a:solidFill>
                  <a:srgbClr val="3A464C"/>
                </a:solidFill>
                <a:latin typeface="Calibri" pitchFamily="34" charset="0"/>
                <a:ea typeface="Calibri" pitchFamily="34" charset="-122"/>
                <a:cs typeface="Calibri" pitchFamily="34" charset="-120"/>
              </a:rPr>
              <a:t> küçük bir simülatörle hesaplandı: code/sched_check.py.</a:t>
            </a:r>
            <a:endParaRPr lang="tr-TR"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ALGORİTMA 1</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İlk Gelen İlk Hizmet Alır (FCFS)</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Hazır kuyruğu basit bir FIFO kuyruğudur: önce gelen önce çalışır; bitene ya da bloklanana kadar. Kesintisizdir (non-preemptive).</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6</a:t>
            </a:r>
            <a:endParaRPr lang="tr-TR" sz="900" dirty="0"/>
          </a:p>
        </p:txBody>
      </p:sp>
      <p:sp>
        <p:nvSpPr>
          <p:cNvPr id="7" name="Shape 5"/>
          <p:cNvSpPr/>
          <p:nvPr/>
        </p:nvSpPr>
        <p:spPr>
          <a:xfrm>
            <a:off x="557784" y="2103120"/>
            <a:ext cx="4842320" cy="566928"/>
          </a:xfrm>
          <a:prstGeom prst="roundRect">
            <a:avLst>
              <a:gd name="adj" fmla="val 8065"/>
            </a:avLst>
          </a:prstGeom>
          <a:solidFill>
            <a:srgbClr val="02C39A"/>
          </a:solidFill>
          <a:ln/>
        </p:spPr>
      </p:sp>
      <p:sp>
        <p:nvSpPr>
          <p:cNvPr id="8" name="Text 6"/>
          <p:cNvSpPr txBox="1"/>
          <p:nvPr/>
        </p:nvSpPr>
        <p:spPr>
          <a:xfrm>
            <a:off x="557784" y="2103120"/>
            <a:ext cx="4842320"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9" name="Shape 7"/>
          <p:cNvSpPr/>
          <p:nvPr/>
        </p:nvSpPr>
        <p:spPr>
          <a:xfrm>
            <a:off x="5418391" y="2103120"/>
            <a:ext cx="2759202" cy="566928"/>
          </a:xfrm>
          <a:prstGeom prst="roundRect">
            <a:avLst>
              <a:gd name="adj" fmla="val 8065"/>
            </a:avLst>
          </a:prstGeom>
          <a:solidFill>
            <a:srgbClr val="50808E"/>
          </a:solidFill>
          <a:ln/>
        </p:spPr>
      </p:sp>
      <p:sp>
        <p:nvSpPr>
          <p:cNvPr id="10" name="Text 8"/>
          <p:cNvSpPr txBox="1"/>
          <p:nvPr/>
        </p:nvSpPr>
        <p:spPr>
          <a:xfrm>
            <a:off x="5418391"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1" name="Shape 9"/>
          <p:cNvSpPr/>
          <p:nvPr/>
        </p:nvSpPr>
        <p:spPr>
          <a:xfrm>
            <a:off x="8195882" y="2103120"/>
            <a:ext cx="676085" cy="566928"/>
          </a:xfrm>
          <a:prstGeom prst="roundRect">
            <a:avLst>
              <a:gd name="adj" fmla="val 8065"/>
            </a:avLst>
          </a:prstGeom>
          <a:solidFill>
            <a:srgbClr val="C98A1B"/>
          </a:solidFill>
          <a:ln/>
        </p:spPr>
      </p:sp>
      <p:sp>
        <p:nvSpPr>
          <p:cNvPr id="12" name="Text 10"/>
          <p:cNvSpPr txBox="1"/>
          <p:nvPr/>
        </p:nvSpPr>
        <p:spPr>
          <a:xfrm>
            <a:off x="8195882" y="2103120"/>
            <a:ext cx="676085"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13" name="Shape 11"/>
          <p:cNvSpPr/>
          <p:nvPr/>
        </p:nvSpPr>
        <p:spPr>
          <a:xfrm>
            <a:off x="8890254" y="2103120"/>
            <a:ext cx="2759202" cy="566928"/>
          </a:xfrm>
          <a:prstGeom prst="roundRect">
            <a:avLst>
              <a:gd name="adj" fmla="val 8065"/>
            </a:avLst>
          </a:prstGeom>
          <a:solidFill>
            <a:srgbClr val="36454F"/>
          </a:solidFill>
          <a:ln/>
        </p:spPr>
      </p:sp>
      <p:sp>
        <p:nvSpPr>
          <p:cNvPr id="14" name="Text 12"/>
          <p:cNvSpPr txBox="1"/>
          <p:nvPr/>
        </p:nvSpPr>
        <p:spPr>
          <a:xfrm>
            <a:off x="8890254"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15" name="Shape 13"/>
          <p:cNvSpPr/>
          <p:nvPr/>
        </p:nvSpPr>
        <p:spPr>
          <a:xfrm>
            <a:off x="548640" y="2670048"/>
            <a:ext cx="91" cy="73152"/>
          </a:xfrm>
          <a:prstGeom prst="line">
            <a:avLst/>
          </a:prstGeom>
          <a:noFill/>
          <a:ln w="12700">
            <a:solidFill>
              <a:srgbClr val="6B7679"/>
            </a:solidFill>
            <a:prstDash val="solid"/>
          </a:ln>
        </p:spPr>
      </p:sp>
      <p:sp>
        <p:nvSpPr>
          <p:cNvPr id="16" name="Text 14"/>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17" name="Shape 15"/>
          <p:cNvSpPr/>
          <p:nvPr/>
        </p:nvSpPr>
        <p:spPr>
          <a:xfrm>
            <a:off x="5409247" y="2670048"/>
            <a:ext cx="91" cy="73152"/>
          </a:xfrm>
          <a:prstGeom prst="line">
            <a:avLst/>
          </a:prstGeom>
          <a:noFill/>
          <a:ln w="12700">
            <a:solidFill>
              <a:srgbClr val="6B7679"/>
            </a:solidFill>
            <a:prstDash val="solid"/>
          </a:ln>
        </p:spPr>
      </p:sp>
      <p:sp>
        <p:nvSpPr>
          <p:cNvPr id="18" name="Text 16"/>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7</a:t>
            </a:r>
            <a:endParaRPr lang="tr-TR" sz="1200" dirty="0"/>
          </a:p>
        </p:txBody>
      </p:sp>
      <p:sp>
        <p:nvSpPr>
          <p:cNvPr id="19" name="Shape 17"/>
          <p:cNvSpPr/>
          <p:nvPr/>
        </p:nvSpPr>
        <p:spPr>
          <a:xfrm>
            <a:off x="8186738" y="2670048"/>
            <a:ext cx="91" cy="73152"/>
          </a:xfrm>
          <a:prstGeom prst="line">
            <a:avLst/>
          </a:prstGeom>
          <a:noFill/>
          <a:ln w="12700">
            <a:solidFill>
              <a:srgbClr val="6B7679"/>
            </a:solidFill>
            <a:prstDash val="solid"/>
          </a:ln>
        </p:spPr>
      </p:sp>
      <p:sp>
        <p:nvSpPr>
          <p:cNvPr id="20" name="Text 18"/>
          <p:cNvSpPr txBox="1"/>
          <p:nvPr/>
        </p:nvSpPr>
        <p:spPr>
          <a:xfrm>
            <a:off x="7912417"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11</a:t>
            </a:r>
            <a:endParaRPr lang="tr-TR" sz="1200" dirty="0"/>
          </a:p>
        </p:txBody>
      </p:sp>
      <p:sp>
        <p:nvSpPr>
          <p:cNvPr id="21" name="Shape 19"/>
          <p:cNvSpPr/>
          <p:nvPr/>
        </p:nvSpPr>
        <p:spPr>
          <a:xfrm>
            <a:off x="8881110" y="2670048"/>
            <a:ext cx="91" cy="73152"/>
          </a:xfrm>
          <a:prstGeom prst="line">
            <a:avLst/>
          </a:prstGeom>
          <a:noFill/>
          <a:ln w="12700">
            <a:solidFill>
              <a:srgbClr val="6B7679"/>
            </a:solidFill>
            <a:prstDash val="solid"/>
          </a:ln>
        </p:spPr>
      </p:sp>
      <p:sp>
        <p:nvSpPr>
          <p:cNvPr id="22" name="Text 20"/>
          <p:cNvSpPr txBox="1"/>
          <p:nvPr/>
        </p:nvSpPr>
        <p:spPr>
          <a:xfrm>
            <a:off x="860679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12</a:t>
            </a:r>
            <a:endParaRPr lang="tr-TR" sz="1200" dirty="0"/>
          </a:p>
        </p:txBody>
      </p:sp>
      <p:sp>
        <p:nvSpPr>
          <p:cNvPr id="23" name="Shape 21"/>
          <p:cNvSpPr/>
          <p:nvPr/>
        </p:nvSpPr>
        <p:spPr>
          <a:xfrm>
            <a:off x="11658600" y="2670048"/>
            <a:ext cx="91" cy="73152"/>
          </a:xfrm>
          <a:prstGeom prst="line">
            <a:avLst/>
          </a:prstGeom>
          <a:noFill/>
          <a:ln w="12700">
            <a:solidFill>
              <a:srgbClr val="6B7679"/>
            </a:solidFill>
            <a:prstDash val="solid"/>
          </a:ln>
        </p:spPr>
      </p:sp>
      <p:sp>
        <p:nvSpPr>
          <p:cNvPr id="24" name="Text 22"/>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Süreç</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Varış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Patlama</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Bitiş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Dönüş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Bekleme</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Yanıt</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9</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8</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Ortalama</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8,75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4,75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4,75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26" name="Shape 23"/>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27" name="Text 24"/>
          <p:cNvSpPr txBox="1"/>
          <p:nvPr/>
        </p:nvSpPr>
        <p:spPr>
          <a:xfrm>
            <a:off x="7680960" y="342900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Şemayı okumak</a:t>
            </a:r>
            <a:endParaRPr lang="tr-TR" sz="1500" dirty="0"/>
          </a:p>
        </p:txBody>
      </p:sp>
      <p:sp>
        <p:nvSpPr>
          <p:cNvPr id="28" name="Text 25"/>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Varış sırası: P1 (0), P2 (2), P3 (4), P4 (5).</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Örnek, P3: dönüş 12 − 4 = 8, bekleme 8 − 1 = 7 ms.</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Basit ve 'banka kuyruğu' anlamında adil; ama kısa işler uzun işlerin arkasında uzun süre bekleyebilir.</a:t>
            </a:r>
            <a:endParaRPr lang="tr-TR"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FCFS</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Konvoy Etkisi: Sıra Önemlidir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Patlamaları 24, 3 ve 3 ms olan üç iş t = 0'da geliyor. Aynı işler, aynı algoritma, iki farklı varış sırası.</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7</a:t>
            </a:r>
            <a:endParaRPr lang="tr-TR" sz="900" dirty="0"/>
          </a:p>
        </p:txBody>
      </p:sp>
      <p:sp>
        <p:nvSpPr>
          <p:cNvPr id="7" name="Text 5"/>
          <p:cNvSpPr txBox="1"/>
          <p:nvPr/>
        </p:nvSpPr>
        <p:spPr>
          <a:xfrm>
            <a:off x="548640" y="2057400"/>
            <a:ext cx="6766560" cy="320040"/>
          </a:xfrm>
          <a:prstGeom prst="rect">
            <a:avLst/>
          </a:prstGeom>
          <a:noFill/>
          <a:ln/>
        </p:spPr>
        <p:txBody>
          <a:bodyPr wrap="square" lIns="0" tIns="0" rIns="0" bIns="0" rtlCol="0" anchor="t"/>
          <a:lstStyle/>
          <a:p>
            <a:pPr indent="0" marL="0">
              <a:buNone/>
            </a:pPr>
            <a:r>
              <a:rPr lang="tr-TR" sz="1500" b="1" dirty="0">
                <a:solidFill>
                  <a:srgbClr val="B5453A"/>
                </a:solidFill>
                <a:latin typeface="Calibri" pitchFamily="34" charset="0"/>
                <a:ea typeface="Calibri" pitchFamily="34" charset="-122"/>
                <a:cs typeface="Calibri" pitchFamily="34" charset="-120"/>
              </a:rPr>
              <a:t>A sırası: uzun iş tesadüfen önde</a:t>
            </a:r>
            <a:endParaRPr lang="tr-TR" sz="1500" dirty="0"/>
          </a:p>
        </p:txBody>
      </p:sp>
      <p:sp>
        <p:nvSpPr>
          <p:cNvPr id="8" name="Shape 6"/>
          <p:cNvSpPr/>
          <p:nvPr/>
        </p:nvSpPr>
        <p:spPr>
          <a:xfrm>
            <a:off x="557784" y="2423160"/>
            <a:ext cx="5394960" cy="566928"/>
          </a:xfrm>
          <a:prstGeom prst="roundRect">
            <a:avLst>
              <a:gd name="adj" fmla="val 8065"/>
            </a:avLst>
          </a:prstGeom>
          <a:solidFill>
            <a:srgbClr val="02C39A"/>
          </a:solidFill>
          <a:ln/>
        </p:spPr>
      </p:sp>
      <p:sp>
        <p:nvSpPr>
          <p:cNvPr id="9" name="Text 7"/>
          <p:cNvSpPr txBox="1"/>
          <p:nvPr/>
        </p:nvSpPr>
        <p:spPr>
          <a:xfrm>
            <a:off x="557784" y="2423160"/>
            <a:ext cx="5394960"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10" name="Shape 8"/>
          <p:cNvSpPr/>
          <p:nvPr/>
        </p:nvSpPr>
        <p:spPr>
          <a:xfrm>
            <a:off x="5971032" y="2423160"/>
            <a:ext cx="658368" cy="566928"/>
          </a:xfrm>
          <a:prstGeom prst="roundRect">
            <a:avLst>
              <a:gd name="adj" fmla="val 8065"/>
            </a:avLst>
          </a:prstGeom>
          <a:solidFill>
            <a:srgbClr val="50808E"/>
          </a:solidFill>
          <a:ln/>
        </p:spPr>
      </p:sp>
      <p:sp>
        <p:nvSpPr>
          <p:cNvPr id="11" name="Text 9"/>
          <p:cNvSpPr txBox="1"/>
          <p:nvPr/>
        </p:nvSpPr>
        <p:spPr>
          <a:xfrm>
            <a:off x="5971032" y="2423160"/>
            <a:ext cx="658368"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2" name="Shape 10"/>
          <p:cNvSpPr/>
          <p:nvPr/>
        </p:nvSpPr>
        <p:spPr>
          <a:xfrm>
            <a:off x="6647688" y="2423160"/>
            <a:ext cx="658368" cy="566928"/>
          </a:xfrm>
          <a:prstGeom prst="roundRect">
            <a:avLst>
              <a:gd name="adj" fmla="val 8065"/>
            </a:avLst>
          </a:prstGeom>
          <a:solidFill>
            <a:srgbClr val="C98A1B"/>
          </a:solidFill>
          <a:ln/>
        </p:spPr>
      </p:sp>
      <p:sp>
        <p:nvSpPr>
          <p:cNvPr id="13" name="Text 11"/>
          <p:cNvSpPr txBox="1"/>
          <p:nvPr/>
        </p:nvSpPr>
        <p:spPr>
          <a:xfrm>
            <a:off x="6647688" y="2423160"/>
            <a:ext cx="658368"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14" name="Shape 12"/>
          <p:cNvSpPr/>
          <p:nvPr/>
        </p:nvSpPr>
        <p:spPr>
          <a:xfrm>
            <a:off x="548640" y="2990088"/>
            <a:ext cx="91" cy="73152"/>
          </a:xfrm>
          <a:prstGeom prst="line">
            <a:avLst/>
          </a:prstGeom>
          <a:noFill/>
          <a:ln w="12700">
            <a:solidFill>
              <a:srgbClr val="6B7679"/>
            </a:solidFill>
            <a:prstDash val="solid"/>
          </a:ln>
        </p:spPr>
      </p:sp>
      <p:sp>
        <p:nvSpPr>
          <p:cNvPr id="15" name="Text 13"/>
          <p:cNvSpPr txBox="1"/>
          <p:nvPr/>
        </p:nvSpPr>
        <p:spPr>
          <a:xfrm>
            <a:off x="274320" y="306324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16" name="Shape 14"/>
          <p:cNvSpPr/>
          <p:nvPr/>
        </p:nvSpPr>
        <p:spPr>
          <a:xfrm>
            <a:off x="5961888" y="2990088"/>
            <a:ext cx="91" cy="73152"/>
          </a:xfrm>
          <a:prstGeom prst="line">
            <a:avLst/>
          </a:prstGeom>
          <a:noFill/>
          <a:ln w="12700">
            <a:solidFill>
              <a:srgbClr val="6B7679"/>
            </a:solidFill>
            <a:prstDash val="solid"/>
          </a:ln>
        </p:spPr>
      </p:sp>
      <p:sp>
        <p:nvSpPr>
          <p:cNvPr id="17" name="Text 15"/>
          <p:cNvSpPr txBox="1"/>
          <p:nvPr/>
        </p:nvSpPr>
        <p:spPr>
          <a:xfrm>
            <a:off x="5687568" y="306324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24</a:t>
            </a:r>
            <a:endParaRPr lang="tr-TR" sz="1200" dirty="0"/>
          </a:p>
        </p:txBody>
      </p:sp>
      <p:sp>
        <p:nvSpPr>
          <p:cNvPr id="18" name="Shape 16"/>
          <p:cNvSpPr/>
          <p:nvPr/>
        </p:nvSpPr>
        <p:spPr>
          <a:xfrm>
            <a:off x="6638544" y="2990088"/>
            <a:ext cx="91" cy="73152"/>
          </a:xfrm>
          <a:prstGeom prst="line">
            <a:avLst/>
          </a:prstGeom>
          <a:noFill/>
          <a:ln w="12700">
            <a:solidFill>
              <a:srgbClr val="6B7679"/>
            </a:solidFill>
            <a:prstDash val="solid"/>
          </a:ln>
        </p:spPr>
      </p:sp>
      <p:sp>
        <p:nvSpPr>
          <p:cNvPr id="19" name="Text 17"/>
          <p:cNvSpPr txBox="1"/>
          <p:nvPr/>
        </p:nvSpPr>
        <p:spPr>
          <a:xfrm>
            <a:off x="6364224" y="306324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27</a:t>
            </a:r>
            <a:endParaRPr lang="tr-TR" sz="1200" dirty="0"/>
          </a:p>
        </p:txBody>
      </p:sp>
      <p:sp>
        <p:nvSpPr>
          <p:cNvPr id="20" name="Shape 18"/>
          <p:cNvSpPr/>
          <p:nvPr/>
        </p:nvSpPr>
        <p:spPr>
          <a:xfrm>
            <a:off x="7315200" y="2990088"/>
            <a:ext cx="91" cy="73152"/>
          </a:xfrm>
          <a:prstGeom prst="line">
            <a:avLst/>
          </a:prstGeom>
          <a:noFill/>
          <a:ln w="12700">
            <a:solidFill>
              <a:srgbClr val="6B7679"/>
            </a:solidFill>
            <a:prstDash val="solid"/>
          </a:ln>
        </p:spPr>
      </p:sp>
      <p:sp>
        <p:nvSpPr>
          <p:cNvPr id="21" name="Text 19"/>
          <p:cNvSpPr txBox="1"/>
          <p:nvPr/>
        </p:nvSpPr>
        <p:spPr>
          <a:xfrm>
            <a:off x="7040880" y="306324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30</a:t>
            </a:r>
            <a:endParaRPr lang="tr-TR" sz="1200" dirty="0"/>
          </a:p>
        </p:txBody>
      </p:sp>
      <p:sp>
        <p:nvSpPr>
          <p:cNvPr id="22" name="Text 20"/>
          <p:cNvSpPr txBox="1"/>
          <p:nvPr/>
        </p:nvSpPr>
        <p:spPr>
          <a:xfrm>
            <a:off x="548640" y="3749040"/>
            <a:ext cx="6766560" cy="320040"/>
          </a:xfrm>
          <a:prstGeom prst="rect">
            <a:avLst/>
          </a:prstGeom>
          <a:noFill/>
          <a:ln/>
        </p:spPr>
        <p:txBody>
          <a:bodyPr wrap="square" lIns="0" tIns="0" rIns="0" bIns="0" rtlCol="0" anchor="t"/>
          <a:lstStyle/>
          <a:p>
            <a:pPr indent="0" marL="0">
              <a:buNone/>
            </a:pPr>
            <a:r>
              <a:rPr lang="tr-TR" sz="1500" b="1" dirty="0">
                <a:solidFill>
                  <a:srgbClr val="028090"/>
                </a:solidFill>
                <a:latin typeface="Calibri" pitchFamily="34" charset="0"/>
                <a:ea typeface="Calibri" pitchFamily="34" charset="-122"/>
                <a:cs typeface="Calibri" pitchFamily="34" charset="-120"/>
              </a:rPr>
              <a:t>B sırası: kısa işler tesadüfen önde</a:t>
            </a:r>
            <a:endParaRPr lang="tr-TR" sz="1500" dirty="0"/>
          </a:p>
        </p:txBody>
      </p:sp>
      <p:sp>
        <p:nvSpPr>
          <p:cNvPr id="23" name="Shape 21"/>
          <p:cNvSpPr/>
          <p:nvPr/>
        </p:nvSpPr>
        <p:spPr>
          <a:xfrm>
            <a:off x="557784" y="4114800"/>
            <a:ext cx="658368" cy="566928"/>
          </a:xfrm>
          <a:prstGeom prst="roundRect">
            <a:avLst>
              <a:gd name="adj" fmla="val 8065"/>
            </a:avLst>
          </a:prstGeom>
          <a:solidFill>
            <a:srgbClr val="50808E"/>
          </a:solidFill>
          <a:ln/>
        </p:spPr>
      </p:sp>
      <p:sp>
        <p:nvSpPr>
          <p:cNvPr id="24" name="Text 22"/>
          <p:cNvSpPr txBox="1"/>
          <p:nvPr/>
        </p:nvSpPr>
        <p:spPr>
          <a:xfrm>
            <a:off x="557784" y="4114800"/>
            <a:ext cx="658368"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25" name="Shape 23"/>
          <p:cNvSpPr/>
          <p:nvPr/>
        </p:nvSpPr>
        <p:spPr>
          <a:xfrm>
            <a:off x="1234440" y="4114800"/>
            <a:ext cx="658368" cy="566928"/>
          </a:xfrm>
          <a:prstGeom prst="roundRect">
            <a:avLst>
              <a:gd name="adj" fmla="val 8065"/>
            </a:avLst>
          </a:prstGeom>
          <a:solidFill>
            <a:srgbClr val="C98A1B"/>
          </a:solidFill>
          <a:ln/>
        </p:spPr>
      </p:sp>
      <p:sp>
        <p:nvSpPr>
          <p:cNvPr id="26" name="Text 24"/>
          <p:cNvSpPr txBox="1"/>
          <p:nvPr/>
        </p:nvSpPr>
        <p:spPr>
          <a:xfrm>
            <a:off x="1234440" y="4114800"/>
            <a:ext cx="658368"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27" name="Shape 25"/>
          <p:cNvSpPr/>
          <p:nvPr/>
        </p:nvSpPr>
        <p:spPr>
          <a:xfrm>
            <a:off x="1911096" y="4114800"/>
            <a:ext cx="5394960" cy="566928"/>
          </a:xfrm>
          <a:prstGeom prst="roundRect">
            <a:avLst>
              <a:gd name="adj" fmla="val 8065"/>
            </a:avLst>
          </a:prstGeom>
          <a:solidFill>
            <a:srgbClr val="02C39A"/>
          </a:solidFill>
          <a:ln/>
        </p:spPr>
      </p:sp>
      <p:sp>
        <p:nvSpPr>
          <p:cNvPr id="28" name="Text 26"/>
          <p:cNvSpPr txBox="1"/>
          <p:nvPr/>
        </p:nvSpPr>
        <p:spPr>
          <a:xfrm>
            <a:off x="1911096" y="4114800"/>
            <a:ext cx="5394960"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29" name="Shape 27"/>
          <p:cNvSpPr/>
          <p:nvPr/>
        </p:nvSpPr>
        <p:spPr>
          <a:xfrm>
            <a:off x="548640" y="4681728"/>
            <a:ext cx="91" cy="73152"/>
          </a:xfrm>
          <a:prstGeom prst="line">
            <a:avLst/>
          </a:prstGeom>
          <a:noFill/>
          <a:ln w="12700">
            <a:solidFill>
              <a:srgbClr val="6B7679"/>
            </a:solidFill>
            <a:prstDash val="solid"/>
          </a:ln>
        </p:spPr>
      </p:sp>
      <p:sp>
        <p:nvSpPr>
          <p:cNvPr id="30" name="Text 28"/>
          <p:cNvSpPr txBox="1"/>
          <p:nvPr/>
        </p:nvSpPr>
        <p:spPr>
          <a:xfrm>
            <a:off x="274320" y="475488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31" name="Shape 29"/>
          <p:cNvSpPr/>
          <p:nvPr/>
        </p:nvSpPr>
        <p:spPr>
          <a:xfrm>
            <a:off x="1225296" y="4681728"/>
            <a:ext cx="91" cy="73152"/>
          </a:xfrm>
          <a:prstGeom prst="line">
            <a:avLst/>
          </a:prstGeom>
          <a:noFill/>
          <a:ln w="12700">
            <a:solidFill>
              <a:srgbClr val="6B7679"/>
            </a:solidFill>
            <a:prstDash val="solid"/>
          </a:ln>
        </p:spPr>
      </p:sp>
      <p:sp>
        <p:nvSpPr>
          <p:cNvPr id="32" name="Text 30"/>
          <p:cNvSpPr txBox="1"/>
          <p:nvPr/>
        </p:nvSpPr>
        <p:spPr>
          <a:xfrm>
            <a:off x="950976" y="475488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3</a:t>
            </a:r>
            <a:endParaRPr lang="tr-TR" sz="1200" dirty="0"/>
          </a:p>
        </p:txBody>
      </p:sp>
      <p:sp>
        <p:nvSpPr>
          <p:cNvPr id="33" name="Shape 31"/>
          <p:cNvSpPr/>
          <p:nvPr/>
        </p:nvSpPr>
        <p:spPr>
          <a:xfrm>
            <a:off x="1901952" y="4681728"/>
            <a:ext cx="91" cy="73152"/>
          </a:xfrm>
          <a:prstGeom prst="line">
            <a:avLst/>
          </a:prstGeom>
          <a:noFill/>
          <a:ln w="12700">
            <a:solidFill>
              <a:srgbClr val="6B7679"/>
            </a:solidFill>
            <a:prstDash val="solid"/>
          </a:ln>
        </p:spPr>
      </p:sp>
      <p:sp>
        <p:nvSpPr>
          <p:cNvPr id="34" name="Text 32"/>
          <p:cNvSpPr txBox="1"/>
          <p:nvPr/>
        </p:nvSpPr>
        <p:spPr>
          <a:xfrm>
            <a:off x="1627632" y="475488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6</a:t>
            </a:r>
            <a:endParaRPr lang="tr-TR" sz="1200" dirty="0"/>
          </a:p>
        </p:txBody>
      </p:sp>
      <p:sp>
        <p:nvSpPr>
          <p:cNvPr id="35" name="Shape 33"/>
          <p:cNvSpPr/>
          <p:nvPr/>
        </p:nvSpPr>
        <p:spPr>
          <a:xfrm>
            <a:off x="7315200" y="4681728"/>
            <a:ext cx="91" cy="73152"/>
          </a:xfrm>
          <a:prstGeom prst="line">
            <a:avLst/>
          </a:prstGeom>
          <a:noFill/>
          <a:ln w="12700">
            <a:solidFill>
              <a:srgbClr val="6B7679"/>
            </a:solidFill>
            <a:prstDash val="solid"/>
          </a:ln>
        </p:spPr>
      </p:sp>
      <p:sp>
        <p:nvSpPr>
          <p:cNvPr id="36" name="Text 34"/>
          <p:cNvSpPr txBox="1"/>
          <p:nvPr/>
        </p:nvSpPr>
        <p:spPr>
          <a:xfrm>
            <a:off x="7040880" y="475488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30</a:t>
            </a:r>
            <a:endParaRPr lang="tr-TR" sz="1200" dirty="0"/>
          </a:p>
        </p:txBody>
      </p:sp>
      <p:sp>
        <p:nvSpPr>
          <p:cNvPr id="37" name="Shape 35"/>
          <p:cNvSpPr/>
          <p:nvPr/>
        </p:nvSpPr>
        <p:spPr>
          <a:xfrm>
            <a:off x="7635240" y="2057400"/>
            <a:ext cx="4023360" cy="2697480"/>
          </a:xfrm>
          <a:prstGeom prst="roundRect">
            <a:avLst>
              <a:gd name="adj" fmla="val 1695"/>
            </a:avLst>
          </a:prstGeom>
          <a:solidFill>
            <a:srgbClr val="212121"/>
          </a:solidFill>
          <a:ln/>
        </p:spPr>
      </p:sp>
      <p:sp>
        <p:nvSpPr>
          <p:cNvPr id="38" name="Text 36"/>
          <p:cNvSpPr txBox="1"/>
          <p:nvPr/>
        </p:nvSpPr>
        <p:spPr>
          <a:xfrm>
            <a:off x="7818120" y="2167128"/>
            <a:ext cx="3657600" cy="2478024"/>
          </a:xfrm>
          <a:prstGeom prst="rect">
            <a:avLst/>
          </a:prstGeom>
          <a:noFill/>
          <a:ln/>
        </p:spPr>
        <p:txBody>
          <a:bodyPr wrap="square" lIns="0" tIns="0" rIns="0" bIns="0" rtlCol="0" anchor="t"/>
          <a:lstStyle/>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Bekleme süreleri (ms)</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A: P1 = 0, P2 = 24, P3 = 27</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ortalama = 51 / 3 = 17</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B: P2 = 0, P3 = 3, P1 = 6</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ortalama =  9 / 3 = 3</a:t>
            </a:r>
            <a:endParaRPr lang="tr-TR" sz="1400" dirty="0"/>
          </a:p>
        </p:txBody>
      </p:sp>
      <p:sp>
        <p:nvSpPr>
          <p:cNvPr id="39" name="Shape 37"/>
          <p:cNvSpPr/>
          <p:nvPr/>
        </p:nvSpPr>
        <p:spPr>
          <a:xfrm>
            <a:off x="7635240" y="4983480"/>
            <a:ext cx="4023360" cy="1280160"/>
          </a:xfrm>
          <a:prstGeom prst="roundRect">
            <a:avLst>
              <a:gd name="adj" fmla="val 4286"/>
            </a:avLst>
          </a:prstGeom>
          <a:solidFill>
            <a:srgbClr val="36454F"/>
          </a:solidFill>
          <a:ln/>
          <a:effectLst>
            <a:outerShdw sx="100000" sy="100000" kx="0" ky="0" algn="bl" rotWithShape="0" blurRad="101600" dist="25400" dir="5400000">
              <a:srgbClr val="000000">
                <a:alpha val="12000"/>
              </a:srgbClr>
            </a:outerShdw>
          </a:effectLst>
        </p:spPr>
      </p:sp>
      <p:sp>
        <p:nvSpPr>
          <p:cNvPr id="40" name="Text 38"/>
          <p:cNvSpPr txBox="1"/>
          <p:nvPr/>
        </p:nvSpPr>
        <p:spPr>
          <a:xfrm>
            <a:off x="7863840" y="4983480"/>
            <a:ext cx="3566160" cy="128016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Konvoy etkisi (convoy effect): kısa (G/Ç ağırlıklı) süreçler, yavaş bir kamyonun arkasındaki arabalar gibi tek bir uzun süreci bekler.</a:t>
            </a:r>
            <a:endParaRPr lang="tr-TR" sz="1350" dirty="0"/>
          </a:p>
        </p:txBody>
      </p:sp>
      <p:sp>
        <p:nvSpPr>
          <p:cNvPr id="41" name="Text 39"/>
          <p:cNvSpPr txBox="1"/>
          <p:nvPr/>
        </p:nvSpPr>
        <p:spPr>
          <a:xfrm>
            <a:off x="548640" y="5257800"/>
            <a:ext cx="6583680" cy="731520"/>
          </a:xfrm>
          <a:prstGeom prst="rect">
            <a:avLst/>
          </a:prstGeom>
          <a:noFill/>
          <a:ln/>
        </p:spPr>
        <p:txBody>
          <a:bodyPr wrap="square" lIns="0" tIns="0" rIns="0" bIns="0" rtlCol="0" anchor="t"/>
          <a:lstStyle/>
          <a:p>
            <a:pPr indent="0" marL="0">
              <a:buNone/>
            </a:pPr>
            <a:r>
              <a:rPr lang="tr-TR" sz="1500" i="1" dirty="0">
                <a:solidFill>
                  <a:srgbClr val="50808E"/>
                </a:solidFill>
                <a:latin typeface="Calibri" pitchFamily="34" charset="0"/>
                <a:ea typeface="Calibri" pitchFamily="34" charset="-122"/>
                <a:cs typeface="Calibri" pitchFamily="34" charset="-120"/>
              </a:rPr>
              <a:t>FCFS'de ortalama bekleme süresi tamamen şansa, yani işlerin tesadüfen hangi sırayla geldiğine bağlıdır.</a:t>
            </a:r>
            <a:endParaRPr lang="tr-TR"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ALGORİTMA 2</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En Kısa İş Önce (SJF), Kesintisiz</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İşlemci boşaldığında, bir sonraki CPU patlaması en kısa olan hazır süreci seç. Başlayan iş sonuna kadar çalışır.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8</a:t>
            </a:r>
            <a:endParaRPr lang="tr-TR" sz="900" dirty="0"/>
          </a:p>
        </p:txBody>
      </p:sp>
      <p:sp>
        <p:nvSpPr>
          <p:cNvPr id="7" name="Shape 5"/>
          <p:cNvSpPr/>
          <p:nvPr/>
        </p:nvSpPr>
        <p:spPr>
          <a:xfrm>
            <a:off x="557784" y="2103120"/>
            <a:ext cx="4842320" cy="566928"/>
          </a:xfrm>
          <a:prstGeom prst="roundRect">
            <a:avLst>
              <a:gd name="adj" fmla="val 8065"/>
            </a:avLst>
          </a:prstGeom>
          <a:solidFill>
            <a:srgbClr val="02C39A"/>
          </a:solidFill>
          <a:ln/>
        </p:spPr>
      </p:sp>
      <p:sp>
        <p:nvSpPr>
          <p:cNvPr id="8" name="Text 6"/>
          <p:cNvSpPr txBox="1"/>
          <p:nvPr/>
        </p:nvSpPr>
        <p:spPr>
          <a:xfrm>
            <a:off x="557784" y="2103120"/>
            <a:ext cx="4842320"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9" name="Shape 7"/>
          <p:cNvSpPr/>
          <p:nvPr/>
        </p:nvSpPr>
        <p:spPr>
          <a:xfrm>
            <a:off x="5418391" y="2103120"/>
            <a:ext cx="676085" cy="566928"/>
          </a:xfrm>
          <a:prstGeom prst="roundRect">
            <a:avLst>
              <a:gd name="adj" fmla="val 8065"/>
            </a:avLst>
          </a:prstGeom>
          <a:solidFill>
            <a:srgbClr val="C98A1B"/>
          </a:solidFill>
          <a:ln/>
        </p:spPr>
      </p:sp>
      <p:sp>
        <p:nvSpPr>
          <p:cNvPr id="10" name="Text 8"/>
          <p:cNvSpPr txBox="1"/>
          <p:nvPr/>
        </p:nvSpPr>
        <p:spPr>
          <a:xfrm>
            <a:off x="5418391" y="2103120"/>
            <a:ext cx="676085"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11" name="Shape 9"/>
          <p:cNvSpPr/>
          <p:nvPr/>
        </p:nvSpPr>
        <p:spPr>
          <a:xfrm>
            <a:off x="6112764" y="2103120"/>
            <a:ext cx="2759202" cy="566928"/>
          </a:xfrm>
          <a:prstGeom prst="roundRect">
            <a:avLst>
              <a:gd name="adj" fmla="val 8065"/>
            </a:avLst>
          </a:prstGeom>
          <a:solidFill>
            <a:srgbClr val="50808E"/>
          </a:solidFill>
          <a:ln/>
        </p:spPr>
      </p:sp>
      <p:sp>
        <p:nvSpPr>
          <p:cNvPr id="12" name="Text 10"/>
          <p:cNvSpPr txBox="1"/>
          <p:nvPr/>
        </p:nvSpPr>
        <p:spPr>
          <a:xfrm>
            <a:off x="6112764"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3" name="Shape 11"/>
          <p:cNvSpPr/>
          <p:nvPr/>
        </p:nvSpPr>
        <p:spPr>
          <a:xfrm>
            <a:off x="8890254" y="2103120"/>
            <a:ext cx="2759202" cy="566928"/>
          </a:xfrm>
          <a:prstGeom prst="roundRect">
            <a:avLst>
              <a:gd name="adj" fmla="val 8065"/>
            </a:avLst>
          </a:prstGeom>
          <a:solidFill>
            <a:srgbClr val="36454F"/>
          </a:solidFill>
          <a:ln/>
        </p:spPr>
      </p:sp>
      <p:sp>
        <p:nvSpPr>
          <p:cNvPr id="14" name="Text 12"/>
          <p:cNvSpPr txBox="1"/>
          <p:nvPr/>
        </p:nvSpPr>
        <p:spPr>
          <a:xfrm>
            <a:off x="8890254"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15" name="Shape 13"/>
          <p:cNvSpPr/>
          <p:nvPr/>
        </p:nvSpPr>
        <p:spPr>
          <a:xfrm>
            <a:off x="548640" y="2670048"/>
            <a:ext cx="91" cy="73152"/>
          </a:xfrm>
          <a:prstGeom prst="line">
            <a:avLst/>
          </a:prstGeom>
          <a:noFill/>
          <a:ln w="12700">
            <a:solidFill>
              <a:srgbClr val="6B7679"/>
            </a:solidFill>
            <a:prstDash val="solid"/>
          </a:ln>
        </p:spPr>
      </p:sp>
      <p:sp>
        <p:nvSpPr>
          <p:cNvPr id="16" name="Text 14"/>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17" name="Shape 15"/>
          <p:cNvSpPr/>
          <p:nvPr/>
        </p:nvSpPr>
        <p:spPr>
          <a:xfrm>
            <a:off x="5409247" y="2670048"/>
            <a:ext cx="91" cy="73152"/>
          </a:xfrm>
          <a:prstGeom prst="line">
            <a:avLst/>
          </a:prstGeom>
          <a:noFill/>
          <a:ln w="12700">
            <a:solidFill>
              <a:srgbClr val="6B7679"/>
            </a:solidFill>
            <a:prstDash val="solid"/>
          </a:ln>
        </p:spPr>
      </p:sp>
      <p:sp>
        <p:nvSpPr>
          <p:cNvPr id="18" name="Text 16"/>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7</a:t>
            </a:r>
            <a:endParaRPr lang="tr-TR" sz="1200" dirty="0"/>
          </a:p>
        </p:txBody>
      </p:sp>
      <p:sp>
        <p:nvSpPr>
          <p:cNvPr id="19" name="Shape 17"/>
          <p:cNvSpPr/>
          <p:nvPr/>
        </p:nvSpPr>
        <p:spPr>
          <a:xfrm>
            <a:off x="6103620" y="2670048"/>
            <a:ext cx="91" cy="73152"/>
          </a:xfrm>
          <a:prstGeom prst="line">
            <a:avLst/>
          </a:prstGeom>
          <a:noFill/>
          <a:ln w="12700">
            <a:solidFill>
              <a:srgbClr val="6B7679"/>
            </a:solidFill>
            <a:prstDash val="solid"/>
          </a:ln>
        </p:spPr>
      </p:sp>
      <p:sp>
        <p:nvSpPr>
          <p:cNvPr id="20" name="Text 18"/>
          <p:cNvSpPr txBox="1"/>
          <p:nvPr/>
        </p:nvSpPr>
        <p:spPr>
          <a:xfrm>
            <a:off x="582930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8</a:t>
            </a:r>
            <a:endParaRPr lang="tr-TR" sz="1200" dirty="0"/>
          </a:p>
        </p:txBody>
      </p:sp>
      <p:sp>
        <p:nvSpPr>
          <p:cNvPr id="21" name="Shape 19"/>
          <p:cNvSpPr/>
          <p:nvPr/>
        </p:nvSpPr>
        <p:spPr>
          <a:xfrm>
            <a:off x="8881110" y="2670048"/>
            <a:ext cx="91" cy="73152"/>
          </a:xfrm>
          <a:prstGeom prst="line">
            <a:avLst/>
          </a:prstGeom>
          <a:noFill/>
          <a:ln w="12700">
            <a:solidFill>
              <a:srgbClr val="6B7679"/>
            </a:solidFill>
            <a:prstDash val="solid"/>
          </a:ln>
        </p:spPr>
      </p:sp>
      <p:sp>
        <p:nvSpPr>
          <p:cNvPr id="22" name="Text 20"/>
          <p:cNvSpPr txBox="1"/>
          <p:nvPr/>
        </p:nvSpPr>
        <p:spPr>
          <a:xfrm>
            <a:off x="860679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12</a:t>
            </a:r>
            <a:endParaRPr lang="tr-TR" sz="1200" dirty="0"/>
          </a:p>
        </p:txBody>
      </p:sp>
      <p:sp>
        <p:nvSpPr>
          <p:cNvPr id="23" name="Shape 21"/>
          <p:cNvSpPr/>
          <p:nvPr/>
        </p:nvSpPr>
        <p:spPr>
          <a:xfrm>
            <a:off x="11658600" y="2670048"/>
            <a:ext cx="91" cy="73152"/>
          </a:xfrm>
          <a:prstGeom prst="line">
            <a:avLst/>
          </a:prstGeom>
          <a:noFill/>
          <a:ln w="12700">
            <a:solidFill>
              <a:srgbClr val="6B7679"/>
            </a:solidFill>
            <a:prstDash val="solid"/>
          </a:ln>
        </p:spPr>
      </p:sp>
      <p:sp>
        <p:nvSpPr>
          <p:cNvPr id="24" name="Text 22"/>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Süreç</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Varış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Patlama</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Bitiş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Dönüş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Bekleme</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Yanıt</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8</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Ortalama</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8</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26" name="Shape 23"/>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27" name="Text 24"/>
          <p:cNvSpPr txBox="1"/>
          <p:nvPr/>
        </p:nvSpPr>
        <p:spPr>
          <a:xfrm>
            <a:off x="7680960" y="342900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Karar nasıl verildi?</a:t>
            </a:r>
            <a:endParaRPr lang="tr-TR" sz="1500" dirty="0"/>
          </a:p>
        </p:txBody>
      </p:sp>
      <p:sp>
        <p:nvSpPr>
          <p:cNvPr id="28" name="Text 25"/>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 = 0: yalnızca P1 hazır → P1 7'ye kadar çalışır.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 = 7: P2 (4), P3 (1), P4 (4) bekliyor → en kısası P3.</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 = 8: P2 ile P4 4'te eşit → P2 önce gelmişti.</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Ortalama bekleme 4,75 (FCFS) → 4 ms.</a:t>
            </a:r>
            <a:endParaRPr lang="tr-TR"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ALGORİTMA 2B</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Kesintili SJF: En Kısa Kalan Süre Önce (SRTF)</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Yeni bir süreç geldiğinde, onun patlamasını çalışan sürecin kalan süresiyle karşılaştır. Kısa olan işlemciyi alır.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9</a:t>
            </a:r>
            <a:endParaRPr lang="tr-TR" sz="900" dirty="0"/>
          </a:p>
        </p:txBody>
      </p:sp>
      <p:sp>
        <p:nvSpPr>
          <p:cNvPr id="7" name="Shape 5"/>
          <p:cNvSpPr/>
          <p:nvPr/>
        </p:nvSpPr>
        <p:spPr>
          <a:xfrm>
            <a:off x="557784" y="2103120"/>
            <a:ext cx="1370457" cy="566928"/>
          </a:xfrm>
          <a:prstGeom prst="roundRect">
            <a:avLst>
              <a:gd name="adj" fmla="val 8065"/>
            </a:avLst>
          </a:prstGeom>
          <a:solidFill>
            <a:srgbClr val="02C39A"/>
          </a:solidFill>
          <a:ln/>
        </p:spPr>
      </p:sp>
      <p:sp>
        <p:nvSpPr>
          <p:cNvPr id="8" name="Text 6"/>
          <p:cNvSpPr txBox="1"/>
          <p:nvPr/>
        </p:nvSpPr>
        <p:spPr>
          <a:xfrm>
            <a:off x="557784"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9" name="Shape 7"/>
          <p:cNvSpPr/>
          <p:nvPr/>
        </p:nvSpPr>
        <p:spPr>
          <a:xfrm>
            <a:off x="1946529" y="2103120"/>
            <a:ext cx="1370457" cy="566928"/>
          </a:xfrm>
          <a:prstGeom prst="roundRect">
            <a:avLst>
              <a:gd name="adj" fmla="val 8065"/>
            </a:avLst>
          </a:prstGeom>
          <a:solidFill>
            <a:srgbClr val="50808E"/>
          </a:solidFill>
          <a:ln/>
        </p:spPr>
      </p:sp>
      <p:sp>
        <p:nvSpPr>
          <p:cNvPr id="10" name="Text 8"/>
          <p:cNvSpPr txBox="1"/>
          <p:nvPr/>
        </p:nvSpPr>
        <p:spPr>
          <a:xfrm>
            <a:off x="1946529"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1" name="Shape 9"/>
          <p:cNvSpPr/>
          <p:nvPr/>
        </p:nvSpPr>
        <p:spPr>
          <a:xfrm>
            <a:off x="3335274" y="2103120"/>
            <a:ext cx="676085" cy="566928"/>
          </a:xfrm>
          <a:prstGeom prst="roundRect">
            <a:avLst>
              <a:gd name="adj" fmla="val 8065"/>
            </a:avLst>
          </a:prstGeom>
          <a:solidFill>
            <a:srgbClr val="C98A1B"/>
          </a:solidFill>
          <a:ln/>
        </p:spPr>
      </p:sp>
      <p:sp>
        <p:nvSpPr>
          <p:cNvPr id="12" name="Text 10"/>
          <p:cNvSpPr txBox="1"/>
          <p:nvPr/>
        </p:nvSpPr>
        <p:spPr>
          <a:xfrm>
            <a:off x="3335274" y="2103120"/>
            <a:ext cx="676085"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13" name="Shape 11"/>
          <p:cNvSpPr/>
          <p:nvPr/>
        </p:nvSpPr>
        <p:spPr>
          <a:xfrm>
            <a:off x="4029646" y="2103120"/>
            <a:ext cx="1370457" cy="566928"/>
          </a:xfrm>
          <a:prstGeom prst="roundRect">
            <a:avLst>
              <a:gd name="adj" fmla="val 8065"/>
            </a:avLst>
          </a:prstGeom>
          <a:solidFill>
            <a:srgbClr val="50808E"/>
          </a:solidFill>
          <a:ln/>
        </p:spPr>
      </p:sp>
      <p:sp>
        <p:nvSpPr>
          <p:cNvPr id="14" name="Text 12"/>
          <p:cNvSpPr txBox="1"/>
          <p:nvPr/>
        </p:nvSpPr>
        <p:spPr>
          <a:xfrm>
            <a:off x="4029646"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5" name="Shape 13"/>
          <p:cNvSpPr/>
          <p:nvPr/>
        </p:nvSpPr>
        <p:spPr>
          <a:xfrm>
            <a:off x="5418391" y="2103120"/>
            <a:ext cx="2759202" cy="566928"/>
          </a:xfrm>
          <a:prstGeom prst="roundRect">
            <a:avLst>
              <a:gd name="adj" fmla="val 8065"/>
            </a:avLst>
          </a:prstGeom>
          <a:solidFill>
            <a:srgbClr val="36454F"/>
          </a:solidFill>
          <a:ln/>
        </p:spPr>
      </p:sp>
      <p:sp>
        <p:nvSpPr>
          <p:cNvPr id="16" name="Text 14"/>
          <p:cNvSpPr txBox="1"/>
          <p:nvPr/>
        </p:nvSpPr>
        <p:spPr>
          <a:xfrm>
            <a:off x="5418391"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17" name="Shape 15"/>
          <p:cNvSpPr/>
          <p:nvPr/>
        </p:nvSpPr>
        <p:spPr>
          <a:xfrm>
            <a:off x="8195882" y="2103120"/>
            <a:ext cx="3453575" cy="566928"/>
          </a:xfrm>
          <a:prstGeom prst="roundRect">
            <a:avLst>
              <a:gd name="adj" fmla="val 8065"/>
            </a:avLst>
          </a:prstGeom>
          <a:solidFill>
            <a:srgbClr val="02C39A"/>
          </a:solidFill>
          <a:ln/>
        </p:spPr>
      </p:sp>
      <p:sp>
        <p:nvSpPr>
          <p:cNvPr id="18" name="Text 16"/>
          <p:cNvSpPr txBox="1"/>
          <p:nvPr/>
        </p:nvSpPr>
        <p:spPr>
          <a:xfrm>
            <a:off x="8195882" y="2103120"/>
            <a:ext cx="3453575"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19" name="Shape 17"/>
          <p:cNvSpPr/>
          <p:nvPr/>
        </p:nvSpPr>
        <p:spPr>
          <a:xfrm>
            <a:off x="548640" y="2670048"/>
            <a:ext cx="91" cy="73152"/>
          </a:xfrm>
          <a:prstGeom prst="line">
            <a:avLst/>
          </a:prstGeom>
          <a:noFill/>
          <a:ln w="12700">
            <a:solidFill>
              <a:srgbClr val="6B7679"/>
            </a:solidFill>
            <a:prstDash val="solid"/>
          </a:ln>
        </p:spPr>
      </p:sp>
      <p:sp>
        <p:nvSpPr>
          <p:cNvPr id="20" name="Text 18"/>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21" name="Shape 19"/>
          <p:cNvSpPr/>
          <p:nvPr/>
        </p:nvSpPr>
        <p:spPr>
          <a:xfrm>
            <a:off x="1937385" y="2670048"/>
            <a:ext cx="91" cy="73152"/>
          </a:xfrm>
          <a:prstGeom prst="line">
            <a:avLst/>
          </a:prstGeom>
          <a:noFill/>
          <a:ln w="12700">
            <a:solidFill>
              <a:srgbClr val="6B7679"/>
            </a:solidFill>
            <a:prstDash val="solid"/>
          </a:ln>
        </p:spPr>
      </p:sp>
      <p:sp>
        <p:nvSpPr>
          <p:cNvPr id="22" name="Text 20"/>
          <p:cNvSpPr txBox="1"/>
          <p:nvPr/>
        </p:nvSpPr>
        <p:spPr>
          <a:xfrm>
            <a:off x="1663065"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2</a:t>
            </a:r>
            <a:endParaRPr lang="tr-TR" sz="1200" dirty="0"/>
          </a:p>
        </p:txBody>
      </p:sp>
      <p:sp>
        <p:nvSpPr>
          <p:cNvPr id="23" name="Shape 21"/>
          <p:cNvSpPr/>
          <p:nvPr/>
        </p:nvSpPr>
        <p:spPr>
          <a:xfrm>
            <a:off x="3326130" y="2670048"/>
            <a:ext cx="91" cy="73152"/>
          </a:xfrm>
          <a:prstGeom prst="line">
            <a:avLst/>
          </a:prstGeom>
          <a:noFill/>
          <a:ln w="12700">
            <a:solidFill>
              <a:srgbClr val="6B7679"/>
            </a:solidFill>
            <a:prstDash val="solid"/>
          </a:ln>
        </p:spPr>
      </p:sp>
      <p:sp>
        <p:nvSpPr>
          <p:cNvPr id="24" name="Text 22"/>
          <p:cNvSpPr txBox="1"/>
          <p:nvPr/>
        </p:nvSpPr>
        <p:spPr>
          <a:xfrm>
            <a:off x="305181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4</a:t>
            </a:r>
            <a:endParaRPr lang="tr-TR" sz="1200" dirty="0"/>
          </a:p>
        </p:txBody>
      </p:sp>
      <p:sp>
        <p:nvSpPr>
          <p:cNvPr id="25" name="Shape 23"/>
          <p:cNvSpPr/>
          <p:nvPr/>
        </p:nvSpPr>
        <p:spPr>
          <a:xfrm>
            <a:off x="4020502" y="2670048"/>
            <a:ext cx="91" cy="73152"/>
          </a:xfrm>
          <a:prstGeom prst="line">
            <a:avLst/>
          </a:prstGeom>
          <a:noFill/>
          <a:ln w="12700">
            <a:solidFill>
              <a:srgbClr val="6B7679"/>
            </a:solidFill>
            <a:prstDash val="solid"/>
          </a:ln>
        </p:spPr>
      </p:sp>
      <p:sp>
        <p:nvSpPr>
          <p:cNvPr id="26" name="Text 24"/>
          <p:cNvSpPr txBox="1"/>
          <p:nvPr/>
        </p:nvSpPr>
        <p:spPr>
          <a:xfrm>
            <a:off x="3746183"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5</a:t>
            </a:r>
            <a:endParaRPr lang="tr-TR" sz="1200" dirty="0"/>
          </a:p>
        </p:txBody>
      </p:sp>
      <p:sp>
        <p:nvSpPr>
          <p:cNvPr id="27" name="Shape 25"/>
          <p:cNvSpPr/>
          <p:nvPr/>
        </p:nvSpPr>
        <p:spPr>
          <a:xfrm>
            <a:off x="5409247" y="2670048"/>
            <a:ext cx="91" cy="73152"/>
          </a:xfrm>
          <a:prstGeom prst="line">
            <a:avLst/>
          </a:prstGeom>
          <a:noFill/>
          <a:ln w="12700">
            <a:solidFill>
              <a:srgbClr val="6B7679"/>
            </a:solidFill>
            <a:prstDash val="solid"/>
          </a:ln>
        </p:spPr>
      </p:sp>
      <p:sp>
        <p:nvSpPr>
          <p:cNvPr id="28" name="Text 26"/>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7</a:t>
            </a:r>
            <a:endParaRPr lang="tr-TR" sz="1200" dirty="0"/>
          </a:p>
        </p:txBody>
      </p:sp>
      <p:sp>
        <p:nvSpPr>
          <p:cNvPr id="29" name="Shape 27"/>
          <p:cNvSpPr/>
          <p:nvPr/>
        </p:nvSpPr>
        <p:spPr>
          <a:xfrm>
            <a:off x="8186738" y="2670048"/>
            <a:ext cx="91" cy="73152"/>
          </a:xfrm>
          <a:prstGeom prst="line">
            <a:avLst/>
          </a:prstGeom>
          <a:noFill/>
          <a:ln w="12700">
            <a:solidFill>
              <a:srgbClr val="6B7679"/>
            </a:solidFill>
            <a:prstDash val="solid"/>
          </a:ln>
        </p:spPr>
      </p:sp>
      <p:sp>
        <p:nvSpPr>
          <p:cNvPr id="30" name="Text 28"/>
          <p:cNvSpPr txBox="1"/>
          <p:nvPr/>
        </p:nvSpPr>
        <p:spPr>
          <a:xfrm>
            <a:off x="7912417"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11</a:t>
            </a:r>
            <a:endParaRPr lang="tr-TR" sz="1200" dirty="0"/>
          </a:p>
        </p:txBody>
      </p:sp>
      <p:sp>
        <p:nvSpPr>
          <p:cNvPr id="31" name="Shape 29"/>
          <p:cNvSpPr/>
          <p:nvPr/>
        </p:nvSpPr>
        <p:spPr>
          <a:xfrm>
            <a:off x="11658600" y="2670048"/>
            <a:ext cx="91" cy="73152"/>
          </a:xfrm>
          <a:prstGeom prst="line">
            <a:avLst/>
          </a:prstGeom>
          <a:noFill/>
          <a:ln w="12700">
            <a:solidFill>
              <a:srgbClr val="6B7679"/>
            </a:solidFill>
            <a:prstDash val="solid"/>
          </a:ln>
        </p:spPr>
      </p:sp>
      <p:sp>
        <p:nvSpPr>
          <p:cNvPr id="32" name="Text 30"/>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Süreç</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Varış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Patlama</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Bitiş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Dönüş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Bekleme</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Yanıt</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9</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Ortalama</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0,5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34" name="Shape 31"/>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35" name="Text 32"/>
          <p:cNvSpPr txBox="1"/>
          <p:nvPr/>
        </p:nvSpPr>
        <p:spPr>
          <a:xfrm>
            <a:off x="7680960" y="342900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Her varışta verilen karar</a:t>
            </a:r>
            <a:endParaRPr lang="tr-TR" sz="1500" dirty="0"/>
          </a:p>
        </p:txBody>
      </p:sp>
      <p:sp>
        <p:nvSpPr>
          <p:cNvPr id="36" name="Text 33"/>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 = 2: P2'ye 4 gerekir &lt; P1'in kalan 5'i → P1 kesilir.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 = 4: P3'e 1 gerekir &lt; P2'nin kalan 2'si → P2 kesilir.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 = 5: P2 (2) &lt; P4 (4) &lt; P1 (5) → önce P2, sonra P4, sonra P1.</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Ortalama bekleme: 3 ms — günün en iyisi.</a:t>
            </a:r>
            <a:endParaRPr lang="tr-T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SJF</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2800" b="1" dirty="0">
                <a:solidFill>
                  <a:srgbClr val="36454F"/>
                </a:solidFill>
                <a:latin typeface="Cambria" pitchFamily="34" charset="0"/>
                <a:ea typeface="Cambria" pitchFamily="34" charset="-122"/>
                <a:cs typeface="Cambria" pitchFamily="34" charset="-120"/>
              </a:rPr>
              <a:t>En Kısa İş Önce, Ortalama Beklemeyi Neden En Aza İndirir?</a:t>
            </a:r>
            <a:endParaRPr lang="tr-TR" sz="28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 yer değiştirme argümanı: planda art arda gelen iki işe bakın; uzun bir L, kısa bir S'den önce olsun.</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10</a:t>
            </a:r>
            <a:endParaRPr lang="tr-TR" sz="900" dirty="0"/>
          </a:p>
        </p:txBody>
      </p:sp>
      <p:sp>
        <p:nvSpPr>
          <p:cNvPr id="7" name="Text 5"/>
          <p:cNvSpPr txBox="1"/>
          <p:nvPr/>
        </p:nvSpPr>
        <p:spPr>
          <a:xfrm>
            <a:off x="548640" y="2304288"/>
            <a:ext cx="1463040" cy="365760"/>
          </a:xfrm>
          <a:prstGeom prst="rect">
            <a:avLst/>
          </a:prstGeom>
          <a:noFill/>
          <a:ln/>
        </p:spPr>
        <p:txBody>
          <a:bodyPr wrap="square" lIns="0" tIns="0" rIns="0" bIns="0" rtlCol="0" anchor="t"/>
          <a:lstStyle/>
          <a:p>
            <a:pPr indent="0" marL="0">
              <a:buNone/>
            </a:pPr>
            <a:r>
              <a:rPr lang="tr-TR" sz="1400" b="1" dirty="0">
                <a:solidFill>
                  <a:srgbClr val="B5453A"/>
                </a:solidFill>
                <a:latin typeface="Calibri" pitchFamily="34" charset="0"/>
                <a:ea typeface="Calibri" pitchFamily="34" charset="-122"/>
                <a:cs typeface="Calibri" pitchFamily="34" charset="-120"/>
              </a:rPr>
              <a:t>Önce uzun</a:t>
            </a:r>
            <a:endParaRPr lang="tr-TR" sz="1400" dirty="0"/>
          </a:p>
        </p:txBody>
      </p:sp>
      <p:sp>
        <p:nvSpPr>
          <p:cNvPr id="8" name="Shape 6"/>
          <p:cNvSpPr/>
          <p:nvPr/>
        </p:nvSpPr>
        <p:spPr>
          <a:xfrm>
            <a:off x="2103120" y="2194560"/>
            <a:ext cx="2304288" cy="548640"/>
          </a:xfrm>
          <a:prstGeom prst="roundRect">
            <a:avLst>
              <a:gd name="adj" fmla="val 8333"/>
            </a:avLst>
          </a:prstGeom>
          <a:solidFill>
            <a:srgbClr val="36454F"/>
          </a:solidFill>
          <a:ln/>
        </p:spPr>
      </p:sp>
      <p:sp>
        <p:nvSpPr>
          <p:cNvPr id="9" name="Text 7"/>
          <p:cNvSpPr txBox="1"/>
          <p:nvPr/>
        </p:nvSpPr>
        <p:spPr>
          <a:xfrm>
            <a:off x="2103120" y="2194560"/>
            <a:ext cx="2304288" cy="54864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L = 6</a:t>
            </a:r>
            <a:endParaRPr lang="tr-TR" sz="1300" dirty="0"/>
          </a:p>
        </p:txBody>
      </p:sp>
      <p:sp>
        <p:nvSpPr>
          <p:cNvPr id="10" name="Shape 8"/>
          <p:cNvSpPr/>
          <p:nvPr/>
        </p:nvSpPr>
        <p:spPr>
          <a:xfrm>
            <a:off x="4425696" y="2194560"/>
            <a:ext cx="768096" cy="548640"/>
          </a:xfrm>
          <a:prstGeom prst="roundRect">
            <a:avLst>
              <a:gd name="adj" fmla="val 8333"/>
            </a:avLst>
          </a:prstGeom>
          <a:solidFill>
            <a:srgbClr val="C98A1B"/>
          </a:solidFill>
          <a:ln/>
        </p:spPr>
      </p:sp>
      <p:sp>
        <p:nvSpPr>
          <p:cNvPr id="11" name="Text 9"/>
          <p:cNvSpPr txBox="1"/>
          <p:nvPr/>
        </p:nvSpPr>
        <p:spPr>
          <a:xfrm>
            <a:off x="4425696" y="2194560"/>
            <a:ext cx="768096" cy="54864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S = 2</a:t>
            </a:r>
            <a:endParaRPr lang="tr-TR" sz="1200" dirty="0"/>
          </a:p>
        </p:txBody>
      </p:sp>
      <p:sp>
        <p:nvSpPr>
          <p:cNvPr id="12" name="Text 10"/>
          <p:cNvSpPr txBox="1"/>
          <p:nvPr/>
        </p:nvSpPr>
        <p:spPr>
          <a:xfrm>
            <a:off x="5358384" y="2304288"/>
            <a:ext cx="1828800" cy="365760"/>
          </a:xfrm>
          <a:prstGeom prst="rect">
            <a:avLst/>
          </a:prstGeom>
          <a:noFill/>
          <a:ln/>
        </p:spPr>
        <p:txBody>
          <a:bodyPr wrap="square" lIns="0" tIns="0" rIns="0" bIns="0" rtlCol="0" anchor="t"/>
          <a:lstStyle/>
          <a:p>
            <a:pPr indent="0" marL="0">
              <a:buNone/>
            </a:pPr>
            <a:r>
              <a:rPr lang="tr-TR" sz="1400" dirty="0">
                <a:solidFill>
                  <a:srgbClr val="B5453A"/>
                </a:solidFill>
                <a:latin typeface="Calibri" pitchFamily="34" charset="0"/>
                <a:ea typeface="Calibri" pitchFamily="34" charset="-122"/>
                <a:cs typeface="Calibri" pitchFamily="34" charset="-120"/>
              </a:rPr>
              <a:t>S 6 bekler</a:t>
            </a:r>
            <a:endParaRPr lang="tr-TR" sz="1400" dirty="0"/>
          </a:p>
        </p:txBody>
      </p:sp>
      <p:sp>
        <p:nvSpPr>
          <p:cNvPr id="13" name="Text 11"/>
          <p:cNvSpPr txBox="1"/>
          <p:nvPr/>
        </p:nvSpPr>
        <p:spPr>
          <a:xfrm>
            <a:off x="548640" y="3127248"/>
            <a:ext cx="1463040" cy="365760"/>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Önce kısa</a:t>
            </a:r>
            <a:endParaRPr lang="tr-TR" sz="1400" dirty="0"/>
          </a:p>
        </p:txBody>
      </p:sp>
      <p:sp>
        <p:nvSpPr>
          <p:cNvPr id="14" name="Shape 12"/>
          <p:cNvSpPr/>
          <p:nvPr/>
        </p:nvSpPr>
        <p:spPr>
          <a:xfrm>
            <a:off x="2103120" y="3017520"/>
            <a:ext cx="768096" cy="548640"/>
          </a:xfrm>
          <a:prstGeom prst="roundRect">
            <a:avLst>
              <a:gd name="adj" fmla="val 8333"/>
            </a:avLst>
          </a:prstGeom>
          <a:solidFill>
            <a:srgbClr val="C98A1B"/>
          </a:solidFill>
          <a:ln/>
        </p:spPr>
      </p:sp>
      <p:sp>
        <p:nvSpPr>
          <p:cNvPr id="15" name="Text 13"/>
          <p:cNvSpPr txBox="1"/>
          <p:nvPr/>
        </p:nvSpPr>
        <p:spPr>
          <a:xfrm>
            <a:off x="2103120" y="3017520"/>
            <a:ext cx="768096" cy="54864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S = 2</a:t>
            </a:r>
            <a:endParaRPr lang="tr-TR" sz="1200" dirty="0"/>
          </a:p>
        </p:txBody>
      </p:sp>
      <p:sp>
        <p:nvSpPr>
          <p:cNvPr id="16" name="Shape 14"/>
          <p:cNvSpPr/>
          <p:nvPr/>
        </p:nvSpPr>
        <p:spPr>
          <a:xfrm>
            <a:off x="2889504" y="3017520"/>
            <a:ext cx="2304288" cy="548640"/>
          </a:xfrm>
          <a:prstGeom prst="roundRect">
            <a:avLst>
              <a:gd name="adj" fmla="val 8333"/>
            </a:avLst>
          </a:prstGeom>
          <a:solidFill>
            <a:srgbClr val="36454F"/>
          </a:solidFill>
          <a:ln/>
        </p:spPr>
      </p:sp>
      <p:sp>
        <p:nvSpPr>
          <p:cNvPr id="17" name="Text 15"/>
          <p:cNvSpPr txBox="1"/>
          <p:nvPr/>
        </p:nvSpPr>
        <p:spPr>
          <a:xfrm>
            <a:off x="2889504" y="3017520"/>
            <a:ext cx="2304288" cy="54864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L = 6</a:t>
            </a:r>
            <a:endParaRPr lang="tr-TR" sz="1300" dirty="0"/>
          </a:p>
        </p:txBody>
      </p:sp>
      <p:sp>
        <p:nvSpPr>
          <p:cNvPr id="18" name="Text 16"/>
          <p:cNvSpPr txBox="1"/>
          <p:nvPr/>
        </p:nvSpPr>
        <p:spPr>
          <a:xfrm>
            <a:off x="5358384" y="3127248"/>
            <a:ext cx="1828800" cy="365760"/>
          </a:xfrm>
          <a:prstGeom prst="rect">
            <a:avLst/>
          </a:prstGeom>
          <a:noFill/>
          <a:ln/>
        </p:spPr>
        <p:txBody>
          <a:bodyPr wrap="square" lIns="0" tIns="0" rIns="0" bIns="0" rtlCol="0" anchor="t"/>
          <a:lstStyle/>
          <a:p>
            <a:pPr indent="0" marL="0">
              <a:buNone/>
            </a:pPr>
            <a:r>
              <a:rPr lang="tr-TR" sz="1400" dirty="0">
                <a:solidFill>
                  <a:srgbClr val="028090"/>
                </a:solidFill>
                <a:latin typeface="Calibri" pitchFamily="34" charset="0"/>
                <a:ea typeface="Calibri" pitchFamily="34" charset="-122"/>
                <a:cs typeface="Calibri" pitchFamily="34" charset="-120"/>
              </a:rPr>
              <a:t>L 2 bekler</a:t>
            </a:r>
            <a:endParaRPr lang="tr-TR" sz="1400" dirty="0"/>
          </a:p>
        </p:txBody>
      </p:sp>
      <p:sp>
        <p:nvSpPr>
          <p:cNvPr id="19" name="Shape 17"/>
          <p:cNvSpPr/>
          <p:nvPr/>
        </p:nvSpPr>
        <p:spPr>
          <a:xfrm>
            <a:off x="548640" y="3886200"/>
            <a:ext cx="630936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777240" y="4069080"/>
            <a:ext cx="58521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Argüman</a:t>
            </a:r>
            <a:endParaRPr lang="tr-TR" sz="1500" dirty="0"/>
          </a:p>
        </p:txBody>
      </p:sp>
      <p:sp>
        <p:nvSpPr>
          <p:cNvPr id="21" name="Text 19"/>
          <p:cNvSpPr txBox="1"/>
          <p:nvPr/>
        </p:nvSpPr>
        <p:spPr>
          <a:xfrm>
            <a:off x="777240" y="4526280"/>
            <a:ext cx="5852160" cy="16002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Çiftin yerini değiştirmek, öncesindeki ve sonrasındaki işler için hiçbir şeyi değiştirmez.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Çiftin içinde toplam bekleme L'den S'ye düşer.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Uzun işin kısadan önce geldiği her plan iyileştirilebilir → patlama uzunluğuna göre sıralamak en iyisidir.</a:t>
            </a:r>
            <a:endParaRPr lang="tr-TR" sz="1400" dirty="0"/>
          </a:p>
        </p:txBody>
      </p:sp>
      <p:sp>
        <p:nvSpPr>
          <p:cNvPr id="22" name="Shape 20"/>
          <p:cNvSpPr/>
          <p:nvPr/>
        </p:nvSpPr>
        <p:spPr>
          <a:xfrm>
            <a:off x="7132320" y="2194560"/>
            <a:ext cx="4526280" cy="2148840"/>
          </a:xfrm>
          <a:prstGeom prst="roundRect">
            <a:avLst>
              <a:gd name="adj" fmla="val 2553"/>
            </a:avLst>
          </a:prstGeom>
          <a:solidFill>
            <a:srgbClr val="F2F2F2"/>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7360920" y="2377440"/>
            <a:ext cx="4069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İki kesin ifade</a:t>
            </a:r>
            <a:endParaRPr lang="tr-TR" sz="1500" dirty="0"/>
          </a:p>
        </p:txBody>
      </p:sp>
      <p:sp>
        <p:nvSpPr>
          <p:cNvPr id="24" name="Text 22"/>
          <p:cNvSpPr txBox="1"/>
          <p:nvPr/>
        </p:nvSpPr>
        <p:spPr>
          <a:xfrm>
            <a:off x="7360920" y="2834640"/>
            <a:ext cx="4069080" cy="137160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SJF,</a:t>
            </a:r>
            <a:r>
              <a:rPr lang="tr-TR" sz="1400" dirty="0">
                <a:solidFill>
                  <a:srgbClr val="3A464C"/>
                </a:solidFill>
                <a:latin typeface="Calibri" pitchFamily="34" charset="0"/>
                <a:ea typeface="Calibri" pitchFamily="34" charset="-122"/>
                <a:cs typeface="Calibri" pitchFamily="34" charset="-120"/>
              </a:rPr>
              <a:t> tüm işler aynı anda hazırsa en iyisidir (optimal).</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SRTF,</a:t>
            </a:r>
            <a:r>
              <a:rPr lang="tr-TR" sz="1400" dirty="0">
                <a:solidFill>
                  <a:srgbClr val="3A464C"/>
                </a:solidFill>
                <a:latin typeface="Calibri" pitchFamily="34" charset="0"/>
                <a:ea typeface="Calibri" pitchFamily="34" charset="-122"/>
                <a:cs typeface="Calibri" pitchFamily="34" charset="-120"/>
              </a:rPr>
              <a:t> işler farklı zamanlarda geliyorsa en iyisidir (bağlam değişimi maliyeti yok sayılırsa).</a:t>
            </a:r>
            <a:endParaRPr lang="tr-TR" sz="1400" dirty="0"/>
          </a:p>
        </p:txBody>
      </p:sp>
      <p:sp>
        <p:nvSpPr>
          <p:cNvPr id="25" name="Shape 23"/>
          <p:cNvSpPr/>
          <p:nvPr/>
        </p:nvSpPr>
        <p:spPr>
          <a:xfrm>
            <a:off x="7132320" y="4572000"/>
            <a:ext cx="4526280" cy="1691640"/>
          </a:xfrm>
          <a:prstGeom prst="roundRect">
            <a:avLst>
              <a:gd name="adj" fmla="val 3243"/>
            </a:avLst>
          </a:prstGeom>
          <a:solidFill>
            <a:srgbClr val="36454F"/>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7360920" y="4572000"/>
            <a:ext cx="4069080" cy="169164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Püf noktası: zamanlayıcının bir sonraki CPU patlamasının uzunluğunu, süreç çalışmadan önce bilmesi gerekir.</a:t>
            </a:r>
            <a:endParaRPr lang="tr-TR"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UYGULAMADA SJF</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Sonraki CPU Patlamasını Tahmin Etmek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İşletim sistemi geleceği bilemez, ama geçmişten tahmin yürütebilir: son patlamalar bir sonrakinin iyi göstergeleridir.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11</a:t>
            </a:r>
            <a:endParaRPr lang="tr-TR" sz="900" dirty="0"/>
          </a:p>
        </p:txBody>
      </p:sp>
      <p:sp>
        <p:nvSpPr>
          <p:cNvPr id="7" name="Shape 5"/>
          <p:cNvSpPr/>
          <p:nvPr/>
        </p:nvSpPr>
        <p:spPr>
          <a:xfrm>
            <a:off x="548640" y="2103120"/>
            <a:ext cx="5760720" cy="914400"/>
          </a:xfrm>
          <a:prstGeom prst="roundRect">
            <a:avLst>
              <a:gd name="adj" fmla="val 6000"/>
            </a:avLst>
          </a:prstGeom>
          <a:solidFill>
            <a:srgbClr val="36454F"/>
          </a:solidFill>
          <a:ln/>
        </p:spPr>
      </p:sp>
      <p:sp>
        <p:nvSpPr>
          <p:cNvPr id="8" name="Text 6"/>
          <p:cNvSpPr txBox="1"/>
          <p:nvPr/>
        </p:nvSpPr>
        <p:spPr>
          <a:xfrm>
            <a:off x="548640" y="2103120"/>
            <a:ext cx="5760720" cy="914400"/>
          </a:xfrm>
          <a:prstGeom prst="rect">
            <a:avLst/>
          </a:prstGeom>
          <a:noFill/>
          <a:ln/>
        </p:spPr>
        <p:txBody>
          <a:bodyPr wrap="square" lIns="0" tIns="0" rIns="0" bIns="0" rtlCol="0" anchor="ctr"/>
          <a:lstStyle/>
          <a:p>
            <a:pPr algn="ctr" indent="0" marL="0">
              <a:buNone/>
            </a:pPr>
            <a:r>
              <a:rPr lang="tr-TR" sz="2800" dirty="0">
                <a:solidFill>
                  <a:srgbClr val="FFFFFF"/>
                </a:solidFill>
                <a:latin typeface="Calibri" pitchFamily="34" charset="0"/>
                <a:ea typeface="Calibri" pitchFamily="34" charset="-122"/>
                <a:cs typeface="Calibri" pitchFamily="34" charset="-120"/>
              </a:rPr>
              <a:t>τₙ₊₁  =  α · tₙ  +  (1 − α) · τₙ</a:t>
            </a:r>
            <a:endParaRPr lang="tr-TR" sz="2800" dirty="0"/>
          </a:p>
        </p:txBody>
      </p:sp>
      <p:sp>
        <p:nvSpPr>
          <p:cNvPr id="9" name="Shape 7"/>
          <p:cNvSpPr/>
          <p:nvPr/>
        </p:nvSpPr>
        <p:spPr>
          <a:xfrm>
            <a:off x="548640" y="3200400"/>
            <a:ext cx="576072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77240" y="3383280"/>
            <a:ext cx="5303520" cy="114300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t</a:t>
            </a:r>
            <a:r>
              <a:rPr lang="tr-TR" sz="1400" dirty="0">
                <a:solidFill>
                  <a:srgbClr val="3A464C"/>
                </a:solidFill>
                <a:latin typeface="Calibri" pitchFamily="34" charset="0"/>
                <a:ea typeface="Calibri" pitchFamily="34" charset="-122"/>
                <a:cs typeface="Calibri" pitchFamily="34" charset="-120"/>
              </a:rPr>
              <a:t>ₙ = n'inci patlamanın gerçek uzunluğu;  τₙ = onun için yapılmış tahmin.</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α</a:t>
            </a:r>
            <a:r>
              <a:rPr lang="tr-TR" sz="1400" dirty="0">
                <a:solidFill>
                  <a:srgbClr val="3A464C"/>
                </a:solidFill>
                <a:latin typeface="Calibri" pitchFamily="34" charset="0"/>
                <a:ea typeface="Calibri" pitchFamily="34" charset="-122"/>
                <a:cs typeface="Calibri" pitchFamily="34" charset="-120"/>
              </a:rPr>
              <a:t> (0 ≤ α ≤ 1) yakın geçmişin ağırlığı. Yaygın seçim: α = 1/2.</a:t>
            </a:r>
            <a:endParaRPr lang="tr-TR" sz="1400" dirty="0"/>
          </a:p>
        </p:txBody>
      </p:sp>
      <p:sp>
        <p:nvSpPr>
          <p:cNvPr id="11" name="Shape 9"/>
          <p:cNvSpPr/>
          <p:nvPr/>
        </p:nvSpPr>
        <p:spPr>
          <a:xfrm>
            <a:off x="548640" y="4846320"/>
            <a:ext cx="5760720" cy="1417320"/>
          </a:xfrm>
          <a:prstGeom prst="roundRect">
            <a:avLst>
              <a:gd name="adj" fmla="val 3226"/>
            </a:avLst>
          </a:prstGeom>
          <a:solidFill>
            <a:srgbClr val="212121"/>
          </a:solidFill>
          <a:ln/>
        </p:spPr>
      </p:sp>
      <p:sp>
        <p:nvSpPr>
          <p:cNvPr id="12" name="Text 10"/>
          <p:cNvSpPr txBox="1"/>
          <p:nvPr/>
        </p:nvSpPr>
        <p:spPr>
          <a:xfrm>
            <a:off x="731520" y="4956048"/>
            <a:ext cx="5394960" cy="119786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Bir adım; α = 1/2, τ0 = 10 ms, t0 = 6 ms: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τ1 = 0.5 · 6 + 0.5 · 10 = 8 ms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τ2 = 0.5 · 4 + 0.5 ·  8 = 6 ms     (t1 = 4)</a:t>
            </a:r>
            <a:endParaRPr lang="tr-TR" sz="1350" dirty="0"/>
          </a:p>
        </p:txBody>
      </p:sp>
      <p:graphicFrame>
        <p:nvGraphicFramePr>
          <p:cNvPr id="13" name="Chart 0" descr=""/>
          <p:cNvGraphicFramePr/>
          <p:nvPr/>
        </p:nvGraphicFramePr>
        <p:xfrm>
          <a:off x="6583680" y="2103120"/>
          <a:ext cx="5074920" cy="4160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ALGORİTMA 3</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Öncelikli Zamanlama (Priority Scheduling)</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sürecin bir öncelik numarası vardır; işlemci en yüksek öncelikli sürece (burada: en küçük numara) gider. SJF, öncelik = patlama uzunluğu olan özel durumdur.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12</a:t>
            </a:r>
            <a:endParaRPr lang="tr-TR" sz="900" dirty="0"/>
          </a:p>
        </p:txBody>
      </p:sp>
      <p:sp>
        <p:nvSpPr>
          <p:cNvPr id="7" name="Text 5"/>
          <p:cNvSpPr txBox="1"/>
          <p:nvPr/>
        </p:nvSpPr>
        <p:spPr>
          <a:xfrm>
            <a:off x="548640" y="2148840"/>
            <a:ext cx="1691640" cy="566928"/>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Kesintisiz</a:t>
            </a:r>
            <a:endParaRPr lang="tr-TR" sz="1300" dirty="0"/>
          </a:p>
        </p:txBody>
      </p:sp>
      <p:sp>
        <p:nvSpPr>
          <p:cNvPr id="8" name="Shape 6"/>
          <p:cNvSpPr/>
          <p:nvPr/>
        </p:nvSpPr>
        <p:spPr>
          <a:xfrm>
            <a:off x="2340864" y="2148840"/>
            <a:ext cx="2241995" cy="566928"/>
          </a:xfrm>
          <a:prstGeom prst="roundRect">
            <a:avLst>
              <a:gd name="adj" fmla="val 8065"/>
            </a:avLst>
          </a:prstGeom>
          <a:solidFill>
            <a:srgbClr val="02C39A"/>
          </a:solidFill>
          <a:ln/>
        </p:spPr>
      </p:sp>
      <p:sp>
        <p:nvSpPr>
          <p:cNvPr id="9" name="Text 7"/>
          <p:cNvSpPr txBox="1"/>
          <p:nvPr/>
        </p:nvSpPr>
        <p:spPr>
          <a:xfrm>
            <a:off x="2340864" y="2148840"/>
            <a:ext cx="2241995"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10" name="Shape 8"/>
          <p:cNvSpPr/>
          <p:nvPr/>
        </p:nvSpPr>
        <p:spPr>
          <a:xfrm>
            <a:off x="4601146" y="2148840"/>
            <a:ext cx="1273302" cy="566928"/>
          </a:xfrm>
          <a:prstGeom prst="roundRect">
            <a:avLst>
              <a:gd name="adj" fmla="val 8065"/>
            </a:avLst>
          </a:prstGeom>
          <a:solidFill>
            <a:srgbClr val="50808E"/>
          </a:solidFill>
          <a:ln/>
        </p:spPr>
      </p:sp>
      <p:sp>
        <p:nvSpPr>
          <p:cNvPr id="11" name="Text 9"/>
          <p:cNvSpPr txBox="1"/>
          <p:nvPr/>
        </p:nvSpPr>
        <p:spPr>
          <a:xfrm>
            <a:off x="4601146" y="2148840"/>
            <a:ext cx="1273302"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12" name="Shape 10"/>
          <p:cNvSpPr/>
          <p:nvPr/>
        </p:nvSpPr>
        <p:spPr>
          <a:xfrm>
            <a:off x="5892736" y="2148840"/>
            <a:ext cx="1273302" cy="566928"/>
          </a:xfrm>
          <a:prstGeom prst="roundRect">
            <a:avLst>
              <a:gd name="adj" fmla="val 8065"/>
            </a:avLst>
          </a:prstGeom>
          <a:solidFill>
            <a:srgbClr val="36454F"/>
          </a:solidFill>
          <a:ln/>
        </p:spPr>
      </p:sp>
      <p:sp>
        <p:nvSpPr>
          <p:cNvPr id="13" name="Text 11"/>
          <p:cNvSpPr txBox="1"/>
          <p:nvPr/>
        </p:nvSpPr>
        <p:spPr>
          <a:xfrm>
            <a:off x="5892736" y="2148840"/>
            <a:ext cx="1273302"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14" name="Shape 12"/>
          <p:cNvSpPr/>
          <p:nvPr/>
        </p:nvSpPr>
        <p:spPr>
          <a:xfrm>
            <a:off x="7184326" y="2148840"/>
            <a:ext cx="304609" cy="566928"/>
          </a:xfrm>
          <a:prstGeom prst="roundRect">
            <a:avLst>
              <a:gd name="adj" fmla="val 15009"/>
            </a:avLst>
          </a:prstGeom>
          <a:solidFill>
            <a:srgbClr val="C98A1B"/>
          </a:solidFill>
          <a:ln/>
        </p:spPr>
      </p:sp>
      <p:sp>
        <p:nvSpPr>
          <p:cNvPr id="15" name="Text 13"/>
          <p:cNvSpPr txBox="1"/>
          <p:nvPr/>
        </p:nvSpPr>
        <p:spPr>
          <a:xfrm>
            <a:off x="7184326" y="2148840"/>
            <a:ext cx="304609"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P3</a:t>
            </a:r>
            <a:endParaRPr lang="tr-TR" sz="1200" dirty="0"/>
          </a:p>
        </p:txBody>
      </p:sp>
      <p:sp>
        <p:nvSpPr>
          <p:cNvPr id="16" name="Shape 14"/>
          <p:cNvSpPr/>
          <p:nvPr/>
        </p:nvSpPr>
        <p:spPr>
          <a:xfrm>
            <a:off x="2331720" y="2715768"/>
            <a:ext cx="91" cy="73152"/>
          </a:xfrm>
          <a:prstGeom prst="line">
            <a:avLst/>
          </a:prstGeom>
          <a:noFill/>
          <a:ln w="12700">
            <a:solidFill>
              <a:srgbClr val="6B7679"/>
            </a:solidFill>
            <a:prstDash val="solid"/>
          </a:ln>
        </p:spPr>
      </p:sp>
      <p:sp>
        <p:nvSpPr>
          <p:cNvPr id="17" name="Text 15"/>
          <p:cNvSpPr txBox="1"/>
          <p:nvPr/>
        </p:nvSpPr>
        <p:spPr>
          <a:xfrm>
            <a:off x="2057400" y="2788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18" name="Shape 16"/>
          <p:cNvSpPr/>
          <p:nvPr/>
        </p:nvSpPr>
        <p:spPr>
          <a:xfrm>
            <a:off x="4592003" y="2715768"/>
            <a:ext cx="91" cy="73152"/>
          </a:xfrm>
          <a:prstGeom prst="line">
            <a:avLst/>
          </a:prstGeom>
          <a:noFill/>
          <a:ln w="12700">
            <a:solidFill>
              <a:srgbClr val="6B7679"/>
            </a:solidFill>
            <a:prstDash val="solid"/>
          </a:ln>
        </p:spPr>
      </p:sp>
      <p:sp>
        <p:nvSpPr>
          <p:cNvPr id="19" name="Text 17"/>
          <p:cNvSpPr txBox="1"/>
          <p:nvPr/>
        </p:nvSpPr>
        <p:spPr>
          <a:xfrm>
            <a:off x="4317683" y="2788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7</a:t>
            </a:r>
            <a:endParaRPr lang="tr-TR" sz="1200" dirty="0"/>
          </a:p>
        </p:txBody>
      </p:sp>
      <p:sp>
        <p:nvSpPr>
          <p:cNvPr id="20" name="Shape 18"/>
          <p:cNvSpPr/>
          <p:nvPr/>
        </p:nvSpPr>
        <p:spPr>
          <a:xfrm>
            <a:off x="5883592" y="2715768"/>
            <a:ext cx="91" cy="73152"/>
          </a:xfrm>
          <a:prstGeom prst="line">
            <a:avLst/>
          </a:prstGeom>
          <a:noFill/>
          <a:ln w="12700">
            <a:solidFill>
              <a:srgbClr val="6B7679"/>
            </a:solidFill>
            <a:prstDash val="solid"/>
          </a:ln>
        </p:spPr>
      </p:sp>
      <p:sp>
        <p:nvSpPr>
          <p:cNvPr id="21" name="Text 19"/>
          <p:cNvSpPr txBox="1"/>
          <p:nvPr/>
        </p:nvSpPr>
        <p:spPr>
          <a:xfrm>
            <a:off x="5609272" y="2788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11</a:t>
            </a:r>
            <a:endParaRPr lang="tr-TR" sz="1200" dirty="0"/>
          </a:p>
        </p:txBody>
      </p:sp>
      <p:sp>
        <p:nvSpPr>
          <p:cNvPr id="22" name="Shape 20"/>
          <p:cNvSpPr/>
          <p:nvPr/>
        </p:nvSpPr>
        <p:spPr>
          <a:xfrm>
            <a:off x="7175182" y="2715768"/>
            <a:ext cx="91" cy="73152"/>
          </a:xfrm>
          <a:prstGeom prst="line">
            <a:avLst/>
          </a:prstGeom>
          <a:noFill/>
          <a:ln w="12700">
            <a:solidFill>
              <a:srgbClr val="6B7679"/>
            </a:solidFill>
            <a:prstDash val="solid"/>
          </a:ln>
        </p:spPr>
      </p:sp>
      <p:sp>
        <p:nvSpPr>
          <p:cNvPr id="23" name="Text 21"/>
          <p:cNvSpPr txBox="1"/>
          <p:nvPr/>
        </p:nvSpPr>
        <p:spPr>
          <a:xfrm>
            <a:off x="6900862" y="2788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15</a:t>
            </a:r>
            <a:endParaRPr lang="tr-TR" sz="1200" dirty="0"/>
          </a:p>
        </p:txBody>
      </p:sp>
      <p:sp>
        <p:nvSpPr>
          <p:cNvPr id="24" name="Shape 22"/>
          <p:cNvSpPr/>
          <p:nvPr/>
        </p:nvSpPr>
        <p:spPr>
          <a:xfrm>
            <a:off x="7498080" y="2715768"/>
            <a:ext cx="91" cy="73152"/>
          </a:xfrm>
          <a:prstGeom prst="line">
            <a:avLst/>
          </a:prstGeom>
          <a:noFill/>
          <a:ln w="12700">
            <a:solidFill>
              <a:srgbClr val="6B7679"/>
            </a:solidFill>
            <a:prstDash val="solid"/>
          </a:ln>
        </p:spPr>
      </p:sp>
      <p:sp>
        <p:nvSpPr>
          <p:cNvPr id="25" name="Text 23"/>
          <p:cNvSpPr txBox="1"/>
          <p:nvPr/>
        </p:nvSpPr>
        <p:spPr>
          <a:xfrm>
            <a:off x="7223760" y="2788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sp>
        <p:nvSpPr>
          <p:cNvPr id="26" name="Text 24"/>
          <p:cNvSpPr txBox="1"/>
          <p:nvPr/>
        </p:nvSpPr>
        <p:spPr>
          <a:xfrm>
            <a:off x="548640" y="3291840"/>
            <a:ext cx="1691640" cy="566928"/>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Kesintili</a:t>
            </a:r>
            <a:endParaRPr lang="tr-TR" sz="1300" dirty="0"/>
          </a:p>
        </p:txBody>
      </p:sp>
      <p:sp>
        <p:nvSpPr>
          <p:cNvPr id="27" name="Shape 25"/>
          <p:cNvSpPr/>
          <p:nvPr/>
        </p:nvSpPr>
        <p:spPr>
          <a:xfrm>
            <a:off x="2340864" y="3291840"/>
            <a:ext cx="627507" cy="566928"/>
          </a:xfrm>
          <a:prstGeom prst="roundRect">
            <a:avLst>
              <a:gd name="adj" fmla="val 8065"/>
            </a:avLst>
          </a:prstGeom>
          <a:solidFill>
            <a:srgbClr val="02C39A"/>
          </a:solidFill>
          <a:ln/>
        </p:spPr>
      </p:sp>
      <p:sp>
        <p:nvSpPr>
          <p:cNvPr id="28" name="Text 26"/>
          <p:cNvSpPr txBox="1"/>
          <p:nvPr/>
        </p:nvSpPr>
        <p:spPr>
          <a:xfrm>
            <a:off x="2340864" y="3291840"/>
            <a:ext cx="627507"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29" name="Shape 27"/>
          <p:cNvSpPr/>
          <p:nvPr/>
        </p:nvSpPr>
        <p:spPr>
          <a:xfrm>
            <a:off x="2986659" y="3291840"/>
            <a:ext cx="1273302" cy="566928"/>
          </a:xfrm>
          <a:prstGeom prst="roundRect">
            <a:avLst>
              <a:gd name="adj" fmla="val 8065"/>
            </a:avLst>
          </a:prstGeom>
          <a:solidFill>
            <a:srgbClr val="50808E"/>
          </a:solidFill>
          <a:ln/>
        </p:spPr>
      </p:sp>
      <p:sp>
        <p:nvSpPr>
          <p:cNvPr id="30" name="Text 28"/>
          <p:cNvSpPr txBox="1"/>
          <p:nvPr/>
        </p:nvSpPr>
        <p:spPr>
          <a:xfrm>
            <a:off x="2986659" y="3291840"/>
            <a:ext cx="1273302"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P2</a:t>
            </a:r>
            <a:endParaRPr lang="tr-TR" sz="1200" dirty="0"/>
          </a:p>
        </p:txBody>
      </p:sp>
      <p:sp>
        <p:nvSpPr>
          <p:cNvPr id="31" name="Shape 29"/>
          <p:cNvSpPr/>
          <p:nvPr/>
        </p:nvSpPr>
        <p:spPr>
          <a:xfrm>
            <a:off x="4278249" y="3291840"/>
            <a:ext cx="1273302" cy="566928"/>
          </a:xfrm>
          <a:prstGeom prst="roundRect">
            <a:avLst>
              <a:gd name="adj" fmla="val 8065"/>
            </a:avLst>
          </a:prstGeom>
          <a:solidFill>
            <a:srgbClr val="36454F"/>
          </a:solidFill>
          <a:ln/>
        </p:spPr>
      </p:sp>
      <p:sp>
        <p:nvSpPr>
          <p:cNvPr id="32" name="Text 30"/>
          <p:cNvSpPr txBox="1"/>
          <p:nvPr/>
        </p:nvSpPr>
        <p:spPr>
          <a:xfrm>
            <a:off x="4278249" y="3291840"/>
            <a:ext cx="1273302"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P4</a:t>
            </a:r>
            <a:endParaRPr lang="tr-TR" sz="1200" dirty="0"/>
          </a:p>
        </p:txBody>
      </p:sp>
      <p:sp>
        <p:nvSpPr>
          <p:cNvPr id="33" name="Shape 31"/>
          <p:cNvSpPr/>
          <p:nvPr/>
        </p:nvSpPr>
        <p:spPr>
          <a:xfrm>
            <a:off x="5569839" y="3291840"/>
            <a:ext cx="1596199" cy="566928"/>
          </a:xfrm>
          <a:prstGeom prst="roundRect">
            <a:avLst>
              <a:gd name="adj" fmla="val 8065"/>
            </a:avLst>
          </a:prstGeom>
          <a:solidFill>
            <a:srgbClr val="02C39A"/>
          </a:solidFill>
          <a:ln/>
        </p:spPr>
      </p:sp>
      <p:sp>
        <p:nvSpPr>
          <p:cNvPr id="34" name="Text 32"/>
          <p:cNvSpPr txBox="1"/>
          <p:nvPr/>
        </p:nvSpPr>
        <p:spPr>
          <a:xfrm>
            <a:off x="5569839" y="3291840"/>
            <a:ext cx="1596199"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35" name="Shape 33"/>
          <p:cNvSpPr/>
          <p:nvPr/>
        </p:nvSpPr>
        <p:spPr>
          <a:xfrm>
            <a:off x="7184326" y="3291840"/>
            <a:ext cx="304609" cy="566928"/>
          </a:xfrm>
          <a:prstGeom prst="roundRect">
            <a:avLst>
              <a:gd name="adj" fmla="val 15009"/>
            </a:avLst>
          </a:prstGeom>
          <a:solidFill>
            <a:srgbClr val="C98A1B"/>
          </a:solidFill>
          <a:ln/>
        </p:spPr>
      </p:sp>
      <p:sp>
        <p:nvSpPr>
          <p:cNvPr id="36" name="Text 34"/>
          <p:cNvSpPr txBox="1"/>
          <p:nvPr/>
        </p:nvSpPr>
        <p:spPr>
          <a:xfrm>
            <a:off x="7184326" y="3291840"/>
            <a:ext cx="304609"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P3</a:t>
            </a:r>
            <a:endParaRPr lang="tr-TR" sz="1200" dirty="0"/>
          </a:p>
        </p:txBody>
      </p:sp>
      <p:sp>
        <p:nvSpPr>
          <p:cNvPr id="37" name="Shape 35"/>
          <p:cNvSpPr/>
          <p:nvPr/>
        </p:nvSpPr>
        <p:spPr>
          <a:xfrm>
            <a:off x="2331720" y="3858768"/>
            <a:ext cx="91" cy="73152"/>
          </a:xfrm>
          <a:prstGeom prst="line">
            <a:avLst/>
          </a:prstGeom>
          <a:noFill/>
          <a:ln w="12700">
            <a:solidFill>
              <a:srgbClr val="6B7679"/>
            </a:solidFill>
            <a:prstDash val="solid"/>
          </a:ln>
        </p:spPr>
      </p:sp>
      <p:sp>
        <p:nvSpPr>
          <p:cNvPr id="38" name="Text 36"/>
          <p:cNvSpPr txBox="1"/>
          <p:nvPr/>
        </p:nvSpPr>
        <p:spPr>
          <a:xfrm>
            <a:off x="2057400" y="3931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39" name="Shape 37"/>
          <p:cNvSpPr/>
          <p:nvPr/>
        </p:nvSpPr>
        <p:spPr>
          <a:xfrm>
            <a:off x="2977515" y="3858768"/>
            <a:ext cx="91" cy="73152"/>
          </a:xfrm>
          <a:prstGeom prst="line">
            <a:avLst/>
          </a:prstGeom>
          <a:noFill/>
          <a:ln w="12700">
            <a:solidFill>
              <a:srgbClr val="6B7679"/>
            </a:solidFill>
            <a:prstDash val="solid"/>
          </a:ln>
        </p:spPr>
      </p:sp>
      <p:sp>
        <p:nvSpPr>
          <p:cNvPr id="40" name="Text 38"/>
          <p:cNvSpPr txBox="1"/>
          <p:nvPr/>
        </p:nvSpPr>
        <p:spPr>
          <a:xfrm>
            <a:off x="2703195" y="3931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2</a:t>
            </a:r>
            <a:endParaRPr lang="tr-TR" sz="1200" dirty="0"/>
          </a:p>
        </p:txBody>
      </p:sp>
      <p:sp>
        <p:nvSpPr>
          <p:cNvPr id="41" name="Shape 39"/>
          <p:cNvSpPr/>
          <p:nvPr/>
        </p:nvSpPr>
        <p:spPr>
          <a:xfrm>
            <a:off x="4269105" y="3858768"/>
            <a:ext cx="91" cy="73152"/>
          </a:xfrm>
          <a:prstGeom prst="line">
            <a:avLst/>
          </a:prstGeom>
          <a:noFill/>
          <a:ln w="12700">
            <a:solidFill>
              <a:srgbClr val="6B7679"/>
            </a:solidFill>
            <a:prstDash val="solid"/>
          </a:ln>
        </p:spPr>
      </p:sp>
      <p:sp>
        <p:nvSpPr>
          <p:cNvPr id="42" name="Text 40"/>
          <p:cNvSpPr txBox="1"/>
          <p:nvPr/>
        </p:nvSpPr>
        <p:spPr>
          <a:xfrm>
            <a:off x="3994785" y="3931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6</a:t>
            </a:r>
            <a:endParaRPr lang="tr-TR" sz="1200" dirty="0"/>
          </a:p>
        </p:txBody>
      </p:sp>
      <p:sp>
        <p:nvSpPr>
          <p:cNvPr id="43" name="Shape 41"/>
          <p:cNvSpPr/>
          <p:nvPr/>
        </p:nvSpPr>
        <p:spPr>
          <a:xfrm>
            <a:off x="5560695" y="3858768"/>
            <a:ext cx="91" cy="73152"/>
          </a:xfrm>
          <a:prstGeom prst="line">
            <a:avLst/>
          </a:prstGeom>
          <a:noFill/>
          <a:ln w="12700">
            <a:solidFill>
              <a:srgbClr val="6B7679"/>
            </a:solidFill>
            <a:prstDash val="solid"/>
          </a:ln>
        </p:spPr>
      </p:sp>
      <p:sp>
        <p:nvSpPr>
          <p:cNvPr id="44" name="Text 42"/>
          <p:cNvSpPr txBox="1"/>
          <p:nvPr/>
        </p:nvSpPr>
        <p:spPr>
          <a:xfrm>
            <a:off x="5286375" y="3931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10</a:t>
            </a:r>
            <a:endParaRPr lang="tr-TR" sz="1200" dirty="0"/>
          </a:p>
        </p:txBody>
      </p:sp>
      <p:sp>
        <p:nvSpPr>
          <p:cNvPr id="45" name="Shape 43"/>
          <p:cNvSpPr/>
          <p:nvPr/>
        </p:nvSpPr>
        <p:spPr>
          <a:xfrm>
            <a:off x="7175182" y="3858768"/>
            <a:ext cx="91" cy="73152"/>
          </a:xfrm>
          <a:prstGeom prst="line">
            <a:avLst/>
          </a:prstGeom>
          <a:noFill/>
          <a:ln w="12700">
            <a:solidFill>
              <a:srgbClr val="6B7679"/>
            </a:solidFill>
            <a:prstDash val="solid"/>
          </a:ln>
        </p:spPr>
      </p:sp>
      <p:sp>
        <p:nvSpPr>
          <p:cNvPr id="46" name="Text 44"/>
          <p:cNvSpPr txBox="1"/>
          <p:nvPr/>
        </p:nvSpPr>
        <p:spPr>
          <a:xfrm>
            <a:off x="6900862" y="3931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15</a:t>
            </a:r>
            <a:endParaRPr lang="tr-TR" sz="1200" dirty="0"/>
          </a:p>
        </p:txBody>
      </p:sp>
      <p:sp>
        <p:nvSpPr>
          <p:cNvPr id="47" name="Shape 45"/>
          <p:cNvSpPr/>
          <p:nvPr/>
        </p:nvSpPr>
        <p:spPr>
          <a:xfrm>
            <a:off x="7498080" y="3858768"/>
            <a:ext cx="91" cy="73152"/>
          </a:xfrm>
          <a:prstGeom prst="line">
            <a:avLst/>
          </a:prstGeom>
          <a:noFill/>
          <a:ln w="12700">
            <a:solidFill>
              <a:srgbClr val="6B7679"/>
            </a:solidFill>
            <a:prstDash val="solid"/>
          </a:ln>
        </p:spPr>
      </p:sp>
      <p:sp>
        <p:nvSpPr>
          <p:cNvPr id="48" name="Text 46"/>
          <p:cNvSpPr txBox="1"/>
          <p:nvPr/>
        </p:nvSpPr>
        <p:spPr>
          <a:xfrm>
            <a:off x="7223760" y="393192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6949440" cy="914400"/>
        </p:xfrm>
        <a:graphic>
          <a:graphicData uri="http://schemas.openxmlformats.org/drawingml/2006/table">
            <a:tbl>
              <a:tblPr/>
              <a:tblGrid>
                <a:gridCol w="1143000"/>
                <a:gridCol w="1051560"/>
                <a:gridCol w="2377440"/>
                <a:gridCol w="2377440"/>
              </a:tblGrid>
              <a:tr h="274320">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Süreç</a:t>
                      </a:r>
                      <a:endParaRPr lang="tr-TR"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Öncelik</a:t>
                      </a:r>
                      <a:endParaRPr lang="tr-TR"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Bekleme (kesintisiz)</a:t>
                      </a:r>
                      <a:endParaRPr lang="tr-TR"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Bekleme (kesintili)</a:t>
                      </a:r>
                      <a:endParaRPr lang="tr-TR" sz="1300" dirty="0">
                        <a:latin typeface="Cambria" charset="0"/>
                        <a:ea typeface="Cambria" charset="0"/>
                        <a:cs typeface="Cambria"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27432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P1</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8</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P2</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P3</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P4</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6</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Ortalama</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5,5</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25400" marB="254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50" name="Shape 47"/>
          <p:cNvSpPr/>
          <p:nvPr/>
        </p:nvSpPr>
        <p:spPr>
          <a:xfrm>
            <a:off x="7772400" y="2148840"/>
            <a:ext cx="3886200" cy="411480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51" name="Text 48"/>
          <p:cNvSpPr txBox="1"/>
          <p:nvPr/>
        </p:nvSpPr>
        <p:spPr>
          <a:xfrm>
            <a:off x="8001000" y="233172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Dikkat edilecekler</a:t>
            </a:r>
            <a:endParaRPr lang="tr-TR" sz="1500" dirty="0"/>
          </a:p>
        </p:txBody>
      </p:sp>
      <p:sp>
        <p:nvSpPr>
          <p:cNvPr id="52" name="Text 49"/>
          <p:cNvSpPr txBox="1"/>
          <p:nvPr/>
        </p:nvSpPr>
        <p:spPr>
          <a:xfrm>
            <a:off x="8001000" y="2788920"/>
            <a:ext cx="3429000" cy="333756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Kesintili: P2 (öncelik 1), t = 2'de gelir gelmez işlemciyi P1'den alır.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P3'ün önceliği en düşüktür (4): iki sürümde de 11 ms bekler ve en son çalışır.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Öncelikler iç (bellek ihtiyacı, patlama uzunluğu) ya da dış (önem, kimin ödediği) kaynaklı olabilir.</a:t>
            </a:r>
            <a:endParaRPr lang="tr-TR"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ÖNCELİKLİ ZAMANLAMA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Açlık ve Çaresi: Yaşlandırma</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Yoğun bir sistemde düşük öncelikli bir süreç süresiz bekleyebilir; aç kalır (starvation).</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13</a:t>
            </a:r>
            <a:endParaRPr lang="tr-TR"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700" b="1" dirty="0">
                <a:solidFill>
                  <a:srgbClr val="B5453A"/>
                </a:solidFill>
                <a:latin typeface="Cambria" pitchFamily="34" charset="0"/>
                <a:ea typeface="Cambria" pitchFamily="34" charset="-122"/>
                <a:cs typeface="Cambria" pitchFamily="34" charset="-120"/>
              </a:rPr>
              <a:t>Sorun: açlık</a:t>
            </a:r>
            <a:endParaRPr lang="tr-TR" sz="17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Daha yüksek öncelikli süreçlerin kesintisiz akışı işlemciyi meşgul tutar.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Düşük öncelikli süreç hep hazırdır, ama hiç çalışmaz.</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Anlatılan bir hikâye: MIT 1973'te IBM 7094'ünü kapattığında, 1967'de gönderilmiş ve hiç çalışmamış düşük öncelikli bir iş bulmuş.</a:t>
            </a:r>
            <a:endParaRPr lang="tr-TR" sz="155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700" b="1" dirty="0">
                <a:solidFill>
                  <a:srgbClr val="028090"/>
                </a:solidFill>
                <a:latin typeface="Cambria" pitchFamily="34" charset="0"/>
                <a:ea typeface="Cambria" pitchFamily="34" charset="-122"/>
                <a:cs typeface="Cambria" pitchFamily="34" charset="-120"/>
              </a:rPr>
              <a:t>Çare: yaşlandırma (aging)</a:t>
            </a:r>
            <a:endParaRPr lang="tr-TR" sz="17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Bir süreç ne kadar uzun beklerse önceliğini o kadar yükselt.</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Örnek: öncelikler 127 (düşük) … 0 (yüksek); her saniyelik bekleme önceliği 1 artırır.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En düşük öncelikli süreç bile en geç 127 s = 2 dk 7 s sonra 0 önceliğine ulaşır.</a:t>
            </a:r>
            <a:endParaRPr lang="tr-TR" sz="155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Yaşlandırma 'belki hiçbir zaman'ı 'sınırlı bir süre içinde'ye çevirir. Aynı fikir 2. bölümde sınırlı bekleme olarak yeniden karşımıza çıkacak.</a:t>
            </a:r>
            <a:endParaRPr lang="tr-TR"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ALGORİTMA 4</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Döngüsel Zamanlama (Round Robin, RR): Sırayla</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FCFS artı zamanlayıcıyla kesme. Her süreç en çok bir zaman dilimi (quantum) q kadar çalışır, sonra kuyruğun sonuna gider.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14</a:t>
            </a:r>
            <a:endParaRPr lang="tr-TR" sz="900" dirty="0"/>
          </a:p>
        </p:txBody>
      </p:sp>
      <p:sp>
        <p:nvSpPr>
          <p:cNvPr id="7" name="Text 5"/>
          <p:cNvSpPr txBox="1"/>
          <p:nvPr/>
        </p:nvSpPr>
        <p:spPr>
          <a:xfrm>
            <a:off x="548640" y="2286000"/>
            <a:ext cx="3657600" cy="2743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hazır kuyruğu (FIFO)</a:t>
            </a:r>
            <a:endParaRPr lang="tr-TR" sz="1200" dirty="0"/>
          </a:p>
        </p:txBody>
      </p:sp>
      <p:sp>
        <p:nvSpPr>
          <p:cNvPr id="8" name="Shape 6"/>
          <p:cNvSpPr/>
          <p:nvPr/>
        </p:nvSpPr>
        <p:spPr>
          <a:xfrm>
            <a:off x="548640" y="2651760"/>
            <a:ext cx="914400" cy="685800"/>
          </a:xfrm>
          <a:prstGeom prst="roundRect">
            <a:avLst>
              <a:gd name="adj" fmla="val 6667"/>
            </a:avLst>
          </a:prstGeom>
          <a:solidFill>
            <a:srgbClr val="36454F"/>
          </a:solidFill>
          <a:ln/>
        </p:spPr>
      </p:sp>
      <p:sp>
        <p:nvSpPr>
          <p:cNvPr id="9" name="Text 7"/>
          <p:cNvSpPr txBox="1"/>
          <p:nvPr/>
        </p:nvSpPr>
        <p:spPr>
          <a:xfrm>
            <a:off x="548640" y="2651760"/>
            <a:ext cx="914400" cy="68580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P4</a:t>
            </a:r>
            <a:endParaRPr lang="tr-TR" sz="1500" dirty="0"/>
          </a:p>
        </p:txBody>
      </p:sp>
      <p:sp>
        <p:nvSpPr>
          <p:cNvPr id="10" name="Shape 8"/>
          <p:cNvSpPr/>
          <p:nvPr/>
        </p:nvSpPr>
        <p:spPr>
          <a:xfrm>
            <a:off x="1600200" y="2651760"/>
            <a:ext cx="914400" cy="685800"/>
          </a:xfrm>
          <a:prstGeom prst="roundRect">
            <a:avLst>
              <a:gd name="adj" fmla="val 6667"/>
            </a:avLst>
          </a:prstGeom>
          <a:solidFill>
            <a:srgbClr val="C98A1B"/>
          </a:solidFill>
          <a:ln/>
        </p:spPr>
      </p:sp>
      <p:sp>
        <p:nvSpPr>
          <p:cNvPr id="11" name="Text 9"/>
          <p:cNvSpPr txBox="1"/>
          <p:nvPr/>
        </p:nvSpPr>
        <p:spPr>
          <a:xfrm>
            <a:off x="1600200" y="2651760"/>
            <a:ext cx="914400" cy="68580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P3</a:t>
            </a:r>
            <a:endParaRPr lang="tr-TR" sz="1500" dirty="0"/>
          </a:p>
        </p:txBody>
      </p:sp>
      <p:sp>
        <p:nvSpPr>
          <p:cNvPr id="12" name="Shape 10"/>
          <p:cNvSpPr/>
          <p:nvPr/>
        </p:nvSpPr>
        <p:spPr>
          <a:xfrm>
            <a:off x="2651760" y="2651760"/>
            <a:ext cx="914400" cy="685800"/>
          </a:xfrm>
          <a:prstGeom prst="roundRect">
            <a:avLst>
              <a:gd name="adj" fmla="val 6667"/>
            </a:avLst>
          </a:prstGeom>
          <a:solidFill>
            <a:srgbClr val="50808E"/>
          </a:solidFill>
          <a:ln/>
        </p:spPr>
      </p:sp>
      <p:sp>
        <p:nvSpPr>
          <p:cNvPr id="13" name="Text 11"/>
          <p:cNvSpPr txBox="1"/>
          <p:nvPr/>
        </p:nvSpPr>
        <p:spPr>
          <a:xfrm>
            <a:off x="2651760" y="2651760"/>
            <a:ext cx="914400" cy="68580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P2</a:t>
            </a:r>
            <a:endParaRPr lang="tr-TR" sz="1500" dirty="0"/>
          </a:p>
        </p:txBody>
      </p:sp>
      <p:sp>
        <p:nvSpPr>
          <p:cNvPr id="14" name="Shape 12"/>
          <p:cNvSpPr/>
          <p:nvPr/>
        </p:nvSpPr>
        <p:spPr>
          <a:xfrm>
            <a:off x="3703320" y="2990088"/>
            <a:ext cx="731520" cy="91"/>
          </a:xfrm>
          <a:prstGeom prst="line">
            <a:avLst/>
          </a:prstGeom>
          <a:noFill/>
          <a:ln w="25400">
            <a:solidFill>
              <a:srgbClr val="50808E"/>
            </a:solidFill>
            <a:prstDash val="solid"/>
            <a:tailEnd type="triangle"/>
          </a:ln>
        </p:spPr>
      </p:sp>
      <p:sp>
        <p:nvSpPr>
          <p:cNvPr id="15" name="Shape 13"/>
          <p:cNvSpPr/>
          <p:nvPr/>
        </p:nvSpPr>
        <p:spPr>
          <a:xfrm>
            <a:off x="4480560" y="2514600"/>
            <a:ext cx="1737360" cy="960120"/>
          </a:xfrm>
          <a:prstGeom prst="roundRect">
            <a:avLst>
              <a:gd name="adj" fmla="val 4762"/>
            </a:avLst>
          </a:prstGeom>
          <a:solidFill>
            <a:srgbClr val="02C39A"/>
          </a:solidFill>
          <a:ln/>
        </p:spPr>
      </p:sp>
      <p:sp>
        <p:nvSpPr>
          <p:cNvPr id="16" name="Text 14"/>
          <p:cNvSpPr txBox="1"/>
          <p:nvPr/>
        </p:nvSpPr>
        <p:spPr>
          <a:xfrm>
            <a:off x="4480560" y="2514600"/>
            <a:ext cx="1737360" cy="96012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CPU</a:t>
            </a:r>
            <a:endParaRPr lang="tr-TR" sz="1600" dirty="0"/>
          </a:p>
          <a:p>
            <a:pPr algn="ctr" indent="0" marL="0">
              <a:buNone/>
            </a:pPr>
            <a:r>
              <a:rPr lang="tr-TR" sz="1100" dirty="0">
                <a:solidFill>
                  <a:srgbClr val="212121"/>
                </a:solidFill>
                <a:latin typeface="Calibri" pitchFamily="34" charset="0"/>
                <a:ea typeface="Calibri" pitchFamily="34" charset="-122"/>
                <a:cs typeface="Calibri" pitchFamily="34" charset="-120"/>
              </a:rPr>
              <a:t>P1'i ≤ q çalıştırır</a:t>
            </a:r>
            <a:endParaRPr lang="tr-TR" sz="1600" dirty="0"/>
          </a:p>
        </p:txBody>
      </p:sp>
      <p:sp>
        <p:nvSpPr>
          <p:cNvPr id="17" name="Shape 15"/>
          <p:cNvSpPr/>
          <p:nvPr/>
        </p:nvSpPr>
        <p:spPr>
          <a:xfrm>
            <a:off x="5349240" y="3493008"/>
            <a:ext cx="0" cy="685800"/>
          </a:xfrm>
          <a:prstGeom prst="line">
            <a:avLst/>
          </a:prstGeom>
          <a:noFill/>
          <a:ln w="25400">
            <a:solidFill>
              <a:srgbClr val="B5453A"/>
            </a:solidFill>
            <a:prstDash val="solid"/>
          </a:ln>
        </p:spPr>
      </p:sp>
      <p:sp>
        <p:nvSpPr>
          <p:cNvPr id="18" name="Shape 16"/>
          <p:cNvSpPr/>
          <p:nvPr/>
        </p:nvSpPr>
        <p:spPr>
          <a:xfrm>
            <a:off x="1005840" y="4178808"/>
            <a:ext cx="4343400" cy="0"/>
          </a:xfrm>
          <a:prstGeom prst="line">
            <a:avLst/>
          </a:prstGeom>
          <a:noFill/>
          <a:ln w="25400">
            <a:solidFill>
              <a:srgbClr val="B5453A"/>
            </a:solidFill>
            <a:prstDash val="solid"/>
          </a:ln>
        </p:spPr>
      </p:sp>
      <p:sp>
        <p:nvSpPr>
          <p:cNvPr id="19" name="Shape 17"/>
          <p:cNvSpPr/>
          <p:nvPr/>
        </p:nvSpPr>
        <p:spPr>
          <a:xfrm flipV="1">
            <a:off x="1005840" y="3374136"/>
            <a:ext cx="91" cy="804672"/>
          </a:xfrm>
          <a:prstGeom prst="line">
            <a:avLst/>
          </a:prstGeom>
          <a:noFill/>
          <a:ln w="25400">
            <a:solidFill>
              <a:srgbClr val="B5453A"/>
            </a:solidFill>
            <a:prstDash val="solid"/>
            <a:tailEnd type="triangle"/>
          </a:ln>
        </p:spPr>
      </p:sp>
      <p:sp>
        <p:nvSpPr>
          <p:cNvPr id="20" name="Text 18"/>
          <p:cNvSpPr txBox="1"/>
          <p:nvPr/>
        </p:nvSpPr>
        <p:spPr>
          <a:xfrm>
            <a:off x="1188720" y="4251960"/>
            <a:ext cx="5669280" cy="320040"/>
          </a:xfrm>
          <a:prstGeom prst="rect">
            <a:avLst/>
          </a:prstGeom>
          <a:noFill/>
          <a:ln/>
        </p:spPr>
        <p:txBody>
          <a:bodyPr wrap="square" lIns="0" tIns="0" rIns="0" bIns="0" rtlCol="0" anchor="t"/>
          <a:lstStyle/>
          <a:p>
            <a:pPr indent="0" marL="0">
              <a:buNone/>
            </a:pPr>
            <a:r>
              <a:rPr lang="tr-TR" sz="1300" b="1" dirty="0">
                <a:solidFill>
                  <a:srgbClr val="B5453A"/>
                </a:solidFill>
                <a:latin typeface="Calibri" pitchFamily="34" charset="0"/>
                <a:ea typeface="Calibri" pitchFamily="34" charset="-122"/>
                <a:cs typeface="Calibri" pitchFamily="34" charset="-120"/>
              </a:rPr>
              <a:t>zaman dilimi doldu (zamanlayıcı kesmesi) → kuyruğun sonuna</a:t>
            </a:r>
            <a:endParaRPr lang="tr-TR" sz="1300" dirty="0"/>
          </a:p>
        </p:txBody>
      </p:sp>
      <p:sp>
        <p:nvSpPr>
          <p:cNvPr id="21" name="Shape 19"/>
          <p:cNvSpPr/>
          <p:nvPr/>
        </p:nvSpPr>
        <p:spPr>
          <a:xfrm>
            <a:off x="6263640" y="2990088"/>
            <a:ext cx="685800" cy="91"/>
          </a:xfrm>
          <a:prstGeom prst="line">
            <a:avLst/>
          </a:prstGeom>
          <a:noFill/>
          <a:ln w="25400">
            <a:solidFill>
              <a:srgbClr val="50808E"/>
            </a:solidFill>
            <a:prstDash val="solid"/>
            <a:tailEnd type="triangle"/>
          </a:ln>
        </p:spPr>
      </p:sp>
      <p:sp>
        <p:nvSpPr>
          <p:cNvPr id="22" name="Text 20"/>
          <p:cNvSpPr txBox="1"/>
          <p:nvPr/>
        </p:nvSpPr>
        <p:spPr>
          <a:xfrm>
            <a:off x="6995160" y="2697480"/>
            <a:ext cx="1463040" cy="640080"/>
          </a:xfrm>
          <a:prstGeom prst="rect">
            <a:avLst/>
          </a:prstGeom>
          <a:noFill/>
          <a:ln/>
        </p:spPr>
        <p:txBody>
          <a:bodyPr wrap="square" lIns="0" tIns="0" rIns="0" bIns="0" rtlCol="0" anchor="t"/>
          <a:lstStyle/>
          <a:p>
            <a:pPr indent="0" marL="0">
              <a:buNone/>
            </a:pPr>
            <a:r>
              <a:rPr lang="tr-TR" sz="1300" dirty="0">
                <a:solidFill>
                  <a:srgbClr val="50808E"/>
                </a:solidFill>
                <a:latin typeface="Calibri" pitchFamily="34" charset="0"/>
                <a:ea typeface="Calibri" pitchFamily="34" charset="-122"/>
                <a:cs typeface="Calibri" pitchFamily="34" charset="-120"/>
              </a:rPr>
              <a:t>bitti ya da</a:t>
            </a:r>
            <a:endParaRPr lang="tr-TR" sz="1300" dirty="0"/>
          </a:p>
          <a:p>
            <a:pPr indent="0" marL="0">
              <a:buNone/>
            </a:pPr>
            <a:r>
              <a:rPr lang="tr-TR" sz="1300" dirty="0">
                <a:solidFill>
                  <a:srgbClr val="50808E"/>
                </a:solidFill>
                <a:latin typeface="Calibri" pitchFamily="34" charset="0"/>
                <a:ea typeface="Calibri" pitchFamily="34" charset="-122"/>
                <a:cs typeface="Calibri" pitchFamily="34" charset="-120"/>
              </a:rPr>
              <a:t>G/Ç için bloklandı</a:t>
            </a:r>
            <a:endParaRPr lang="tr-TR" sz="1300" dirty="0"/>
          </a:p>
        </p:txBody>
      </p:sp>
      <p:sp>
        <p:nvSpPr>
          <p:cNvPr id="23" name="Shape 21"/>
          <p:cNvSpPr/>
          <p:nvPr/>
        </p:nvSpPr>
        <p:spPr>
          <a:xfrm>
            <a:off x="548640" y="4892040"/>
            <a:ext cx="7680960" cy="1371600"/>
          </a:xfrm>
          <a:prstGeom prst="roundRect">
            <a:avLst>
              <a:gd name="adj" fmla="val 4000"/>
            </a:avLst>
          </a:prstGeom>
          <a:solidFill>
            <a:srgbClr val="F2F2F2"/>
          </a:solidFill>
          <a:ln/>
          <a:effectLst>
            <a:outerShdw sx="100000" sy="100000" kx="0" ky="0" algn="bl" rotWithShape="0" blurRad="101600" dist="25400" dir="5400000">
              <a:srgbClr val="000000">
                <a:alpha val="12000"/>
              </a:srgbClr>
            </a:outerShdw>
          </a:effectLst>
        </p:spPr>
      </p:sp>
      <p:sp>
        <p:nvSpPr>
          <p:cNvPr id="24" name="Text 22"/>
          <p:cNvSpPr txBox="1"/>
          <p:nvPr/>
        </p:nvSpPr>
        <p:spPr>
          <a:xfrm>
            <a:off x="777240" y="5074920"/>
            <a:ext cx="7223760" cy="105156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Kuyrukta n süreç varsa hiçbir süreç bir sonraki sırasından önce (n − 1) · q'dan fazla beklemez.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Tipik zaman dilimleri: 10–100 ms; bir bağlam değişimi 10 µs'nin çok altında sürer.</a:t>
            </a:r>
            <a:endParaRPr lang="tr-TR" sz="1400" dirty="0"/>
          </a:p>
        </p:txBody>
      </p:sp>
      <p:sp>
        <p:nvSpPr>
          <p:cNvPr id="25" name="Shape 23"/>
          <p:cNvSpPr/>
          <p:nvPr/>
        </p:nvSpPr>
        <p:spPr>
          <a:xfrm>
            <a:off x="8503920" y="2240280"/>
            <a:ext cx="3154680" cy="402336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8732520" y="2423160"/>
            <a:ext cx="2697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Bizim kuralımız</a:t>
            </a:r>
            <a:endParaRPr lang="tr-TR" sz="1500" dirty="0"/>
          </a:p>
        </p:txBody>
      </p:sp>
      <p:sp>
        <p:nvSpPr>
          <p:cNvPr id="27" name="Text 25"/>
          <p:cNvSpPr txBox="1"/>
          <p:nvPr/>
        </p:nvSpPr>
        <p:spPr>
          <a:xfrm>
            <a:off x="8732520" y="2880360"/>
            <a:ext cx="2697480" cy="324612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zaman dilimi tam bittiği anda gelen süreç, kesilen süreçten önce kuyruğa girer.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Patlama q'dan kısaysa süreç erken ayrılır ve sıradaki hemen başlar.</a:t>
            </a:r>
            <a:endParaRPr lang="tr-T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DÖNGÜSEL ZAMANLAMA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Çözümlü Örnek: q = 4 ms ile Döngüsel Zamanlama</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Aynı dört süreç. Her zaman diliminden sonra hazır kuyruğunu izleyin (baş solda).</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15</a:t>
            </a:r>
            <a:endParaRPr lang="tr-TR" sz="900" dirty="0"/>
          </a:p>
        </p:txBody>
      </p:sp>
      <p:sp>
        <p:nvSpPr>
          <p:cNvPr id="7" name="Shape 5"/>
          <p:cNvSpPr/>
          <p:nvPr/>
        </p:nvSpPr>
        <p:spPr>
          <a:xfrm>
            <a:off x="557784" y="2103120"/>
            <a:ext cx="2759202" cy="566928"/>
          </a:xfrm>
          <a:prstGeom prst="roundRect">
            <a:avLst>
              <a:gd name="adj" fmla="val 8065"/>
            </a:avLst>
          </a:prstGeom>
          <a:solidFill>
            <a:srgbClr val="02C39A"/>
          </a:solidFill>
          <a:ln/>
        </p:spPr>
      </p:sp>
      <p:sp>
        <p:nvSpPr>
          <p:cNvPr id="8" name="Text 6"/>
          <p:cNvSpPr txBox="1"/>
          <p:nvPr/>
        </p:nvSpPr>
        <p:spPr>
          <a:xfrm>
            <a:off x="557784"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9" name="Shape 7"/>
          <p:cNvSpPr/>
          <p:nvPr/>
        </p:nvSpPr>
        <p:spPr>
          <a:xfrm>
            <a:off x="3335274" y="2103120"/>
            <a:ext cx="2759202" cy="566928"/>
          </a:xfrm>
          <a:prstGeom prst="roundRect">
            <a:avLst>
              <a:gd name="adj" fmla="val 8065"/>
            </a:avLst>
          </a:prstGeom>
          <a:solidFill>
            <a:srgbClr val="50808E"/>
          </a:solidFill>
          <a:ln/>
        </p:spPr>
      </p:sp>
      <p:sp>
        <p:nvSpPr>
          <p:cNvPr id="10" name="Text 8"/>
          <p:cNvSpPr txBox="1"/>
          <p:nvPr/>
        </p:nvSpPr>
        <p:spPr>
          <a:xfrm>
            <a:off x="3335274"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1" name="Shape 9"/>
          <p:cNvSpPr/>
          <p:nvPr/>
        </p:nvSpPr>
        <p:spPr>
          <a:xfrm>
            <a:off x="6112764" y="2103120"/>
            <a:ext cx="676085" cy="566928"/>
          </a:xfrm>
          <a:prstGeom prst="roundRect">
            <a:avLst>
              <a:gd name="adj" fmla="val 8065"/>
            </a:avLst>
          </a:prstGeom>
          <a:solidFill>
            <a:srgbClr val="C98A1B"/>
          </a:solidFill>
          <a:ln/>
        </p:spPr>
      </p:sp>
      <p:sp>
        <p:nvSpPr>
          <p:cNvPr id="12" name="Text 10"/>
          <p:cNvSpPr txBox="1"/>
          <p:nvPr/>
        </p:nvSpPr>
        <p:spPr>
          <a:xfrm>
            <a:off x="6112764" y="2103120"/>
            <a:ext cx="676085"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13" name="Shape 11"/>
          <p:cNvSpPr/>
          <p:nvPr/>
        </p:nvSpPr>
        <p:spPr>
          <a:xfrm>
            <a:off x="6807137" y="2103120"/>
            <a:ext cx="2064830" cy="566928"/>
          </a:xfrm>
          <a:prstGeom prst="roundRect">
            <a:avLst>
              <a:gd name="adj" fmla="val 8065"/>
            </a:avLst>
          </a:prstGeom>
          <a:solidFill>
            <a:srgbClr val="02C39A"/>
          </a:solidFill>
          <a:ln/>
        </p:spPr>
      </p:sp>
      <p:sp>
        <p:nvSpPr>
          <p:cNvPr id="14" name="Text 12"/>
          <p:cNvSpPr txBox="1"/>
          <p:nvPr/>
        </p:nvSpPr>
        <p:spPr>
          <a:xfrm>
            <a:off x="6807137" y="2103120"/>
            <a:ext cx="2064830"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15" name="Shape 13"/>
          <p:cNvSpPr/>
          <p:nvPr/>
        </p:nvSpPr>
        <p:spPr>
          <a:xfrm>
            <a:off x="8890254" y="2103120"/>
            <a:ext cx="2759202" cy="566928"/>
          </a:xfrm>
          <a:prstGeom prst="roundRect">
            <a:avLst>
              <a:gd name="adj" fmla="val 8065"/>
            </a:avLst>
          </a:prstGeom>
          <a:solidFill>
            <a:srgbClr val="36454F"/>
          </a:solidFill>
          <a:ln/>
        </p:spPr>
      </p:sp>
      <p:sp>
        <p:nvSpPr>
          <p:cNvPr id="16" name="Text 14"/>
          <p:cNvSpPr txBox="1"/>
          <p:nvPr/>
        </p:nvSpPr>
        <p:spPr>
          <a:xfrm>
            <a:off x="8890254" y="2103120"/>
            <a:ext cx="2759202"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17" name="Shape 15"/>
          <p:cNvSpPr/>
          <p:nvPr/>
        </p:nvSpPr>
        <p:spPr>
          <a:xfrm>
            <a:off x="548640" y="2670048"/>
            <a:ext cx="91" cy="73152"/>
          </a:xfrm>
          <a:prstGeom prst="line">
            <a:avLst/>
          </a:prstGeom>
          <a:noFill/>
          <a:ln w="12700">
            <a:solidFill>
              <a:srgbClr val="6B7679"/>
            </a:solidFill>
            <a:prstDash val="solid"/>
          </a:ln>
        </p:spPr>
      </p:sp>
      <p:sp>
        <p:nvSpPr>
          <p:cNvPr id="18" name="Text 16"/>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19" name="Shape 17"/>
          <p:cNvSpPr/>
          <p:nvPr/>
        </p:nvSpPr>
        <p:spPr>
          <a:xfrm>
            <a:off x="3326130" y="2670048"/>
            <a:ext cx="91" cy="73152"/>
          </a:xfrm>
          <a:prstGeom prst="line">
            <a:avLst/>
          </a:prstGeom>
          <a:noFill/>
          <a:ln w="12700">
            <a:solidFill>
              <a:srgbClr val="6B7679"/>
            </a:solidFill>
            <a:prstDash val="solid"/>
          </a:ln>
        </p:spPr>
      </p:sp>
      <p:sp>
        <p:nvSpPr>
          <p:cNvPr id="20" name="Text 18"/>
          <p:cNvSpPr txBox="1"/>
          <p:nvPr/>
        </p:nvSpPr>
        <p:spPr>
          <a:xfrm>
            <a:off x="305181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4</a:t>
            </a:r>
            <a:endParaRPr lang="tr-TR" sz="1200" dirty="0"/>
          </a:p>
        </p:txBody>
      </p:sp>
      <p:sp>
        <p:nvSpPr>
          <p:cNvPr id="21" name="Shape 19"/>
          <p:cNvSpPr/>
          <p:nvPr/>
        </p:nvSpPr>
        <p:spPr>
          <a:xfrm>
            <a:off x="6103620" y="2670048"/>
            <a:ext cx="91" cy="73152"/>
          </a:xfrm>
          <a:prstGeom prst="line">
            <a:avLst/>
          </a:prstGeom>
          <a:noFill/>
          <a:ln w="12700">
            <a:solidFill>
              <a:srgbClr val="6B7679"/>
            </a:solidFill>
            <a:prstDash val="solid"/>
          </a:ln>
        </p:spPr>
      </p:sp>
      <p:sp>
        <p:nvSpPr>
          <p:cNvPr id="22" name="Text 20"/>
          <p:cNvSpPr txBox="1"/>
          <p:nvPr/>
        </p:nvSpPr>
        <p:spPr>
          <a:xfrm>
            <a:off x="582930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8</a:t>
            </a:r>
            <a:endParaRPr lang="tr-TR" sz="1200" dirty="0"/>
          </a:p>
        </p:txBody>
      </p:sp>
      <p:sp>
        <p:nvSpPr>
          <p:cNvPr id="23" name="Shape 21"/>
          <p:cNvSpPr/>
          <p:nvPr/>
        </p:nvSpPr>
        <p:spPr>
          <a:xfrm>
            <a:off x="6797993" y="2670048"/>
            <a:ext cx="91" cy="73152"/>
          </a:xfrm>
          <a:prstGeom prst="line">
            <a:avLst/>
          </a:prstGeom>
          <a:noFill/>
          <a:ln w="12700">
            <a:solidFill>
              <a:srgbClr val="6B7679"/>
            </a:solidFill>
            <a:prstDash val="solid"/>
          </a:ln>
        </p:spPr>
      </p:sp>
      <p:sp>
        <p:nvSpPr>
          <p:cNvPr id="24" name="Text 22"/>
          <p:cNvSpPr txBox="1"/>
          <p:nvPr/>
        </p:nvSpPr>
        <p:spPr>
          <a:xfrm>
            <a:off x="6523673"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9</a:t>
            </a:r>
            <a:endParaRPr lang="tr-TR" sz="1200" dirty="0"/>
          </a:p>
        </p:txBody>
      </p:sp>
      <p:sp>
        <p:nvSpPr>
          <p:cNvPr id="25" name="Shape 23"/>
          <p:cNvSpPr/>
          <p:nvPr/>
        </p:nvSpPr>
        <p:spPr>
          <a:xfrm>
            <a:off x="8881110" y="2670048"/>
            <a:ext cx="91" cy="73152"/>
          </a:xfrm>
          <a:prstGeom prst="line">
            <a:avLst/>
          </a:prstGeom>
          <a:noFill/>
          <a:ln w="12700">
            <a:solidFill>
              <a:srgbClr val="6B7679"/>
            </a:solidFill>
            <a:prstDash val="solid"/>
          </a:ln>
        </p:spPr>
      </p:sp>
      <p:sp>
        <p:nvSpPr>
          <p:cNvPr id="26" name="Text 24"/>
          <p:cNvSpPr txBox="1"/>
          <p:nvPr/>
        </p:nvSpPr>
        <p:spPr>
          <a:xfrm>
            <a:off x="860679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12</a:t>
            </a:r>
            <a:endParaRPr lang="tr-TR" sz="1200" dirty="0"/>
          </a:p>
        </p:txBody>
      </p:sp>
      <p:sp>
        <p:nvSpPr>
          <p:cNvPr id="27" name="Shape 25"/>
          <p:cNvSpPr/>
          <p:nvPr/>
        </p:nvSpPr>
        <p:spPr>
          <a:xfrm>
            <a:off x="11658600" y="2670048"/>
            <a:ext cx="91" cy="73152"/>
          </a:xfrm>
          <a:prstGeom prst="line">
            <a:avLst/>
          </a:prstGeom>
          <a:noFill/>
          <a:ln w="12700">
            <a:solidFill>
              <a:srgbClr val="6B7679"/>
            </a:solidFill>
            <a:prstDash val="solid"/>
          </a:ln>
        </p:spPr>
      </p:sp>
      <p:sp>
        <p:nvSpPr>
          <p:cNvPr id="28" name="Text 26"/>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Süreç</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Varış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Patlama</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Bitiş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Dönüş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Bekleme</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Yanıt</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8</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9</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Ortalama</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8,5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4,5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3,25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30" name="Shape 27"/>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31" name="Text 28"/>
          <p:cNvSpPr txBox="1"/>
          <p:nvPr/>
        </p:nvSpPr>
        <p:spPr>
          <a:xfrm>
            <a:off x="7680960" y="342900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Hazır kuyruğu</a:t>
            </a:r>
            <a:endParaRPr lang="tr-TR" sz="1500" dirty="0"/>
          </a:p>
        </p:txBody>
      </p:sp>
      <p:sp>
        <p:nvSpPr>
          <p:cNvPr id="32" name="Text 29"/>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 = 4: kuyruk P2, P3, P1 (P2 ve P3 geldi, P1 sona döndü).</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 = 8: P2 bitti; kuyruk P3, P1, P4.</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 = 9: P3 1 ms sonra bitti; P1'e yalnızca 3 ms daha gerek.</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 = 12: P1 bitti; P4 16'ya kadar tek başına çalışır.</a:t>
            </a:r>
            <a:endParaRPr lang="tr-TR"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DÖNGÜSEL ZAMANLAMA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Aynı İşler, Daha Küçük Zaman Dilimi: q = 2 ms</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Daha kısa sıralar: herkes işlemciye daha erken kavuşur, ama işlemci çok daha sık geçiş yapar.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16</a:t>
            </a:r>
            <a:endParaRPr lang="tr-TR" sz="900" dirty="0"/>
          </a:p>
        </p:txBody>
      </p:sp>
      <p:sp>
        <p:nvSpPr>
          <p:cNvPr id="7" name="Shape 5"/>
          <p:cNvSpPr/>
          <p:nvPr/>
        </p:nvSpPr>
        <p:spPr>
          <a:xfrm>
            <a:off x="557784" y="2103120"/>
            <a:ext cx="1370457" cy="566928"/>
          </a:xfrm>
          <a:prstGeom prst="roundRect">
            <a:avLst>
              <a:gd name="adj" fmla="val 8065"/>
            </a:avLst>
          </a:prstGeom>
          <a:solidFill>
            <a:srgbClr val="02C39A"/>
          </a:solidFill>
          <a:ln/>
        </p:spPr>
      </p:sp>
      <p:sp>
        <p:nvSpPr>
          <p:cNvPr id="8" name="Text 6"/>
          <p:cNvSpPr txBox="1"/>
          <p:nvPr/>
        </p:nvSpPr>
        <p:spPr>
          <a:xfrm>
            <a:off x="557784"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9" name="Shape 7"/>
          <p:cNvSpPr/>
          <p:nvPr/>
        </p:nvSpPr>
        <p:spPr>
          <a:xfrm>
            <a:off x="1946529" y="2103120"/>
            <a:ext cx="1370457" cy="566928"/>
          </a:xfrm>
          <a:prstGeom prst="roundRect">
            <a:avLst>
              <a:gd name="adj" fmla="val 8065"/>
            </a:avLst>
          </a:prstGeom>
          <a:solidFill>
            <a:srgbClr val="50808E"/>
          </a:solidFill>
          <a:ln/>
        </p:spPr>
      </p:sp>
      <p:sp>
        <p:nvSpPr>
          <p:cNvPr id="10" name="Text 8"/>
          <p:cNvSpPr txBox="1"/>
          <p:nvPr/>
        </p:nvSpPr>
        <p:spPr>
          <a:xfrm>
            <a:off x="1946529"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1" name="Shape 9"/>
          <p:cNvSpPr/>
          <p:nvPr/>
        </p:nvSpPr>
        <p:spPr>
          <a:xfrm>
            <a:off x="3335274" y="2103120"/>
            <a:ext cx="1370457" cy="566928"/>
          </a:xfrm>
          <a:prstGeom prst="roundRect">
            <a:avLst>
              <a:gd name="adj" fmla="val 8065"/>
            </a:avLst>
          </a:prstGeom>
          <a:solidFill>
            <a:srgbClr val="02C39A"/>
          </a:solidFill>
          <a:ln/>
        </p:spPr>
      </p:sp>
      <p:sp>
        <p:nvSpPr>
          <p:cNvPr id="12" name="Text 10"/>
          <p:cNvSpPr txBox="1"/>
          <p:nvPr/>
        </p:nvSpPr>
        <p:spPr>
          <a:xfrm>
            <a:off x="3335274"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13" name="Shape 11"/>
          <p:cNvSpPr/>
          <p:nvPr/>
        </p:nvSpPr>
        <p:spPr>
          <a:xfrm>
            <a:off x="4724019" y="2103120"/>
            <a:ext cx="676085" cy="566928"/>
          </a:xfrm>
          <a:prstGeom prst="roundRect">
            <a:avLst>
              <a:gd name="adj" fmla="val 8065"/>
            </a:avLst>
          </a:prstGeom>
          <a:solidFill>
            <a:srgbClr val="C98A1B"/>
          </a:solidFill>
          <a:ln/>
        </p:spPr>
      </p:sp>
      <p:sp>
        <p:nvSpPr>
          <p:cNvPr id="14" name="Text 12"/>
          <p:cNvSpPr txBox="1"/>
          <p:nvPr/>
        </p:nvSpPr>
        <p:spPr>
          <a:xfrm>
            <a:off x="4724019" y="2103120"/>
            <a:ext cx="676085"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15" name="Shape 13"/>
          <p:cNvSpPr/>
          <p:nvPr/>
        </p:nvSpPr>
        <p:spPr>
          <a:xfrm>
            <a:off x="5418391" y="2103120"/>
            <a:ext cx="1370457" cy="566928"/>
          </a:xfrm>
          <a:prstGeom prst="roundRect">
            <a:avLst>
              <a:gd name="adj" fmla="val 8065"/>
            </a:avLst>
          </a:prstGeom>
          <a:solidFill>
            <a:srgbClr val="50808E"/>
          </a:solidFill>
          <a:ln/>
        </p:spPr>
      </p:sp>
      <p:sp>
        <p:nvSpPr>
          <p:cNvPr id="16" name="Text 14"/>
          <p:cNvSpPr txBox="1"/>
          <p:nvPr/>
        </p:nvSpPr>
        <p:spPr>
          <a:xfrm>
            <a:off x="5418391"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7" name="Shape 15"/>
          <p:cNvSpPr/>
          <p:nvPr/>
        </p:nvSpPr>
        <p:spPr>
          <a:xfrm>
            <a:off x="6807137" y="2103120"/>
            <a:ext cx="1370457" cy="566928"/>
          </a:xfrm>
          <a:prstGeom prst="roundRect">
            <a:avLst>
              <a:gd name="adj" fmla="val 8065"/>
            </a:avLst>
          </a:prstGeom>
          <a:solidFill>
            <a:srgbClr val="36454F"/>
          </a:solidFill>
          <a:ln/>
        </p:spPr>
      </p:sp>
      <p:sp>
        <p:nvSpPr>
          <p:cNvPr id="18" name="Text 16"/>
          <p:cNvSpPr txBox="1"/>
          <p:nvPr/>
        </p:nvSpPr>
        <p:spPr>
          <a:xfrm>
            <a:off x="6807137"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19" name="Shape 17"/>
          <p:cNvSpPr/>
          <p:nvPr/>
        </p:nvSpPr>
        <p:spPr>
          <a:xfrm>
            <a:off x="8195882" y="2103120"/>
            <a:ext cx="1370457" cy="566928"/>
          </a:xfrm>
          <a:prstGeom prst="roundRect">
            <a:avLst>
              <a:gd name="adj" fmla="val 8065"/>
            </a:avLst>
          </a:prstGeom>
          <a:solidFill>
            <a:srgbClr val="02C39A"/>
          </a:solidFill>
          <a:ln/>
        </p:spPr>
      </p:sp>
      <p:sp>
        <p:nvSpPr>
          <p:cNvPr id="20" name="Text 18"/>
          <p:cNvSpPr txBox="1"/>
          <p:nvPr/>
        </p:nvSpPr>
        <p:spPr>
          <a:xfrm>
            <a:off x="8195882"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21" name="Shape 19"/>
          <p:cNvSpPr/>
          <p:nvPr/>
        </p:nvSpPr>
        <p:spPr>
          <a:xfrm>
            <a:off x="9584627" y="2103120"/>
            <a:ext cx="1370457" cy="566928"/>
          </a:xfrm>
          <a:prstGeom prst="roundRect">
            <a:avLst>
              <a:gd name="adj" fmla="val 8065"/>
            </a:avLst>
          </a:prstGeom>
          <a:solidFill>
            <a:srgbClr val="36454F"/>
          </a:solidFill>
          <a:ln/>
        </p:spPr>
      </p:sp>
      <p:sp>
        <p:nvSpPr>
          <p:cNvPr id="22" name="Text 20"/>
          <p:cNvSpPr txBox="1"/>
          <p:nvPr/>
        </p:nvSpPr>
        <p:spPr>
          <a:xfrm>
            <a:off x="9584627" y="2103120"/>
            <a:ext cx="1370457" cy="56692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23" name="Shape 21"/>
          <p:cNvSpPr/>
          <p:nvPr/>
        </p:nvSpPr>
        <p:spPr>
          <a:xfrm>
            <a:off x="10973372" y="2103120"/>
            <a:ext cx="676085" cy="566928"/>
          </a:xfrm>
          <a:prstGeom prst="roundRect">
            <a:avLst>
              <a:gd name="adj" fmla="val 8065"/>
            </a:avLst>
          </a:prstGeom>
          <a:solidFill>
            <a:srgbClr val="02C39A"/>
          </a:solidFill>
          <a:ln/>
        </p:spPr>
      </p:sp>
      <p:sp>
        <p:nvSpPr>
          <p:cNvPr id="24" name="Text 22"/>
          <p:cNvSpPr txBox="1"/>
          <p:nvPr/>
        </p:nvSpPr>
        <p:spPr>
          <a:xfrm>
            <a:off x="10973372" y="2103120"/>
            <a:ext cx="676085" cy="56692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25" name="Shape 23"/>
          <p:cNvSpPr/>
          <p:nvPr/>
        </p:nvSpPr>
        <p:spPr>
          <a:xfrm>
            <a:off x="548640" y="2670048"/>
            <a:ext cx="91" cy="73152"/>
          </a:xfrm>
          <a:prstGeom prst="line">
            <a:avLst/>
          </a:prstGeom>
          <a:noFill/>
          <a:ln w="12700">
            <a:solidFill>
              <a:srgbClr val="6B7679"/>
            </a:solidFill>
            <a:prstDash val="solid"/>
          </a:ln>
        </p:spPr>
      </p:sp>
      <p:sp>
        <p:nvSpPr>
          <p:cNvPr id="26" name="Text 24"/>
          <p:cNvSpPr txBox="1"/>
          <p:nvPr/>
        </p:nvSpPr>
        <p:spPr>
          <a:xfrm>
            <a:off x="27432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27" name="Shape 25"/>
          <p:cNvSpPr/>
          <p:nvPr/>
        </p:nvSpPr>
        <p:spPr>
          <a:xfrm>
            <a:off x="1937385" y="2670048"/>
            <a:ext cx="91" cy="73152"/>
          </a:xfrm>
          <a:prstGeom prst="line">
            <a:avLst/>
          </a:prstGeom>
          <a:noFill/>
          <a:ln w="12700">
            <a:solidFill>
              <a:srgbClr val="6B7679"/>
            </a:solidFill>
            <a:prstDash val="solid"/>
          </a:ln>
        </p:spPr>
      </p:sp>
      <p:sp>
        <p:nvSpPr>
          <p:cNvPr id="28" name="Text 26"/>
          <p:cNvSpPr txBox="1"/>
          <p:nvPr/>
        </p:nvSpPr>
        <p:spPr>
          <a:xfrm>
            <a:off x="1663065"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2</a:t>
            </a:r>
            <a:endParaRPr lang="tr-TR" sz="1200" dirty="0"/>
          </a:p>
        </p:txBody>
      </p:sp>
      <p:sp>
        <p:nvSpPr>
          <p:cNvPr id="29" name="Shape 27"/>
          <p:cNvSpPr/>
          <p:nvPr/>
        </p:nvSpPr>
        <p:spPr>
          <a:xfrm>
            <a:off x="3326130" y="2670048"/>
            <a:ext cx="91" cy="73152"/>
          </a:xfrm>
          <a:prstGeom prst="line">
            <a:avLst/>
          </a:prstGeom>
          <a:noFill/>
          <a:ln w="12700">
            <a:solidFill>
              <a:srgbClr val="6B7679"/>
            </a:solidFill>
            <a:prstDash val="solid"/>
          </a:ln>
        </p:spPr>
      </p:sp>
      <p:sp>
        <p:nvSpPr>
          <p:cNvPr id="30" name="Text 28"/>
          <p:cNvSpPr txBox="1"/>
          <p:nvPr/>
        </p:nvSpPr>
        <p:spPr>
          <a:xfrm>
            <a:off x="305181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4</a:t>
            </a:r>
            <a:endParaRPr lang="tr-TR" sz="1200" dirty="0"/>
          </a:p>
        </p:txBody>
      </p:sp>
      <p:sp>
        <p:nvSpPr>
          <p:cNvPr id="31" name="Shape 29"/>
          <p:cNvSpPr/>
          <p:nvPr/>
        </p:nvSpPr>
        <p:spPr>
          <a:xfrm>
            <a:off x="4714875" y="2670048"/>
            <a:ext cx="91" cy="73152"/>
          </a:xfrm>
          <a:prstGeom prst="line">
            <a:avLst/>
          </a:prstGeom>
          <a:noFill/>
          <a:ln w="12700">
            <a:solidFill>
              <a:srgbClr val="6B7679"/>
            </a:solidFill>
            <a:prstDash val="solid"/>
          </a:ln>
        </p:spPr>
      </p:sp>
      <p:sp>
        <p:nvSpPr>
          <p:cNvPr id="32" name="Text 30"/>
          <p:cNvSpPr txBox="1"/>
          <p:nvPr/>
        </p:nvSpPr>
        <p:spPr>
          <a:xfrm>
            <a:off x="4440555"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6</a:t>
            </a:r>
            <a:endParaRPr lang="tr-TR" sz="1200" dirty="0"/>
          </a:p>
        </p:txBody>
      </p:sp>
      <p:sp>
        <p:nvSpPr>
          <p:cNvPr id="33" name="Shape 31"/>
          <p:cNvSpPr/>
          <p:nvPr/>
        </p:nvSpPr>
        <p:spPr>
          <a:xfrm>
            <a:off x="5409247" y="2670048"/>
            <a:ext cx="91" cy="73152"/>
          </a:xfrm>
          <a:prstGeom prst="line">
            <a:avLst/>
          </a:prstGeom>
          <a:noFill/>
          <a:ln w="12700">
            <a:solidFill>
              <a:srgbClr val="6B7679"/>
            </a:solidFill>
            <a:prstDash val="solid"/>
          </a:ln>
        </p:spPr>
      </p:sp>
      <p:sp>
        <p:nvSpPr>
          <p:cNvPr id="34" name="Text 32"/>
          <p:cNvSpPr txBox="1"/>
          <p:nvPr/>
        </p:nvSpPr>
        <p:spPr>
          <a:xfrm>
            <a:off x="5134928"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7</a:t>
            </a:r>
            <a:endParaRPr lang="tr-TR" sz="1200" dirty="0"/>
          </a:p>
        </p:txBody>
      </p:sp>
      <p:sp>
        <p:nvSpPr>
          <p:cNvPr id="35" name="Shape 33"/>
          <p:cNvSpPr/>
          <p:nvPr/>
        </p:nvSpPr>
        <p:spPr>
          <a:xfrm>
            <a:off x="6797993" y="2670048"/>
            <a:ext cx="91" cy="73152"/>
          </a:xfrm>
          <a:prstGeom prst="line">
            <a:avLst/>
          </a:prstGeom>
          <a:noFill/>
          <a:ln w="12700">
            <a:solidFill>
              <a:srgbClr val="6B7679"/>
            </a:solidFill>
            <a:prstDash val="solid"/>
          </a:ln>
        </p:spPr>
      </p:sp>
      <p:sp>
        <p:nvSpPr>
          <p:cNvPr id="36" name="Text 34"/>
          <p:cNvSpPr txBox="1"/>
          <p:nvPr/>
        </p:nvSpPr>
        <p:spPr>
          <a:xfrm>
            <a:off x="6523673"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9</a:t>
            </a:r>
            <a:endParaRPr lang="tr-TR" sz="1200" dirty="0"/>
          </a:p>
        </p:txBody>
      </p:sp>
      <p:sp>
        <p:nvSpPr>
          <p:cNvPr id="37" name="Shape 35"/>
          <p:cNvSpPr/>
          <p:nvPr/>
        </p:nvSpPr>
        <p:spPr>
          <a:xfrm>
            <a:off x="8186738" y="2670048"/>
            <a:ext cx="91" cy="73152"/>
          </a:xfrm>
          <a:prstGeom prst="line">
            <a:avLst/>
          </a:prstGeom>
          <a:noFill/>
          <a:ln w="12700">
            <a:solidFill>
              <a:srgbClr val="6B7679"/>
            </a:solidFill>
            <a:prstDash val="solid"/>
          </a:ln>
        </p:spPr>
      </p:sp>
      <p:sp>
        <p:nvSpPr>
          <p:cNvPr id="38" name="Text 36"/>
          <p:cNvSpPr txBox="1"/>
          <p:nvPr/>
        </p:nvSpPr>
        <p:spPr>
          <a:xfrm>
            <a:off x="7912417"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11</a:t>
            </a:r>
            <a:endParaRPr lang="tr-TR" sz="1200" dirty="0"/>
          </a:p>
        </p:txBody>
      </p:sp>
      <p:sp>
        <p:nvSpPr>
          <p:cNvPr id="39" name="Shape 37"/>
          <p:cNvSpPr/>
          <p:nvPr/>
        </p:nvSpPr>
        <p:spPr>
          <a:xfrm>
            <a:off x="9575483" y="2670048"/>
            <a:ext cx="91" cy="73152"/>
          </a:xfrm>
          <a:prstGeom prst="line">
            <a:avLst/>
          </a:prstGeom>
          <a:noFill/>
          <a:ln w="12700">
            <a:solidFill>
              <a:srgbClr val="6B7679"/>
            </a:solidFill>
            <a:prstDash val="solid"/>
          </a:ln>
        </p:spPr>
      </p:sp>
      <p:sp>
        <p:nvSpPr>
          <p:cNvPr id="40" name="Text 38"/>
          <p:cNvSpPr txBox="1"/>
          <p:nvPr/>
        </p:nvSpPr>
        <p:spPr>
          <a:xfrm>
            <a:off x="9301163"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13</a:t>
            </a:r>
            <a:endParaRPr lang="tr-TR" sz="1200" dirty="0"/>
          </a:p>
        </p:txBody>
      </p:sp>
      <p:sp>
        <p:nvSpPr>
          <p:cNvPr id="41" name="Shape 39"/>
          <p:cNvSpPr/>
          <p:nvPr/>
        </p:nvSpPr>
        <p:spPr>
          <a:xfrm>
            <a:off x="10964228" y="2670048"/>
            <a:ext cx="91" cy="73152"/>
          </a:xfrm>
          <a:prstGeom prst="line">
            <a:avLst/>
          </a:prstGeom>
          <a:noFill/>
          <a:ln w="12700">
            <a:solidFill>
              <a:srgbClr val="6B7679"/>
            </a:solidFill>
            <a:prstDash val="solid"/>
          </a:ln>
        </p:spPr>
      </p:sp>
      <p:sp>
        <p:nvSpPr>
          <p:cNvPr id="42" name="Text 40"/>
          <p:cNvSpPr txBox="1"/>
          <p:nvPr/>
        </p:nvSpPr>
        <p:spPr>
          <a:xfrm>
            <a:off x="10689907"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15</a:t>
            </a:r>
            <a:endParaRPr lang="tr-TR" sz="1200" dirty="0"/>
          </a:p>
        </p:txBody>
      </p:sp>
      <p:sp>
        <p:nvSpPr>
          <p:cNvPr id="43" name="Shape 41"/>
          <p:cNvSpPr/>
          <p:nvPr/>
        </p:nvSpPr>
        <p:spPr>
          <a:xfrm>
            <a:off x="11658600" y="2670048"/>
            <a:ext cx="91" cy="73152"/>
          </a:xfrm>
          <a:prstGeom prst="line">
            <a:avLst/>
          </a:prstGeom>
          <a:noFill/>
          <a:ln w="12700">
            <a:solidFill>
              <a:srgbClr val="6B7679"/>
            </a:solidFill>
            <a:prstDash val="solid"/>
          </a:ln>
        </p:spPr>
      </p:sp>
      <p:sp>
        <p:nvSpPr>
          <p:cNvPr id="44" name="Text 42"/>
          <p:cNvSpPr txBox="1"/>
          <p:nvPr/>
        </p:nvSpPr>
        <p:spPr>
          <a:xfrm>
            <a:off x="11384280" y="2743200"/>
            <a:ext cx="548640" cy="237744"/>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675120" cy="914400"/>
        </p:xfrm>
        <a:graphic>
          <a:graphicData uri="http://schemas.openxmlformats.org/drawingml/2006/table">
            <a:tbl>
              <a:tblPr/>
              <a:tblGrid>
                <a:gridCol w="960120"/>
                <a:gridCol w="906780"/>
                <a:gridCol w="906780"/>
                <a:gridCol w="906780"/>
                <a:gridCol w="1181100"/>
                <a:gridCol w="906780"/>
                <a:gridCol w="906780"/>
              </a:tblGrid>
              <a:tr h="402336">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Süreç</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Varış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Patlama</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Bitiş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Dönüş</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Bekleme</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50" b="1" dirty="0">
                          <a:solidFill>
                            <a:srgbClr val="FFFFFF"/>
                          </a:solidFill>
                          <a:latin typeface="Cambria" pitchFamily="34" charset="0"/>
                          <a:ea typeface="Cambria" pitchFamily="34" charset="-122"/>
                          <a:cs typeface="Cambria" pitchFamily="34" charset="-120"/>
                        </a:rPr>
                        <a:t>Yanıt</a:t>
                      </a:r>
                      <a:endParaRPr lang="tr-TR" sz="12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9</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9</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7</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02336">
                <a:tc>
                  <a:txBody>
                    <a:bodyPr/>
                    <a:lstStyle/>
                    <a:p>
                      <a:pPr algn="ctr" indent="0" marL="0">
                        <a:buNone/>
                      </a:pPr>
                      <a:r>
                        <a:rPr lang="tr-TR" sz="1300" b="1" dirty="0">
                          <a:solidFill>
                            <a:srgbClr val="3A464C"/>
                          </a:solidFill>
                          <a:latin typeface="Calibri" pitchFamily="34" charset="0"/>
                          <a:ea typeface="Calibri" pitchFamily="34" charset="-122"/>
                          <a:cs typeface="Calibri" pitchFamily="34" charset="-120"/>
                        </a:rPr>
                        <a:t>P4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10</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6</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02336">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Ortalama</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9</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300" b="1" dirty="0">
                          <a:solidFill>
                            <a:srgbClr val="028090"/>
                          </a:solidFill>
                          <a:latin typeface="Calibri" pitchFamily="34" charset="0"/>
                          <a:ea typeface="Calibri" pitchFamily="34" charset="-122"/>
                          <a:cs typeface="Calibri" pitchFamily="34" charset="-120"/>
                        </a:rPr>
                        <a:t>1,5</a:t>
                      </a:r>
                      <a:endParaRPr lang="tr-TR" sz="13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46" name="Shape 43"/>
          <p:cNvSpPr/>
          <p:nvPr/>
        </p:nvSpPr>
        <p:spPr>
          <a:xfrm>
            <a:off x="7452360" y="3246120"/>
            <a:ext cx="4206240" cy="3017520"/>
          </a:xfrm>
          <a:prstGeom prst="roundRect">
            <a:avLst>
              <a:gd name="adj" fmla="val 1818"/>
            </a:avLst>
          </a:prstGeom>
          <a:solidFill>
            <a:srgbClr val="F2F2F2"/>
          </a:solidFill>
          <a:ln/>
          <a:effectLst>
            <a:outerShdw sx="100000" sy="100000" kx="0" ky="0" algn="bl" rotWithShape="0" blurRad="101600" dist="25400" dir="5400000">
              <a:srgbClr val="000000">
                <a:alpha val="12000"/>
              </a:srgbClr>
            </a:outerShdw>
          </a:effectLst>
        </p:spPr>
      </p:sp>
      <p:sp>
        <p:nvSpPr>
          <p:cNvPr id="47" name="Text 44"/>
          <p:cNvSpPr txBox="1"/>
          <p:nvPr/>
        </p:nvSpPr>
        <p:spPr>
          <a:xfrm>
            <a:off x="7680960" y="342900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q = 4 ile karşılaştırma</a:t>
            </a:r>
            <a:endParaRPr lang="tr-TR" sz="1500" dirty="0"/>
          </a:p>
        </p:txBody>
      </p:sp>
      <p:sp>
        <p:nvSpPr>
          <p:cNvPr id="48" name="Text 45"/>
          <p:cNvSpPr txBox="1"/>
          <p:nvPr/>
        </p:nvSpPr>
        <p:spPr>
          <a:xfrm>
            <a:off x="7680960" y="3886200"/>
            <a:ext cx="3749040" cy="224028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Yanıt süresi düşer: ortalama 3,25 → 1,5 ms.</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Bekleme süresi artar: ortalama 4,5 → 5 ms.</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Bağlam değişimleri: 4 → 8.</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P1 dört parçaya bölünür ve t = 16'da en son biter.</a:t>
            </a:r>
            <a:endParaRPr lang="tr-TR"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DÖNGÜSEL ZAMANLAMA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Zaman Dilimini Seçmek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17</a:t>
            </a:r>
            <a:endParaRPr lang="tr-TR"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760720" cy="914400"/>
        </p:xfrm>
        <a:graphic>
          <a:graphicData uri="http://schemas.openxmlformats.org/drawingml/2006/table">
            <a:tbl>
              <a:tblPr/>
              <a:tblGrid>
                <a:gridCol w="1691640"/>
                <a:gridCol w="1463040"/>
                <a:gridCol w="1371600"/>
                <a:gridCol w="1234440"/>
              </a:tblGrid>
              <a:tr h="384048">
                <a:tc>
                  <a:txBody>
                    <a:bodyPr/>
                    <a:lstStyle/>
                    <a:p>
                      <a:pPr algn="ctr" indent="0" marL="0">
                        <a:buNone/>
                      </a:pPr>
                      <a:r>
                        <a:rPr lang="tr-TR" sz="1400" b="1" dirty="0">
                          <a:solidFill>
                            <a:srgbClr val="FFFFFF"/>
                          </a:solidFill>
                          <a:latin typeface="Cambria" pitchFamily="34" charset="0"/>
                          <a:ea typeface="Cambria" pitchFamily="34" charset="-122"/>
                          <a:cs typeface="Cambria" pitchFamily="34" charset="-120"/>
                        </a:rPr>
                        <a:t>Zaman dilimi q</a:t>
                      </a:r>
                      <a:endParaRPr lang="tr-TR"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400" b="1" dirty="0">
                          <a:solidFill>
                            <a:srgbClr val="FFFFFF"/>
                          </a:solidFill>
                          <a:latin typeface="Cambria" pitchFamily="34" charset="0"/>
                          <a:ea typeface="Cambria" pitchFamily="34" charset="-122"/>
                          <a:cs typeface="Cambria" pitchFamily="34" charset="-120"/>
                        </a:rPr>
                        <a:t>Ort. bekleme</a:t>
                      </a:r>
                      <a:endParaRPr lang="tr-TR"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400" b="1" dirty="0">
                          <a:solidFill>
                            <a:srgbClr val="FFFFFF"/>
                          </a:solidFill>
                          <a:latin typeface="Cambria" pitchFamily="34" charset="0"/>
                          <a:ea typeface="Cambria" pitchFamily="34" charset="-122"/>
                          <a:cs typeface="Cambria" pitchFamily="34" charset="-120"/>
                        </a:rPr>
                        <a:t>Ort. yanıt</a:t>
                      </a:r>
                      <a:endParaRPr lang="tr-TR"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400" b="1" dirty="0">
                          <a:solidFill>
                            <a:srgbClr val="FFFFFF"/>
                          </a:solidFill>
                          <a:latin typeface="Cambria" pitchFamily="34" charset="0"/>
                          <a:ea typeface="Cambria" pitchFamily="34" charset="-122"/>
                          <a:cs typeface="Cambria" pitchFamily="34" charset="-120"/>
                        </a:rPr>
                        <a:t>Geçiş</a:t>
                      </a:r>
                      <a:endParaRPr lang="tr-TR" sz="1400" dirty="0">
                        <a:latin typeface="Cambria" charset="0"/>
                        <a:ea typeface="Cambria" charset="0"/>
                        <a:cs typeface="Cambria"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384048">
                <a:tc>
                  <a:txBody>
                    <a:bodyPr/>
                    <a:lstStyle/>
                    <a:p>
                      <a:pPr algn="ctr" indent="0" marL="0">
                        <a:buNone/>
                      </a:pPr>
                      <a:r>
                        <a:rPr lang="tr-TR" sz="1400" b="1" dirty="0">
                          <a:solidFill>
                            <a:srgbClr val="3A464C"/>
                          </a:solidFill>
                          <a:latin typeface="Calibri" pitchFamily="34" charset="0"/>
                          <a:ea typeface="Calibri" pitchFamily="34" charset="-122"/>
                          <a:cs typeface="Calibri" pitchFamily="34" charset="-120"/>
                        </a:rPr>
                        <a:t>1 ms</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5,5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0,75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14</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algn="ctr" indent="0" marL="0">
                        <a:buNone/>
                      </a:pPr>
                      <a:r>
                        <a:rPr lang="tr-TR" sz="1400" b="1" dirty="0">
                          <a:solidFill>
                            <a:srgbClr val="3A464C"/>
                          </a:solidFill>
                          <a:latin typeface="Calibri" pitchFamily="34" charset="0"/>
                          <a:ea typeface="Calibri" pitchFamily="34" charset="-122"/>
                          <a:cs typeface="Calibri" pitchFamily="34" charset="-120"/>
                        </a:rPr>
                        <a:t>2 ms</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1,5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8</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384048">
                <a:tc>
                  <a:txBody>
                    <a:bodyPr/>
                    <a:lstStyle/>
                    <a:p>
                      <a:pPr algn="ctr" indent="0" marL="0">
                        <a:buNone/>
                      </a:pPr>
                      <a:r>
                        <a:rPr lang="tr-TR" sz="1400" b="1" dirty="0">
                          <a:solidFill>
                            <a:srgbClr val="3A464C"/>
                          </a:solidFill>
                          <a:latin typeface="Calibri" pitchFamily="34" charset="0"/>
                          <a:ea typeface="Calibri" pitchFamily="34" charset="-122"/>
                          <a:cs typeface="Calibri" pitchFamily="34" charset="-120"/>
                        </a:rPr>
                        <a:t>4 ms</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4,5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3,25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4</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algn="ctr" indent="0" marL="0">
                        <a:buNone/>
                      </a:pPr>
                      <a:r>
                        <a:rPr lang="tr-TR" sz="1400" b="1" dirty="0">
                          <a:solidFill>
                            <a:srgbClr val="3A464C"/>
                          </a:solidFill>
                          <a:latin typeface="Calibri" pitchFamily="34" charset="0"/>
                          <a:ea typeface="Calibri" pitchFamily="34" charset="-122"/>
                          <a:cs typeface="Calibri" pitchFamily="34" charset="-120"/>
                        </a:rPr>
                        <a:t>8 ms</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4,75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4,75</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400" dirty="0">
                          <a:solidFill>
                            <a:srgbClr val="3A464C"/>
                          </a:solidFill>
                          <a:latin typeface="Calibri" pitchFamily="34" charset="0"/>
                          <a:ea typeface="Calibri" pitchFamily="34" charset="-122"/>
                          <a:cs typeface="Calibri" pitchFamily="34" charset="-120"/>
                        </a:rPr>
                        <a:t>3</a:t>
                      </a:r>
                      <a:endParaRPr lang="tr-TR" sz="1400" dirty="0">
                        <a:latin typeface="Calibri" charset="0"/>
                        <a:ea typeface="Calibri" charset="0"/>
                        <a:cs typeface="Calibri" charset="0"/>
                      </a:endParaRPr>
                    </a:p>
                  </a:txBody>
                  <a:tcPr marL="63500" marR="635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611880"/>
            <a:ext cx="5760720" cy="5486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Bizim iş kümemiz, sched_check.py'den. q = 8 her patlamadan büyük ya da eşit olduğundan, RR tam olarak FCFS planını verir.</a:t>
            </a:r>
            <a:endParaRPr lang="tr-TR" sz="1300" dirty="0"/>
          </a:p>
        </p:txBody>
      </p:sp>
      <p:sp>
        <p:nvSpPr>
          <p:cNvPr id="8" name="Shape 5"/>
          <p:cNvSpPr/>
          <p:nvPr/>
        </p:nvSpPr>
        <p:spPr>
          <a:xfrm>
            <a:off x="548640" y="4297680"/>
            <a:ext cx="5760720" cy="1965960"/>
          </a:xfrm>
          <a:prstGeom prst="roundRect">
            <a:avLst>
              <a:gd name="adj" fmla="val 2326"/>
            </a:avLst>
          </a:prstGeom>
          <a:solidFill>
            <a:srgbClr val="212121"/>
          </a:solidFill>
          <a:ln/>
        </p:spPr>
      </p:sp>
      <p:sp>
        <p:nvSpPr>
          <p:cNvPr id="9" name="Text 6"/>
          <p:cNvSpPr txBox="1"/>
          <p:nvPr/>
        </p:nvSpPr>
        <p:spPr>
          <a:xfrm>
            <a:off x="731520" y="4407408"/>
            <a:ext cx="5394960" cy="174650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Geçişe giden zaman = s / (q + s)</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geçiş maliyeti s = 0.1 ms ile:</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q =   1 ms  -&gt;  9.1 %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q =   4 ms  -&gt;  2.4 %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q =  10 ms  -&gt;  1.0 %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q = 100 ms  -&gt;  0.1 %</a:t>
            </a:r>
            <a:endParaRPr lang="tr-TR" sz="1300" dirty="0"/>
          </a:p>
        </p:txBody>
      </p:sp>
      <p:sp>
        <p:nvSpPr>
          <p:cNvPr id="10" name="Shape 7"/>
          <p:cNvSpPr/>
          <p:nvPr/>
        </p:nvSpPr>
        <p:spPr>
          <a:xfrm>
            <a:off x="6583680" y="1554480"/>
            <a:ext cx="507492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sp>
      <p:sp>
        <p:nvSpPr>
          <p:cNvPr id="11" name="Text 8"/>
          <p:cNvSpPr txBox="1"/>
          <p:nvPr/>
        </p:nvSpPr>
        <p:spPr>
          <a:xfrm>
            <a:off x="6812280" y="1737360"/>
            <a:ext cx="461772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q çok büyükse</a:t>
            </a:r>
            <a:endParaRPr lang="tr-TR" sz="1500" dirty="0"/>
          </a:p>
        </p:txBody>
      </p:sp>
      <p:sp>
        <p:nvSpPr>
          <p:cNvPr id="12" name="Text 9"/>
          <p:cNvSpPr txBox="1"/>
          <p:nvPr/>
        </p:nvSpPr>
        <p:spPr>
          <a:xfrm>
            <a:off x="6812280" y="2194560"/>
            <a:ext cx="4617720" cy="6400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RR, FCFS'ye dönüşür: etkileşimli kullanıcılar uzun işlerin arkasında bekler.</a:t>
            </a:r>
            <a:endParaRPr lang="tr-TR" sz="1400" dirty="0"/>
          </a:p>
        </p:txBody>
      </p:sp>
      <p:sp>
        <p:nvSpPr>
          <p:cNvPr id="13" name="Shape 10"/>
          <p:cNvSpPr/>
          <p:nvPr/>
        </p:nvSpPr>
        <p:spPr>
          <a:xfrm>
            <a:off x="6583680" y="3154680"/>
            <a:ext cx="507492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sp>
      <p:sp>
        <p:nvSpPr>
          <p:cNvPr id="14" name="Text 11"/>
          <p:cNvSpPr txBox="1"/>
          <p:nvPr/>
        </p:nvSpPr>
        <p:spPr>
          <a:xfrm>
            <a:off x="6812280" y="3337560"/>
            <a:ext cx="461772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q çok küçükse</a:t>
            </a:r>
            <a:endParaRPr lang="tr-TR" sz="1500" dirty="0"/>
          </a:p>
        </p:txBody>
      </p:sp>
      <p:sp>
        <p:nvSpPr>
          <p:cNvPr id="15" name="Text 12"/>
          <p:cNvSpPr txBox="1"/>
          <p:nvPr/>
        </p:nvSpPr>
        <p:spPr>
          <a:xfrm>
            <a:off x="6812280" y="3794760"/>
            <a:ext cx="4617720" cy="6400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İşlemci zamanının büyük bir kısmı iş yapmaya değil, geçiş yapmaya gider.</a:t>
            </a:r>
            <a:endParaRPr lang="tr-TR" sz="1400" dirty="0"/>
          </a:p>
        </p:txBody>
      </p:sp>
      <p:sp>
        <p:nvSpPr>
          <p:cNvPr id="16" name="Shape 13"/>
          <p:cNvSpPr/>
          <p:nvPr/>
        </p:nvSpPr>
        <p:spPr>
          <a:xfrm>
            <a:off x="6583680" y="4754880"/>
            <a:ext cx="507492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sp>
      <p:sp>
        <p:nvSpPr>
          <p:cNvPr id="17" name="Text 14"/>
          <p:cNvSpPr txBox="1"/>
          <p:nvPr/>
        </p:nvSpPr>
        <p:spPr>
          <a:xfrm>
            <a:off x="6812280" y="4754880"/>
            <a:ext cx="4617720" cy="15087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Pratik kural: q'yu, CPU patlamalarının yaklaşık %80'i tek bir zaman dilimi içinde bitecek biçimde seçin; q, geçiş süresinden çok daha büyük olmalıdır.</a:t>
            </a:r>
            <a:endParaRPr lang="tr-TR"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GENEL BAKIŞ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2600" b="1" dirty="0">
                <a:solidFill>
                  <a:srgbClr val="36454F"/>
                </a:solidFill>
                <a:latin typeface="Cambria" pitchFamily="34" charset="0"/>
                <a:ea typeface="Cambria" pitchFamily="34" charset="-122"/>
                <a:cs typeface="Cambria" pitchFamily="34" charset="-120"/>
              </a:rPr>
              <a:t>Çok Düzeyli Kuyruklar ve Çok Düzeyli Geri Beslemeli Kuyruklar</a:t>
            </a:r>
            <a:endParaRPr lang="tr-TR" sz="26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Gerçek sistemler algoritmaları birleştirir: her birinin kendi politikası olan birkaç hazır kuyruğu.</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18</a:t>
            </a:r>
            <a:endParaRPr lang="tr-TR" sz="900" dirty="0"/>
          </a:p>
        </p:txBody>
      </p:sp>
      <p:sp>
        <p:nvSpPr>
          <p:cNvPr id="7" name="Shape 5"/>
          <p:cNvSpPr/>
          <p:nvPr/>
        </p:nvSpPr>
        <p:spPr>
          <a:xfrm>
            <a:off x="548640" y="2103120"/>
            <a:ext cx="1371600" cy="731520"/>
          </a:xfrm>
          <a:prstGeom prst="roundRect">
            <a:avLst>
              <a:gd name="adj" fmla="val 6250"/>
            </a:avLst>
          </a:prstGeom>
          <a:solidFill>
            <a:srgbClr val="02C39A"/>
          </a:solidFill>
          <a:ln/>
        </p:spPr>
      </p:sp>
      <p:sp>
        <p:nvSpPr>
          <p:cNvPr id="8" name="Text 6"/>
          <p:cNvSpPr txBox="1"/>
          <p:nvPr/>
        </p:nvSpPr>
        <p:spPr>
          <a:xfrm>
            <a:off x="548640" y="2103120"/>
            <a:ext cx="1371600" cy="73152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Kuyruk 0</a:t>
            </a:r>
            <a:endParaRPr lang="tr-TR" sz="1400" dirty="0"/>
          </a:p>
        </p:txBody>
      </p:sp>
      <p:sp>
        <p:nvSpPr>
          <p:cNvPr id="9" name="Shape 7"/>
          <p:cNvSpPr/>
          <p:nvPr/>
        </p:nvSpPr>
        <p:spPr>
          <a:xfrm>
            <a:off x="2057400" y="2103120"/>
            <a:ext cx="2926080" cy="731520"/>
          </a:xfrm>
          <a:prstGeom prst="roundRect">
            <a:avLst>
              <a:gd name="adj" fmla="val 6250"/>
            </a:avLst>
          </a:prstGeom>
          <a:solidFill>
            <a:srgbClr val="F2F2F2"/>
          </a:solidFill>
          <a:ln/>
        </p:spPr>
      </p:sp>
      <p:sp>
        <p:nvSpPr>
          <p:cNvPr id="10" name="Text 8"/>
          <p:cNvSpPr txBox="1"/>
          <p:nvPr/>
        </p:nvSpPr>
        <p:spPr>
          <a:xfrm>
            <a:off x="2057400" y="2103120"/>
            <a:ext cx="2926080" cy="731520"/>
          </a:xfrm>
          <a:prstGeom prst="rect">
            <a:avLst/>
          </a:prstGeom>
          <a:noFill/>
          <a:ln/>
        </p:spPr>
        <p:txBody>
          <a:bodyPr wrap="square" lIns="0" tIns="0" rIns="0" bIns="0" rtlCol="0" anchor="ctr"/>
          <a:lstStyle/>
          <a:p>
            <a:pPr algn="ctr" indent="0" marL="0">
              <a:buNone/>
            </a:pPr>
            <a:r>
              <a:rPr lang="tr-TR" sz="1500" b="1" dirty="0">
                <a:solidFill>
                  <a:srgbClr val="36454F"/>
                </a:solidFill>
                <a:latin typeface="Calibri" pitchFamily="34" charset="0"/>
                <a:ea typeface="Calibri" pitchFamily="34" charset="-122"/>
                <a:cs typeface="Calibri" pitchFamily="34" charset="-120"/>
              </a:rPr>
              <a:t>RR, q = 8 ms</a:t>
            </a:r>
            <a:endParaRPr lang="tr-TR" sz="1500" dirty="0"/>
          </a:p>
        </p:txBody>
      </p:sp>
      <p:sp>
        <p:nvSpPr>
          <p:cNvPr id="11" name="Text 9"/>
          <p:cNvSpPr txBox="1"/>
          <p:nvPr/>
        </p:nvSpPr>
        <p:spPr>
          <a:xfrm>
            <a:off x="5120640" y="2286000"/>
            <a:ext cx="1737360" cy="36576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en yüksek öncelik</a:t>
            </a:r>
            <a:endParaRPr lang="tr-TR" sz="1200" dirty="0"/>
          </a:p>
        </p:txBody>
      </p:sp>
      <p:sp>
        <p:nvSpPr>
          <p:cNvPr id="12" name="Shape 10"/>
          <p:cNvSpPr/>
          <p:nvPr/>
        </p:nvSpPr>
        <p:spPr>
          <a:xfrm>
            <a:off x="3520440" y="2852928"/>
            <a:ext cx="91" cy="420624"/>
          </a:xfrm>
          <a:prstGeom prst="line">
            <a:avLst/>
          </a:prstGeom>
          <a:noFill/>
          <a:ln w="25400">
            <a:solidFill>
              <a:srgbClr val="B5453A"/>
            </a:solidFill>
            <a:prstDash val="solid"/>
            <a:tailEnd type="triangle"/>
          </a:ln>
        </p:spPr>
      </p:sp>
      <p:sp>
        <p:nvSpPr>
          <p:cNvPr id="13" name="Shape 11"/>
          <p:cNvSpPr/>
          <p:nvPr/>
        </p:nvSpPr>
        <p:spPr>
          <a:xfrm>
            <a:off x="548640" y="3291840"/>
            <a:ext cx="1371600" cy="731520"/>
          </a:xfrm>
          <a:prstGeom prst="roundRect">
            <a:avLst>
              <a:gd name="adj" fmla="val 6250"/>
            </a:avLst>
          </a:prstGeom>
          <a:solidFill>
            <a:srgbClr val="50808E"/>
          </a:solidFill>
          <a:ln/>
        </p:spPr>
      </p:sp>
      <p:sp>
        <p:nvSpPr>
          <p:cNvPr id="14" name="Text 12"/>
          <p:cNvSpPr txBox="1"/>
          <p:nvPr/>
        </p:nvSpPr>
        <p:spPr>
          <a:xfrm>
            <a:off x="548640" y="3291840"/>
            <a:ext cx="1371600" cy="73152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Kuyruk 1</a:t>
            </a:r>
            <a:endParaRPr lang="tr-TR" sz="1400" dirty="0"/>
          </a:p>
        </p:txBody>
      </p:sp>
      <p:sp>
        <p:nvSpPr>
          <p:cNvPr id="15" name="Shape 13"/>
          <p:cNvSpPr/>
          <p:nvPr/>
        </p:nvSpPr>
        <p:spPr>
          <a:xfrm>
            <a:off x="2057400" y="3291840"/>
            <a:ext cx="2926080" cy="731520"/>
          </a:xfrm>
          <a:prstGeom prst="roundRect">
            <a:avLst>
              <a:gd name="adj" fmla="val 6250"/>
            </a:avLst>
          </a:prstGeom>
          <a:solidFill>
            <a:srgbClr val="F2F2F2"/>
          </a:solidFill>
          <a:ln/>
        </p:spPr>
      </p:sp>
      <p:sp>
        <p:nvSpPr>
          <p:cNvPr id="16" name="Text 14"/>
          <p:cNvSpPr txBox="1"/>
          <p:nvPr/>
        </p:nvSpPr>
        <p:spPr>
          <a:xfrm>
            <a:off x="2057400" y="3291840"/>
            <a:ext cx="2926080" cy="731520"/>
          </a:xfrm>
          <a:prstGeom prst="rect">
            <a:avLst/>
          </a:prstGeom>
          <a:noFill/>
          <a:ln/>
        </p:spPr>
        <p:txBody>
          <a:bodyPr wrap="square" lIns="0" tIns="0" rIns="0" bIns="0" rtlCol="0" anchor="ctr"/>
          <a:lstStyle/>
          <a:p>
            <a:pPr algn="ctr" indent="0" marL="0">
              <a:buNone/>
            </a:pPr>
            <a:r>
              <a:rPr lang="tr-TR" sz="1500" b="1" dirty="0">
                <a:solidFill>
                  <a:srgbClr val="36454F"/>
                </a:solidFill>
                <a:latin typeface="Calibri" pitchFamily="34" charset="0"/>
                <a:ea typeface="Calibri" pitchFamily="34" charset="-122"/>
                <a:cs typeface="Calibri" pitchFamily="34" charset="-120"/>
              </a:rPr>
              <a:t>RR, q = 16 ms</a:t>
            </a:r>
            <a:endParaRPr lang="tr-TR" sz="1500" dirty="0"/>
          </a:p>
        </p:txBody>
      </p:sp>
      <p:sp>
        <p:nvSpPr>
          <p:cNvPr id="17" name="Shape 15"/>
          <p:cNvSpPr/>
          <p:nvPr/>
        </p:nvSpPr>
        <p:spPr>
          <a:xfrm>
            <a:off x="3520440" y="4041648"/>
            <a:ext cx="91" cy="420624"/>
          </a:xfrm>
          <a:prstGeom prst="line">
            <a:avLst/>
          </a:prstGeom>
          <a:noFill/>
          <a:ln w="25400">
            <a:solidFill>
              <a:srgbClr val="B5453A"/>
            </a:solidFill>
            <a:prstDash val="solid"/>
            <a:tailEnd type="triangle"/>
          </a:ln>
        </p:spPr>
      </p:sp>
      <p:sp>
        <p:nvSpPr>
          <p:cNvPr id="18" name="Shape 16"/>
          <p:cNvSpPr/>
          <p:nvPr/>
        </p:nvSpPr>
        <p:spPr>
          <a:xfrm>
            <a:off x="548640" y="4480560"/>
            <a:ext cx="1371600" cy="731520"/>
          </a:xfrm>
          <a:prstGeom prst="roundRect">
            <a:avLst>
              <a:gd name="adj" fmla="val 6250"/>
            </a:avLst>
          </a:prstGeom>
          <a:solidFill>
            <a:srgbClr val="36454F"/>
          </a:solidFill>
          <a:ln/>
        </p:spPr>
      </p:sp>
      <p:sp>
        <p:nvSpPr>
          <p:cNvPr id="19" name="Text 17"/>
          <p:cNvSpPr txBox="1"/>
          <p:nvPr/>
        </p:nvSpPr>
        <p:spPr>
          <a:xfrm>
            <a:off x="548640" y="4480560"/>
            <a:ext cx="1371600" cy="73152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Kuyruk 2</a:t>
            </a:r>
            <a:endParaRPr lang="tr-TR" sz="1400" dirty="0"/>
          </a:p>
        </p:txBody>
      </p:sp>
      <p:sp>
        <p:nvSpPr>
          <p:cNvPr id="20" name="Shape 18"/>
          <p:cNvSpPr/>
          <p:nvPr/>
        </p:nvSpPr>
        <p:spPr>
          <a:xfrm>
            <a:off x="2057400" y="4480560"/>
            <a:ext cx="2926080" cy="731520"/>
          </a:xfrm>
          <a:prstGeom prst="roundRect">
            <a:avLst>
              <a:gd name="adj" fmla="val 6250"/>
            </a:avLst>
          </a:prstGeom>
          <a:solidFill>
            <a:srgbClr val="F2F2F2"/>
          </a:solidFill>
          <a:ln/>
        </p:spPr>
      </p:sp>
      <p:sp>
        <p:nvSpPr>
          <p:cNvPr id="21" name="Text 19"/>
          <p:cNvSpPr txBox="1"/>
          <p:nvPr/>
        </p:nvSpPr>
        <p:spPr>
          <a:xfrm>
            <a:off x="2057400" y="4480560"/>
            <a:ext cx="2926080" cy="731520"/>
          </a:xfrm>
          <a:prstGeom prst="rect">
            <a:avLst/>
          </a:prstGeom>
          <a:noFill/>
          <a:ln/>
        </p:spPr>
        <p:txBody>
          <a:bodyPr wrap="square" lIns="0" tIns="0" rIns="0" bIns="0" rtlCol="0" anchor="ctr"/>
          <a:lstStyle/>
          <a:p>
            <a:pPr algn="ctr" indent="0" marL="0">
              <a:buNone/>
            </a:pPr>
            <a:r>
              <a:rPr lang="tr-TR" sz="1500" b="1" dirty="0">
                <a:solidFill>
                  <a:srgbClr val="36454F"/>
                </a:solidFill>
                <a:latin typeface="Calibri" pitchFamily="34" charset="0"/>
                <a:ea typeface="Calibri" pitchFamily="34" charset="-122"/>
                <a:cs typeface="Calibri" pitchFamily="34" charset="-120"/>
              </a:rPr>
              <a:t>FCFS</a:t>
            </a:r>
            <a:endParaRPr lang="tr-TR" sz="1500" dirty="0"/>
          </a:p>
        </p:txBody>
      </p:sp>
      <p:sp>
        <p:nvSpPr>
          <p:cNvPr id="22" name="Text 20"/>
          <p:cNvSpPr txBox="1"/>
          <p:nvPr/>
        </p:nvSpPr>
        <p:spPr>
          <a:xfrm>
            <a:off x="5120640" y="4663440"/>
            <a:ext cx="1737360" cy="36576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en düşük öncelik</a:t>
            </a:r>
            <a:endParaRPr lang="tr-TR" sz="1200" dirty="0"/>
          </a:p>
        </p:txBody>
      </p:sp>
      <p:sp>
        <p:nvSpPr>
          <p:cNvPr id="23" name="Text 21"/>
          <p:cNvSpPr txBox="1"/>
          <p:nvPr/>
        </p:nvSpPr>
        <p:spPr>
          <a:xfrm>
            <a:off x="3657600" y="2880360"/>
            <a:ext cx="3200400" cy="365760"/>
          </a:xfrm>
          <a:prstGeom prst="rect">
            <a:avLst/>
          </a:prstGeom>
          <a:noFill/>
          <a:ln/>
        </p:spPr>
        <p:txBody>
          <a:bodyPr wrap="square" lIns="0" tIns="0" rIns="0" bIns="0" rtlCol="0" anchor="t"/>
          <a:lstStyle/>
          <a:p>
            <a:pPr indent="0" marL="0">
              <a:buNone/>
            </a:pPr>
            <a:r>
              <a:rPr lang="tr-TR" sz="1200" b="1" dirty="0">
                <a:solidFill>
                  <a:srgbClr val="B5453A"/>
                </a:solidFill>
                <a:latin typeface="Calibri" pitchFamily="34" charset="0"/>
                <a:ea typeface="Calibri" pitchFamily="34" charset="-122"/>
                <a:cs typeface="Calibri" pitchFamily="34" charset="-120"/>
              </a:rPr>
              <a:t>dilimin tamamını kullanırsa → bir alta iner</a:t>
            </a:r>
            <a:endParaRPr lang="tr-TR" sz="1200" dirty="0"/>
          </a:p>
        </p:txBody>
      </p:sp>
      <p:sp>
        <p:nvSpPr>
          <p:cNvPr id="24" name="Text 22"/>
          <p:cNvSpPr txBox="1"/>
          <p:nvPr/>
        </p:nvSpPr>
        <p:spPr>
          <a:xfrm>
            <a:off x="548640" y="5623560"/>
            <a:ext cx="6309360" cy="640080"/>
          </a:xfrm>
          <a:prstGeom prst="rect">
            <a:avLst/>
          </a:prstGeom>
          <a:noFill/>
          <a:ln/>
        </p:spPr>
        <p:txBody>
          <a:bodyPr wrap="square" lIns="0" tIns="0" rIns="0" bIns="0" rtlCol="0" anchor="t"/>
          <a:lstStyle/>
          <a:p>
            <a:pPr indent="0" marL="0">
              <a:buNone/>
            </a:pPr>
            <a:r>
              <a:rPr lang="tr-TR" sz="1300" i="1" dirty="0">
                <a:solidFill>
                  <a:srgbClr val="50808E"/>
                </a:solidFill>
                <a:latin typeface="Calibri" pitchFamily="34" charset="0"/>
                <a:ea typeface="Calibri" pitchFamily="34" charset="-122"/>
                <a:cs typeface="Calibri" pitchFamily="34" charset="-120"/>
              </a:rPr>
              <a:t>Yeni bir süreç Kuyruk 0'a girer. Kısa, etkileşimli işler orada biter; uzun, CPU ağırlıklı işler dibe çöker.</a:t>
            </a:r>
            <a:endParaRPr lang="tr-TR" sz="1300" dirty="0"/>
          </a:p>
        </p:txBody>
      </p:sp>
      <p:sp>
        <p:nvSpPr>
          <p:cNvPr id="25" name="Shape 23"/>
          <p:cNvSpPr/>
          <p:nvPr/>
        </p:nvSpPr>
        <p:spPr>
          <a:xfrm>
            <a:off x="7132320" y="2103120"/>
            <a:ext cx="45262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7360920" y="2286000"/>
            <a:ext cx="4069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İki türü</a:t>
            </a:r>
            <a:endParaRPr lang="tr-TR" sz="1500" dirty="0"/>
          </a:p>
        </p:txBody>
      </p:sp>
      <p:sp>
        <p:nvSpPr>
          <p:cNvPr id="27" name="Text 25"/>
          <p:cNvSpPr txBox="1"/>
          <p:nvPr/>
        </p:nvSpPr>
        <p:spPr>
          <a:xfrm>
            <a:off x="7360920" y="2743200"/>
            <a:ext cx="4069080" cy="338328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Çok düzeyli kuyruk:</a:t>
            </a:r>
            <a:r>
              <a:rPr lang="tr-TR" sz="1400" dirty="0">
                <a:solidFill>
                  <a:srgbClr val="3A464C"/>
                </a:solidFill>
                <a:latin typeface="Calibri" pitchFamily="34" charset="0"/>
                <a:ea typeface="Calibri" pitchFamily="34" charset="-122"/>
                <a:cs typeface="Calibri" pitchFamily="34" charset="-120"/>
              </a:rPr>
              <a:t> süreç kalıcı olarak tek bir kuyruğa atanır (ör. ön plan = RR, arka plan = FCFS).</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Çok düzeyli geri beslemeli kuyruk (MLFQ):</a:t>
            </a:r>
            <a:r>
              <a:rPr lang="tr-TR" sz="1400" dirty="0">
                <a:solidFill>
                  <a:srgbClr val="3A464C"/>
                </a:solidFill>
                <a:latin typeface="Calibri" pitchFamily="34" charset="0"/>
                <a:ea typeface="Calibri" pitchFamily="34" charset="-122"/>
                <a:cs typeface="Calibri" pitchFamily="34" charset="-120"/>
              </a:rPr>
              <a:t> süreçler davranışlarına göre kuyruklar arasında yer değiştirir; çok uzun bekleyen yukarı çıkar (yaşlandırma).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En genel çözüm, ama ayarlaması en zor olanı.</a:t>
            </a:r>
            <a:endParaRPr lang="tr-TR"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GENEL BAKIŞ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Linux Gerçekte Ne Yapıyor?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Linux sabit bir zaman dilimi kullanmaz. Çalışmaya hazır her göreve işlemciden adil bir pay vermeye çalışır.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19</a:t>
            </a:r>
            <a:endParaRPr lang="tr-TR" sz="900" dirty="0"/>
          </a:p>
        </p:txBody>
      </p:sp>
      <p:sp>
        <p:nvSpPr>
          <p:cNvPr id="7" name="Shape 5"/>
          <p:cNvSpPr/>
          <p:nvPr/>
        </p:nvSpPr>
        <p:spPr>
          <a:xfrm>
            <a:off x="548640" y="2103120"/>
            <a:ext cx="576072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53035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Adil zamanlama</a:t>
            </a:r>
            <a:endParaRPr lang="tr-TR" sz="1500" dirty="0"/>
          </a:p>
        </p:txBody>
      </p:sp>
      <p:sp>
        <p:nvSpPr>
          <p:cNvPr id="9" name="Text 7"/>
          <p:cNvSpPr txBox="1"/>
          <p:nvPr/>
        </p:nvSpPr>
        <p:spPr>
          <a:xfrm>
            <a:off x="777240" y="2743200"/>
            <a:ext cx="5303520" cy="338328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CFS</a:t>
            </a:r>
            <a:r>
              <a:rPr lang="tr-TR" sz="1400" dirty="0">
                <a:solidFill>
                  <a:srgbClr val="3A464C"/>
                </a:solidFill>
                <a:latin typeface="Calibri" pitchFamily="34" charset="0"/>
                <a:ea typeface="Calibri" pitchFamily="34" charset="-122"/>
                <a:cs typeface="Calibri" pitchFamily="34" charset="-120"/>
              </a:rPr>
              <a:t> (Completely Fair Scheduler, 2007–2023): şimdiye kadar en az ağırlıklı işlemci zamanı almış görevi çalıştır.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EEVDF</a:t>
            </a:r>
            <a:r>
              <a:rPr lang="tr-TR" sz="1400" dirty="0">
                <a:solidFill>
                  <a:srgbClr val="3A464C"/>
                </a:solidFill>
                <a:latin typeface="Calibri" pitchFamily="34" charset="0"/>
                <a:ea typeface="Calibri" pitchFamily="34" charset="-122"/>
                <a:cs typeface="Calibri" pitchFamily="34" charset="-120"/>
              </a:rPr>
              <a:t> (çekirdek 6.6'dan beri, 2023): aynı adalet hedefi, artı gecikmeye duyarlı görevler daha erken çalışsın diye sanal son tarihler.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nice değerleri</a:t>
            </a:r>
            <a:r>
              <a:rPr lang="tr-TR" sz="1400" dirty="0">
                <a:solidFill>
                  <a:srgbClr val="3A464C"/>
                </a:solidFill>
                <a:latin typeface="Calibri" pitchFamily="34" charset="0"/>
                <a:ea typeface="Calibri" pitchFamily="34" charset="-122"/>
                <a:cs typeface="Calibri" pitchFamily="34" charset="-120"/>
              </a:rPr>
              <a:t> −20 (en çok işlemci) … +19 (en az). Her adım ağırlığı yaklaşık 1,25 kat değiştirir.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Gerçek zamanlı sınıflar</a:t>
            </a:r>
            <a:r>
              <a:rPr lang="tr-TR" sz="1400" dirty="0">
                <a:solidFill>
                  <a:srgbClr val="3A464C"/>
                </a:solidFill>
                <a:latin typeface="Calibri" pitchFamily="34" charset="0"/>
                <a:ea typeface="Calibri" pitchFamily="34" charset="-122"/>
                <a:cs typeface="Calibri" pitchFamily="34" charset="-120"/>
              </a:rPr>
              <a:t> SCHED_FIFO ve SCHED_RR her zaman normal görevlerden önce çalışır.</a:t>
            </a:r>
            <a:endParaRPr lang="tr-TR" sz="1400" dirty="0"/>
          </a:p>
        </p:txBody>
      </p:sp>
      <p:sp>
        <p:nvSpPr>
          <p:cNvPr id="10" name="Shape 8"/>
          <p:cNvSpPr/>
          <p:nvPr/>
        </p:nvSpPr>
        <p:spPr>
          <a:xfrm>
            <a:off x="6583680" y="2103120"/>
            <a:ext cx="5074920" cy="2423160"/>
          </a:xfrm>
          <a:prstGeom prst="roundRect">
            <a:avLst>
              <a:gd name="adj" fmla="val 1887"/>
            </a:avLst>
          </a:prstGeom>
          <a:solidFill>
            <a:srgbClr val="212121"/>
          </a:solidFill>
          <a:ln/>
        </p:spPr>
      </p:sp>
      <p:sp>
        <p:nvSpPr>
          <p:cNvPr id="11" name="Text 9"/>
          <p:cNvSpPr txBox="1"/>
          <p:nvPr/>
        </p:nvSpPr>
        <p:spPr>
          <a:xfrm>
            <a:off x="6766560" y="2212848"/>
            <a:ext cx="4709160" cy="2203704"/>
          </a:xfrm>
          <a:prstGeom prst="rect">
            <a:avLst/>
          </a:prstGeom>
          <a:noFill/>
          <a:ln/>
        </p:spPr>
        <p:txBody>
          <a:bodyPr wrap="square" lIns="0" tIns="0" rIns="0" bIns="0" rtlCol="0" anchor="t"/>
          <a:lstStyle/>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taskset -c 1 ./cpu_hog &amp;</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taskset -c 1 nice -n 10 ./cpu_hog &amp;</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sleep 10</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ps -o pid,ni,cls,pcpu,comm -C cpu_hog</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PID  NI CLS %CPU COMMAND</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7150   0  TS 88.0 cpu_hog</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7151  10  TS  9.4 cpu_hog</a:t>
            </a:r>
            <a:endParaRPr lang="tr-TR" sz="1200" dirty="0"/>
          </a:p>
        </p:txBody>
      </p:sp>
      <p:sp>
        <p:nvSpPr>
          <p:cNvPr id="12" name="Shape 10"/>
          <p:cNvSpPr/>
          <p:nvPr/>
        </p:nvSpPr>
        <p:spPr>
          <a:xfrm>
            <a:off x="6583680" y="4754880"/>
            <a:ext cx="507492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812280" y="4754880"/>
            <a:ext cx="4617720" cy="150876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TEK işlemcide iki sonsuz döngü. Ağırlıklar 1024 (nice 0) ve 110 (nice 10): beklenen %90,3 : %9,7. 6.18 çekirdeğimizde ölçülen: %88,0 : %9,4.</a:t>
            </a:r>
            <a:endParaRPr lang="tr-TR"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 BÖLÜMÜN ÖZETİ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Aynı İşler, Yedi Plan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20</a:t>
            </a:r>
            <a:endParaRPr lang="tr-TR"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920240"/>
                <a:gridCol w="1691640"/>
                <a:gridCol w="2103120"/>
                <a:gridCol w="2011680"/>
                <a:gridCol w="1965960"/>
                <a:gridCol w="1417320"/>
              </a:tblGrid>
              <a:tr h="0">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Algoritma</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Kesintili mi?</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Ort. bekleme (ms)</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Ort. dönüş (ms)</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Ort. yanıt (ms)</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Geçiş</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FCFS</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hayır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4,75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8,75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4,75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3</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SJF</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hayır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8</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3</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SRTF</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evet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3</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7</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0,5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Öncelik (KS)</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hayır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5,5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9,5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5,5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3</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Öncelik (K)</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evet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9</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3</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RR, q = 4</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evet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4,5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8,5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3,25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4</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RR, q = 2</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evet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9</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1,5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8</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SRTF burada her sütunu kazanır — ama geleceği bilmesi gerekir. RR hiçbir bilgi istemez ve her beklemeyi (n − 1) · q ile sınırlar. FCFS en basitidir. Öncelik ortalamalara değil, öneme hizmet eder. (KS = kesintisiz, K = kesintili)</a:t>
            </a:r>
            <a:endParaRPr lang="tr-TR"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Ara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iki iş parçacığı tek bir değişkeni paylaştığında neyin ters gittiği.</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5  ·  21</a:t>
            </a:r>
            <a:endParaRPr lang="tr-TR"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Süreç Eşzamanlaması</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Zamanlayıcı iş parçacıklarını herhangi bir komutta değiştirebilir. Ya veri paylaşıyorlarsa?</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5  ·  22</a:t>
            </a:r>
            <a:endParaRPr lang="tr-TR"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SORUN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counter++ Tek Bir Adım Değildir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Tek satır C kodu üç makine komutuna dönüşür. Bu, race.c için gcc -O2 -S komutunun gerçek çıktısıdır (x86-64).</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23</a:t>
            </a:r>
            <a:endParaRPr lang="tr-TR" sz="900" dirty="0"/>
          </a:p>
        </p:txBody>
      </p:sp>
      <p:sp>
        <p:nvSpPr>
          <p:cNvPr id="7" name="Shape 5"/>
          <p:cNvSpPr/>
          <p:nvPr/>
        </p:nvSpPr>
        <p:spPr>
          <a:xfrm>
            <a:off x="548640" y="2103120"/>
            <a:ext cx="5760720" cy="1828800"/>
          </a:xfrm>
          <a:prstGeom prst="roundRect">
            <a:avLst>
              <a:gd name="adj" fmla="val 2500"/>
            </a:avLst>
          </a:prstGeom>
          <a:solidFill>
            <a:srgbClr val="212121"/>
          </a:solidFill>
          <a:ln/>
        </p:spPr>
      </p:sp>
      <p:sp>
        <p:nvSpPr>
          <p:cNvPr id="8" name="Text 6"/>
          <p:cNvSpPr txBox="1"/>
          <p:nvPr/>
        </p:nvSpPr>
        <p:spPr>
          <a:xfrm>
            <a:off x="731520" y="2212848"/>
            <a:ext cx="5394960" cy="160934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counter++;          // C kaynak kodu</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movq  counter(%rip), %rax   # 1. OKU (LOAD)</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addq  $1, %rax              # 2. 1 EKLE (ADD)</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movq  %rax, counter(%rip)   # 3. YAZ (STORE)</a:t>
            </a:r>
            <a:endParaRPr lang="tr-TR" sz="1300" dirty="0"/>
          </a:p>
        </p:txBody>
      </p:sp>
      <p:sp>
        <p:nvSpPr>
          <p:cNvPr id="9" name="Shape 7"/>
          <p:cNvSpPr/>
          <p:nvPr/>
        </p:nvSpPr>
        <p:spPr>
          <a:xfrm>
            <a:off x="548640" y="4160520"/>
            <a:ext cx="5760720" cy="2103120"/>
          </a:xfrm>
          <a:prstGeom prst="roundRect">
            <a:avLst>
              <a:gd name="adj" fmla="val 2609"/>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77240" y="4343400"/>
            <a:ext cx="53035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Her iş parçacığının kendi yazmaçları vardır</a:t>
            </a:r>
            <a:endParaRPr lang="tr-TR" sz="1500" dirty="0"/>
          </a:p>
        </p:txBody>
      </p:sp>
      <p:sp>
        <p:nvSpPr>
          <p:cNvPr id="11" name="Text 9"/>
          <p:cNvSpPr txBox="1"/>
          <p:nvPr/>
        </p:nvSpPr>
        <p:spPr>
          <a:xfrm>
            <a:off x="777240" y="4800600"/>
            <a:ext cx="5303520" cy="13258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counter ortak bellekte durur; %rax her iş parçacığına özeldir (geçişte iş parçacığı denetim bloğuna kaydedilir).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geçiş — ya da başka bir işlemci — üç adımın herhangi ikisi arasına girebilir.</a:t>
            </a:r>
            <a:endParaRPr lang="tr-TR" sz="1400" dirty="0"/>
          </a:p>
        </p:txBody>
      </p:sp>
      <p:sp>
        <p:nvSpPr>
          <p:cNvPr id="12" name="Shape 10"/>
          <p:cNvSpPr/>
          <p:nvPr/>
        </p:nvSpPr>
        <p:spPr>
          <a:xfrm>
            <a:off x="7863840" y="2103120"/>
            <a:ext cx="2468880" cy="822960"/>
          </a:xfrm>
          <a:prstGeom prst="roundRect">
            <a:avLst>
              <a:gd name="adj" fmla="val 5556"/>
            </a:avLst>
          </a:prstGeom>
          <a:solidFill>
            <a:srgbClr val="02C39A"/>
          </a:solidFill>
          <a:ln/>
        </p:spPr>
      </p:sp>
      <p:sp>
        <p:nvSpPr>
          <p:cNvPr id="13" name="Text 11"/>
          <p:cNvSpPr txBox="1"/>
          <p:nvPr/>
        </p:nvSpPr>
        <p:spPr>
          <a:xfrm>
            <a:off x="7863840" y="2103120"/>
            <a:ext cx="2468880" cy="82296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counter</a:t>
            </a:r>
            <a:endParaRPr lang="tr-TR" sz="1600" dirty="0"/>
          </a:p>
          <a:p>
            <a:pPr algn="ctr" indent="0" marL="0">
              <a:buNone/>
            </a:pPr>
            <a:r>
              <a:rPr lang="tr-TR" sz="1100" dirty="0">
                <a:solidFill>
                  <a:srgbClr val="212121"/>
                </a:solidFill>
                <a:latin typeface="Calibri" pitchFamily="34" charset="0"/>
                <a:ea typeface="Calibri" pitchFamily="34" charset="-122"/>
                <a:cs typeface="Calibri" pitchFamily="34" charset="-120"/>
              </a:rPr>
              <a:t>ortak bellek</a:t>
            </a:r>
            <a:endParaRPr lang="tr-TR" sz="1600" dirty="0"/>
          </a:p>
        </p:txBody>
      </p:sp>
      <p:sp>
        <p:nvSpPr>
          <p:cNvPr id="14" name="Shape 12"/>
          <p:cNvSpPr/>
          <p:nvPr/>
        </p:nvSpPr>
        <p:spPr>
          <a:xfrm>
            <a:off x="6583680" y="4206240"/>
            <a:ext cx="2103120" cy="822960"/>
          </a:xfrm>
          <a:prstGeom prst="roundRect">
            <a:avLst>
              <a:gd name="adj" fmla="val 5556"/>
            </a:avLst>
          </a:prstGeom>
          <a:solidFill>
            <a:srgbClr val="36454F"/>
          </a:solidFill>
          <a:ln/>
        </p:spPr>
      </p:sp>
      <p:sp>
        <p:nvSpPr>
          <p:cNvPr id="15" name="Text 13"/>
          <p:cNvSpPr txBox="1"/>
          <p:nvPr/>
        </p:nvSpPr>
        <p:spPr>
          <a:xfrm>
            <a:off x="6583680" y="4206240"/>
            <a:ext cx="2103120" cy="82296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İş parçacığı A</a:t>
            </a:r>
            <a:endParaRPr lang="tr-TR" sz="1500" dirty="0"/>
          </a:p>
          <a:p>
            <a:pPr algn="ctr" indent="0" marL="0">
              <a:buNone/>
            </a:pPr>
            <a:r>
              <a:rPr lang="tr-TR" sz="1100" dirty="0">
                <a:solidFill>
                  <a:srgbClr val="FFFFFF"/>
                </a:solidFill>
                <a:latin typeface="Calibri" pitchFamily="34" charset="0"/>
                <a:ea typeface="Calibri" pitchFamily="34" charset="-122"/>
                <a:cs typeface="Calibri" pitchFamily="34" charset="-120"/>
              </a:rPr>
              <a:t>%rax yazmacı</a:t>
            </a:r>
            <a:endParaRPr lang="tr-TR" sz="1500" dirty="0"/>
          </a:p>
        </p:txBody>
      </p:sp>
      <p:sp>
        <p:nvSpPr>
          <p:cNvPr id="16" name="Shape 14"/>
          <p:cNvSpPr/>
          <p:nvPr/>
        </p:nvSpPr>
        <p:spPr>
          <a:xfrm>
            <a:off x="9555480" y="4206240"/>
            <a:ext cx="2103120" cy="822960"/>
          </a:xfrm>
          <a:prstGeom prst="roundRect">
            <a:avLst>
              <a:gd name="adj" fmla="val 5556"/>
            </a:avLst>
          </a:prstGeom>
          <a:solidFill>
            <a:srgbClr val="50808E"/>
          </a:solidFill>
          <a:ln/>
        </p:spPr>
      </p:sp>
      <p:sp>
        <p:nvSpPr>
          <p:cNvPr id="17" name="Text 15"/>
          <p:cNvSpPr txBox="1"/>
          <p:nvPr/>
        </p:nvSpPr>
        <p:spPr>
          <a:xfrm>
            <a:off x="9555480" y="4206240"/>
            <a:ext cx="2103120" cy="82296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İş parçacığı B</a:t>
            </a:r>
            <a:endParaRPr lang="tr-TR" sz="1500" dirty="0"/>
          </a:p>
          <a:p>
            <a:pPr algn="ctr" indent="0" marL="0">
              <a:buNone/>
            </a:pPr>
            <a:r>
              <a:rPr lang="tr-TR" sz="1100" dirty="0">
                <a:solidFill>
                  <a:srgbClr val="FFFFFF"/>
                </a:solidFill>
                <a:latin typeface="Calibri" pitchFamily="34" charset="0"/>
                <a:ea typeface="Calibri" pitchFamily="34" charset="-122"/>
                <a:cs typeface="Calibri" pitchFamily="34" charset="-120"/>
              </a:rPr>
              <a:t>%rax yazmacı</a:t>
            </a:r>
            <a:endParaRPr lang="tr-TR" sz="1500" dirty="0"/>
          </a:p>
        </p:txBody>
      </p:sp>
      <p:sp>
        <p:nvSpPr>
          <p:cNvPr id="18" name="Shape 16"/>
          <p:cNvSpPr/>
          <p:nvPr/>
        </p:nvSpPr>
        <p:spPr>
          <a:xfrm flipV="1">
            <a:off x="7635240" y="2953512"/>
            <a:ext cx="777240" cy="1234440"/>
          </a:xfrm>
          <a:prstGeom prst="line">
            <a:avLst/>
          </a:prstGeom>
          <a:noFill/>
          <a:ln w="25400">
            <a:solidFill>
              <a:srgbClr val="50808E"/>
            </a:solidFill>
            <a:prstDash val="solid"/>
            <a:headEnd type="triangle"/>
            <a:tailEnd type="triangle"/>
          </a:ln>
        </p:spPr>
      </p:sp>
      <p:sp>
        <p:nvSpPr>
          <p:cNvPr id="19" name="Shape 17"/>
          <p:cNvSpPr/>
          <p:nvPr/>
        </p:nvSpPr>
        <p:spPr>
          <a:xfrm flipH="1" flipV="1">
            <a:off x="9784080" y="2953512"/>
            <a:ext cx="822960" cy="1234440"/>
          </a:xfrm>
          <a:prstGeom prst="line">
            <a:avLst/>
          </a:prstGeom>
          <a:noFill/>
          <a:ln w="25400">
            <a:solidFill>
              <a:srgbClr val="50808E"/>
            </a:solidFill>
            <a:prstDash val="solid"/>
            <a:headEnd type="triangle"/>
            <a:tailEnd type="triangle"/>
          </a:ln>
        </p:spPr>
      </p:sp>
      <p:sp>
        <p:nvSpPr>
          <p:cNvPr id="20" name="Text 18"/>
          <p:cNvSpPr txBox="1"/>
          <p:nvPr/>
        </p:nvSpPr>
        <p:spPr>
          <a:xfrm>
            <a:off x="6583680" y="3337560"/>
            <a:ext cx="1280160" cy="320040"/>
          </a:xfrm>
          <a:prstGeom prst="rect">
            <a:avLst/>
          </a:prstGeom>
          <a:noFill/>
          <a:ln/>
        </p:spPr>
        <p:txBody>
          <a:bodyPr wrap="square" lIns="0" tIns="0" rIns="0" bIns="0" rtlCol="0" anchor="t"/>
          <a:lstStyle/>
          <a:p>
            <a:pPr indent="0" marL="0">
              <a:buNone/>
            </a:pPr>
            <a:r>
              <a:rPr lang="tr-TR" sz="1200" i="1" dirty="0">
                <a:solidFill>
                  <a:srgbClr val="50808E"/>
                </a:solidFill>
                <a:latin typeface="Calibri" pitchFamily="34" charset="0"/>
                <a:ea typeface="Calibri" pitchFamily="34" charset="-122"/>
                <a:cs typeface="Calibri" pitchFamily="34" charset="-120"/>
              </a:rPr>
              <a:t>oku / yaz</a:t>
            </a:r>
            <a:endParaRPr lang="tr-TR" sz="1200" dirty="0"/>
          </a:p>
        </p:txBody>
      </p:sp>
      <p:sp>
        <p:nvSpPr>
          <p:cNvPr id="21" name="Text 19"/>
          <p:cNvSpPr txBox="1"/>
          <p:nvPr/>
        </p:nvSpPr>
        <p:spPr>
          <a:xfrm>
            <a:off x="10378440" y="3337560"/>
            <a:ext cx="1280160" cy="320040"/>
          </a:xfrm>
          <a:prstGeom prst="rect">
            <a:avLst/>
          </a:prstGeom>
          <a:noFill/>
          <a:ln/>
        </p:spPr>
        <p:txBody>
          <a:bodyPr wrap="square" lIns="0" tIns="0" rIns="0" bIns="0" rtlCol="0" anchor="t"/>
          <a:lstStyle/>
          <a:p>
            <a:pPr algn="r" indent="0" marL="0">
              <a:buNone/>
            </a:pPr>
            <a:r>
              <a:rPr lang="tr-TR" sz="1200" i="1" dirty="0">
                <a:solidFill>
                  <a:srgbClr val="50808E"/>
                </a:solidFill>
                <a:latin typeface="Calibri" pitchFamily="34" charset="0"/>
                <a:ea typeface="Calibri" pitchFamily="34" charset="-122"/>
                <a:cs typeface="Calibri" pitchFamily="34" charset="-120"/>
              </a:rPr>
              <a:t>oku / yaz</a:t>
            </a:r>
            <a:endParaRPr lang="tr-TR" sz="1200" dirty="0"/>
          </a:p>
        </p:txBody>
      </p:sp>
      <p:sp>
        <p:nvSpPr>
          <p:cNvPr id="22" name="Shape 20"/>
          <p:cNvSpPr/>
          <p:nvPr/>
        </p:nvSpPr>
        <p:spPr>
          <a:xfrm>
            <a:off x="6583680" y="5349240"/>
            <a:ext cx="5074920" cy="914400"/>
          </a:xfrm>
          <a:prstGeom prst="roundRect">
            <a:avLst>
              <a:gd name="adj" fmla="val 6000"/>
            </a:avLst>
          </a:prstGeom>
          <a:solidFill>
            <a:srgbClr val="36454F"/>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6812280" y="5349240"/>
            <a:ext cx="4617720" cy="91440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İki iş parçacığı, tek değişken, pek çok farklı sırayla iç içe geçebilen altı komut.</a:t>
            </a:r>
            <a:endParaRPr lang="tr-T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KAYIP BİR GÜNCELLEME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Şanssız Bir İç İçe Geçme</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counter 5 ile başlıyor. A ve B iş parçacıkları counter++ işlemini birer kez yürütüyor. Doğru sonuç: 7.</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24</a:t>
            </a:r>
            <a:endParaRPr lang="tr-TR"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109960" cy="914400"/>
        </p:xfrm>
        <a:graphic>
          <a:graphicData uri="http://schemas.openxmlformats.org/drawingml/2006/table">
            <a:tbl>
              <a:tblPr/>
              <a:tblGrid>
                <a:gridCol w="868680"/>
                <a:gridCol w="2331720"/>
                <a:gridCol w="2331720"/>
                <a:gridCol w="1645920"/>
                <a:gridCol w="1645920"/>
                <a:gridCol w="2286000"/>
              </a:tblGrid>
              <a:tr h="0">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Adım</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İş parçacığı A</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İş parçacığı B</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A'nın %rax'ı</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B'nin %rax'ı</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counter (bellek)</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1</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counter'ı oku</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2</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counter'ı oku</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3</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1 ekle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4</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1 ekle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yaz</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yaz</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  ✗ (7 olmalıydı)</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9"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B'nin yazması A'nınkinin üstüne yazar: bir artırma kaybolur. İki işlemcide 10 milyon kez çalıştırın, milyonlarcası kaybolur — birazdan canlı göreceğiz.</a:t>
            </a:r>
            <a:endParaRPr lang="tr-TR"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TANIM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Yarış Durumu (Race Condition)</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Birden çok iş parçacığı aynı veriye eşzamanlı erişir, en az biri yazar ve sonuç yürütmenin tam sırasına bağlıdır.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25</a:t>
            </a:r>
            <a:endParaRPr lang="tr-TR"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Banka hesabı</a:t>
            </a:r>
            <a:endParaRPr lang="tr-TR"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İki ATM aynı anda aynı hesaptan para çeker; ikisi de eski bakiyeyi okur ve bir çekim kaybolur.</a:t>
            </a:r>
            <a:endParaRPr lang="tr-TR" sz="160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Uçaktaki son koltuk</a:t>
            </a:r>
            <a:endParaRPr lang="tr-TR"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İki rezervasyon sunucusu da '1 koltuk kaldı' görür ve ikisi de onu satar.</a:t>
            </a:r>
            <a:endParaRPr lang="tr-TR" sz="160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Çekirdeğin içinde</a:t>
            </a:r>
            <a:endParaRPr lang="tr-TR"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İki süreç aynı anda fork() çağırır; önlem alınmazsa ikisi de aynı yeni süreç kimliğini alabilir.</a:t>
            </a:r>
            <a:endParaRPr lang="tr-TR" sz="160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Yarış durumları zamanlama hatalarıdır: program bin testi geçip bir sonraki çalıştırmada çökebilir. Test ederek değil, tasarımla önleyin.</a:t>
            </a:r>
            <a:endParaRPr lang="tr-TR"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KRİTİK BÖLGE PROBLEMİ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Kritik Bölgeler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Kritik bölge (critical section), bir iş parçacığının ortak veriye eriştiği koddur. İş parçacıkları onu asla aynı anda yürütmesin diye bir protokol tasarlayın.</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26</a:t>
            </a:r>
            <a:endParaRPr lang="tr-TR" sz="900" dirty="0"/>
          </a:p>
        </p:txBody>
      </p:sp>
      <p:sp>
        <p:nvSpPr>
          <p:cNvPr id="7" name="Shape 5"/>
          <p:cNvSpPr/>
          <p:nvPr/>
        </p:nvSpPr>
        <p:spPr>
          <a:xfrm>
            <a:off x="1097280" y="2148840"/>
            <a:ext cx="4754880" cy="777240"/>
          </a:xfrm>
          <a:prstGeom prst="roundRect">
            <a:avLst>
              <a:gd name="adj" fmla="val 5882"/>
            </a:avLst>
          </a:prstGeom>
          <a:solidFill>
            <a:srgbClr val="02C39A"/>
          </a:solidFill>
          <a:ln/>
        </p:spPr>
      </p:sp>
      <p:sp>
        <p:nvSpPr>
          <p:cNvPr id="8" name="Text 6"/>
          <p:cNvSpPr txBox="1"/>
          <p:nvPr/>
        </p:nvSpPr>
        <p:spPr>
          <a:xfrm>
            <a:off x="1097280" y="2148840"/>
            <a:ext cx="4754880" cy="77724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giriş bölümü</a:t>
            </a:r>
            <a:endParaRPr lang="tr-TR" sz="1600" dirty="0"/>
          </a:p>
          <a:p>
            <a:pPr algn="ctr" indent="0" marL="0">
              <a:buNone/>
            </a:pPr>
            <a:r>
              <a:rPr lang="tr-TR" sz="1100" dirty="0">
                <a:solidFill>
                  <a:srgbClr val="212121"/>
                </a:solidFill>
                <a:latin typeface="Calibri" pitchFamily="34" charset="0"/>
                <a:ea typeface="Calibri" pitchFamily="34" charset="-122"/>
                <a:cs typeface="Calibri" pitchFamily="34" charset="-120"/>
              </a:rPr>
              <a:t>izin iste</a:t>
            </a:r>
            <a:endParaRPr lang="tr-TR" sz="1600" dirty="0"/>
          </a:p>
        </p:txBody>
      </p:sp>
      <p:sp>
        <p:nvSpPr>
          <p:cNvPr id="9" name="Shape 7"/>
          <p:cNvSpPr/>
          <p:nvPr/>
        </p:nvSpPr>
        <p:spPr>
          <a:xfrm>
            <a:off x="1097280" y="3136392"/>
            <a:ext cx="4754880" cy="777240"/>
          </a:xfrm>
          <a:prstGeom prst="roundRect">
            <a:avLst>
              <a:gd name="adj" fmla="val 5882"/>
            </a:avLst>
          </a:prstGeom>
          <a:solidFill>
            <a:srgbClr val="36454F"/>
          </a:solidFill>
          <a:ln/>
        </p:spPr>
      </p:sp>
      <p:sp>
        <p:nvSpPr>
          <p:cNvPr id="10" name="Text 8"/>
          <p:cNvSpPr txBox="1"/>
          <p:nvPr/>
        </p:nvSpPr>
        <p:spPr>
          <a:xfrm>
            <a:off x="1097280" y="3136392"/>
            <a:ext cx="4754880" cy="77724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alibri" pitchFamily="34" charset="0"/>
                <a:ea typeface="Calibri" pitchFamily="34" charset="-122"/>
                <a:cs typeface="Calibri" pitchFamily="34" charset="-120"/>
              </a:rPr>
              <a:t>kritik bölge</a:t>
            </a:r>
            <a:endParaRPr lang="tr-TR" sz="1600" dirty="0"/>
          </a:p>
          <a:p>
            <a:pPr algn="ctr" indent="0" marL="0">
              <a:buNone/>
            </a:pPr>
            <a:r>
              <a:rPr lang="tr-TR" sz="1100" dirty="0">
                <a:solidFill>
                  <a:srgbClr val="FFFFFF"/>
                </a:solidFill>
                <a:latin typeface="Calibri" pitchFamily="34" charset="0"/>
                <a:ea typeface="Calibri" pitchFamily="34" charset="-122"/>
                <a:cs typeface="Calibri" pitchFamily="34" charset="-120"/>
              </a:rPr>
              <a:t>ortak veriye dokun</a:t>
            </a:r>
            <a:endParaRPr lang="tr-TR" sz="1600" dirty="0"/>
          </a:p>
        </p:txBody>
      </p:sp>
      <p:sp>
        <p:nvSpPr>
          <p:cNvPr id="11" name="Shape 9"/>
          <p:cNvSpPr/>
          <p:nvPr/>
        </p:nvSpPr>
        <p:spPr>
          <a:xfrm>
            <a:off x="1097280" y="4123944"/>
            <a:ext cx="4754880" cy="777240"/>
          </a:xfrm>
          <a:prstGeom prst="roundRect">
            <a:avLst>
              <a:gd name="adj" fmla="val 5882"/>
            </a:avLst>
          </a:prstGeom>
          <a:solidFill>
            <a:srgbClr val="02C39A"/>
          </a:solidFill>
          <a:ln/>
        </p:spPr>
      </p:sp>
      <p:sp>
        <p:nvSpPr>
          <p:cNvPr id="12" name="Text 10"/>
          <p:cNvSpPr txBox="1"/>
          <p:nvPr/>
        </p:nvSpPr>
        <p:spPr>
          <a:xfrm>
            <a:off x="1097280" y="4123944"/>
            <a:ext cx="4754880" cy="77724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çıkış bölümü</a:t>
            </a:r>
            <a:endParaRPr lang="tr-TR" sz="1600" dirty="0"/>
          </a:p>
          <a:p>
            <a:pPr algn="ctr" indent="0" marL="0">
              <a:buNone/>
            </a:pPr>
            <a:r>
              <a:rPr lang="tr-TR" sz="1100" dirty="0">
                <a:solidFill>
                  <a:srgbClr val="212121"/>
                </a:solidFill>
                <a:latin typeface="Calibri" pitchFamily="34" charset="0"/>
                <a:ea typeface="Calibri" pitchFamily="34" charset="-122"/>
                <a:cs typeface="Calibri" pitchFamily="34" charset="-120"/>
              </a:rPr>
              <a:t>duyur: işim bitti</a:t>
            </a:r>
            <a:endParaRPr lang="tr-TR" sz="1600" dirty="0"/>
          </a:p>
        </p:txBody>
      </p:sp>
      <p:sp>
        <p:nvSpPr>
          <p:cNvPr id="13" name="Shape 11"/>
          <p:cNvSpPr/>
          <p:nvPr/>
        </p:nvSpPr>
        <p:spPr>
          <a:xfrm>
            <a:off x="1097280" y="5111496"/>
            <a:ext cx="4754880" cy="777240"/>
          </a:xfrm>
          <a:prstGeom prst="roundRect">
            <a:avLst>
              <a:gd name="adj" fmla="val 5882"/>
            </a:avLst>
          </a:prstGeom>
          <a:solidFill>
            <a:srgbClr val="F2F2F2"/>
          </a:solidFill>
          <a:ln/>
        </p:spPr>
      </p:sp>
      <p:sp>
        <p:nvSpPr>
          <p:cNvPr id="14" name="Text 12"/>
          <p:cNvSpPr txBox="1"/>
          <p:nvPr/>
        </p:nvSpPr>
        <p:spPr>
          <a:xfrm>
            <a:off x="1097280" y="5111496"/>
            <a:ext cx="4754880" cy="777240"/>
          </a:xfrm>
          <a:prstGeom prst="rect">
            <a:avLst/>
          </a:prstGeom>
          <a:noFill/>
          <a:ln/>
        </p:spPr>
        <p:txBody>
          <a:bodyPr wrap="square" lIns="38100" tIns="38100" rIns="38100" bIns="38100" rtlCol="0" anchor="ctr"/>
          <a:lstStyle/>
          <a:p>
            <a:pPr algn="ctr" indent="0" marL="0">
              <a:buNone/>
            </a:pPr>
            <a:r>
              <a:rPr lang="tr-TR" sz="1600" b="1" dirty="0">
                <a:solidFill>
                  <a:srgbClr val="36454F"/>
                </a:solidFill>
                <a:latin typeface="Calibri" pitchFamily="34" charset="0"/>
                <a:ea typeface="Calibri" pitchFamily="34" charset="-122"/>
                <a:cs typeface="Calibri" pitchFamily="34" charset="-120"/>
              </a:rPr>
              <a:t>kalan bölüm</a:t>
            </a:r>
            <a:endParaRPr lang="tr-TR" sz="1600" dirty="0"/>
          </a:p>
          <a:p>
            <a:pPr algn="ctr" indent="0" marL="0">
              <a:buNone/>
            </a:pPr>
            <a:r>
              <a:rPr lang="tr-TR" sz="1100" dirty="0">
                <a:solidFill>
                  <a:srgbClr val="36454F"/>
                </a:solidFill>
                <a:latin typeface="Calibri" pitchFamily="34" charset="0"/>
                <a:ea typeface="Calibri" pitchFamily="34" charset="-122"/>
                <a:cs typeface="Calibri" pitchFamily="34" charset="-120"/>
              </a:rPr>
              <a:t>geri kalan her şey</a:t>
            </a:r>
            <a:endParaRPr lang="tr-TR" sz="1600" dirty="0"/>
          </a:p>
        </p:txBody>
      </p:sp>
      <p:sp>
        <p:nvSpPr>
          <p:cNvPr id="15" name="Shape 13"/>
          <p:cNvSpPr/>
          <p:nvPr/>
        </p:nvSpPr>
        <p:spPr>
          <a:xfrm>
            <a:off x="777240" y="2532888"/>
            <a:ext cx="0" cy="2962656"/>
          </a:xfrm>
          <a:prstGeom prst="line">
            <a:avLst/>
          </a:prstGeom>
          <a:noFill/>
          <a:ln w="25400">
            <a:solidFill>
              <a:srgbClr val="50808E"/>
            </a:solidFill>
            <a:prstDash val="solid"/>
          </a:ln>
        </p:spPr>
      </p:sp>
      <p:sp>
        <p:nvSpPr>
          <p:cNvPr id="16" name="Shape 14"/>
          <p:cNvSpPr/>
          <p:nvPr/>
        </p:nvSpPr>
        <p:spPr>
          <a:xfrm>
            <a:off x="777240" y="5495544"/>
            <a:ext cx="301752" cy="0"/>
          </a:xfrm>
          <a:prstGeom prst="line">
            <a:avLst/>
          </a:prstGeom>
          <a:noFill/>
          <a:ln w="25400">
            <a:solidFill>
              <a:srgbClr val="50808E"/>
            </a:solidFill>
            <a:prstDash val="solid"/>
          </a:ln>
        </p:spPr>
      </p:sp>
      <p:sp>
        <p:nvSpPr>
          <p:cNvPr id="17" name="Shape 15"/>
          <p:cNvSpPr/>
          <p:nvPr/>
        </p:nvSpPr>
        <p:spPr>
          <a:xfrm>
            <a:off x="777240" y="2532888"/>
            <a:ext cx="292608" cy="91"/>
          </a:xfrm>
          <a:prstGeom prst="line">
            <a:avLst/>
          </a:prstGeom>
          <a:noFill/>
          <a:ln w="25400">
            <a:solidFill>
              <a:srgbClr val="50808E"/>
            </a:solidFill>
            <a:prstDash val="solid"/>
            <a:tailEnd type="triangle"/>
          </a:ln>
        </p:spPr>
      </p:sp>
      <p:sp>
        <p:nvSpPr>
          <p:cNvPr id="18" name="Text 16"/>
          <p:cNvSpPr txBox="1"/>
          <p:nvPr/>
        </p:nvSpPr>
        <p:spPr>
          <a:xfrm>
            <a:off x="45720" y="3840480"/>
            <a:ext cx="685800" cy="274320"/>
          </a:xfrm>
          <a:prstGeom prst="rect">
            <a:avLst/>
          </a:prstGeom>
          <a:noFill/>
          <a:ln/>
        </p:spPr>
        <p:txBody>
          <a:bodyPr wrap="square" lIns="0" tIns="0" rIns="0" bIns="0" rtlCol="0" anchor="t"/>
          <a:lstStyle/>
          <a:p>
            <a:pPr indent="0" marL="0">
              <a:buNone/>
            </a:pPr>
            <a:r>
              <a:rPr lang="tr-TR" sz="1200" i="1" dirty="0">
                <a:solidFill>
                  <a:srgbClr val="50808E"/>
                </a:solidFill>
                <a:latin typeface="Calibri" pitchFamily="34" charset="0"/>
                <a:ea typeface="Calibri" pitchFamily="34" charset="-122"/>
                <a:cs typeface="Calibri" pitchFamily="34" charset="-120"/>
              </a:rPr>
              <a:t>tekrar</a:t>
            </a:r>
            <a:endParaRPr lang="tr-TR" sz="1200" dirty="0"/>
          </a:p>
        </p:txBody>
      </p:sp>
      <p:sp>
        <p:nvSpPr>
          <p:cNvPr id="19" name="Shape 17"/>
          <p:cNvSpPr/>
          <p:nvPr/>
        </p:nvSpPr>
        <p:spPr>
          <a:xfrm>
            <a:off x="6217920" y="2148840"/>
            <a:ext cx="5440680" cy="2377440"/>
          </a:xfrm>
          <a:prstGeom prst="roundRect">
            <a:avLst>
              <a:gd name="adj" fmla="val 1923"/>
            </a:avLst>
          </a:prstGeom>
          <a:solidFill>
            <a:srgbClr val="212121"/>
          </a:solidFill>
          <a:ln/>
        </p:spPr>
      </p:sp>
      <p:sp>
        <p:nvSpPr>
          <p:cNvPr id="20" name="Text 18"/>
          <p:cNvSpPr txBox="1"/>
          <p:nvPr/>
        </p:nvSpPr>
        <p:spPr>
          <a:xfrm>
            <a:off x="6400800" y="2258568"/>
            <a:ext cx="5074920" cy="2157984"/>
          </a:xfrm>
          <a:prstGeom prst="rect">
            <a:avLst/>
          </a:prstGeom>
          <a:noFill/>
          <a:ln/>
        </p:spPr>
        <p:txBody>
          <a:bodyPr wrap="square" lIns="0" tIns="0" rIns="0" bIns="0" rtlCol="0" anchor="t"/>
          <a:lstStyle/>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while (true) {</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 giriş bölümü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counter++;   // kritik bölge</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 çıkış bölümü     */</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 kalan bölüm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a:t>
            </a:r>
            <a:endParaRPr lang="tr-TR" sz="1400" dirty="0"/>
          </a:p>
        </p:txBody>
      </p:sp>
      <p:sp>
        <p:nvSpPr>
          <p:cNvPr id="21" name="Shape 19"/>
          <p:cNvSpPr/>
          <p:nvPr/>
        </p:nvSpPr>
        <p:spPr>
          <a:xfrm>
            <a:off x="6217920" y="4754880"/>
            <a:ext cx="544068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6446520" y="4754880"/>
            <a:ext cx="4983480" cy="15087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Tasarlamamız gereken, giriş ve çıkış bölümleridir. Bugün bundan sonraki her şey — Peterson, atomik komutlar, muteksler, semaforlar — onları kurmanın bir yoludur.</a:t>
            </a:r>
            <a:endParaRPr lang="tr-TR"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KRİTİK BÖLGE PROBLEMİ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Doğru Bir Çözüm için Üç Gereksinim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27</a:t>
            </a:r>
            <a:endParaRPr lang="tr-TR"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1. Karşılıklı dışlama</a:t>
            </a:r>
            <a:endParaRPr lang="tr-TR"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Herhangi bir anda kritik bölgesinde en çok bir iş parçacığı bulunur.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Bu, güvenlik özelliğidir: kayıp güncelleme imkânsız hâle gelir.</a:t>
            </a:r>
            <a:endParaRPr lang="tr-TR" sz="155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2. İlerleme</a:t>
            </a:r>
            <a:endParaRPr lang="tr-TR"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Kritik bölge boşsa ve girmek isteyen iş parçacıkları varsa, biri kısa sürede içeri alınmalıdır.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Kalan bölümündeki iş parçacıklarının veto hakkı yoktur.</a:t>
            </a:r>
            <a:endParaRPr lang="tr-TR" sz="155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3. Sınırlı bekleme</a:t>
            </a:r>
            <a:endParaRPr lang="tr-TR"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Bir iş parçacığı girmek istedikten sonra, diğerleri ondan önce ancak sınırlı sayıda girebilir.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Açlık yok — 1. bölümdeki yaşlandırmayla karşılaştırın.</a:t>
            </a:r>
            <a:endParaRPr lang="tr-TR" sz="155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Her iş parçacığının sıfırdan büyük bir hızla çalıştığını varsayarız; ama iş parçacıklarının göreli hızları ya da işlemci sayısı hakkında hiçbir varsayım yapmayız.</a:t>
            </a:r>
            <a:endParaRPr lang="tr-TR"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İLK FİKİR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Neden Kesmeleri Kapatmıyoruz?</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Tek işlemcide bir iş parçacığı yalnızca bir kesmeyle işlemciden alınır. Kritik bölge boyunca kesme yok → geçiş yok → yarış yok.</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28</a:t>
            </a:r>
            <a:endParaRPr lang="tr-TR"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700" b="1" dirty="0">
                <a:solidFill>
                  <a:srgbClr val="028090"/>
                </a:solidFill>
                <a:latin typeface="Cambria" pitchFamily="34" charset="0"/>
                <a:ea typeface="Cambria" pitchFamily="34" charset="-122"/>
                <a:cs typeface="Cambria" pitchFamily="34" charset="-120"/>
              </a:rPr>
              <a:t>İşe yaradığı yerler</a:t>
            </a:r>
            <a:endParaRPr lang="tr-TR" sz="17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Tek işlemcili bir sistemde, çekirdeğin içinde.</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Çok kısa kritik bölgeler (birkaç komut).</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Erken UNIX çekirdekleri ve küçük gömülü sistemler bunu kullandı.</a:t>
            </a:r>
            <a:endParaRPr lang="tr-TR" sz="155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700" b="1" dirty="0">
                <a:solidFill>
                  <a:srgbClr val="B5453A"/>
                </a:solidFill>
                <a:latin typeface="Cambria" pitchFamily="34" charset="0"/>
                <a:ea typeface="Cambria" pitchFamily="34" charset="-122"/>
                <a:cs typeface="Cambria" pitchFamily="34" charset="-120"/>
              </a:rPr>
              <a:t>Neden ölçeklenmez?</a:t>
            </a:r>
            <a:endParaRPr lang="tr-TR" sz="17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Çok işlemcili sistemler: diğer işlemciler çalışmayı sürdürür ve veriye yine dokunabilir.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Kesmeleri tüm işlemcilerde kapatmak zaman alır ve bütün makineyi durdurur.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Ayrıcalıklı komut: kullanıcı programları bunu yapamaz (yapmamalıdır da!).</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Uzun kritik bölgeler saati ve G/Ç aygıtlarını geciktirir.</a:t>
            </a:r>
            <a:endParaRPr lang="tr-TR" sz="155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Modern sistemler bunun yerine atomik donanım komutlarını kullanır — işlemciler arasında çalışırlar ve özel ayrıcalık gerektirmezler.</a:t>
            </a:r>
            <a:endParaRPr lang="tr-TR"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YAZILIMSAL ÇÖZÜM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Peterson Çözümü (İki İş Parçacığı)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29</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int  turn;          // bekleme sırası kimde?</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bool flag[2];       // flag[i]: i girmek istiyor</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i iş parçacığının kodu; j = 1 - i diğeri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while (true)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flag[i] = true;          // girmek istiyorum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turn = j;                // ... ama önce sen geç</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while (flag[j] &amp;&amp; turn == j)</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 meşgul bekleme</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 kritik bölge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flag[i] = false;         // işim bitti</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 kalan bölüm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a:t>
            </a:r>
            <a:endParaRPr lang="tr-TR" sz="1300" dirty="0"/>
          </a:p>
        </p:txBody>
      </p:sp>
      <p:sp>
        <p:nvSpPr>
          <p:cNvPr id="8" name="Shape 6"/>
          <p:cNvSpPr/>
          <p:nvPr/>
        </p:nvSpPr>
        <p:spPr>
          <a:xfrm>
            <a:off x="7223760" y="1508760"/>
            <a:ext cx="4434840" cy="4754880"/>
          </a:xfrm>
          <a:prstGeom prst="roundRect">
            <a:avLst>
              <a:gd name="adj" fmla="val 123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Neden çalışır?</a:t>
            </a:r>
            <a:endParaRPr lang="tr-TR" sz="1500" dirty="0"/>
          </a:p>
        </p:txBody>
      </p:sp>
      <p:sp>
        <p:nvSpPr>
          <p:cNvPr id="10" name="Text 8"/>
          <p:cNvSpPr txBox="1"/>
          <p:nvPr/>
        </p:nvSpPr>
        <p:spPr>
          <a:xfrm>
            <a:off x="7452360" y="2148840"/>
            <a:ext cx="3977640" cy="39776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iş parçacığı nazikçe sırayı diğerine verir.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İkisi de girmek isterse turn yalnızca tek bir değer tutar — onu en son yazan bekler.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Üç gereksinimi de sağlar (ispatı notlarda).</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Ama:</a:t>
            </a:r>
            <a:r>
              <a:rPr lang="tr-TR" sz="1400" dirty="0">
                <a:solidFill>
                  <a:srgbClr val="3A464C"/>
                </a:solidFill>
                <a:latin typeface="Calibri" pitchFamily="34" charset="0"/>
                <a:ea typeface="Calibri" pitchFamily="34" charset="-122"/>
                <a:cs typeface="Calibri" pitchFamily="34" charset="-120"/>
              </a:rPr>
              <a:t> modern işlemciler ve derleyiciler bellek erişimlerinin sırasını değiştirir; bu yüzden bellek bariyerleri olmadan gerçek donanımda başarısız olabilir. Bir fikir olarak öğrenin.</a:t>
            </a:r>
            <a:endParaRPr lang="tr-TR"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DONANIM DESTEĞİ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Atomik Komutlar: test_and_set</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30</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donanımın TEK ve bölünmez adımda yaptığı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bool test_and_set(bool *target)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bool old = *target;</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*target = true;</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return old;</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bool lock = false;            // ortak, false = boş</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while (true)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while (test_and_set(&amp;lock))</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 boşalana kadar dön</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 kritik bölge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lock = false;             // bırak</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 kalan bölüm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a:t>
            </a:r>
            <a:endParaRPr lang="tr-TR" sz="1300" dirty="0"/>
          </a:p>
        </p:txBody>
      </p:sp>
      <p:sp>
        <p:nvSpPr>
          <p:cNvPr id="8" name="Shape 6"/>
          <p:cNvSpPr/>
          <p:nvPr/>
        </p:nvSpPr>
        <p:spPr>
          <a:xfrm>
            <a:off x="7223760" y="1508760"/>
            <a:ext cx="4434840" cy="4754880"/>
          </a:xfrm>
          <a:prstGeom prst="roundRect">
            <a:avLst>
              <a:gd name="adj" fmla="val 123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Fikir</a:t>
            </a:r>
            <a:endParaRPr lang="tr-TR" sz="1500" dirty="0"/>
          </a:p>
        </p:txBody>
      </p:sp>
      <p:sp>
        <p:nvSpPr>
          <p:cNvPr id="10" name="Text 8"/>
          <p:cNvSpPr txBox="1"/>
          <p:nvPr/>
        </p:nvSpPr>
        <p:spPr>
          <a:xfrm>
            <a:off x="7452360" y="2148840"/>
            <a:ext cx="3977640" cy="397764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Eski değeri oku ve true yaz — tek bir atomik adımda: arada başka hiçbir işlemci araya giremez.</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false döndü → kilit boştu ve artık benim.</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true döndü → kilidi başkası tutuyor; yeniden dene.</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Gerçek komutlar: x86'da xchg ve lock cmpxchg (compare-and-swap); ARM'da ldxr/stxr.</a:t>
            </a:r>
            <a:endParaRPr lang="tr-TR"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EŞZAMANLAMA ARAÇLARI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Muteks Kilitleri (Mutex Locks)</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Programcılar test_and_set'i doğrudan kullanmaz. İşletim sistemi ve kütüphaneler onu iki işlemli bir kilide sarar.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31</a:t>
            </a:r>
            <a:endParaRPr lang="tr-TR" sz="900" dirty="0"/>
          </a:p>
        </p:txBody>
      </p:sp>
      <p:sp>
        <p:nvSpPr>
          <p:cNvPr id="7" name="Shape 5"/>
          <p:cNvSpPr/>
          <p:nvPr/>
        </p:nvSpPr>
        <p:spPr>
          <a:xfrm>
            <a:off x="548640" y="2103120"/>
            <a:ext cx="5120640" cy="4160520"/>
          </a:xfrm>
          <a:prstGeom prst="roundRect">
            <a:avLst>
              <a:gd name="adj" fmla="val 1099"/>
            </a:avLst>
          </a:prstGeom>
          <a:solidFill>
            <a:srgbClr val="212121"/>
          </a:solidFill>
          <a:ln/>
        </p:spPr>
      </p:sp>
      <p:sp>
        <p:nvSpPr>
          <p:cNvPr id="8" name="Text 6"/>
          <p:cNvSpPr txBox="1"/>
          <p:nvPr/>
        </p:nvSpPr>
        <p:spPr>
          <a:xfrm>
            <a:off x="731520" y="2212848"/>
            <a:ext cx="4754880" cy="3941064"/>
          </a:xfrm>
          <a:prstGeom prst="rect">
            <a:avLst/>
          </a:prstGeom>
          <a:noFill/>
          <a:ln/>
        </p:spPr>
        <p:txBody>
          <a:bodyPr wrap="square" lIns="0" tIns="0" rIns="0" bIns="0" rtlCol="0" anchor="t"/>
          <a:lstStyle/>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acquire(&amp;m);        // boşalana kadar bekle,</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 sonra al</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 kritik bölge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release(&amp;m);        // geri ver</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POSIX threads (Linux, macOS)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pthread_mutex_lock(&amp;m);</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counter++;</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pthread_mutex_unlock(&amp;m);</a:t>
            </a:r>
            <a:endParaRPr lang="tr-TR" sz="1400" dirty="0"/>
          </a:p>
        </p:txBody>
      </p:sp>
      <p:sp>
        <p:nvSpPr>
          <p:cNvPr id="9" name="Shape 7"/>
          <p:cNvSpPr/>
          <p:nvPr/>
        </p:nvSpPr>
        <p:spPr>
          <a:xfrm>
            <a:off x="5943600" y="2103120"/>
            <a:ext cx="571500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172200" y="2286000"/>
            <a:ext cx="52578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Döner kilit (spinlock): meşgul bekleme</a:t>
            </a:r>
            <a:endParaRPr lang="tr-TR" sz="1500" dirty="0"/>
          </a:p>
        </p:txBody>
      </p:sp>
      <p:sp>
        <p:nvSpPr>
          <p:cNvPr id="11" name="Text 9"/>
          <p:cNvSpPr txBox="1"/>
          <p:nvPr/>
        </p:nvSpPr>
        <p:spPr>
          <a:xfrm>
            <a:off x="6172200" y="2743200"/>
            <a:ext cx="5257800" cy="118872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Bekleyen iş parçacığı, kilit boşalana kadar işlemci yakarak döngüde döner.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Çok işlemcide çok kısa kritik bölgeler için iyidir: bağlam değişimi gerekmez.</a:t>
            </a:r>
            <a:endParaRPr lang="tr-TR" sz="1400" dirty="0"/>
          </a:p>
        </p:txBody>
      </p:sp>
      <p:sp>
        <p:nvSpPr>
          <p:cNvPr id="12" name="Shape 10"/>
          <p:cNvSpPr/>
          <p:nvPr/>
        </p:nvSpPr>
        <p:spPr>
          <a:xfrm>
            <a:off x="5943600" y="4297680"/>
            <a:ext cx="571500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172200" y="4480560"/>
            <a:ext cx="52578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Uyuyan kilit</a:t>
            </a:r>
            <a:endParaRPr lang="tr-TR" sz="1500" dirty="0"/>
          </a:p>
        </p:txBody>
      </p:sp>
      <p:sp>
        <p:nvSpPr>
          <p:cNvPr id="14" name="Text 12"/>
          <p:cNvSpPr txBox="1"/>
          <p:nvPr/>
        </p:nvSpPr>
        <p:spPr>
          <a:xfrm>
            <a:off x="6172200" y="4937760"/>
            <a:ext cx="5257800" cy="118872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Bekleyen iş parçacığı bloklanır, işlemci başkasını çalıştırır; release onu uyandırır.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Uzun bölümler için daha iyidir. Linux pthread muteksleri futex kullanır: kilit boşken sistem çağrısı yok.</a:t>
            </a:r>
            <a:endParaRPr lang="tr-T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EŞZAMANLAMA ARAÇLARI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Semaforlar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Dijkstra (1965): yalnızca iki atomik işlemle değiştirilen bir S tamsayısı.</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32</a:t>
            </a:r>
            <a:endParaRPr lang="tr-TR" sz="900" dirty="0"/>
          </a:p>
        </p:txBody>
      </p:sp>
      <p:sp>
        <p:nvSpPr>
          <p:cNvPr id="7" name="Shape 5"/>
          <p:cNvSpPr/>
          <p:nvPr/>
        </p:nvSpPr>
        <p:spPr>
          <a:xfrm>
            <a:off x="548640" y="2103120"/>
            <a:ext cx="5120640" cy="2743200"/>
          </a:xfrm>
          <a:prstGeom prst="roundRect">
            <a:avLst>
              <a:gd name="adj" fmla="val 1667"/>
            </a:avLst>
          </a:prstGeom>
          <a:solidFill>
            <a:srgbClr val="212121"/>
          </a:solidFill>
          <a:ln/>
        </p:spPr>
      </p:sp>
      <p:sp>
        <p:nvSpPr>
          <p:cNvPr id="8" name="Text 6"/>
          <p:cNvSpPr txBox="1"/>
          <p:nvPr/>
        </p:nvSpPr>
        <p:spPr>
          <a:xfrm>
            <a:off x="731520" y="2212848"/>
            <a:ext cx="4754880" cy="2523744"/>
          </a:xfrm>
          <a:prstGeom prst="rect">
            <a:avLst/>
          </a:prstGeom>
          <a:noFill/>
          <a:ln/>
        </p:spPr>
        <p:txBody>
          <a:bodyPr wrap="square" lIns="0" tIns="0" rIns="0" bIns="0" rtlCol="0" anchor="t"/>
          <a:lstStyle/>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wait(S) {          // P() olarak da bilinir</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while (S &lt;= 0)</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          // (ya da: bloklan)</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S--;</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signal(S) {        // V() olarak da bilinir</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S++;           // (+ bekleyeni uyandır)</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a:t>
            </a:r>
            <a:endParaRPr lang="tr-TR" sz="1400" dirty="0"/>
          </a:p>
        </p:txBody>
      </p:sp>
      <p:sp>
        <p:nvSpPr>
          <p:cNvPr id="9" name="Text 7"/>
          <p:cNvSpPr txBox="1"/>
          <p:nvPr/>
        </p:nvSpPr>
        <p:spPr>
          <a:xfrm>
            <a:off x="548640" y="4983480"/>
            <a:ext cx="5120640" cy="73152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P ve V, Felemenkçe proberen (sınamak) ve verhogen (artırmak) sözcüklerinden gelir. POSIX'te: sem_wait() ve sem_post().</a:t>
            </a:r>
            <a:endParaRPr lang="tr-TR" sz="1300" dirty="0"/>
          </a:p>
        </p:txBody>
      </p:sp>
      <p:sp>
        <p:nvSpPr>
          <p:cNvPr id="10" name="Shape 8"/>
          <p:cNvSpPr/>
          <p:nvPr/>
        </p:nvSpPr>
        <p:spPr>
          <a:xfrm>
            <a:off x="5943600" y="2103120"/>
            <a:ext cx="571500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172200" y="2286000"/>
            <a:ext cx="52578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İkili semafor (0 ya da 1)</a:t>
            </a:r>
            <a:endParaRPr lang="tr-TR" sz="1500" dirty="0"/>
          </a:p>
        </p:txBody>
      </p:sp>
      <p:sp>
        <p:nvSpPr>
          <p:cNvPr id="12" name="Text 10"/>
          <p:cNvSpPr txBox="1"/>
          <p:nvPr/>
        </p:nvSpPr>
        <p:spPr>
          <a:xfrm>
            <a:off x="6172200" y="2743200"/>
            <a:ext cx="5257800" cy="11430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1 ile başlarsa: muteks kilidi gibi davranır.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0 ile başlarsa: sıra dayatır — B'deki S2, ancak A S1'in bittiğini bildirdikten sonra çalışır.</a:t>
            </a:r>
            <a:endParaRPr lang="tr-TR" sz="1400" dirty="0"/>
          </a:p>
        </p:txBody>
      </p:sp>
      <p:sp>
        <p:nvSpPr>
          <p:cNvPr id="13" name="Shape 11"/>
          <p:cNvSpPr/>
          <p:nvPr/>
        </p:nvSpPr>
        <p:spPr>
          <a:xfrm>
            <a:off x="5943600" y="4251960"/>
            <a:ext cx="5715000" cy="2011680"/>
          </a:xfrm>
          <a:prstGeom prst="roundRect">
            <a:avLst>
              <a:gd name="adj" fmla="val 2727"/>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6172200" y="4434840"/>
            <a:ext cx="52578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Sayan semafor (0 … N)</a:t>
            </a:r>
            <a:endParaRPr lang="tr-TR" sz="1500" dirty="0"/>
          </a:p>
        </p:txBody>
      </p:sp>
      <p:sp>
        <p:nvSpPr>
          <p:cNvPr id="15" name="Text 13"/>
          <p:cNvSpPr txBox="1"/>
          <p:nvPr/>
        </p:nvSpPr>
        <p:spPr>
          <a:xfrm>
            <a:off x="6172200" y="4892040"/>
            <a:ext cx="5257800" cy="1234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N = özdeş kaynak sayısıyla başlar, ör. 3 yazıcı.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kullanıcı önce bekler (S−−), sonra bildirir (S++); 4. kullanıcı bir yazıcı boşalana kadar bloklanır.</a:t>
            </a:r>
            <a:endParaRPr lang="tr-TR"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KLASİK PROBLEM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Sınırlı Tampon: Üretici ve Tüketici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Üretici n gözlü bir tampona öğe koyar; tüketici onları alır. Üç semafor ikisini eşgüdümler.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33</a:t>
            </a:r>
            <a:endParaRPr lang="tr-TR" sz="900" dirty="0"/>
          </a:p>
        </p:txBody>
      </p:sp>
      <p:sp>
        <p:nvSpPr>
          <p:cNvPr id="7" name="Shape 5"/>
          <p:cNvSpPr/>
          <p:nvPr/>
        </p:nvSpPr>
        <p:spPr>
          <a:xfrm>
            <a:off x="1965960" y="2331720"/>
            <a:ext cx="585216" cy="640080"/>
          </a:xfrm>
          <a:prstGeom prst="roundRect">
            <a:avLst>
              <a:gd name="adj" fmla="val 7813"/>
            </a:avLst>
          </a:prstGeom>
          <a:solidFill>
            <a:srgbClr val="02C39A"/>
          </a:solidFill>
          <a:ln/>
        </p:spPr>
      </p:sp>
      <p:sp>
        <p:nvSpPr>
          <p:cNvPr id="8" name="Text 6"/>
          <p:cNvSpPr txBox="1"/>
          <p:nvPr/>
        </p:nvSpPr>
        <p:spPr>
          <a:xfrm>
            <a:off x="1965960" y="2331720"/>
            <a:ext cx="585216" cy="640080"/>
          </a:xfrm>
          <a:prstGeom prst="rect">
            <a:avLst/>
          </a:prstGeom>
          <a:noFill/>
          <a:ln/>
        </p:spPr>
        <p:txBody>
          <a:bodyPr wrap="square" lIns="38100" tIns="38100" rIns="38100" bIns="3810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öğe</a:t>
            </a:r>
            <a:endParaRPr lang="tr-TR" sz="1100" dirty="0"/>
          </a:p>
        </p:txBody>
      </p:sp>
      <p:sp>
        <p:nvSpPr>
          <p:cNvPr id="9" name="Shape 7"/>
          <p:cNvSpPr/>
          <p:nvPr/>
        </p:nvSpPr>
        <p:spPr>
          <a:xfrm>
            <a:off x="2624328" y="2331720"/>
            <a:ext cx="585216" cy="640080"/>
          </a:xfrm>
          <a:prstGeom prst="roundRect">
            <a:avLst>
              <a:gd name="adj" fmla="val 7813"/>
            </a:avLst>
          </a:prstGeom>
          <a:solidFill>
            <a:srgbClr val="02C39A"/>
          </a:solidFill>
          <a:ln/>
        </p:spPr>
      </p:sp>
      <p:sp>
        <p:nvSpPr>
          <p:cNvPr id="10" name="Text 8"/>
          <p:cNvSpPr txBox="1"/>
          <p:nvPr/>
        </p:nvSpPr>
        <p:spPr>
          <a:xfrm>
            <a:off x="2624328" y="2331720"/>
            <a:ext cx="585216" cy="640080"/>
          </a:xfrm>
          <a:prstGeom prst="rect">
            <a:avLst/>
          </a:prstGeom>
          <a:noFill/>
          <a:ln/>
        </p:spPr>
        <p:txBody>
          <a:bodyPr wrap="square" lIns="38100" tIns="38100" rIns="38100" bIns="3810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öğe</a:t>
            </a:r>
            <a:endParaRPr lang="tr-TR" sz="1100" dirty="0"/>
          </a:p>
        </p:txBody>
      </p:sp>
      <p:sp>
        <p:nvSpPr>
          <p:cNvPr id="11" name="Shape 9"/>
          <p:cNvSpPr/>
          <p:nvPr/>
        </p:nvSpPr>
        <p:spPr>
          <a:xfrm>
            <a:off x="3282696" y="2331720"/>
            <a:ext cx="585216" cy="640080"/>
          </a:xfrm>
          <a:prstGeom prst="roundRect">
            <a:avLst>
              <a:gd name="adj" fmla="val 7813"/>
            </a:avLst>
          </a:prstGeom>
          <a:solidFill>
            <a:srgbClr val="02C39A"/>
          </a:solidFill>
          <a:ln/>
        </p:spPr>
      </p:sp>
      <p:sp>
        <p:nvSpPr>
          <p:cNvPr id="12" name="Text 10"/>
          <p:cNvSpPr txBox="1"/>
          <p:nvPr/>
        </p:nvSpPr>
        <p:spPr>
          <a:xfrm>
            <a:off x="3282696" y="2331720"/>
            <a:ext cx="585216" cy="640080"/>
          </a:xfrm>
          <a:prstGeom prst="rect">
            <a:avLst/>
          </a:prstGeom>
          <a:noFill/>
          <a:ln/>
        </p:spPr>
        <p:txBody>
          <a:bodyPr wrap="square" lIns="38100" tIns="38100" rIns="38100" bIns="3810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öğe</a:t>
            </a:r>
            <a:endParaRPr lang="tr-TR" sz="1100" dirty="0"/>
          </a:p>
        </p:txBody>
      </p:sp>
      <p:sp>
        <p:nvSpPr>
          <p:cNvPr id="13" name="Shape 11"/>
          <p:cNvSpPr/>
          <p:nvPr/>
        </p:nvSpPr>
        <p:spPr>
          <a:xfrm>
            <a:off x="3941064" y="2331720"/>
            <a:ext cx="585216" cy="640080"/>
          </a:xfrm>
          <a:prstGeom prst="roundRect">
            <a:avLst>
              <a:gd name="adj" fmla="val 7813"/>
            </a:avLst>
          </a:prstGeom>
          <a:solidFill>
            <a:srgbClr val="F2F2F2"/>
          </a:solidFill>
          <a:ln/>
        </p:spPr>
      </p:sp>
      <p:sp>
        <p:nvSpPr>
          <p:cNvPr id="14" name="Text 12"/>
          <p:cNvSpPr txBox="1"/>
          <p:nvPr/>
        </p:nvSpPr>
        <p:spPr>
          <a:xfrm>
            <a:off x="3941064" y="2331720"/>
            <a:ext cx="585216" cy="640080"/>
          </a:xfrm>
          <a:prstGeom prst="rect">
            <a:avLst/>
          </a:prstGeom>
          <a:noFill/>
          <a:ln/>
        </p:spPr>
        <p:txBody>
          <a:bodyPr wrap="square" lIns="38100" tIns="38100" rIns="38100" bIns="38100" rtlCol="0" anchor="ctr"/>
          <a:lstStyle/>
          <a:p>
            <a:pPr algn="ctr" indent="0" marL="0">
              <a:buNone/>
            </a:pPr>
            <a:endParaRPr lang="tr-TR" sz="1100" dirty="0"/>
          </a:p>
        </p:txBody>
      </p:sp>
      <p:sp>
        <p:nvSpPr>
          <p:cNvPr id="15" name="Shape 13"/>
          <p:cNvSpPr/>
          <p:nvPr/>
        </p:nvSpPr>
        <p:spPr>
          <a:xfrm>
            <a:off x="4599432" y="2331720"/>
            <a:ext cx="585216" cy="640080"/>
          </a:xfrm>
          <a:prstGeom prst="roundRect">
            <a:avLst>
              <a:gd name="adj" fmla="val 7813"/>
            </a:avLst>
          </a:prstGeom>
          <a:solidFill>
            <a:srgbClr val="F2F2F2"/>
          </a:solidFill>
          <a:ln/>
        </p:spPr>
      </p:sp>
      <p:sp>
        <p:nvSpPr>
          <p:cNvPr id="16" name="Text 14"/>
          <p:cNvSpPr txBox="1"/>
          <p:nvPr/>
        </p:nvSpPr>
        <p:spPr>
          <a:xfrm>
            <a:off x="4599432" y="2331720"/>
            <a:ext cx="585216" cy="640080"/>
          </a:xfrm>
          <a:prstGeom prst="rect">
            <a:avLst/>
          </a:prstGeom>
          <a:noFill/>
          <a:ln/>
        </p:spPr>
        <p:txBody>
          <a:bodyPr wrap="square" lIns="38100" tIns="38100" rIns="38100" bIns="38100" rtlCol="0" anchor="ctr"/>
          <a:lstStyle/>
          <a:p>
            <a:pPr algn="ctr" indent="0" marL="0">
              <a:buNone/>
            </a:pPr>
            <a:endParaRPr lang="tr-TR" sz="1100" dirty="0"/>
          </a:p>
        </p:txBody>
      </p:sp>
      <p:sp>
        <p:nvSpPr>
          <p:cNvPr id="17" name="Shape 15"/>
          <p:cNvSpPr/>
          <p:nvPr/>
        </p:nvSpPr>
        <p:spPr>
          <a:xfrm>
            <a:off x="548640" y="2286000"/>
            <a:ext cx="1143000" cy="731520"/>
          </a:xfrm>
          <a:prstGeom prst="roundRect">
            <a:avLst>
              <a:gd name="adj" fmla="val 6250"/>
            </a:avLst>
          </a:prstGeom>
          <a:solidFill>
            <a:srgbClr val="36454F"/>
          </a:solidFill>
          <a:ln/>
        </p:spPr>
      </p:sp>
      <p:sp>
        <p:nvSpPr>
          <p:cNvPr id="18" name="Text 16"/>
          <p:cNvSpPr txBox="1"/>
          <p:nvPr/>
        </p:nvSpPr>
        <p:spPr>
          <a:xfrm>
            <a:off x="548640" y="2286000"/>
            <a:ext cx="1143000" cy="7315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Üretici</a:t>
            </a:r>
            <a:endParaRPr lang="tr-TR" sz="1300" dirty="0"/>
          </a:p>
        </p:txBody>
      </p:sp>
      <p:sp>
        <p:nvSpPr>
          <p:cNvPr id="19" name="Shape 17"/>
          <p:cNvSpPr/>
          <p:nvPr/>
        </p:nvSpPr>
        <p:spPr>
          <a:xfrm>
            <a:off x="5440680" y="2286000"/>
            <a:ext cx="1188720" cy="731520"/>
          </a:xfrm>
          <a:prstGeom prst="roundRect">
            <a:avLst>
              <a:gd name="adj" fmla="val 6250"/>
            </a:avLst>
          </a:prstGeom>
          <a:solidFill>
            <a:srgbClr val="50808E"/>
          </a:solidFill>
          <a:ln/>
        </p:spPr>
      </p:sp>
      <p:sp>
        <p:nvSpPr>
          <p:cNvPr id="20" name="Text 18"/>
          <p:cNvSpPr txBox="1"/>
          <p:nvPr/>
        </p:nvSpPr>
        <p:spPr>
          <a:xfrm>
            <a:off x="5440680" y="2286000"/>
            <a:ext cx="1188720" cy="7315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Tüketici</a:t>
            </a:r>
            <a:endParaRPr lang="tr-TR" sz="1300" dirty="0"/>
          </a:p>
        </p:txBody>
      </p:sp>
      <p:sp>
        <p:nvSpPr>
          <p:cNvPr id="21" name="Shape 19"/>
          <p:cNvSpPr/>
          <p:nvPr/>
        </p:nvSpPr>
        <p:spPr>
          <a:xfrm>
            <a:off x="1709928" y="2651760"/>
            <a:ext cx="228600" cy="91"/>
          </a:xfrm>
          <a:prstGeom prst="line">
            <a:avLst/>
          </a:prstGeom>
          <a:noFill/>
          <a:ln w="25400">
            <a:solidFill>
              <a:srgbClr val="50808E"/>
            </a:solidFill>
            <a:prstDash val="solid"/>
            <a:tailEnd type="triangle"/>
          </a:ln>
        </p:spPr>
      </p:sp>
      <p:sp>
        <p:nvSpPr>
          <p:cNvPr id="22" name="Shape 20"/>
          <p:cNvSpPr/>
          <p:nvPr/>
        </p:nvSpPr>
        <p:spPr>
          <a:xfrm>
            <a:off x="5212080" y="2651760"/>
            <a:ext cx="210312" cy="91"/>
          </a:xfrm>
          <a:prstGeom prst="line">
            <a:avLst/>
          </a:prstGeom>
          <a:noFill/>
          <a:ln w="25400">
            <a:solidFill>
              <a:srgbClr val="50808E"/>
            </a:solidFill>
            <a:prstDash val="solid"/>
            <a:tailEnd type="triangle"/>
          </a:ln>
        </p:spPr>
      </p:sp>
      <p:sp>
        <p:nvSpPr>
          <p:cNvPr id="23" name="Text 21"/>
          <p:cNvSpPr txBox="1"/>
          <p:nvPr/>
        </p:nvSpPr>
        <p:spPr>
          <a:xfrm>
            <a:off x="1828800" y="3017520"/>
            <a:ext cx="3657600" cy="274320"/>
          </a:xfrm>
          <a:prstGeom prst="rect">
            <a:avLst/>
          </a:prstGeom>
          <a:noFill/>
          <a:ln/>
        </p:spPr>
        <p:txBody>
          <a:bodyPr wrap="square" lIns="0" tIns="0" rIns="0" bIns="0" rtlCol="0" anchor="t"/>
          <a:lstStyle/>
          <a:p>
            <a:pPr algn="ctr" indent="0" marL="0">
              <a:buNone/>
            </a:pPr>
            <a:r>
              <a:rPr lang="tr-TR" sz="1200" i="1" dirty="0">
                <a:solidFill>
                  <a:srgbClr val="6B7679"/>
                </a:solidFill>
                <a:latin typeface="Calibri" pitchFamily="34" charset="0"/>
                <a:ea typeface="Calibri" pitchFamily="34" charset="-122"/>
                <a:cs typeface="Calibri" pitchFamily="34" charset="-120"/>
              </a:rPr>
              <a:t>n = 5 göz: burada full = 3, empty = 2</a:t>
            </a:r>
            <a:endParaRPr lang="tr-TR"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6080760" cy="914400"/>
        </p:xfrm>
        <a:graphic>
          <a:graphicData uri="http://schemas.openxmlformats.org/drawingml/2006/table">
            <a:tbl>
              <a:tblPr/>
              <a:tblGrid>
                <a:gridCol w="1463040"/>
                <a:gridCol w="1828800"/>
                <a:gridCol w="2788920"/>
              </a:tblGrid>
              <a:tr h="0">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Semafor</a:t>
                      </a:r>
                      <a:endParaRPr lang="tr-TR" sz="1300" dirty="0">
                        <a:latin typeface="Cambria" charset="0"/>
                        <a:ea typeface="Cambria" charset="0"/>
                        <a:cs typeface="Cambria"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Başlangıç değeri</a:t>
                      </a:r>
                      <a:endParaRPr lang="tr-TR" sz="1300" dirty="0">
                        <a:latin typeface="Cambria" charset="0"/>
                        <a:ea typeface="Cambria" charset="0"/>
                        <a:cs typeface="Cambria"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00" b="1" dirty="0">
                          <a:solidFill>
                            <a:srgbClr val="FFFFFF"/>
                          </a:solidFill>
                          <a:latin typeface="Cambria" pitchFamily="34" charset="0"/>
                          <a:ea typeface="Cambria" pitchFamily="34" charset="-122"/>
                          <a:cs typeface="Cambria" pitchFamily="34" charset="-120"/>
                        </a:rPr>
                        <a:t>Saydığı</a:t>
                      </a:r>
                      <a:endParaRPr lang="tr-TR" sz="1300" dirty="0">
                        <a:latin typeface="Cambria" charset="0"/>
                        <a:ea typeface="Cambria" charset="0"/>
                        <a:cs typeface="Cambria"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00" b="1" dirty="0">
                          <a:solidFill>
                            <a:srgbClr val="3A464C"/>
                          </a:solidFill>
                          <a:latin typeface="Consolas" pitchFamily="34" charset="0"/>
                          <a:ea typeface="Consolas" pitchFamily="34" charset="-122"/>
                          <a:cs typeface="Consolas" pitchFamily="34" charset="-120"/>
                        </a:rPr>
                        <a:t>empty</a:t>
                      </a:r>
                      <a:endParaRPr lang="tr-TR" sz="1300" dirty="0">
                        <a:latin typeface="Consolas" charset="0"/>
                        <a:ea typeface="Consolas" charset="0"/>
                        <a:cs typeface="Consolas"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n</a:t>
                      </a:r>
                      <a:endParaRPr lang="tr-TR"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boş gözler</a:t>
                      </a:r>
                      <a:endParaRPr lang="tr-TR"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onsolas" pitchFamily="34" charset="0"/>
                          <a:ea typeface="Consolas" pitchFamily="34" charset="-122"/>
                          <a:cs typeface="Consolas" pitchFamily="34" charset="-120"/>
                        </a:rPr>
                        <a:t>full</a:t>
                      </a:r>
                      <a:endParaRPr lang="tr-TR" sz="1300" dirty="0">
                        <a:latin typeface="Consolas" charset="0"/>
                        <a:ea typeface="Consolas" charset="0"/>
                        <a:cs typeface="Consolas"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dolu gözler</a:t>
                      </a:r>
                      <a:endParaRPr lang="tr-TR"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00" b="1" dirty="0">
                          <a:solidFill>
                            <a:srgbClr val="3A464C"/>
                          </a:solidFill>
                          <a:latin typeface="Consolas" pitchFamily="34" charset="0"/>
                          <a:ea typeface="Consolas" pitchFamily="34" charset="-122"/>
                          <a:cs typeface="Consolas" pitchFamily="34" charset="-120"/>
                        </a:rPr>
                        <a:t>mutex</a:t>
                      </a:r>
                      <a:endParaRPr lang="tr-TR" sz="1300" dirty="0">
                        <a:latin typeface="Consolas" charset="0"/>
                        <a:ea typeface="Consolas" charset="0"/>
                        <a:cs typeface="Consolas"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tampon erişim kilidi</a:t>
                      </a:r>
                      <a:endParaRPr lang="tr-TR" sz="1300" dirty="0">
                        <a:latin typeface="Calibri" charset="0"/>
                        <a:ea typeface="Calibri" charset="0"/>
                        <a:cs typeface="Calibri" charset="0"/>
                      </a:endParaRPr>
                    </a:p>
                  </a:txBody>
                  <a:tcPr marL="76200" marR="762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25" name="Text 22"/>
          <p:cNvSpPr txBox="1"/>
          <p:nvPr/>
        </p:nvSpPr>
        <p:spPr>
          <a:xfrm>
            <a:off x="548640" y="5212080"/>
            <a:ext cx="6080760" cy="640080"/>
          </a:xfrm>
          <a:prstGeom prst="rect">
            <a:avLst/>
          </a:prstGeom>
          <a:noFill/>
          <a:ln/>
        </p:spPr>
        <p:txBody>
          <a:bodyPr wrap="square" lIns="0" tIns="0" rIns="0" bIns="0" rtlCol="0" anchor="t"/>
          <a:lstStyle/>
          <a:p>
            <a:pPr indent="0" marL="0">
              <a:buNone/>
            </a:pPr>
            <a:r>
              <a:rPr lang="tr-TR" sz="1300" i="1" dirty="0">
                <a:solidFill>
                  <a:srgbClr val="50808E"/>
                </a:solidFill>
                <a:latin typeface="Calibri" pitchFamily="34" charset="0"/>
                <a:ea typeface="Calibri" pitchFamily="34" charset="-122"/>
                <a:cs typeface="Calibri" pitchFamily="34" charset="-120"/>
              </a:rPr>
              <a:t>Üretici empty = 0 olunca (tampon dolu), tüketici full = 0 olunca (tampon boş) bloklanır.</a:t>
            </a:r>
            <a:endParaRPr lang="tr-TR" sz="1300" dirty="0"/>
          </a:p>
        </p:txBody>
      </p:sp>
      <p:sp>
        <p:nvSpPr>
          <p:cNvPr id="26" name="Shape 23"/>
          <p:cNvSpPr/>
          <p:nvPr/>
        </p:nvSpPr>
        <p:spPr>
          <a:xfrm>
            <a:off x="6903720" y="2103120"/>
            <a:ext cx="2331720" cy="2514600"/>
          </a:xfrm>
          <a:prstGeom prst="roundRect">
            <a:avLst>
              <a:gd name="adj" fmla="val 1961"/>
            </a:avLst>
          </a:prstGeom>
          <a:solidFill>
            <a:srgbClr val="212121"/>
          </a:solidFill>
          <a:ln/>
        </p:spPr>
      </p:sp>
      <p:sp>
        <p:nvSpPr>
          <p:cNvPr id="27" name="Text 24"/>
          <p:cNvSpPr txBox="1"/>
          <p:nvPr/>
        </p:nvSpPr>
        <p:spPr>
          <a:xfrm>
            <a:off x="7086600" y="2212848"/>
            <a:ext cx="1965960" cy="229514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üretici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wait(empty);</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wait(mutex);</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öğe ekle</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signal(mutex);</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signal(full);</a:t>
            </a:r>
            <a:endParaRPr lang="tr-TR" sz="1300" dirty="0"/>
          </a:p>
        </p:txBody>
      </p:sp>
      <p:sp>
        <p:nvSpPr>
          <p:cNvPr id="28" name="Shape 25"/>
          <p:cNvSpPr/>
          <p:nvPr/>
        </p:nvSpPr>
        <p:spPr>
          <a:xfrm>
            <a:off x="9326880" y="2103120"/>
            <a:ext cx="2331720" cy="2514600"/>
          </a:xfrm>
          <a:prstGeom prst="roundRect">
            <a:avLst>
              <a:gd name="adj" fmla="val 1961"/>
            </a:avLst>
          </a:prstGeom>
          <a:solidFill>
            <a:srgbClr val="212121"/>
          </a:solidFill>
          <a:ln/>
        </p:spPr>
      </p:sp>
      <p:sp>
        <p:nvSpPr>
          <p:cNvPr id="29" name="Text 26"/>
          <p:cNvSpPr txBox="1"/>
          <p:nvPr/>
        </p:nvSpPr>
        <p:spPr>
          <a:xfrm>
            <a:off x="9509760" y="2212848"/>
            <a:ext cx="1965960" cy="229514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tüketici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wait(full);</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wait(mutex);</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öğe çıkar</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signal(mutex);</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signal(empty);</a:t>
            </a:r>
            <a:endParaRPr lang="tr-TR" sz="1300" dirty="0"/>
          </a:p>
        </p:txBody>
      </p:sp>
      <p:sp>
        <p:nvSpPr>
          <p:cNvPr id="30" name="Shape 27"/>
          <p:cNvSpPr/>
          <p:nvPr/>
        </p:nvSpPr>
        <p:spPr>
          <a:xfrm>
            <a:off x="6903720" y="4846320"/>
            <a:ext cx="4754880" cy="1417320"/>
          </a:xfrm>
          <a:prstGeom prst="roundRect">
            <a:avLst>
              <a:gd name="adj" fmla="val 3871"/>
            </a:avLst>
          </a:prstGeom>
          <a:solidFill>
            <a:srgbClr val="36454F"/>
          </a:solidFill>
          <a:ln/>
          <a:effectLst>
            <a:outerShdw sx="100000" sy="100000" kx="0" ky="0" algn="bl" rotWithShape="0" blurRad="101600" dist="25400" dir="5400000">
              <a:srgbClr val="000000">
                <a:alpha val="12000"/>
              </a:srgbClr>
            </a:outerShdw>
          </a:effectLst>
        </p:spPr>
      </p:sp>
      <p:sp>
        <p:nvSpPr>
          <p:cNvPr id="31" name="Text 28"/>
          <p:cNvSpPr txBox="1"/>
          <p:nvPr/>
        </p:nvSpPr>
        <p:spPr>
          <a:xfrm>
            <a:off x="7132320" y="4846320"/>
            <a:ext cx="4297680" cy="14173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Sıra önemlidir: önce sayan semaforda, sonra mutex'te bekleyin. İkisinin yerini değiştirmek kilitlenmeye yol açabilir (sonraki slayt).</a:t>
            </a:r>
            <a:endParaRPr lang="tr-TR"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BİR UYARI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Dikkatsiz Kilitleme Kilitlenmeye Yol Açabilir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S ve Q adlı iki semafor, ikisi de 1 ile başlıyor. Her iş parçacığına ikisi de gerekiyor — ama onları farklı sırayla alıyorlar.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34</a:t>
            </a:r>
            <a:endParaRPr lang="tr-TR" sz="900" dirty="0"/>
          </a:p>
        </p:txBody>
      </p:sp>
      <p:sp>
        <p:nvSpPr>
          <p:cNvPr id="7" name="Shape 5"/>
          <p:cNvSpPr/>
          <p:nvPr/>
        </p:nvSpPr>
        <p:spPr>
          <a:xfrm>
            <a:off x="548640" y="2103120"/>
            <a:ext cx="2743200" cy="2103120"/>
          </a:xfrm>
          <a:prstGeom prst="roundRect">
            <a:avLst>
              <a:gd name="adj" fmla="val 2174"/>
            </a:avLst>
          </a:prstGeom>
          <a:solidFill>
            <a:srgbClr val="212121"/>
          </a:solidFill>
          <a:ln/>
        </p:spPr>
      </p:sp>
      <p:sp>
        <p:nvSpPr>
          <p:cNvPr id="8" name="Text 6"/>
          <p:cNvSpPr txBox="1"/>
          <p:nvPr/>
        </p:nvSpPr>
        <p:spPr>
          <a:xfrm>
            <a:off x="731520" y="2212848"/>
            <a:ext cx="2377440" cy="1883664"/>
          </a:xfrm>
          <a:prstGeom prst="rect">
            <a:avLst/>
          </a:prstGeom>
          <a:noFill/>
          <a:ln/>
        </p:spPr>
        <p:txBody>
          <a:bodyPr wrap="square" lIns="0" tIns="0" rIns="0" bIns="0" rtlCol="0" anchor="t"/>
          <a:lstStyle/>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P0 iş parç.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wait(S);</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wait(Q);</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signal(S);</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signal(Q);</a:t>
            </a:r>
            <a:endParaRPr lang="tr-TR" sz="1400" dirty="0"/>
          </a:p>
        </p:txBody>
      </p:sp>
      <p:sp>
        <p:nvSpPr>
          <p:cNvPr id="9" name="Shape 7"/>
          <p:cNvSpPr/>
          <p:nvPr/>
        </p:nvSpPr>
        <p:spPr>
          <a:xfrm>
            <a:off x="3474720" y="2103120"/>
            <a:ext cx="2743200" cy="2103120"/>
          </a:xfrm>
          <a:prstGeom prst="roundRect">
            <a:avLst>
              <a:gd name="adj" fmla="val 2174"/>
            </a:avLst>
          </a:prstGeom>
          <a:solidFill>
            <a:srgbClr val="212121"/>
          </a:solidFill>
          <a:ln/>
        </p:spPr>
      </p:sp>
      <p:sp>
        <p:nvSpPr>
          <p:cNvPr id="10" name="Text 8"/>
          <p:cNvSpPr txBox="1"/>
          <p:nvPr/>
        </p:nvSpPr>
        <p:spPr>
          <a:xfrm>
            <a:off x="3657600" y="2212848"/>
            <a:ext cx="2377440" cy="1883664"/>
          </a:xfrm>
          <a:prstGeom prst="rect">
            <a:avLst/>
          </a:prstGeom>
          <a:noFill/>
          <a:ln/>
        </p:spPr>
        <p:txBody>
          <a:bodyPr wrap="square" lIns="0" tIns="0" rIns="0" bIns="0" rtlCol="0" anchor="t"/>
          <a:lstStyle/>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P1 iş parç.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wait(Q);</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wait(S);</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signal(Q);</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signal(S);</a:t>
            </a:r>
            <a:endParaRPr lang="tr-TR"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92240" y="2103120"/>
          <a:ext cx="5166360" cy="914400"/>
        </p:xfrm>
        <a:graphic>
          <a:graphicData uri="http://schemas.openxmlformats.org/drawingml/2006/table">
            <a:tbl>
              <a:tblPr/>
              <a:tblGrid>
                <a:gridCol w="777240"/>
                <a:gridCol w="1737360"/>
                <a:gridCol w="1737360"/>
                <a:gridCol w="457200"/>
                <a:gridCol w="457200"/>
              </a:tblGrid>
              <a:tr h="0">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Zaman</a:t>
                      </a:r>
                      <a:endParaRPr lang="tr-TR" sz="1300" dirty="0">
                        <a:latin typeface="Cambria" charset="0"/>
                        <a:ea typeface="Cambria" charset="0"/>
                        <a:cs typeface="Cambria"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P0</a:t>
                      </a:r>
                      <a:endParaRPr lang="tr-TR" sz="1300" dirty="0">
                        <a:latin typeface="Cambria" charset="0"/>
                        <a:ea typeface="Cambria" charset="0"/>
                        <a:cs typeface="Cambria"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P1</a:t>
                      </a:r>
                      <a:endParaRPr lang="tr-TR" sz="1300" dirty="0">
                        <a:latin typeface="Cambria" charset="0"/>
                        <a:ea typeface="Cambria" charset="0"/>
                        <a:cs typeface="Cambria"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S</a:t>
                      </a:r>
                      <a:endParaRPr lang="tr-TR" sz="1300" dirty="0">
                        <a:latin typeface="Cambria" charset="0"/>
                        <a:ea typeface="Cambria" charset="0"/>
                        <a:cs typeface="Cambria"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300" b="1" dirty="0">
                          <a:solidFill>
                            <a:srgbClr val="FFFFFF"/>
                          </a:solidFill>
                          <a:latin typeface="Cambria" pitchFamily="34" charset="0"/>
                          <a:ea typeface="Cambria" pitchFamily="34" charset="-122"/>
                          <a:cs typeface="Cambria" pitchFamily="34" charset="-120"/>
                        </a:rPr>
                        <a:t>Q</a:t>
                      </a:r>
                      <a:endParaRPr lang="tr-TR" sz="1300" dirty="0">
                        <a:latin typeface="Cambria" charset="0"/>
                        <a:ea typeface="Cambria" charset="0"/>
                        <a:cs typeface="Cambria"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wait(S) ✓</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1</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2</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wait(Q) ✓</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3</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b="1" dirty="0">
                          <a:solidFill>
                            <a:srgbClr val="B5453A"/>
                          </a:solidFill>
                          <a:latin typeface="Calibri" pitchFamily="34" charset="0"/>
                          <a:ea typeface="Calibri" pitchFamily="34" charset="-122"/>
                          <a:cs typeface="Calibri" pitchFamily="34" charset="-120"/>
                        </a:rPr>
                        <a:t>wait(Q) bloklanır</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4</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b="1" dirty="0">
                          <a:solidFill>
                            <a:srgbClr val="B5453A"/>
                          </a:solidFill>
                          <a:latin typeface="Calibri" pitchFamily="34" charset="0"/>
                          <a:ea typeface="Calibri" pitchFamily="34" charset="-122"/>
                          <a:cs typeface="Calibri" pitchFamily="34" charset="-120"/>
                        </a:rPr>
                        <a:t>wait(S) bloklanır</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300" dirty="0">
                          <a:solidFill>
                            <a:srgbClr val="3A464C"/>
                          </a:solidFill>
                          <a:latin typeface="Calibri" pitchFamily="34" charset="0"/>
                          <a:ea typeface="Calibri" pitchFamily="34" charset="-122"/>
                          <a:cs typeface="Calibri" pitchFamily="34" charset="-120"/>
                        </a:rPr>
                        <a:t>0</a:t>
                      </a:r>
                      <a:endParaRPr lang="tr-TR" sz="1300" dirty="0">
                        <a:latin typeface="Calibri" charset="0"/>
                        <a:ea typeface="Calibri" charset="0"/>
                        <a:cs typeface="Calibri" charset="0"/>
                      </a:endParaRPr>
                    </a:p>
                  </a:txBody>
                  <a:tcPr marL="38100" marR="381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12" name="Shape 9"/>
          <p:cNvSpPr/>
          <p:nvPr/>
        </p:nvSpPr>
        <p:spPr>
          <a:xfrm>
            <a:off x="548640" y="4480560"/>
            <a:ext cx="11109960" cy="1783080"/>
          </a:xfrm>
          <a:prstGeom prst="roundRect">
            <a:avLst>
              <a:gd name="adj" fmla="val 3077"/>
            </a:avLst>
          </a:prstGeom>
          <a:solidFill>
            <a:srgbClr val="36454F"/>
          </a:solidFill>
          <a:ln/>
          <a:effectLst>
            <a:outerShdw sx="100000" sy="100000" kx="0" ky="0" algn="bl" rotWithShape="0" blurRad="101600" dist="25400" dir="5400000">
              <a:srgbClr val="000000">
                <a:alpha val="12000"/>
              </a:srgbClr>
            </a:outerShdw>
          </a:effectLst>
        </p:spPr>
      </p:sp>
      <p:sp>
        <p:nvSpPr>
          <p:cNvPr id="13" name="Text 10"/>
          <p:cNvSpPr txBox="1"/>
          <p:nvPr/>
        </p:nvSpPr>
        <p:spPr>
          <a:xfrm>
            <a:off x="777240" y="4480560"/>
            <a:ext cx="10652760" cy="178308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Kilitlenme (deadlock): her iş parçacığı yalnızca diğerinin tetikleyebileceği bir olayı bekler — ikisi de sonsuza dek bekler. En basit çare: tüm iş parçacıkları kilitleri aynı genel sırayla alsın. Aynı tuzak: tampon doluyken empty'den önce mutex'i alan bir üretici. (Kilitlenmenin ayrıntıları bu dersin kapsamı dışındadır.)</a:t>
            </a:r>
            <a:endParaRPr lang="tr-TR"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1: C'de Gerçek Bir Yarış (race.c)</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35</a:t>
            </a:r>
            <a:endParaRPr lang="tr-TR" sz="900" dirty="0"/>
          </a:p>
        </p:txBody>
      </p:sp>
      <p:sp>
        <p:nvSpPr>
          <p:cNvPr id="6" name="Shape 4"/>
          <p:cNvSpPr/>
          <p:nvPr/>
        </p:nvSpPr>
        <p:spPr>
          <a:xfrm>
            <a:off x="548640" y="1508760"/>
            <a:ext cx="5257800" cy="4754880"/>
          </a:xfrm>
          <a:prstGeom prst="roundRect">
            <a:avLst>
              <a:gd name="adj" fmla="val 962"/>
            </a:avLst>
          </a:prstGeom>
          <a:solidFill>
            <a:srgbClr val="212121"/>
          </a:solidFill>
          <a:ln/>
        </p:spPr>
      </p:sp>
      <p:sp>
        <p:nvSpPr>
          <p:cNvPr id="7" name="Text 5"/>
          <p:cNvSpPr txBox="1"/>
          <p:nvPr/>
        </p:nvSpPr>
        <p:spPr>
          <a:xfrm>
            <a:off x="731520" y="1618488"/>
            <a:ext cx="4892040" cy="4535424"/>
          </a:xfrm>
          <a:prstGeom prst="rect">
            <a:avLst/>
          </a:prstGeom>
          <a:noFill/>
          <a:ln/>
        </p:spPr>
        <p:txBody>
          <a:bodyPr wrap="square" lIns="0" tIns="0" rIns="0" bIns="0" rtlCol="0" anchor="t"/>
          <a:lstStyle/>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#define N 10000000L        /* her biri için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volatile long counter = 0;     /* ORTAK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void *worker(void *arg)</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for (long i = 0; i &lt; N; i++)</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counter++;             /* atomik DEĞİL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return NULL;</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int main(void)</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pthread_t a, b;</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pthread_create(&amp;a, NULL, worker, NULL);</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pthread_create(&amp;b, NULL, worker, NULL);</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pthread_join(a, NULL);</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pthread_join(b, NULL);</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printf("counter = %8ld of %ld ...\n",</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counter, 2 * N);</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a:p>
            <a:pPr indent="0" marL="0">
              <a:lnSpc>
                <a:spcPct val="105000"/>
              </a:lnSpc>
              <a:buNone/>
            </a:pPr>
            <a:r>
              <a:rPr lang="tr-TR" sz="1250" dirty="0">
                <a:solidFill>
                  <a:srgbClr val="8A9AA0"/>
                </a:solidFill>
                <a:latin typeface="Consolas" pitchFamily="34" charset="0"/>
                <a:ea typeface="Consolas" pitchFamily="34" charset="-122"/>
                <a:cs typeface="Consolas" pitchFamily="34" charset="-120"/>
              </a:rPr>
              <a:t>/* programın tamamı: code/race.c */</a:t>
            </a:r>
            <a:endParaRPr lang="tr-TR" sz="1250" dirty="0"/>
          </a:p>
        </p:txBody>
      </p:sp>
      <p:sp>
        <p:nvSpPr>
          <p:cNvPr id="8" name="Shape 6"/>
          <p:cNvSpPr/>
          <p:nvPr/>
        </p:nvSpPr>
        <p:spPr>
          <a:xfrm>
            <a:off x="6080760" y="1508760"/>
            <a:ext cx="557784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6309360" y="1691640"/>
            <a:ext cx="5120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Deney</a:t>
            </a:r>
            <a:endParaRPr lang="tr-TR" sz="1500" dirty="0"/>
          </a:p>
        </p:txBody>
      </p:sp>
      <p:sp>
        <p:nvSpPr>
          <p:cNvPr id="10" name="Text 8"/>
          <p:cNvSpPr txBox="1"/>
          <p:nvPr/>
        </p:nvSpPr>
        <p:spPr>
          <a:xfrm>
            <a:off x="6309360" y="2148840"/>
            <a:ext cx="5120640" cy="141732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İki iş parçacığı, her biri on milyon kez 1 ekliyor → 20.000.000 vermeli.</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Güncellemelerin %28–40'ı kayboluyor — iki iş parçacığı TEK bir işlemciyi paylaşsa bile.</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Aynı program, her çalıştırmada farklı yanıt:</a:t>
            </a:r>
            <a:endParaRPr lang="tr-TR" sz="1500" dirty="0"/>
          </a:p>
        </p:txBody>
      </p:sp>
      <p:sp>
        <p:nvSpPr>
          <p:cNvPr id="11" name="Shape 9"/>
          <p:cNvSpPr/>
          <p:nvPr/>
        </p:nvSpPr>
        <p:spPr>
          <a:xfrm>
            <a:off x="6080760" y="3931920"/>
            <a:ext cx="5577840" cy="2331720"/>
          </a:xfrm>
          <a:prstGeom prst="roundRect">
            <a:avLst>
              <a:gd name="adj" fmla="val 1961"/>
            </a:avLst>
          </a:prstGeom>
          <a:solidFill>
            <a:srgbClr val="212121"/>
          </a:solidFill>
          <a:ln/>
        </p:spPr>
      </p:sp>
      <p:sp>
        <p:nvSpPr>
          <p:cNvPr id="12" name="Text 10"/>
          <p:cNvSpPr txBox="1"/>
          <p:nvPr/>
        </p:nvSpPr>
        <p:spPr>
          <a:xfrm>
            <a:off x="6263640" y="4041648"/>
            <a:ext cx="5212080" cy="211226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./race          # run 4 times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12250428 of 20000000  (lost 7749572)  0.052 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12005053 of 20000000  (lost 7994947)  0.100 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13797565 of 20000000  (lost 6202435)  0.110 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12046532 of 20000000  (lost 7953468)  0.080 s</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taskset -c 0 ./race   # pinned to ONE CPU</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14324099 of 20000000  (lost 5675901)  0.034 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12867601 of 20000000  (lost 7132399)  0.034 s</a:t>
            </a:r>
            <a:endParaRPr lang="tr-TR"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2: Çözüm ve Bedeli (race_fixed.c)</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36</a:t>
            </a:r>
            <a:endParaRPr lang="tr-TR" sz="900" dirty="0"/>
          </a:p>
        </p:txBody>
      </p:sp>
      <p:sp>
        <p:nvSpPr>
          <p:cNvPr id="6" name="Shape 4"/>
          <p:cNvSpPr/>
          <p:nvPr/>
        </p:nvSpPr>
        <p:spPr>
          <a:xfrm>
            <a:off x="548640" y="1508760"/>
            <a:ext cx="5257800" cy="4754880"/>
          </a:xfrm>
          <a:prstGeom prst="roundRect">
            <a:avLst>
              <a:gd name="adj" fmla="val 962"/>
            </a:avLst>
          </a:prstGeom>
          <a:solidFill>
            <a:srgbClr val="212121"/>
          </a:solidFill>
          <a:ln/>
        </p:spPr>
      </p:sp>
      <p:sp>
        <p:nvSpPr>
          <p:cNvPr id="7" name="Text 5"/>
          <p:cNvSpPr txBox="1"/>
          <p:nvPr/>
        </p:nvSpPr>
        <p:spPr>
          <a:xfrm>
            <a:off x="731520" y="1618488"/>
            <a:ext cx="4892040" cy="4535424"/>
          </a:xfrm>
          <a:prstGeom prst="rect">
            <a:avLst/>
          </a:prstGeom>
          <a:noFill/>
          <a:ln/>
        </p:spPr>
        <p:txBody>
          <a:bodyPr wrap="square" lIns="0" tIns="0" rIns="0" bIns="0" rtlCol="0" anchor="t"/>
          <a:lstStyle/>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long counter = 0;</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pthread_mutex_t lock = PTHREAD_MUTEX_INITIALIZER;</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void *worker(void *arg)</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for (long i = 0; i &lt; N; i++)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pthread_mutex_lock(&amp;lock);    /* giriş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counter++;                    /* kritik</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bölge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pthread_mutex_unlock(&amp;lock);  /* çıkış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return NULL;</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a:p>
            <a:pPr indent="0" marL="0">
              <a:lnSpc>
                <a:spcPct val="105000"/>
              </a:lnSpc>
              <a:buNone/>
            </a:pPr>
            <a:r>
              <a:rPr lang="tr-TR" sz="1250" dirty="0">
                <a:solidFill>
                  <a:srgbClr val="8A9AA0"/>
                </a:solidFill>
                <a:latin typeface="Consolas" pitchFamily="34" charset="0"/>
                <a:ea typeface="Consolas" pitchFamily="34" charset="-122"/>
                <a:cs typeface="Consolas" pitchFamily="34" charset="-120"/>
              </a:rPr>
              <a:t>/* main() aynı; programın tamamı:</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code/race_fixed.c */</a:t>
            </a:r>
            <a:endParaRPr lang="tr-TR" sz="1250" dirty="0"/>
          </a:p>
        </p:txBody>
      </p:sp>
      <p:sp>
        <p:nvSpPr>
          <p:cNvPr id="8" name="Shape 6"/>
          <p:cNvSpPr/>
          <p:nvPr/>
        </p:nvSpPr>
        <p:spPr>
          <a:xfrm>
            <a:off x="6080760" y="1508760"/>
            <a:ext cx="557784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6309360" y="1691640"/>
            <a:ext cx="5120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Doğru, ama daha yavaş</a:t>
            </a:r>
            <a:endParaRPr lang="tr-TR" sz="1500" dirty="0"/>
          </a:p>
        </p:txBody>
      </p:sp>
      <p:sp>
        <p:nvSpPr>
          <p:cNvPr id="10" name="Text 8"/>
          <p:cNvSpPr txBox="1"/>
          <p:nvPr/>
        </p:nvSpPr>
        <p:spPr>
          <a:xfrm>
            <a:off x="6309360" y="2148840"/>
            <a:ext cx="5120640" cy="219456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Her zaman tam olarak 20.000.000.</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Kilitsiz (yanlış): 0,05–0,11 s. Kilitli (doğru): 0,75–1,12 s — yaklaşık 10–20 kat yavaş.</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Neden? 20 milyon kilitle/aç çifti ve iki işlemci kilit için çekişiyor.</a:t>
            </a:r>
            <a:endParaRPr lang="tr-TR" sz="1500" dirty="0"/>
          </a:p>
        </p:txBody>
      </p:sp>
      <p:sp>
        <p:nvSpPr>
          <p:cNvPr id="11" name="Shape 9"/>
          <p:cNvSpPr/>
          <p:nvPr/>
        </p:nvSpPr>
        <p:spPr>
          <a:xfrm>
            <a:off x="6080760" y="4709160"/>
            <a:ext cx="5577840" cy="1554480"/>
          </a:xfrm>
          <a:prstGeom prst="roundRect">
            <a:avLst>
              <a:gd name="adj" fmla="val 2941"/>
            </a:avLst>
          </a:prstGeom>
          <a:solidFill>
            <a:srgbClr val="212121"/>
          </a:solidFill>
          <a:ln/>
        </p:spPr>
      </p:sp>
      <p:sp>
        <p:nvSpPr>
          <p:cNvPr id="12" name="Text 10"/>
          <p:cNvSpPr txBox="1"/>
          <p:nvPr/>
        </p:nvSpPr>
        <p:spPr>
          <a:xfrm>
            <a:off x="6263640" y="4818888"/>
            <a:ext cx="5212080" cy="133502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./race_fixed    # run 3 times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20000000 of 20000000  (lost       0)  1.122 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20000000 of 20000000  (lost       0)  1.115 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counter = 20000000 of 20000000  (lost       0)  0.749 s</a:t>
            </a:r>
            <a:endParaRPr lang="tr-TR"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3: POSIX Semaforlarıyla Üretici–Tüketici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37</a:t>
            </a:r>
            <a:endParaRPr lang="tr-TR" sz="900" dirty="0"/>
          </a:p>
        </p:txBody>
      </p:sp>
      <p:sp>
        <p:nvSpPr>
          <p:cNvPr id="6" name="Shape 4"/>
          <p:cNvSpPr/>
          <p:nvPr/>
        </p:nvSpPr>
        <p:spPr>
          <a:xfrm>
            <a:off x="548640" y="1508760"/>
            <a:ext cx="6309360" cy="4754880"/>
          </a:xfrm>
          <a:prstGeom prst="roundRect">
            <a:avLst>
              <a:gd name="adj" fmla="val 962"/>
            </a:avLst>
          </a:prstGeom>
          <a:solidFill>
            <a:srgbClr val="212121"/>
          </a:solidFill>
          <a:ln/>
        </p:spPr>
      </p:sp>
      <p:sp>
        <p:nvSpPr>
          <p:cNvPr id="7" name="Text 5"/>
          <p:cNvSpPr txBox="1"/>
          <p:nvPr/>
        </p:nvSpPr>
        <p:spPr>
          <a:xfrm>
            <a:off x="731520" y="1618488"/>
            <a:ext cx="5943600" cy="4535424"/>
          </a:xfrm>
          <a:prstGeom prst="rect">
            <a:avLst/>
          </a:prstGeom>
          <a:noFill/>
          <a:ln/>
        </p:spPr>
        <p:txBody>
          <a:bodyPr wrap="square" lIns="0" tIns="0" rIns="0" bIns="0" rtlCol="0" anchor="t"/>
          <a:lstStyle/>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sem_t empty, full, mutex;   /* SIZE, 0, 1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void *producer(void *arg)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for (int item = 1; item &lt;= ITEMS; item++)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sem_wait(&amp;empty);   /* boş göz?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sem_wait(&amp;mutex);</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buffer[in] = item;  in = (in + 1) % SIZE;</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sem_post(&amp;mutex);</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sem_post(&amp;full);    /* bir öğe daha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return NULL;</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void *consumer(void *arg)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for (int k = 0; k &lt; ITEMS; k++)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sem_wait(&amp;full);    /* öğe var mı?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sem_wait(&amp;mutex);</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item = buffer[out]; out = (out + 1) % SIZE;</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sem_post(&amp;mutex);</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sem_post(&amp;empty);   /* bir göz daha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sum += item;   /* ... her 5.'yi yazdır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t>
            </a:r>
            <a:endParaRPr lang="tr-TR" sz="1250" dirty="0"/>
          </a:p>
        </p:txBody>
      </p:sp>
      <p:sp>
        <p:nvSpPr>
          <p:cNvPr id="8" name="Shape 6"/>
          <p:cNvSpPr/>
          <p:nvPr/>
        </p:nvSpPr>
        <p:spPr>
          <a:xfrm>
            <a:off x="7132320" y="1508760"/>
            <a:ext cx="452628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360920" y="1691640"/>
            <a:ext cx="4069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Sözde koddan C'ye</a:t>
            </a:r>
            <a:endParaRPr lang="tr-TR" sz="1500" dirty="0"/>
          </a:p>
        </p:txBody>
      </p:sp>
      <p:sp>
        <p:nvSpPr>
          <p:cNvPr id="10" name="Text 8"/>
          <p:cNvSpPr txBox="1"/>
          <p:nvPr/>
        </p:nvSpPr>
        <p:spPr>
          <a:xfrm>
            <a:off x="7360920" y="2148840"/>
            <a:ext cx="4069080" cy="201168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wait → sem_wait, signal → sem_post.</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sem_init(&amp;empty, 0, SIZE): 0, 'tek bir sürecin iş parçacıkları arasında ortak' demektir.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5 gözlü tampon, 20 öğe: üretici 5 öğe öne geçtiğinde bloklanır.</a:t>
            </a:r>
            <a:endParaRPr lang="tr-TR" sz="1450" dirty="0"/>
          </a:p>
        </p:txBody>
      </p:sp>
      <p:sp>
        <p:nvSpPr>
          <p:cNvPr id="11" name="Shape 9"/>
          <p:cNvSpPr/>
          <p:nvPr/>
        </p:nvSpPr>
        <p:spPr>
          <a:xfrm>
            <a:off x="7132320" y="4526280"/>
            <a:ext cx="4526280" cy="1737360"/>
          </a:xfrm>
          <a:prstGeom prst="roundRect">
            <a:avLst>
              <a:gd name="adj" fmla="val 2632"/>
            </a:avLst>
          </a:prstGeom>
          <a:solidFill>
            <a:srgbClr val="212121"/>
          </a:solidFill>
          <a:ln/>
        </p:spPr>
      </p:sp>
      <p:sp>
        <p:nvSpPr>
          <p:cNvPr id="12" name="Text 10"/>
          <p:cNvSpPr txBox="1"/>
          <p:nvPr/>
        </p:nvSpPr>
        <p:spPr>
          <a:xfrm>
            <a:off x="7315200" y="4636008"/>
            <a:ext cx="4160520" cy="151790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./prodcons</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consumed  5   running sum  15</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consumed 10   running sum  55</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consumed 15   running sum 120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consumed 20   running sum 210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sum of 1..20 = 210 (expected 210)</a:t>
            </a:r>
            <a:endParaRPr lang="tr-TR"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38</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Patlamaları 5, 2, 8 ms olan işlerin hepsi t = 0'da geliyor. SJF sırasını ve ortalama bekleme süresini verin.</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Üstel ortalamada α = 0,5, τ = 8 ms ve son patlama t = 12 ms. Bir sonraki tahmin nedir?</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Hepsi 50 ms'den az süre isteyen işler üzerinde q = 100 ms ile döngüsel zamanlama hangi algoritma gibi davranır? Neden?</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Bir kritik bölge çözümünün üç gereksinimini sayın. 'Yalnızca A iş parçacığı girebilir' kuralı hangisini ihlal eder?</a:t>
            </a:r>
            <a:endParaRPr lang="tr-T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KAPANIŞ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5. Hafta: Temel Çıkarımlar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5  ·  39</a:t>
            </a:r>
            <a:endParaRPr lang="tr-TR" sz="900" dirty="0"/>
          </a:p>
        </p:txBody>
      </p:sp>
      <p:sp>
        <p:nvSpPr>
          <p:cNvPr id="6" name="Text 4"/>
          <p:cNvSpPr txBox="1"/>
          <p:nvPr/>
        </p:nvSpPr>
        <p:spPr>
          <a:xfrm>
            <a:off x="548640" y="1554480"/>
            <a:ext cx="11064240" cy="3840480"/>
          </a:xfrm>
          <a:prstGeom prst="rect">
            <a:avLst/>
          </a:prstGeom>
          <a:noFill/>
          <a:ln/>
        </p:spPr>
        <p:txBody>
          <a:bodyPr wrap="square" lIns="0" tIns="0" rIns="0" bIns="0" rtlCol="0" anchor="t"/>
          <a:lstStyle/>
          <a:p>
            <a:pPr marL="228600" indent="-228600">
              <a:spcAft>
                <a:spcPts val="1000"/>
              </a:spcAft>
              <a:buSzPct val="100000"/>
              <a:buChar char="•"/>
            </a:pPr>
            <a:r>
              <a:rPr lang="tr-TR" sz="1800" b="1" dirty="0">
                <a:solidFill>
                  <a:srgbClr val="3A464C"/>
                </a:solidFill>
                <a:latin typeface="Calibri" pitchFamily="34" charset="0"/>
                <a:ea typeface="Calibri" pitchFamily="34" charset="-122"/>
                <a:cs typeface="Calibri" pitchFamily="34" charset="-120"/>
              </a:rPr>
              <a:t>FCFS</a:t>
            </a:r>
            <a:r>
              <a:rPr lang="tr-TR" sz="1800" dirty="0">
                <a:solidFill>
                  <a:srgbClr val="3A464C"/>
                </a:solidFill>
                <a:latin typeface="Calibri" pitchFamily="34" charset="0"/>
                <a:ea typeface="Calibri" pitchFamily="34" charset="-122"/>
                <a:cs typeface="Calibri" pitchFamily="34" charset="-120"/>
              </a:rPr>
              <a:t> basittir ama konvoy etkisinden muzdariptir (aynı işler için ortalama bekleme 17 ya da 3 ms).</a:t>
            </a:r>
            <a:endParaRPr lang="tr-TR" sz="1800" dirty="0"/>
          </a:p>
          <a:p>
            <a:pPr marL="228600" indent="-228600">
              <a:spcAft>
                <a:spcPts val="1000"/>
              </a:spcAft>
              <a:buSzPct val="100000"/>
              <a:buChar char="•"/>
            </a:pPr>
            <a:r>
              <a:rPr lang="tr-TR" sz="1800" b="1" dirty="0">
                <a:solidFill>
                  <a:srgbClr val="3A464C"/>
                </a:solidFill>
                <a:latin typeface="Calibri" pitchFamily="34" charset="0"/>
                <a:ea typeface="Calibri" pitchFamily="34" charset="-122"/>
                <a:cs typeface="Calibri" pitchFamily="34" charset="-120"/>
              </a:rPr>
              <a:t>SJF / SRTF</a:t>
            </a:r>
            <a:r>
              <a:rPr lang="tr-TR" sz="1800" dirty="0">
                <a:solidFill>
                  <a:srgbClr val="3A464C"/>
                </a:solidFill>
                <a:latin typeface="Calibri" pitchFamily="34" charset="0"/>
                <a:ea typeface="Calibri" pitchFamily="34" charset="-122"/>
                <a:cs typeface="Calibri" pitchFamily="34" charset="-120"/>
              </a:rPr>
              <a:t> ortalama bekleme süresini en aza indirir, ama bir sonraki patlama uzunluğunu bilmeleri gerekir — üstel ortalamayla tahmin edilir.</a:t>
            </a:r>
            <a:endParaRPr lang="tr-TR" sz="1800" dirty="0"/>
          </a:p>
          <a:p>
            <a:pPr marL="228600" indent="-228600">
              <a:spcAft>
                <a:spcPts val="1000"/>
              </a:spcAft>
              <a:buSzPct val="100000"/>
              <a:buChar char="•"/>
            </a:pPr>
            <a:r>
              <a:rPr lang="tr-TR" sz="1800" b="1" dirty="0">
                <a:solidFill>
                  <a:srgbClr val="3A464C"/>
                </a:solidFill>
                <a:latin typeface="Calibri" pitchFamily="34" charset="0"/>
                <a:ea typeface="Calibri" pitchFamily="34" charset="-122"/>
                <a:cs typeface="Calibri" pitchFamily="34" charset="-120"/>
              </a:rPr>
              <a:t>Öncelikli</a:t>
            </a:r>
            <a:r>
              <a:rPr lang="tr-TR" sz="1800" dirty="0">
                <a:solidFill>
                  <a:srgbClr val="3A464C"/>
                </a:solidFill>
                <a:latin typeface="Calibri" pitchFamily="34" charset="0"/>
                <a:ea typeface="Calibri" pitchFamily="34" charset="-122"/>
                <a:cs typeface="Calibri" pitchFamily="34" charset="-120"/>
              </a:rPr>
              <a:t> zamanlama düşük öncelikli işleri aç bırakabilir; yaşlandırma bunu düzeltir.</a:t>
            </a:r>
            <a:endParaRPr lang="tr-TR" sz="1800" dirty="0"/>
          </a:p>
          <a:p>
            <a:pPr marL="228600" indent="-228600">
              <a:spcAft>
                <a:spcPts val="1000"/>
              </a:spcAft>
              <a:buSzPct val="100000"/>
              <a:buChar char="•"/>
            </a:pPr>
            <a:r>
              <a:rPr lang="tr-TR" sz="1800" b="1" dirty="0">
                <a:solidFill>
                  <a:srgbClr val="3A464C"/>
                </a:solidFill>
                <a:latin typeface="Calibri" pitchFamily="34" charset="0"/>
                <a:ea typeface="Calibri" pitchFamily="34" charset="-122"/>
                <a:cs typeface="Calibri" pitchFamily="34" charset="-120"/>
              </a:rPr>
              <a:t>Döngüsel zamanlama</a:t>
            </a:r>
            <a:r>
              <a:rPr lang="tr-TR" sz="1800" dirty="0">
                <a:solidFill>
                  <a:srgbClr val="3A464C"/>
                </a:solidFill>
                <a:latin typeface="Calibri" pitchFamily="34" charset="0"/>
                <a:ea typeface="Calibri" pitchFamily="34" charset="-122"/>
                <a:cs typeface="Calibri" pitchFamily="34" charset="-120"/>
              </a:rPr>
              <a:t> her beklemeyi (n − 1)·q ile sınırlar; q çok büyük → FCFS, q çok küçük → geçiş yükü. Linux adil pay hedefler (CFS, 6.6'dan beri EEVDF).</a:t>
            </a:r>
            <a:endParaRPr lang="tr-TR" sz="1800" dirty="0"/>
          </a:p>
          <a:p>
            <a:pPr marL="228600" indent="-228600">
              <a:spcAft>
                <a:spcPts val="1000"/>
              </a:spcAft>
              <a:buSzPct val="100000"/>
              <a:buChar char="•"/>
            </a:pPr>
            <a:r>
              <a:rPr lang="tr-TR" sz="1800" b="1" dirty="0">
                <a:solidFill>
                  <a:srgbClr val="3A464C"/>
                </a:solidFill>
                <a:latin typeface="Calibri" pitchFamily="34" charset="0"/>
                <a:ea typeface="Calibri" pitchFamily="34" charset="-122"/>
                <a:cs typeface="Calibri" pitchFamily="34" charset="-120"/>
              </a:rPr>
              <a:t>Yarış durumu:</a:t>
            </a:r>
            <a:r>
              <a:rPr lang="tr-TR" sz="1800" dirty="0">
                <a:solidFill>
                  <a:srgbClr val="3A464C"/>
                </a:solidFill>
                <a:latin typeface="Calibri" pitchFamily="34" charset="0"/>
                <a:ea typeface="Calibri" pitchFamily="34" charset="-122"/>
                <a:cs typeface="Calibri" pitchFamily="34" charset="-120"/>
              </a:rPr>
              <a:t> counter++ oku–ekle–yaz demektir; iç içe geçmeler güncelleme kaybettirir (testimizde milyonlarca).</a:t>
            </a:r>
            <a:endParaRPr lang="tr-TR" sz="1800" dirty="0"/>
          </a:p>
          <a:p>
            <a:pPr marL="228600" indent="-228600">
              <a:spcAft>
                <a:spcPts val="1000"/>
              </a:spcAft>
              <a:buSzPct val="100000"/>
              <a:buChar char="•"/>
            </a:pPr>
            <a:r>
              <a:rPr lang="tr-TR" sz="1800" b="1" dirty="0">
                <a:solidFill>
                  <a:srgbClr val="3A464C"/>
                </a:solidFill>
                <a:latin typeface="Calibri" pitchFamily="34" charset="0"/>
                <a:ea typeface="Calibri" pitchFamily="34" charset="-122"/>
                <a:cs typeface="Calibri" pitchFamily="34" charset="-120"/>
              </a:rPr>
              <a:t>Kritik bölgeler</a:t>
            </a:r>
            <a:r>
              <a:rPr lang="tr-TR" sz="1800" dirty="0">
                <a:solidFill>
                  <a:srgbClr val="3A464C"/>
                </a:solidFill>
                <a:latin typeface="Calibri" pitchFamily="34" charset="0"/>
                <a:ea typeface="Calibri" pitchFamily="34" charset="-122"/>
                <a:cs typeface="Calibri" pitchFamily="34" charset="-120"/>
              </a:rPr>
              <a:t> karşılıklı dışlama, ilerleme ve sınırlı bekleme ister; atomik komutlardan muteks kilitleri ve semaforlar kurulur.</a:t>
            </a:r>
            <a:endParaRPr lang="tr-TR" sz="1800" dirty="0"/>
          </a:p>
        </p:txBody>
      </p:sp>
      <p:sp>
        <p:nvSpPr>
          <p:cNvPr id="7"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Ara sınav (8. hafta) için: yukarıdaki her algoritmada Gantt şeması çizip bekleme, dönüş ve yanıt sürelerini hesaplayabilmelisiniz.</a:t>
            </a:r>
            <a:endParaRPr lang="tr-TR"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Bellek Yönetimi, Sayfalama ve Bölütleme</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6.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Adres bağlama; mantıksal ve fiziksel adresler; MMU</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Takas (swapping) ve bitişik bellek tahsisi</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Dış ve iç parçalanma (fragmentation)</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Sayfalama, sayfa tabloları, TLB ve etkin erişim süresi; bölütleme</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5  ·  40</a:t>
            </a:r>
            <a:endParaRPr lang="tr-T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5  ·  41</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5</dc:title>
  <dc:subject>PptxGenJS Presentation</dc:subject>
  <dc:creator>PptxGenJS</dc:creator>
  <cp:lastModifiedBy>PptxGenJS</cp:lastModifiedBy>
  <cp:revision>1</cp:revision>
  <dcterms:created xsi:type="dcterms:W3CDTF">2026-10-08T13:05:23Z</dcterms:created>
  <dcterms:modified xsi:type="dcterms:W3CDTF">2026-10-08T13:05:23Z</dcterms:modified>
</cp:coreProperties>
</file>