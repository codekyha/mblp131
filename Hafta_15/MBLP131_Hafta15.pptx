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son haftasına hoş geldiniz. Bugün tamamen sınava hazırlanıyoruz: sınavın biçimi, kuram haftalarının (1–7) ve Linux haftalarının (9–14) kısa bir tekrarı, finalde çıkacak türden çözümlü alıştırma problemleri, sık yapılan hatalar ve sınav stratejisi. Sonunda bütün derse kısa bir geri bakış yapıp bundan sonra nereye gidilebileceğini konuşacağız. Sonraki slaytlarda köşeli parantez içindeki her şey henüz kesinleşmemiş, benim onaylamam gereken bilgilerdir.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Dersten önce köşeli parantezli bilgileri doldurun (tarih, salon, süre, hesap makinesi kuralı, formül kâğıdı, ağırlık). Öğrencilere bugün dağıtılan örnek kâğıdın gerçek sınavla aynı yapıya ve puan dağılımına sahip olduğunu [onaylanacak], ama soruların farklı olduğunu söyleyin. Resmî duyuru için Telegram'ı takip etmelerini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bütün dönemi kapsar: kuram haftaları 1–7 (vizede de vardı) ve uygulamalı Linux haftaları 9–14. Puanların kabaca üçte ikisi kuram, üçte biri uygulamadır. 1–7. haftaların en derli toplu özeti hâlâ 8. haftanın çalışma kılavuzudur; bugünkü notlarda daha kısa bir tekrar ve ek olarak uygulama kısmı var. Tabloda H =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ve 2. bölümler moladan önce, 3–6. bölümler moladan sonra. Öğrencilerin çözümlü problemler için kâğıt ve hesap makinesi hazır olsun: her problemi çözümü göstermeden önce kendileri denesinler.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8. hafta çalışma kılavuzunun sıkıştırılmış hâlidir. Burada yabancı gelen bir şey olursa o haftanın notlarına dönün ve tekrar sorularını yeniden çözün.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Tipik sorular: kuşakları sırayla sayın; bir toplu iş sisteminin kullanım oranını (U = t_çalışma/(t_çalışma + t_hazırlık)) ya da çoklu programlı bir sistemin kullanım oranını (U(n) = 1 − p^n) hesaplayın; işletim sisteminin iki bakış açısını açıklayın; ikili modun neden donanım desteğine ihtiyaç duyduğunu anlatın; monolitik ve mikroçekirdek yapıları karşılaştırın (hız ve güvenilirlik). Mod biti: 2. hafta notlarındaki gibi 0 = çekirdek, 1 = kullanıcı.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durumlu diyagramı ezberden, etiketleriyle birlikte çizin; klasik bir sınav sorusudur. Sistem çağrılarının altı kategorisini ve sürecin bellek düzenini (text, data, bss, öbek, yığıt) hatırlatın. Bağlam değişimi ek yükü: s = 0,1 ms ve q = 4 ms ile 0,1/4,1 = işlemci zamanının %2,44'ü geçişe gider (theory_check.py ile denetlendi).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üç süre formülü her zamanlama sorusunda gerekir. Bekleme süresi = yalnızca hazır kuyruğunda geçen süre. Kesintisiz zamanlamada yanıt süresi bekleme süresine eşittir. Amdahl örneği denetlendi: 1/(0,2 + 0,8/4)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Uzlaşımlarımız (sınavda yazın): bağlam değişimi süresi 0; eşitlikler önce varış zamanına, sonra ada göre bozulur; küçük öncelik numarası = yüksek öncelik; RR'de yeni gelen süreç, kesilen süreçten önce kuyruğa girer. Semaforlar: wait(S), S &lt;= 0 olduğu sürece bekler, sonra azaltır; signal(S) artırır; POSIX adları sem_wait ve sem_post. Kilitlenme (deadlock) 5. haftanın sonunda bir uyarı olarak geçmişti.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Sayfa numarası p adresin yüksek kısmı, konum (offset) d alçak kısmıdır; 2^n baytlık sayfalarla p = taban(a / 2^n) ve d = a mod 2^n; on altılık tabanda 4 KB'lık sayfalarla son üç on altılık basamak d'dir. Bizim EAT uzlaşımımız TLB aramasını hem isabette hem ıskada sayar; soru t_TLB vermiyorsa sadeleştirilmiş biçimi kullanın ve bunu belirtin. %50 kuralı: ayrılmış N bloğa karşılık 0,5 N blok parçalanmayla kaybolur; 0,5N/1,5N =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hafta Linux yarısına köprüdür: yollar (9. hafta), cp/mv/rm/ln (10. hafta), düğümün mod alanı (11. hafta). Sayısal soru türleri: FIFO/OPT/LRU çerçeve tabloları, sayfa hatalı EAT ve belli bir yavaşlama için en büyük p, doğrudan erişimde blok hesabı.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liste çalışma kılavuzundaki formül kâğıdının aynısıdır ('Formül ve komut kâğıdı' kısmı). Sınavda formül kâğıdı verilip verilmeyeceği henüz kesin değil; verilmeyecekmiş gibi hazırlanın. Her simge haftalık notlardaki anlamıyla kullanılır: t_m bellek erişim süresi, alfa TLB isabet oranı, p sayfa hatası oranı (U(n)'de ise G/Ç bekleme kesri — hangisi olduğu bağlamdan anlaşılır).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öğrenciler denesin (5 dakika). SRTF: t=1'de P2 (3) P1'i (4 kaldı) keser; t=2'de P3 (1) P2'yi keser; t=3'te P2 devam eder (2 kaldı) — P4 (4) ve P1 (4) bekler; t=5'te P1 ile P4'ün ikisinde de 4 kalmıştır, eşitliği varış bozar: P1 5–9, sonra P4 9–13. RR q=2: t=2'de kuyruk P2, P3, P1'dir (P3 tam 2'de geldi ve kesilen P1'den önce girer); t=4'te P4 (3'te geldi) P2 geri dönmeden önce zaten kuyruktadır. Tüm sayılar code/theory_check.py'den.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Merak edenler için on altılık görünüm: 2500 = 0x9C4, konum 0x1C4 = 452, fiziksel adres 0x1DC4 = 7620. Soru, sayfa tablosunun ötesinde bir sayfa numarası verirse (ör. dört girdili tabloda sayfa 4) yanıt şudur: geçersiz, MMU tuzak üretir. Tüm değerler theory_check.py ile denetlendi.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önce FIFO, sonra tabloyla LRU, sonra OPT. FIFO: 3, 5, 1 yüklenir; 0, 3'ün yerine geçer (en eski); 3, 5'in yerine geçer; 1, 0, 3, 1 isabet; 4, 1'in yerine geçer; 1, 0'ın yerine geçer; 0, 3'ün yerine geçer: 8 hata. LRU: 7 hata (tablo). OPT: 4. başvuruda 5'i çıkar (bir daha kullanılmaz), 4 başvurusunda 3'ü çıkar: 5 hata, bunların 3'ü zorunlu. Sayılar theory_check.py'den.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Birimler! Yerine koymadan önce 10 ms'yi 10.000.000 ns'ye çevirin. EAT, bellek erişim süresinin 21 katıdır. Blok sorusunda son baytı da mutlaka denetleyin: bir sonraki bloğa düşüyorsa kayıt için iki blok okumak gerekir. Tüm sayılar theory_check.py ile denetlendi.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dakika. İsteyen öğrenciler laboratuvar bilgisayarlarına girip bash mcmp117_lab_setup.sh komutunu çalıştırabilir; böylece ikinci saat için ~/lab temiz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Buradan sonraki her terminal kutusu Linux makinemizden alınmış gerçek çıktıdır; kullanıcı adı student olarak değiştirildi. Tarihler, PID'ler ve boyutlar sizin makinenizde farklı olacaktır. LC_ALL=C.UTF-8 kullanıyoruz; bu, ls ve sort çıktısının sırasını etkiler. Türkçe yerel ayarlı bir sistemde (LANG=tr_TR.UTF-8) birçok ileti Türkçe çıkar ve sıralama farklı olabilir.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(out_w09.txt, out_w10.txt). ls'in sütunlar hâlinde yazdığını, göreli cd ../../beta/docs komutunu ve ?'in tam olarak tek karakterle eşleştiğini gösterin (img00?.jpg 9 dosya verir, img010 gelmez). echo satırı, süslü ayraç genişletmesini ve joker karakterleri kabuğun yaptığını gösterir. rm -r kalıcı olarak siler: önce yolu mutlaka denetleyin, emin değilseniz rm -ri kullanın.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(out_w11.txt). Öğrencinin kendi grubunun adı burada da student'tır (kullanıcıya özel grup). umask 0002, Ubuntu'da sıradan kullanıcılar için varsayılandır: yeni dosyalar 664 (rw-rw-r--). Bir izin sorununu asla chmod 777 ile 'çözmeyin': bu herkese yazma izni verir. setuid (/usr/bin/passwd) ve yapışkan bit (sticky bit, /tmp) yalnızca kısaca anılmıştı.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(out_w12.txt). Boru hattını yüksek sesle okuyun: boşlukla ayrılmış 9. alanı (HTTP durum kodu) kes, eşit kodlar yan yana gelsin diye sırala, say, sayıya göre büyükten küçüğe sırala. Hata iletisi ekrana değil errors.txt'ye gitti: bu 2&gt;'dir. Bilinmesi gereken grep seçenekleri: -i -n -v -c -r -w; düzenli ifadeler ^ $ .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(out_w13.txt); PID'ler farklı olacaktır. İlk ps satırı komutlarımızı çalıştıran kabuktur (burada bir betik; sizin terminalinizde bash). Numarasız kill SIGTERM (15) gönderir — programa temizlik yapma fırsatı verin; kill -9'u yalnızca SIGTERM işe yaramazsa kullanın. Etkileşimli bir terminalde kabuk bir sonraki istemde '[1]+ Terminated sleep 600' bildirir. kill -l adları numaralara çevirir (x86 Linux'ta 15 9 2 19 18). 'nice değerini düşürmek' önceliği yükseltmek demektir; bunu yalnızca root yapabilir.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Soldaki kutu neredeyse her sınav betiğinin arkasındaki kalıptır: shebang satırı, $# ile argüman denetimi, kullanım iletisini standart hataya yazıp exit 1, bir döngü, bir sınama, aritmetik ve son echo. Sağdaki kutu gerçek çıktıdır (out_w14.txt): çift tırnak değişkenleri genişletir, tek tırnak genişletmez; aritmetik için $(( )), komut yerine koyma için $( ). 14. haftanın iki tam betiği (backup.sh, report.sh) iyi tekrar malzemesidir.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ve bir sonraki, çalışma kılavuzunda tek sayfalık komut kâğıdı olarak da var. Öğrencilere her komutu yalnızca tanımayı değil YAZABİLMEYİ hedeflemelerini söyleyin. Sınav sorularında seçenekler önemlidir: mkdir için -p, cp ve rm için -r, etkileşim için -i, sembolik bağlantı için -s, okunabilir boyutlar için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Ezberlemeye değer boru hattı kalıpları: 'cut | sort | uniq -c | sort -rn | head' (ilk N), 'grep -c' (eşleşen satırları say), 'tail -n +2' (CSV başlığını atla), 'sort -t, -k5 -rn' (CSV'yi 5. sütuna göre sayısal ve büyükten küçüğe sırala).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(out_wp_perm.txt). 11. haftadaki gibi: umask bit SİLER (yeni mod = istenen mod AND NOT umask); aritmetik bir çıkarma değildir. Çıkarmaya karşı örnek: umask 027 ve dosya için istenen 666 — basamak basamak 6 − 7 negatif olurdu, oysa 6 AND NOT 7 = 0. (a) için sembolik seçenek: chmod u=rwx,g=rx,o= report.sh.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(out_wp_pipe.txt); uzun komutlar slaytta bölündü, öğrenciler her birini tek satırda yazar. (a) ilk-N kalıbıdır. (b) Bütün satırda grep -c 404 kullanmak yanlış olur: 404 bir bayt sayısında ya da saatte de geçebilir; bu yüzden önce durum alanını kesin ve ^404$ ile alanın tamamını eşleyin. (c) Boşluklu ' 404 ' yalnızca durum alanıyla eşleşir, çünkü bayt sayısı son alandır (ardından boşluk gelmez).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çıktı (out_wp_script_src.txt, out_wp_script_run.txt). Sınavda puanlama: argüman denetimi ve çıkış durumu, alanın doğru çıkarılması (grep + cut), aritmetikli döngü, doğru çıktı; mantık açıksa küçük sözdizimi kayıpları az puan götürür. Tipik hatalar: = çevresinde boşluk (count = 0); $(( )) içinde $ unutmak aslında serbesttir, ama [ ] içinde boşluk unutmak değildir: [$# -ne 1] çalışmaz.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 vizede en sık gördüğüm hatalar [gerçek vize sonuçlarına göre uyarlayın]. Yöntem doğru olsa bile her biri puan kaybettirir. Zamanlama sorularında kullandığınız uzlaşımı her zaman yazın.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kart, öğrencilerin laboratuvarda gördüğü gerçek bir hata iletisine karşılık gelir: x = 5 için 'command not found', sınamalarda eksik boşluk için '[: missing ]' ya da '[$a: command not found', sort'suz uniq'te yanlış sayılar.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 90 dakika ve 100 puansa, puan başına bir dakika biraz yavaştır; bu yüzden öğrenciler bir soruda takılıp kalmamalı. Öneri: çoktan seçmeli ve komut bölümlerini hızlı yapın, kazandığınız zamanı sayısal problemlere harcayın.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Yanıtlar. (1) SRTF: P1 0–1, P2 1–3, P3 3–4, P1 4–7. Bekleme: P1 = 7 − 0 − 4 = 3, P2 = 3 − 1 − 2 = 0, P3 = 4 − 2 − 1 = 1; ortalama 4/3 = 1,33 ms. (2) 4 KB = 2^12: son üç on altılık basamak konumdur: p = 0x3, d = 0xA7F (6. hafta örneği). (3) umask 027. (4) grep -v INFO logs/system.log | wc -l ya da grep -vc INFO logs/system.log (laboratuvarımızda 41 verir: 120 satır, 79'u INFO).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her büyük fikri için bir cümle. Öğrenciler her satırı bir örnekle açıklayabiliyorsa hazırdırlar.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an geriye bakın: 1. haftada ENIAC ve delikli kartlarla başladık; bugün öğrenciler bir web sunucusu günlüğünü tek satırla inceleyip bunu bir betikle otomatikleştirebiliyor. Kuram, komutların NEDEN öyle davrandığını açıklar: ps 3. haftanın süreç durumlarını, ls -i 7. haftanın düğümlerini (inode), chmod ise 2. haftada ikili mod fikriyle gerekçelendirilen korumayı gösterir. Kutulardaki kısaltmalar: İS = işletim sistemi, eşz. = eşzamanlama, SB = sanal bellek.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Bağlantılar çalışma kılavuzunda (İleri okuma). Sertifikalar isteğe bağlıdır ve ücretlidir; sunucularla ya da ağ donanımıyla çalışmak isteyen meslek yüksekokulu öğrencileri için Linux Essentials iyi bir ilk hedeftir; bu, Elektronik Haberleşme Teknolojisi alanında bir kariyer için de önemlidir. Sınav hedefleri ve ücretler değişir; öğrenciler resmî siteleri denetlemelidir. Kaynakların çoğu İngilizcedir; bu derste İngilizce terimleri parantez içinde vermemizin nedeni de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slayt. Öğrencilere teşekkür edin, sınavla ilgili sorulara söz verin; Telegram kanalını ve sınav öncesi ofis saatlerini (duyurulacak) hatırlatın. Gelecek hafta yok: final sınavı dersin son etkinliğidir.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MBLP131  ·  HAFTA 15</a:t>
            </a:r>
            <a:endParaRPr lang="tr-TR"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tr-TR" sz="4000" b="1" dirty="0">
                <a:solidFill>
                  <a:srgbClr val="FFFFFF"/>
                </a:solidFill>
                <a:latin typeface="Cambria" pitchFamily="34" charset="0"/>
                <a:ea typeface="Cambria" pitchFamily="34" charset="-122"/>
                <a:cs typeface="Cambria" pitchFamily="34" charset="-120"/>
              </a:rPr>
              <a:t>İşletim Sistemleri</a:t>
            </a:r>
            <a:endParaRPr lang="tr-TR" sz="4000" dirty="0"/>
          </a:p>
          <a:p>
            <a:pPr indent="0" marL="0">
              <a:buNone/>
            </a:pPr>
            <a:r>
              <a:rPr lang="tr-TR" sz="4000" b="1" dirty="0">
                <a:solidFill>
                  <a:srgbClr val="FFFFFF"/>
                </a:solidFill>
                <a:latin typeface="Cambria" pitchFamily="34" charset="0"/>
                <a:ea typeface="Cambria" pitchFamily="34" charset="-122"/>
                <a:cs typeface="Cambria" pitchFamily="34" charset="-120"/>
              </a:rPr>
              <a:t>Temelleri</a:t>
            </a:r>
            <a:endParaRPr lang="tr-TR"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tr-TR" sz="2000" dirty="0">
                <a:solidFill>
                  <a:srgbClr val="F2F2F2"/>
                </a:solidFill>
                <a:latin typeface="Calibri" pitchFamily="34" charset="0"/>
                <a:ea typeface="Calibri" pitchFamily="34" charset="-122"/>
                <a:cs typeface="Calibri" pitchFamily="34" charset="-120"/>
              </a:rPr>
              <a:t>Hafta 15  ·  Final Sınavı Tekrarı ve Alıştırma</a:t>
            </a:r>
            <a:endParaRPr lang="tr-TR"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tr-TR" sz="1400" i="1" dirty="0">
                <a:solidFill>
                  <a:srgbClr val="8A9AA0"/>
                </a:solidFill>
                <a:latin typeface="Calibri" pitchFamily="34" charset="0"/>
                <a:ea typeface="Calibri" pitchFamily="34" charset="-122"/>
                <a:cs typeface="Calibri" pitchFamily="34" charset="-120"/>
              </a:rPr>
              <a:t>On beş hafta, tek sınav: ilk toplu iş sistemlerinden kendi kabuk betiklerinize.</a:t>
            </a:r>
            <a:endParaRPr lang="tr-TR"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tr-TR" sz="1000" dirty="0">
                <a:solidFill>
                  <a:srgbClr val="8A9AA0"/>
                </a:solidFill>
                <a:latin typeface="Calibri" pitchFamily="34" charset="0"/>
                <a:ea typeface="Calibri" pitchFamily="34" charset="-122"/>
                <a:cs typeface="Calibri" pitchFamily="34" charset="-120"/>
              </a:rPr>
              <a:t>Elektronik Haberleşme Teknolojisi Programı  ·  Meslek Yüksekokulu  ·  İstanbul Okan Üniversitesi</a:t>
            </a:r>
            <a:endParaRPr lang="tr-T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FİNAL SINAVI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Sınavla İlgili Bilgiler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a:t>
            </a:r>
            <a:endParaRPr lang="tr-TR" sz="900" dirty="0"/>
          </a:p>
        </p:txBody>
      </p:sp>
      <p:sp>
        <p:nvSpPr>
          <p:cNvPr id="6" name="Shape 4"/>
          <p:cNvSpPr/>
          <p:nvPr/>
        </p:nvSpPr>
        <p:spPr>
          <a:xfrm>
            <a:off x="54864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Ne zaman, nerede</a:t>
            </a:r>
            <a:endParaRPr lang="tr-TR" sz="1600" dirty="0"/>
          </a:p>
        </p:txBody>
      </p:sp>
      <p:sp>
        <p:nvSpPr>
          <p:cNvPr id="8" name="Text 6"/>
          <p:cNvSpPr txBox="1"/>
          <p:nvPr/>
        </p:nvSpPr>
        <p:spPr>
          <a:xfrm>
            <a:off x="777240" y="2148840"/>
            <a:ext cx="3093720" cy="98298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[Tarih, saat ve salon: dersin Telegram kanalında duyurulacak]</a:t>
            </a:r>
            <a:endParaRPr lang="tr-TR" sz="1500" dirty="0"/>
          </a:p>
        </p:txBody>
      </p:sp>
      <p:sp>
        <p:nvSpPr>
          <p:cNvPr id="9" name="Shape 7"/>
          <p:cNvSpPr/>
          <p:nvPr/>
        </p:nvSpPr>
        <p:spPr>
          <a:xfrm>
            <a:off x="432816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Süre</a:t>
            </a:r>
            <a:endParaRPr lang="tr-TR" sz="1600" dirty="0"/>
          </a:p>
        </p:txBody>
      </p:sp>
      <p:sp>
        <p:nvSpPr>
          <p:cNvPr id="11" name="Text 9"/>
          <p:cNvSpPr txBox="1"/>
          <p:nvPr/>
        </p:nvSpPr>
        <p:spPr>
          <a:xfrm>
            <a:off x="4556760" y="2148840"/>
            <a:ext cx="3093720" cy="98298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[90] dakika. [15] dakika erken gelin; oturma düzeni duyurulduğu gibi.</a:t>
            </a:r>
            <a:endParaRPr lang="tr-TR" sz="1500" dirty="0"/>
          </a:p>
        </p:txBody>
      </p:sp>
      <p:sp>
        <p:nvSpPr>
          <p:cNvPr id="12" name="Shape 10"/>
          <p:cNvSpPr/>
          <p:nvPr/>
        </p:nvSpPr>
        <p:spPr>
          <a:xfrm>
            <a:off x="8107680" y="150876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Kâğıt</a:t>
            </a:r>
            <a:endParaRPr lang="tr-TR" sz="1600" dirty="0"/>
          </a:p>
        </p:txBody>
      </p:sp>
      <p:sp>
        <p:nvSpPr>
          <p:cNvPr id="14" name="Text 12"/>
          <p:cNvSpPr txBox="1"/>
          <p:nvPr/>
        </p:nvSpPr>
        <p:spPr>
          <a:xfrm>
            <a:off x="8336280" y="2148840"/>
            <a:ext cx="3093720" cy="98298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Altı bölümde (A–F) 100 puan; bugün dağıtılan örnek kâğıtla aynı yapıda.</a:t>
            </a:r>
            <a:endParaRPr lang="tr-TR" sz="1500" dirty="0"/>
          </a:p>
        </p:txBody>
      </p:sp>
      <p:sp>
        <p:nvSpPr>
          <p:cNvPr id="15" name="Shape 13"/>
          <p:cNvSpPr/>
          <p:nvPr/>
        </p:nvSpPr>
        <p:spPr>
          <a:xfrm>
            <a:off x="54864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36804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Yanınızda</a:t>
            </a:r>
            <a:endParaRPr lang="tr-TR" sz="1600" dirty="0"/>
          </a:p>
        </p:txBody>
      </p:sp>
      <p:sp>
        <p:nvSpPr>
          <p:cNvPr id="17" name="Text 15"/>
          <p:cNvSpPr txBox="1"/>
          <p:nvPr/>
        </p:nvSpPr>
        <p:spPr>
          <a:xfrm>
            <a:off x="777240" y="4137660"/>
            <a:ext cx="3093720" cy="98298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Öğrenci kimliği, kalem. [Basit, programlanamayan hesap makinesi: serbest — kesinleşecek]</a:t>
            </a:r>
            <a:endParaRPr lang="tr-TR" sz="1500" dirty="0"/>
          </a:p>
        </p:txBody>
      </p:sp>
      <p:sp>
        <p:nvSpPr>
          <p:cNvPr id="18" name="Shape 16"/>
          <p:cNvSpPr/>
          <p:nvPr/>
        </p:nvSpPr>
        <p:spPr>
          <a:xfrm>
            <a:off x="432816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36804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Kurallar</a:t>
            </a:r>
            <a:endParaRPr lang="tr-TR" sz="1600" dirty="0"/>
          </a:p>
        </p:txBody>
      </p:sp>
      <p:sp>
        <p:nvSpPr>
          <p:cNvPr id="20" name="Text 18"/>
          <p:cNvSpPr txBox="1"/>
          <p:nvPr/>
        </p:nvSpPr>
        <p:spPr>
          <a:xfrm>
            <a:off x="4556760" y="4137660"/>
            <a:ext cx="3093720" cy="98298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Kitap kapalı [onaylanacak]. [Formül kâğıdı verilir / verilmez — kesinleşecek]. Telefonlar kapalı, çantada.</a:t>
            </a:r>
            <a:endParaRPr lang="tr-TR" sz="1500" dirty="0"/>
          </a:p>
        </p:txBody>
      </p:sp>
      <p:sp>
        <p:nvSpPr>
          <p:cNvPr id="21" name="Shape 19"/>
          <p:cNvSpPr/>
          <p:nvPr/>
        </p:nvSpPr>
        <p:spPr>
          <a:xfrm>
            <a:off x="8107680" y="3497580"/>
            <a:ext cx="355092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368046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Ağırlık</a:t>
            </a:r>
            <a:endParaRPr lang="tr-TR" sz="1600" dirty="0"/>
          </a:p>
        </p:txBody>
      </p:sp>
      <p:sp>
        <p:nvSpPr>
          <p:cNvPr id="23" name="Text 21"/>
          <p:cNvSpPr txBox="1"/>
          <p:nvPr/>
        </p:nvSpPr>
        <p:spPr>
          <a:xfrm>
            <a:off x="8336280" y="4137660"/>
            <a:ext cx="3093720" cy="982980"/>
          </a:xfrm>
          <a:prstGeom prst="rect">
            <a:avLst/>
          </a:prstGeom>
          <a:noFill/>
          <a:ln/>
        </p:spPr>
        <p:txBody>
          <a:bodyPr wrap="square" lIns="0" tIns="0" rIns="0" bIns="0" rtlCol="0" anchor="t"/>
          <a:lstStyle/>
          <a:p>
            <a:pPr indent="0" marL="0">
              <a:spcAft>
                <a:spcPts val="400"/>
              </a:spcAft>
              <a:buNone/>
            </a:pPr>
            <a:r>
              <a:rPr lang="tr-TR" sz="1500" dirty="0">
                <a:solidFill>
                  <a:srgbClr val="3A464C"/>
                </a:solidFill>
                <a:latin typeface="Calibri" pitchFamily="34" charset="0"/>
                <a:ea typeface="Calibri" pitchFamily="34" charset="-122"/>
                <a:cs typeface="Calibri" pitchFamily="34" charset="-120"/>
              </a:rPr>
              <a:t>[Finalin ders notuna katkısı %__ — izlenceye bakın / kesinleşecek]</a:t>
            </a:r>
            <a:endParaRPr lang="tr-TR" sz="1500" dirty="0"/>
          </a:p>
        </p:txBody>
      </p:sp>
      <p:sp>
        <p:nvSpPr>
          <p:cNvPr id="24" name="Shape 22"/>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[Köşeli parantez] içindeki her şey henüz resmî değildir. Geçerli olan, Telegram'daki son duyurudur.</a:t>
            </a:r>
            <a:endParaRPr lang="tr-T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FİNAL SINAVI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Final Neyi Kapsıyor: Dersin Tamamını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a:t>
            </a:r>
            <a:endParaRPr lang="tr-TR"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051560"/>
                <a:gridCol w="5943600"/>
                <a:gridCol w="2377440"/>
                <a:gridCol w="173736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Bölüm</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Soru türü</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Haftalar</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Puan*</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Çoktan seçmeli: kavramlar ve komutlar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H1–H7, H9–H14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20</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B</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Kısa yanıt: açıkla, karşılaştır, sırala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H1–H7</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C</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Sayısal problemler: Gantt şeması, sayfalama/TLB, sayfa değiştirme, EAT, blok hesabı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H4–H7 (+ H1, H3)</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36</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D</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Komutu yazın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H9–H13</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14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Boru hattını yazın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H12</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9</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Kısa bir Bash betiği yazın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H14</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9</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*Örnek kâğıdın puan dağılımı [gerçek kâğıt biraz farklı olabilir — onaylanacak]. 8. hafta (vize) yeni konu eklemez; onun çalışma kılavuzu 1–7. haftalar için hâlâ geçerlidir.</a:t>
            </a:r>
            <a:endParaRPr lang="tr-T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HAFTA 15</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Bugünün Gündemi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4</a:t>
            </a:r>
            <a:endParaRPr lang="tr-TR" sz="900" dirty="0"/>
          </a:p>
        </p:txBody>
      </p:sp>
      <p:sp>
        <p:nvSpPr>
          <p:cNvPr id="6" name="Shape 4"/>
          <p:cNvSpPr/>
          <p:nvPr/>
        </p:nvSpPr>
        <p:spPr>
          <a:xfrm>
            <a:off x="548640" y="1508760"/>
            <a:ext cx="658368" cy="658368"/>
          </a:xfrm>
          <a:prstGeom prst="roundRect">
            <a:avLst>
              <a:gd name="adj" fmla="val 6944"/>
            </a:avLst>
          </a:prstGeom>
          <a:solidFill>
            <a:srgbClr val="02C39A"/>
          </a:solidFill>
          <a:ln/>
        </p:spPr>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1</a:t>
            </a:r>
            <a:endParaRPr lang="tr-TR" sz="2000" dirty="0"/>
          </a:p>
        </p:txBody>
      </p:sp>
      <p:sp>
        <p:nvSpPr>
          <p:cNvPr id="8" name="Shape 6"/>
          <p:cNvSpPr/>
          <p:nvPr/>
        </p:nvSpPr>
        <p:spPr>
          <a:xfrm>
            <a:off x="1371600" y="1508760"/>
            <a:ext cx="10287000" cy="658368"/>
          </a:xfrm>
          <a:prstGeom prst="roundRect">
            <a:avLst>
              <a:gd name="adj" fmla="val 6944"/>
            </a:avLst>
          </a:prstGeom>
          <a:solidFill>
            <a:srgbClr val="F2F2F2"/>
          </a:solidFill>
          <a:ln/>
        </p:spPr>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Kuram tekrarı   </a:t>
            </a:r>
            <a:r>
              <a:rPr lang="tr-TR" sz="1500" dirty="0">
                <a:solidFill>
                  <a:srgbClr val="3A464C"/>
                </a:solidFill>
                <a:latin typeface="Calibri" pitchFamily="34" charset="0"/>
                <a:ea typeface="Calibri" pitchFamily="34" charset="-122"/>
                <a:cs typeface="Calibri" pitchFamily="34" charset="-120"/>
              </a:rPr>
              <a:t>1–7. haftalar yedi slaytta, ayrıca tek sayfalık formül kâğıdı.</a:t>
            </a:r>
            <a:endParaRPr lang="tr-TR" sz="1400" dirty="0"/>
          </a:p>
        </p:txBody>
      </p:sp>
      <p:sp>
        <p:nvSpPr>
          <p:cNvPr id="10" name="Shape 8"/>
          <p:cNvSpPr/>
          <p:nvPr/>
        </p:nvSpPr>
        <p:spPr>
          <a:xfrm>
            <a:off x="548640" y="2295144"/>
            <a:ext cx="658368" cy="658368"/>
          </a:xfrm>
          <a:prstGeom prst="roundRect">
            <a:avLst>
              <a:gd name="adj" fmla="val 6944"/>
            </a:avLst>
          </a:prstGeom>
          <a:solidFill>
            <a:srgbClr val="02C39A"/>
          </a:solidFill>
          <a:ln/>
        </p:spPr>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2</a:t>
            </a:r>
            <a:endParaRPr lang="tr-TR"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Kuram alıştırması   </a:t>
            </a:r>
            <a:r>
              <a:rPr lang="tr-TR" sz="1500" dirty="0">
                <a:solidFill>
                  <a:srgbClr val="3A464C"/>
                </a:solidFill>
                <a:latin typeface="Calibri" pitchFamily="34" charset="0"/>
                <a:ea typeface="Calibri" pitchFamily="34" charset="-122"/>
                <a:cs typeface="Calibri" pitchFamily="34" charset="-120"/>
              </a:rPr>
              <a:t>Dört çözümlü problem: zamanlama, sayfalama + TLB, sayfa değiştirme, EAT ve bloklar.</a:t>
            </a:r>
            <a:endParaRPr lang="tr-TR" sz="1400" dirty="0"/>
          </a:p>
        </p:txBody>
      </p:sp>
      <p:sp>
        <p:nvSpPr>
          <p:cNvPr id="14" name="Shape 12"/>
          <p:cNvSpPr/>
          <p:nvPr/>
        </p:nvSpPr>
        <p:spPr>
          <a:xfrm>
            <a:off x="548640" y="3081528"/>
            <a:ext cx="658368" cy="658368"/>
          </a:xfrm>
          <a:prstGeom prst="roundRect">
            <a:avLst>
              <a:gd name="adj" fmla="val 6944"/>
            </a:avLst>
          </a:prstGeom>
          <a:solidFill>
            <a:srgbClr val="02C39A"/>
          </a:solidFill>
          <a:ln/>
        </p:spPr>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3</a:t>
            </a:r>
            <a:endParaRPr lang="tr-TR"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Uygulama tekrarı   </a:t>
            </a:r>
            <a:r>
              <a:rPr lang="tr-TR" sz="1500" dirty="0">
                <a:solidFill>
                  <a:srgbClr val="3A464C"/>
                </a:solidFill>
                <a:latin typeface="Calibri" pitchFamily="34" charset="0"/>
                <a:ea typeface="Calibri" pitchFamily="34" charset="-122"/>
                <a:cs typeface="Calibri" pitchFamily="34" charset="-120"/>
              </a:rPr>
              <a:t>9–14. haftalar: kabuk, dosyalar, izinler, borular, süreçler, betikler — gerçek çıktı.</a:t>
            </a:r>
            <a:endParaRPr lang="tr-TR" sz="1400" dirty="0"/>
          </a:p>
        </p:txBody>
      </p:sp>
      <p:sp>
        <p:nvSpPr>
          <p:cNvPr id="18" name="Shape 16"/>
          <p:cNvSpPr/>
          <p:nvPr/>
        </p:nvSpPr>
        <p:spPr>
          <a:xfrm>
            <a:off x="548640" y="3867912"/>
            <a:ext cx="658368" cy="658368"/>
          </a:xfrm>
          <a:prstGeom prst="roundRect">
            <a:avLst>
              <a:gd name="adj" fmla="val 6944"/>
            </a:avLst>
          </a:prstGeom>
          <a:solidFill>
            <a:srgbClr val="02C39A"/>
          </a:solidFill>
          <a:ln/>
        </p:spPr>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4</a:t>
            </a:r>
            <a:endParaRPr lang="tr-TR"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Uygulama alıştırması   </a:t>
            </a:r>
            <a:r>
              <a:rPr lang="tr-TR" sz="1500" dirty="0">
                <a:solidFill>
                  <a:srgbClr val="3A464C"/>
                </a:solidFill>
                <a:latin typeface="Calibri" pitchFamily="34" charset="0"/>
                <a:ea typeface="Calibri" pitchFamily="34" charset="-122"/>
                <a:cs typeface="Calibri" pitchFamily="34" charset="-120"/>
              </a:rPr>
              <a:t>Komutu, boru hattını, betiği yazın: üç çözümlü problem.</a:t>
            </a:r>
            <a:endParaRPr lang="tr-TR" sz="1400" dirty="0"/>
          </a:p>
        </p:txBody>
      </p:sp>
      <p:sp>
        <p:nvSpPr>
          <p:cNvPr id="22" name="Shape 20"/>
          <p:cNvSpPr/>
          <p:nvPr/>
        </p:nvSpPr>
        <p:spPr>
          <a:xfrm>
            <a:off x="548640" y="4654296"/>
            <a:ext cx="658368" cy="658368"/>
          </a:xfrm>
          <a:prstGeom prst="roundRect">
            <a:avLst>
              <a:gd name="adj" fmla="val 6944"/>
            </a:avLst>
          </a:prstGeom>
          <a:solidFill>
            <a:srgbClr val="02C39A"/>
          </a:solidFill>
          <a:ln/>
        </p:spPr>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5</a:t>
            </a:r>
            <a:endParaRPr lang="tr-TR"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Sınav stratejisi   </a:t>
            </a:r>
            <a:r>
              <a:rPr lang="tr-TR" sz="1500" dirty="0">
                <a:solidFill>
                  <a:srgbClr val="3A464C"/>
                </a:solidFill>
                <a:latin typeface="Calibri" pitchFamily="34" charset="0"/>
                <a:ea typeface="Calibri" pitchFamily="34" charset="-122"/>
                <a:cs typeface="Calibri" pitchFamily="34" charset="-120"/>
              </a:rPr>
              <a:t>Sık yapılan hatalar, 90 dakikanın kullanımı, kısa bir sınav.</a:t>
            </a:r>
            <a:endParaRPr lang="tr-TR" sz="1400" dirty="0"/>
          </a:p>
        </p:txBody>
      </p:sp>
      <p:sp>
        <p:nvSpPr>
          <p:cNvPr id="26" name="Shape 24"/>
          <p:cNvSpPr/>
          <p:nvPr/>
        </p:nvSpPr>
        <p:spPr>
          <a:xfrm>
            <a:off x="548640" y="5440680"/>
            <a:ext cx="658368" cy="658368"/>
          </a:xfrm>
          <a:prstGeom prst="roundRect">
            <a:avLst>
              <a:gd name="adj" fmla="val 6944"/>
            </a:avLst>
          </a:prstGeom>
          <a:solidFill>
            <a:srgbClr val="02C39A"/>
          </a:solidFill>
          <a:ln/>
        </p:spPr>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tr-TR" sz="2000" b="1" dirty="0">
                <a:solidFill>
                  <a:srgbClr val="36454F"/>
                </a:solidFill>
                <a:latin typeface="Cambria" pitchFamily="34" charset="0"/>
                <a:ea typeface="Cambria" pitchFamily="34" charset="-122"/>
                <a:cs typeface="Cambria" pitchFamily="34" charset="-120"/>
              </a:rPr>
              <a:t>6</a:t>
            </a:r>
            <a:endParaRPr lang="tr-TR"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tr-TR" sz="1700" b="1" dirty="0">
                <a:solidFill>
                  <a:srgbClr val="36454F"/>
                </a:solidFill>
                <a:latin typeface="Cambria" pitchFamily="34" charset="0"/>
                <a:ea typeface="Cambria" pitchFamily="34" charset="-122"/>
                <a:cs typeface="Cambria" pitchFamily="34" charset="-120"/>
              </a:rPr>
              <a:t>Dersin kapanışı   </a:t>
            </a:r>
            <a:r>
              <a:rPr lang="tr-TR" sz="1500" dirty="0">
                <a:solidFill>
                  <a:srgbClr val="3A464C"/>
                </a:solidFill>
                <a:latin typeface="Calibri" pitchFamily="34" charset="0"/>
                <a:ea typeface="Calibri" pitchFamily="34" charset="-122"/>
                <a:cs typeface="Calibri" pitchFamily="34" charset="-120"/>
              </a:rPr>
              <a:t>Neler öğrendiniz, bundan sonra nereye?</a:t>
            </a:r>
            <a:endParaRPr lang="tr-T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1</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Kuram Tekrarı: 1–7. Haftalar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Haftalık notlardakiyle aynı terimler, aynı formüller, aynı uzlaşımlar.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15  ·  5</a:t>
            </a:r>
            <a:endParaRPr lang="tr-TR"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1–2. HAFTALAR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Tarihçe, Tanımlar, Hedefler ve Yapılar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6</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1. hafta — İşletim sistemleri neden var?</a:t>
            </a:r>
            <a:endParaRPr lang="tr-TR"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İşletim sistemi yok (ENIAC, 1945) → toplu iş + yerleşik monitör (GM-NAA I/O, 1956) → çoklu programlama ve zaman paylaşımı (1960'lar) → kişisel bilgisayarlar → telefonlar ve bulut.</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Her şeyi boşta kalan işlemci yönlendirdi:</a:t>
            </a:r>
            <a:r>
              <a:rPr lang="tr-TR" sz="1400" dirty="0">
                <a:solidFill>
                  <a:srgbClr val="3A464C"/>
                </a:solidFill>
                <a:latin typeface="Calibri" pitchFamily="34" charset="0"/>
                <a:ea typeface="Calibri" pitchFamily="34" charset="-122"/>
                <a:cs typeface="Calibri" pitchFamily="34" charset="-120"/>
              </a:rPr>
              <a:t> U = t_çalışma / (t_çalışma + t_hazırlık);  n işin her biri zamanın p kesrinde G/Ç beklerse: U(n) = 1 − pⁿ.</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Tarihler:</a:t>
            </a:r>
            <a:r>
              <a:rPr lang="tr-TR" sz="1400" dirty="0">
                <a:solidFill>
                  <a:srgbClr val="3A464C"/>
                </a:solidFill>
                <a:latin typeface="Calibri" pitchFamily="34" charset="0"/>
                <a:ea typeface="Calibri" pitchFamily="34" charset="-122"/>
                <a:cs typeface="Calibri" pitchFamily="34" charset="-120"/>
              </a:rPr>
              <a:t> UNIX 1969 (Bell Labs), Linux 1991 (Torvalds).</a:t>
            </a:r>
            <a:endParaRPr lang="tr-TR"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2. hafta — İşletim sistemi nedir?</a:t>
            </a:r>
            <a:endParaRPr lang="tr-TR"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İki bakış:</a:t>
            </a:r>
            <a:r>
              <a:rPr lang="tr-TR" sz="1400" dirty="0">
                <a:solidFill>
                  <a:srgbClr val="3A464C"/>
                </a:solidFill>
                <a:latin typeface="Calibri" pitchFamily="34" charset="0"/>
                <a:ea typeface="Calibri" pitchFamily="34" charset="-122"/>
                <a:cs typeface="Calibri" pitchFamily="34" charset="-120"/>
              </a:rPr>
              <a:t> genişletilmiş makine (soyutlama) ve kaynak yöneticisi (zamanda ve uzayda paylaştırma). Çekirdek = bellekte hep duran öz.</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Hedefler:</a:t>
            </a:r>
            <a:r>
              <a:rPr lang="tr-TR" sz="1400" dirty="0">
                <a:solidFill>
                  <a:srgbClr val="3A464C"/>
                </a:solidFill>
                <a:latin typeface="Calibri" pitchFamily="34" charset="0"/>
                <a:ea typeface="Calibri" pitchFamily="34" charset="-122"/>
                <a:cs typeface="Calibri" pitchFamily="34" charset="-120"/>
              </a:rPr>
              <a:t> kolaylık, verimlilik, gelişebilirlik.</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Donanım:</a:t>
            </a:r>
            <a:r>
              <a:rPr lang="tr-TR" sz="1400" dirty="0">
                <a:solidFill>
                  <a:srgbClr val="3A464C"/>
                </a:solidFill>
                <a:latin typeface="Calibri" pitchFamily="34" charset="0"/>
                <a:ea typeface="Calibri" pitchFamily="34" charset="-122"/>
                <a:cs typeface="Calibri" pitchFamily="34" charset="-120"/>
              </a:rPr>
              <a:t> kesmeler; bellek hiyerarşisi yazmaçlar → önbellek → RAM → SSD → HDD.</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İkili mod:</a:t>
            </a:r>
            <a:r>
              <a:rPr lang="tr-TR" sz="1400" dirty="0">
                <a:solidFill>
                  <a:srgbClr val="3A464C"/>
                </a:solidFill>
                <a:latin typeface="Calibri" pitchFamily="34" charset="0"/>
                <a:ea typeface="Calibri" pitchFamily="34" charset="-122"/>
                <a:cs typeface="Calibri" pitchFamily="34" charset="-120"/>
              </a:rPr>
              <a:t> mod biti 0 = çekirdek, 1 = kullanıcı; sistem çağrısı çekirdek moduna tuzakla geçer.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Yapılar:</a:t>
            </a:r>
            <a:r>
              <a:rPr lang="tr-TR" sz="1400" dirty="0">
                <a:solidFill>
                  <a:srgbClr val="3A464C"/>
                </a:solidFill>
                <a:latin typeface="Calibri" pitchFamily="34" charset="0"/>
                <a:ea typeface="Calibri" pitchFamily="34" charset="-122"/>
                <a:cs typeface="Calibri" pitchFamily="34" charset="-120"/>
              </a:rPr>
              <a:t> basit, monolitik, katmanlı, mikroçekirdek, modüler, hibrit.</a:t>
            </a:r>
            <a:endParaRPr lang="tr-TR"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Tipik sorular: toplu ya da çoklu programlı sistemde U'yu hesaplayın; iki bakışı açıklayın; ikili mod neden donanım ister; monolitik ve mikroçekirdek (hız ve güvenilirlik).</a:t>
            </a:r>
            <a:endParaRPr lang="tr-TR"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3.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Hizmetler, Sistem Çağrıları ve Sürecin Yaşam Döngüsü</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7</a:t>
            </a:r>
            <a:endParaRPr lang="tr-TR" sz="900" dirty="0"/>
          </a:p>
        </p:txBody>
      </p:sp>
      <p:sp>
        <p:nvSpPr>
          <p:cNvPr id="6" name="Shape 4"/>
          <p:cNvSpPr/>
          <p:nvPr/>
        </p:nvSpPr>
        <p:spPr>
          <a:xfrm>
            <a:off x="548640" y="1600200"/>
            <a:ext cx="1554480" cy="566928"/>
          </a:xfrm>
          <a:prstGeom prst="roundRect">
            <a:avLst>
              <a:gd name="adj" fmla="val 8065"/>
            </a:avLst>
          </a:prstGeom>
          <a:solidFill>
            <a:srgbClr val="F2F2F2"/>
          </a:solidFill>
          <a:ln/>
        </p:spPr>
      </p:sp>
      <p:sp>
        <p:nvSpPr>
          <p:cNvPr id="7" name="Text 5"/>
          <p:cNvSpPr txBox="1"/>
          <p:nvPr/>
        </p:nvSpPr>
        <p:spPr>
          <a:xfrm>
            <a:off x="548640" y="1600200"/>
            <a:ext cx="1554480" cy="566928"/>
          </a:xfrm>
          <a:prstGeom prst="rect">
            <a:avLst/>
          </a:prstGeom>
          <a:noFill/>
          <a:ln/>
        </p:spPr>
        <p:txBody>
          <a:bodyPr wrap="square" lIns="38100" tIns="38100" rIns="38100" bIns="38100" rtlCol="0" anchor="ctr"/>
          <a:lstStyle/>
          <a:p>
            <a:pPr algn="ctr" indent="0" marL="0">
              <a:buNone/>
            </a:pPr>
            <a:r>
              <a:rPr lang="tr-TR" sz="1500" b="1" dirty="0">
                <a:solidFill>
                  <a:srgbClr val="36454F"/>
                </a:solidFill>
                <a:latin typeface="Cambria" pitchFamily="34" charset="0"/>
                <a:ea typeface="Cambria" pitchFamily="34" charset="-122"/>
                <a:cs typeface="Cambria" pitchFamily="34" charset="-120"/>
              </a:rPr>
              <a:t>yeni</a:t>
            </a:r>
            <a:endParaRPr lang="tr-TR" sz="1500" dirty="0"/>
          </a:p>
        </p:txBody>
      </p:sp>
      <p:sp>
        <p:nvSpPr>
          <p:cNvPr id="8" name="Shape 6"/>
          <p:cNvSpPr/>
          <p:nvPr/>
        </p:nvSpPr>
        <p:spPr>
          <a:xfrm>
            <a:off x="1737360" y="3017520"/>
            <a:ext cx="1554480" cy="566928"/>
          </a:xfrm>
          <a:prstGeom prst="roundRect">
            <a:avLst>
              <a:gd name="adj" fmla="val 8065"/>
            </a:avLst>
          </a:prstGeom>
          <a:solidFill>
            <a:srgbClr val="D7E9E6"/>
          </a:solidFill>
          <a:ln/>
        </p:spPr>
      </p:sp>
      <p:sp>
        <p:nvSpPr>
          <p:cNvPr id="9" name="Text 7"/>
          <p:cNvSpPr txBox="1"/>
          <p:nvPr/>
        </p:nvSpPr>
        <p:spPr>
          <a:xfrm>
            <a:off x="1737360" y="3017520"/>
            <a:ext cx="1554480" cy="566928"/>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mbria" pitchFamily="34" charset="0"/>
                <a:ea typeface="Cambria" pitchFamily="34" charset="-122"/>
                <a:cs typeface="Cambria" pitchFamily="34" charset="-120"/>
              </a:rPr>
              <a:t>hazır</a:t>
            </a:r>
            <a:endParaRPr lang="tr-TR" sz="1500" dirty="0"/>
          </a:p>
        </p:txBody>
      </p:sp>
      <p:sp>
        <p:nvSpPr>
          <p:cNvPr id="10" name="Shape 8"/>
          <p:cNvSpPr/>
          <p:nvPr/>
        </p:nvSpPr>
        <p:spPr>
          <a:xfrm>
            <a:off x="5120640" y="3017520"/>
            <a:ext cx="1554480" cy="566928"/>
          </a:xfrm>
          <a:prstGeom prst="roundRect">
            <a:avLst>
              <a:gd name="adj" fmla="val 8065"/>
            </a:avLst>
          </a:prstGeom>
          <a:solidFill>
            <a:srgbClr val="02C39A"/>
          </a:solidFill>
          <a:ln/>
        </p:spPr>
      </p:sp>
      <p:sp>
        <p:nvSpPr>
          <p:cNvPr id="11" name="Text 9"/>
          <p:cNvSpPr txBox="1"/>
          <p:nvPr/>
        </p:nvSpPr>
        <p:spPr>
          <a:xfrm>
            <a:off x="5120640" y="3017520"/>
            <a:ext cx="1554480" cy="566928"/>
          </a:xfrm>
          <a:prstGeom prst="rect">
            <a:avLst/>
          </a:prstGeom>
          <a:noFill/>
          <a:ln/>
        </p:spPr>
        <p:txBody>
          <a:bodyPr wrap="square" lIns="38100" tIns="38100" rIns="38100" bIns="38100" rtlCol="0" anchor="ctr"/>
          <a:lstStyle/>
          <a:p>
            <a:pPr algn="ctr" indent="0" marL="0">
              <a:buNone/>
            </a:pPr>
            <a:r>
              <a:rPr lang="tr-TR" sz="1500" b="1" dirty="0">
                <a:solidFill>
                  <a:srgbClr val="212121"/>
                </a:solidFill>
                <a:latin typeface="Cambria" pitchFamily="34" charset="0"/>
                <a:ea typeface="Cambria" pitchFamily="34" charset="-122"/>
                <a:cs typeface="Cambria" pitchFamily="34" charset="-120"/>
              </a:rPr>
              <a:t>çalışıyor</a:t>
            </a:r>
            <a:endParaRPr lang="tr-TR" sz="1500" dirty="0"/>
          </a:p>
        </p:txBody>
      </p:sp>
      <p:sp>
        <p:nvSpPr>
          <p:cNvPr id="12" name="Shape 10"/>
          <p:cNvSpPr/>
          <p:nvPr/>
        </p:nvSpPr>
        <p:spPr>
          <a:xfrm>
            <a:off x="6400800" y="1600200"/>
            <a:ext cx="1554480" cy="566928"/>
          </a:xfrm>
          <a:prstGeom prst="roundRect">
            <a:avLst>
              <a:gd name="adj" fmla="val 8065"/>
            </a:avLst>
          </a:prstGeom>
          <a:solidFill>
            <a:srgbClr val="F2F2F2"/>
          </a:solidFill>
          <a:ln/>
        </p:spPr>
      </p:sp>
      <p:sp>
        <p:nvSpPr>
          <p:cNvPr id="13" name="Text 11"/>
          <p:cNvSpPr txBox="1"/>
          <p:nvPr/>
        </p:nvSpPr>
        <p:spPr>
          <a:xfrm>
            <a:off x="6400800" y="1600200"/>
            <a:ext cx="1554480" cy="566928"/>
          </a:xfrm>
          <a:prstGeom prst="rect">
            <a:avLst/>
          </a:prstGeom>
          <a:noFill/>
          <a:ln/>
        </p:spPr>
        <p:txBody>
          <a:bodyPr wrap="square" lIns="38100" tIns="38100" rIns="38100" bIns="38100" rtlCol="0" anchor="ctr"/>
          <a:lstStyle/>
          <a:p>
            <a:pPr algn="ctr" indent="0" marL="0">
              <a:buNone/>
            </a:pPr>
            <a:r>
              <a:rPr lang="tr-TR" sz="1500" b="1" dirty="0">
                <a:solidFill>
                  <a:srgbClr val="36454F"/>
                </a:solidFill>
                <a:latin typeface="Cambria" pitchFamily="34" charset="0"/>
                <a:ea typeface="Cambria" pitchFamily="34" charset="-122"/>
                <a:cs typeface="Cambria" pitchFamily="34" charset="-120"/>
              </a:rPr>
              <a:t>sonlandı</a:t>
            </a:r>
            <a:endParaRPr lang="tr-TR" sz="1500" dirty="0"/>
          </a:p>
        </p:txBody>
      </p:sp>
      <p:sp>
        <p:nvSpPr>
          <p:cNvPr id="14" name="Shape 12"/>
          <p:cNvSpPr/>
          <p:nvPr/>
        </p:nvSpPr>
        <p:spPr>
          <a:xfrm>
            <a:off x="3429000" y="4572000"/>
            <a:ext cx="1554480" cy="566928"/>
          </a:xfrm>
          <a:prstGeom prst="roundRect">
            <a:avLst>
              <a:gd name="adj" fmla="val 8065"/>
            </a:avLst>
          </a:prstGeom>
          <a:solidFill>
            <a:srgbClr val="50808E"/>
          </a:solidFill>
          <a:ln/>
        </p:spPr>
      </p:sp>
      <p:sp>
        <p:nvSpPr>
          <p:cNvPr id="15" name="Text 13"/>
          <p:cNvSpPr txBox="1"/>
          <p:nvPr/>
        </p:nvSpPr>
        <p:spPr>
          <a:xfrm>
            <a:off x="3429000" y="4572000"/>
            <a:ext cx="1554480" cy="566928"/>
          </a:xfrm>
          <a:prstGeom prst="rect">
            <a:avLst/>
          </a:prstGeom>
          <a:noFill/>
          <a:ln/>
        </p:spPr>
        <p:txBody>
          <a:bodyPr wrap="square" lIns="38100" tIns="38100" rIns="38100" bIns="38100" rtlCol="0" anchor="ctr"/>
          <a:lstStyle/>
          <a:p>
            <a:pPr algn="ctr" indent="0" marL="0">
              <a:buNone/>
            </a:pPr>
            <a:r>
              <a:rPr lang="tr-TR" sz="1500" b="1" dirty="0">
                <a:solidFill>
                  <a:srgbClr val="FFFFFF"/>
                </a:solidFill>
                <a:latin typeface="Cambria" pitchFamily="34" charset="0"/>
                <a:ea typeface="Cambria" pitchFamily="34" charset="-122"/>
                <a:cs typeface="Cambria" pitchFamily="34" charset="-120"/>
              </a:rPr>
              <a:t>bekliyor</a:t>
            </a:r>
            <a:endParaRPr lang="tr-TR" sz="1500" dirty="0"/>
          </a:p>
        </p:txBody>
      </p:sp>
      <p:sp>
        <p:nvSpPr>
          <p:cNvPr id="16" name="Shape 14"/>
          <p:cNvSpPr/>
          <p:nvPr/>
        </p:nvSpPr>
        <p:spPr>
          <a:xfrm>
            <a:off x="1325880" y="2185416"/>
            <a:ext cx="960120" cy="813816"/>
          </a:xfrm>
          <a:prstGeom prst="line">
            <a:avLst/>
          </a:prstGeom>
          <a:noFill/>
          <a:ln w="22225">
            <a:solidFill>
              <a:srgbClr val="50808E"/>
            </a:solidFill>
            <a:prstDash val="solid"/>
            <a:tailEnd type="triangle"/>
          </a:ln>
        </p:spPr>
      </p:sp>
      <p:sp>
        <p:nvSpPr>
          <p:cNvPr id="17" name="Text 15"/>
          <p:cNvSpPr txBox="1"/>
          <p:nvPr/>
        </p:nvSpPr>
        <p:spPr>
          <a:xfrm>
            <a:off x="457200" y="2468880"/>
            <a:ext cx="1188720" cy="274320"/>
          </a:xfrm>
          <a:prstGeom prst="rect">
            <a:avLst/>
          </a:prstGeom>
          <a:noFill/>
          <a:ln/>
        </p:spPr>
        <p:txBody>
          <a:bodyPr wrap="square" lIns="0" tIns="0" rIns="0" bIns="0" rtlCol="0" anchor="t"/>
          <a:lstStyle/>
          <a:p>
            <a:pPr algn="l" indent="0" marL="0">
              <a:buNone/>
            </a:pPr>
            <a:r>
              <a:rPr lang="tr-TR" sz="1150" b="1" dirty="0">
                <a:solidFill>
                  <a:srgbClr val="028090"/>
                </a:solidFill>
                <a:latin typeface="Calibri" pitchFamily="34" charset="0"/>
                <a:ea typeface="Calibri" pitchFamily="34" charset="-122"/>
                <a:cs typeface="Calibri" pitchFamily="34" charset="-120"/>
              </a:rPr>
              <a:t>kabul edildi</a:t>
            </a:r>
            <a:endParaRPr lang="tr-TR" sz="1150" dirty="0"/>
          </a:p>
        </p:txBody>
      </p:sp>
      <p:sp>
        <p:nvSpPr>
          <p:cNvPr id="18" name="Shape 16"/>
          <p:cNvSpPr/>
          <p:nvPr/>
        </p:nvSpPr>
        <p:spPr>
          <a:xfrm>
            <a:off x="3310128" y="3172968"/>
            <a:ext cx="1792224" cy="91"/>
          </a:xfrm>
          <a:prstGeom prst="line">
            <a:avLst/>
          </a:prstGeom>
          <a:noFill/>
          <a:ln w="22225">
            <a:solidFill>
              <a:srgbClr val="50808E"/>
            </a:solidFill>
            <a:prstDash val="solid"/>
            <a:tailEnd type="triangle"/>
          </a:ln>
        </p:spPr>
      </p:sp>
      <p:sp>
        <p:nvSpPr>
          <p:cNvPr id="19" name="Text 17"/>
          <p:cNvSpPr txBox="1"/>
          <p:nvPr/>
        </p:nvSpPr>
        <p:spPr>
          <a:xfrm>
            <a:off x="3063240" y="2862072"/>
            <a:ext cx="2286000" cy="274320"/>
          </a:xfrm>
          <a:prstGeom prst="rect">
            <a:avLst/>
          </a:prstGeom>
          <a:noFill/>
          <a:ln/>
        </p:spPr>
        <p:txBody>
          <a:bodyPr wrap="square" lIns="0" tIns="0" rIns="0" bIns="0" rtlCol="0" anchor="t"/>
          <a:lstStyle/>
          <a:p>
            <a:pPr algn="ctr" indent="0" marL="0">
              <a:buNone/>
            </a:pPr>
            <a:r>
              <a:rPr lang="tr-TR" sz="1150" b="1" dirty="0">
                <a:solidFill>
                  <a:srgbClr val="028090"/>
                </a:solidFill>
                <a:latin typeface="Calibri" pitchFamily="34" charset="0"/>
                <a:ea typeface="Calibri" pitchFamily="34" charset="-122"/>
                <a:cs typeface="Calibri" pitchFamily="34" charset="-120"/>
              </a:rPr>
              <a:t>zamanlayıcı görevlendirir</a:t>
            </a:r>
            <a:endParaRPr lang="tr-TR" sz="1150" dirty="0"/>
          </a:p>
        </p:txBody>
      </p:sp>
      <p:sp>
        <p:nvSpPr>
          <p:cNvPr id="20" name="Shape 18"/>
          <p:cNvSpPr/>
          <p:nvPr/>
        </p:nvSpPr>
        <p:spPr>
          <a:xfrm flipH="1">
            <a:off x="3310128" y="3447288"/>
            <a:ext cx="1792224" cy="91"/>
          </a:xfrm>
          <a:prstGeom prst="line">
            <a:avLst/>
          </a:prstGeom>
          <a:noFill/>
          <a:ln w="22225">
            <a:solidFill>
              <a:srgbClr val="50808E"/>
            </a:solidFill>
            <a:prstDash val="solid"/>
            <a:tailEnd type="triangle"/>
          </a:ln>
        </p:spPr>
      </p:sp>
      <p:sp>
        <p:nvSpPr>
          <p:cNvPr id="21" name="Text 19"/>
          <p:cNvSpPr txBox="1"/>
          <p:nvPr/>
        </p:nvSpPr>
        <p:spPr>
          <a:xfrm>
            <a:off x="3200400" y="3593592"/>
            <a:ext cx="2011680" cy="274320"/>
          </a:xfrm>
          <a:prstGeom prst="rect">
            <a:avLst/>
          </a:prstGeom>
          <a:noFill/>
          <a:ln/>
        </p:spPr>
        <p:txBody>
          <a:bodyPr wrap="square" lIns="0" tIns="0" rIns="0" bIns="0" rtlCol="0" anchor="t"/>
          <a:lstStyle/>
          <a:p>
            <a:pPr algn="ctr" indent="0" marL="0">
              <a:buNone/>
            </a:pPr>
            <a:r>
              <a:rPr lang="tr-TR" sz="1150" b="1" dirty="0">
                <a:solidFill>
                  <a:srgbClr val="028090"/>
                </a:solidFill>
                <a:latin typeface="Calibri" pitchFamily="34" charset="0"/>
                <a:ea typeface="Calibri" pitchFamily="34" charset="-122"/>
                <a:cs typeface="Calibri" pitchFamily="34" charset="-120"/>
              </a:rPr>
              <a:t>kesme</a:t>
            </a:r>
            <a:endParaRPr lang="tr-TR" sz="1150" dirty="0"/>
          </a:p>
        </p:txBody>
      </p:sp>
      <p:sp>
        <p:nvSpPr>
          <p:cNvPr id="22" name="Shape 20"/>
          <p:cNvSpPr/>
          <p:nvPr/>
        </p:nvSpPr>
        <p:spPr>
          <a:xfrm flipV="1">
            <a:off x="6126480" y="2185416"/>
            <a:ext cx="822960" cy="813816"/>
          </a:xfrm>
          <a:prstGeom prst="line">
            <a:avLst/>
          </a:prstGeom>
          <a:noFill/>
          <a:ln w="22225">
            <a:solidFill>
              <a:srgbClr val="50808E"/>
            </a:solidFill>
            <a:prstDash val="solid"/>
            <a:tailEnd type="triangle"/>
          </a:ln>
        </p:spPr>
      </p:sp>
      <p:sp>
        <p:nvSpPr>
          <p:cNvPr id="23" name="Text 21"/>
          <p:cNvSpPr txBox="1"/>
          <p:nvPr/>
        </p:nvSpPr>
        <p:spPr>
          <a:xfrm>
            <a:off x="6766560" y="2468880"/>
            <a:ext cx="731520" cy="274320"/>
          </a:xfrm>
          <a:prstGeom prst="rect">
            <a:avLst/>
          </a:prstGeom>
          <a:noFill/>
          <a:ln/>
        </p:spPr>
        <p:txBody>
          <a:bodyPr wrap="square" lIns="0" tIns="0" rIns="0" bIns="0" rtlCol="0" anchor="t"/>
          <a:lstStyle/>
          <a:p>
            <a:pPr algn="l" indent="0" marL="0">
              <a:buNone/>
            </a:pPr>
            <a:r>
              <a:rPr lang="tr-TR" sz="1150" b="1" dirty="0">
                <a:solidFill>
                  <a:srgbClr val="028090"/>
                </a:solidFill>
                <a:latin typeface="Calibri" pitchFamily="34" charset="0"/>
                <a:ea typeface="Calibri" pitchFamily="34" charset="-122"/>
                <a:cs typeface="Calibri" pitchFamily="34" charset="-120"/>
              </a:rPr>
              <a:t>çıkış</a:t>
            </a:r>
            <a:endParaRPr lang="tr-TR" sz="1150" dirty="0"/>
          </a:p>
        </p:txBody>
      </p:sp>
      <p:sp>
        <p:nvSpPr>
          <p:cNvPr id="24" name="Shape 22"/>
          <p:cNvSpPr/>
          <p:nvPr/>
        </p:nvSpPr>
        <p:spPr>
          <a:xfrm flipH="1">
            <a:off x="4754880" y="3602736"/>
            <a:ext cx="914400" cy="950976"/>
          </a:xfrm>
          <a:prstGeom prst="line">
            <a:avLst/>
          </a:prstGeom>
          <a:noFill/>
          <a:ln w="22225">
            <a:solidFill>
              <a:srgbClr val="50808E"/>
            </a:solidFill>
            <a:prstDash val="solid"/>
            <a:tailEnd type="triangle"/>
          </a:ln>
        </p:spPr>
      </p:sp>
      <p:sp>
        <p:nvSpPr>
          <p:cNvPr id="25" name="Text 23"/>
          <p:cNvSpPr txBox="1"/>
          <p:nvPr/>
        </p:nvSpPr>
        <p:spPr>
          <a:xfrm>
            <a:off x="5303520" y="4114800"/>
            <a:ext cx="2560320" cy="274320"/>
          </a:xfrm>
          <a:prstGeom prst="rect">
            <a:avLst/>
          </a:prstGeom>
          <a:noFill/>
          <a:ln/>
        </p:spPr>
        <p:txBody>
          <a:bodyPr wrap="square" lIns="0" tIns="0" rIns="0" bIns="0" rtlCol="0" anchor="t"/>
          <a:lstStyle/>
          <a:p>
            <a:pPr algn="l" indent="0" marL="0">
              <a:buNone/>
            </a:pPr>
            <a:r>
              <a:rPr lang="tr-TR" sz="1150" b="1" dirty="0">
                <a:solidFill>
                  <a:srgbClr val="028090"/>
                </a:solidFill>
                <a:latin typeface="Calibri" pitchFamily="34" charset="0"/>
                <a:ea typeface="Calibri" pitchFamily="34" charset="-122"/>
                <a:cs typeface="Calibri" pitchFamily="34" charset="-120"/>
              </a:rPr>
              <a:t>G/Ç ya da olay bekleme</a:t>
            </a:r>
            <a:endParaRPr lang="tr-TR" sz="1150" dirty="0"/>
          </a:p>
        </p:txBody>
      </p:sp>
      <p:sp>
        <p:nvSpPr>
          <p:cNvPr id="26" name="Shape 24"/>
          <p:cNvSpPr/>
          <p:nvPr/>
        </p:nvSpPr>
        <p:spPr>
          <a:xfrm flipH="1" flipV="1">
            <a:off x="2743200" y="3602736"/>
            <a:ext cx="914400" cy="950976"/>
          </a:xfrm>
          <a:prstGeom prst="line">
            <a:avLst/>
          </a:prstGeom>
          <a:noFill/>
          <a:ln w="22225">
            <a:solidFill>
              <a:srgbClr val="50808E"/>
            </a:solidFill>
            <a:prstDash val="solid"/>
            <a:tailEnd type="triangle"/>
          </a:ln>
        </p:spPr>
      </p:sp>
      <p:sp>
        <p:nvSpPr>
          <p:cNvPr id="27" name="Text 25"/>
          <p:cNvSpPr txBox="1"/>
          <p:nvPr/>
        </p:nvSpPr>
        <p:spPr>
          <a:xfrm>
            <a:off x="137160" y="4114800"/>
            <a:ext cx="2606040" cy="274320"/>
          </a:xfrm>
          <a:prstGeom prst="rect">
            <a:avLst/>
          </a:prstGeom>
          <a:noFill/>
          <a:ln/>
        </p:spPr>
        <p:txBody>
          <a:bodyPr wrap="square" lIns="0" tIns="0" rIns="0" bIns="0" rtlCol="0" anchor="t"/>
          <a:lstStyle/>
          <a:p>
            <a:pPr algn="r" indent="0" marL="0">
              <a:buNone/>
            </a:pPr>
            <a:r>
              <a:rPr lang="tr-TR" sz="1150" b="1" dirty="0">
                <a:solidFill>
                  <a:srgbClr val="028090"/>
                </a:solidFill>
                <a:latin typeface="Calibri" pitchFamily="34" charset="0"/>
                <a:ea typeface="Calibri" pitchFamily="34" charset="-122"/>
                <a:cs typeface="Calibri" pitchFamily="34" charset="-120"/>
              </a:rPr>
              <a:t>G/Ç ya da olay tamamlandı</a:t>
            </a:r>
            <a:endParaRPr lang="tr-TR" sz="1150" dirty="0"/>
          </a:p>
        </p:txBody>
      </p:sp>
      <p:sp>
        <p:nvSpPr>
          <p:cNvPr id="28" name="Shape 26"/>
          <p:cNvSpPr/>
          <p:nvPr/>
        </p:nvSpPr>
        <p:spPr>
          <a:xfrm>
            <a:off x="8229600" y="1508760"/>
            <a:ext cx="3429000" cy="4754880"/>
          </a:xfrm>
          <a:prstGeom prst="roundRect">
            <a:avLst>
              <a:gd name="adj" fmla="val 1600"/>
            </a:avLst>
          </a:prstGeom>
          <a:solidFill>
            <a:srgbClr val="F2F2F2"/>
          </a:solidFill>
          <a:ln/>
          <a:effectLst>
            <a:outerShdw sx="100000" sy="100000" kx="0" ky="0" algn="bl" rotWithShape="0" blurRad="101600" dist="25400" dir="5400000">
              <a:srgbClr val="000000">
                <a:alpha val="12000"/>
              </a:srgbClr>
            </a:outerShdw>
          </a:effectLst>
        </p:spPr>
      </p:sp>
      <p:sp>
        <p:nvSpPr>
          <p:cNvPr id="29" name="Text 27"/>
          <p:cNvSpPr txBox="1"/>
          <p:nvPr/>
        </p:nvSpPr>
        <p:spPr>
          <a:xfrm>
            <a:off x="8458200" y="1691640"/>
            <a:ext cx="29718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3. haftadan ayrıca</a:t>
            </a:r>
            <a:endParaRPr lang="tr-TR" sz="1500" dirty="0"/>
          </a:p>
        </p:txBody>
      </p:sp>
      <p:sp>
        <p:nvSpPr>
          <p:cNvPr id="30" name="Text 28"/>
          <p:cNvSpPr txBox="1"/>
          <p:nvPr/>
        </p:nvSpPr>
        <p:spPr>
          <a:xfrm>
            <a:off x="8458200" y="2148840"/>
            <a:ext cx="2971800" cy="3977640"/>
          </a:xfrm>
          <a:prstGeom prst="rect">
            <a:avLst/>
          </a:prstGeom>
          <a:noFill/>
          <a:ln/>
        </p:spPr>
        <p:txBody>
          <a:bodyPr wrap="square" lIns="0" tIns="0" rIns="0" bIns="0" rtlCol="0" anchor="t"/>
          <a:lstStyle/>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Sistem çağrısı:</a:t>
            </a:r>
            <a:r>
              <a:rPr lang="tr-TR" sz="1350" dirty="0">
                <a:solidFill>
                  <a:srgbClr val="3A464C"/>
                </a:solidFill>
                <a:latin typeface="Calibri" pitchFamily="34" charset="0"/>
                <a:ea typeface="Calibri" pitchFamily="34" charset="-122"/>
                <a:cs typeface="Calibri" pitchFamily="34" charset="-120"/>
              </a:rPr>
              <a:t> API → sarmalayıcı → tuzak; numara sistem çağrısı tablosunda indekstir.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PCB:</a:t>
            </a:r>
            <a:r>
              <a:rPr lang="tr-TR" sz="1350" dirty="0">
                <a:solidFill>
                  <a:srgbClr val="3A464C"/>
                </a:solidFill>
                <a:latin typeface="Calibri" pitchFamily="34" charset="0"/>
                <a:ea typeface="Calibri" pitchFamily="34" charset="-122"/>
                <a:cs typeface="Calibri" pitchFamily="34" charset="-120"/>
              </a:rPr>
              <a:t> durum, PC, yazmaçlar, zamanlama, bellek, dosyalar.</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Bağlam değişimi:</a:t>
            </a:r>
            <a:r>
              <a:rPr lang="tr-TR" sz="1350" dirty="0">
                <a:solidFill>
                  <a:srgbClr val="3A464C"/>
                </a:solidFill>
                <a:latin typeface="Calibri" pitchFamily="34" charset="0"/>
                <a:ea typeface="Calibri" pitchFamily="34" charset="-122"/>
                <a:cs typeface="Calibri" pitchFamily="34" charset="-120"/>
              </a:rPr>
              <a:t> bir PCB'yi kaydet, diğerini yükle; ek yük s/(q + s).</a:t>
            </a:r>
            <a:endParaRPr lang="tr-TR" sz="1350" dirty="0"/>
          </a:p>
          <a:p>
            <a:pPr marL="228600" indent="-228600">
              <a:spcAft>
                <a:spcPts val="400"/>
              </a:spcAft>
              <a:buSzPct val="100000"/>
              <a:buChar char="•"/>
            </a:pPr>
            <a:r>
              <a:rPr lang="tr-TR" sz="1350" b="1" dirty="0">
                <a:solidFill>
                  <a:srgbClr val="3A464C"/>
                </a:solidFill>
                <a:latin typeface="Calibri" pitchFamily="34" charset="0"/>
                <a:ea typeface="Calibri" pitchFamily="34" charset="-122"/>
                <a:cs typeface="Calibri" pitchFamily="34" charset="-120"/>
              </a:rPr>
              <a:t>fork():</a:t>
            </a:r>
            <a:r>
              <a:rPr lang="tr-TR" sz="1350" dirty="0">
                <a:solidFill>
                  <a:srgbClr val="3A464C"/>
                </a:solidFill>
                <a:latin typeface="Calibri" pitchFamily="34" charset="0"/>
                <a:ea typeface="Calibri" pitchFamily="34" charset="-122"/>
                <a:cs typeface="Calibri" pitchFamily="34" charset="-120"/>
              </a:rPr>
              <a:t> döngüde n fork → 2ⁿ süreç (2ⁿ − 1 tanesi yeni).</a:t>
            </a:r>
            <a:endParaRPr lang="tr-TR" sz="1350" dirty="0"/>
          </a:p>
        </p:txBody>
      </p:sp>
      <p:sp>
        <p:nvSpPr>
          <p:cNvPr id="31" name="Shape 29"/>
          <p:cNvSpPr/>
          <p:nvPr/>
        </p:nvSpPr>
        <p:spPr>
          <a:xfrm>
            <a:off x="548640" y="5440680"/>
            <a:ext cx="745236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777240" y="5440680"/>
            <a:ext cx="6995160" cy="822960"/>
          </a:xfrm>
          <a:prstGeom prst="rect">
            <a:avLst/>
          </a:prstGeom>
          <a:noFill/>
          <a:ln/>
        </p:spPr>
        <p:txBody>
          <a:bodyPr wrap="square" lIns="0" tIns="0" rIns="0" bIns="0" rtlCol="0" anchor="ctr"/>
          <a:lstStyle/>
          <a:p>
            <a:pPr indent="0" marL="0">
              <a:buNone/>
            </a:pPr>
            <a:r>
              <a:rPr lang="tr-TR" sz="1350" dirty="0">
                <a:solidFill>
                  <a:srgbClr val="F2F2F2"/>
                </a:solidFill>
                <a:latin typeface="Calibri" pitchFamily="34" charset="0"/>
                <a:ea typeface="Calibri" pitchFamily="34" charset="-122"/>
                <a:cs typeface="Calibri" pitchFamily="34" charset="-120"/>
              </a:rPr>
              <a:t>Bekliyor → çalışıyor geçişi asla doğrudan olmaz: uyanan süreç önce hazır kuyruğuna girer. ps STAT: R, S, D, T, Z (13. hafta).</a:t>
            </a:r>
            <a:endParaRPr lang="tr-TR"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4.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İş Parçacıkları ve Zamanlama Ölçütleri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8</a:t>
            </a:r>
            <a:endParaRPr lang="tr-TR" sz="900" dirty="0"/>
          </a:p>
        </p:txBody>
      </p:sp>
      <p:sp>
        <p:nvSpPr>
          <p:cNvPr id="6" name="Shape 4"/>
          <p:cNvSpPr/>
          <p:nvPr/>
        </p:nvSpPr>
        <p:spPr>
          <a:xfrm>
            <a:off x="548640" y="150876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İş parçacıkları</a:t>
            </a:r>
            <a:endParaRPr lang="tr-TR" sz="1500" dirty="0"/>
          </a:p>
        </p:txBody>
      </p:sp>
      <p:sp>
        <p:nvSpPr>
          <p:cNvPr id="8" name="Text 6"/>
          <p:cNvSpPr txBox="1"/>
          <p:nvPr/>
        </p:nvSpPr>
        <p:spPr>
          <a:xfrm>
            <a:off x="777240" y="2148840"/>
            <a:ext cx="4983480" cy="160020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Kendine ait:</a:t>
            </a:r>
            <a:r>
              <a:rPr lang="tr-TR" sz="1400" dirty="0">
                <a:solidFill>
                  <a:srgbClr val="3A464C"/>
                </a:solidFill>
                <a:latin typeface="Calibri" pitchFamily="34" charset="0"/>
                <a:ea typeface="Calibri" pitchFamily="34" charset="-122"/>
                <a:cs typeface="Calibri" pitchFamily="34" charset="-120"/>
              </a:rPr>
              <a:t> iş parçacığı kimliği, program sayacı, yazmaçlar, yığıt.</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Ortak:</a:t>
            </a:r>
            <a:r>
              <a:rPr lang="tr-TR" sz="1400" dirty="0">
                <a:solidFill>
                  <a:srgbClr val="3A464C"/>
                </a:solidFill>
                <a:latin typeface="Calibri" pitchFamily="34" charset="0"/>
                <a:ea typeface="Calibri" pitchFamily="34" charset="-122"/>
                <a:cs typeface="Calibri" pitchFamily="34" charset="-120"/>
              </a:rPr>
              <a:t> sürecin kodu, verisi, öbeği, açık dosyaları.</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Modeller:</a:t>
            </a:r>
            <a:r>
              <a:rPr lang="tr-TR" sz="1400" dirty="0">
                <a:solidFill>
                  <a:srgbClr val="3A464C"/>
                </a:solidFill>
                <a:latin typeface="Calibri" pitchFamily="34" charset="0"/>
                <a:ea typeface="Calibri" pitchFamily="34" charset="-122"/>
                <a:cs typeface="Calibri" pitchFamily="34" charset="-120"/>
              </a:rPr>
              <a:t> çoktan bire, birebir (Linux, Windows), çoktan çoka.</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Eşzamanlılık ≠ paralellik (paralellik birden çok çekirdek ister).</a:t>
            </a:r>
            <a:endParaRPr lang="tr-TR" sz="1400" dirty="0"/>
          </a:p>
        </p:txBody>
      </p:sp>
      <p:sp>
        <p:nvSpPr>
          <p:cNvPr id="9" name="Shape 7"/>
          <p:cNvSpPr/>
          <p:nvPr/>
        </p:nvSpPr>
        <p:spPr>
          <a:xfrm>
            <a:off x="548640" y="4069080"/>
            <a:ext cx="5440680" cy="2194560"/>
          </a:xfrm>
          <a:prstGeom prst="roundRect">
            <a:avLst>
              <a:gd name="adj" fmla="val 2500"/>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777240" y="425196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Amdahl yasası</a:t>
            </a:r>
            <a:endParaRPr lang="tr-TR" sz="1500" dirty="0"/>
          </a:p>
        </p:txBody>
      </p:sp>
      <p:sp>
        <p:nvSpPr>
          <p:cNvPr id="11" name="Text 9"/>
          <p:cNvSpPr txBox="1"/>
          <p:nvPr/>
        </p:nvSpPr>
        <p:spPr>
          <a:xfrm>
            <a:off x="777240" y="4709160"/>
            <a:ext cx="4983480" cy="1417320"/>
          </a:xfrm>
          <a:prstGeom prst="rect">
            <a:avLst/>
          </a:prstGeom>
          <a:noFill/>
          <a:ln/>
        </p:spPr>
        <p:txBody>
          <a:bodyPr wrap="square" lIns="0" tIns="0" rIns="0" bIns="0" rtlCol="0" anchor="t"/>
          <a:lstStyle/>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hızlanma ≤ 1 / (S + (1 − S)/N)</a:t>
            </a:r>
            <a:r>
              <a:rPr lang="tr-TR" sz="1400" dirty="0">
                <a:solidFill>
                  <a:srgbClr val="3A464C"/>
                </a:solidFill>
                <a:latin typeface="Calibri" pitchFamily="34" charset="0"/>
                <a:ea typeface="Calibri" pitchFamily="34" charset="-122"/>
                <a:cs typeface="Calibri" pitchFamily="34" charset="-120"/>
              </a:rPr>
              <a:t>,  sınır 1/S.</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Örnek S = 0,2, N = 4: 1/(0,2 + 0,2) = 2,5; asla 5'ten fazla değil.</a:t>
            </a:r>
            <a:endParaRPr lang="tr-TR" sz="1400" dirty="0"/>
          </a:p>
        </p:txBody>
      </p:sp>
      <p:sp>
        <p:nvSpPr>
          <p:cNvPr id="12" name="Shape 10"/>
          <p:cNvSpPr/>
          <p:nvPr/>
        </p:nvSpPr>
        <p:spPr>
          <a:xfrm>
            <a:off x="6217920" y="1508760"/>
            <a:ext cx="5440680" cy="2926080"/>
          </a:xfrm>
          <a:prstGeom prst="roundRect">
            <a:avLst>
              <a:gd name="adj" fmla="val 1563"/>
            </a:avLst>
          </a:prstGeom>
          <a:solidFill>
            <a:srgbClr val="212121"/>
          </a:solidFill>
          <a:ln/>
        </p:spPr>
      </p:sp>
      <p:sp>
        <p:nvSpPr>
          <p:cNvPr id="13" name="Text 11"/>
          <p:cNvSpPr txBox="1"/>
          <p:nvPr/>
        </p:nvSpPr>
        <p:spPr>
          <a:xfrm>
            <a:off x="6400800" y="1618488"/>
            <a:ext cx="5074920" cy="2706624"/>
          </a:xfrm>
          <a:prstGeom prst="rect">
            <a:avLst/>
          </a:prstGeom>
          <a:noFill/>
          <a:ln/>
        </p:spPr>
        <p:txBody>
          <a:bodyPr wrap="square" lIns="0" tIns="0" rIns="0" bIns="0" rtlCol="0" anchor="t"/>
          <a:lstStyle/>
          <a:p>
            <a:pPr indent="0" marL="0">
              <a:lnSpc>
                <a:spcPct val="105000"/>
              </a:lnSpc>
              <a:buNone/>
            </a:pPr>
            <a:r>
              <a:rPr lang="tr-TR" sz="1300" dirty="0">
                <a:solidFill>
                  <a:srgbClr val="8A9AA0"/>
                </a:solidFill>
                <a:latin typeface="Consolas" pitchFamily="34" charset="0"/>
                <a:ea typeface="Consolas" pitchFamily="34" charset="-122"/>
                <a:cs typeface="Consolas" pitchFamily="34" charset="-120"/>
              </a:rPr>
              <a:t># Zamanlama ölçütleri (4. hafta)</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T_dönüş   = T_tamamlanma − T_geliş</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T_bekleme = T_dönüş − T_patlama</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T_yanıt   = T_ilk çalışma − T_geliş</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 </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işlemci kullanımı = B / T   (meşgul / toplam)</a:t>
            </a:r>
            <a:endParaRPr lang="tr-TR" sz="1300" dirty="0"/>
          </a:p>
          <a:p>
            <a:pPr indent="0" marL="0">
              <a:lnSpc>
                <a:spcPct val="105000"/>
              </a:lnSpc>
              <a:buNone/>
            </a:pPr>
            <a:r>
              <a:rPr lang="tr-TR" sz="1300" dirty="0">
                <a:solidFill>
                  <a:srgbClr val="F2F2F2"/>
                </a:solidFill>
                <a:latin typeface="Consolas" pitchFamily="34" charset="0"/>
                <a:ea typeface="Consolas" pitchFamily="34" charset="-122"/>
                <a:cs typeface="Consolas" pitchFamily="34" charset="-120"/>
              </a:rPr>
              <a:t>üretilen iş       = n / T   (birim zamanda iş)</a:t>
            </a:r>
            <a:endParaRPr lang="tr-TR" sz="1300" dirty="0"/>
          </a:p>
        </p:txBody>
      </p:sp>
      <p:sp>
        <p:nvSpPr>
          <p:cNvPr id="14" name="Shape 12"/>
          <p:cNvSpPr/>
          <p:nvPr/>
        </p:nvSpPr>
        <p:spPr>
          <a:xfrm>
            <a:off x="6217920" y="4617720"/>
            <a:ext cx="5440680" cy="1645920"/>
          </a:xfrm>
          <a:prstGeom prst="roundRect">
            <a:avLst>
              <a:gd name="adj" fmla="val 3333"/>
            </a:avLst>
          </a:prstGeom>
          <a:solidFill>
            <a:srgbClr val="F2F2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6446520" y="480060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Hedef</a:t>
            </a:r>
            <a:endParaRPr lang="tr-TR" sz="1500" dirty="0"/>
          </a:p>
        </p:txBody>
      </p:sp>
      <p:sp>
        <p:nvSpPr>
          <p:cNvPr id="16" name="Text 14"/>
          <p:cNvSpPr txBox="1"/>
          <p:nvPr/>
        </p:nvSpPr>
        <p:spPr>
          <a:xfrm>
            <a:off x="6446520" y="5257800"/>
            <a:ext cx="4983480" cy="868680"/>
          </a:xfrm>
          <a:prstGeom prst="rect">
            <a:avLst/>
          </a:prstGeom>
          <a:noFill/>
          <a:ln/>
        </p:spPr>
        <p:txBody>
          <a:bodyPr wrap="square" lIns="0" tIns="0" rIns="0" bIns="0" rtlCol="0" anchor="t"/>
          <a:lstStyle/>
          <a:p>
            <a:pPr indent="0" marL="0">
              <a:spcAft>
                <a:spcPts val="400"/>
              </a:spcAft>
              <a:buNone/>
            </a:pPr>
            <a:r>
              <a:rPr lang="tr-TR" sz="1400" dirty="0">
                <a:solidFill>
                  <a:srgbClr val="3A464C"/>
                </a:solidFill>
                <a:latin typeface="Calibri" pitchFamily="34" charset="0"/>
                <a:ea typeface="Calibri" pitchFamily="34" charset="-122"/>
                <a:cs typeface="Calibri" pitchFamily="34" charset="-120"/>
              </a:rPr>
              <a:t>Kullanımı ve üretilen işi en büyük; dönüş, bekleme ve yanıt süresini en küçük yap. Zamanlayıcı esas olarak bekleme süresini değiştirir.</a:t>
            </a:r>
            <a:endParaRPr lang="tr-T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5.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Zamanlama Algoritmaları ve Eşzamanlama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9</a:t>
            </a:r>
            <a:endParaRPr lang="tr-TR"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1783080"/>
                <a:gridCol w="3840480"/>
                <a:gridCol w="1737360"/>
                <a:gridCol w="374904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Algoritma</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Seçtiği</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Kesintili mi?</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Dikkat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FCFS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en erken gelen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hayır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konvoy etkisi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SJF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en kısa sonraki patlama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hayır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tahmin: τₙ₊₁ = α tₙ + (1 − α) τₙ</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SRTF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en kısa kalan süre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en az ort. bekleme; uzun işler aç kalabilir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Öncelik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en küçük numara = en yüksek öncelik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ikisi de</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açlık → yaşlandırma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Round Robin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kuyruğun başı, en çok q kadar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evet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iki sıra arası bekleme ≤ (n − 1)q</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4251960"/>
            <a:ext cx="11109960" cy="2011680"/>
          </a:xfrm>
          <a:prstGeom prst="roundRect">
            <a:avLst>
              <a:gd name="adj" fmla="val 2727"/>
            </a:avLst>
          </a:prstGeom>
          <a:solidFill>
            <a:srgbClr val="F2F2F2"/>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4434840"/>
            <a:ext cx="106527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Eşzamanlama</a:t>
            </a:r>
            <a:endParaRPr lang="tr-TR" sz="1500" dirty="0"/>
          </a:p>
        </p:txBody>
      </p:sp>
      <p:sp>
        <p:nvSpPr>
          <p:cNvPr id="9" name="Text 6"/>
          <p:cNvSpPr txBox="1"/>
          <p:nvPr/>
        </p:nvSpPr>
        <p:spPr>
          <a:xfrm>
            <a:off x="777240" y="4892040"/>
            <a:ext cx="10652760" cy="1234440"/>
          </a:xfrm>
          <a:prstGeom prst="rect">
            <a:avLst/>
          </a:prstGeom>
          <a:noFill/>
          <a:ln/>
        </p:spPr>
        <p:txBody>
          <a:bodyPr wrap="square" lIns="0" tIns="0" rIns="0" bIns="0" rtlCol="0" anchor="t"/>
          <a:lstStyle/>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Yarış durumu:</a:t>
            </a:r>
            <a:r>
              <a:rPr lang="tr-TR" sz="1550" dirty="0">
                <a:solidFill>
                  <a:srgbClr val="3A464C"/>
                </a:solidFill>
                <a:latin typeface="Calibri" pitchFamily="34" charset="0"/>
                <a:ea typeface="Calibri" pitchFamily="34" charset="-122"/>
                <a:cs typeface="Calibri" pitchFamily="34" charset="-120"/>
              </a:rPr>
              <a:t> ortak veri, en az bir yazan, sonuç zamanlamaya bağlı (counter++ = yükle–topla–sakla).</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Kritik bölge çözümü:</a:t>
            </a:r>
            <a:r>
              <a:rPr lang="tr-TR" sz="1550" dirty="0">
                <a:solidFill>
                  <a:srgbClr val="3A464C"/>
                </a:solidFill>
                <a:latin typeface="Calibri" pitchFamily="34" charset="0"/>
                <a:ea typeface="Calibri" pitchFamily="34" charset="-122"/>
                <a:cs typeface="Calibri" pitchFamily="34" charset="-120"/>
              </a:rPr>
              <a:t> karşılıklı dışlama, ilerleme, sınırlı bekleme. Araçlar: muteks (acquire/release), semaforlar wait(S) / signal(S); sınırlı tampon: empty, full, mutex.</a:t>
            </a:r>
            <a:endParaRPr lang="tr-TR"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6.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Bellek Yönetimi: Taban/Sınırdan Sayfalamaya</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10</a:t>
            </a:r>
            <a:endParaRPr lang="tr-TR" sz="900" dirty="0"/>
          </a:p>
        </p:txBody>
      </p:sp>
      <p:sp>
        <p:nvSpPr>
          <p:cNvPr id="6" name="Shape 4"/>
          <p:cNvSpPr/>
          <p:nvPr/>
        </p:nvSpPr>
        <p:spPr>
          <a:xfrm>
            <a:off x="548640" y="1600200"/>
            <a:ext cx="1737360" cy="566928"/>
          </a:xfrm>
          <a:prstGeom prst="roundRect">
            <a:avLst>
              <a:gd name="adj" fmla="val 8065"/>
            </a:avLst>
          </a:prstGeom>
          <a:solidFill>
            <a:srgbClr val="F2F2F2"/>
          </a:solidFill>
          <a:ln/>
        </p:spPr>
      </p:sp>
      <p:sp>
        <p:nvSpPr>
          <p:cNvPr id="7" name="Text 5"/>
          <p:cNvSpPr txBox="1"/>
          <p:nvPr/>
        </p:nvSpPr>
        <p:spPr>
          <a:xfrm>
            <a:off x="548640" y="1600200"/>
            <a:ext cx="1737360" cy="566928"/>
          </a:xfrm>
          <a:prstGeom prst="rect">
            <a:avLst/>
          </a:prstGeom>
          <a:noFill/>
          <a:ln/>
        </p:spPr>
        <p:txBody>
          <a:bodyPr wrap="square" lIns="38100" tIns="38100" rIns="38100" bIns="38100" rtlCol="0" anchor="ctr"/>
          <a:lstStyle/>
          <a:p>
            <a:pPr algn="ctr" indent="0" marL="0">
              <a:buNone/>
            </a:pPr>
            <a:r>
              <a:rPr lang="tr-TR" sz="1400" b="1" dirty="0">
                <a:solidFill>
                  <a:srgbClr val="36454F"/>
                </a:solidFill>
                <a:latin typeface="Calibri" pitchFamily="34" charset="0"/>
                <a:ea typeface="Calibri" pitchFamily="34" charset="-122"/>
                <a:cs typeface="Calibri" pitchFamily="34" charset="-120"/>
              </a:rPr>
              <a:t>mantıksal a</a:t>
            </a:r>
            <a:endParaRPr lang="tr-TR" sz="1400" dirty="0"/>
          </a:p>
        </p:txBody>
      </p:sp>
      <p:sp>
        <p:nvSpPr>
          <p:cNvPr id="8" name="Shape 6"/>
          <p:cNvSpPr/>
          <p:nvPr/>
        </p:nvSpPr>
        <p:spPr>
          <a:xfrm>
            <a:off x="2606040" y="1554480"/>
            <a:ext cx="960120" cy="658368"/>
          </a:xfrm>
          <a:prstGeom prst="roundRect">
            <a:avLst>
              <a:gd name="adj" fmla="val 6944"/>
            </a:avLst>
          </a:prstGeom>
          <a:solidFill>
            <a:srgbClr val="36454F"/>
          </a:solidFill>
          <a:ln/>
        </p:spPr>
      </p:sp>
      <p:sp>
        <p:nvSpPr>
          <p:cNvPr id="9" name="Text 7"/>
          <p:cNvSpPr txBox="1"/>
          <p:nvPr/>
        </p:nvSpPr>
        <p:spPr>
          <a:xfrm>
            <a:off x="2606040" y="1554480"/>
            <a:ext cx="960120" cy="658368"/>
          </a:xfrm>
          <a:prstGeom prst="rect">
            <a:avLst/>
          </a:prstGeom>
          <a:noFill/>
          <a:ln/>
        </p:spPr>
        <p:txBody>
          <a:bodyPr wrap="square" lIns="38100" tIns="38100" rIns="38100" bIns="38100" rtlCol="0" anchor="ctr"/>
          <a:lstStyle/>
          <a:p>
            <a:pPr algn="ctr" indent="0" marL="0">
              <a:buNone/>
            </a:pPr>
            <a:r>
              <a:rPr lang="tr-TR" sz="1800" b="1" dirty="0">
                <a:solidFill>
                  <a:srgbClr val="FFFFFF"/>
                </a:solidFill>
                <a:latin typeface="Calibri" pitchFamily="34" charset="0"/>
                <a:ea typeface="Calibri" pitchFamily="34" charset="-122"/>
                <a:cs typeface="Calibri" pitchFamily="34" charset="-120"/>
              </a:rPr>
              <a:t>p</a:t>
            </a:r>
            <a:endParaRPr lang="tr-TR" sz="1800" dirty="0"/>
          </a:p>
          <a:p>
            <a:pPr algn="ctr" indent="0" marL="0">
              <a:buNone/>
            </a:pPr>
            <a:r>
              <a:rPr lang="tr-TR" sz="1000" dirty="0">
                <a:solidFill>
                  <a:srgbClr val="FFFFFF"/>
                </a:solidFill>
                <a:latin typeface="Calibri" pitchFamily="34" charset="0"/>
                <a:ea typeface="Calibri" pitchFamily="34" charset="-122"/>
                <a:cs typeface="Calibri" pitchFamily="34" charset="-120"/>
              </a:rPr>
              <a:t>a ÷ 2ⁿ</a:t>
            </a:r>
            <a:endParaRPr lang="tr-TR" sz="1800" dirty="0"/>
          </a:p>
        </p:txBody>
      </p:sp>
      <p:sp>
        <p:nvSpPr>
          <p:cNvPr id="10" name="Shape 8"/>
          <p:cNvSpPr/>
          <p:nvPr/>
        </p:nvSpPr>
        <p:spPr>
          <a:xfrm>
            <a:off x="3611880" y="1554480"/>
            <a:ext cx="960120" cy="658368"/>
          </a:xfrm>
          <a:prstGeom prst="roundRect">
            <a:avLst>
              <a:gd name="adj" fmla="val 6944"/>
            </a:avLst>
          </a:prstGeom>
          <a:solidFill>
            <a:srgbClr val="50808E"/>
          </a:solidFill>
          <a:ln/>
        </p:spPr>
      </p:sp>
      <p:sp>
        <p:nvSpPr>
          <p:cNvPr id="11" name="Text 9"/>
          <p:cNvSpPr txBox="1"/>
          <p:nvPr/>
        </p:nvSpPr>
        <p:spPr>
          <a:xfrm>
            <a:off x="3611880" y="1554480"/>
            <a:ext cx="960120" cy="658368"/>
          </a:xfrm>
          <a:prstGeom prst="rect">
            <a:avLst/>
          </a:prstGeom>
          <a:noFill/>
          <a:ln/>
        </p:spPr>
        <p:txBody>
          <a:bodyPr wrap="square" lIns="38100" tIns="38100" rIns="38100" bIns="38100" rtlCol="0" anchor="ctr"/>
          <a:lstStyle/>
          <a:p>
            <a:pPr algn="ctr" indent="0" marL="0">
              <a:buNone/>
            </a:pPr>
            <a:r>
              <a:rPr lang="tr-TR" sz="1800" b="1" dirty="0">
                <a:solidFill>
                  <a:srgbClr val="FFFFFF"/>
                </a:solidFill>
                <a:latin typeface="Calibri" pitchFamily="34" charset="0"/>
                <a:ea typeface="Calibri" pitchFamily="34" charset="-122"/>
                <a:cs typeface="Calibri" pitchFamily="34" charset="-120"/>
              </a:rPr>
              <a:t>d</a:t>
            </a:r>
            <a:endParaRPr lang="tr-TR" sz="1800" dirty="0"/>
          </a:p>
          <a:p>
            <a:pPr algn="ctr" indent="0" marL="0">
              <a:buNone/>
            </a:pPr>
            <a:r>
              <a:rPr lang="tr-TR" sz="1000" dirty="0">
                <a:solidFill>
                  <a:srgbClr val="FFFFFF"/>
                </a:solidFill>
                <a:latin typeface="Calibri" pitchFamily="34" charset="0"/>
                <a:ea typeface="Calibri" pitchFamily="34" charset="-122"/>
                <a:cs typeface="Calibri" pitchFamily="34" charset="-120"/>
              </a:rPr>
              <a:t>a mod 2ⁿ</a:t>
            </a:r>
            <a:endParaRPr lang="tr-TR" sz="1800" dirty="0"/>
          </a:p>
        </p:txBody>
      </p:sp>
      <p:sp>
        <p:nvSpPr>
          <p:cNvPr id="12" name="Shape 10"/>
          <p:cNvSpPr/>
          <p:nvPr/>
        </p:nvSpPr>
        <p:spPr>
          <a:xfrm>
            <a:off x="2304288" y="1883664"/>
            <a:ext cx="283464" cy="91"/>
          </a:xfrm>
          <a:prstGeom prst="line">
            <a:avLst/>
          </a:prstGeom>
          <a:noFill/>
          <a:ln w="19050">
            <a:solidFill>
              <a:srgbClr val="50808E"/>
            </a:solidFill>
            <a:prstDash val="solid"/>
            <a:tailEnd type="triangle"/>
          </a:ln>
        </p:spPr>
      </p:sp>
      <p:sp>
        <p:nvSpPr>
          <p:cNvPr id="13" name="Shape 11"/>
          <p:cNvSpPr/>
          <p:nvPr/>
        </p:nvSpPr>
        <p:spPr>
          <a:xfrm>
            <a:off x="2606040" y="2606040"/>
            <a:ext cx="960120" cy="502920"/>
          </a:xfrm>
          <a:prstGeom prst="roundRect">
            <a:avLst>
              <a:gd name="adj" fmla="val 9091"/>
            </a:avLst>
          </a:prstGeom>
          <a:solidFill>
            <a:srgbClr val="02C39A"/>
          </a:solidFill>
          <a:ln/>
        </p:spPr>
      </p:sp>
      <p:sp>
        <p:nvSpPr>
          <p:cNvPr id="14" name="Text 12"/>
          <p:cNvSpPr txBox="1"/>
          <p:nvPr/>
        </p:nvSpPr>
        <p:spPr>
          <a:xfrm>
            <a:off x="2606040" y="2606040"/>
            <a:ext cx="960120" cy="502920"/>
          </a:xfrm>
          <a:prstGeom prst="rect">
            <a:avLst/>
          </a:prstGeom>
          <a:noFill/>
          <a:ln/>
        </p:spPr>
        <p:txBody>
          <a:bodyPr wrap="square" lIns="38100" tIns="38100" rIns="38100" bIns="38100" rtlCol="0" anchor="ctr"/>
          <a:lstStyle/>
          <a:p>
            <a:pPr algn="ctr" indent="0" marL="0">
              <a:buNone/>
            </a:pPr>
            <a:r>
              <a:rPr lang="tr-TR" sz="1600" b="1" dirty="0">
                <a:solidFill>
                  <a:srgbClr val="212121"/>
                </a:solidFill>
                <a:latin typeface="Calibri" pitchFamily="34" charset="0"/>
                <a:ea typeface="Calibri" pitchFamily="34" charset="-122"/>
                <a:cs typeface="Calibri" pitchFamily="34" charset="-120"/>
              </a:rPr>
              <a:t>f</a:t>
            </a:r>
            <a:endParaRPr lang="tr-TR" sz="1600" dirty="0"/>
          </a:p>
        </p:txBody>
      </p:sp>
      <p:sp>
        <p:nvSpPr>
          <p:cNvPr id="15" name="Text 13"/>
          <p:cNvSpPr txBox="1"/>
          <p:nvPr/>
        </p:nvSpPr>
        <p:spPr>
          <a:xfrm>
            <a:off x="640080" y="2624328"/>
            <a:ext cx="1920240" cy="457200"/>
          </a:xfrm>
          <a:prstGeom prst="rect">
            <a:avLst/>
          </a:prstGeom>
          <a:noFill/>
          <a:ln/>
        </p:spPr>
        <p:txBody>
          <a:bodyPr wrap="square" lIns="0" tIns="0" rIns="0" bIns="0" rtlCol="0" anchor="ctr"/>
          <a:lstStyle/>
          <a:p>
            <a:pPr algn="r" indent="0" marL="0">
              <a:buNone/>
            </a:pPr>
            <a:r>
              <a:rPr lang="tr-TR" sz="1200" i="1" dirty="0">
                <a:solidFill>
                  <a:srgbClr val="6B7679"/>
                </a:solidFill>
                <a:latin typeface="Calibri" pitchFamily="34" charset="0"/>
                <a:ea typeface="Calibri" pitchFamily="34" charset="-122"/>
                <a:cs typeface="Calibri" pitchFamily="34" charset="-120"/>
              </a:rPr>
              <a:t>sayfa tablosu[p]</a:t>
            </a:r>
            <a:endParaRPr lang="tr-TR" sz="1200" dirty="0"/>
          </a:p>
        </p:txBody>
      </p:sp>
      <p:sp>
        <p:nvSpPr>
          <p:cNvPr id="16" name="Shape 14"/>
          <p:cNvSpPr/>
          <p:nvPr/>
        </p:nvSpPr>
        <p:spPr>
          <a:xfrm>
            <a:off x="3081528" y="2231136"/>
            <a:ext cx="91" cy="356616"/>
          </a:xfrm>
          <a:prstGeom prst="line">
            <a:avLst/>
          </a:prstGeom>
          <a:noFill/>
          <a:ln w="19050">
            <a:solidFill>
              <a:srgbClr val="50808E"/>
            </a:solidFill>
            <a:prstDash val="solid"/>
            <a:tailEnd type="triangle"/>
          </a:ln>
        </p:spPr>
      </p:sp>
      <p:sp>
        <p:nvSpPr>
          <p:cNvPr id="17" name="Shape 15"/>
          <p:cNvSpPr/>
          <p:nvPr/>
        </p:nvSpPr>
        <p:spPr>
          <a:xfrm>
            <a:off x="3611880" y="2606040"/>
            <a:ext cx="960120" cy="502920"/>
          </a:xfrm>
          <a:prstGeom prst="roundRect">
            <a:avLst>
              <a:gd name="adj" fmla="val 9091"/>
            </a:avLst>
          </a:prstGeom>
          <a:solidFill>
            <a:srgbClr val="50808E"/>
          </a:solidFill>
          <a:ln/>
        </p:spPr>
      </p:sp>
      <p:sp>
        <p:nvSpPr>
          <p:cNvPr id="18" name="Text 16"/>
          <p:cNvSpPr txBox="1"/>
          <p:nvPr/>
        </p:nvSpPr>
        <p:spPr>
          <a:xfrm>
            <a:off x="3611880" y="2606040"/>
            <a:ext cx="960120" cy="502920"/>
          </a:xfrm>
          <a:prstGeom prst="rect">
            <a:avLst/>
          </a:prstGeom>
          <a:noFill/>
          <a:ln/>
        </p:spPr>
        <p:txBody>
          <a:bodyPr wrap="square" lIns="38100" tIns="38100" rIns="38100" bIns="38100" rtlCol="0" anchor="ctr"/>
          <a:lstStyle/>
          <a:p>
            <a:pPr algn="ctr" indent="0" marL="0">
              <a:buNone/>
            </a:pPr>
            <a:r>
              <a:rPr lang="tr-TR" sz="1600" b="1" dirty="0">
                <a:solidFill>
                  <a:srgbClr val="FFFFFF"/>
                </a:solidFill>
                <a:latin typeface="Calibri" pitchFamily="34" charset="0"/>
                <a:ea typeface="Calibri" pitchFamily="34" charset="-122"/>
                <a:cs typeface="Calibri" pitchFamily="34" charset="-120"/>
              </a:rPr>
              <a:t>d</a:t>
            </a:r>
            <a:endParaRPr lang="tr-TR" sz="1600" dirty="0"/>
          </a:p>
        </p:txBody>
      </p:sp>
      <p:sp>
        <p:nvSpPr>
          <p:cNvPr id="19" name="Shape 17"/>
          <p:cNvSpPr/>
          <p:nvPr/>
        </p:nvSpPr>
        <p:spPr>
          <a:xfrm>
            <a:off x="4087368" y="2231136"/>
            <a:ext cx="91" cy="356616"/>
          </a:xfrm>
          <a:prstGeom prst="line">
            <a:avLst/>
          </a:prstGeom>
          <a:noFill/>
          <a:ln w="19050">
            <a:solidFill>
              <a:srgbClr val="50808E"/>
            </a:solidFill>
            <a:prstDash val="solid"/>
            <a:tailEnd type="triangle"/>
          </a:ln>
        </p:spPr>
      </p:sp>
      <p:sp>
        <p:nvSpPr>
          <p:cNvPr id="20" name="Text 18"/>
          <p:cNvSpPr txBox="1"/>
          <p:nvPr/>
        </p:nvSpPr>
        <p:spPr>
          <a:xfrm>
            <a:off x="4709160" y="2606040"/>
            <a:ext cx="1737360" cy="502920"/>
          </a:xfrm>
          <a:prstGeom prst="rect">
            <a:avLst/>
          </a:prstGeom>
          <a:noFill/>
          <a:ln/>
        </p:spPr>
        <p:txBody>
          <a:bodyPr wrap="square" lIns="0" tIns="0" rIns="0" bIns="0" rtlCol="0" anchor="ctr"/>
          <a:lstStyle/>
          <a:p>
            <a:pPr indent="0" marL="0">
              <a:buNone/>
            </a:pPr>
            <a:r>
              <a:rPr lang="tr-TR" sz="1400" b="1" dirty="0">
                <a:solidFill>
                  <a:srgbClr val="028090"/>
                </a:solidFill>
                <a:latin typeface="Calibri" pitchFamily="34" charset="0"/>
                <a:ea typeface="Calibri" pitchFamily="34" charset="-122"/>
                <a:cs typeface="Calibri" pitchFamily="34" charset="-120"/>
              </a:rPr>
              <a:t>a_fiz = f · 2ⁿ + d</a:t>
            </a:r>
            <a:endParaRPr lang="tr-TR" sz="1400" dirty="0"/>
          </a:p>
        </p:txBody>
      </p:sp>
      <p:sp>
        <p:nvSpPr>
          <p:cNvPr id="21" name="Shape 19"/>
          <p:cNvSpPr/>
          <p:nvPr/>
        </p:nvSpPr>
        <p:spPr>
          <a:xfrm>
            <a:off x="548640" y="3291840"/>
            <a:ext cx="576072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777240" y="3474720"/>
            <a:ext cx="530352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Sayfalamadan önce</a:t>
            </a:r>
            <a:endParaRPr lang="tr-TR" sz="1500" dirty="0"/>
          </a:p>
        </p:txBody>
      </p:sp>
      <p:sp>
        <p:nvSpPr>
          <p:cNvPr id="23" name="Text 21"/>
          <p:cNvSpPr txBox="1"/>
          <p:nvPr/>
        </p:nvSpPr>
        <p:spPr>
          <a:xfrm>
            <a:off x="777240" y="3931920"/>
            <a:ext cx="5303520" cy="2194560"/>
          </a:xfrm>
          <a:prstGeom prst="rect">
            <a:avLst/>
          </a:prstGeom>
          <a:noFill/>
          <a:ln/>
        </p:spPr>
        <p:txBody>
          <a:bodyPr wrap="square" lIns="0" tIns="0" rIns="0" bIns="0" rtlCol="0" anchor="t"/>
          <a:lstStyle/>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MMU:</a:t>
            </a:r>
            <a:r>
              <a:rPr lang="tr-TR" sz="1550" dirty="0">
                <a:solidFill>
                  <a:srgbClr val="3A464C"/>
                </a:solidFill>
                <a:latin typeface="Calibri" pitchFamily="34" charset="0"/>
                <a:ea typeface="Calibri" pitchFamily="34" charset="-122"/>
                <a:cs typeface="Calibri" pitchFamily="34" charset="-120"/>
              </a:rPr>
              <a:t> 0 ≤ a &lt; sınır ise a_fiz = taban + a, değilse tuzak.</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Yerleştirme:</a:t>
            </a:r>
            <a:r>
              <a:rPr lang="tr-TR" sz="1550" dirty="0">
                <a:solidFill>
                  <a:srgbClr val="3A464C"/>
                </a:solidFill>
                <a:latin typeface="Calibri" pitchFamily="34" charset="0"/>
                <a:ea typeface="Calibri" pitchFamily="34" charset="-122"/>
                <a:cs typeface="Calibri" pitchFamily="34" charset="-120"/>
              </a:rPr>
              <a:t> ilk uyan (yeten ilk delik), en iyi uyan (en küçük), en kötü uyan (en büyük).</a:t>
            </a:r>
            <a:endParaRPr lang="tr-TR" sz="1550" dirty="0"/>
          </a:p>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Parçalanma:</a:t>
            </a:r>
            <a:r>
              <a:rPr lang="tr-TR" sz="1550" dirty="0">
                <a:solidFill>
                  <a:srgbClr val="3A464C"/>
                </a:solidFill>
                <a:latin typeface="Calibri" pitchFamily="34" charset="0"/>
                <a:ea typeface="Calibri" pitchFamily="34" charset="-122"/>
                <a:cs typeface="Calibri" pitchFamily="34" charset="-120"/>
              </a:rPr>
              <a:t> dış (delikler; %50 kuralı ⇒ üçte bire kadar kayıp), iç (blok içinde; sayfalamada süreç başına ½ sayfa).</a:t>
            </a:r>
            <a:endParaRPr lang="tr-TR" sz="1550" dirty="0"/>
          </a:p>
        </p:txBody>
      </p:sp>
      <p:sp>
        <p:nvSpPr>
          <p:cNvPr id="24" name="Shape 22"/>
          <p:cNvSpPr/>
          <p:nvPr/>
        </p:nvSpPr>
        <p:spPr>
          <a:xfrm>
            <a:off x="6537960" y="1508760"/>
            <a:ext cx="5120640" cy="2514600"/>
          </a:xfrm>
          <a:prstGeom prst="roundRect">
            <a:avLst>
              <a:gd name="adj" fmla="val 2182"/>
            </a:avLst>
          </a:prstGeom>
          <a:solidFill>
            <a:srgbClr val="F2F2F2"/>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6766560" y="169164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TLB (bizim uzlaşımımız)</a:t>
            </a:r>
            <a:endParaRPr lang="tr-TR" sz="1500" dirty="0"/>
          </a:p>
        </p:txBody>
      </p:sp>
      <p:sp>
        <p:nvSpPr>
          <p:cNvPr id="26" name="Text 24"/>
          <p:cNvSpPr txBox="1"/>
          <p:nvPr/>
        </p:nvSpPr>
        <p:spPr>
          <a:xfrm>
            <a:off x="6766560" y="2148840"/>
            <a:ext cx="4663440" cy="1737360"/>
          </a:xfrm>
          <a:prstGeom prst="rect">
            <a:avLst/>
          </a:prstGeom>
          <a:noFill/>
          <a:ln/>
        </p:spPr>
        <p:txBody>
          <a:bodyPr wrap="square" lIns="0" tIns="0" rIns="0" bIns="0" rtlCol="0" anchor="t"/>
          <a:lstStyle/>
          <a:p>
            <a:pPr marL="228600" indent="-228600">
              <a:spcAft>
                <a:spcPts val="400"/>
              </a:spcAft>
              <a:buSzPct val="100000"/>
              <a:buChar char="•"/>
            </a:pPr>
            <a:r>
              <a:rPr lang="tr-TR" sz="1550" b="1" dirty="0">
                <a:solidFill>
                  <a:srgbClr val="3A464C"/>
                </a:solidFill>
                <a:latin typeface="Calibri" pitchFamily="34" charset="0"/>
                <a:ea typeface="Calibri" pitchFamily="34" charset="-122"/>
                <a:cs typeface="Calibri" pitchFamily="34" charset="-120"/>
              </a:rPr>
              <a:t>EAT = t_TLB + (2 − α) t_m</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isabet: t_TLB + t_m; ıska: t_TLB + 2t_m (sayfa tablosu + veri).</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Sadeleştirilmiş (t_TLB = 0): α t_m + (1 − α) 2t_m — hangisini kullandığınızı yazın.</a:t>
            </a:r>
            <a:endParaRPr lang="tr-TR" sz="1550" dirty="0"/>
          </a:p>
        </p:txBody>
      </p:sp>
      <p:sp>
        <p:nvSpPr>
          <p:cNvPr id="27" name="Shape 25"/>
          <p:cNvSpPr/>
          <p:nvPr/>
        </p:nvSpPr>
        <p:spPr>
          <a:xfrm>
            <a:off x="6537960" y="4206240"/>
            <a:ext cx="512064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sp>
      <p:sp>
        <p:nvSpPr>
          <p:cNvPr id="28" name="Text 26"/>
          <p:cNvSpPr txBox="1"/>
          <p:nvPr/>
        </p:nvSpPr>
        <p:spPr>
          <a:xfrm>
            <a:off x="6766560" y="438912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Bölütleme</a:t>
            </a:r>
            <a:endParaRPr lang="tr-TR" sz="1500" dirty="0"/>
          </a:p>
        </p:txBody>
      </p:sp>
      <p:sp>
        <p:nvSpPr>
          <p:cNvPr id="29" name="Text 27"/>
          <p:cNvSpPr txBox="1"/>
          <p:nvPr/>
        </p:nvSpPr>
        <p:spPr>
          <a:xfrm>
            <a:off x="6766560" y="4846320"/>
            <a:ext cx="4663440" cy="128016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Adres ⟨s, d⟩; 0 ≤ d &lt; sınır[s] ise a_fiz = taban[s] + d, değilse tuzak.</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Sayfa tablosu boyutu = sayfa sayısı × girdi boyutu (2²⁰ × 4 B = 4 MB).</a:t>
            </a:r>
            <a:endParaRPr lang="tr-TR"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Sanal Bellek ve Dosya Sistemleri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11</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Sanal bellek</a:t>
            </a:r>
            <a:endParaRPr lang="tr-TR"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İsteğe bağlı sayfalama: sayfa ilk kullanımda yüklenir; geçerli–geçersiz bit; sayfa hatası = tuzak, yükle, komutu yeniden başlat.</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EAT = (1 − p) t_m + p t_fault</a:t>
            </a:r>
            <a:r>
              <a:rPr lang="tr-TR" sz="1400" dirty="0">
                <a:solidFill>
                  <a:srgbClr val="3A464C"/>
                </a:solidFill>
                <a:latin typeface="Calibri" pitchFamily="34" charset="0"/>
                <a:ea typeface="Calibri" pitchFamily="34" charset="-122"/>
                <a:cs typeface="Calibri" pitchFamily="34" charset="-120"/>
              </a:rPr>
              <a:t> — p çok küçük olmalı (≈ 10⁻⁶).</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Yazınca kopyala, fork()'u ucuzlatır.</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Değiştirme:</a:t>
            </a:r>
            <a:r>
              <a:rPr lang="tr-TR" sz="1400" dirty="0">
                <a:solidFill>
                  <a:srgbClr val="3A464C"/>
                </a:solidFill>
                <a:latin typeface="Calibri" pitchFamily="34" charset="0"/>
                <a:ea typeface="Calibri" pitchFamily="34" charset="-122"/>
                <a:cs typeface="Calibri" pitchFamily="34" charset="-120"/>
              </a:rPr>
              <a:t> FIFO (Belady anomalisi olabilir), OPT (geleceği bilmeli), LRU (saat algoritması yaklaşır).</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Boşa çalışma: çerçeve &lt; çalışma kümesi → hesap yerine sayfalama.</a:t>
            </a:r>
            <a:endParaRPr lang="tr-TR"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Dosya sistemleri</a:t>
            </a:r>
            <a:endParaRPr lang="tr-TR"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Dosya = adlandırılmış veri + öznitelikler (Linux: düğüm/inode); bir kez open(), sonra dosya tanımlayıcısı.</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Erişim:</a:t>
            </a:r>
            <a:r>
              <a:rPr lang="tr-TR" sz="1400" dirty="0">
                <a:solidFill>
                  <a:srgbClr val="3A464C"/>
                </a:solidFill>
                <a:latin typeface="Calibri" pitchFamily="34" charset="0"/>
                <a:ea typeface="Calibri" pitchFamily="34" charset="-122"/>
                <a:cs typeface="Calibri" pitchFamily="34" charset="-120"/>
              </a:rPr>
              <a:t> sıralı, doğrudan (blok = ⌊konum / blok boyutu⌋), indeksli.</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Dizinler:</a:t>
            </a:r>
            <a:r>
              <a:rPr lang="tr-TR" sz="1400" dirty="0">
                <a:solidFill>
                  <a:srgbClr val="3A464C"/>
                </a:solidFill>
                <a:latin typeface="Calibri" pitchFamily="34" charset="0"/>
                <a:ea typeface="Calibri" pitchFamily="34" charset="-122"/>
                <a:cs typeface="Calibri" pitchFamily="34" charset="-120"/>
              </a:rPr>
              <a:t> tek düzeyli, iki düzeyli, ağaç, döngüsüz çizge, genel çizge.</a:t>
            </a:r>
            <a:endParaRPr lang="tr-TR" sz="1400" dirty="0"/>
          </a:p>
          <a:p>
            <a:pPr marL="228600" indent="-228600">
              <a:spcAft>
                <a:spcPts val="400"/>
              </a:spcAft>
              <a:buSzPct val="100000"/>
              <a:buChar char="•"/>
            </a:pPr>
            <a:r>
              <a:rPr lang="tr-TR" sz="1400" b="1" dirty="0">
                <a:solidFill>
                  <a:srgbClr val="3A464C"/>
                </a:solidFill>
                <a:latin typeface="Calibri" pitchFamily="34" charset="0"/>
                <a:ea typeface="Calibri" pitchFamily="34" charset="-122"/>
                <a:cs typeface="Calibri" pitchFamily="34" charset="-120"/>
              </a:rPr>
              <a:t>Bağlantılar:</a:t>
            </a:r>
            <a:r>
              <a:rPr lang="tr-TR" sz="1400" dirty="0">
                <a:solidFill>
                  <a:srgbClr val="3A464C"/>
                </a:solidFill>
                <a:latin typeface="Calibri" pitchFamily="34" charset="0"/>
                <a:ea typeface="Calibri" pitchFamily="34" charset="-122"/>
                <a:cs typeface="Calibri" pitchFamily="34" charset="-120"/>
              </a:rPr>
              <a:t> sabit = aynı düğüme ikinci ad; sembolik = yol tutan küçük dosya (boşa düşebilir).</a:t>
            </a:r>
            <a:endParaRPr lang="tr-TR"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Tipik sorular: FIFO/OPT/LRU çerçeve tabloları, sayfa hatalı EAT ve belli bir yavaşlama için en büyük p, bir kaydın blok numarası ve konumu, rm'den sonra sabit ve sembolik bağlantı.</a:t>
            </a:r>
            <a:endParaRPr lang="tr-T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KURAM</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Tek Slaytta Formül Kâğıdı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12</a:t>
            </a:r>
            <a:endParaRPr lang="tr-TR"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09960" cy="914400"/>
        </p:xfrm>
        <a:graphic>
          <a:graphicData uri="http://schemas.openxmlformats.org/drawingml/2006/table">
            <a:tbl>
              <a:tblPr/>
              <a:tblGrid>
                <a:gridCol w="868680"/>
                <a:gridCol w="2423160"/>
                <a:gridCol w="7818120"/>
              </a:tblGrid>
              <a:tr h="457200">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Hafta</a:t>
                      </a:r>
                      <a:endParaRPr lang="tr-TR" sz="1400" dirty="0">
                        <a:latin typeface="Cambria" charset="0"/>
                        <a:ea typeface="Cambria" charset="0"/>
                        <a:cs typeface="Cambria"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Büyüklük</a:t>
                      </a:r>
                      <a:endParaRPr lang="tr-TR" sz="1400" dirty="0">
                        <a:latin typeface="Cambria" charset="0"/>
                        <a:ea typeface="Cambria" charset="0"/>
                        <a:cs typeface="Cambria"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400" b="1" dirty="0">
                          <a:solidFill>
                            <a:srgbClr val="FFFFFF"/>
                          </a:solidFill>
                          <a:latin typeface="Cambria" pitchFamily="34" charset="0"/>
                          <a:ea typeface="Cambria" pitchFamily="34" charset="-122"/>
                          <a:cs typeface="Cambria" pitchFamily="34" charset="-120"/>
                        </a:rPr>
                        <a:t>Formül</a:t>
                      </a:r>
                      <a:endParaRPr lang="tr-TR" sz="1400" dirty="0">
                        <a:latin typeface="Cambria" charset="0"/>
                        <a:ea typeface="Cambria" charset="0"/>
                        <a:cs typeface="Cambria"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H1</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Toplu iş kullanımı</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U = t_çalışma / (t_çalışma + t_hazırlık)</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H1</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Çoklu programlama</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U(n) = 1 − pⁿ</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H3</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Geçiş ek yükü</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s / (q + s);   n fork → 2ⁿ süreç</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H4</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Amdahl</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hızlanma ≤ 1 / (S + (1 − S)/N)</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H4</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Süreler</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dönüş = bitiş − geliş;  bekleme = dönüş − patlama;  yanıt = ilk çalışma − geliş</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H5</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Patlama tahmini</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τₙ₊₁ = α tₙ + (1 − α) τₙ;   RR bekleme ≤ (n − 1) q</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H6</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Sayfalama</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p = ⌊a / 2ⁿ⌋,  d = a mod 2ⁿ,  a_fiz = f · 2ⁿ + d</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H6</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TLB</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EAT = t_TLB + (2 − α) t_m</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H7</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Sayfa hataları</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EAT = (1 − p) t_m + p t_fault</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457200">
                <a:tc>
                  <a:txBody>
                    <a:bodyPr/>
                    <a:lstStyle/>
                    <a:p>
                      <a:pPr indent="0" marL="0">
                        <a:buNone/>
                      </a:pPr>
                      <a:r>
                        <a:rPr lang="tr-TR" sz="1450" b="1" dirty="0">
                          <a:solidFill>
                            <a:srgbClr val="3A464C"/>
                          </a:solidFill>
                          <a:latin typeface="Calibri" pitchFamily="34" charset="0"/>
                          <a:ea typeface="Calibri" pitchFamily="34" charset="-122"/>
                          <a:cs typeface="Calibri" pitchFamily="34" charset="-120"/>
                        </a:rPr>
                        <a:t>H7</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Doğrudan erişim</a:t>
                      </a:r>
                      <a:endParaRPr lang="tr-TR" sz="1450" dirty="0">
                        <a:latin typeface="Calibri" charset="0"/>
                        <a:ea typeface="Calibri" charset="0"/>
                        <a:cs typeface="Calibri"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00" dirty="0">
                          <a:solidFill>
                            <a:srgbClr val="212121"/>
                          </a:solidFill>
                          <a:latin typeface="Consolas" pitchFamily="34" charset="0"/>
                          <a:ea typeface="Consolas" pitchFamily="34" charset="-122"/>
                          <a:cs typeface="Consolas" pitchFamily="34" charset="-120"/>
                        </a:rPr>
                        <a:t>bayt = r × boyut;  blok = ⌊bayt / B⌋;  konum = bayt mod B</a:t>
                      </a:r>
                      <a:endParaRPr lang="tr-TR" sz="1400" dirty="0">
                        <a:latin typeface="Consolas" charset="0"/>
                        <a:ea typeface="Consolas" charset="0"/>
                        <a:cs typeface="Consolas" charset="0"/>
                      </a:endParaRPr>
                    </a:p>
                  </a:txBody>
                  <a:tcPr marL="101600" marR="1016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1 · 5.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Dört Süreçte SRTF ve Round Robin (q = 2)</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13</a:t>
            </a:r>
            <a:endParaRPr lang="tr-TR" sz="900" dirty="0"/>
          </a:p>
        </p:txBody>
      </p:sp>
      <p:sp>
        <p:nvSpPr>
          <p:cNvPr id="6" name="Text 4"/>
          <p:cNvSpPr txBox="1"/>
          <p:nvPr/>
        </p:nvSpPr>
        <p:spPr>
          <a:xfrm>
            <a:off x="548640" y="1417320"/>
            <a:ext cx="11109960" cy="320040"/>
          </a:xfrm>
          <a:prstGeom prst="rect">
            <a:avLst/>
          </a:prstGeom>
          <a:noFill/>
          <a:ln/>
        </p:spPr>
        <p:txBody>
          <a:bodyPr wrap="square" lIns="0" tIns="0" rIns="0" bIns="0" rtlCol="0" anchor="t"/>
          <a:lstStyle/>
          <a:p>
            <a:pPr indent="0" marL="0">
              <a:buNone/>
            </a:pPr>
            <a:r>
              <a:rPr lang="tr-TR" sz="1400" i="1" dirty="0">
                <a:solidFill>
                  <a:srgbClr val="6B7679"/>
                </a:solidFill>
                <a:latin typeface="Calibri" pitchFamily="34" charset="0"/>
                <a:ea typeface="Calibri" pitchFamily="34" charset="-122"/>
                <a:cs typeface="Calibri" pitchFamily="34" charset="-120"/>
              </a:rPr>
              <a:t>P1: varış 0, patlama 5     P2: varış 1, patlama 3     P3: varış 2, patlama 1     P4: varış 3, patlama 4   (ms)</a:t>
            </a:r>
            <a:endParaRPr lang="tr-TR" sz="1400" dirty="0"/>
          </a:p>
        </p:txBody>
      </p:sp>
      <p:sp>
        <p:nvSpPr>
          <p:cNvPr id="7" name="Text 5"/>
          <p:cNvSpPr txBox="1"/>
          <p:nvPr/>
        </p:nvSpPr>
        <p:spPr>
          <a:xfrm>
            <a:off x="548640" y="1874520"/>
            <a:ext cx="1143000" cy="50292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SRTF</a:t>
            </a:r>
            <a:endParaRPr lang="tr-TR" sz="1300" dirty="0"/>
          </a:p>
        </p:txBody>
      </p:sp>
      <p:sp>
        <p:nvSpPr>
          <p:cNvPr id="8" name="Shape 6"/>
          <p:cNvSpPr/>
          <p:nvPr/>
        </p:nvSpPr>
        <p:spPr>
          <a:xfrm>
            <a:off x="1792224" y="1874520"/>
            <a:ext cx="350989" cy="502920"/>
          </a:xfrm>
          <a:prstGeom prst="roundRect">
            <a:avLst>
              <a:gd name="adj" fmla="val 13026"/>
            </a:avLst>
          </a:prstGeom>
          <a:solidFill>
            <a:srgbClr val="02C39A"/>
          </a:solidFill>
          <a:ln/>
        </p:spPr>
      </p:sp>
      <p:sp>
        <p:nvSpPr>
          <p:cNvPr id="9" name="Text 7"/>
          <p:cNvSpPr txBox="1"/>
          <p:nvPr/>
        </p:nvSpPr>
        <p:spPr>
          <a:xfrm>
            <a:off x="1792224" y="1874520"/>
            <a:ext cx="350989"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10" name="Shape 8"/>
          <p:cNvSpPr/>
          <p:nvPr/>
        </p:nvSpPr>
        <p:spPr>
          <a:xfrm>
            <a:off x="2161501" y="1874520"/>
            <a:ext cx="350989" cy="502920"/>
          </a:xfrm>
          <a:prstGeom prst="roundRect">
            <a:avLst>
              <a:gd name="adj" fmla="val 13026"/>
            </a:avLst>
          </a:prstGeom>
          <a:solidFill>
            <a:srgbClr val="50808E"/>
          </a:solidFill>
          <a:ln/>
        </p:spPr>
      </p:sp>
      <p:sp>
        <p:nvSpPr>
          <p:cNvPr id="11" name="Text 9"/>
          <p:cNvSpPr txBox="1"/>
          <p:nvPr/>
        </p:nvSpPr>
        <p:spPr>
          <a:xfrm>
            <a:off x="2161501" y="1874520"/>
            <a:ext cx="350989"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2" name="Shape 10"/>
          <p:cNvSpPr/>
          <p:nvPr/>
        </p:nvSpPr>
        <p:spPr>
          <a:xfrm>
            <a:off x="2530778" y="1874520"/>
            <a:ext cx="350989" cy="502920"/>
          </a:xfrm>
          <a:prstGeom prst="roundRect">
            <a:avLst>
              <a:gd name="adj" fmla="val 13026"/>
            </a:avLst>
          </a:prstGeom>
          <a:solidFill>
            <a:srgbClr val="C98A1B"/>
          </a:solidFill>
          <a:ln/>
        </p:spPr>
      </p:sp>
      <p:sp>
        <p:nvSpPr>
          <p:cNvPr id="13" name="Text 11"/>
          <p:cNvSpPr txBox="1"/>
          <p:nvPr/>
        </p:nvSpPr>
        <p:spPr>
          <a:xfrm>
            <a:off x="2530778" y="1874520"/>
            <a:ext cx="350989"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14" name="Shape 12"/>
          <p:cNvSpPr/>
          <p:nvPr/>
        </p:nvSpPr>
        <p:spPr>
          <a:xfrm>
            <a:off x="2900055" y="1874520"/>
            <a:ext cx="720266" cy="502920"/>
          </a:xfrm>
          <a:prstGeom prst="roundRect">
            <a:avLst>
              <a:gd name="adj" fmla="val 9091"/>
            </a:avLst>
          </a:prstGeom>
          <a:solidFill>
            <a:srgbClr val="50808E"/>
          </a:solidFill>
          <a:ln/>
        </p:spPr>
      </p:sp>
      <p:sp>
        <p:nvSpPr>
          <p:cNvPr id="15" name="Text 13"/>
          <p:cNvSpPr txBox="1"/>
          <p:nvPr/>
        </p:nvSpPr>
        <p:spPr>
          <a:xfrm>
            <a:off x="2900055" y="1874520"/>
            <a:ext cx="720266"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16" name="Shape 14"/>
          <p:cNvSpPr/>
          <p:nvPr/>
        </p:nvSpPr>
        <p:spPr>
          <a:xfrm>
            <a:off x="3638609" y="1874520"/>
            <a:ext cx="1458820" cy="502920"/>
          </a:xfrm>
          <a:prstGeom prst="roundRect">
            <a:avLst>
              <a:gd name="adj" fmla="val 9091"/>
            </a:avLst>
          </a:prstGeom>
          <a:solidFill>
            <a:srgbClr val="02C39A"/>
          </a:solidFill>
          <a:ln/>
        </p:spPr>
      </p:sp>
      <p:sp>
        <p:nvSpPr>
          <p:cNvPr id="17" name="Text 15"/>
          <p:cNvSpPr txBox="1"/>
          <p:nvPr/>
        </p:nvSpPr>
        <p:spPr>
          <a:xfrm>
            <a:off x="3638609" y="1874520"/>
            <a:ext cx="1458820"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18" name="Shape 16"/>
          <p:cNvSpPr/>
          <p:nvPr/>
        </p:nvSpPr>
        <p:spPr>
          <a:xfrm>
            <a:off x="5115716" y="1874520"/>
            <a:ext cx="1458820" cy="502920"/>
          </a:xfrm>
          <a:prstGeom prst="roundRect">
            <a:avLst>
              <a:gd name="adj" fmla="val 9091"/>
            </a:avLst>
          </a:prstGeom>
          <a:solidFill>
            <a:srgbClr val="36454F"/>
          </a:solidFill>
          <a:ln/>
        </p:spPr>
      </p:sp>
      <p:sp>
        <p:nvSpPr>
          <p:cNvPr id="19" name="Text 17"/>
          <p:cNvSpPr txBox="1"/>
          <p:nvPr/>
        </p:nvSpPr>
        <p:spPr>
          <a:xfrm>
            <a:off x="5115716" y="1874520"/>
            <a:ext cx="1458820"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20" name="Shape 18"/>
          <p:cNvSpPr/>
          <p:nvPr/>
        </p:nvSpPr>
        <p:spPr>
          <a:xfrm>
            <a:off x="1783080" y="2377440"/>
            <a:ext cx="91" cy="73152"/>
          </a:xfrm>
          <a:prstGeom prst="line">
            <a:avLst/>
          </a:prstGeom>
          <a:noFill/>
          <a:ln w="12700">
            <a:solidFill>
              <a:srgbClr val="6B7679"/>
            </a:solidFill>
            <a:prstDash val="solid"/>
          </a:ln>
        </p:spPr>
      </p:sp>
      <p:sp>
        <p:nvSpPr>
          <p:cNvPr id="21" name="Text 19"/>
          <p:cNvSpPr txBox="1"/>
          <p:nvPr/>
        </p:nvSpPr>
        <p:spPr>
          <a:xfrm>
            <a:off x="1508760"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0</a:t>
            </a:r>
            <a:endParaRPr lang="tr-TR" sz="1150" dirty="0"/>
          </a:p>
        </p:txBody>
      </p:sp>
      <p:sp>
        <p:nvSpPr>
          <p:cNvPr id="22" name="Shape 20"/>
          <p:cNvSpPr/>
          <p:nvPr/>
        </p:nvSpPr>
        <p:spPr>
          <a:xfrm>
            <a:off x="2152357" y="2377440"/>
            <a:ext cx="91" cy="73152"/>
          </a:xfrm>
          <a:prstGeom prst="line">
            <a:avLst/>
          </a:prstGeom>
          <a:noFill/>
          <a:ln w="12700">
            <a:solidFill>
              <a:srgbClr val="6B7679"/>
            </a:solidFill>
            <a:prstDash val="solid"/>
          </a:ln>
        </p:spPr>
      </p:sp>
      <p:sp>
        <p:nvSpPr>
          <p:cNvPr id="23" name="Text 21"/>
          <p:cNvSpPr txBox="1"/>
          <p:nvPr/>
        </p:nvSpPr>
        <p:spPr>
          <a:xfrm>
            <a:off x="1878037"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1</a:t>
            </a:r>
            <a:endParaRPr lang="tr-TR" sz="1150" dirty="0"/>
          </a:p>
        </p:txBody>
      </p:sp>
      <p:sp>
        <p:nvSpPr>
          <p:cNvPr id="24" name="Shape 22"/>
          <p:cNvSpPr/>
          <p:nvPr/>
        </p:nvSpPr>
        <p:spPr>
          <a:xfrm>
            <a:off x="2521634" y="2377440"/>
            <a:ext cx="91" cy="73152"/>
          </a:xfrm>
          <a:prstGeom prst="line">
            <a:avLst/>
          </a:prstGeom>
          <a:noFill/>
          <a:ln w="12700">
            <a:solidFill>
              <a:srgbClr val="6B7679"/>
            </a:solidFill>
            <a:prstDash val="solid"/>
          </a:ln>
        </p:spPr>
      </p:sp>
      <p:sp>
        <p:nvSpPr>
          <p:cNvPr id="25" name="Text 23"/>
          <p:cNvSpPr txBox="1"/>
          <p:nvPr/>
        </p:nvSpPr>
        <p:spPr>
          <a:xfrm>
            <a:off x="2247314"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2</a:t>
            </a:r>
            <a:endParaRPr lang="tr-TR" sz="1150" dirty="0"/>
          </a:p>
        </p:txBody>
      </p:sp>
      <p:sp>
        <p:nvSpPr>
          <p:cNvPr id="26" name="Shape 24"/>
          <p:cNvSpPr/>
          <p:nvPr/>
        </p:nvSpPr>
        <p:spPr>
          <a:xfrm>
            <a:off x="2890911" y="2377440"/>
            <a:ext cx="91" cy="73152"/>
          </a:xfrm>
          <a:prstGeom prst="line">
            <a:avLst/>
          </a:prstGeom>
          <a:noFill/>
          <a:ln w="12700">
            <a:solidFill>
              <a:srgbClr val="6B7679"/>
            </a:solidFill>
            <a:prstDash val="solid"/>
          </a:ln>
        </p:spPr>
      </p:sp>
      <p:sp>
        <p:nvSpPr>
          <p:cNvPr id="27" name="Text 25"/>
          <p:cNvSpPr txBox="1"/>
          <p:nvPr/>
        </p:nvSpPr>
        <p:spPr>
          <a:xfrm>
            <a:off x="2616591"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3</a:t>
            </a:r>
            <a:endParaRPr lang="tr-TR" sz="1150" dirty="0"/>
          </a:p>
        </p:txBody>
      </p:sp>
      <p:sp>
        <p:nvSpPr>
          <p:cNvPr id="28" name="Shape 26"/>
          <p:cNvSpPr/>
          <p:nvPr/>
        </p:nvSpPr>
        <p:spPr>
          <a:xfrm>
            <a:off x="3629465" y="2377440"/>
            <a:ext cx="91" cy="73152"/>
          </a:xfrm>
          <a:prstGeom prst="line">
            <a:avLst/>
          </a:prstGeom>
          <a:noFill/>
          <a:ln w="12700">
            <a:solidFill>
              <a:srgbClr val="6B7679"/>
            </a:solidFill>
            <a:prstDash val="solid"/>
          </a:ln>
        </p:spPr>
      </p:sp>
      <p:sp>
        <p:nvSpPr>
          <p:cNvPr id="29" name="Text 27"/>
          <p:cNvSpPr txBox="1"/>
          <p:nvPr/>
        </p:nvSpPr>
        <p:spPr>
          <a:xfrm>
            <a:off x="3355145"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5</a:t>
            </a:r>
            <a:endParaRPr lang="tr-TR" sz="1150" dirty="0"/>
          </a:p>
        </p:txBody>
      </p:sp>
      <p:sp>
        <p:nvSpPr>
          <p:cNvPr id="30" name="Shape 28"/>
          <p:cNvSpPr/>
          <p:nvPr/>
        </p:nvSpPr>
        <p:spPr>
          <a:xfrm>
            <a:off x="5106572" y="2377440"/>
            <a:ext cx="91" cy="73152"/>
          </a:xfrm>
          <a:prstGeom prst="line">
            <a:avLst/>
          </a:prstGeom>
          <a:noFill/>
          <a:ln w="12700">
            <a:solidFill>
              <a:srgbClr val="6B7679"/>
            </a:solidFill>
            <a:prstDash val="solid"/>
          </a:ln>
        </p:spPr>
      </p:sp>
      <p:sp>
        <p:nvSpPr>
          <p:cNvPr id="31" name="Text 29"/>
          <p:cNvSpPr txBox="1"/>
          <p:nvPr/>
        </p:nvSpPr>
        <p:spPr>
          <a:xfrm>
            <a:off x="4832252"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9</a:t>
            </a:r>
            <a:endParaRPr lang="tr-TR" sz="1150" dirty="0"/>
          </a:p>
        </p:txBody>
      </p:sp>
      <p:sp>
        <p:nvSpPr>
          <p:cNvPr id="32" name="Shape 30"/>
          <p:cNvSpPr/>
          <p:nvPr/>
        </p:nvSpPr>
        <p:spPr>
          <a:xfrm>
            <a:off x="6583680" y="2377440"/>
            <a:ext cx="91" cy="73152"/>
          </a:xfrm>
          <a:prstGeom prst="line">
            <a:avLst/>
          </a:prstGeom>
          <a:noFill/>
          <a:ln w="12700">
            <a:solidFill>
              <a:srgbClr val="6B7679"/>
            </a:solidFill>
            <a:prstDash val="solid"/>
          </a:ln>
        </p:spPr>
      </p:sp>
      <p:sp>
        <p:nvSpPr>
          <p:cNvPr id="33" name="Text 31"/>
          <p:cNvSpPr txBox="1"/>
          <p:nvPr/>
        </p:nvSpPr>
        <p:spPr>
          <a:xfrm>
            <a:off x="6309360" y="243230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13</a:t>
            </a:r>
            <a:endParaRPr lang="tr-TR" sz="1150" dirty="0"/>
          </a:p>
        </p:txBody>
      </p:sp>
      <p:sp>
        <p:nvSpPr>
          <p:cNvPr id="34" name="Text 32"/>
          <p:cNvSpPr txBox="1"/>
          <p:nvPr/>
        </p:nvSpPr>
        <p:spPr>
          <a:xfrm>
            <a:off x="548640" y="2880360"/>
            <a:ext cx="1143000" cy="502920"/>
          </a:xfrm>
          <a:prstGeom prst="rect">
            <a:avLst/>
          </a:prstGeom>
          <a:noFill/>
          <a:ln/>
        </p:spPr>
        <p:txBody>
          <a:bodyPr wrap="square" lIns="0" tIns="0" rIns="0" bIns="0" rtlCol="0" anchor="ctr"/>
          <a:lstStyle/>
          <a:p>
            <a:pPr indent="0" marL="0">
              <a:buNone/>
            </a:pPr>
            <a:r>
              <a:rPr lang="tr-TR" sz="1300" b="1" dirty="0">
                <a:solidFill>
                  <a:srgbClr val="36454F"/>
                </a:solidFill>
                <a:latin typeface="Calibri" pitchFamily="34" charset="0"/>
                <a:ea typeface="Calibri" pitchFamily="34" charset="-122"/>
                <a:cs typeface="Calibri" pitchFamily="34" charset="-120"/>
              </a:rPr>
              <a:t>RR, q = 2</a:t>
            </a:r>
            <a:endParaRPr lang="tr-TR" sz="1300" dirty="0"/>
          </a:p>
        </p:txBody>
      </p:sp>
      <p:sp>
        <p:nvSpPr>
          <p:cNvPr id="35" name="Shape 33"/>
          <p:cNvSpPr/>
          <p:nvPr/>
        </p:nvSpPr>
        <p:spPr>
          <a:xfrm>
            <a:off x="1792224" y="2880360"/>
            <a:ext cx="720266" cy="502920"/>
          </a:xfrm>
          <a:prstGeom prst="roundRect">
            <a:avLst>
              <a:gd name="adj" fmla="val 9091"/>
            </a:avLst>
          </a:prstGeom>
          <a:solidFill>
            <a:srgbClr val="02C39A"/>
          </a:solidFill>
          <a:ln/>
        </p:spPr>
      </p:sp>
      <p:sp>
        <p:nvSpPr>
          <p:cNvPr id="36" name="Text 34"/>
          <p:cNvSpPr txBox="1"/>
          <p:nvPr/>
        </p:nvSpPr>
        <p:spPr>
          <a:xfrm>
            <a:off x="1792224" y="2880360"/>
            <a:ext cx="720266"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37" name="Shape 35"/>
          <p:cNvSpPr/>
          <p:nvPr/>
        </p:nvSpPr>
        <p:spPr>
          <a:xfrm>
            <a:off x="2530778" y="2880360"/>
            <a:ext cx="720266" cy="502920"/>
          </a:xfrm>
          <a:prstGeom prst="roundRect">
            <a:avLst>
              <a:gd name="adj" fmla="val 9091"/>
            </a:avLst>
          </a:prstGeom>
          <a:solidFill>
            <a:srgbClr val="50808E"/>
          </a:solidFill>
          <a:ln/>
        </p:spPr>
      </p:sp>
      <p:sp>
        <p:nvSpPr>
          <p:cNvPr id="38" name="Text 36"/>
          <p:cNvSpPr txBox="1"/>
          <p:nvPr/>
        </p:nvSpPr>
        <p:spPr>
          <a:xfrm>
            <a:off x="2530778" y="2880360"/>
            <a:ext cx="720266"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39" name="Shape 37"/>
          <p:cNvSpPr/>
          <p:nvPr/>
        </p:nvSpPr>
        <p:spPr>
          <a:xfrm>
            <a:off x="3269332" y="2880360"/>
            <a:ext cx="350989" cy="502920"/>
          </a:xfrm>
          <a:prstGeom prst="roundRect">
            <a:avLst>
              <a:gd name="adj" fmla="val 13026"/>
            </a:avLst>
          </a:prstGeom>
          <a:solidFill>
            <a:srgbClr val="C98A1B"/>
          </a:solidFill>
          <a:ln/>
        </p:spPr>
      </p:sp>
      <p:sp>
        <p:nvSpPr>
          <p:cNvPr id="40" name="Text 38"/>
          <p:cNvSpPr txBox="1"/>
          <p:nvPr/>
        </p:nvSpPr>
        <p:spPr>
          <a:xfrm>
            <a:off x="3269332" y="2880360"/>
            <a:ext cx="350989"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P3</a:t>
            </a:r>
            <a:endParaRPr lang="tr-TR" sz="1300" dirty="0"/>
          </a:p>
        </p:txBody>
      </p:sp>
      <p:sp>
        <p:nvSpPr>
          <p:cNvPr id="41" name="Shape 39"/>
          <p:cNvSpPr/>
          <p:nvPr/>
        </p:nvSpPr>
        <p:spPr>
          <a:xfrm>
            <a:off x="3638609" y="2880360"/>
            <a:ext cx="720266" cy="502920"/>
          </a:xfrm>
          <a:prstGeom prst="roundRect">
            <a:avLst>
              <a:gd name="adj" fmla="val 9091"/>
            </a:avLst>
          </a:prstGeom>
          <a:solidFill>
            <a:srgbClr val="02C39A"/>
          </a:solidFill>
          <a:ln/>
        </p:spPr>
      </p:sp>
      <p:sp>
        <p:nvSpPr>
          <p:cNvPr id="42" name="Text 40"/>
          <p:cNvSpPr txBox="1"/>
          <p:nvPr/>
        </p:nvSpPr>
        <p:spPr>
          <a:xfrm>
            <a:off x="3638609" y="2880360"/>
            <a:ext cx="720266"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43" name="Shape 41"/>
          <p:cNvSpPr/>
          <p:nvPr/>
        </p:nvSpPr>
        <p:spPr>
          <a:xfrm>
            <a:off x="4377162" y="2880360"/>
            <a:ext cx="720266" cy="502920"/>
          </a:xfrm>
          <a:prstGeom prst="roundRect">
            <a:avLst>
              <a:gd name="adj" fmla="val 9091"/>
            </a:avLst>
          </a:prstGeom>
          <a:solidFill>
            <a:srgbClr val="36454F"/>
          </a:solidFill>
          <a:ln/>
        </p:spPr>
      </p:sp>
      <p:sp>
        <p:nvSpPr>
          <p:cNvPr id="44" name="Text 42"/>
          <p:cNvSpPr txBox="1"/>
          <p:nvPr/>
        </p:nvSpPr>
        <p:spPr>
          <a:xfrm>
            <a:off x="4377162" y="2880360"/>
            <a:ext cx="720266"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45" name="Shape 43"/>
          <p:cNvSpPr/>
          <p:nvPr/>
        </p:nvSpPr>
        <p:spPr>
          <a:xfrm>
            <a:off x="5115716" y="2880360"/>
            <a:ext cx="350989" cy="502920"/>
          </a:xfrm>
          <a:prstGeom prst="roundRect">
            <a:avLst>
              <a:gd name="adj" fmla="val 13026"/>
            </a:avLst>
          </a:prstGeom>
          <a:solidFill>
            <a:srgbClr val="50808E"/>
          </a:solidFill>
          <a:ln/>
        </p:spPr>
      </p:sp>
      <p:sp>
        <p:nvSpPr>
          <p:cNvPr id="46" name="Text 44"/>
          <p:cNvSpPr txBox="1"/>
          <p:nvPr/>
        </p:nvSpPr>
        <p:spPr>
          <a:xfrm>
            <a:off x="5115716" y="2880360"/>
            <a:ext cx="350989"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P2</a:t>
            </a:r>
            <a:endParaRPr lang="tr-TR" sz="1300" dirty="0"/>
          </a:p>
        </p:txBody>
      </p:sp>
      <p:sp>
        <p:nvSpPr>
          <p:cNvPr id="47" name="Shape 45"/>
          <p:cNvSpPr/>
          <p:nvPr/>
        </p:nvSpPr>
        <p:spPr>
          <a:xfrm>
            <a:off x="5484993" y="2880360"/>
            <a:ext cx="350989" cy="502920"/>
          </a:xfrm>
          <a:prstGeom prst="roundRect">
            <a:avLst>
              <a:gd name="adj" fmla="val 13026"/>
            </a:avLst>
          </a:prstGeom>
          <a:solidFill>
            <a:srgbClr val="02C39A"/>
          </a:solidFill>
          <a:ln/>
        </p:spPr>
      </p:sp>
      <p:sp>
        <p:nvSpPr>
          <p:cNvPr id="48" name="Text 46"/>
          <p:cNvSpPr txBox="1"/>
          <p:nvPr/>
        </p:nvSpPr>
        <p:spPr>
          <a:xfrm>
            <a:off x="5484993" y="2880360"/>
            <a:ext cx="350989" cy="502920"/>
          </a:xfrm>
          <a:prstGeom prst="rect">
            <a:avLst/>
          </a:prstGeom>
          <a:noFill/>
          <a:ln/>
        </p:spPr>
        <p:txBody>
          <a:bodyPr wrap="square" lIns="38100" tIns="38100" rIns="38100" bIns="38100" rtlCol="0" anchor="ctr"/>
          <a:lstStyle/>
          <a:p>
            <a:pPr algn="ctr" indent="0" marL="0">
              <a:buNone/>
            </a:pPr>
            <a:r>
              <a:rPr lang="tr-TR" sz="1300" b="1" dirty="0">
                <a:solidFill>
                  <a:srgbClr val="212121"/>
                </a:solidFill>
                <a:latin typeface="Calibri" pitchFamily="34" charset="0"/>
                <a:ea typeface="Calibri" pitchFamily="34" charset="-122"/>
                <a:cs typeface="Calibri" pitchFamily="34" charset="-120"/>
              </a:rPr>
              <a:t>P1</a:t>
            </a:r>
            <a:endParaRPr lang="tr-TR" sz="1300" dirty="0"/>
          </a:p>
        </p:txBody>
      </p:sp>
      <p:sp>
        <p:nvSpPr>
          <p:cNvPr id="49" name="Shape 47"/>
          <p:cNvSpPr/>
          <p:nvPr/>
        </p:nvSpPr>
        <p:spPr>
          <a:xfrm>
            <a:off x="5854270" y="2880360"/>
            <a:ext cx="720266" cy="502920"/>
          </a:xfrm>
          <a:prstGeom prst="roundRect">
            <a:avLst>
              <a:gd name="adj" fmla="val 9091"/>
            </a:avLst>
          </a:prstGeom>
          <a:solidFill>
            <a:srgbClr val="36454F"/>
          </a:solidFill>
          <a:ln/>
        </p:spPr>
      </p:sp>
      <p:sp>
        <p:nvSpPr>
          <p:cNvPr id="50" name="Text 48"/>
          <p:cNvSpPr txBox="1"/>
          <p:nvPr/>
        </p:nvSpPr>
        <p:spPr>
          <a:xfrm>
            <a:off x="5854270" y="2880360"/>
            <a:ext cx="720266" cy="502920"/>
          </a:xfrm>
          <a:prstGeom prst="rect">
            <a:avLst/>
          </a:prstGeom>
          <a:noFill/>
          <a:ln/>
        </p:spPr>
        <p:txBody>
          <a:bodyPr wrap="square" lIns="38100" tIns="38100" rIns="38100" bIns="38100" rtlCol="0" anchor="ctr"/>
          <a:lstStyle/>
          <a:p>
            <a:pPr algn="ctr" indent="0" marL="0">
              <a:buNone/>
            </a:pPr>
            <a:r>
              <a:rPr lang="tr-TR" sz="1300" b="1" dirty="0">
                <a:solidFill>
                  <a:srgbClr val="FFFFFF"/>
                </a:solidFill>
                <a:latin typeface="Calibri" pitchFamily="34" charset="0"/>
                <a:ea typeface="Calibri" pitchFamily="34" charset="-122"/>
                <a:cs typeface="Calibri" pitchFamily="34" charset="-120"/>
              </a:rPr>
              <a:t>P4</a:t>
            </a:r>
            <a:endParaRPr lang="tr-TR" sz="1300" dirty="0"/>
          </a:p>
        </p:txBody>
      </p:sp>
      <p:sp>
        <p:nvSpPr>
          <p:cNvPr id="51" name="Shape 49"/>
          <p:cNvSpPr/>
          <p:nvPr/>
        </p:nvSpPr>
        <p:spPr>
          <a:xfrm>
            <a:off x="1783080" y="3383280"/>
            <a:ext cx="91" cy="73152"/>
          </a:xfrm>
          <a:prstGeom prst="line">
            <a:avLst/>
          </a:prstGeom>
          <a:noFill/>
          <a:ln w="12700">
            <a:solidFill>
              <a:srgbClr val="6B7679"/>
            </a:solidFill>
            <a:prstDash val="solid"/>
          </a:ln>
        </p:spPr>
      </p:sp>
      <p:sp>
        <p:nvSpPr>
          <p:cNvPr id="52" name="Text 50"/>
          <p:cNvSpPr txBox="1"/>
          <p:nvPr/>
        </p:nvSpPr>
        <p:spPr>
          <a:xfrm>
            <a:off x="1508760"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0</a:t>
            </a:r>
            <a:endParaRPr lang="tr-TR" sz="1150" dirty="0"/>
          </a:p>
        </p:txBody>
      </p:sp>
      <p:sp>
        <p:nvSpPr>
          <p:cNvPr id="53" name="Shape 51"/>
          <p:cNvSpPr/>
          <p:nvPr/>
        </p:nvSpPr>
        <p:spPr>
          <a:xfrm>
            <a:off x="2521634" y="3383280"/>
            <a:ext cx="91" cy="73152"/>
          </a:xfrm>
          <a:prstGeom prst="line">
            <a:avLst/>
          </a:prstGeom>
          <a:noFill/>
          <a:ln w="12700">
            <a:solidFill>
              <a:srgbClr val="6B7679"/>
            </a:solidFill>
            <a:prstDash val="solid"/>
          </a:ln>
        </p:spPr>
      </p:sp>
      <p:sp>
        <p:nvSpPr>
          <p:cNvPr id="54" name="Text 52"/>
          <p:cNvSpPr txBox="1"/>
          <p:nvPr/>
        </p:nvSpPr>
        <p:spPr>
          <a:xfrm>
            <a:off x="2247314"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2</a:t>
            </a:r>
            <a:endParaRPr lang="tr-TR" sz="1150" dirty="0"/>
          </a:p>
        </p:txBody>
      </p:sp>
      <p:sp>
        <p:nvSpPr>
          <p:cNvPr id="55" name="Shape 53"/>
          <p:cNvSpPr/>
          <p:nvPr/>
        </p:nvSpPr>
        <p:spPr>
          <a:xfrm>
            <a:off x="3260188" y="3383280"/>
            <a:ext cx="91" cy="73152"/>
          </a:xfrm>
          <a:prstGeom prst="line">
            <a:avLst/>
          </a:prstGeom>
          <a:noFill/>
          <a:ln w="12700">
            <a:solidFill>
              <a:srgbClr val="6B7679"/>
            </a:solidFill>
            <a:prstDash val="solid"/>
          </a:ln>
        </p:spPr>
      </p:sp>
      <p:sp>
        <p:nvSpPr>
          <p:cNvPr id="56" name="Text 54"/>
          <p:cNvSpPr txBox="1"/>
          <p:nvPr/>
        </p:nvSpPr>
        <p:spPr>
          <a:xfrm>
            <a:off x="2985868"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4</a:t>
            </a:r>
            <a:endParaRPr lang="tr-TR" sz="1150" dirty="0"/>
          </a:p>
        </p:txBody>
      </p:sp>
      <p:sp>
        <p:nvSpPr>
          <p:cNvPr id="57" name="Shape 55"/>
          <p:cNvSpPr/>
          <p:nvPr/>
        </p:nvSpPr>
        <p:spPr>
          <a:xfrm>
            <a:off x="3629465" y="3383280"/>
            <a:ext cx="91" cy="73152"/>
          </a:xfrm>
          <a:prstGeom prst="line">
            <a:avLst/>
          </a:prstGeom>
          <a:noFill/>
          <a:ln w="12700">
            <a:solidFill>
              <a:srgbClr val="6B7679"/>
            </a:solidFill>
            <a:prstDash val="solid"/>
          </a:ln>
        </p:spPr>
      </p:sp>
      <p:sp>
        <p:nvSpPr>
          <p:cNvPr id="58" name="Text 56"/>
          <p:cNvSpPr txBox="1"/>
          <p:nvPr/>
        </p:nvSpPr>
        <p:spPr>
          <a:xfrm>
            <a:off x="3355145"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5</a:t>
            </a:r>
            <a:endParaRPr lang="tr-TR" sz="1150" dirty="0"/>
          </a:p>
        </p:txBody>
      </p:sp>
      <p:sp>
        <p:nvSpPr>
          <p:cNvPr id="59" name="Shape 57"/>
          <p:cNvSpPr/>
          <p:nvPr/>
        </p:nvSpPr>
        <p:spPr>
          <a:xfrm>
            <a:off x="4368018" y="3383280"/>
            <a:ext cx="91" cy="73152"/>
          </a:xfrm>
          <a:prstGeom prst="line">
            <a:avLst/>
          </a:prstGeom>
          <a:noFill/>
          <a:ln w="12700">
            <a:solidFill>
              <a:srgbClr val="6B7679"/>
            </a:solidFill>
            <a:prstDash val="solid"/>
          </a:ln>
        </p:spPr>
      </p:sp>
      <p:sp>
        <p:nvSpPr>
          <p:cNvPr id="60" name="Text 58"/>
          <p:cNvSpPr txBox="1"/>
          <p:nvPr/>
        </p:nvSpPr>
        <p:spPr>
          <a:xfrm>
            <a:off x="4093698"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7</a:t>
            </a:r>
            <a:endParaRPr lang="tr-TR" sz="1150" dirty="0"/>
          </a:p>
        </p:txBody>
      </p:sp>
      <p:sp>
        <p:nvSpPr>
          <p:cNvPr id="61" name="Shape 59"/>
          <p:cNvSpPr/>
          <p:nvPr/>
        </p:nvSpPr>
        <p:spPr>
          <a:xfrm>
            <a:off x="5106572" y="3383280"/>
            <a:ext cx="91" cy="73152"/>
          </a:xfrm>
          <a:prstGeom prst="line">
            <a:avLst/>
          </a:prstGeom>
          <a:noFill/>
          <a:ln w="12700">
            <a:solidFill>
              <a:srgbClr val="6B7679"/>
            </a:solidFill>
            <a:prstDash val="solid"/>
          </a:ln>
        </p:spPr>
      </p:sp>
      <p:sp>
        <p:nvSpPr>
          <p:cNvPr id="62" name="Text 60"/>
          <p:cNvSpPr txBox="1"/>
          <p:nvPr/>
        </p:nvSpPr>
        <p:spPr>
          <a:xfrm>
            <a:off x="4832252"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9</a:t>
            </a:r>
            <a:endParaRPr lang="tr-TR" sz="1150" dirty="0"/>
          </a:p>
        </p:txBody>
      </p:sp>
      <p:sp>
        <p:nvSpPr>
          <p:cNvPr id="63" name="Shape 61"/>
          <p:cNvSpPr/>
          <p:nvPr/>
        </p:nvSpPr>
        <p:spPr>
          <a:xfrm>
            <a:off x="5475849" y="3383280"/>
            <a:ext cx="91" cy="73152"/>
          </a:xfrm>
          <a:prstGeom prst="line">
            <a:avLst/>
          </a:prstGeom>
          <a:noFill/>
          <a:ln w="12700">
            <a:solidFill>
              <a:srgbClr val="6B7679"/>
            </a:solidFill>
            <a:prstDash val="solid"/>
          </a:ln>
        </p:spPr>
      </p:sp>
      <p:sp>
        <p:nvSpPr>
          <p:cNvPr id="64" name="Text 62"/>
          <p:cNvSpPr txBox="1"/>
          <p:nvPr/>
        </p:nvSpPr>
        <p:spPr>
          <a:xfrm>
            <a:off x="5201529"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10</a:t>
            </a:r>
            <a:endParaRPr lang="tr-TR" sz="1150" dirty="0"/>
          </a:p>
        </p:txBody>
      </p:sp>
      <p:sp>
        <p:nvSpPr>
          <p:cNvPr id="65" name="Shape 63"/>
          <p:cNvSpPr/>
          <p:nvPr/>
        </p:nvSpPr>
        <p:spPr>
          <a:xfrm>
            <a:off x="5845126" y="3383280"/>
            <a:ext cx="91" cy="73152"/>
          </a:xfrm>
          <a:prstGeom prst="line">
            <a:avLst/>
          </a:prstGeom>
          <a:noFill/>
          <a:ln w="12700">
            <a:solidFill>
              <a:srgbClr val="6B7679"/>
            </a:solidFill>
            <a:prstDash val="solid"/>
          </a:ln>
        </p:spPr>
      </p:sp>
      <p:sp>
        <p:nvSpPr>
          <p:cNvPr id="66" name="Text 64"/>
          <p:cNvSpPr txBox="1"/>
          <p:nvPr/>
        </p:nvSpPr>
        <p:spPr>
          <a:xfrm>
            <a:off x="5570806"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11</a:t>
            </a:r>
            <a:endParaRPr lang="tr-TR" sz="1150" dirty="0"/>
          </a:p>
        </p:txBody>
      </p:sp>
      <p:sp>
        <p:nvSpPr>
          <p:cNvPr id="67" name="Shape 65"/>
          <p:cNvSpPr/>
          <p:nvPr/>
        </p:nvSpPr>
        <p:spPr>
          <a:xfrm>
            <a:off x="6583680" y="3383280"/>
            <a:ext cx="91" cy="73152"/>
          </a:xfrm>
          <a:prstGeom prst="line">
            <a:avLst/>
          </a:prstGeom>
          <a:noFill/>
          <a:ln w="12700">
            <a:solidFill>
              <a:srgbClr val="6B7679"/>
            </a:solidFill>
            <a:prstDash val="solid"/>
          </a:ln>
        </p:spPr>
      </p:sp>
      <p:sp>
        <p:nvSpPr>
          <p:cNvPr id="68" name="Text 66"/>
          <p:cNvSpPr txBox="1"/>
          <p:nvPr/>
        </p:nvSpPr>
        <p:spPr>
          <a:xfrm>
            <a:off x="6309360" y="3438144"/>
            <a:ext cx="548640" cy="237744"/>
          </a:xfrm>
          <a:prstGeom prst="rect">
            <a:avLst/>
          </a:prstGeom>
          <a:noFill/>
          <a:ln/>
        </p:spPr>
        <p:txBody>
          <a:bodyPr wrap="square" lIns="0" tIns="0" rIns="0" bIns="0" rtlCol="0" anchor="t"/>
          <a:lstStyle/>
          <a:p>
            <a:pPr algn="ctr" indent="0" marL="0">
              <a:buNone/>
            </a:pPr>
            <a:r>
              <a:rPr lang="tr-TR" sz="1150" dirty="0">
                <a:solidFill>
                  <a:srgbClr val="6B7679"/>
                </a:solidFill>
                <a:latin typeface="Calibri" pitchFamily="34" charset="0"/>
                <a:ea typeface="Calibri" pitchFamily="34" charset="-122"/>
                <a:cs typeface="Calibri" pitchFamily="34" charset="-120"/>
              </a:rPr>
              <a:t>13</a:t>
            </a:r>
            <a:endParaRPr lang="tr-TR" sz="1150" dirty="0"/>
          </a:p>
        </p:txBody>
      </p:sp>
      <p:sp>
        <p:nvSpPr>
          <p:cNvPr id="69" name="Text 67"/>
          <p:cNvSpPr txBox="1"/>
          <p:nvPr/>
        </p:nvSpPr>
        <p:spPr>
          <a:xfrm>
            <a:off x="6858000" y="1783080"/>
            <a:ext cx="4754880" cy="274320"/>
          </a:xfrm>
          <a:prstGeom prst="rect">
            <a:avLst/>
          </a:prstGeom>
          <a:noFill/>
          <a:ln/>
        </p:spPr>
        <p:txBody>
          <a:bodyPr wrap="square" lIns="0" tIns="0" rIns="0" bIns="0" rtlCol="0" anchor="t"/>
          <a:lstStyle/>
          <a:p>
            <a:pPr indent="0" marL="0">
              <a:buNone/>
            </a:pPr>
            <a:r>
              <a:rPr lang="tr-TR" sz="1300" b="1" dirty="0">
                <a:solidFill>
                  <a:srgbClr val="028090"/>
                </a:solidFill>
                <a:latin typeface="Calibri" pitchFamily="34" charset="0"/>
                <a:ea typeface="Calibri" pitchFamily="34" charset="-122"/>
                <a:cs typeface="Calibri" pitchFamily="34" charset="-120"/>
              </a:rPr>
              <a:t>SRTF</a:t>
            </a:r>
            <a:endParaRPr lang="tr-TR"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0" y="2057400"/>
          <a:ext cx="4800600" cy="914400"/>
        </p:xfrm>
        <a:graphic>
          <a:graphicData uri="http://schemas.openxmlformats.org/drawingml/2006/table">
            <a:tbl>
              <a:tblPr/>
              <a:tblGrid>
                <a:gridCol w="685800"/>
                <a:gridCol w="685800"/>
                <a:gridCol w="685800"/>
                <a:gridCol w="685800"/>
                <a:gridCol w="685800"/>
                <a:gridCol w="685800"/>
                <a:gridCol w="685800"/>
              </a:tblGrid>
              <a:tr h="274320">
                <a:tc>
                  <a:txBody>
                    <a:bodyPr/>
                    <a:lstStyle/>
                    <a:p>
                      <a:pPr algn="ctr" indent="0" marL="0">
                        <a:buNone/>
                      </a:pP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150" b="1" dirty="0">
                          <a:solidFill>
                            <a:srgbClr val="FFFFFF"/>
                          </a:solidFill>
                          <a:latin typeface="Cambria" pitchFamily="34" charset="0"/>
                          <a:ea typeface="Cambria" pitchFamily="34" charset="-122"/>
                          <a:cs typeface="Cambria" pitchFamily="34" charset="-120"/>
                        </a:rPr>
                        <a:t>Varış</a:t>
                      </a: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150" b="1" dirty="0">
                          <a:solidFill>
                            <a:srgbClr val="FFFFFF"/>
                          </a:solidFill>
                          <a:latin typeface="Cambria" pitchFamily="34" charset="0"/>
                          <a:ea typeface="Cambria" pitchFamily="34" charset="-122"/>
                          <a:cs typeface="Cambria" pitchFamily="34" charset="-120"/>
                        </a:rPr>
                        <a:t>Patlama</a:t>
                      </a: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150" b="1" dirty="0">
                          <a:solidFill>
                            <a:srgbClr val="FFFFFF"/>
                          </a:solidFill>
                          <a:latin typeface="Cambria" pitchFamily="34" charset="0"/>
                          <a:ea typeface="Cambria" pitchFamily="34" charset="-122"/>
                          <a:cs typeface="Cambria" pitchFamily="34" charset="-120"/>
                        </a:rPr>
                        <a:t>Bitiş</a:t>
                      </a: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150" b="1" dirty="0">
                          <a:solidFill>
                            <a:srgbClr val="FFFFFF"/>
                          </a:solidFill>
                          <a:latin typeface="Cambria" pitchFamily="34" charset="0"/>
                          <a:ea typeface="Cambria" pitchFamily="34" charset="-122"/>
                          <a:cs typeface="Cambria" pitchFamily="34" charset="-120"/>
                        </a:rPr>
                        <a:t>Dönüş</a:t>
                      </a: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150" b="1" dirty="0">
                          <a:solidFill>
                            <a:srgbClr val="FFFFFF"/>
                          </a:solidFill>
                          <a:latin typeface="Cambria" pitchFamily="34" charset="0"/>
                          <a:ea typeface="Cambria" pitchFamily="34" charset="-122"/>
                          <a:cs typeface="Cambria" pitchFamily="34" charset="-120"/>
                        </a:rPr>
                        <a:t>Bekleme</a:t>
                      </a: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150" b="1" dirty="0">
                          <a:solidFill>
                            <a:srgbClr val="FFFFFF"/>
                          </a:solidFill>
                          <a:latin typeface="Cambria" pitchFamily="34" charset="0"/>
                          <a:ea typeface="Cambria" pitchFamily="34" charset="-122"/>
                          <a:cs typeface="Cambria" pitchFamily="34" charset="-120"/>
                        </a:rPr>
                        <a:t>Yanıt</a:t>
                      </a:r>
                      <a:endParaRPr lang="tr-TR" sz="115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274320">
                <a:tc>
                  <a:txBody>
                    <a:bodyPr/>
                    <a:lstStyle/>
                    <a:p>
                      <a:pPr algn="ctr" indent="0" marL="0">
                        <a:buNone/>
                      </a:pPr>
                      <a:r>
                        <a:rPr lang="tr-TR" sz="1150" b="1" dirty="0">
                          <a:solidFill>
                            <a:srgbClr val="3A464C"/>
                          </a:solidFill>
                          <a:latin typeface="Calibri" pitchFamily="34" charset="0"/>
                          <a:ea typeface="Calibri" pitchFamily="34" charset="-122"/>
                          <a:cs typeface="Calibri" pitchFamily="34" charset="-120"/>
                        </a:rPr>
                        <a:t>P1</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0</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5</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9</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9</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4</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0</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tr-TR" sz="1150" b="1" dirty="0">
                          <a:solidFill>
                            <a:srgbClr val="3A464C"/>
                          </a:solidFill>
                          <a:latin typeface="Calibri" pitchFamily="34" charset="0"/>
                          <a:ea typeface="Calibri" pitchFamily="34" charset="-122"/>
                          <a:cs typeface="Calibri" pitchFamily="34" charset="-120"/>
                        </a:rPr>
                        <a:t>P2</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1</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3</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5</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4</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1</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0</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tr-TR" sz="1150" b="1" dirty="0">
                          <a:solidFill>
                            <a:srgbClr val="3A464C"/>
                          </a:solidFill>
                          <a:latin typeface="Calibri" pitchFamily="34" charset="0"/>
                          <a:ea typeface="Calibri" pitchFamily="34" charset="-122"/>
                          <a:cs typeface="Calibri" pitchFamily="34" charset="-120"/>
                        </a:rPr>
                        <a:t>P3</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2</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1</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3</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1</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0</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0</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tr-TR" sz="1150" b="1" dirty="0">
                          <a:solidFill>
                            <a:srgbClr val="3A464C"/>
                          </a:solidFill>
                          <a:latin typeface="Calibri" pitchFamily="34" charset="0"/>
                          <a:ea typeface="Calibri" pitchFamily="34" charset="-122"/>
                          <a:cs typeface="Calibri" pitchFamily="34" charset="-120"/>
                        </a:rPr>
                        <a:t>P4</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3</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4</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13</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10</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6</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150" dirty="0">
                          <a:solidFill>
                            <a:srgbClr val="3A464C"/>
                          </a:solidFill>
                          <a:latin typeface="Calibri" pitchFamily="34" charset="0"/>
                          <a:ea typeface="Calibri" pitchFamily="34" charset="-122"/>
                          <a:cs typeface="Calibri" pitchFamily="34" charset="-120"/>
                        </a:rPr>
                        <a:t>6</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tr-TR" sz="1150" b="1" dirty="0">
                          <a:solidFill>
                            <a:srgbClr val="028090"/>
                          </a:solidFill>
                          <a:latin typeface="Calibri" pitchFamily="34" charset="0"/>
                          <a:ea typeface="Calibri" pitchFamily="34" charset="-122"/>
                          <a:cs typeface="Calibri" pitchFamily="34" charset="-120"/>
                        </a:rPr>
                        <a:t>Ort.</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150" b="1" dirty="0">
                          <a:solidFill>
                            <a:srgbClr val="028090"/>
                          </a:solidFill>
                          <a:latin typeface="Calibri" pitchFamily="34" charset="0"/>
                          <a:ea typeface="Calibri" pitchFamily="34" charset="-122"/>
                          <a:cs typeface="Calibri" pitchFamily="34" charset="-120"/>
                        </a:rPr>
                        <a:t>6</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150" b="1" dirty="0">
                          <a:solidFill>
                            <a:srgbClr val="028090"/>
                          </a:solidFill>
                          <a:latin typeface="Calibri" pitchFamily="34" charset="0"/>
                          <a:ea typeface="Calibri" pitchFamily="34" charset="-122"/>
                          <a:cs typeface="Calibri" pitchFamily="34" charset="-120"/>
                        </a:rPr>
                        <a:t>2,75</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150" b="1" dirty="0">
                          <a:solidFill>
                            <a:srgbClr val="028090"/>
                          </a:solidFill>
                          <a:latin typeface="Calibri" pitchFamily="34" charset="0"/>
                          <a:ea typeface="Calibri" pitchFamily="34" charset="-122"/>
                          <a:cs typeface="Calibri" pitchFamily="34" charset="-120"/>
                        </a:rPr>
                        <a:t>1,5</a:t>
                      </a:r>
                      <a:endParaRPr lang="tr-TR" sz="115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71" name="Text 68"/>
          <p:cNvSpPr txBox="1"/>
          <p:nvPr/>
        </p:nvSpPr>
        <p:spPr>
          <a:xfrm>
            <a:off x="548640" y="3886200"/>
            <a:ext cx="4754880" cy="274320"/>
          </a:xfrm>
          <a:prstGeom prst="rect">
            <a:avLst/>
          </a:prstGeom>
          <a:noFill/>
          <a:ln/>
        </p:spPr>
        <p:txBody>
          <a:bodyPr wrap="square" lIns="0" tIns="0" rIns="0" bIns="0" rtlCol="0" anchor="t"/>
          <a:lstStyle/>
          <a:p>
            <a:pPr indent="0" marL="0">
              <a:buNone/>
            </a:pPr>
            <a:r>
              <a:rPr lang="tr-TR" sz="1300" b="1" dirty="0">
                <a:solidFill>
                  <a:srgbClr val="028090"/>
                </a:solidFill>
                <a:latin typeface="Calibri" pitchFamily="34" charset="0"/>
                <a:ea typeface="Calibri" pitchFamily="34" charset="-122"/>
                <a:cs typeface="Calibri" pitchFamily="34" charset="-120"/>
              </a:rPr>
              <a:t>RR, q = 2</a:t>
            </a:r>
            <a:endParaRPr lang="tr-TR" sz="13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914400"/>
        </p:xfrm>
        <a:graphic>
          <a:graphicData uri="http://schemas.openxmlformats.org/drawingml/2006/table">
            <a:tbl>
              <a:tblPr/>
              <a:tblGrid>
                <a:gridCol w="862149"/>
                <a:gridCol w="862149"/>
                <a:gridCol w="862149"/>
                <a:gridCol w="862149"/>
                <a:gridCol w="862149"/>
                <a:gridCol w="862149"/>
                <a:gridCol w="862149"/>
              </a:tblGrid>
              <a:tr h="274320">
                <a:tc>
                  <a:txBody>
                    <a:bodyPr/>
                    <a:lstStyle/>
                    <a:p>
                      <a:pPr algn="ctr" indent="0" marL="0">
                        <a:buNone/>
                      </a:pP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Varış</a:t>
                      </a: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Patlama</a:t>
                      </a: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Bitiş</a:t>
                      </a: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Dönüş</a:t>
                      </a: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Bekleme</a:t>
                      </a: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algn="ctr" indent="0" marL="0">
                        <a:buNone/>
                      </a:pPr>
                      <a:r>
                        <a:rPr lang="tr-TR" sz="1200" b="1" dirty="0">
                          <a:solidFill>
                            <a:srgbClr val="FFFFFF"/>
                          </a:solidFill>
                          <a:latin typeface="Cambria" pitchFamily="34" charset="0"/>
                          <a:ea typeface="Cambria" pitchFamily="34" charset="-122"/>
                          <a:cs typeface="Cambria" pitchFamily="34" charset="-120"/>
                        </a:rPr>
                        <a:t>Yanıt</a:t>
                      </a:r>
                      <a:endParaRPr lang="tr-TR" sz="1200" dirty="0">
                        <a:latin typeface="Cambria" charset="0"/>
                        <a:ea typeface="Cambria" charset="0"/>
                        <a:cs typeface="Cambria"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27432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P1</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0</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5</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11</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11</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6</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0</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P2</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3</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10</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9</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6</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P3</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2</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5</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3</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2</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2</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274320">
                <a:tc>
                  <a:txBody>
                    <a:bodyPr/>
                    <a:lstStyle/>
                    <a:p>
                      <a:pPr algn="ctr" indent="0" marL="0">
                        <a:buNone/>
                      </a:pPr>
                      <a:r>
                        <a:rPr lang="tr-TR" sz="1200" b="1" dirty="0">
                          <a:solidFill>
                            <a:srgbClr val="3A464C"/>
                          </a:solidFill>
                          <a:latin typeface="Calibri" pitchFamily="34" charset="0"/>
                          <a:ea typeface="Calibri" pitchFamily="34" charset="-122"/>
                          <a:cs typeface="Calibri" pitchFamily="34" charset="-120"/>
                        </a:rPr>
                        <a:t>P4</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3</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4</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13</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10</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6</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algn="ctr" indent="0" marL="0">
                        <a:buNone/>
                      </a:pPr>
                      <a:r>
                        <a:rPr lang="tr-TR" sz="1200" dirty="0">
                          <a:solidFill>
                            <a:srgbClr val="3A464C"/>
                          </a:solidFill>
                          <a:latin typeface="Calibri" pitchFamily="34" charset="0"/>
                          <a:ea typeface="Calibri" pitchFamily="34" charset="-122"/>
                          <a:cs typeface="Calibri" pitchFamily="34" charset="-120"/>
                        </a:rPr>
                        <a:t>4</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274320">
                <a:tc>
                  <a:txBody>
                    <a:bodyPr/>
                    <a:lstStyle/>
                    <a:p>
                      <a:pPr algn="ctr" indent="0" marL="0">
                        <a:buNone/>
                      </a:pPr>
                      <a:r>
                        <a:rPr lang="tr-TR" sz="1200" b="1" dirty="0">
                          <a:solidFill>
                            <a:srgbClr val="028090"/>
                          </a:solidFill>
                          <a:latin typeface="Calibri" pitchFamily="34" charset="0"/>
                          <a:ea typeface="Calibri" pitchFamily="34" charset="-122"/>
                          <a:cs typeface="Calibri" pitchFamily="34" charset="-120"/>
                        </a:rPr>
                        <a:t>Ort.</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200" b="1" dirty="0">
                          <a:solidFill>
                            <a:srgbClr val="028090"/>
                          </a:solidFill>
                          <a:latin typeface="Calibri" pitchFamily="34" charset="0"/>
                          <a:ea typeface="Calibri" pitchFamily="34" charset="-122"/>
                          <a:cs typeface="Calibri" pitchFamily="34" charset="-120"/>
                        </a:rPr>
                        <a:t>8,25</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200" b="1" dirty="0">
                          <a:solidFill>
                            <a:srgbClr val="028090"/>
                          </a:solidFill>
                          <a:latin typeface="Calibri" pitchFamily="34" charset="0"/>
                          <a:ea typeface="Calibri" pitchFamily="34" charset="-122"/>
                          <a:cs typeface="Calibri" pitchFamily="34" charset="-120"/>
                        </a:rPr>
                        <a:t>5</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c>
                  <a:txBody>
                    <a:bodyPr/>
                    <a:lstStyle/>
                    <a:p>
                      <a:pPr algn="ctr" indent="0" marL="0">
                        <a:buNone/>
                      </a:pPr>
                      <a:r>
                        <a:rPr lang="tr-TR" sz="1200" b="1" dirty="0">
                          <a:solidFill>
                            <a:srgbClr val="028090"/>
                          </a:solidFill>
                          <a:latin typeface="Calibri" pitchFamily="34" charset="0"/>
                          <a:ea typeface="Calibri" pitchFamily="34" charset="-122"/>
                          <a:cs typeface="Calibri" pitchFamily="34" charset="-120"/>
                        </a:rPr>
                        <a:t>1,75</a:t>
                      </a:r>
                      <a:endParaRPr lang="tr-TR" sz="1200" dirty="0">
                        <a:latin typeface="Calibri" charset="0"/>
                        <a:ea typeface="Calibri" charset="0"/>
                        <a:cs typeface="Calibri" charset="0"/>
                      </a:endParaRPr>
                    </a:p>
                  </a:txBody>
                  <a:tcPr marL="50800" marR="50800" marT="38100" marB="381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D7E9E6"/>
                    </a:solidFill>
                  </a:tcPr>
                </a:tc>
              </a:tr>
            </a:tbl>
          </a:graphicData>
        </a:graphic>
      </p:graphicFrame>
      <p:sp>
        <p:nvSpPr>
          <p:cNvPr id="73" name="Shape 69"/>
          <p:cNvSpPr/>
          <p:nvPr/>
        </p:nvSpPr>
        <p:spPr>
          <a:xfrm>
            <a:off x="6858000" y="4160520"/>
            <a:ext cx="4800600" cy="2103120"/>
          </a:xfrm>
          <a:prstGeom prst="roundRect">
            <a:avLst>
              <a:gd name="adj" fmla="val 2609"/>
            </a:avLst>
          </a:prstGeom>
          <a:solidFill>
            <a:srgbClr val="F2F2F2"/>
          </a:solidFill>
          <a:ln/>
          <a:effectLst>
            <a:outerShdw sx="100000" sy="100000" kx="0" ky="0" algn="bl" rotWithShape="0" blurRad="101600" dist="25400" dir="5400000">
              <a:srgbClr val="000000">
                <a:alpha val="12000"/>
              </a:srgbClr>
            </a:outerShdw>
          </a:effectLst>
        </p:spPr>
      </p:sp>
      <p:sp>
        <p:nvSpPr>
          <p:cNvPr id="74" name="Text 70"/>
          <p:cNvSpPr txBox="1"/>
          <p:nvPr/>
        </p:nvSpPr>
        <p:spPr>
          <a:xfrm>
            <a:off x="7086600" y="4343400"/>
            <a:ext cx="434340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Sonucu okuyun</a:t>
            </a:r>
            <a:endParaRPr lang="tr-TR" sz="1500" dirty="0"/>
          </a:p>
        </p:txBody>
      </p:sp>
      <p:sp>
        <p:nvSpPr>
          <p:cNvPr id="75" name="Text 71"/>
          <p:cNvSpPr txBox="1"/>
          <p:nvPr/>
        </p:nvSpPr>
        <p:spPr>
          <a:xfrm>
            <a:off x="7086600" y="4800600"/>
            <a:ext cx="4343400" cy="1325880"/>
          </a:xfrm>
          <a:prstGeom prst="rect">
            <a:avLst/>
          </a:prstGeom>
          <a:noFill/>
          <a:ln/>
        </p:spPr>
        <p:txBody>
          <a:bodyPr wrap="square" lIns="0" tIns="0" rIns="0" bIns="0" rtlCol="0" anchor="t"/>
          <a:lstStyle/>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Ortalama bekleme: SRTF 2,75 ms, RR 5 ms.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Ortalama yanıt: SRTF 1,5 ms, RR 1,75 ms.</a:t>
            </a:r>
            <a:endParaRPr lang="tr-TR" sz="1350" dirty="0"/>
          </a:p>
          <a:p>
            <a:pPr marL="228600" indent="-228600">
              <a:spcAft>
                <a:spcPts val="400"/>
              </a:spcAft>
              <a:buSzPct val="100000"/>
              <a:buChar char="•"/>
            </a:pPr>
            <a:r>
              <a:rPr lang="tr-TR" sz="1350" dirty="0">
                <a:solidFill>
                  <a:srgbClr val="3A464C"/>
                </a:solidFill>
                <a:latin typeface="Calibri" pitchFamily="34" charset="0"/>
                <a:ea typeface="Calibri" pitchFamily="34" charset="-122"/>
                <a:cs typeface="Calibri" pitchFamily="34" charset="-120"/>
              </a:rPr>
              <a:t>SRTF beklemeyi en küçük yapar; RR her sürece çabucak sıra verir.</a:t>
            </a:r>
            <a:endParaRPr lang="tr-TR"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2 · 6.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Adres Çevirisi ve TLB ile Etkin Erişim Süresi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14</a:t>
            </a:r>
            <a:endParaRPr lang="tr-TR" sz="900" dirty="0"/>
          </a:p>
        </p:txBody>
      </p:sp>
      <p:sp>
        <p:nvSpPr>
          <p:cNvPr id="6" name="Shape 4"/>
          <p:cNvSpPr/>
          <p:nvPr/>
        </p:nvSpPr>
        <p:spPr>
          <a:xfrm>
            <a:off x="548640" y="1508760"/>
            <a:ext cx="4937760" cy="2331720"/>
          </a:xfrm>
          <a:prstGeom prst="roundRect">
            <a:avLst>
              <a:gd name="adj" fmla="val 235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480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Soru</a:t>
            </a:r>
            <a:endParaRPr lang="tr-TR" sz="1500" dirty="0"/>
          </a:p>
        </p:txBody>
      </p:sp>
      <p:sp>
        <p:nvSpPr>
          <p:cNvPr id="8" name="Text 6"/>
          <p:cNvSpPr txBox="1"/>
          <p:nvPr/>
        </p:nvSpPr>
        <p:spPr>
          <a:xfrm>
            <a:off x="777240" y="2148840"/>
            <a:ext cx="4480560" cy="155448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1 KB'lık sayfalar. Sayfa tablosu: sayfa 0 → çerçeve 5, 1 → 2, 2 → 7, 3 → 1.</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(a) 2500 mantıksal adresini çevirin.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(b) t_TLB = 10 ns, t_m = 100 ns, α = 0,9: EAT? Hangi α 115 ns verir?</a:t>
            </a:r>
            <a:endParaRPr lang="tr-TR" sz="1400" dirty="0"/>
          </a:p>
        </p:txBody>
      </p:sp>
      <p:sp>
        <p:nvSpPr>
          <p:cNvPr id="9" name="Shape 7"/>
          <p:cNvSpPr/>
          <p:nvPr/>
        </p:nvSpPr>
        <p:spPr>
          <a:xfrm>
            <a:off x="5715000" y="1508760"/>
            <a:ext cx="5943600" cy="2331720"/>
          </a:xfrm>
          <a:prstGeom prst="roundRect">
            <a:avLst>
              <a:gd name="adj" fmla="val 1961"/>
            </a:avLst>
          </a:prstGeom>
          <a:solidFill>
            <a:srgbClr val="212121"/>
          </a:solidFill>
          <a:ln/>
        </p:spPr>
      </p:sp>
      <p:sp>
        <p:nvSpPr>
          <p:cNvPr id="10" name="Text 8"/>
          <p:cNvSpPr txBox="1"/>
          <p:nvPr/>
        </p:nvSpPr>
        <p:spPr>
          <a:xfrm>
            <a:off x="5897880" y="1618488"/>
            <a:ext cx="5577840" cy="211226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(a) 1 KB = 2^10 = 1024 bayt</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p = ⌊2500 / 1024⌋ = 2</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d = 2500 − 2 × 1024 = 452</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sayfa 2 → çerçeve 7</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a_fiz = 7 × 1024 + 452 = 7620</a:t>
            </a:r>
            <a:endParaRPr lang="tr-TR" sz="1400" dirty="0"/>
          </a:p>
        </p:txBody>
      </p:sp>
      <p:sp>
        <p:nvSpPr>
          <p:cNvPr id="11" name="Shape 9"/>
          <p:cNvSpPr/>
          <p:nvPr/>
        </p:nvSpPr>
        <p:spPr>
          <a:xfrm>
            <a:off x="548640" y="4023360"/>
            <a:ext cx="5943600" cy="2240280"/>
          </a:xfrm>
          <a:prstGeom prst="roundRect">
            <a:avLst>
              <a:gd name="adj" fmla="val 2041"/>
            </a:avLst>
          </a:prstGeom>
          <a:solidFill>
            <a:srgbClr val="212121"/>
          </a:solidFill>
          <a:ln/>
        </p:spPr>
      </p:sp>
      <p:sp>
        <p:nvSpPr>
          <p:cNvPr id="12" name="Text 10"/>
          <p:cNvSpPr txBox="1"/>
          <p:nvPr/>
        </p:nvSpPr>
        <p:spPr>
          <a:xfrm>
            <a:off x="731520" y="4133088"/>
            <a:ext cx="5577840" cy="202082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(b) bizim uzlaşımımız</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EAT = t_TLB + (2 − α) t_m</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 10 + (2 − 0.9) × 100 = 120 ns</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sağlama: 0.9×110 + 0.1×210 = 99 + 21 = 120</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115 = 10 + (2 − α)·100  ⇒  α = 0.95</a:t>
            </a:r>
            <a:endParaRPr lang="tr-TR" sz="1400" dirty="0"/>
          </a:p>
        </p:txBody>
      </p:sp>
      <p:sp>
        <p:nvSpPr>
          <p:cNvPr id="13" name="Shape 11"/>
          <p:cNvSpPr/>
          <p:nvPr/>
        </p:nvSpPr>
        <p:spPr>
          <a:xfrm>
            <a:off x="6720840" y="4023360"/>
            <a:ext cx="493776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6949440" y="4206240"/>
            <a:ext cx="44805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Sınav ipuçları</a:t>
            </a:r>
            <a:endParaRPr lang="tr-TR" sz="1500" dirty="0"/>
          </a:p>
        </p:txBody>
      </p:sp>
      <p:sp>
        <p:nvSpPr>
          <p:cNvPr id="15" name="Text 13"/>
          <p:cNvSpPr txBox="1"/>
          <p:nvPr/>
        </p:nvSpPr>
        <p:spPr>
          <a:xfrm>
            <a:off x="6949440" y="4663440"/>
            <a:ext cx="4480560" cy="146304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p, d, f'yi ayrı satırlara yazın: kısmi puan.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Sağlama: 0 ≤ d &lt; sayfa boyutu; a_fiz çerçevenin aralığında: [7168, 8192).</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Kullandığınız EAT uzlaşımını belirtin.</a:t>
            </a:r>
            <a:endParaRPr lang="tr-TR"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3 · 7.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Üç Çerçeveyle FIFO, OPT ve LRU</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15</a:t>
            </a:r>
            <a:endParaRPr lang="tr-TR" sz="900" dirty="0"/>
          </a:p>
        </p:txBody>
      </p:sp>
      <p:sp>
        <p:nvSpPr>
          <p:cNvPr id="6" name="Text 4"/>
          <p:cNvSpPr txBox="1"/>
          <p:nvPr/>
        </p:nvSpPr>
        <p:spPr>
          <a:xfrm>
            <a:off x="548640" y="1417320"/>
            <a:ext cx="11109960" cy="320040"/>
          </a:xfrm>
          <a:prstGeom prst="rect">
            <a:avLst/>
          </a:prstGeom>
          <a:noFill/>
          <a:ln/>
        </p:spPr>
        <p:txBody>
          <a:bodyPr wrap="square" lIns="0" tIns="0" rIns="0" bIns="0" rtlCol="0" anchor="t"/>
          <a:lstStyle/>
          <a:p>
            <a:pPr indent="0" marL="0">
              <a:buNone/>
            </a:pPr>
            <a:r>
              <a:rPr lang="tr-TR" sz="1350" i="1" dirty="0">
                <a:solidFill>
                  <a:srgbClr val="6B7679"/>
                </a:solidFill>
                <a:latin typeface="Calibri" pitchFamily="34" charset="0"/>
                <a:ea typeface="Calibri" pitchFamily="34" charset="-122"/>
                <a:cs typeface="Calibri" pitchFamily="34" charset="-120"/>
              </a:rPr>
              <a:t>Başvuru dizisi: 3, 5, 1, 0, 3, 1, 0, 3, 1, 4, 1, 0  ·  3 çerçeve  ·  aşağıda: LRU (nane = yeni yüklenen sayfa)</a:t>
            </a:r>
            <a:endParaRPr lang="tr-TR" sz="1350" dirty="0"/>
          </a:p>
        </p:txBody>
      </p:sp>
      <p:sp>
        <p:nvSpPr>
          <p:cNvPr id="7" name="Text 5"/>
          <p:cNvSpPr txBox="1"/>
          <p:nvPr/>
        </p:nvSpPr>
        <p:spPr>
          <a:xfrm>
            <a:off x="548640" y="1783080"/>
            <a:ext cx="841248" cy="402336"/>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başvuru</a:t>
            </a:r>
            <a:endParaRPr lang="tr-TR" sz="1100" dirty="0"/>
          </a:p>
        </p:txBody>
      </p:sp>
      <p:sp>
        <p:nvSpPr>
          <p:cNvPr id="8" name="Text 6"/>
          <p:cNvSpPr txBox="1"/>
          <p:nvPr/>
        </p:nvSpPr>
        <p:spPr>
          <a:xfrm>
            <a:off x="548640" y="2185416"/>
            <a:ext cx="841248" cy="402336"/>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0</a:t>
            </a:r>
            <a:endParaRPr lang="tr-TR" sz="1100" dirty="0"/>
          </a:p>
        </p:txBody>
      </p:sp>
      <p:sp>
        <p:nvSpPr>
          <p:cNvPr id="9" name="Text 7"/>
          <p:cNvSpPr txBox="1"/>
          <p:nvPr/>
        </p:nvSpPr>
        <p:spPr>
          <a:xfrm>
            <a:off x="548640" y="2587752"/>
            <a:ext cx="841248" cy="402336"/>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1</a:t>
            </a:r>
            <a:endParaRPr lang="tr-TR" sz="1100" dirty="0"/>
          </a:p>
        </p:txBody>
      </p:sp>
      <p:sp>
        <p:nvSpPr>
          <p:cNvPr id="10" name="Text 8"/>
          <p:cNvSpPr txBox="1"/>
          <p:nvPr/>
        </p:nvSpPr>
        <p:spPr>
          <a:xfrm>
            <a:off x="548640" y="2990088"/>
            <a:ext cx="841248" cy="402336"/>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çerçeve 2</a:t>
            </a:r>
            <a:endParaRPr lang="tr-TR" sz="1100" dirty="0"/>
          </a:p>
        </p:txBody>
      </p:sp>
      <p:sp>
        <p:nvSpPr>
          <p:cNvPr id="11" name="Text 9"/>
          <p:cNvSpPr txBox="1"/>
          <p:nvPr/>
        </p:nvSpPr>
        <p:spPr>
          <a:xfrm>
            <a:off x="548640" y="3392424"/>
            <a:ext cx="841248" cy="402336"/>
          </a:xfrm>
          <a:prstGeom prst="rect">
            <a:avLst/>
          </a:prstGeom>
          <a:noFill/>
          <a:ln/>
        </p:spPr>
        <p:txBody>
          <a:bodyPr wrap="square" lIns="0" tIns="0" rIns="0" bIns="0" rtlCol="0" anchor="ctr"/>
          <a:lstStyle/>
          <a:p>
            <a:pPr algn="r" indent="0" marL="0">
              <a:buNone/>
            </a:pPr>
            <a:r>
              <a:rPr lang="tr-TR" sz="1100" i="1" dirty="0">
                <a:solidFill>
                  <a:srgbClr val="6B7679"/>
                </a:solidFill>
                <a:latin typeface="Calibri" pitchFamily="34" charset="0"/>
                <a:ea typeface="Calibri" pitchFamily="34" charset="-122"/>
                <a:cs typeface="Calibri" pitchFamily="34" charset="-120"/>
              </a:rPr>
              <a:t>hata?</a:t>
            </a:r>
            <a:endParaRPr lang="tr-TR" sz="1100" dirty="0"/>
          </a:p>
        </p:txBody>
      </p:sp>
      <p:sp>
        <p:nvSpPr>
          <p:cNvPr id="12" name="Shape 10"/>
          <p:cNvSpPr/>
          <p:nvPr/>
        </p:nvSpPr>
        <p:spPr>
          <a:xfrm>
            <a:off x="1481328" y="1801368"/>
            <a:ext cx="813054" cy="365760"/>
          </a:xfrm>
          <a:prstGeom prst="roundRect">
            <a:avLst>
              <a:gd name="adj" fmla="val 12500"/>
            </a:avLst>
          </a:prstGeom>
          <a:solidFill>
            <a:srgbClr val="36454F"/>
          </a:solidFill>
          <a:ln/>
        </p:spPr>
      </p:sp>
      <p:sp>
        <p:nvSpPr>
          <p:cNvPr id="13" name="Text 11"/>
          <p:cNvSpPr txBox="1"/>
          <p:nvPr/>
        </p:nvSpPr>
        <p:spPr>
          <a:xfrm>
            <a:off x="148132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14" name="Shape 12"/>
          <p:cNvSpPr/>
          <p:nvPr/>
        </p:nvSpPr>
        <p:spPr>
          <a:xfrm>
            <a:off x="1481328" y="2203704"/>
            <a:ext cx="813054" cy="365760"/>
          </a:xfrm>
          <a:prstGeom prst="roundRect">
            <a:avLst>
              <a:gd name="adj" fmla="val 12500"/>
            </a:avLst>
          </a:prstGeom>
          <a:solidFill>
            <a:srgbClr val="02C39A"/>
          </a:solidFill>
          <a:ln/>
        </p:spPr>
      </p:sp>
      <p:sp>
        <p:nvSpPr>
          <p:cNvPr id="15" name="Text 13"/>
          <p:cNvSpPr txBox="1"/>
          <p:nvPr/>
        </p:nvSpPr>
        <p:spPr>
          <a:xfrm>
            <a:off x="1481328" y="2203704"/>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16" name="Shape 14"/>
          <p:cNvSpPr/>
          <p:nvPr/>
        </p:nvSpPr>
        <p:spPr>
          <a:xfrm>
            <a:off x="1481328" y="2606040"/>
            <a:ext cx="813054" cy="365760"/>
          </a:xfrm>
          <a:prstGeom prst="roundRect">
            <a:avLst>
              <a:gd name="adj" fmla="val 12500"/>
            </a:avLst>
          </a:prstGeom>
          <a:solidFill>
            <a:srgbClr val="D7E9E6"/>
          </a:solidFill>
          <a:ln/>
        </p:spPr>
      </p:sp>
      <p:sp>
        <p:nvSpPr>
          <p:cNvPr id="17" name="Text 15"/>
          <p:cNvSpPr txBox="1"/>
          <p:nvPr/>
        </p:nvSpPr>
        <p:spPr>
          <a:xfrm>
            <a:off x="1481328" y="2606040"/>
            <a:ext cx="813054" cy="365760"/>
          </a:xfrm>
          <a:prstGeom prst="rect">
            <a:avLst/>
          </a:prstGeom>
          <a:noFill/>
          <a:ln/>
        </p:spPr>
        <p:txBody>
          <a:bodyPr wrap="square" lIns="38100" tIns="38100" rIns="38100" bIns="38100" rtlCol="0" anchor="ctr"/>
          <a:lstStyle/>
          <a:p>
            <a:pPr algn="ctr" indent="0" marL="0">
              <a:buNone/>
            </a:pPr>
            <a:endParaRPr lang="tr-TR" sz="1400" dirty="0"/>
          </a:p>
        </p:txBody>
      </p:sp>
      <p:sp>
        <p:nvSpPr>
          <p:cNvPr id="18" name="Shape 16"/>
          <p:cNvSpPr/>
          <p:nvPr/>
        </p:nvSpPr>
        <p:spPr>
          <a:xfrm>
            <a:off x="1481328" y="3008376"/>
            <a:ext cx="813054" cy="365760"/>
          </a:xfrm>
          <a:prstGeom prst="roundRect">
            <a:avLst>
              <a:gd name="adj" fmla="val 12500"/>
            </a:avLst>
          </a:prstGeom>
          <a:solidFill>
            <a:srgbClr val="D7E9E6"/>
          </a:solidFill>
          <a:ln/>
        </p:spPr>
      </p:sp>
      <p:sp>
        <p:nvSpPr>
          <p:cNvPr id="19" name="Text 17"/>
          <p:cNvSpPr txBox="1"/>
          <p:nvPr/>
        </p:nvSpPr>
        <p:spPr>
          <a:xfrm>
            <a:off x="1481328" y="3008376"/>
            <a:ext cx="813054" cy="365760"/>
          </a:xfrm>
          <a:prstGeom prst="rect">
            <a:avLst/>
          </a:prstGeom>
          <a:noFill/>
          <a:ln/>
        </p:spPr>
        <p:txBody>
          <a:bodyPr wrap="square" lIns="38100" tIns="38100" rIns="38100" bIns="38100" rtlCol="0" anchor="ctr"/>
          <a:lstStyle/>
          <a:p>
            <a:pPr algn="ctr" indent="0" marL="0">
              <a:buNone/>
            </a:pPr>
            <a:endParaRPr lang="tr-TR" sz="1400" dirty="0"/>
          </a:p>
        </p:txBody>
      </p:sp>
      <p:sp>
        <p:nvSpPr>
          <p:cNvPr id="20" name="Text 18"/>
          <p:cNvSpPr txBox="1"/>
          <p:nvPr/>
        </p:nvSpPr>
        <p:spPr>
          <a:xfrm>
            <a:off x="146304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21" name="Shape 19"/>
          <p:cNvSpPr/>
          <p:nvPr/>
        </p:nvSpPr>
        <p:spPr>
          <a:xfrm>
            <a:off x="2330958" y="1801368"/>
            <a:ext cx="813054" cy="365760"/>
          </a:xfrm>
          <a:prstGeom prst="roundRect">
            <a:avLst>
              <a:gd name="adj" fmla="val 12500"/>
            </a:avLst>
          </a:prstGeom>
          <a:solidFill>
            <a:srgbClr val="36454F"/>
          </a:solidFill>
          <a:ln/>
        </p:spPr>
      </p:sp>
      <p:sp>
        <p:nvSpPr>
          <p:cNvPr id="22" name="Text 20"/>
          <p:cNvSpPr txBox="1"/>
          <p:nvPr/>
        </p:nvSpPr>
        <p:spPr>
          <a:xfrm>
            <a:off x="233095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5</a:t>
            </a:r>
            <a:endParaRPr lang="tr-TR" sz="1400" dirty="0"/>
          </a:p>
        </p:txBody>
      </p:sp>
      <p:sp>
        <p:nvSpPr>
          <p:cNvPr id="23" name="Shape 21"/>
          <p:cNvSpPr/>
          <p:nvPr/>
        </p:nvSpPr>
        <p:spPr>
          <a:xfrm>
            <a:off x="2330958" y="2203704"/>
            <a:ext cx="813054" cy="365760"/>
          </a:xfrm>
          <a:prstGeom prst="roundRect">
            <a:avLst>
              <a:gd name="adj" fmla="val 12500"/>
            </a:avLst>
          </a:prstGeom>
          <a:solidFill>
            <a:srgbClr val="D7E9E6"/>
          </a:solidFill>
          <a:ln/>
        </p:spPr>
      </p:sp>
      <p:sp>
        <p:nvSpPr>
          <p:cNvPr id="24" name="Text 22"/>
          <p:cNvSpPr txBox="1"/>
          <p:nvPr/>
        </p:nvSpPr>
        <p:spPr>
          <a:xfrm>
            <a:off x="233095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25" name="Shape 23"/>
          <p:cNvSpPr/>
          <p:nvPr/>
        </p:nvSpPr>
        <p:spPr>
          <a:xfrm>
            <a:off x="2330958" y="2606040"/>
            <a:ext cx="813054" cy="365760"/>
          </a:xfrm>
          <a:prstGeom prst="roundRect">
            <a:avLst>
              <a:gd name="adj" fmla="val 12500"/>
            </a:avLst>
          </a:prstGeom>
          <a:solidFill>
            <a:srgbClr val="02C39A"/>
          </a:solidFill>
          <a:ln/>
        </p:spPr>
      </p:sp>
      <p:sp>
        <p:nvSpPr>
          <p:cNvPr id="26" name="Text 24"/>
          <p:cNvSpPr txBox="1"/>
          <p:nvPr/>
        </p:nvSpPr>
        <p:spPr>
          <a:xfrm>
            <a:off x="2330958" y="2606040"/>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5</a:t>
            </a:r>
            <a:endParaRPr lang="tr-TR" sz="1400" dirty="0"/>
          </a:p>
        </p:txBody>
      </p:sp>
      <p:sp>
        <p:nvSpPr>
          <p:cNvPr id="27" name="Shape 25"/>
          <p:cNvSpPr/>
          <p:nvPr/>
        </p:nvSpPr>
        <p:spPr>
          <a:xfrm>
            <a:off x="2330958" y="3008376"/>
            <a:ext cx="813054" cy="365760"/>
          </a:xfrm>
          <a:prstGeom prst="roundRect">
            <a:avLst>
              <a:gd name="adj" fmla="val 12500"/>
            </a:avLst>
          </a:prstGeom>
          <a:solidFill>
            <a:srgbClr val="D7E9E6"/>
          </a:solidFill>
          <a:ln/>
        </p:spPr>
      </p:sp>
      <p:sp>
        <p:nvSpPr>
          <p:cNvPr id="28" name="Text 26"/>
          <p:cNvSpPr txBox="1"/>
          <p:nvPr/>
        </p:nvSpPr>
        <p:spPr>
          <a:xfrm>
            <a:off x="2330958" y="3008376"/>
            <a:ext cx="813054" cy="365760"/>
          </a:xfrm>
          <a:prstGeom prst="rect">
            <a:avLst/>
          </a:prstGeom>
          <a:noFill/>
          <a:ln/>
        </p:spPr>
        <p:txBody>
          <a:bodyPr wrap="square" lIns="38100" tIns="38100" rIns="38100" bIns="38100" rtlCol="0" anchor="ctr"/>
          <a:lstStyle/>
          <a:p>
            <a:pPr algn="ctr" indent="0" marL="0">
              <a:buNone/>
            </a:pPr>
            <a:endParaRPr lang="tr-TR" sz="1400" dirty="0"/>
          </a:p>
        </p:txBody>
      </p:sp>
      <p:sp>
        <p:nvSpPr>
          <p:cNvPr id="29" name="Text 27"/>
          <p:cNvSpPr txBox="1"/>
          <p:nvPr/>
        </p:nvSpPr>
        <p:spPr>
          <a:xfrm>
            <a:off x="231267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30" name="Shape 28"/>
          <p:cNvSpPr/>
          <p:nvPr/>
        </p:nvSpPr>
        <p:spPr>
          <a:xfrm>
            <a:off x="3180588" y="1801368"/>
            <a:ext cx="813054" cy="365760"/>
          </a:xfrm>
          <a:prstGeom prst="roundRect">
            <a:avLst>
              <a:gd name="adj" fmla="val 12500"/>
            </a:avLst>
          </a:prstGeom>
          <a:solidFill>
            <a:srgbClr val="36454F"/>
          </a:solidFill>
          <a:ln/>
        </p:spPr>
      </p:sp>
      <p:sp>
        <p:nvSpPr>
          <p:cNvPr id="31" name="Text 29"/>
          <p:cNvSpPr txBox="1"/>
          <p:nvPr/>
        </p:nvSpPr>
        <p:spPr>
          <a:xfrm>
            <a:off x="318058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32" name="Shape 30"/>
          <p:cNvSpPr/>
          <p:nvPr/>
        </p:nvSpPr>
        <p:spPr>
          <a:xfrm>
            <a:off x="3180588" y="2203704"/>
            <a:ext cx="813054" cy="365760"/>
          </a:xfrm>
          <a:prstGeom prst="roundRect">
            <a:avLst>
              <a:gd name="adj" fmla="val 12500"/>
            </a:avLst>
          </a:prstGeom>
          <a:solidFill>
            <a:srgbClr val="D7E9E6"/>
          </a:solidFill>
          <a:ln/>
        </p:spPr>
      </p:sp>
      <p:sp>
        <p:nvSpPr>
          <p:cNvPr id="33" name="Text 31"/>
          <p:cNvSpPr txBox="1"/>
          <p:nvPr/>
        </p:nvSpPr>
        <p:spPr>
          <a:xfrm>
            <a:off x="318058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34" name="Shape 32"/>
          <p:cNvSpPr/>
          <p:nvPr/>
        </p:nvSpPr>
        <p:spPr>
          <a:xfrm>
            <a:off x="3180588" y="2606040"/>
            <a:ext cx="813054" cy="365760"/>
          </a:xfrm>
          <a:prstGeom prst="roundRect">
            <a:avLst>
              <a:gd name="adj" fmla="val 12500"/>
            </a:avLst>
          </a:prstGeom>
          <a:solidFill>
            <a:srgbClr val="D7E9E6"/>
          </a:solidFill>
          <a:ln/>
        </p:spPr>
      </p:sp>
      <p:sp>
        <p:nvSpPr>
          <p:cNvPr id="35" name="Text 33"/>
          <p:cNvSpPr txBox="1"/>
          <p:nvPr/>
        </p:nvSpPr>
        <p:spPr>
          <a:xfrm>
            <a:off x="318058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5</a:t>
            </a:r>
            <a:endParaRPr lang="tr-TR" sz="1400" dirty="0"/>
          </a:p>
        </p:txBody>
      </p:sp>
      <p:sp>
        <p:nvSpPr>
          <p:cNvPr id="36" name="Shape 34"/>
          <p:cNvSpPr/>
          <p:nvPr/>
        </p:nvSpPr>
        <p:spPr>
          <a:xfrm>
            <a:off x="3180588" y="3008376"/>
            <a:ext cx="813054" cy="365760"/>
          </a:xfrm>
          <a:prstGeom prst="roundRect">
            <a:avLst>
              <a:gd name="adj" fmla="val 12500"/>
            </a:avLst>
          </a:prstGeom>
          <a:solidFill>
            <a:srgbClr val="02C39A"/>
          </a:solidFill>
          <a:ln/>
        </p:spPr>
      </p:sp>
      <p:sp>
        <p:nvSpPr>
          <p:cNvPr id="37" name="Text 35"/>
          <p:cNvSpPr txBox="1"/>
          <p:nvPr/>
        </p:nvSpPr>
        <p:spPr>
          <a:xfrm>
            <a:off x="3180588" y="3008376"/>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1</a:t>
            </a:r>
            <a:endParaRPr lang="tr-TR" sz="1400" dirty="0"/>
          </a:p>
        </p:txBody>
      </p:sp>
      <p:sp>
        <p:nvSpPr>
          <p:cNvPr id="38" name="Text 36"/>
          <p:cNvSpPr txBox="1"/>
          <p:nvPr/>
        </p:nvSpPr>
        <p:spPr>
          <a:xfrm>
            <a:off x="316230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39" name="Shape 37"/>
          <p:cNvSpPr/>
          <p:nvPr/>
        </p:nvSpPr>
        <p:spPr>
          <a:xfrm>
            <a:off x="4030218" y="1801368"/>
            <a:ext cx="813054" cy="365760"/>
          </a:xfrm>
          <a:prstGeom prst="roundRect">
            <a:avLst>
              <a:gd name="adj" fmla="val 12500"/>
            </a:avLst>
          </a:prstGeom>
          <a:solidFill>
            <a:srgbClr val="36454F"/>
          </a:solidFill>
          <a:ln/>
        </p:spPr>
      </p:sp>
      <p:sp>
        <p:nvSpPr>
          <p:cNvPr id="40" name="Text 38"/>
          <p:cNvSpPr txBox="1"/>
          <p:nvPr/>
        </p:nvSpPr>
        <p:spPr>
          <a:xfrm>
            <a:off x="403021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41" name="Shape 39"/>
          <p:cNvSpPr/>
          <p:nvPr/>
        </p:nvSpPr>
        <p:spPr>
          <a:xfrm>
            <a:off x="4030218" y="2203704"/>
            <a:ext cx="813054" cy="365760"/>
          </a:xfrm>
          <a:prstGeom prst="roundRect">
            <a:avLst>
              <a:gd name="adj" fmla="val 12500"/>
            </a:avLst>
          </a:prstGeom>
          <a:solidFill>
            <a:srgbClr val="02C39A"/>
          </a:solidFill>
          <a:ln/>
        </p:spPr>
      </p:sp>
      <p:sp>
        <p:nvSpPr>
          <p:cNvPr id="42" name="Text 40"/>
          <p:cNvSpPr txBox="1"/>
          <p:nvPr/>
        </p:nvSpPr>
        <p:spPr>
          <a:xfrm>
            <a:off x="4030218" y="2203704"/>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43" name="Shape 41"/>
          <p:cNvSpPr/>
          <p:nvPr/>
        </p:nvSpPr>
        <p:spPr>
          <a:xfrm>
            <a:off x="4030218" y="2606040"/>
            <a:ext cx="813054" cy="365760"/>
          </a:xfrm>
          <a:prstGeom prst="roundRect">
            <a:avLst>
              <a:gd name="adj" fmla="val 12500"/>
            </a:avLst>
          </a:prstGeom>
          <a:solidFill>
            <a:srgbClr val="D7E9E6"/>
          </a:solidFill>
          <a:ln/>
        </p:spPr>
      </p:sp>
      <p:sp>
        <p:nvSpPr>
          <p:cNvPr id="44" name="Text 42"/>
          <p:cNvSpPr txBox="1"/>
          <p:nvPr/>
        </p:nvSpPr>
        <p:spPr>
          <a:xfrm>
            <a:off x="403021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5</a:t>
            </a:r>
            <a:endParaRPr lang="tr-TR" sz="1400" dirty="0"/>
          </a:p>
        </p:txBody>
      </p:sp>
      <p:sp>
        <p:nvSpPr>
          <p:cNvPr id="45" name="Shape 43"/>
          <p:cNvSpPr/>
          <p:nvPr/>
        </p:nvSpPr>
        <p:spPr>
          <a:xfrm>
            <a:off x="4030218" y="3008376"/>
            <a:ext cx="813054" cy="365760"/>
          </a:xfrm>
          <a:prstGeom prst="roundRect">
            <a:avLst>
              <a:gd name="adj" fmla="val 12500"/>
            </a:avLst>
          </a:prstGeom>
          <a:solidFill>
            <a:srgbClr val="D7E9E6"/>
          </a:solidFill>
          <a:ln/>
        </p:spPr>
      </p:sp>
      <p:sp>
        <p:nvSpPr>
          <p:cNvPr id="46" name="Text 44"/>
          <p:cNvSpPr txBox="1"/>
          <p:nvPr/>
        </p:nvSpPr>
        <p:spPr>
          <a:xfrm>
            <a:off x="403021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47" name="Text 45"/>
          <p:cNvSpPr txBox="1"/>
          <p:nvPr/>
        </p:nvSpPr>
        <p:spPr>
          <a:xfrm>
            <a:off x="401193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48" name="Shape 46"/>
          <p:cNvSpPr/>
          <p:nvPr/>
        </p:nvSpPr>
        <p:spPr>
          <a:xfrm>
            <a:off x="4879848" y="1801368"/>
            <a:ext cx="813054" cy="365760"/>
          </a:xfrm>
          <a:prstGeom prst="roundRect">
            <a:avLst>
              <a:gd name="adj" fmla="val 12500"/>
            </a:avLst>
          </a:prstGeom>
          <a:solidFill>
            <a:srgbClr val="36454F"/>
          </a:solidFill>
          <a:ln/>
        </p:spPr>
      </p:sp>
      <p:sp>
        <p:nvSpPr>
          <p:cNvPr id="49" name="Text 47"/>
          <p:cNvSpPr txBox="1"/>
          <p:nvPr/>
        </p:nvSpPr>
        <p:spPr>
          <a:xfrm>
            <a:off x="487984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50" name="Shape 48"/>
          <p:cNvSpPr/>
          <p:nvPr/>
        </p:nvSpPr>
        <p:spPr>
          <a:xfrm>
            <a:off x="4879848" y="2203704"/>
            <a:ext cx="813054" cy="365760"/>
          </a:xfrm>
          <a:prstGeom prst="roundRect">
            <a:avLst>
              <a:gd name="adj" fmla="val 12500"/>
            </a:avLst>
          </a:prstGeom>
          <a:solidFill>
            <a:srgbClr val="D7E9E6"/>
          </a:solidFill>
          <a:ln/>
        </p:spPr>
      </p:sp>
      <p:sp>
        <p:nvSpPr>
          <p:cNvPr id="51" name="Text 49"/>
          <p:cNvSpPr txBox="1"/>
          <p:nvPr/>
        </p:nvSpPr>
        <p:spPr>
          <a:xfrm>
            <a:off x="487984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0</a:t>
            </a:r>
            <a:endParaRPr lang="tr-TR" sz="1400" dirty="0"/>
          </a:p>
        </p:txBody>
      </p:sp>
      <p:sp>
        <p:nvSpPr>
          <p:cNvPr id="52" name="Shape 50"/>
          <p:cNvSpPr/>
          <p:nvPr/>
        </p:nvSpPr>
        <p:spPr>
          <a:xfrm>
            <a:off x="4879848" y="2606040"/>
            <a:ext cx="813054" cy="365760"/>
          </a:xfrm>
          <a:prstGeom prst="roundRect">
            <a:avLst>
              <a:gd name="adj" fmla="val 12500"/>
            </a:avLst>
          </a:prstGeom>
          <a:solidFill>
            <a:srgbClr val="02C39A"/>
          </a:solidFill>
          <a:ln/>
        </p:spPr>
      </p:sp>
      <p:sp>
        <p:nvSpPr>
          <p:cNvPr id="53" name="Text 51"/>
          <p:cNvSpPr txBox="1"/>
          <p:nvPr/>
        </p:nvSpPr>
        <p:spPr>
          <a:xfrm>
            <a:off x="4879848" y="2606040"/>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3</a:t>
            </a:r>
            <a:endParaRPr lang="tr-TR" sz="1400" dirty="0"/>
          </a:p>
        </p:txBody>
      </p:sp>
      <p:sp>
        <p:nvSpPr>
          <p:cNvPr id="54" name="Shape 52"/>
          <p:cNvSpPr/>
          <p:nvPr/>
        </p:nvSpPr>
        <p:spPr>
          <a:xfrm>
            <a:off x="4879848" y="3008376"/>
            <a:ext cx="813054" cy="365760"/>
          </a:xfrm>
          <a:prstGeom prst="roundRect">
            <a:avLst>
              <a:gd name="adj" fmla="val 12500"/>
            </a:avLst>
          </a:prstGeom>
          <a:solidFill>
            <a:srgbClr val="D7E9E6"/>
          </a:solidFill>
          <a:ln/>
        </p:spPr>
      </p:sp>
      <p:sp>
        <p:nvSpPr>
          <p:cNvPr id="55" name="Text 53"/>
          <p:cNvSpPr txBox="1"/>
          <p:nvPr/>
        </p:nvSpPr>
        <p:spPr>
          <a:xfrm>
            <a:off x="487984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56" name="Text 54"/>
          <p:cNvSpPr txBox="1"/>
          <p:nvPr/>
        </p:nvSpPr>
        <p:spPr>
          <a:xfrm>
            <a:off x="486156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57" name="Shape 55"/>
          <p:cNvSpPr/>
          <p:nvPr/>
        </p:nvSpPr>
        <p:spPr>
          <a:xfrm>
            <a:off x="5729478" y="1801368"/>
            <a:ext cx="813054" cy="365760"/>
          </a:xfrm>
          <a:prstGeom prst="roundRect">
            <a:avLst>
              <a:gd name="adj" fmla="val 12500"/>
            </a:avLst>
          </a:prstGeom>
          <a:solidFill>
            <a:srgbClr val="36454F"/>
          </a:solidFill>
          <a:ln/>
        </p:spPr>
      </p:sp>
      <p:sp>
        <p:nvSpPr>
          <p:cNvPr id="58" name="Text 56"/>
          <p:cNvSpPr txBox="1"/>
          <p:nvPr/>
        </p:nvSpPr>
        <p:spPr>
          <a:xfrm>
            <a:off x="572947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59" name="Shape 57"/>
          <p:cNvSpPr/>
          <p:nvPr/>
        </p:nvSpPr>
        <p:spPr>
          <a:xfrm>
            <a:off x="5729478" y="2203704"/>
            <a:ext cx="813054" cy="365760"/>
          </a:xfrm>
          <a:prstGeom prst="roundRect">
            <a:avLst>
              <a:gd name="adj" fmla="val 12500"/>
            </a:avLst>
          </a:prstGeom>
          <a:solidFill>
            <a:srgbClr val="F2F2F2"/>
          </a:solidFill>
          <a:ln/>
        </p:spPr>
      </p:sp>
      <p:sp>
        <p:nvSpPr>
          <p:cNvPr id="60" name="Text 58"/>
          <p:cNvSpPr txBox="1"/>
          <p:nvPr/>
        </p:nvSpPr>
        <p:spPr>
          <a:xfrm>
            <a:off x="572947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61" name="Shape 59"/>
          <p:cNvSpPr/>
          <p:nvPr/>
        </p:nvSpPr>
        <p:spPr>
          <a:xfrm>
            <a:off x="5729478" y="2606040"/>
            <a:ext cx="813054" cy="365760"/>
          </a:xfrm>
          <a:prstGeom prst="roundRect">
            <a:avLst>
              <a:gd name="adj" fmla="val 12500"/>
            </a:avLst>
          </a:prstGeom>
          <a:solidFill>
            <a:srgbClr val="F2F2F2"/>
          </a:solidFill>
          <a:ln/>
        </p:spPr>
      </p:sp>
      <p:sp>
        <p:nvSpPr>
          <p:cNvPr id="62" name="Text 60"/>
          <p:cNvSpPr txBox="1"/>
          <p:nvPr/>
        </p:nvSpPr>
        <p:spPr>
          <a:xfrm>
            <a:off x="572947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63" name="Shape 61"/>
          <p:cNvSpPr/>
          <p:nvPr/>
        </p:nvSpPr>
        <p:spPr>
          <a:xfrm>
            <a:off x="5729478" y="3008376"/>
            <a:ext cx="813054" cy="365760"/>
          </a:xfrm>
          <a:prstGeom prst="roundRect">
            <a:avLst>
              <a:gd name="adj" fmla="val 12500"/>
            </a:avLst>
          </a:prstGeom>
          <a:solidFill>
            <a:srgbClr val="F2F2F2"/>
          </a:solidFill>
          <a:ln/>
        </p:spPr>
      </p:sp>
      <p:sp>
        <p:nvSpPr>
          <p:cNvPr id="64" name="Text 62"/>
          <p:cNvSpPr txBox="1"/>
          <p:nvPr/>
        </p:nvSpPr>
        <p:spPr>
          <a:xfrm>
            <a:off x="572947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65" name="Text 63"/>
          <p:cNvSpPr txBox="1"/>
          <p:nvPr/>
        </p:nvSpPr>
        <p:spPr>
          <a:xfrm>
            <a:off x="5711190" y="3392424"/>
            <a:ext cx="849630" cy="402336"/>
          </a:xfrm>
          <a:prstGeom prst="rect">
            <a:avLst/>
          </a:prstGeom>
          <a:noFill/>
          <a:ln/>
        </p:spPr>
        <p:txBody>
          <a:bodyPr wrap="square" lIns="0" tIns="0" rIns="0" bIns="0" rtlCol="0" anchor="ctr"/>
          <a:lstStyle/>
          <a:p>
            <a:pPr algn="ctr" indent="0" marL="0">
              <a:buNone/>
            </a:pPr>
            <a:endParaRPr lang="tr-TR" sz="1400" dirty="0"/>
          </a:p>
        </p:txBody>
      </p:sp>
      <p:sp>
        <p:nvSpPr>
          <p:cNvPr id="66" name="Shape 64"/>
          <p:cNvSpPr/>
          <p:nvPr/>
        </p:nvSpPr>
        <p:spPr>
          <a:xfrm>
            <a:off x="6579108" y="1801368"/>
            <a:ext cx="813054" cy="365760"/>
          </a:xfrm>
          <a:prstGeom prst="roundRect">
            <a:avLst>
              <a:gd name="adj" fmla="val 12500"/>
            </a:avLst>
          </a:prstGeom>
          <a:solidFill>
            <a:srgbClr val="36454F"/>
          </a:solidFill>
          <a:ln/>
        </p:spPr>
      </p:sp>
      <p:sp>
        <p:nvSpPr>
          <p:cNvPr id="67" name="Text 65"/>
          <p:cNvSpPr txBox="1"/>
          <p:nvPr/>
        </p:nvSpPr>
        <p:spPr>
          <a:xfrm>
            <a:off x="657910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68" name="Shape 66"/>
          <p:cNvSpPr/>
          <p:nvPr/>
        </p:nvSpPr>
        <p:spPr>
          <a:xfrm>
            <a:off x="6579108" y="2203704"/>
            <a:ext cx="813054" cy="365760"/>
          </a:xfrm>
          <a:prstGeom prst="roundRect">
            <a:avLst>
              <a:gd name="adj" fmla="val 12500"/>
            </a:avLst>
          </a:prstGeom>
          <a:solidFill>
            <a:srgbClr val="F2F2F2"/>
          </a:solidFill>
          <a:ln/>
        </p:spPr>
      </p:sp>
      <p:sp>
        <p:nvSpPr>
          <p:cNvPr id="69" name="Text 67"/>
          <p:cNvSpPr txBox="1"/>
          <p:nvPr/>
        </p:nvSpPr>
        <p:spPr>
          <a:xfrm>
            <a:off x="657910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70" name="Shape 68"/>
          <p:cNvSpPr/>
          <p:nvPr/>
        </p:nvSpPr>
        <p:spPr>
          <a:xfrm>
            <a:off x="6579108" y="2606040"/>
            <a:ext cx="813054" cy="365760"/>
          </a:xfrm>
          <a:prstGeom prst="roundRect">
            <a:avLst>
              <a:gd name="adj" fmla="val 12500"/>
            </a:avLst>
          </a:prstGeom>
          <a:solidFill>
            <a:srgbClr val="F2F2F2"/>
          </a:solidFill>
          <a:ln/>
        </p:spPr>
      </p:sp>
      <p:sp>
        <p:nvSpPr>
          <p:cNvPr id="71" name="Text 69"/>
          <p:cNvSpPr txBox="1"/>
          <p:nvPr/>
        </p:nvSpPr>
        <p:spPr>
          <a:xfrm>
            <a:off x="657910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72" name="Shape 70"/>
          <p:cNvSpPr/>
          <p:nvPr/>
        </p:nvSpPr>
        <p:spPr>
          <a:xfrm>
            <a:off x="6579108" y="3008376"/>
            <a:ext cx="813054" cy="365760"/>
          </a:xfrm>
          <a:prstGeom prst="roundRect">
            <a:avLst>
              <a:gd name="adj" fmla="val 12500"/>
            </a:avLst>
          </a:prstGeom>
          <a:solidFill>
            <a:srgbClr val="F2F2F2"/>
          </a:solidFill>
          <a:ln/>
        </p:spPr>
      </p:sp>
      <p:sp>
        <p:nvSpPr>
          <p:cNvPr id="73" name="Text 71"/>
          <p:cNvSpPr txBox="1"/>
          <p:nvPr/>
        </p:nvSpPr>
        <p:spPr>
          <a:xfrm>
            <a:off x="657910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74" name="Text 72"/>
          <p:cNvSpPr txBox="1"/>
          <p:nvPr/>
        </p:nvSpPr>
        <p:spPr>
          <a:xfrm>
            <a:off x="6560820" y="3392424"/>
            <a:ext cx="849630" cy="402336"/>
          </a:xfrm>
          <a:prstGeom prst="rect">
            <a:avLst/>
          </a:prstGeom>
          <a:noFill/>
          <a:ln/>
        </p:spPr>
        <p:txBody>
          <a:bodyPr wrap="square" lIns="0" tIns="0" rIns="0" bIns="0" rtlCol="0" anchor="ctr"/>
          <a:lstStyle/>
          <a:p>
            <a:pPr algn="ctr" indent="0" marL="0">
              <a:buNone/>
            </a:pPr>
            <a:endParaRPr lang="tr-TR" sz="1400" dirty="0"/>
          </a:p>
        </p:txBody>
      </p:sp>
      <p:sp>
        <p:nvSpPr>
          <p:cNvPr id="75" name="Shape 73"/>
          <p:cNvSpPr/>
          <p:nvPr/>
        </p:nvSpPr>
        <p:spPr>
          <a:xfrm>
            <a:off x="7428738" y="1801368"/>
            <a:ext cx="813054" cy="365760"/>
          </a:xfrm>
          <a:prstGeom prst="roundRect">
            <a:avLst>
              <a:gd name="adj" fmla="val 12500"/>
            </a:avLst>
          </a:prstGeom>
          <a:solidFill>
            <a:srgbClr val="36454F"/>
          </a:solidFill>
          <a:ln/>
        </p:spPr>
      </p:sp>
      <p:sp>
        <p:nvSpPr>
          <p:cNvPr id="76" name="Text 74"/>
          <p:cNvSpPr txBox="1"/>
          <p:nvPr/>
        </p:nvSpPr>
        <p:spPr>
          <a:xfrm>
            <a:off x="742873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77" name="Shape 75"/>
          <p:cNvSpPr/>
          <p:nvPr/>
        </p:nvSpPr>
        <p:spPr>
          <a:xfrm>
            <a:off x="7428738" y="2203704"/>
            <a:ext cx="813054" cy="365760"/>
          </a:xfrm>
          <a:prstGeom prst="roundRect">
            <a:avLst>
              <a:gd name="adj" fmla="val 12500"/>
            </a:avLst>
          </a:prstGeom>
          <a:solidFill>
            <a:srgbClr val="F2F2F2"/>
          </a:solidFill>
          <a:ln/>
        </p:spPr>
      </p:sp>
      <p:sp>
        <p:nvSpPr>
          <p:cNvPr id="78" name="Text 76"/>
          <p:cNvSpPr txBox="1"/>
          <p:nvPr/>
        </p:nvSpPr>
        <p:spPr>
          <a:xfrm>
            <a:off x="742873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79" name="Shape 77"/>
          <p:cNvSpPr/>
          <p:nvPr/>
        </p:nvSpPr>
        <p:spPr>
          <a:xfrm>
            <a:off x="7428738" y="2606040"/>
            <a:ext cx="813054" cy="365760"/>
          </a:xfrm>
          <a:prstGeom prst="roundRect">
            <a:avLst>
              <a:gd name="adj" fmla="val 12500"/>
            </a:avLst>
          </a:prstGeom>
          <a:solidFill>
            <a:srgbClr val="F2F2F2"/>
          </a:solidFill>
          <a:ln/>
        </p:spPr>
      </p:sp>
      <p:sp>
        <p:nvSpPr>
          <p:cNvPr id="80" name="Text 78"/>
          <p:cNvSpPr txBox="1"/>
          <p:nvPr/>
        </p:nvSpPr>
        <p:spPr>
          <a:xfrm>
            <a:off x="742873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81" name="Shape 79"/>
          <p:cNvSpPr/>
          <p:nvPr/>
        </p:nvSpPr>
        <p:spPr>
          <a:xfrm>
            <a:off x="7428738" y="3008376"/>
            <a:ext cx="813054" cy="365760"/>
          </a:xfrm>
          <a:prstGeom prst="roundRect">
            <a:avLst>
              <a:gd name="adj" fmla="val 12500"/>
            </a:avLst>
          </a:prstGeom>
          <a:solidFill>
            <a:srgbClr val="F2F2F2"/>
          </a:solidFill>
          <a:ln/>
        </p:spPr>
      </p:sp>
      <p:sp>
        <p:nvSpPr>
          <p:cNvPr id="82" name="Text 80"/>
          <p:cNvSpPr txBox="1"/>
          <p:nvPr/>
        </p:nvSpPr>
        <p:spPr>
          <a:xfrm>
            <a:off x="742873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83" name="Text 81"/>
          <p:cNvSpPr txBox="1"/>
          <p:nvPr/>
        </p:nvSpPr>
        <p:spPr>
          <a:xfrm>
            <a:off x="7410450" y="3392424"/>
            <a:ext cx="849630" cy="402336"/>
          </a:xfrm>
          <a:prstGeom prst="rect">
            <a:avLst/>
          </a:prstGeom>
          <a:noFill/>
          <a:ln/>
        </p:spPr>
        <p:txBody>
          <a:bodyPr wrap="square" lIns="0" tIns="0" rIns="0" bIns="0" rtlCol="0" anchor="ctr"/>
          <a:lstStyle/>
          <a:p>
            <a:pPr algn="ctr" indent="0" marL="0">
              <a:buNone/>
            </a:pPr>
            <a:endParaRPr lang="tr-TR" sz="1400" dirty="0"/>
          </a:p>
        </p:txBody>
      </p:sp>
      <p:sp>
        <p:nvSpPr>
          <p:cNvPr id="84" name="Shape 82"/>
          <p:cNvSpPr/>
          <p:nvPr/>
        </p:nvSpPr>
        <p:spPr>
          <a:xfrm>
            <a:off x="8278368" y="1801368"/>
            <a:ext cx="813054" cy="365760"/>
          </a:xfrm>
          <a:prstGeom prst="roundRect">
            <a:avLst>
              <a:gd name="adj" fmla="val 12500"/>
            </a:avLst>
          </a:prstGeom>
          <a:solidFill>
            <a:srgbClr val="36454F"/>
          </a:solidFill>
          <a:ln/>
        </p:spPr>
      </p:sp>
      <p:sp>
        <p:nvSpPr>
          <p:cNvPr id="85" name="Text 83"/>
          <p:cNvSpPr txBox="1"/>
          <p:nvPr/>
        </p:nvSpPr>
        <p:spPr>
          <a:xfrm>
            <a:off x="827836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86" name="Shape 84"/>
          <p:cNvSpPr/>
          <p:nvPr/>
        </p:nvSpPr>
        <p:spPr>
          <a:xfrm>
            <a:off x="8278368" y="2203704"/>
            <a:ext cx="813054" cy="365760"/>
          </a:xfrm>
          <a:prstGeom prst="roundRect">
            <a:avLst>
              <a:gd name="adj" fmla="val 12500"/>
            </a:avLst>
          </a:prstGeom>
          <a:solidFill>
            <a:srgbClr val="F2F2F2"/>
          </a:solidFill>
          <a:ln/>
        </p:spPr>
      </p:sp>
      <p:sp>
        <p:nvSpPr>
          <p:cNvPr id="87" name="Text 85"/>
          <p:cNvSpPr txBox="1"/>
          <p:nvPr/>
        </p:nvSpPr>
        <p:spPr>
          <a:xfrm>
            <a:off x="827836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0</a:t>
            </a:r>
            <a:endParaRPr lang="tr-TR" sz="1400" dirty="0"/>
          </a:p>
        </p:txBody>
      </p:sp>
      <p:sp>
        <p:nvSpPr>
          <p:cNvPr id="88" name="Shape 86"/>
          <p:cNvSpPr/>
          <p:nvPr/>
        </p:nvSpPr>
        <p:spPr>
          <a:xfrm>
            <a:off x="8278368" y="2606040"/>
            <a:ext cx="813054" cy="365760"/>
          </a:xfrm>
          <a:prstGeom prst="roundRect">
            <a:avLst>
              <a:gd name="adj" fmla="val 12500"/>
            </a:avLst>
          </a:prstGeom>
          <a:solidFill>
            <a:srgbClr val="F2F2F2"/>
          </a:solidFill>
          <a:ln/>
        </p:spPr>
      </p:sp>
      <p:sp>
        <p:nvSpPr>
          <p:cNvPr id="89" name="Text 87"/>
          <p:cNvSpPr txBox="1"/>
          <p:nvPr/>
        </p:nvSpPr>
        <p:spPr>
          <a:xfrm>
            <a:off x="827836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90" name="Shape 88"/>
          <p:cNvSpPr/>
          <p:nvPr/>
        </p:nvSpPr>
        <p:spPr>
          <a:xfrm>
            <a:off x="8278368" y="3008376"/>
            <a:ext cx="813054" cy="365760"/>
          </a:xfrm>
          <a:prstGeom prst="roundRect">
            <a:avLst>
              <a:gd name="adj" fmla="val 12500"/>
            </a:avLst>
          </a:prstGeom>
          <a:solidFill>
            <a:srgbClr val="F2F2F2"/>
          </a:solidFill>
          <a:ln/>
        </p:spPr>
      </p:sp>
      <p:sp>
        <p:nvSpPr>
          <p:cNvPr id="91" name="Text 89"/>
          <p:cNvSpPr txBox="1"/>
          <p:nvPr/>
        </p:nvSpPr>
        <p:spPr>
          <a:xfrm>
            <a:off x="827836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92" name="Text 90"/>
          <p:cNvSpPr txBox="1"/>
          <p:nvPr/>
        </p:nvSpPr>
        <p:spPr>
          <a:xfrm>
            <a:off x="8260080" y="3392424"/>
            <a:ext cx="849630" cy="402336"/>
          </a:xfrm>
          <a:prstGeom prst="rect">
            <a:avLst/>
          </a:prstGeom>
          <a:noFill/>
          <a:ln/>
        </p:spPr>
        <p:txBody>
          <a:bodyPr wrap="square" lIns="0" tIns="0" rIns="0" bIns="0" rtlCol="0" anchor="ctr"/>
          <a:lstStyle/>
          <a:p>
            <a:pPr algn="ctr" indent="0" marL="0">
              <a:buNone/>
            </a:pPr>
            <a:endParaRPr lang="tr-TR" sz="1400" dirty="0"/>
          </a:p>
        </p:txBody>
      </p:sp>
      <p:sp>
        <p:nvSpPr>
          <p:cNvPr id="93" name="Shape 91"/>
          <p:cNvSpPr/>
          <p:nvPr/>
        </p:nvSpPr>
        <p:spPr>
          <a:xfrm>
            <a:off x="9127998" y="1801368"/>
            <a:ext cx="813054" cy="365760"/>
          </a:xfrm>
          <a:prstGeom prst="roundRect">
            <a:avLst>
              <a:gd name="adj" fmla="val 12500"/>
            </a:avLst>
          </a:prstGeom>
          <a:solidFill>
            <a:srgbClr val="36454F"/>
          </a:solidFill>
          <a:ln/>
        </p:spPr>
      </p:sp>
      <p:sp>
        <p:nvSpPr>
          <p:cNvPr id="94" name="Text 92"/>
          <p:cNvSpPr txBox="1"/>
          <p:nvPr/>
        </p:nvSpPr>
        <p:spPr>
          <a:xfrm>
            <a:off x="912799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4</a:t>
            </a:r>
            <a:endParaRPr lang="tr-TR" sz="1400" dirty="0"/>
          </a:p>
        </p:txBody>
      </p:sp>
      <p:sp>
        <p:nvSpPr>
          <p:cNvPr id="95" name="Shape 93"/>
          <p:cNvSpPr/>
          <p:nvPr/>
        </p:nvSpPr>
        <p:spPr>
          <a:xfrm>
            <a:off x="9127998" y="2203704"/>
            <a:ext cx="813054" cy="365760"/>
          </a:xfrm>
          <a:prstGeom prst="roundRect">
            <a:avLst>
              <a:gd name="adj" fmla="val 12500"/>
            </a:avLst>
          </a:prstGeom>
          <a:solidFill>
            <a:srgbClr val="02C39A"/>
          </a:solidFill>
          <a:ln/>
        </p:spPr>
      </p:sp>
      <p:sp>
        <p:nvSpPr>
          <p:cNvPr id="96" name="Text 94"/>
          <p:cNvSpPr txBox="1"/>
          <p:nvPr/>
        </p:nvSpPr>
        <p:spPr>
          <a:xfrm>
            <a:off x="9127998" y="2203704"/>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4</a:t>
            </a:r>
            <a:endParaRPr lang="tr-TR" sz="1400" dirty="0"/>
          </a:p>
        </p:txBody>
      </p:sp>
      <p:sp>
        <p:nvSpPr>
          <p:cNvPr id="97" name="Shape 95"/>
          <p:cNvSpPr/>
          <p:nvPr/>
        </p:nvSpPr>
        <p:spPr>
          <a:xfrm>
            <a:off x="9127998" y="2606040"/>
            <a:ext cx="813054" cy="365760"/>
          </a:xfrm>
          <a:prstGeom prst="roundRect">
            <a:avLst>
              <a:gd name="adj" fmla="val 12500"/>
            </a:avLst>
          </a:prstGeom>
          <a:solidFill>
            <a:srgbClr val="D7E9E6"/>
          </a:solidFill>
          <a:ln/>
        </p:spPr>
      </p:sp>
      <p:sp>
        <p:nvSpPr>
          <p:cNvPr id="98" name="Text 96"/>
          <p:cNvSpPr txBox="1"/>
          <p:nvPr/>
        </p:nvSpPr>
        <p:spPr>
          <a:xfrm>
            <a:off x="912799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3</a:t>
            </a:r>
            <a:endParaRPr lang="tr-TR" sz="1400" dirty="0"/>
          </a:p>
        </p:txBody>
      </p:sp>
      <p:sp>
        <p:nvSpPr>
          <p:cNvPr id="99" name="Shape 97"/>
          <p:cNvSpPr/>
          <p:nvPr/>
        </p:nvSpPr>
        <p:spPr>
          <a:xfrm>
            <a:off x="9127998" y="3008376"/>
            <a:ext cx="813054" cy="365760"/>
          </a:xfrm>
          <a:prstGeom prst="roundRect">
            <a:avLst>
              <a:gd name="adj" fmla="val 12500"/>
            </a:avLst>
          </a:prstGeom>
          <a:solidFill>
            <a:srgbClr val="D7E9E6"/>
          </a:solidFill>
          <a:ln/>
        </p:spPr>
      </p:sp>
      <p:sp>
        <p:nvSpPr>
          <p:cNvPr id="100" name="Text 98"/>
          <p:cNvSpPr txBox="1"/>
          <p:nvPr/>
        </p:nvSpPr>
        <p:spPr>
          <a:xfrm>
            <a:off x="912799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01" name="Text 99"/>
          <p:cNvSpPr txBox="1"/>
          <p:nvPr/>
        </p:nvSpPr>
        <p:spPr>
          <a:xfrm>
            <a:off x="910971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02" name="Shape 100"/>
          <p:cNvSpPr/>
          <p:nvPr/>
        </p:nvSpPr>
        <p:spPr>
          <a:xfrm>
            <a:off x="9977628" y="1801368"/>
            <a:ext cx="813054" cy="365760"/>
          </a:xfrm>
          <a:prstGeom prst="roundRect">
            <a:avLst>
              <a:gd name="adj" fmla="val 12500"/>
            </a:avLst>
          </a:prstGeom>
          <a:solidFill>
            <a:srgbClr val="36454F"/>
          </a:solidFill>
          <a:ln/>
        </p:spPr>
      </p:sp>
      <p:sp>
        <p:nvSpPr>
          <p:cNvPr id="103" name="Text 101"/>
          <p:cNvSpPr txBox="1"/>
          <p:nvPr/>
        </p:nvSpPr>
        <p:spPr>
          <a:xfrm>
            <a:off x="997762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104" name="Shape 102"/>
          <p:cNvSpPr/>
          <p:nvPr/>
        </p:nvSpPr>
        <p:spPr>
          <a:xfrm>
            <a:off x="9977628" y="2203704"/>
            <a:ext cx="813054" cy="365760"/>
          </a:xfrm>
          <a:prstGeom prst="roundRect">
            <a:avLst>
              <a:gd name="adj" fmla="val 12500"/>
            </a:avLst>
          </a:prstGeom>
          <a:solidFill>
            <a:srgbClr val="F2F2F2"/>
          </a:solidFill>
          <a:ln/>
        </p:spPr>
      </p:sp>
      <p:sp>
        <p:nvSpPr>
          <p:cNvPr id="105" name="Text 103"/>
          <p:cNvSpPr txBox="1"/>
          <p:nvPr/>
        </p:nvSpPr>
        <p:spPr>
          <a:xfrm>
            <a:off x="997762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4</a:t>
            </a:r>
            <a:endParaRPr lang="tr-TR" sz="1400" dirty="0"/>
          </a:p>
        </p:txBody>
      </p:sp>
      <p:sp>
        <p:nvSpPr>
          <p:cNvPr id="106" name="Shape 104"/>
          <p:cNvSpPr/>
          <p:nvPr/>
        </p:nvSpPr>
        <p:spPr>
          <a:xfrm>
            <a:off x="9977628" y="2606040"/>
            <a:ext cx="813054" cy="365760"/>
          </a:xfrm>
          <a:prstGeom prst="roundRect">
            <a:avLst>
              <a:gd name="adj" fmla="val 12500"/>
            </a:avLst>
          </a:prstGeom>
          <a:solidFill>
            <a:srgbClr val="F2F2F2"/>
          </a:solidFill>
          <a:ln/>
        </p:spPr>
      </p:sp>
      <p:sp>
        <p:nvSpPr>
          <p:cNvPr id="107" name="Text 105"/>
          <p:cNvSpPr txBox="1"/>
          <p:nvPr/>
        </p:nvSpPr>
        <p:spPr>
          <a:xfrm>
            <a:off x="9977628" y="2606040"/>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3</a:t>
            </a:r>
            <a:endParaRPr lang="tr-TR" sz="1400" dirty="0"/>
          </a:p>
        </p:txBody>
      </p:sp>
      <p:sp>
        <p:nvSpPr>
          <p:cNvPr id="108" name="Shape 106"/>
          <p:cNvSpPr/>
          <p:nvPr/>
        </p:nvSpPr>
        <p:spPr>
          <a:xfrm>
            <a:off x="9977628" y="3008376"/>
            <a:ext cx="813054" cy="365760"/>
          </a:xfrm>
          <a:prstGeom prst="roundRect">
            <a:avLst>
              <a:gd name="adj" fmla="val 12500"/>
            </a:avLst>
          </a:prstGeom>
          <a:solidFill>
            <a:srgbClr val="F2F2F2"/>
          </a:solidFill>
          <a:ln/>
        </p:spPr>
      </p:sp>
      <p:sp>
        <p:nvSpPr>
          <p:cNvPr id="109" name="Text 107"/>
          <p:cNvSpPr txBox="1"/>
          <p:nvPr/>
        </p:nvSpPr>
        <p:spPr>
          <a:xfrm>
            <a:off x="997762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9AA5A8"/>
                </a:solidFill>
                <a:latin typeface="Calibri" pitchFamily="34" charset="0"/>
                <a:ea typeface="Calibri" pitchFamily="34" charset="-122"/>
                <a:cs typeface="Calibri" pitchFamily="34" charset="-120"/>
              </a:rPr>
              <a:t>1</a:t>
            </a:r>
            <a:endParaRPr lang="tr-TR" sz="1400" dirty="0"/>
          </a:p>
        </p:txBody>
      </p:sp>
      <p:sp>
        <p:nvSpPr>
          <p:cNvPr id="110" name="Text 108"/>
          <p:cNvSpPr txBox="1"/>
          <p:nvPr/>
        </p:nvSpPr>
        <p:spPr>
          <a:xfrm>
            <a:off x="9959340" y="3392424"/>
            <a:ext cx="849630" cy="402336"/>
          </a:xfrm>
          <a:prstGeom prst="rect">
            <a:avLst/>
          </a:prstGeom>
          <a:noFill/>
          <a:ln/>
        </p:spPr>
        <p:txBody>
          <a:bodyPr wrap="square" lIns="0" tIns="0" rIns="0" bIns="0" rtlCol="0" anchor="ctr"/>
          <a:lstStyle/>
          <a:p>
            <a:pPr algn="ctr" indent="0" marL="0">
              <a:buNone/>
            </a:pPr>
            <a:endParaRPr lang="tr-TR" sz="1400" dirty="0"/>
          </a:p>
        </p:txBody>
      </p:sp>
      <p:sp>
        <p:nvSpPr>
          <p:cNvPr id="111" name="Shape 109"/>
          <p:cNvSpPr/>
          <p:nvPr/>
        </p:nvSpPr>
        <p:spPr>
          <a:xfrm>
            <a:off x="10827258" y="1801368"/>
            <a:ext cx="813054" cy="365760"/>
          </a:xfrm>
          <a:prstGeom prst="roundRect">
            <a:avLst>
              <a:gd name="adj" fmla="val 12500"/>
            </a:avLst>
          </a:prstGeom>
          <a:solidFill>
            <a:srgbClr val="36454F"/>
          </a:solidFill>
          <a:ln/>
        </p:spPr>
      </p:sp>
      <p:sp>
        <p:nvSpPr>
          <p:cNvPr id="112" name="Text 110"/>
          <p:cNvSpPr txBox="1"/>
          <p:nvPr/>
        </p:nvSpPr>
        <p:spPr>
          <a:xfrm>
            <a:off x="10827258" y="1801368"/>
            <a:ext cx="813054" cy="36576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libri" pitchFamily="34" charset="0"/>
                <a:ea typeface="Calibri" pitchFamily="34" charset="-122"/>
                <a:cs typeface="Calibri" pitchFamily="34" charset="-120"/>
              </a:rPr>
              <a:t>0</a:t>
            </a:r>
            <a:endParaRPr lang="tr-TR" sz="1400" dirty="0"/>
          </a:p>
        </p:txBody>
      </p:sp>
      <p:sp>
        <p:nvSpPr>
          <p:cNvPr id="113" name="Shape 111"/>
          <p:cNvSpPr/>
          <p:nvPr/>
        </p:nvSpPr>
        <p:spPr>
          <a:xfrm>
            <a:off x="10827258" y="2203704"/>
            <a:ext cx="813054" cy="365760"/>
          </a:xfrm>
          <a:prstGeom prst="roundRect">
            <a:avLst>
              <a:gd name="adj" fmla="val 12500"/>
            </a:avLst>
          </a:prstGeom>
          <a:solidFill>
            <a:srgbClr val="D7E9E6"/>
          </a:solidFill>
          <a:ln/>
        </p:spPr>
      </p:sp>
      <p:sp>
        <p:nvSpPr>
          <p:cNvPr id="114" name="Text 112"/>
          <p:cNvSpPr txBox="1"/>
          <p:nvPr/>
        </p:nvSpPr>
        <p:spPr>
          <a:xfrm>
            <a:off x="10827258" y="2203704"/>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4</a:t>
            </a:r>
            <a:endParaRPr lang="tr-TR" sz="1400" dirty="0"/>
          </a:p>
        </p:txBody>
      </p:sp>
      <p:sp>
        <p:nvSpPr>
          <p:cNvPr id="115" name="Shape 113"/>
          <p:cNvSpPr/>
          <p:nvPr/>
        </p:nvSpPr>
        <p:spPr>
          <a:xfrm>
            <a:off x="10827258" y="2606040"/>
            <a:ext cx="813054" cy="365760"/>
          </a:xfrm>
          <a:prstGeom prst="roundRect">
            <a:avLst>
              <a:gd name="adj" fmla="val 12500"/>
            </a:avLst>
          </a:prstGeom>
          <a:solidFill>
            <a:srgbClr val="02C39A"/>
          </a:solidFill>
          <a:ln/>
        </p:spPr>
      </p:sp>
      <p:sp>
        <p:nvSpPr>
          <p:cNvPr id="116" name="Text 114"/>
          <p:cNvSpPr txBox="1"/>
          <p:nvPr/>
        </p:nvSpPr>
        <p:spPr>
          <a:xfrm>
            <a:off x="10827258" y="2606040"/>
            <a:ext cx="813054" cy="36576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libri" pitchFamily="34" charset="0"/>
                <a:ea typeface="Calibri" pitchFamily="34" charset="-122"/>
                <a:cs typeface="Calibri" pitchFamily="34" charset="-120"/>
              </a:rPr>
              <a:t>0</a:t>
            </a:r>
            <a:endParaRPr lang="tr-TR" sz="1400" dirty="0"/>
          </a:p>
        </p:txBody>
      </p:sp>
      <p:sp>
        <p:nvSpPr>
          <p:cNvPr id="117" name="Shape 115"/>
          <p:cNvSpPr/>
          <p:nvPr/>
        </p:nvSpPr>
        <p:spPr>
          <a:xfrm>
            <a:off x="10827258" y="3008376"/>
            <a:ext cx="813054" cy="365760"/>
          </a:xfrm>
          <a:prstGeom prst="roundRect">
            <a:avLst>
              <a:gd name="adj" fmla="val 12500"/>
            </a:avLst>
          </a:prstGeom>
          <a:solidFill>
            <a:srgbClr val="D7E9E6"/>
          </a:solidFill>
          <a:ln/>
        </p:spPr>
      </p:sp>
      <p:sp>
        <p:nvSpPr>
          <p:cNvPr id="118" name="Text 116"/>
          <p:cNvSpPr txBox="1"/>
          <p:nvPr/>
        </p:nvSpPr>
        <p:spPr>
          <a:xfrm>
            <a:off x="10827258" y="3008376"/>
            <a:ext cx="813054" cy="365760"/>
          </a:xfrm>
          <a:prstGeom prst="rect">
            <a:avLst/>
          </a:prstGeom>
          <a:noFill/>
          <a:ln/>
        </p:spPr>
        <p:txBody>
          <a:bodyPr wrap="square" lIns="38100" tIns="38100" rIns="38100" bIns="38100" rtlCol="0" anchor="ctr"/>
          <a:lstStyle/>
          <a:p>
            <a:pPr algn="ctr" indent="0" marL="0">
              <a:buNone/>
            </a:pPr>
            <a:r>
              <a:rPr lang="tr-TR" sz="1400" dirty="0">
                <a:solidFill>
                  <a:srgbClr val="212121"/>
                </a:solidFill>
                <a:latin typeface="Calibri" pitchFamily="34" charset="0"/>
                <a:ea typeface="Calibri" pitchFamily="34" charset="-122"/>
                <a:cs typeface="Calibri" pitchFamily="34" charset="-120"/>
              </a:rPr>
              <a:t>1</a:t>
            </a:r>
            <a:endParaRPr lang="tr-TR" sz="1400" dirty="0"/>
          </a:p>
        </p:txBody>
      </p:sp>
      <p:sp>
        <p:nvSpPr>
          <p:cNvPr id="119" name="Text 117"/>
          <p:cNvSpPr txBox="1"/>
          <p:nvPr/>
        </p:nvSpPr>
        <p:spPr>
          <a:xfrm>
            <a:off x="10808970" y="3392424"/>
            <a:ext cx="849630" cy="402336"/>
          </a:xfrm>
          <a:prstGeom prst="rect">
            <a:avLst/>
          </a:prstGeom>
          <a:noFill/>
          <a:ln/>
        </p:spPr>
        <p:txBody>
          <a:bodyPr wrap="square" lIns="0" tIns="0" rIns="0" bIns="0" rtlCol="0" anchor="ctr"/>
          <a:lstStyle/>
          <a:p>
            <a:pPr algn="ctr" indent="0" marL="0">
              <a:buNone/>
            </a:pPr>
            <a:r>
              <a:rPr lang="tr-TR" sz="1400" b="1" dirty="0">
                <a:solidFill>
                  <a:srgbClr val="B5453A"/>
                </a:solidFill>
                <a:latin typeface="Calibri" pitchFamily="34" charset="0"/>
                <a:ea typeface="Calibri" pitchFamily="34" charset="-122"/>
                <a:cs typeface="Calibri" pitchFamily="34" charset="-120"/>
              </a:rPr>
              <a:t>F</a:t>
            </a:r>
            <a:endParaRPr lang="tr-TR" sz="1400" dirty="0"/>
          </a:p>
        </p:txBody>
      </p:sp>
      <p:sp>
        <p:nvSpPr>
          <p:cNvPr id="120" name="Shape 118"/>
          <p:cNvSpPr/>
          <p:nvPr/>
        </p:nvSpPr>
        <p:spPr>
          <a:xfrm>
            <a:off x="548640" y="4343400"/>
            <a:ext cx="2377440" cy="1920240"/>
          </a:xfrm>
          <a:prstGeom prst="roundRect">
            <a:avLst>
              <a:gd name="adj" fmla="val 2857"/>
            </a:avLst>
          </a:prstGeom>
          <a:solidFill>
            <a:srgbClr val="36454F"/>
          </a:solidFill>
          <a:ln/>
        </p:spPr>
      </p:sp>
      <p:sp>
        <p:nvSpPr>
          <p:cNvPr id="121" name="Text 119"/>
          <p:cNvSpPr txBox="1"/>
          <p:nvPr/>
        </p:nvSpPr>
        <p:spPr>
          <a:xfrm>
            <a:off x="685800" y="4343400"/>
            <a:ext cx="2103120" cy="1920240"/>
          </a:xfrm>
          <a:prstGeom prst="rect">
            <a:avLst/>
          </a:prstGeom>
          <a:noFill/>
          <a:ln/>
        </p:spPr>
        <p:txBody>
          <a:bodyPr wrap="square" lIns="0" tIns="0" rIns="0" bIns="0" rtlCol="0" anchor="ctr"/>
          <a:lstStyle/>
          <a:p>
            <a:pPr algn="ctr" indent="0" marL="0">
              <a:buNone/>
            </a:pPr>
            <a:r>
              <a:rPr lang="tr-TR" sz="3400" b="1" dirty="0">
                <a:solidFill>
                  <a:srgbClr val="02C39A"/>
                </a:solidFill>
                <a:latin typeface="Cambria" pitchFamily="34" charset="0"/>
                <a:ea typeface="Cambria" pitchFamily="34" charset="-122"/>
                <a:cs typeface="Cambria" pitchFamily="34" charset="-120"/>
              </a:rPr>
              <a:t>8</a:t>
            </a:r>
            <a:endParaRPr lang="tr-TR" sz="1400" dirty="0"/>
          </a:p>
          <a:p>
            <a:pPr algn="ctr" indent="0" marL="0">
              <a:buNone/>
            </a:pPr>
            <a:r>
              <a:rPr lang="tr-TR" sz="1300" dirty="0">
                <a:solidFill>
                  <a:srgbClr val="F2F2F2"/>
                </a:solidFill>
                <a:latin typeface="Calibri" pitchFamily="34" charset="0"/>
                <a:ea typeface="Calibri" pitchFamily="34" charset="-122"/>
                <a:cs typeface="Calibri" pitchFamily="34" charset="-120"/>
              </a:rPr>
              <a:t>FIFO ile hata</a:t>
            </a:r>
            <a:endParaRPr lang="tr-TR" sz="1400" dirty="0"/>
          </a:p>
        </p:txBody>
      </p:sp>
      <p:sp>
        <p:nvSpPr>
          <p:cNvPr id="122" name="Shape 120"/>
          <p:cNvSpPr/>
          <p:nvPr/>
        </p:nvSpPr>
        <p:spPr>
          <a:xfrm>
            <a:off x="3108960" y="4343400"/>
            <a:ext cx="2377440" cy="1920240"/>
          </a:xfrm>
          <a:prstGeom prst="roundRect">
            <a:avLst>
              <a:gd name="adj" fmla="val 2857"/>
            </a:avLst>
          </a:prstGeom>
          <a:solidFill>
            <a:srgbClr val="36454F"/>
          </a:solidFill>
          <a:ln/>
        </p:spPr>
      </p:sp>
      <p:sp>
        <p:nvSpPr>
          <p:cNvPr id="123" name="Text 121"/>
          <p:cNvSpPr txBox="1"/>
          <p:nvPr/>
        </p:nvSpPr>
        <p:spPr>
          <a:xfrm>
            <a:off x="3246120" y="4343400"/>
            <a:ext cx="2103120" cy="1920240"/>
          </a:xfrm>
          <a:prstGeom prst="rect">
            <a:avLst/>
          </a:prstGeom>
          <a:noFill/>
          <a:ln/>
        </p:spPr>
        <p:txBody>
          <a:bodyPr wrap="square" lIns="0" tIns="0" rIns="0" bIns="0" rtlCol="0" anchor="ctr"/>
          <a:lstStyle/>
          <a:p>
            <a:pPr algn="ctr" indent="0" marL="0">
              <a:buNone/>
            </a:pPr>
            <a:r>
              <a:rPr lang="tr-TR" sz="3400" b="1" dirty="0">
                <a:solidFill>
                  <a:srgbClr val="02C39A"/>
                </a:solidFill>
                <a:latin typeface="Cambria" pitchFamily="34" charset="0"/>
                <a:ea typeface="Cambria" pitchFamily="34" charset="-122"/>
                <a:cs typeface="Cambria" pitchFamily="34" charset="-120"/>
              </a:rPr>
              <a:t>7</a:t>
            </a:r>
            <a:endParaRPr lang="tr-TR" sz="1400" dirty="0"/>
          </a:p>
          <a:p>
            <a:pPr algn="ctr" indent="0" marL="0">
              <a:buNone/>
            </a:pPr>
            <a:r>
              <a:rPr lang="tr-TR" sz="1300" dirty="0">
                <a:solidFill>
                  <a:srgbClr val="F2F2F2"/>
                </a:solidFill>
                <a:latin typeface="Calibri" pitchFamily="34" charset="0"/>
                <a:ea typeface="Calibri" pitchFamily="34" charset="-122"/>
                <a:cs typeface="Calibri" pitchFamily="34" charset="-120"/>
              </a:rPr>
              <a:t>LRU ile hata</a:t>
            </a:r>
            <a:endParaRPr lang="tr-TR" sz="1400" dirty="0"/>
          </a:p>
        </p:txBody>
      </p:sp>
      <p:sp>
        <p:nvSpPr>
          <p:cNvPr id="124" name="Shape 122"/>
          <p:cNvSpPr/>
          <p:nvPr/>
        </p:nvSpPr>
        <p:spPr>
          <a:xfrm>
            <a:off x="5669280" y="4343400"/>
            <a:ext cx="2377440" cy="1920240"/>
          </a:xfrm>
          <a:prstGeom prst="roundRect">
            <a:avLst>
              <a:gd name="adj" fmla="val 2857"/>
            </a:avLst>
          </a:prstGeom>
          <a:solidFill>
            <a:srgbClr val="36454F"/>
          </a:solidFill>
          <a:ln/>
        </p:spPr>
      </p:sp>
      <p:sp>
        <p:nvSpPr>
          <p:cNvPr id="125" name="Text 123"/>
          <p:cNvSpPr txBox="1"/>
          <p:nvPr/>
        </p:nvSpPr>
        <p:spPr>
          <a:xfrm>
            <a:off x="5806440" y="4343400"/>
            <a:ext cx="2103120" cy="1920240"/>
          </a:xfrm>
          <a:prstGeom prst="rect">
            <a:avLst/>
          </a:prstGeom>
          <a:noFill/>
          <a:ln/>
        </p:spPr>
        <p:txBody>
          <a:bodyPr wrap="square" lIns="0" tIns="0" rIns="0" bIns="0" rtlCol="0" anchor="ctr"/>
          <a:lstStyle/>
          <a:p>
            <a:pPr algn="ctr" indent="0" marL="0">
              <a:buNone/>
            </a:pPr>
            <a:r>
              <a:rPr lang="tr-TR" sz="3400" b="1" dirty="0">
                <a:solidFill>
                  <a:srgbClr val="02C39A"/>
                </a:solidFill>
                <a:latin typeface="Cambria" pitchFamily="34" charset="0"/>
                <a:ea typeface="Cambria" pitchFamily="34" charset="-122"/>
                <a:cs typeface="Cambria" pitchFamily="34" charset="-120"/>
              </a:rPr>
              <a:t>5</a:t>
            </a:r>
            <a:endParaRPr lang="tr-TR" sz="1400" dirty="0"/>
          </a:p>
          <a:p>
            <a:pPr algn="ctr" indent="0" marL="0">
              <a:buNone/>
            </a:pPr>
            <a:r>
              <a:rPr lang="tr-TR" sz="1300" dirty="0">
                <a:solidFill>
                  <a:srgbClr val="F2F2F2"/>
                </a:solidFill>
                <a:latin typeface="Calibri" pitchFamily="34" charset="0"/>
                <a:ea typeface="Calibri" pitchFamily="34" charset="-122"/>
                <a:cs typeface="Calibri" pitchFamily="34" charset="-120"/>
              </a:rPr>
              <a:t>OPT ile hata (en az)</a:t>
            </a:r>
            <a:endParaRPr lang="tr-TR" sz="1400" dirty="0"/>
          </a:p>
        </p:txBody>
      </p:sp>
      <p:sp>
        <p:nvSpPr>
          <p:cNvPr id="126" name="Shape 124"/>
          <p:cNvSpPr/>
          <p:nvPr/>
        </p:nvSpPr>
        <p:spPr>
          <a:xfrm>
            <a:off x="8275320" y="4343400"/>
            <a:ext cx="3383280" cy="1920240"/>
          </a:xfrm>
          <a:prstGeom prst="roundRect">
            <a:avLst>
              <a:gd name="adj" fmla="val 2857"/>
            </a:avLst>
          </a:prstGeom>
          <a:solidFill>
            <a:srgbClr val="F2F2F2"/>
          </a:solidFill>
          <a:ln/>
          <a:effectLst>
            <a:outerShdw sx="100000" sy="100000" kx="0" ky="0" algn="bl" rotWithShape="0" blurRad="101600" dist="25400" dir="5400000">
              <a:srgbClr val="000000">
                <a:alpha val="12000"/>
              </a:srgbClr>
            </a:outerShdw>
          </a:effectLst>
        </p:spPr>
      </p:sp>
      <p:sp>
        <p:nvSpPr>
          <p:cNvPr id="127" name="Text 125"/>
          <p:cNvSpPr txBox="1"/>
          <p:nvPr/>
        </p:nvSpPr>
        <p:spPr>
          <a:xfrm>
            <a:off x="8503920" y="4526280"/>
            <a:ext cx="29260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Kilit kararlar</a:t>
            </a:r>
            <a:endParaRPr lang="tr-TR" sz="1500" dirty="0"/>
          </a:p>
        </p:txBody>
      </p:sp>
      <p:sp>
        <p:nvSpPr>
          <p:cNvPr id="128" name="Text 126"/>
          <p:cNvSpPr txBox="1"/>
          <p:nvPr/>
        </p:nvSpPr>
        <p:spPr>
          <a:xfrm>
            <a:off x="8503920" y="4983480"/>
            <a:ext cx="2926080" cy="114300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0'da (4. başvuru): LRU 3'ü çıkarır; OPT 5'i çıkarır (bir daha hiç kullanılmaz).</a:t>
            </a:r>
            <a:endParaRPr lang="tr-TR" sz="1300" dirty="0"/>
          </a:p>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4'te: OPT 3'ü çıkarır — o da bir daha gerekmez.</a:t>
            </a:r>
            <a:endParaRPr lang="tr-TR"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4 · 1, 3, 4, 7. HAFTALAR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Kısa Hesaplar: EAT, Bloklar ve Hızlı Formüller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16</a:t>
            </a:r>
            <a:endParaRPr lang="tr-TR" sz="900" dirty="0"/>
          </a:p>
        </p:txBody>
      </p:sp>
      <p:sp>
        <p:nvSpPr>
          <p:cNvPr id="6" name="Shape 4"/>
          <p:cNvSpPr/>
          <p:nvPr/>
        </p:nvSpPr>
        <p:spPr>
          <a:xfrm>
            <a:off x="548640" y="1508760"/>
            <a:ext cx="5486400" cy="2514600"/>
          </a:xfrm>
          <a:prstGeom prst="roundRect">
            <a:avLst>
              <a:gd name="adj" fmla="val 1818"/>
            </a:avLst>
          </a:prstGeom>
          <a:solidFill>
            <a:srgbClr val="212121"/>
          </a:solidFill>
          <a:ln/>
        </p:spPr>
      </p:sp>
      <p:sp>
        <p:nvSpPr>
          <p:cNvPr id="7" name="Text 5"/>
          <p:cNvSpPr txBox="1"/>
          <p:nvPr/>
        </p:nvSpPr>
        <p:spPr>
          <a:xfrm>
            <a:off x="731520" y="1618488"/>
            <a:ext cx="5120640" cy="229514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t_m = 100 ns, t_fault = 10 ms, p = 0.0002</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EAT = 0.9998 × 100 + 0.0002 × 10 000 000</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    = 99.98 + 2 000 = 2099.98 ns   (×21)</a:t>
            </a:r>
            <a:endParaRPr lang="tr-TR" sz="1400" dirty="0"/>
          </a:p>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yavaşlama &lt; %10:  100 + p(10^7 − 100) &lt; 110</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p &lt; 10 / 9 999 900 ≈ 1.0 × 10⁻⁶</a:t>
            </a:r>
            <a:endParaRPr lang="tr-TR" sz="1400" dirty="0"/>
          </a:p>
        </p:txBody>
      </p:sp>
      <p:sp>
        <p:nvSpPr>
          <p:cNvPr id="8" name="Shape 6"/>
          <p:cNvSpPr/>
          <p:nvPr/>
        </p:nvSpPr>
        <p:spPr>
          <a:xfrm>
            <a:off x="6172200" y="1508760"/>
            <a:ext cx="5486400" cy="2514600"/>
          </a:xfrm>
          <a:prstGeom prst="roundRect">
            <a:avLst>
              <a:gd name="adj" fmla="val 1818"/>
            </a:avLst>
          </a:prstGeom>
          <a:solidFill>
            <a:srgbClr val="212121"/>
          </a:solidFill>
          <a:ln/>
        </p:spPr>
      </p:sp>
      <p:sp>
        <p:nvSpPr>
          <p:cNvPr id="9" name="Text 7"/>
          <p:cNvSpPr txBox="1"/>
          <p:nvPr/>
        </p:nvSpPr>
        <p:spPr>
          <a:xfrm>
            <a:off x="6355080" y="1618488"/>
            <a:ext cx="5120640" cy="2295144"/>
          </a:xfrm>
          <a:prstGeom prst="rect">
            <a:avLst/>
          </a:prstGeom>
          <a:noFill/>
          <a:ln/>
        </p:spPr>
        <p:txBody>
          <a:bodyPr wrap="square" lIns="0" tIns="0" rIns="0" bIns="0" rtlCol="0" anchor="t"/>
          <a:lstStyle/>
          <a:p>
            <a:pPr indent="0" marL="0">
              <a:lnSpc>
                <a:spcPct val="105000"/>
              </a:lnSpc>
              <a:buNone/>
            </a:pPr>
            <a:r>
              <a:rPr lang="tr-TR" sz="1400" dirty="0">
                <a:solidFill>
                  <a:srgbClr val="8A9AA0"/>
                </a:solidFill>
                <a:latin typeface="Consolas" pitchFamily="34" charset="0"/>
                <a:ea typeface="Consolas" pitchFamily="34" charset="-122"/>
                <a:cs typeface="Consolas" pitchFamily="34" charset="-120"/>
              </a:rPr>
              <a:t># kayıt 75; 128 B kayıt; 4096 B blok</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bayt   = 75 × 128 = 9600</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blok   = ⌊9600 / 4096⌋ = 2</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konum  = 9600 − 2 × 4096 = 1408</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son    = 9727 → blok 2: sığar</a:t>
            </a:r>
            <a:endParaRPr lang="tr-TR" sz="1400" dirty="0"/>
          </a:p>
        </p:txBody>
      </p:sp>
      <p:sp>
        <p:nvSpPr>
          <p:cNvPr id="10" name="Shape 8"/>
          <p:cNvSpPr/>
          <p:nvPr/>
        </p:nvSpPr>
        <p:spPr>
          <a:xfrm>
            <a:off x="548640" y="4206240"/>
            <a:ext cx="11109960" cy="2057400"/>
          </a:xfrm>
          <a:prstGeom prst="roundRect">
            <a:avLst>
              <a:gd name="adj" fmla="val 2222"/>
            </a:avLst>
          </a:prstGeom>
          <a:solidFill>
            <a:srgbClr val="212121"/>
          </a:solidFill>
          <a:ln/>
        </p:spPr>
      </p:sp>
      <p:sp>
        <p:nvSpPr>
          <p:cNvPr id="11" name="Text 9"/>
          <p:cNvSpPr txBox="1"/>
          <p:nvPr/>
        </p:nvSpPr>
        <p:spPr>
          <a:xfrm>
            <a:off x="731520" y="4315968"/>
            <a:ext cx="10744200" cy="1837944"/>
          </a:xfrm>
          <a:prstGeom prst="rect">
            <a:avLst/>
          </a:prstGeom>
          <a:noFill/>
          <a:ln/>
        </p:spPr>
        <p:txBody>
          <a:bodyPr wrap="square" lIns="0" tIns="0" rIns="0" bIns="0" rtlCol="0" anchor="t"/>
          <a:lstStyle/>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H1  U(n), p = 0.6, n = 3:                 1 − 0.6^3 = 1 − 0.216 = 0.784</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H1  toplu iş, t_çalışma 2, t_hazırlık 3:  2 / (2 + 3) = 0.4</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H3  ek yük s = 0.1, q = 4:                0.1 / 4.1 = %2.44</a:t>
            </a:r>
            <a:endParaRPr lang="tr-TR" sz="1400" dirty="0"/>
          </a:p>
          <a:p>
            <a:pPr indent="0" marL="0">
              <a:lnSpc>
                <a:spcPct val="105000"/>
              </a:lnSpc>
              <a:buNone/>
            </a:pPr>
            <a:r>
              <a:rPr lang="tr-TR" sz="1400" dirty="0">
                <a:solidFill>
                  <a:srgbClr val="F2F2F2"/>
                </a:solidFill>
                <a:latin typeface="Consolas" pitchFamily="34" charset="0"/>
                <a:ea typeface="Consolas" pitchFamily="34" charset="-122"/>
                <a:cs typeface="Consolas" pitchFamily="34" charset="-120"/>
              </a:rPr>
              <a:t>H4  Amdahl S = 0.2, N = 4:                1 / (0.2 + 0.8/4) = 2.5  (sınır 1/S = 5)</a:t>
            </a:r>
            <a:endParaRPr lang="tr-TR"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ARA</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10 Dakika Mola</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Sırada: dersin Linux yarısı — 9–14. haftalar.</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15  ·  17</a:t>
            </a:r>
            <a:endParaRPr lang="tr-TR"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BÖLÜM 2</a:t>
            </a:r>
            <a:endParaRPr lang="tr-TR"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Uygulama Tekrarı: 9–14. Haftalar</a:t>
            </a:r>
            <a:endParaRPr lang="tr-TR"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tr-TR" sz="1600" i="1" dirty="0">
                <a:solidFill>
                  <a:srgbClr val="F2F2F2"/>
                </a:solidFill>
                <a:latin typeface="Calibri" pitchFamily="34" charset="0"/>
                <a:ea typeface="Calibri" pitchFamily="34" charset="-122"/>
                <a:cs typeface="Calibri" pitchFamily="34" charset="-120"/>
              </a:rPr>
              <a:t>Bu slaytlardaki tüm çıktılar gerçektir; yeni oluşturulmuş bir ~/lab'da kaydedildi (bash mcmp117_lab_setup.sh).</a:t>
            </a:r>
            <a:endParaRPr lang="tr-TR"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15  ·  18</a:t>
            </a:r>
            <a:endParaRPr lang="tr-TR"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9–10. HAFTALAR</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Gezinme, Dosyalar ve Joker Karakterler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19</a:t>
            </a:r>
            <a:endParaRPr lang="tr-TR" sz="900" dirty="0"/>
          </a:p>
        </p:txBody>
      </p:sp>
      <p:sp>
        <p:nvSpPr>
          <p:cNvPr id="6" name="Shape 4"/>
          <p:cNvSpPr/>
          <p:nvPr/>
        </p:nvSpPr>
        <p:spPr>
          <a:xfrm>
            <a:off x="548640" y="1508760"/>
            <a:ext cx="6583680" cy="4754880"/>
          </a:xfrm>
          <a:prstGeom prst="roundRect">
            <a:avLst>
              <a:gd name="adj" fmla="val 962"/>
            </a:avLst>
          </a:prstGeom>
          <a:solidFill>
            <a:srgbClr val="212121"/>
          </a:solidFill>
          <a:ln/>
        </p:spPr>
      </p:sp>
      <p:sp>
        <p:nvSpPr>
          <p:cNvPr id="7" name="Text 5"/>
          <p:cNvSpPr txBox="1"/>
          <p:nvPr/>
        </p:nvSpPr>
        <p:spPr>
          <a:xfrm>
            <a:off x="731520" y="1618488"/>
            <a:ext cx="6217920" cy="453542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pwd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/home/student/lab</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ls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README.txt  backup  data  docs  logs  photos  projects  scripts  src</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cd projects/alpha/src</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student@okan-lab:~/lab/projects/alpha/src$ cd ../../beta/docs</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student@okan-lab:~/lab/projects/beta/docs$ pwd</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/home/student/lab/projects/beta/docs</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student@okan-lab:~/lab/projects/beta/docs$ cd ~/lab</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ls photos/img00?.jpg</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photos/img001.jpg  photos/img004.jpg  photos/img007.jpg</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photos/img002.jpg  photos/img005.jpg  photos/img008.jpg</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photos/img003.jpg  photos/img006.jpg  photos/img009.jpg</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echo photos/*.{png,JPG}</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photos/img013.png photos/IMG_014.JPG</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mkdir -p backup/{2025,2026}</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cp docs/notes_0*.txt backup/2026/</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ls backup/2026</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notes_01.txt  notes_02.txt  notes_03.txt</a:t>
            </a:r>
            <a:endParaRPr lang="tr-TR" sz="1150" dirty="0"/>
          </a:p>
        </p:txBody>
      </p:sp>
      <p:sp>
        <p:nvSpPr>
          <p:cNvPr id="8" name="Shape 6"/>
          <p:cNvSpPr/>
          <p:nvPr/>
        </p:nvSpPr>
        <p:spPr>
          <a:xfrm>
            <a:off x="7360920" y="1508760"/>
            <a:ext cx="4297680" cy="4754880"/>
          </a:xfrm>
          <a:prstGeom prst="roundRect">
            <a:avLst>
              <a:gd name="adj" fmla="val 1277"/>
            </a:avLst>
          </a:prstGeom>
          <a:solidFill>
            <a:srgbClr val="F2F2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7589520" y="1691640"/>
            <a:ext cx="3840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Unutmayın</a:t>
            </a:r>
            <a:endParaRPr lang="tr-TR" sz="1500" dirty="0"/>
          </a:p>
        </p:txBody>
      </p:sp>
      <p:sp>
        <p:nvSpPr>
          <p:cNvPr id="10" name="Text 8"/>
          <p:cNvSpPr txBox="1"/>
          <p:nvPr/>
        </p:nvSpPr>
        <p:spPr>
          <a:xfrm>
            <a:off x="7589520" y="2148840"/>
            <a:ext cx="3840480" cy="3977640"/>
          </a:xfrm>
          <a:prstGeom prst="rect">
            <a:avLst/>
          </a:prstGeom>
          <a:noFill/>
          <a:ln/>
        </p:spPr>
        <p:txBody>
          <a:bodyPr wrap="square" lIns="0" tIns="0" rIns="0" bIns="0" rtlCol="0" anchor="t"/>
          <a:lstStyle/>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Yollar:</a:t>
            </a:r>
            <a:r>
              <a:rPr lang="tr-TR" sz="1500" dirty="0">
                <a:solidFill>
                  <a:srgbClr val="3A464C"/>
                </a:solidFill>
                <a:latin typeface="Calibri" pitchFamily="34" charset="0"/>
                <a:ea typeface="Calibri" pitchFamily="34" charset="-122"/>
                <a:cs typeface="Calibri" pitchFamily="34" charset="-120"/>
              </a:rPr>
              <a:t> mutlak yol / ile başlar; göreli yol buradan başlar; ~ ev dizini, . burası, .. üst dizin, cd - geri.</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Komutun yapısı:</a:t>
            </a:r>
            <a:r>
              <a:rPr lang="tr-TR" sz="1500" dirty="0">
                <a:solidFill>
                  <a:srgbClr val="3A464C"/>
                </a:solidFill>
                <a:latin typeface="Calibri" pitchFamily="34" charset="0"/>
                <a:ea typeface="Calibri" pitchFamily="34" charset="-122"/>
                <a:cs typeface="Calibri" pitchFamily="34" charset="-120"/>
              </a:rPr>
              <a:t> komut -seçenekler argümanlar.</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Joker karakterler:</a:t>
            </a:r>
            <a:r>
              <a:rPr lang="tr-TR" sz="1500" dirty="0">
                <a:solidFill>
                  <a:srgbClr val="3A464C"/>
                </a:solidFill>
                <a:latin typeface="Calibri" pitchFamily="34" charset="0"/>
                <a:ea typeface="Calibri" pitchFamily="34" charset="-122"/>
                <a:cs typeface="Calibri" pitchFamily="34" charset="-120"/>
              </a:rPr>
              <a:t> * herhangi bir dizgi, ? tek karakter, [abc] bunlardan biri; süslü ayraç {a,b} {1..5}. Bunları komut değil kabuk genişletir.</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Dosyalar:</a:t>
            </a:r>
            <a:r>
              <a:rPr lang="tr-TR" sz="1500" dirty="0">
                <a:solidFill>
                  <a:srgbClr val="3A464C"/>
                </a:solidFill>
                <a:latin typeface="Calibri" pitchFamily="34" charset="0"/>
                <a:ea typeface="Calibri" pitchFamily="34" charset="-122"/>
                <a:cs typeface="Calibri" pitchFamily="34" charset="-120"/>
              </a:rPr>
              <a:t> mkdir -p, touch, cp -r, mv, rm -r (geri dönüşüm kutusu yok!), ln / ln -s.</a:t>
            </a:r>
            <a:endParaRPr lang="tr-TR"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11.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İzinler: Modu Okumak ve Ayarlamak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20</a:t>
            </a:r>
            <a:endParaRPr lang="tr-TR" sz="900" dirty="0"/>
          </a:p>
        </p:txBody>
      </p:sp>
      <p:sp>
        <p:nvSpPr>
          <p:cNvPr id="6" name="Shape 4"/>
          <p:cNvSpPr/>
          <p:nvPr/>
        </p:nvSpPr>
        <p:spPr>
          <a:xfrm>
            <a:off x="548640" y="1600200"/>
            <a:ext cx="502920" cy="594360"/>
          </a:xfrm>
          <a:prstGeom prst="roundRect">
            <a:avLst>
              <a:gd name="adj" fmla="val 9091"/>
            </a:avLst>
          </a:prstGeom>
          <a:solidFill>
            <a:srgbClr val="36454F"/>
          </a:solidFill>
          <a:ln/>
        </p:spPr>
      </p:sp>
      <p:sp>
        <p:nvSpPr>
          <p:cNvPr id="7" name="Text 5"/>
          <p:cNvSpPr txBox="1"/>
          <p:nvPr/>
        </p:nvSpPr>
        <p:spPr>
          <a:xfrm>
            <a:off x="54864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a:t>
            </a:r>
            <a:endParaRPr lang="tr-TR" sz="2000" dirty="0"/>
          </a:p>
        </p:txBody>
      </p:sp>
      <p:sp>
        <p:nvSpPr>
          <p:cNvPr id="8" name="Shape 6"/>
          <p:cNvSpPr/>
          <p:nvPr/>
        </p:nvSpPr>
        <p:spPr>
          <a:xfrm>
            <a:off x="1097280" y="1600200"/>
            <a:ext cx="502920" cy="594360"/>
          </a:xfrm>
          <a:prstGeom prst="roundRect">
            <a:avLst>
              <a:gd name="adj" fmla="val 9091"/>
            </a:avLst>
          </a:prstGeom>
          <a:solidFill>
            <a:srgbClr val="02C39A"/>
          </a:solidFill>
          <a:ln/>
        </p:spPr>
      </p:sp>
      <p:sp>
        <p:nvSpPr>
          <p:cNvPr id="9" name="Text 7"/>
          <p:cNvSpPr txBox="1"/>
          <p:nvPr/>
        </p:nvSpPr>
        <p:spPr>
          <a:xfrm>
            <a:off x="109728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r</a:t>
            </a:r>
            <a:endParaRPr lang="tr-TR" sz="2000" dirty="0"/>
          </a:p>
        </p:txBody>
      </p:sp>
      <p:sp>
        <p:nvSpPr>
          <p:cNvPr id="10" name="Shape 8"/>
          <p:cNvSpPr/>
          <p:nvPr/>
        </p:nvSpPr>
        <p:spPr>
          <a:xfrm>
            <a:off x="1645920" y="1600200"/>
            <a:ext cx="502920" cy="594360"/>
          </a:xfrm>
          <a:prstGeom prst="roundRect">
            <a:avLst>
              <a:gd name="adj" fmla="val 9091"/>
            </a:avLst>
          </a:prstGeom>
          <a:solidFill>
            <a:srgbClr val="02C39A"/>
          </a:solidFill>
          <a:ln/>
        </p:spPr>
      </p:sp>
      <p:sp>
        <p:nvSpPr>
          <p:cNvPr id="11" name="Text 9"/>
          <p:cNvSpPr txBox="1"/>
          <p:nvPr/>
        </p:nvSpPr>
        <p:spPr>
          <a:xfrm>
            <a:off x="164592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w</a:t>
            </a:r>
            <a:endParaRPr lang="tr-TR" sz="2000" dirty="0"/>
          </a:p>
        </p:txBody>
      </p:sp>
      <p:sp>
        <p:nvSpPr>
          <p:cNvPr id="12" name="Shape 10"/>
          <p:cNvSpPr/>
          <p:nvPr/>
        </p:nvSpPr>
        <p:spPr>
          <a:xfrm>
            <a:off x="2194560" y="1600200"/>
            <a:ext cx="502920" cy="594360"/>
          </a:xfrm>
          <a:prstGeom prst="roundRect">
            <a:avLst>
              <a:gd name="adj" fmla="val 9091"/>
            </a:avLst>
          </a:prstGeom>
          <a:solidFill>
            <a:srgbClr val="02C39A"/>
          </a:solidFill>
          <a:ln/>
        </p:spPr>
      </p:sp>
      <p:sp>
        <p:nvSpPr>
          <p:cNvPr id="13" name="Text 11"/>
          <p:cNvSpPr txBox="1"/>
          <p:nvPr/>
        </p:nvSpPr>
        <p:spPr>
          <a:xfrm>
            <a:off x="219456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212121"/>
                </a:solidFill>
                <a:latin typeface="Consolas" pitchFamily="34" charset="0"/>
                <a:ea typeface="Consolas" pitchFamily="34" charset="-122"/>
                <a:cs typeface="Consolas" pitchFamily="34" charset="-120"/>
              </a:rPr>
              <a:t>x</a:t>
            </a:r>
            <a:endParaRPr lang="tr-TR" sz="2000" dirty="0"/>
          </a:p>
        </p:txBody>
      </p:sp>
      <p:sp>
        <p:nvSpPr>
          <p:cNvPr id="14" name="Shape 12"/>
          <p:cNvSpPr/>
          <p:nvPr/>
        </p:nvSpPr>
        <p:spPr>
          <a:xfrm>
            <a:off x="2743200" y="1600200"/>
            <a:ext cx="502920" cy="594360"/>
          </a:xfrm>
          <a:prstGeom prst="roundRect">
            <a:avLst>
              <a:gd name="adj" fmla="val 9091"/>
            </a:avLst>
          </a:prstGeom>
          <a:solidFill>
            <a:srgbClr val="028090"/>
          </a:solidFill>
          <a:ln/>
        </p:spPr>
      </p:sp>
      <p:sp>
        <p:nvSpPr>
          <p:cNvPr id="15" name="Text 13"/>
          <p:cNvSpPr txBox="1"/>
          <p:nvPr/>
        </p:nvSpPr>
        <p:spPr>
          <a:xfrm>
            <a:off x="274320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r</a:t>
            </a:r>
            <a:endParaRPr lang="tr-TR" sz="2000" dirty="0"/>
          </a:p>
        </p:txBody>
      </p:sp>
      <p:sp>
        <p:nvSpPr>
          <p:cNvPr id="16" name="Shape 14"/>
          <p:cNvSpPr/>
          <p:nvPr/>
        </p:nvSpPr>
        <p:spPr>
          <a:xfrm>
            <a:off x="3291840" y="1600200"/>
            <a:ext cx="502920" cy="594360"/>
          </a:xfrm>
          <a:prstGeom prst="roundRect">
            <a:avLst>
              <a:gd name="adj" fmla="val 9091"/>
            </a:avLst>
          </a:prstGeom>
          <a:solidFill>
            <a:srgbClr val="028090"/>
          </a:solidFill>
          <a:ln/>
        </p:spPr>
      </p:sp>
      <p:sp>
        <p:nvSpPr>
          <p:cNvPr id="17" name="Text 15"/>
          <p:cNvSpPr txBox="1"/>
          <p:nvPr/>
        </p:nvSpPr>
        <p:spPr>
          <a:xfrm>
            <a:off x="329184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a:t>
            </a:r>
            <a:endParaRPr lang="tr-TR" sz="2000" dirty="0"/>
          </a:p>
        </p:txBody>
      </p:sp>
      <p:sp>
        <p:nvSpPr>
          <p:cNvPr id="18" name="Shape 16"/>
          <p:cNvSpPr/>
          <p:nvPr/>
        </p:nvSpPr>
        <p:spPr>
          <a:xfrm>
            <a:off x="3840480" y="1600200"/>
            <a:ext cx="502920" cy="594360"/>
          </a:xfrm>
          <a:prstGeom prst="roundRect">
            <a:avLst>
              <a:gd name="adj" fmla="val 9091"/>
            </a:avLst>
          </a:prstGeom>
          <a:solidFill>
            <a:srgbClr val="028090"/>
          </a:solidFill>
          <a:ln/>
        </p:spPr>
      </p:sp>
      <p:sp>
        <p:nvSpPr>
          <p:cNvPr id="19" name="Text 17"/>
          <p:cNvSpPr txBox="1"/>
          <p:nvPr/>
        </p:nvSpPr>
        <p:spPr>
          <a:xfrm>
            <a:off x="384048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x</a:t>
            </a:r>
            <a:endParaRPr lang="tr-TR" sz="2000" dirty="0"/>
          </a:p>
        </p:txBody>
      </p:sp>
      <p:sp>
        <p:nvSpPr>
          <p:cNvPr id="20" name="Shape 18"/>
          <p:cNvSpPr/>
          <p:nvPr/>
        </p:nvSpPr>
        <p:spPr>
          <a:xfrm>
            <a:off x="4389120" y="1600200"/>
            <a:ext cx="502920" cy="594360"/>
          </a:xfrm>
          <a:prstGeom prst="roundRect">
            <a:avLst>
              <a:gd name="adj" fmla="val 9091"/>
            </a:avLst>
          </a:prstGeom>
          <a:solidFill>
            <a:srgbClr val="50808E"/>
          </a:solidFill>
          <a:ln/>
        </p:spPr>
      </p:sp>
      <p:sp>
        <p:nvSpPr>
          <p:cNvPr id="21" name="Text 19"/>
          <p:cNvSpPr txBox="1"/>
          <p:nvPr/>
        </p:nvSpPr>
        <p:spPr>
          <a:xfrm>
            <a:off x="438912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a:t>
            </a:r>
            <a:endParaRPr lang="tr-TR" sz="2000" dirty="0"/>
          </a:p>
        </p:txBody>
      </p:sp>
      <p:sp>
        <p:nvSpPr>
          <p:cNvPr id="22" name="Shape 20"/>
          <p:cNvSpPr/>
          <p:nvPr/>
        </p:nvSpPr>
        <p:spPr>
          <a:xfrm>
            <a:off x="4937760" y="1600200"/>
            <a:ext cx="502920" cy="594360"/>
          </a:xfrm>
          <a:prstGeom prst="roundRect">
            <a:avLst>
              <a:gd name="adj" fmla="val 9091"/>
            </a:avLst>
          </a:prstGeom>
          <a:solidFill>
            <a:srgbClr val="50808E"/>
          </a:solidFill>
          <a:ln/>
        </p:spPr>
      </p:sp>
      <p:sp>
        <p:nvSpPr>
          <p:cNvPr id="23" name="Text 21"/>
          <p:cNvSpPr txBox="1"/>
          <p:nvPr/>
        </p:nvSpPr>
        <p:spPr>
          <a:xfrm>
            <a:off x="493776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a:t>
            </a:r>
            <a:endParaRPr lang="tr-TR" sz="2000" dirty="0"/>
          </a:p>
        </p:txBody>
      </p:sp>
      <p:sp>
        <p:nvSpPr>
          <p:cNvPr id="24" name="Shape 22"/>
          <p:cNvSpPr/>
          <p:nvPr/>
        </p:nvSpPr>
        <p:spPr>
          <a:xfrm>
            <a:off x="5486400" y="1600200"/>
            <a:ext cx="502920" cy="594360"/>
          </a:xfrm>
          <a:prstGeom prst="roundRect">
            <a:avLst>
              <a:gd name="adj" fmla="val 9091"/>
            </a:avLst>
          </a:prstGeom>
          <a:solidFill>
            <a:srgbClr val="50808E"/>
          </a:solidFill>
          <a:ln/>
        </p:spPr>
      </p:sp>
      <p:sp>
        <p:nvSpPr>
          <p:cNvPr id="25" name="Text 23"/>
          <p:cNvSpPr txBox="1"/>
          <p:nvPr/>
        </p:nvSpPr>
        <p:spPr>
          <a:xfrm>
            <a:off x="5486400" y="1600200"/>
            <a:ext cx="502920" cy="594360"/>
          </a:xfrm>
          <a:prstGeom prst="rect">
            <a:avLst/>
          </a:prstGeom>
          <a:noFill/>
          <a:ln/>
        </p:spPr>
        <p:txBody>
          <a:bodyPr wrap="square" lIns="38100" tIns="38100" rIns="38100" bIns="38100" rtlCol="0" anchor="ctr"/>
          <a:lstStyle/>
          <a:p>
            <a:pPr algn="ctr" indent="0" marL="0">
              <a:buNone/>
            </a:pPr>
            <a:r>
              <a:rPr lang="tr-TR" sz="2000" b="1" dirty="0">
                <a:solidFill>
                  <a:srgbClr val="FFFFFF"/>
                </a:solidFill>
                <a:latin typeface="Consolas" pitchFamily="34" charset="0"/>
                <a:ea typeface="Consolas" pitchFamily="34" charset="-122"/>
                <a:cs typeface="Consolas" pitchFamily="34" charset="-120"/>
              </a:rPr>
              <a:t>-</a:t>
            </a:r>
            <a:endParaRPr lang="tr-TR" sz="2000" dirty="0"/>
          </a:p>
        </p:txBody>
      </p:sp>
      <p:sp>
        <p:nvSpPr>
          <p:cNvPr id="26" name="Text 24"/>
          <p:cNvSpPr txBox="1"/>
          <p:nvPr/>
        </p:nvSpPr>
        <p:spPr>
          <a:xfrm>
            <a:off x="457200" y="2240280"/>
            <a:ext cx="685800" cy="274320"/>
          </a:xfrm>
          <a:prstGeom prst="rect">
            <a:avLst/>
          </a:prstGeom>
          <a:noFill/>
          <a:ln/>
        </p:spPr>
        <p:txBody>
          <a:bodyPr wrap="square" lIns="0" tIns="0" rIns="0" bIns="0" rtlCol="0" anchor="t"/>
          <a:lstStyle/>
          <a:p>
            <a:pPr algn="ctr" indent="0" marL="0">
              <a:buNone/>
            </a:pPr>
            <a:r>
              <a:rPr lang="tr-TR" sz="1150" b="1" dirty="0">
                <a:solidFill>
                  <a:srgbClr val="36454F"/>
                </a:solidFill>
                <a:latin typeface="Calibri" pitchFamily="34" charset="0"/>
                <a:ea typeface="Calibri" pitchFamily="34" charset="-122"/>
                <a:cs typeface="Calibri" pitchFamily="34" charset="-120"/>
              </a:rPr>
              <a:t>tür</a:t>
            </a:r>
            <a:endParaRPr lang="tr-TR" sz="1150" dirty="0"/>
          </a:p>
        </p:txBody>
      </p:sp>
      <p:sp>
        <p:nvSpPr>
          <p:cNvPr id="27" name="Text 25"/>
          <p:cNvSpPr txBox="1"/>
          <p:nvPr/>
        </p:nvSpPr>
        <p:spPr>
          <a:xfrm>
            <a:off x="1097280" y="2240280"/>
            <a:ext cx="1600200" cy="274320"/>
          </a:xfrm>
          <a:prstGeom prst="rect">
            <a:avLst/>
          </a:prstGeom>
          <a:noFill/>
          <a:ln/>
        </p:spPr>
        <p:txBody>
          <a:bodyPr wrap="square" lIns="0" tIns="0" rIns="0" bIns="0" rtlCol="0" anchor="t"/>
          <a:lstStyle/>
          <a:p>
            <a:pPr algn="ctr" indent="0" marL="0">
              <a:buNone/>
            </a:pPr>
            <a:r>
              <a:rPr lang="tr-TR" sz="1150" b="1" dirty="0">
                <a:solidFill>
                  <a:srgbClr val="36454F"/>
                </a:solidFill>
                <a:latin typeface="Calibri" pitchFamily="34" charset="0"/>
                <a:ea typeface="Calibri" pitchFamily="34" charset="-122"/>
                <a:cs typeface="Calibri" pitchFamily="34" charset="-120"/>
              </a:rPr>
              <a:t>sahip (u)</a:t>
            </a:r>
            <a:endParaRPr lang="tr-TR" sz="1150" dirty="0"/>
          </a:p>
        </p:txBody>
      </p:sp>
      <p:sp>
        <p:nvSpPr>
          <p:cNvPr id="28" name="Text 26"/>
          <p:cNvSpPr txBox="1"/>
          <p:nvPr/>
        </p:nvSpPr>
        <p:spPr>
          <a:xfrm>
            <a:off x="2743200" y="2240280"/>
            <a:ext cx="1600200" cy="274320"/>
          </a:xfrm>
          <a:prstGeom prst="rect">
            <a:avLst/>
          </a:prstGeom>
          <a:noFill/>
          <a:ln/>
        </p:spPr>
        <p:txBody>
          <a:bodyPr wrap="square" lIns="0" tIns="0" rIns="0" bIns="0" rtlCol="0" anchor="t"/>
          <a:lstStyle/>
          <a:p>
            <a:pPr algn="ctr" indent="0" marL="0">
              <a:buNone/>
            </a:pPr>
            <a:r>
              <a:rPr lang="tr-TR" sz="1150" b="1" dirty="0">
                <a:solidFill>
                  <a:srgbClr val="36454F"/>
                </a:solidFill>
                <a:latin typeface="Calibri" pitchFamily="34" charset="0"/>
                <a:ea typeface="Calibri" pitchFamily="34" charset="-122"/>
                <a:cs typeface="Calibri" pitchFamily="34" charset="-120"/>
              </a:rPr>
              <a:t>grup (g)</a:t>
            </a:r>
            <a:endParaRPr lang="tr-TR" sz="1150" dirty="0"/>
          </a:p>
        </p:txBody>
      </p:sp>
      <p:sp>
        <p:nvSpPr>
          <p:cNvPr id="29" name="Text 27"/>
          <p:cNvSpPr txBox="1"/>
          <p:nvPr/>
        </p:nvSpPr>
        <p:spPr>
          <a:xfrm>
            <a:off x="4389120" y="2240280"/>
            <a:ext cx="1600200" cy="274320"/>
          </a:xfrm>
          <a:prstGeom prst="rect">
            <a:avLst/>
          </a:prstGeom>
          <a:noFill/>
          <a:ln/>
        </p:spPr>
        <p:txBody>
          <a:bodyPr wrap="square" lIns="0" tIns="0" rIns="0" bIns="0" rtlCol="0" anchor="t"/>
          <a:lstStyle/>
          <a:p>
            <a:pPr algn="ctr" indent="0" marL="0">
              <a:buNone/>
            </a:pPr>
            <a:r>
              <a:rPr lang="tr-TR" sz="1150" b="1" dirty="0">
                <a:solidFill>
                  <a:srgbClr val="36454F"/>
                </a:solidFill>
                <a:latin typeface="Calibri" pitchFamily="34" charset="0"/>
                <a:ea typeface="Calibri" pitchFamily="34" charset="-122"/>
                <a:cs typeface="Calibri" pitchFamily="34" charset="-120"/>
              </a:rPr>
              <a:t>diğerleri (o)</a:t>
            </a:r>
            <a:endParaRPr lang="tr-TR" sz="1150" dirty="0"/>
          </a:p>
        </p:txBody>
      </p:sp>
      <p:sp>
        <p:nvSpPr>
          <p:cNvPr id="30" name="Text 28"/>
          <p:cNvSpPr txBox="1"/>
          <p:nvPr/>
        </p:nvSpPr>
        <p:spPr>
          <a:xfrm>
            <a:off x="1097280" y="2560320"/>
            <a:ext cx="4937760" cy="292608"/>
          </a:xfrm>
          <a:prstGeom prst="rect">
            <a:avLst/>
          </a:prstGeom>
          <a:noFill/>
          <a:ln/>
        </p:spPr>
        <p:txBody>
          <a:bodyPr wrap="square" lIns="0" tIns="0" rIns="0" bIns="0" rtlCol="0" anchor="t"/>
          <a:lstStyle/>
          <a:p>
            <a:pPr algn="ctr" indent="0" marL="0">
              <a:buNone/>
            </a:pPr>
            <a:r>
              <a:rPr lang="tr-TR" sz="1300" b="1" dirty="0">
                <a:solidFill>
                  <a:srgbClr val="028090"/>
                </a:solidFill>
                <a:latin typeface="Calibri" pitchFamily="34" charset="0"/>
                <a:ea typeface="Calibri" pitchFamily="34" charset="-122"/>
                <a:cs typeface="Calibri" pitchFamily="34" charset="-120"/>
              </a:rPr>
              <a:t>7 = 4+2+1     5 = 4+0+1     0</a:t>
            </a:r>
            <a:endParaRPr lang="tr-TR" sz="1300" dirty="0"/>
          </a:p>
        </p:txBody>
      </p:sp>
      <p:sp>
        <p:nvSpPr>
          <p:cNvPr id="31" name="Shape 29"/>
          <p:cNvSpPr/>
          <p:nvPr/>
        </p:nvSpPr>
        <p:spPr>
          <a:xfrm>
            <a:off x="548640" y="3017520"/>
            <a:ext cx="5486400" cy="3246120"/>
          </a:xfrm>
          <a:prstGeom prst="roundRect">
            <a:avLst>
              <a:gd name="adj" fmla="val 1690"/>
            </a:avLst>
          </a:prstGeom>
          <a:solidFill>
            <a:srgbClr val="F2F2F2"/>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777240" y="3200400"/>
            <a:ext cx="5029200" cy="2926080"/>
          </a:xfrm>
          <a:prstGeom prst="rect">
            <a:avLst/>
          </a:prstGeom>
          <a:noFill/>
          <a:ln/>
        </p:spPr>
        <p:txBody>
          <a:bodyPr wrap="square" lIns="0" tIns="0" rIns="0" bIns="0" rtlCol="0" anchor="t"/>
          <a:lstStyle/>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r = 4, w = 2, x = 1:</a:t>
            </a:r>
            <a:r>
              <a:rPr lang="tr-TR" sz="1500" dirty="0">
                <a:solidFill>
                  <a:srgbClr val="3A464C"/>
                </a:solidFill>
                <a:latin typeface="Calibri" pitchFamily="34" charset="0"/>
                <a:ea typeface="Calibri" pitchFamily="34" charset="-122"/>
                <a:cs typeface="Calibri" pitchFamily="34" charset="-120"/>
              </a:rPr>
              <a:t> rwxr-x--- = 750.</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Dizinler:</a:t>
            </a:r>
            <a:r>
              <a:rPr lang="tr-TR" sz="1500" dirty="0">
                <a:solidFill>
                  <a:srgbClr val="3A464C"/>
                </a:solidFill>
                <a:latin typeface="Calibri" pitchFamily="34" charset="0"/>
                <a:ea typeface="Calibri" pitchFamily="34" charset="-122"/>
                <a:cs typeface="Calibri" pitchFamily="34" charset="-120"/>
              </a:rPr>
              <a:t> r listele, w girdi oluştur/sil, x içine gir (cd).</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Sembolik:</a:t>
            </a:r>
            <a:r>
              <a:rPr lang="tr-TR" sz="1500" dirty="0">
                <a:solidFill>
                  <a:srgbClr val="3A464C"/>
                </a:solidFill>
                <a:latin typeface="Calibri" pitchFamily="34" charset="0"/>
                <a:ea typeface="Calibri" pitchFamily="34" charset="-122"/>
                <a:cs typeface="Calibri" pitchFamily="34" charset="-120"/>
              </a:rPr>
              <a:t> chmod u+x, go-w, a=r, g-x,o+r.</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umask:</a:t>
            </a:r>
            <a:r>
              <a:rPr lang="tr-TR" sz="1500" dirty="0">
                <a:solidFill>
                  <a:srgbClr val="3A464C"/>
                </a:solidFill>
                <a:latin typeface="Calibri" pitchFamily="34" charset="0"/>
                <a:ea typeface="Calibri" pitchFamily="34" charset="-122"/>
                <a:cs typeface="Calibri" pitchFamily="34" charset="-120"/>
              </a:rPr>
              <a:t> 666 (dosya) / 777 (dizin) içinden bit siler: mod AND NOT umask; umask 027 → 640 / 750.</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Yalnızca root:</a:t>
            </a:r>
            <a:r>
              <a:rPr lang="tr-TR" sz="1500" dirty="0">
                <a:solidFill>
                  <a:srgbClr val="3A464C"/>
                </a:solidFill>
                <a:latin typeface="Calibri" pitchFamily="34" charset="0"/>
                <a:ea typeface="Calibri" pitchFamily="34" charset="-122"/>
                <a:cs typeface="Calibri" pitchFamily="34" charset="-120"/>
              </a:rPr>
              <a:t> chown, chgrp; sudo tek bir komutu root olarak çalıştırır — önce düşünün.</a:t>
            </a:r>
            <a:endParaRPr lang="tr-TR" sz="1500" dirty="0"/>
          </a:p>
        </p:txBody>
      </p:sp>
      <p:sp>
        <p:nvSpPr>
          <p:cNvPr id="33" name="Shape 31"/>
          <p:cNvSpPr/>
          <p:nvPr/>
        </p:nvSpPr>
        <p:spPr>
          <a:xfrm>
            <a:off x="6263640" y="1508760"/>
            <a:ext cx="5394960" cy="4754880"/>
          </a:xfrm>
          <a:prstGeom prst="roundRect">
            <a:avLst>
              <a:gd name="adj" fmla="val 962"/>
            </a:avLst>
          </a:prstGeom>
          <a:solidFill>
            <a:srgbClr val="212121"/>
          </a:solidFill>
          <a:ln/>
        </p:spPr>
      </p:sp>
      <p:sp>
        <p:nvSpPr>
          <p:cNvPr id="34" name="Text 32"/>
          <p:cNvSpPr txBox="1"/>
          <p:nvPr/>
        </p:nvSpPr>
        <p:spPr>
          <a:xfrm>
            <a:off x="6446520" y="1618488"/>
            <a:ext cx="5029200" cy="4535424"/>
          </a:xfrm>
          <a:prstGeom prst="rect">
            <a:avLst/>
          </a:prstGeom>
          <a:noFill/>
          <a:ln/>
        </p:spPr>
        <p:txBody>
          <a:bodyPr wrap="square" lIns="0" tIns="0" rIns="0" bIns="0" rtlCol="0" anchor="t"/>
          <a:lstStyle/>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id</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uid=1015(student) gid=1017(student) groups=1017(student)</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touch scripts/run.sh</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ls -l scripts/run.sh</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-rw-rw-r-- 1 student student 0 Oct 12 08:50 scripts/run.sh</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chmod 750 scripts/run.sh</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ls -l scripts/run.sh</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-rwxr-x--- 1 student student 0 Oct 12 08:50 scripts/run.sh</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chmod g-x,o+r scripts/run.sh</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ls -l scripts/run.sh</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-rwxr--r-- 1 student student 0 Oct 12 08:50 scripts/run.sh</a:t>
            </a:r>
            <a:endParaRPr lang="tr-TR" sz="1050" dirty="0"/>
          </a:p>
          <a:p>
            <a:pPr indent="0" marL="0">
              <a:lnSpc>
                <a:spcPct val="105000"/>
              </a:lnSpc>
              <a:buNone/>
            </a:pPr>
            <a:r>
              <a:rPr lang="tr-TR" sz="1050" dirty="0">
                <a:solidFill>
                  <a:srgbClr val="02C39A"/>
                </a:solidFill>
                <a:latin typeface="Consolas" pitchFamily="34" charset="0"/>
                <a:ea typeface="Consolas" pitchFamily="34" charset="-122"/>
                <a:cs typeface="Consolas" pitchFamily="34" charset="-120"/>
              </a:rPr>
              <a:t>student@okan-lab:~/lab$ umask</a:t>
            </a:r>
            <a:endParaRPr lang="tr-TR" sz="1050" dirty="0"/>
          </a:p>
          <a:p>
            <a:pPr indent="0" marL="0">
              <a:lnSpc>
                <a:spcPct val="105000"/>
              </a:lnSpc>
              <a:buNone/>
            </a:pPr>
            <a:r>
              <a:rPr lang="tr-TR" sz="1050" dirty="0">
                <a:solidFill>
                  <a:srgbClr val="F2F2F2"/>
                </a:solidFill>
                <a:latin typeface="Consolas" pitchFamily="34" charset="0"/>
                <a:ea typeface="Consolas" pitchFamily="34" charset="-122"/>
                <a:cs typeface="Consolas" pitchFamily="34" charset="-120"/>
              </a:rPr>
              <a:t>0002</a:t>
            </a:r>
            <a:endParaRPr lang="tr-TR"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12.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Akışlar, Yönlendirme ve Borular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21</a:t>
            </a:r>
            <a:endParaRPr lang="tr-TR" sz="900" dirty="0"/>
          </a:p>
        </p:txBody>
      </p:sp>
      <p:sp>
        <p:nvSpPr>
          <p:cNvPr id="6" name="Shape 4"/>
          <p:cNvSpPr/>
          <p:nvPr/>
        </p:nvSpPr>
        <p:spPr>
          <a:xfrm>
            <a:off x="548640" y="1508760"/>
            <a:ext cx="475488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2976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Kurallar</a:t>
            </a:r>
            <a:endParaRPr lang="tr-TR" sz="1500" dirty="0"/>
          </a:p>
        </p:txBody>
      </p:sp>
      <p:sp>
        <p:nvSpPr>
          <p:cNvPr id="8" name="Text 6"/>
          <p:cNvSpPr txBox="1"/>
          <p:nvPr/>
        </p:nvSpPr>
        <p:spPr>
          <a:xfrm>
            <a:off x="777240" y="2148840"/>
            <a:ext cx="4297680" cy="3977640"/>
          </a:xfrm>
          <a:prstGeom prst="rect">
            <a:avLst/>
          </a:prstGeom>
          <a:noFill/>
          <a:ln/>
        </p:spPr>
        <p:txBody>
          <a:bodyPr wrap="square" lIns="0" tIns="0" rIns="0" bIns="0" rtlCol="0" anchor="t"/>
          <a:lstStyle/>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fd 0 / 1 / 2:</a:t>
            </a:r>
            <a:r>
              <a:rPr lang="tr-TR" sz="1500" dirty="0">
                <a:solidFill>
                  <a:srgbClr val="3A464C"/>
                </a:solidFill>
                <a:latin typeface="Calibri" pitchFamily="34" charset="0"/>
                <a:ea typeface="Calibri" pitchFamily="34" charset="-122"/>
                <a:cs typeface="Calibri" pitchFamily="34" charset="-120"/>
              </a:rPr>
              <a:t> standart girdi, standart çıktı, standart hata (2. hafta: write(1, …)).</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&gt; dosya</a:t>
            </a:r>
            <a:r>
              <a:rPr lang="tr-TR" sz="1500" dirty="0">
                <a:solidFill>
                  <a:srgbClr val="3A464C"/>
                </a:solidFill>
                <a:latin typeface="Calibri" pitchFamily="34" charset="0"/>
                <a:ea typeface="Calibri" pitchFamily="34" charset="-122"/>
                <a:cs typeface="Calibri" pitchFamily="34" charset="-120"/>
              </a:rPr>
              <a:t> üzerine yaz,  &gt;&gt; sona ekle,  &lt; girdi.</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2&gt; dosya</a:t>
            </a:r>
            <a:r>
              <a:rPr lang="tr-TR" sz="1500" dirty="0">
                <a:solidFill>
                  <a:srgbClr val="3A464C"/>
                </a:solidFill>
                <a:latin typeface="Calibri" pitchFamily="34" charset="0"/>
                <a:ea typeface="Calibri" pitchFamily="34" charset="-122"/>
                <a:cs typeface="Calibri" pitchFamily="34" charset="-120"/>
              </a:rPr>
              <a:t> yalnızca hatalar;  2&gt;&amp;1 hatalar stdout'un gittiği yere;  &amp;&gt; ikisi birden;  &gt; /dev/null at.</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a | b:</a:t>
            </a:r>
            <a:r>
              <a:rPr lang="tr-TR" sz="1500" dirty="0">
                <a:solidFill>
                  <a:srgbClr val="3A464C"/>
                </a:solidFill>
                <a:latin typeface="Calibri" pitchFamily="34" charset="0"/>
                <a:ea typeface="Calibri" pitchFamily="34" charset="-122"/>
                <a:cs typeface="Calibri" pitchFamily="34" charset="-120"/>
              </a:rPr>
              <a:t> a'nın stdout'u b'nin stdin'i olur; iki süreci de kabuk oluşturur (3. hafta).</a:t>
            </a:r>
            <a:endParaRPr lang="tr-TR" sz="1500" dirty="0"/>
          </a:p>
          <a:p>
            <a:pPr marL="228600" indent="-228600">
              <a:spcAft>
                <a:spcPts val="400"/>
              </a:spcAft>
              <a:buSzPct val="100000"/>
              <a:buChar char="•"/>
            </a:pPr>
            <a:r>
              <a:rPr lang="tr-TR" sz="1500" b="1" dirty="0">
                <a:solidFill>
                  <a:srgbClr val="3A464C"/>
                </a:solidFill>
                <a:latin typeface="Calibri" pitchFamily="34" charset="0"/>
                <a:ea typeface="Calibri" pitchFamily="34" charset="-122"/>
                <a:cs typeface="Calibri" pitchFamily="34" charset="-120"/>
              </a:rPr>
              <a:t>uniq -c</a:t>
            </a:r>
            <a:r>
              <a:rPr lang="tr-TR" sz="1500" dirty="0">
                <a:solidFill>
                  <a:srgbClr val="3A464C"/>
                </a:solidFill>
                <a:latin typeface="Calibri" pitchFamily="34" charset="0"/>
                <a:ea typeface="Calibri" pitchFamily="34" charset="-122"/>
                <a:cs typeface="Calibri" pitchFamily="34" charset="-120"/>
              </a:rPr>
              <a:t> yalnızca ARDIŞIK tekrarları sayar: önce sort.</a:t>
            </a:r>
            <a:endParaRPr lang="tr-TR" sz="1500" dirty="0"/>
          </a:p>
        </p:txBody>
      </p:sp>
      <p:sp>
        <p:nvSpPr>
          <p:cNvPr id="9" name="Shape 7"/>
          <p:cNvSpPr/>
          <p:nvPr/>
        </p:nvSpPr>
        <p:spPr>
          <a:xfrm>
            <a:off x="5532120" y="1508760"/>
            <a:ext cx="6126480" cy="4754880"/>
          </a:xfrm>
          <a:prstGeom prst="roundRect">
            <a:avLst>
              <a:gd name="adj" fmla="val 962"/>
            </a:avLst>
          </a:prstGeom>
          <a:solidFill>
            <a:srgbClr val="212121"/>
          </a:solidFill>
          <a:ln/>
        </p:spPr>
      </p:sp>
      <p:sp>
        <p:nvSpPr>
          <p:cNvPr id="10" name="Text 8"/>
          <p:cNvSpPr txBox="1"/>
          <p:nvPr/>
        </p:nvSpPr>
        <p:spPr>
          <a:xfrm>
            <a:off x="5715000" y="1618488"/>
            <a:ext cx="5760720" cy="4535424"/>
          </a:xfrm>
          <a:prstGeom prst="rect">
            <a:avLst/>
          </a:prstGeom>
          <a:noFill/>
          <a:ln/>
        </p:spPr>
        <p:txBody>
          <a:bodyPr wrap="square" lIns="0" tIns="0" rIns="0" bIns="0" rtlCol="0" anchor="t"/>
          <a:lstStyle/>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grep -c ERROR logs/system.log</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13</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cut -d' ' -f9 logs/access.log |</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    sort | uniq -c | sort -rn</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148 200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57 404</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34 304</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24 500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20 301</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17 403</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ls nosuchfile 2&gt; errors.txt</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cat errors.txt</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ls: cannot access 'nosuchfile': No such file or directory</a:t>
            </a:r>
            <a:endParaRPr lang="tr-TR"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13.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Süreçler, İşler ve Sinyaller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22</a:t>
            </a:r>
            <a:endParaRPr lang="tr-TR"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120640" cy="914400"/>
        </p:xfrm>
        <a:graphic>
          <a:graphicData uri="http://schemas.openxmlformats.org/drawingml/2006/table">
            <a:tbl>
              <a:tblPr/>
              <a:tblGrid>
                <a:gridCol w="1325880"/>
                <a:gridCol w="640080"/>
                <a:gridCol w="3154680"/>
              </a:tblGrid>
              <a:tr h="384048">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Sinyal</a:t>
                      </a:r>
                      <a:endParaRPr lang="tr-TR"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No.</a:t>
                      </a:r>
                      <a:endParaRPr lang="tr-TR"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350" b="1" dirty="0">
                          <a:solidFill>
                            <a:srgbClr val="FFFFFF"/>
                          </a:solidFill>
                          <a:latin typeface="Cambria" pitchFamily="34" charset="0"/>
                          <a:ea typeface="Cambria" pitchFamily="34" charset="-122"/>
                          <a:cs typeface="Cambria" pitchFamily="34" charset="-120"/>
                        </a:rPr>
                        <a:t>Anlamı</a:t>
                      </a:r>
                      <a:endParaRPr lang="tr-TR" sz="1350" dirty="0">
                        <a:latin typeface="Cambria" charset="0"/>
                        <a:ea typeface="Cambria" charset="0"/>
                        <a:cs typeface="Cambria"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384048">
                <a:tc>
                  <a:txBody>
                    <a:bodyPr/>
                    <a:lstStyle/>
                    <a:p>
                      <a:pPr indent="0" marL="0">
                        <a:buNone/>
                      </a:pPr>
                      <a:r>
                        <a:rPr lang="tr-TR" sz="1450" b="1" dirty="0">
                          <a:solidFill>
                            <a:srgbClr val="3A464C"/>
                          </a:solidFill>
                          <a:latin typeface="Consolas" pitchFamily="34" charset="0"/>
                          <a:ea typeface="Consolas" pitchFamily="34" charset="-122"/>
                          <a:cs typeface="Consolas" pitchFamily="34" charset="-120"/>
                        </a:rPr>
                        <a:t>SIGINT</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onsolas" pitchFamily="34" charset="0"/>
                          <a:ea typeface="Consolas" pitchFamily="34" charset="-122"/>
                          <a:cs typeface="Consolas" pitchFamily="34" charset="-120"/>
                        </a:rPr>
                        <a:t>2</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Ctrl+C: kesme</a:t>
                      </a:r>
                      <a:endParaRPr lang="tr-TR"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indent="0" marL="0">
                        <a:buNone/>
                      </a:pPr>
                      <a:r>
                        <a:rPr lang="tr-TR" sz="1450" b="1" dirty="0">
                          <a:solidFill>
                            <a:srgbClr val="3A464C"/>
                          </a:solidFill>
                          <a:latin typeface="Consolas" pitchFamily="34" charset="0"/>
                          <a:ea typeface="Consolas" pitchFamily="34" charset="-122"/>
                          <a:cs typeface="Consolas" pitchFamily="34" charset="-120"/>
                        </a:rPr>
                        <a:t>SIGTERM</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onsolas" pitchFamily="34" charset="0"/>
                          <a:ea typeface="Consolas" pitchFamily="34" charset="-122"/>
                          <a:cs typeface="Consolas" pitchFamily="34" charset="-120"/>
                        </a:rPr>
                        <a:t>15</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kill varsayılanı: lütfen dur</a:t>
                      </a:r>
                      <a:endParaRPr lang="tr-TR"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384048">
                <a:tc>
                  <a:txBody>
                    <a:bodyPr/>
                    <a:lstStyle/>
                    <a:p>
                      <a:pPr indent="0" marL="0">
                        <a:buNone/>
                      </a:pPr>
                      <a:r>
                        <a:rPr lang="tr-TR" sz="1450" b="1" dirty="0">
                          <a:solidFill>
                            <a:srgbClr val="3A464C"/>
                          </a:solidFill>
                          <a:latin typeface="Consolas" pitchFamily="34" charset="0"/>
                          <a:ea typeface="Consolas" pitchFamily="34" charset="-122"/>
                          <a:cs typeface="Consolas" pitchFamily="34" charset="-120"/>
                        </a:rPr>
                        <a:t>SIGKILL</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onsolas" pitchFamily="34" charset="0"/>
                          <a:ea typeface="Consolas" pitchFamily="34" charset="-122"/>
                          <a:cs typeface="Consolas" pitchFamily="34" charset="-120"/>
                        </a:rPr>
                        <a:t>9</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kill -9: yakalanamaz</a:t>
                      </a:r>
                      <a:endParaRPr lang="tr-TR"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384048">
                <a:tc>
                  <a:txBody>
                    <a:bodyPr/>
                    <a:lstStyle/>
                    <a:p>
                      <a:pPr indent="0" marL="0">
                        <a:buNone/>
                      </a:pPr>
                      <a:r>
                        <a:rPr lang="tr-TR" sz="1450" b="1" dirty="0">
                          <a:solidFill>
                            <a:srgbClr val="3A464C"/>
                          </a:solidFill>
                          <a:latin typeface="Consolas" pitchFamily="34" charset="0"/>
                          <a:ea typeface="Consolas" pitchFamily="34" charset="-122"/>
                          <a:cs typeface="Consolas" pitchFamily="34" charset="-120"/>
                        </a:rPr>
                        <a:t>SIGSTOP</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onsolas" pitchFamily="34" charset="0"/>
                          <a:ea typeface="Consolas" pitchFamily="34" charset="-122"/>
                          <a:cs typeface="Consolas" pitchFamily="34" charset="-120"/>
                        </a:rPr>
                        <a:t>19</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duraklat; yakalanamaz</a:t>
                      </a:r>
                      <a:endParaRPr lang="tr-TR"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384048">
                <a:tc>
                  <a:txBody>
                    <a:bodyPr/>
                    <a:lstStyle/>
                    <a:p>
                      <a:pPr indent="0" marL="0">
                        <a:buNone/>
                      </a:pPr>
                      <a:r>
                        <a:rPr lang="tr-TR" sz="1450" b="1" dirty="0">
                          <a:solidFill>
                            <a:srgbClr val="3A464C"/>
                          </a:solidFill>
                          <a:latin typeface="Consolas" pitchFamily="34" charset="0"/>
                          <a:ea typeface="Consolas" pitchFamily="34" charset="-122"/>
                          <a:cs typeface="Consolas" pitchFamily="34" charset="-120"/>
                        </a:rPr>
                        <a:t>SIGCONT</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onsolas" pitchFamily="34" charset="0"/>
                          <a:ea typeface="Consolas" pitchFamily="34" charset="-122"/>
                          <a:cs typeface="Consolas" pitchFamily="34" charset="-120"/>
                        </a:rPr>
                        <a:t>18</a:t>
                      </a:r>
                      <a:endParaRPr lang="tr-TR" sz="1450" dirty="0">
                        <a:latin typeface="Consolas" charset="0"/>
                        <a:ea typeface="Consolas" charset="0"/>
                        <a:cs typeface="Consolas"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450" dirty="0">
                          <a:solidFill>
                            <a:srgbClr val="3A464C"/>
                          </a:solidFill>
                          <a:latin typeface="Calibri" pitchFamily="34" charset="0"/>
                          <a:ea typeface="Calibri" pitchFamily="34" charset="-122"/>
                          <a:cs typeface="Calibri" pitchFamily="34" charset="-120"/>
                        </a:rPr>
                        <a:t>devam et (fg / bg)</a:t>
                      </a:r>
                      <a:endParaRPr lang="tr-TR" sz="1450" dirty="0">
                        <a:latin typeface="Calibri" charset="0"/>
                        <a:ea typeface="Calibri" charset="0"/>
                        <a:cs typeface="Calibri" charset="0"/>
                      </a:endParaRPr>
                    </a:p>
                  </a:txBody>
                  <a:tcPr marL="76200" marR="76200" marT="50800" marB="508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3886200"/>
            <a:ext cx="512064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sp>
      <p:sp>
        <p:nvSpPr>
          <p:cNvPr id="8" name="Text 5"/>
          <p:cNvSpPr txBox="1"/>
          <p:nvPr/>
        </p:nvSpPr>
        <p:spPr>
          <a:xfrm>
            <a:off x="777240" y="4069080"/>
            <a:ext cx="4663440" cy="2057400"/>
          </a:xfrm>
          <a:prstGeom prst="rect">
            <a:avLst/>
          </a:prstGeom>
          <a:noFill/>
          <a:ln/>
        </p:spPr>
        <p:txBody>
          <a:bodyPr wrap="square" lIns="0" tIns="0" rIns="0" bIns="0" rtlCol="0" anchor="t"/>
          <a:lstStyle/>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İşler:</a:t>
            </a:r>
            <a:r>
              <a:rPr lang="tr-TR" sz="1450" dirty="0">
                <a:solidFill>
                  <a:srgbClr val="3A464C"/>
                </a:solidFill>
                <a:latin typeface="Calibri" pitchFamily="34" charset="0"/>
                <a:ea typeface="Calibri" pitchFamily="34" charset="-122"/>
                <a:cs typeface="Calibri" pitchFamily="34" charset="-120"/>
              </a:rPr>
              <a:t> komut &amp; (arka plan), jobs, fg %1, bg %1, Ctrl+Z (SIGTSTP), kill %1.</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Bakmak:</a:t>
            </a:r>
            <a:r>
              <a:rPr lang="tr-TR" sz="1450" dirty="0">
                <a:solidFill>
                  <a:srgbClr val="3A464C"/>
                </a:solidFill>
                <a:latin typeface="Calibri" pitchFamily="34" charset="0"/>
                <a:ea typeface="Calibri" pitchFamily="34" charset="-122"/>
                <a:cs typeface="Calibri" pitchFamily="34" charset="-120"/>
              </a:rPr>
              <a:t> ps, ps -ef, ps aux, pstree, top; STAT R S T Z (3. hafta durumları).</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Öncelik:</a:t>
            </a:r>
            <a:r>
              <a:rPr lang="tr-TR" sz="1450" dirty="0">
                <a:solidFill>
                  <a:srgbClr val="3A464C"/>
                </a:solidFill>
                <a:latin typeface="Calibri" pitchFamily="34" charset="0"/>
                <a:ea typeface="Calibri" pitchFamily="34" charset="-122"/>
                <a:cs typeface="Calibri" pitchFamily="34" charset="-120"/>
              </a:rPr>
              <a:t> nice −20 … 19; yalnızca root düşürebilir (5. hafta).</a:t>
            </a:r>
            <a:endParaRPr lang="tr-TR" sz="1450" dirty="0"/>
          </a:p>
          <a:p>
            <a:pPr marL="228600" indent="-228600">
              <a:spcAft>
                <a:spcPts val="400"/>
              </a:spcAft>
              <a:buSzPct val="100000"/>
              <a:buChar char="•"/>
            </a:pPr>
            <a:r>
              <a:rPr lang="tr-TR" sz="1450" b="1" dirty="0">
                <a:solidFill>
                  <a:srgbClr val="3A464C"/>
                </a:solidFill>
                <a:latin typeface="Calibri" pitchFamily="34" charset="0"/>
                <a:ea typeface="Calibri" pitchFamily="34" charset="-122"/>
                <a:cs typeface="Calibri" pitchFamily="34" charset="-120"/>
              </a:rPr>
              <a:t>$$</a:t>
            </a:r>
            <a:r>
              <a:rPr lang="tr-TR" sz="1450" dirty="0">
                <a:solidFill>
                  <a:srgbClr val="3A464C"/>
                </a:solidFill>
                <a:latin typeface="Calibri" pitchFamily="34" charset="0"/>
                <a:ea typeface="Calibri" pitchFamily="34" charset="-122"/>
                <a:cs typeface="Calibri" pitchFamily="34" charset="-120"/>
              </a:rPr>
              <a:t> kabuğun PID'i, $! son arka plan işinin PID'i.</a:t>
            </a:r>
            <a:endParaRPr lang="tr-TR" sz="1450" dirty="0"/>
          </a:p>
        </p:txBody>
      </p:sp>
      <p:sp>
        <p:nvSpPr>
          <p:cNvPr id="9" name="Shape 6"/>
          <p:cNvSpPr/>
          <p:nvPr/>
        </p:nvSpPr>
        <p:spPr>
          <a:xfrm>
            <a:off x="5897880" y="1508760"/>
            <a:ext cx="5760720" cy="4754880"/>
          </a:xfrm>
          <a:prstGeom prst="roundRect">
            <a:avLst>
              <a:gd name="adj" fmla="val 962"/>
            </a:avLst>
          </a:prstGeom>
          <a:solidFill>
            <a:srgbClr val="212121"/>
          </a:solidFill>
          <a:ln/>
        </p:spPr>
      </p:sp>
      <p:sp>
        <p:nvSpPr>
          <p:cNvPr id="10" name="Text 7"/>
          <p:cNvSpPr txBox="1"/>
          <p:nvPr/>
        </p:nvSpPr>
        <p:spPr>
          <a:xfrm>
            <a:off x="6080760" y="1618488"/>
            <a:ext cx="5394960" cy="4535424"/>
          </a:xfrm>
          <a:prstGeom prst="rect">
            <a:avLst/>
          </a:prstGeom>
          <a:noFill/>
          <a:ln/>
        </p:spPr>
        <p:txBody>
          <a:bodyPr wrap="square" lIns="0" tIns="0" rIns="0" bIns="0" rtlCol="0" anchor="t"/>
          <a:lstStyle/>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sleep 600 &amp;</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echo $!</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23441</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jobs</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[1]+  Running                 sleep 600 &amp;</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ps -o pid,ppid,stat,cmd</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PID  PPID STAT CMD</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23361 23360 Ss+  bash /home/student/w15/demo_recap.sh</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23441 23361 S+   sleep 600</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23445 23361 R+   ps -o pid,ppid,stat,cmd</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kill %1</a:t>
            </a:r>
            <a:endParaRPr lang="tr-TR" sz="1200" dirty="0"/>
          </a:p>
          <a:p>
            <a:pPr indent="0" marL="0">
              <a:lnSpc>
                <a:spcPct val="105000"/>
              </a:lnSpc>
              <a:buNone/>
            </a:pPr>
            <a:r>
              <a:rPr lang="tr-TR" sz="1200" dirty="0">
                <a:solidFill>
                  <a:srgbClr val="02C39A"/>
                </a:solidFill>
                <a:latin typeface="Consolas" pitchFamily="34" charset="0"/>
                <a:ea typeface="Consolas" pitchFamily="34" charset="-122"/>
                <a:cs typeface="Consolas" pitchFamily="34" charset="-120"/>
              </a:rPr>
              <a:t>student@okan-lab:~/lab$ kill -l TERM KILL INT STOP CONT</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15</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9</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2</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19</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18</a:t>
            </a:r>
            <a:endParaRPr lang="tr-TR"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14.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Kabuk Betikleri: Yapı Taşları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23</a:t>
            </a:r>
            <a:endParaRPr lang="tr-TR" sz="900" dirty="0"/>
          </a:p>
        </p:txBody>
      </p:sp>
      <p:sp>
        <p:nvSpPr>
          <p:cNvPr id="6" name="Shape 4"/>
          <p:cNvSpPr/>
          <p:nvPr/>
        </p:nvSpPr>
        <p:spPr>
          <a:xfrm>
            <a:off x="548640" y="1508760"/>
            <a:ext cx="5120640" cy="4754880"/>
          </a:xfrm>
          <a:prstGeom prst="roundRect">
            <a:avLst>
              <a:gd name="adj" fmla="val 962"/>
            </a:avLst>
          </a:prstGeom>
          <a:solidFill>
            <a:srgbClr val="212121"/>
          </a:solidFill>
          <a:ln/>
        </p:spPr>
      </p:sp>
      <p:sp>
        <p:nvSpPr>
          <p:cNvPr id="7" name="Text 5"/>
          <p:cNvSpPr txBox="1"/>
          <p:nvPr/>
        </p:nvSpPr>
        <p:spPr>
          <a:xfrm>
            <a:off x="731520" y="1618488"/>
            <a:ext cx="4754880" cy="4535424"/>
          </a:xfrm>
          <a:prstGeom prst="rect">
            <a:avLst/>
          </a:prstGeom>
          <a:noFill/>
          <a:ln/>
        </p:spPr>
        <p:txBody>
          <a:bodyPr wrap="square" lIns="0" tIns="0" rIns="0" bIns="0" rtlCol="0" anchor="t"/>
          <a:lstStyle/>
          <a:p>
            <a:pPr indent="0" marL="0">
              <a:lnSpc>
                <a:spcPct val="105000"/>
              </a:lnSpc>
              <a:buNone/>
            </a:pPr>
            <a:r>
              <a:rPr lang="tr-TR" sz="1200" dirty="0">
                <a:solidFill>
                  <a:srgbClr val="8A9AA0"/>
                </a:solidFill>
                <a:latin typeface="Consolas" pitchFamily="34" charset="0"/>
                <a:ea typeface="Consolas" pitchFamily="34" charset="-122"/>
                <a:cs typeface="Consolas" pitchFamily="34" charset="-120"/>
              </a:rPr>
              <a:t>#!/bin/bash</a:t>
            </a:r>
            <a:endParaRPr lang="tr-TR" sz="1200" dirty="0"/>
          </a:p>
          <a:p>
            <a:pPr indent="0" marL="0">
              <a:lnSpc>
                <a:spcPct val="105000"/>
              </a:lnSpc>
              <a:buNone/>
            </a:pPr>
            <a:r>
              <a:rPr lang="tr-TR" sz="1200" dirty="0">
                <a:solidFill>
                  <a:srgbClr val="8A9AA0"/>
                </a:solidFill>
                <a:latin typeface="Consolas" pitchFamily="34" charset="0"/>
                <a:ea typeface="Consolas" pitchFamily="34" charset="-122"/>
                <a:cs typeface="Consolas" pitchFamily="34" charset="-120"/>
              </a:rPr>
              <a:t># her sınav betiğinin iskeleti</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if [ $# -ne 1 ]; then           # argüman denetimi</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echo "usage: $0 ARG" &gt;&amp;2</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exit 1</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fi</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count=0                         # = boşluksuz</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for f in "$1"/*; do             # dosya döngüsü</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if [ -f "$f" ]; then        # sınama: -f -d -e</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count=$((count + 1))    # aritmetik</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    fi</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done</a:t>
            </a:r>
            <a:endParaRPr lang="tr-TR" sz="1200" dirty="0"/>
          </a:p>
          <a:p>
            <a:pPr indent="0" marL="0">
              <a:lnSpc>
                <a:spcPct val="105000"/>
              </a:lnSpc>
              <a:buNone/>
            </a:pPr>
            <a:r>
              <a:rPr lang="tr-TR" sz="1200" dirty="0">
                <a:solidFill>
                  <a:srgbClr val="F2F2F2"/>
                </a:solidFill>
                <a:latin typeface="Consolas" pitchFamily="34" charset="0"/>
                <a:ea typeface="Consolas" pitchFamily="34" charset="-122"/>
                <a:cs typeface="Consolas" pitchFamily="34" charset="-120"/>
              </a:rPr>
              <a:t>echo "$count files in $1"</a:t>
            </a:r>
            <a:endParaRPr lang="tr-TR" sz="1200" dirty="0"/>
          </a:p>
        </p:txBody>
      </p:sp>
      <p:sp>
        <p:nvSpPr>
          <p:cNvPr id="8" name="Shape 6"/>
          <p:cNvSpPr/>
          <p:nvPr/>
        </p:nvSpPr>
        <p:spPr>
          <a:xfrm>
            <a:off x="5897880" y="1508760"/>
            <a:ext cx="5760720" cy="3291840"/>
          </a:xfrm>
          <a:prstGeom prst="roundRect">
            <a:avLst>
              <a:gd name="adj" fmla="val 1389"/>
            </a:avLst>
          </a:prstGeom>
          <a:solidFill>
            <a:srgbClr val="212121"/>
          </a:solidFill>
          <a:ln/>
        </p:spPr>
      </p:sp>
      <p:sp>
        <p:nvSpPr>
          <p:cNvPr id="9" name="Text 7"/>
          <p:cNvSpPr txBox="1"/>
          <p:nvPr/>
        </p:nvSpPr>
        <p:spPr>
          <a:xfrm>
            <a:off x="6080760" y="1618488"/>
            <a:ext cx="5394960" cy="307238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name=student; echo "Hello $name"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Hello student</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echo 'Hello $name'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Hello $name</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echo "2^10 = $((2 ** 10))"</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2^10 = 1024</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n=$(wc -l &lt; data/students.csv);</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echo "students.csv has $n lines"</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students.csv has 41 lines</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 -d logs ] &amp;&amp; echo "logs is a</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directory"</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logs is a directory</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for c in 1 2 3; do echo "item $c";</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    done</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item 1</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item 2</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item 3</a:t>
            </a:r>
            <a:endParaRPr lang="tr-TR" sz="1150" dirty="0"/>
          </a:p>
        </p:txBody>
      </p:sp>
      <p:sp>
        <p:nvSpPr>
          <p:cNvPr id="10" name="Shape 8"/>
          <p:cNvSpPr/>
          <p:nvPr/>
        </p:nvSpPr>
        <p:spPr>
          <a:xfrm>
            <a:off x="5897880" y="4983480"/>
            <a:ext cx="5760720" cy="1280160"/>
          </a:xfrm>
          <a:prstGeom prst="roundRect">
            <a:avLst>
              <a:gd name="adj" fmla="val 4286"/>
            </a:avLst>
          </a:prstGeom>
          <a:solidFill>
            <a:srgbClr val="F2F2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126480" y="5166360"/>
            <a:ext cx="5303520" cy="960120"/>
          </a:xfrm>
          <a:prstGeom prst="rect">
            <a:avLst/>
          </a:prstGeom>
          <a:noFill/>
          <a:ln/>
        </p:spPr>
        <p:txBody>
          <a:bodyPr wrap="square" lIns="0" tIns="0" rIns="0" bIns="0" rtlCol="0" anchor="t"/>
          <a:lstStyle/>
          <a:p>
            <a:pPr marL="228600" indent="-228600">
              <a:spcAft>
                <a:spcPts val="400"/>
              </a:spcAft>
              <a:buSzPct val="100000"/>
              <a:buChar char="•"/>
            </a:pPr>
            <a:r>
              <a:rPr lang="tr-TR" sz="1300" dirty="0">
                <a:solidFill>
                  <a:srgbClr val="3A464C"/>
                </a:solidFill>
                <a:latin typeface="Calibri" pitchFamily="34" charset="0"/>
                <a:ea typeface="Calibri" pitchFamily="34" charset="-122"/>
                <a:cs typeface="Calibri" pitchFamily="34" charset="-120"/>
              </a:rPr>
              <a:t>Sayılar: -eq -ne -lt -le -gt -ge.  Dizgiler: = != -z.  Çalıştırma: chmod +x s.sh; ./s.sh  ya da  bash s.sh.  Hata ayıklama: bash -x s.sh.</a:t>
            </a:r>
            <a:endParaRPr lang="tr-TR"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KOMUT KÂĞIDI · 1/2</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Gezinme, Dosyalar ve İzinler (9–11. haftalar)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24</a:t>
            </a:r>
            <a:endParaRPr lang="tr-TR"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423160"/>
                <a:gridCol w="3108960"/>
                <a:gridCol w="2423160"/>
                <a:gridCol w="315468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Görev</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Komut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Görev</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Komut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Neredeyim?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pwd</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Klasör kopyala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cp -r src/ dst/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Uzun, gizliler dahil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ls -la   (-h boyut)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Taşı / yeniden adlandır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mv old new</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Ev / geri / yukarı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cd ~   cd -   cd ..</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Sil (sorarak)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rm -i f   rm -r dir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Yardım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man ls   ls --help</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Bağlantılar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ln f h   ln -s f 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Klasör oluştur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mkdir -p a/b/c</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Dosyayı göster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cat less head tail -n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Boş dosya / zaman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touch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Boyutlar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wc -l   du -sh   df -h</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Ben kimim?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whoami   id   groups</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Üst veri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stat f   file f   ls -i</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İzinler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chmod 640 f   chmod u+x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Sahip (root)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sudo chown u:g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KOMUT KÂĞIDI · 2/2</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Metin, Borular, Süreçler ve Betikler (12–14. haftalar)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25</a:t>
            </a:r>
            <a:endParaRPr lang="tr-TR"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423160"/>
                <a:gridCol w="3246120"/>
                <a:gridCol w="2194560"/>
                <a:gridCol w="3246120"/>
              </a:tblGrid>
              <a:tr h="0">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Görev</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Komut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Görev</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tr-TR" sz="1600" b="1" dirty="0">
                          <a:solidFill>
                            <a:srgbClr val="FFFFFF"/>
                          </a:solidFill>
                          <a:latin typeface="Cambria" pitchFamily="34" charset="0"/>
                          <a:ea typeface="Cambria" pitchFamily="34" charset="-122"/>
                          <a:cs typeface="Cambria" pitchFamily="34" charset="-120"/>
                        </a:rPr>
                        <a:t>Komut</a:t>
                      </a:r>
                      <a:endParaRPr lang="tr-TR" sz="16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Satır bul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grep -n -i -v -c -w</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Süreçler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ps aux   ps -ef   top</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k. alan, ayraç d</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cut -d, -f3</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Arka plan</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cmd &amp;   jobs   fg %1</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Sayısal sırala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sort -n -r -t, -k5</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Kibarca durdur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kill PID   (SIGTERM)</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Tekrarları say</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sort | uniq -c</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Zorla durdur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kill -9 PID   (SIGKILL)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Başlık satırını atla</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tail -n +2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Önceliği düşür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nice -n 10 cmd</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Karakter çevir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tr a-z A-Z</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Betik başı</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#!/bin/bash</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Kaydet ve göster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cmd | tee out.txt</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Değişkenler</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x=5; echo "$x"</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tr-TR" sz="1500" b="1" dirty="0">
                          <a:solidFill>
                            <a:srgbClr val="3A464C"/>
                          </a:solidFill>
                          <a:latin typeface="Calibri" pitchFamily="34" charset="0"/>
                          <a:ea typeface="Calibri" pitchFamily="34" charset="-122"/>
                          <a:cs typeface="Calibri" pitchFamily="34" charset="-120"/>
                        </a:rPr>
                        <a:t>Dosya bul</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find . -name "*.c" -type f</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Aritmetik</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tr-TR" sz="1500" dirty="0">
                          <a:solidFill>
                            <a:srgbClr val="3A464C"/>
                          </a:solidFill>
                          <a:latin typeface="Calibri" pitchFamily="34" charset="0"/>
                          <a:ea typeface="Calibri" pitchFamily="34" charset="-122"/>
                          <a:cs typeface="Calibri" pitchFamily="34" charset="-120"/>
                        </a:rPr>
                        <a:t>$((x + 1))   $(cmd)</a:t>
                      </a:r>
                      <a:endParaRPr lang="tr-TR" sz="15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5 · 11.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Komutu Yazın: İzinler ve umask</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26</a:t>
            </a:r>
            <a:endParaRPr lang="tr-TR" sz="900" dirty="0"/>
          </a:p>
        </p:txBody>
      </p:sp>
      <p:sp>
        <p:nvSpPr>
          <p:cNvPr id="6" name="Shape 4"/>
          <p:cNvSpPr/>
          <p:nvPr/>
        </p:nvSpPr>
        <p:spPr>
          <a:xfrm>
            <a:off x="548640" y="1508760"/>
            <a:ext cx="5120640" cy="2651760"/>
          </a:xfrm>
          <a:prstGeom prst="roundRect">
            <a:avLst>
              <a:gd name="adj" fmla="val 2069"/>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6634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Soru</a:t>
            </a:r>
            <a:endParaRPr lang="tr-TR" sz="1500" dirty="0"/>
          </a:p>
        </p:txBody>
      </p:sp>
      <p:sp>
        <p:nvSpPr>
          <p:cNvPr id="8" name="Text 6"/>
          <p:cNvSpPr txBox="1"/>
          <p:nvPr/>
        </p:nvSpPr>
        <p:spPr>
          <a:xfrm>
            <a:off x="777240" y="2148840"/>
            <a:ext cx="4663440" cy="187452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(a) report.sh: sahip okuyabilsin, yazabilsin, çalıştırabilsin; grup okuyup çalıştırabilsin; diğerleri hiçbir şey. Sekizli komut?</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 umask 027'den sonra yeni bir dosya ve yeni bir dizin hangi izinleri alır?</a:t>
            </a:r>
            <a:endParaRPr lang="tr-TR" sz="1550" dirty="0"/>
          </a:p>
        </p:txBody>
      </p:sp>
      <p:sp>
        <p:nvSpPr>
          <p:cNvPr id="9" name="Shape 7"/>
          <p:cNvSpPr/>
          <p:nvPr/>
        </p:nvSpPr>
        <p:spPr>
          <a:xfrm>
            <a:off x="548640" y="4343400"/>
            <a:ext cx="5120640" cy="1920240"/>
          </a:xfrm>
          <a:prstGeom prst="roundRect">
            <a:avLst>
              <a:gd name="adj" fmla="val 2381"/>
            </a:avLst>
          </a:prstGeom>
          <a:solidFill>
            <a:srgbClr val="212121"/>
          </a:solidFill>
          <a:ln/>
        </p:spPr>
      </p:sp>
      <p:sp>
        <p:nvSpPr>
          <p:cNvPr id="10" name="Text 8"/>
          <p:cNvSpPr txBox="1"/>
          <p:nvPr/>
        </p:nvSpPr>
        <p:spPr>
          <a:xfrm>
            <a:off x="731520" y="4453128"/>
            <a:ext cx="4754880" cy="1700784"/>
          </a:xfrm>
          <a:prstGeom prst="rect">
            <a:avLst/>
          </a:prstGeom>
          <a:noFill/>
          <a:ln/>
        </p:spPr>
        <p:txBody>
          <a:bodyPr wrap="square" lIns="0" tIns="0" rIns="0" bIns="0" rtlCol="0" anchor="t"/>
          <a:lstStyle/>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(a) rwx r-x --- = 4+2+1  4+0+1  0 = 750</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chmod 750 report.sh</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(b) umask bitlerini sil (AND NOT 027):</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dosya 666 → 640  rw-r-----</a:t>
            </a:r>
            <a:endParaRPr lang="tr-TR" sz="1350" dirty="0"/>
          </a:p>
          <a:p>
            <a:pPr indent="0" marL="0">
              <a:lnSpc>
                <a:spcPct val="105000"/>
              </a:lnSpc>
              <a:buNone/>
            </a:pPr>
            <a:r>
              <a:rPr lang="tr-TR" sz="1350" dirty="0">
                <a:solidFill>
                  <a:srgbClr val="F2F2F2"/>
                </a:solidFill>
                <a:latin typeface="Consolas" pitchFamily="34" charset="0"/>
                <a:ea typeface="Consolas" pitchFamily="34" charset="-122"/>
                <a:cs typeface="Consolas" pitchFamily="34" charset="-120"/>
              </a:rPr>
              <a:t>    dizin 777 → 750  rwxr-x---</a:t>
            </a:r>
            <a:endParaRPr lang="tr-TR" sz="1350" dirty="0"/>
          </a:p>
        </p:txBody>
      </p:sp>
      <p:sp>
        <p:nvSpPr>
          <p:cNvPr id="11" name="Shape 9"/>
          <p:cNvSpPr/>
          <p:nvPr/>
        </p:nvSpPr>
        <p:spPr>
          <a:xfrm>
            <a:off x="5897880" y="1508760"/>
            <a:ext cx="5760720" cy="4754880"/>
          </a:xfrm>
          <a:prstGeom prst="roundRect">
            <a:avLst>
              <a:gd name="adj" fmla="val 962"/>
            </a:avLst>
          </a:prstGeom>
          <a:solidFill>
            <a:srgbClr val="212121"/>
          </a:solidFill>
          <a:ln/>
        </p:spPr>
      </p:sp>
      <p:sp>
        <p:nvSpPr>
          <p:cNvPr id="12" name="Text 10"/>
          <p:cNvSpPr txBox="1"/>
          <p:nvPr/>
        </p:nvSpPr>
        <p:spPr>
          <a:xfrm>
            <a:off x="6080760" y="1618488"/>
            <a:ext cx="5394960" cy="4535424"/>
          </a:xfrm>
          <a:prstGeom prst="rect">
            <a:avLst/>
          </a:prstGeom>
          <a:noFill/>
          <a:ln/>
        </p:spPr>
        <p:txBody>
          <a:bodyPr wrap="square" lIns="0" tIns="0" rIns="0" bIns="0" rtlCol="0" anchor="t"/>
          <a:lstStyle/>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touch report.sh</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ls -l report.sh</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-rw-rw-r-- 1 student student 0 Oct 12 08:50 report.sh</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chmod 750 report.sh</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ls -l report.sh</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-rwxr-x--- 1 student student 0 Oct 12 08:50 report.sh</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umask 027</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touch new.txt; mkdir newdir</a:t>
            </a:r>
            <a:endParaRPr lang="tr-TR" sz="1150" dirty="0"/>
          </a:p>
          <a:p>
            <a:pPr indent="0" marL="0">
              <a:lnSpc>
                <a:spcPct val="105000"/>
              </a:lnSpc>
              <a:buNone/>
            </a:pPr>
            <a:r>
              <a:rPr lang="tr-TR" sz="1150" dirty="0">
                <a:solidFill>
                  <a:srgbClr val="02C39A"/>
                </a:solidFill>
                <a:latin typeface="Consolas" pitchFamily="34" charset="0"/>
                <a:ea typeface="Consolas" pitchFamily="34" charset="-122"/>
                <a:cs typeface="Consolas" pitchFamily="34" charset="-120"/>
              </a:rPr>
              <a:t>student@okan-lab:~/lab$ ls -ld new.txt newdir</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-rw-r----- 1 student student    0 Oct 12 08:50 new.txt</a:t>
            </a:r>
            <a:endParaRPr lang="tr-TR" sz="1150" dirty="0"/>
          </a:p>
          <a:p>
            <a:pPr indent="0" marL="0">
              <a:lnSpc>
                <a:spcPct val="105000"/>
              </a:lnSpc>
              <a:buNone/>
            </a:pPr>
            <a:r>
              <a:rPr lang="tr-TR" sz="1150" dirty="0">
                <a:solidFill>
                  <a:srgbClr val="F2F2F2"/>
                </a:solidFill>
                <a:latin typeface="Consolas" pitchFamily="34" charset="0"/>
                <a:ea typeface="Consolas" pitchFamily="34" charset="-122"/>
                <a:cs typeface="Consolas" pitchFamily="34" charset="-120"/>
              </a:rPr>
              <a:t>drwxr-x--- 2 student student 4096 Oct 12 08:50 newdir</a:t>
            </a:r>
            <a:endParaRPr lang="tr-TR"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6 · 12.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Boru Hattını Yazın: access.log Üzerine Sorular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27</a:t>
            </a:r>
            <a:endParaRPr lang="tr-TR" sz="900" dirty="0"/>
          </a:p>
        </p:txBody>
      </p:sp>
      <p:sp>
        <p:nvSpPr>
          <p:cNvPr id="6" name="Shape 4"/>
          <p:cNvSpPr/>
          <p:nvPr/>
        </p:nvSpPr>
        <p:spPr>
          <a:xfrm>
            <a:off x="548640" y="1508760"/>
            <a:ext cx="4206240" cy="4754880"/>
          </a:xfrm>
          <a:prstGeom prst="roundRect">
            <a:avLst>
              <a:gd name="adj" fmla="val 130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74904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Sorular</a:t>
            </a:r>
            <a:endParaRPr lang="tr-TR" sz="1500" dirty="0"/>
          </a:p>
        </p:txBody>
      </p:sp>
      <p:sp>
        <p:nvSpPr>
          <p:cNvPr id="8" name="Text 6"/>
          <p:cNvSpPr txBox="1"/>
          <p:nvPr/>
        </p:nvSpPr>
        <p:spPr>
          <a:xfrm>
            <a:off x="777240" y="2148840"/>
            <a:ext cx="3749040" cy="3977640"/>
          </a:xfrm>
          <a:prstGeom prst="rect">
            <a:avLst/>
          </a:prstGeom>
          <a:noFill/>
          <a:ln/>
        </p:spPr>
        <p:txBody>
          <a:bodyPr wrap="square" lIns="0" tIns="0" rIns="0" bIns="0" rtlCol="0" anchor="t"/>
          <a:lstStyle/>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(a) En çok isteği hangi üç IP adresi gönderdi?</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(b) Kaç istek 404 durum koduyla döndü?</a:t>
            </a:r>
            <a:endParaRPr lang="tr-TR" sz="1600" dirty="0"/>
          </a:p>
          <a:p>
            <a:pPr marL="228600" indent="-228600">
              <a:spcAft>
                <a:spcPts val="400"/>
              </a:spcAft>
              <a:buSzPct val="100000"/>
              <a:buChar char="•"/>
            </a:pPr>
            <a:r>
              <a:rPr lang="tr-TR" sz="1600" dirty="0">
                <a:solidFill>
                  <a:srgbClr val="3A464C"/>
                </a:solidFill>
                <a:latin typeface="Calibri" pitchFamily="34" charset="0"/>
                <a:ea typeface="Calibri" pitchFamily="34" charset="-122"/>
                <a:cs typeface="Calibri" pitchFamily="34" charset="-120"/>
              </a:rPr>
              <a:t>(c) En çok 404 hatasına hangi sayfa yol açtı?</a:t>
            </a:r>
            <a:endParaRPr lang="tr-TR" sz="1600" dirty="0"/>
          </a:p>
          <a:p>
            <a:pPr marL="228600" indent="-228600">
              <a:spcAft>
                <a:spcPts val="400"/>
              </a:spcAft>
              <a:buSzPct val="100000"/>
              <a:buChar char="•"/>
            </a:pPr>
            <a:r>
              <a:rPr lang="tr-TR" sz="1600" b="1" dirty="0">
                <a:solidFill>
                  <a:srgbClr val="3A464C"/>
                </a:solidFill>
                <a:latin typeface="Calibri" pitchFamily="34" charset="0"/>
                <a:ea typeface="Calibri" pitchFamily="34" charset="-122"/>
                <a:cs typeface="Calibri" pitchFamily="34" charset="-120"/>
              </a:rPr>
              <a:t>Alanlar</a:t>
            </a:r>
            <a:r>
              <a:rPr lang="tr-TR" sz="1600" dirty="0">
                <a:solidFill>
                  <a:srgbClr val="3A464C"/>
                </a:solidFill>
                <a:latin typeface="Calibri" pitchFamily="34" charset="0"/>
                <a:ea typeface="Calibri" pitchFamily="34" charset="-122"/>
                <a:cs typeface="Calibri" pitchFamily="34" charset="-120"/>
              </a:rPr>
              <a:t> (boşlukla ayrılmış): 1 = IP, 7 = sayfa, 9 = durum kodu.</a:t>
            </a:r>
            <a:endParaRPr lang="tr-TR" sz="1600" dirty="0"/>
          </a:p>
        </p:txBody>
      </p:sp>
      <p:sp>
        <p:nvSpPr>
          <p:cNvPr id="9" name="Shape 7"/>
          <p:cNvSpPr/>
          <p:nvPr/>
        </p:nvSpPr>
        <p:spPr>
          <a:xfrm>
            <a:off x="4983480" y="1508760"/>
            <a:ext cx="6675120" cy="4754880"/>
          </a:xfrm>
          <a:prstGeom prst="roundRect">
            <a:avLst>
              <a:gd name="adj" fmla="val 962"/>
            </a:avLst>
          </a:prstGeom>
          <a:solidFill>
            <a:srgbClr val="212121"/>
          </a:solidFill>
          <a:ln/>
        </p:spPr>
      </p:sp>
      <p:sp>
        <p:nvSpPr>
          <p:cNvPr id="10" name="Text 8"/>
          <p:cNvSpPr txBox="1"/>
          <p:nvPr/>
        </p:nvSpPr>
        <p:spPr>
          <a:xfrm>
            <a:off x="5166360" y="1618488"/>
            <a:ext cx="6309360" cy="4535424"/>
          </a:xfrm>
          <a:prstGeom prst="rect">
            <a:avLst/>
          </a:prstGeom>
          <a:noFill/>
          <a:ln/>
        </p:spPr>
        <p:txBody>
          <a:bodyPr wrap="square" lIns="0" tIns="0" rIns="0" bIns="0" rtlCol="0" anchor="t"/>
          <a:lstStyle/>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student@okan-lab:~/lab$ cut -d' ' -f1 logs/access.log | sort |</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uniq -c | sort -rn | head -3</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58 10.0.2.17</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56 10.0.4.31</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52 10.0.6.45</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student@okan-lab:~/lab$ cut -d' ' -f9 logs/access.log |</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grep -c '^404$'</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57</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student@okan-lab:~/lab$ grep ' 404 ' logs/access.log |</a:t>
            </a:r>
            <a:endParaRPr lang="tr-TR" sz="1250" dirty="0"/>
          </a:p>
          <a:p>
            <a:pPr indent="0" marL="0">
              <a:lnSpc>
                <a:spcPct val="105000"/>
              </a:lnSpc>
              <a:buNone/>
            </a:pPr>
            <a:r>
              <a:rPr lang="tr-TR" sz="1250" dirty="0">
                <a:solidFill>
                  <a:srgbClr val="02C39A"/>
                </a:solidFill>
                <a:latin typeface="Consolas" pitchFamily="34" charset="0"/>
                <a:ea typeface="Consolas" pitchFamily="34" charset="-122"/>
                <a:cs typeface="Consolas" pitchFamily="34" charset="-120"/>
              </a:rPr>
              <a:t>    cut -d' ' -f7 | sort | uniq -c | sort -rn | head -1</a:t>
            </a:r>
            <a:endParaRPr lang="tr-TR" sz="1250" dirty="0"/>
          </a:p>
          <a:p>
            <a:pPr indent="0" marL="0">
              <a:lnSpc>
                <a:spcPct val="105000"/>
              </a:lnSpc>
              <a:buNone/>
            </a:pPr>
            <a:r>
              <a:rPr lang="tr-TR" sz="1250" dirty="0">
                <a:solidFill>
                  <a:srgbClr val="F2F2F2"/>
                </a:solidFill>
                <a:latin typeface="Consolas" pitchFamily="34" charset="0"/>
                <a:ea typeface="Consolas" pitchFamily="34" charset="-122"/>
                <a:cs typeface="Consolas" pitchFamily="34" charset="-120"/>
              </a:rPr>
              <a:t>      9 /images/logo.png</a:t>
            </a:r>
            <a:endParaRPr lang="tr-TR"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ÇÖZÜMLÜ PROBLEM 7 · 14. HAFTA</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Betiği Yazın: Bölüm İstatistikleri</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28</a:t>
            </a:r>
            <a:endParaRPr lang="tr-TR" sz="900" dirty="0"/>
          </a:p>
        </p:txBody>
      </p:sp>
      <p:sp>
        <p:nvSpPr>
          <p:cNvPr id="6" name="Text 4"/>
          <p:cNvSpPr txBox="1"/>
          <p:nvPr/>
        </p:nvSpPr>
        <p:spPr>
          <a:xfrm>
            <a:off x="548640" y="1417320"/>
            <a:ext cx="11109960" cy="548640"/>
          </a:xfrm>
          <a:prstGeom prst="rect">
            <a:avLst/>
          </a:prstGeom>
          <a:noFill/>
          <a:ln/>
        </p:spPr>
        <p:txBody>
          <a:bodyPr wrap="square" lIns="0" tIns="0" rIns="0" bIns="0" rtlCol="0" anchor="t"/>
          <a:lstStyle/>
          <a:p>
            <a:pPr indent="0" marL="0">
              <a:buNone/>
            </a:pPr>
            <a:r>
              <a:rPr lang="tr-TR" sz="1400" dirty="0">
                <a:solidFill>
                  <a:srgbClr val="3A464C"/>
                </a:solidFill>
                <a:latin typeface="Calibri" pitchFamily="34" charset="0"/>
                <a:ea typeface="Calibri" pitchFamily="34" charset="-122"/>
                <a:cs typeface="Calibri" pitchFamily="34" charset="-120"/>
              </a:rPr>
              <a:t>dept_stats.sh BÖLÜM betiğini yazın: data/students.csv'de BÖLÜM'deki öğrenci sayısını ve final notlarının ortalamasını yazsın; argüman verilmezse bir kullanım iletisi yazıp 1 durumuyla çıksın.</a:t>
            </a:r>
            <a:endParaRPr lang="tr-TR" sz="1400" dirty="0"/>
          </a:p>
        </p:txBody>
      </p:sp>
      <p:sp>
        <p:nvSpPr>
          <p:cNvPr id="7" name="Shape 5"/>
          <p:cNvSpPr/>
          <p:nvPr/>
        </p:nvSpPr>
        <p:spPr>
          <a:xfrm>
            <a:off x="548640" y="2057400"/>
            <a:ext cx="5852160" cy="4206240"/>
          </a:xfrm>
          <a:prstGeom prst="roundRect">
            <a:avLst>
              <a:gd name="adj" fmla="val 1087"/>
            </a:avLst>
          </a:prstGeom>
          <a:solidFill>
            <a:srgbClr val="212121"/>
          </a:solidFill>
          <a:ln/>
        </p:spPr>
      </p:sp>
      <p:sp>
        <p:nvSpPr>
          <p:cNvPr id="8" name="Text 6"/>
          <p:cNvSpPr txBox="1"/>
          <p:nvPr/>
        </p:nvSpPr>
        <p:spPr>
          <a:xfrm>
            <a:off x="731520" y="2167128"/>
            <a:ext cx="5486400" cy="3986784"/>
          </a:xfrm>
          <a:prstGeom prst="rect">
            <a:avLst/>
          </a:prstGeom>
          <a:noFill/>
          <a:ln/>
        </p:spPr>
        <p:txBody>
          <a:bodyPr wrap="square" lIns="0" tIns="0" rIns="0" bIns="0" rtlCol="0" anchor="t"/>
          <a:lstStyle/>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#!/bin/bash</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if [ $# -ne 1 ]; then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echo "usage: $0 DEPARTMENT" &gt;&amp;2</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exit 1</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fi</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dept=$1</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count=0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sum=0</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for f in $(grep ",$dept," data/students.csv | cut -d, -f5); do</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count=$((count + 1))</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sum=$((sum + f))</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done</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if [ $count -eq 0 ]; then</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echo "no students in $dept"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    exit 2</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fi</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echo "$dept: $count students, average final $((sum / count))"</a:t>
            </a:r>
            <a:endParaRPr lang="tr-TR" sz="1100" dirty="0"/>
          </a:p>
        </p:txBody>
      </p:sp>
      <p:sp>
        <p:nvSpPr>
          <p:cNvPr id="9" name="Shape 7"/>
          <p:cNvSpPr/>
          <p:nvPr/>
        </p:nvSpPr>
        <p:spPr>
          <a:xfrm>
            <a:off x="6583680" y="2057400"/>
            <a:ext cx="5074920" cy="2468880"/>
          </a:xfrm>
          <a:prstGeom prst="roundRect">
            <a:avLst>
              <a:gd name="adj" fmla="val 1852"/>
            </a:avLst>
          </a:prstGeom>
          <a:solidFill>
            <a:srgbClr val="212121"/>
          </a:solidFill>
          <a:ln/>
        </p:spPr>
      </p:sp>
      <p:sp>
        <p:nvSpPr>
          <p:cNvPr id="10" name="Text 8"/>
          <p:cNvSpPr txBox="1"/>
          <p:nvPr/>
        </p:nvSpPr>
        <p:spPr>
          <a:xfrm>
            <a:off x="6766560" y="2167128"/>
            <a:ext cx="4709160" cy="2249424"/>
          </a:xfrm>
          <a:prstGeom prst="rect">
            <a:avLst/>
          </a:prstGeom>
          <a:noFill/>
          <a:ln/>
        </p:spPr>
        <p:txBody>
          <a:bodyPr wrap="square" lIns="0" tIns="0" rIns="0" bIns="0" rtlCol="0" anchor="t"/>
          <a:lstStyle/>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student@okan-lab:~/lab$ ./scripts/dept_stats.sh ECT</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ECT: 17 students, average final 63</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student@okan-lab:~/lab$ ./scripts/dept_stats.sh CS</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CS: 10 students, average final 65</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student@okan-lab:~/lab$ ./scripts/dept_stats.sh</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usage: ./scripts/dept_stats.sh DEPARTMENT</a:t>
            </a:r>
            <a:endParaRPr lang="tr-TR" sz="1100" dirty="0"/>
          </a:p>
          <a:p>
            <a:pPr indent="0" marL="0">
              <a:lnSpc>
                <a:spcPct val="105000"/>
              </a:lnSpc>
              <a:buNone/>
            </a:pPr>
            <a:r>
              <a:rPr lang="tr-TR" sz="1100" dirty="0">
                <a:solidFill>
                  <a:srgbClr val="02C39A"/>
                </a:solidFill>
                <a:latin typeface="Consolas" pitchFamily="34" charset="0"/>
                <a:ea typeface="Consolas" pitchFamily="34" charset="-122"/>
                <a:cs typeface="Consolas" pitchFamily="34" charset="-120"/>
              </a:rPr>
              <a:t>student@okan-lab:~/lab$ echo $?</a:t>
            </a:r>
            <a:endParaRPr lang="tr-TR" sz="1100" dirty="0"/>
          </a:p>
          <a:p>
            <a:pPr indent="0" marL="0">
              <a:lnSpc>
                <a:spcPct val="105000"/>
              </a:lnSpc>
              <a:buNone/>
            </a:pPr>
            <a:r>
              <a:rPr lang="tr-TR" sz="1100" dirty="0">
                <a:solidFill>
                  <a:srgbClr val="F2F2F2"/>
                </a:solidFill>
                <a:latin typeface="Consolas" pitchFamily="34" charset="0"/>
                <a:ea typeface="Consolas" pitchFamily="34" charset="-122"/>
                <a:cs typeface="Consolas" pitchFamily="34" charset="-120"/>
              </a:rPr>
              <a:t>1</a:t>
            </a:r>
            <a:endParaRPr lang="tr-TR" sz="1100" dirty="0"/>
          </a:p>
        </p:txBody>
      </p:sp>
      <p:sp>
        <p:nvSpPr>
          <p:cNvPr id="11" name="Shape 9"/>
          <p:cNvSpPr/>
          <p:nvPr/>
        </p:nvSpPr>
        <p:spPr>
          <a:xfrm>
            <a:off x="6583680" y="4663440"/>
            <a:ext cx="5074920" cy="1600200"/>
          </a:xfrm>
          <a:prstGeom prst="roundRect">
            <a:avLst>
              <a:gd name="adj" fmla="val 3429"/>
            </a:avLst>
          </a:prstGeom>
          <a:solidFill>
            <a:srgbClr val="F2F2F2"/>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6812280" y="4846320"/>
            <a:ext cx="4617720" cy="128016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$((sum / count)) tamsayı bölmesidir: 1072 / 17 = 63,06 → 63.</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Kullanım iletisi standart hataya gider (&gt;&amp;2).</a:t>
            </a:r>
            <a:endParaRPr lang="tr-TR"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BUNLARDAN KAÇININ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Sık Yapılan Hatalar: Kuram</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29</a:t>
            </a:r>
            <a:endParaRPr lang="tr-TR"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Bekleme ve dönüş</a:t>
            </a:r>
            <a:endParaRPr lang="tr-TR"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Bekleme = dönüş − patlama. Dönüş süresinde varış zamanını unutmayın.</a:t>
            </a:r>
            <a:endParaRPr lang="tr-TR" sz="16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Round Robin kuyruğu</a:t>
            </a:r>
            <a:endParaRPr lang="tr-TR"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Zaman dilimi dolduğu anda gelen süreç, kesilen süreçten ÖNCE kuyruğa girer (bizim uzlaşımımız).</a:t>
            </a:r>
            <a:endParaRPr lang="tr-TR" sz="16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Birimler</a:t>
            </a:r>
            <a:endParaRPr lang="tr-TR"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8 ms = 8.000.000 ns. Önce çevirin, sonra yerine koyun.</a:t>
            </a:r>
            <a:endParaRPr lang="tr-TR" sz="16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TLB ıskası</a:t>
            </a:r>
            <a:endParaRPr lang="tr-TR"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Iska iki bellek erişimine (sayfa tablosu + veri) ve TLB aramasına mal olur.</a:t>
            </a:r>
            <a:endParaRPr lang="tr-TR" sz="16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LRU ve OPT</a:t>
            </a:r>
            <a:endParaRPr lang="tr-TR"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LRU geriye bakar (en uzun süredir kullanılmayan); OPT ileriye bakar (en geç kullanılacak olan).</a:t>
            </a:r>
            <a:endParaRPr lang="tr-TR" sz="16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Blok hesabı</a:t>
            </a:r>
            <a:endParaRPr lang="tr-TR"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Kayıtlar ve bloklar 0'dan numaralanır. Son baytın blok sınırını aşıp aşmadığına bakın.</a:t>
            </a:r>
            <a:endParaRPr lang="tr-TR"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BUNLARDAN KAÇININ</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Sık Yapılan Hatalar: Komutlar ve Betikler</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30</a:t>
            </a:r>
            <a:endParaRPr lang="tr-TR" sz="900" dirty="0"/>
          </a:p>
        </p:txBody>
      </p:sp>
      <p:sp>
        <p:nvSpPr>
          <p:cNvPr id="6" name="Shape 4"/>
          <p:cNvSpPr/>
          <p:nvPr/>
        </p:nvSpPr>
        <p:spPr>
          <a:xfrm>
            <a:off x="54864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sort olmadan uniq</a:t>
            </a:r>
            <a:endParaRPr lang="tr-TR" sz="1600" dirty="0"/>
          </a:p>
        </p:txBody>
      </p:sp>
      <p:sp>
        <p:nvSpPr>
          <p:cNvPr id="8" name="Text 6"/>
          <p:cNvSpPr txBox="1"/>
          <p:nvPr/>
        </p:nvSpPr>
        <p:spPr>
          <a:xfrm>
            <a:off x="777240" y="214884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uniq -c yalnızca ARDIŞIK eşit satırları birleştirir: her zaman sort | uniq -c.</a:t>
            </a:r>
            <a:endParaRPr lang="tr-TR" sz="1650" dirty="0"/>
          </a:p>
        </p:txBody>
      </p:sp>
      <p:sp>
        <p:nvSpPr>
          <p:cNvPr id="9" name="Shape 7"/>
          <p:cNvSpPr/>
          <p:nvPr/>
        </p:nvSpPr>
        <p:spPr>
          <a:xfrm>
            <a:off x="432816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Boşluklar</a:t>
            </a:r>
            <a:endParaRPr lang="tr-TR" sz="1600" dirty="0"/>
          </a:p>
        </p:txBody>
      </p:sp>
      <p:sp>
        <p:nvSpPr>
          <p:cNvPr id="11" name="Text 9"/>
          <p:cNvSpPr txBox="1"/>
          <p:nvPr/>
        </p:nvSpPr>
        <p:spPr>
          <a:xfrm>
            <a:off x="4556760" y="214884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x=5, x = 5 değil.   [ $a -gt 3 ], [$a -gt 3] değil.</a:t>
            </a:r>
            <a:endParaRPr lang="tr-TR" sz="1650" dirty="0"/>
          </a:p>
        </p:txBody>
      </p:sp>
      <p:sp>
        <p:nvSpPr>
          <p:cNvPr id="12" name="Shape 10"/>
          <p:cNvSpPr/>
          <p:nvPr/>
        </p:nvSpPr>
        <p:spPr>
          <a:xfrm>
            <a:off x="8107680" y="150876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Tırnaklar</a:t>
            </a:r>
            <a:endParaRPr lang="tr-TR" sz="1600" dirty="0"/>
          </a:p>
        </p:txBody>
      </p:sp>
      <p:sp>
        <p:nvSpPr>
          <p:cNvPr id="14" name="Text 12"/>
          <p:cNvSpPr txBox="1"/>
          <p:nvPr/>
        </p:nvSpPr>
        <p:spPr>
          <a:xfrm>
            <a:off x="8336280" y="214884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"$name" genişler, '$name' genişlemez. Boşluklu dosya adlarını tırnaklayın: "final report.txt".</a:t>
            </a:r>
            <a:endParaRPr lang="tr-TR" sz="1650" dirty="0"/>
          </a:p>
        </p:txBody>
      </p:sp>
      <p:sp>
        <p:nvSpPr>
          <p:cNvPr id="15" name="Shape 13"/>
          <p:cNvSpPr/>
          <p:nvPr/>
        </p:nvSpPr>
        <p:spPr>
          <a:xfrm>
            <a:off x="54864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&gt; ve &gt;&gt;</a:t>
            </a:r>
            <a:endParaRPr lang="tr-TR" sz="1600" dirty="0"/>
          </a:p>
        </p:txBody>
      </p:sp>
      <p:sp>
        <p:nvSpPr>
          <p:cNvPr id="17" name="Text 15"/>
          <p:cNvSpPr txBox="1"/>
          <p:nvPr/>
        </p:nvSpPr>
        <p:spPr>
          <a:xfrm>
            <a:off x="777240" y="464058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&gt; dosyanın üzerine yazar, &gt;&gt; sonuna ekler. 2&gt; yalnızca hataları yönlendirir.</a:t>
            </a:r>
            <a:endParaRPr lang="tr-TR" sz="1650" dirty="0"/>
          </a:p>
        </p:txBody>
      </p:sp>
      <p:sp>
        <p:nvSpPr>
          <p:cNvPr id="18" name="Shape 16"/>
          <p:cNvSpPr/>
          <p:nvPr/>
        </p:nvSpPr>
        <p:spPr>
          <a:xfrm>
            <a:off x="432816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455676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chmod 777, rm -r, kill -9</a:t>
            </a:r>
            <a:endParaRPr lang="tr-TR" sz="1600" dirty="0"/>
          </a:p>
        </p:txBody>
      </p:sp>
      <p:sp>
        <p:nvSpPr>
          <p:cNvPr id="20" name="Text 18"/>
          <p:cNvSpPr txBox="1"/>
          <p:nvPr/>
        </p:nvSpPr>
        <p:spPr>
          <a:xfrm>
            <a:off x="4556760" y="464058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Fazla izin, geri alma yok, temizlik yok. İşi gören en yumuşak aracı kullanın.</a:t>
            </a:r>
            <a:endParaRPr lang="tr-TR" sz="1650" dirty="0"/>
          </a:p>
        </p:txBody>
      </p:sp>
      <p:sp>
        <p:nvSpPr>
          <p:cNvPr id="21" name="Shape 19"/>
          <p:cNvSpPr/>
          <p:nvPr/>
        </p:nvSpPr>
        <p:spPr>
          <a:xfrm>
            <a:off x="8107680" y="4000500"/>
            <a:ext cx="355092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336280" y="418338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Göreli yollar</a:t>
            </a:r>
            <a:endParaRPr lang="tr-TR" sz="1600" dirty="0"/>
          </a:p>
        </p:txBody>
      </p:sp>
      <p:sp>
        <p:nvSpPr>
          <p:cNvPr id="23" name="Text 21"/>
          <p:cNvSpPr txBox="1"/>
          <p:nvPr/>
        </p:nvSpPr>
        <p:spPr>
          <a:xfrm>
            <a:off x="8336280" y="4640580"/>
            <a:ext cx="3093720" cy="1485900"/>
          </a:xfrm>
          <a:prstGeom prst="rect">
            <a:avLst/>
          </a:prstGeom>
          <a:noFill/>
          <a:ln/>
        </p:spPr>
        <p:txBody>
          <a:bodyPr wrap="square" lIns="0" tIns="0" rIns="0" bIns="0" rtlCol="0" anchor="t"/>
          <a:lstStyle/>
          <a:p>
            <a:pPr indent="0" marL="0">
              <a:spcAft>
                <a:spcPts val="400"/>
              </a:spcAft>
              <a:buNone/>
            </a:pPr>
            <a:r>
              <a:rPr lang="tr-TR" sz="1650" dirty="0">
                <a:solidFill>
                  <a:srgbClr val="3A464C"/>
                </a:solidFill>
                <a:latin typeface="Calibri" pitchFamily="34" charset="0"/>
                <a:ea typeface="Calibri" pitchFamily="34" charset="-122"/>
                <a:cs typeface="Calibri" pitchFamily="34" charset="-120"/>
              </a:rPr>
              <a:t>Başka bir dizinden çalıştırılan betik data/… dosyasını bulamaz; ~/lab'dan çalıştırın ya da mutlak yol kullanın.</a:t>
            </a:r>
            <a:endParaRPr lang="tr-TR"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SINAV STRATEJİSİ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[90] Dakikayı Nasıl Kullanmalı?</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31</a:t>
            </a:r>
            <a:endParaRPr lang="tr-TR" sz="900" dirty="0"/>
          </a:p>
        </p:txBody>
      </p:sp>
      <p:sp>
        <p:nvSpPr>
          <p:cNvPr id="6" name="Shape 4"/>
          <p:cNvSpPr/>
          <p:nvPr/>
        </p:nvSpPr>
        <p:spPr>
          <a:xfrm>
            <a:off x="54864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Sınavdan önce</a:t>
            </a:r>
            <a:endParaRPr lang="tr-TR" sz="1500" dirty="0"/>
          </a:p>
        </p:txBody>
      </p:sp>
      <p:sp>
        <p:nvSpPr>
          <p:cNvPr id="8" name="Text 6"/>
          <p:cNvSpPr txBox="1"/>
          <p:nvPr/>
        </p:nvSpPr>
        <p:spPr>
          <a:xfrm>
            <a:off x="77724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1–7. haftaların bütün çözümlü örneklerini ve tekrar sorularını, 9–14. haftaların laboratuvar föylerini yeniden çözün.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Çalışma kılavuzundaki Alıştırma Finalini, sonra örnek kâğıdı çözün — kâğıt üzerinde, süre tutarak.</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Linux'ta alıştırma yapın: komut kâğıdındaki her komutu ~/lab'da yazın.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Uyuyun. Yorgun beyin hesap hatası yapar.</a:t>
            </a:r>
            <a:endParaRPr lang="tr-TR" sz="1400" dirty="0"/>
          </a:p>
        </p:txBody>
      </p:sp>
      <p:sp>
        <p:nvSpPr>
          <p:cNvPr id="9" name="Shape 7"/>
          <p:cNvSpPr/>
          <p:nvPr/>
        </p:nvSpPr>
        <p:spPr>
          <a:xfrm>
            <a:off x="6217920" y="1508760"/>
            <a:ext cx="5440680" cy="3749040"/>
          </a:xfrm>
          <a:prstGeom prst="roundRect">
            <a:avLst>
              <a:gd name="adj" fmla="val 1463"/>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6446520" y="1691640"/>
            <a:ext cx="498348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Sınav sırasında</a:t>
            </a:r>
            <a:endParaRPr lang="tr-TR" sz="1500" dirty="0"/>
          </a:p>
        </p:txBody>
      </p:sp>
      <p:sp>
        <p:nvSpPr>
          <p:cNvPr id="11" name="Text 9"/>
          <p:cNvSpPr txBox="1"/>
          <p:nvPr/>
        </p:nvSpPr>
        <p:spPr>
          <a:xfrm>
            <a:off x="6446520" y="2148840"/>
            <a:ext cx="4983480" cy="2971800"/>
          </a:xfrm>
          <a:prstGeom prst="rect">
            <a:avLst/>
          </a:prstGeom>
          <a:noFill/>
          <a:ln/>
        </p:spPr>
        <p:txBody>
          <a:bodyPr wrap="square" lIns="0" tIns="0" rIns="0" bIns="0" rtlCol="0" anchor="t"/>
          <a:lstStyle/>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Önce bütün kâğıdı okuyun (5 dk); en iyi bildiğinizle başlayın.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Kaba plan: puan başına yaklaşık 1 dakika, kontrol için 10 dakika bırakın.</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Her adımı gösterin: formül → sayılar → birimiyle sonuç.</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Komutlar: tam yazım ve seçenekler; betiklerde önce mantık, sonra ayrıntı.</a:t>
            </a:r>
            <a:endParaRPr lang="tr-TR" sz="1400" dirty="0"/>
          </a:p>
          <a:p>
            <a:pPr marL="228600" indent="-228600">
              <a:spcAft>
                <a:spcPts val="400"/>
              </a:spcAft>
              <a:buSzPct val="100000"/>
              <a:buChar char="•"/>
            </a:pPr>
            <a:r>
              <a:rPr lang="tr-TR" sz="1400" dirty="0">
                <a:solidFill>
                  <a:srgbClr val="3A464C"/>
                </a:solidFill>
                <a:latin typeface="Calibri" pitchFamily="34" charset="0"/>
                <a:ea typeface="Calibri" pitchFamily="34" charset="-122"/>
                <a:cs typeface="Calibri" pitchFamily="34" charset="-120"/>
              </a:rPr>
              <a:t>Hiçbir soruyu boş bırakmayın: kısmi puan vardır.</a:t>
            </a:r>
            <a:endParaRPr lang="tr-TR" sz="1400" dirty="0"/>
          </a:p>
        </p:txBody>
      </p:sp>
      <p:sp>
        <p:nvSpPr>
          <p:cNvPr id="12" name="Shape 10"/>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Puan başına bir dakika bir kural değil, bir rehberdir: [90] dakikada 100 puan az pay bırakır — ilerlemeye devam edin.</a:t>
            </a:r>
            <a:endParaRPr lang="tr-TR"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KISA SINAV</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Kendinizi Sınayın</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32</a:t>
            </a:r>
            <a:endParaRPr lang="tr-TR"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7" name="Shape 5"/>
          <p:cNvSpPr/>
          <p:nvPr/>
        </p:nvSpPr>
        <p:spPr>
          <a:xfrm>
            <a:off x="777240" y="1780794"/>
            <a:ext cx="493776" cy="493776"/>
          </a:xfrm>
          <a:prstGeom prst="ellipse">
            <a:avLst/>
          </a:prstGeom>
          <a:solidFill>
            <a:srgbClr val="02C39A"/>
          </a:solidFill>
          <a:ln/>
        </p:spPr>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1</a:t>
            </a:r>
            <a:endParaRPr lang="tr-TR"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P1 (0, 4), P2 (1, 2), P3 (2, 1), süreler ms, SRTF. Ortalama bekleme süresi nedir?</a:t>
            </a:r>
            <a:endParaRPr lang="tr-TR"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1" name="Shape 9"/>
          <p:cNvSpPr/>
          <p:nvPr/>
        </p:nvSpPr>
        <p:spPr>
          <a:xfrm>
            <a:off x="777240" y="3019806"/>
            <a:ext cx="493776" cy="493776"/>
          </a:xfrm>
          <a:prstGeom prst="ellipse">
            <a:avLst/>
          </a:prstGeom>
          <a:solidFill>
            <a:srgbClr val="02C39A"/>
          </a:solidFill>
          <a:ln/>
        </p:spPr>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2</a:t>
            </a:r>
            <a:endParaRPr lang="tr-TR"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Sayfa boyutu 4 KB. 0x3A7F mantıksal adresinin sayfa numarası ve konumu? (on altılık)</a:t>
            </a:r>
            <a:endParaRPr lang="tr-TR"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5" name="Shape 13"/>
          <p:cNvSpPr/>
          <p:nvPr/>
        </p:nvSpPr>
        <p:spPr>
          <a:xfrm>
            <a:off x="777240" y="4258818"/>
            <a:ext cx="493776" cy="493776"/>
          </a:xfrm>
          <a:prstGeom prst="ellipse">
            <a:avLst/>
          </a:prstGeom>
          <a:solidFill>
            <a:srgbClr val="02C39A"/>
          </a:solidFill>
          <a:ln/>
        </p:spPr>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3</a:t>
            </a:r>
            <a:endParaRPr lang="tr-TR"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Hangi umask yeni dosyaları rw-r-----, yeni dizinleri rwxr-x--- yapar?</a:t>
            </a:r>
            <a:endParaRPr lang="tr-TR"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sp>
      <p:sp>
        <p:nvSpPr>
          <p:cNvPr id="19" name="Shape 17"/>
          <p:cNvSpPr/>
          <p:nvPr/>
        </p:nvSpPr>
        <p:spPr>
          <a:xfrm>
            <a:off x="777240" y="5497830"/>
            <a:ext cx="493776" cy="493776"/>
          </a:xfrm>
          <a:prstGeom prst="ellipse">
            <a:avLst/>
          </a:prstGeom>
          <a:solidFill>
            <a:srgbClr val="02C39A"/>
          </a:solidFill>
          <a:ln/>
        </p:spPr>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tr-TR" sz="1600" b="1" dirty="0">
                <a:solidFill>
                  <a:srgbClr val="FFFFFF"/>
                </a:solidFill>
                <a:latin typeface="Cambria" pitchFamily="34" charset="0"/>
                <a:ea typeface="Cambria" pitchFamily="34" charset="-122"/>
                <a:cs typeface="Cambria" pitchFamily="34" charset="-120"/>
              </a:rPr>
              <a:t>4</a:t>
            </a:r>
            <a:endParaRPr lang="tr-TR"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tr-TR" sz="1600" dirty="0">
                <a:solidFill>
                  <a:srgbClr val="3A464C"/>
                </a:solidFill>
                <a:latin typeface="Calibri" pitchFamily="34" charset="0"/>
                <a:ea typeface="Calibri" pitchFamily="34" charset="-122"/>
                <a:cs typeface="Calibri" pitchFamily="34" charset="-120"/>
              </a:rPr>
              <a:t>logs/system.log içinde INFO GEÇMEYEN satırların sayısını yazdıran bir boru hattı yazın.</a:t>
            </a:r>
            <a:endParaRPr lang="tr-TR"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KAPANIŞ</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Sekiz Satırda Ders</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33</a:t>
            </a:r>
            <a:endParaRPr lang="tr-TR"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İşletim sistemi</a:t>
            </a:r>
            <a:r>
              <a:rPr lang="tr-TR" sz="1900" dirty="0">
                <a:solidFill>
                  <a:srgbClr val="3A464C"/>
                </a:solidFill>
                <a:latin typeface="Calibri" pitchFamily="34" charset="0"/>
                <a:ea typeface="Calibri" pitchFamily="34" charset="-122"/>
                <a:cs typeface="Calibri" pitchFamily="34" charset="-120"/>
              </a:rPr>
              <a:t> bir kaynak yöneticisi ve genişletilmiş makinedir; ikili mod ve sistem çağrıları onu korur (H1–H2).</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Süreçler</a:t>
            </a:r>
            <a:r>
              <a:rPr lang="tr-TR" sz="1900" dirty="0">
                <a:solidFill>
                  <a:srgbClr val="3A464C"/>
                </a:solidFill>
                <a:latin typeface="Calibri" pitchFamily="34" charset="0"/>
                <a:ea typeface="Calibri" pitchFamily="34" charset="-122"/>
                <a:cs typeface="Calibri" pitchFamily="34" charset="-120"/>
              </a:rPr>
              <a:t> beş durum arasında gezinir; PCB ve bağlam değişimi çok görevliliği mümkün kılar (H3).</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İş parçacıkları ve zamanlayıcılar</a:t>
            </a:r>
            <a:r>
              <a:rPr lang="tr-TR" sz="1900" dirty="0">
                <a:solidFill>
                  <a:srgbClr val="3A464C"/>
                </a:solidFill>
                <a:latin typeface="Calibri" pitchFamily="34" charset="0"/>
                <a:ea typeface="Calibri" pitchFamily="34" charset="-122"/>
                <a:cs typeface="Calibri" pitchFamily="34" charset="-120"/>
              </a:rPr>
              <a:t> işlemciyi paylaşır: FCFS, SJF/SRTF, Öncelik, RR; bekleme ve yanıt süresiyle değerlendirilir (H4–H5).</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Ortak veri</a:t>
            </a:r>
            <a:r>
              <a:rPr lang="tr-TR" sz="1900" dirty="0">
                <a:solidFill>
                  <a:srgbClr val="3A464C"/>
                </a:solidFill>
                <a:latin typeface="Calibri" pitchFamily="34" charset="0"/>
                <a:ea typeface="Calibri" pitchFamily="34" charset="-122"/>
                <a:cs typeface="Calibri" pitchFamily="34" charset="-120"/>
              </a:rPr>
              <a:t> karşılıklı dışlama ister: muteks kilitleri ve semaforlar (H5).</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Bellek</a:t>
            </a:r>
            <a:r>
              <a:rPr lang="tr-TR" sz="1900" dirty="0">
                <a:solidFill>
                  <a:srgbClr val="3A464C"/>
                </a:solidFill>
                <a:latin typeface="Calibri" pitchFamily="34" charset="0"/>
                <a:ea typeface="Calibri" pitchFamily="34" charset="-122"/>
                <a:cs typeface="Calibri" pitchFamily="34" charset="-120"/>
              </a:rPr>
              <a:t> MMU tarafından çevrilir: sayfalama, TLB, sanal bellek, sayfa değiştirme (H6–H7).</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Dosyalar</a:t>
            </a:r>
            <a:r>
              <a:rPr lang="tr-TR" sz="1900" dirty="0">
                <a:solidFill>
                  <a:srgbClr val="3A464C"/>
                </a:solidFill>
                <a:latin typeface="Calibri" pitchFamily="34" charset="0"/>
                <a:ea typeface="Calibri" pitchFamily="34" charset="-122"/>
                <a:cs typeface="Calibri" pitchFamily="34" charset="-120"/>
              </a:rPr>
              <a:t> dizinlerde adı olan düğümlerdir (inode); bağlantılar bir dosyaya birden çok ad verir (H7, H10).</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Kabuk</a:t>
            </a:r>
            <a:r>
              <a:rPr lang="tr-TR" sz="1900" dirty="0">
                <a:solidFill>
                  <a:srgbClr val="3A464C"/>
                </a:solidFill>
                <a:latin typeface="Calibri" pitchFamily="34" charset="0"/>
                <a:ea typeface="Calibri" pitchFamily="34" charset="-122"/>
                <a:cs typeface="Calibri" pitchFamily="34" charset="-120"/>
              </a:rPr>
              <a:t> komutları sistem çağrılarına ve süreçlere dönüştürür: gezinme, dosyalar, izinler, borular, işler (H9–H13).</a:t>
            </a:r>
            <a:endParaRPr lang="tr-TR" sz="1900" dirty="0"/>
          </a:p>
          <a:p>
            <a:pPr marL="228600" indent="-228600">
              <a:spcAft>
                <a:spcPts val="1100"/>
              </a:spcAft>
              <a:buSzPct val="100000"/>
              <a:buChar char="•"/>
            </a:pPr>
            <a:r>
              <a:rPr lang="tr-TR" sz="1900" b="1" dirty="0">
                <a:solidFill>
                  <a:srgbClr val="3A464C"/>
                </a:solidFill>
                <a:latin typeface="Calibri" pitchFamily="34" charset="0"/>
                <a:ea typeface="Calibri" pitchFamily="34" charset="-122"/>
                <a:cs typeface="Calibri" pitchFamily="34" charset="-120"/>
              </a:rPr>
              <a:t>Betikler</a:t>
            </a:r>
            <a:r>
              <a:rPr lang="tr-TR" sz="1900" dirty="0">
                <a:solidFill>
                  <a:srgbClr val="3A464C"/>
                </a:solidFill>
                <a:latin typeface="Calibri" pitchFamily="34" charset="0"/>
                <a:ea typeface="Calibri" pitchFamily="34" charset="-122"/>
                <a:cs typeface="Calibri" pitchFamily="34" charset="-120"/>
              </a:rPr>
              <a:t> yazabildiğiniz her şeyi otomatikleştirir (H14).</a:t>
            </a:r>
            <a:endParaRPr lang="tr-TR" sz="1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DERSİN KAPANIŞI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 Dönem Neler Öğrendiniz?</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34</a:t>
            </a:r>
            <a:endParaRPr lang="tr-TR" sz="900" dirty="0"/>
          </a:p>
        </p:txBody>
      </p:sp>
      <p:sp>
        <p:nvSpPr>
          <p:cNvPr id="6" name="Shape 4"/>
          <p:cNvSpPr/>
          <p:nvPr/>
        </p:nvSpPr>
        <p:spPr>
          <a:xfrm>
            <a:off x="548640" y="1645920"/>
            <a:ext cx="914400" cy="1143000"/>
          </a:xfrm>
          <a:prstGeom prst="roundRect">
            <a:avLst>
              <a:gd name="adj" fmla="val 5000"/>
            </a:avLst>
          </a:prstGeom>
          <a:solidFill>
            <a:srgbClr val="36454F"/>
          </a:solidFill>
          <a:ln/>
        </p:spPr>
      </p:sp>
      <p:sp>
        <p:nvSpPr>
          <p:cNvPr id="7" name="Text 5"/>
          <p:cNvSpPr txBox="1"/>
          <p:nvPr/>
        </p:nvSpPr>
        <p:spPr>
          <a:xfrm>
            <a:off x="548640"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mbria" pitchFamily="34" charset="0"/>
                <a:ea typeface="Cambria" pitchFamily="34" charset="-122"/>
                <a:cs typeface="Cambria" pitchFamily="34" charset="-120"/>
              </a:rPr>
              <a:t>H1–2</a:t>
            </a:r>
            <a:endParaRPr lang="tr-TR" sz="1400" dirty="0"/>
          </a:p>
          <a:p>
            <a:pPr algn="ctr" indent="0" marL="0">
              <a:buNone/>
            </a:pPr>
            <a:r>
              <a:rPr lang="tr-TR" sz="1000" dirty="0">
                <a:solidFill>
                  <a:srgbClr val="FFFFFF"/>
                </a:solidFill>
                <a:latin typeface="Calibri" pitchFamily="34" charset="0"/>
                <a:ea typeface="Calibri" pitchFamily="34" charset="-122"/>
                <a:cs typeface="Calibri" pitchFamily="34" charset="-120"/>
              </a:rPr>
              <a:t>İS nedir?</a:t>
            </a:r>
            <a:endParaRPr lang="tr-TR" sz="1400" dirty="0"/>
          </a:p>
        </p:txBody>
      </p:sp>
      <p:sp>
        <p:nvSpPr>
          <p:cNvPr id="8" name="Shape 6"/>
          <p:cNvSpPr/>
          <p:nvPr/>
        </p:nvSpPr>
        <p:spPr>
          <a:xfrm>
            <a:off x="1559052" y="1645920"/>
            <a:ext cx="914400" cy="1143000"/>
          </a:xfrm>
          <a:prstGeom prst="roundRect">
            <a:avLst>
              <a:gd name="adj" fmla="val 5000"/>
            </a:avLst>
          </a:prstGeom>
          <a:solidFill>
            <a:srgbClr val="36454F"/>
          </a:solidFill>
          <a:ln/>
        </p:spPr>
      </p:sp>
      <p:sp>
        <p:nvSpPr>
          <p:cNvPr id="9" name="Text 7"/>
          <p:cNvSpPr txBox="1"/>
          <p:nvPr/>
        </p:nvSpPr>
        <p:spPr>
          <a:xfrm>
            <a:off x="1559052"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mbria" pitchFamily="34" charset="0"/>
                <a:ea typeface="Cambria" pitchFamily="34" charset="-122"/>
                <a:cs typeface="Cambria" pitchFamily="34" charset="-120"/>
              </a:rPr>
              <a:t>H3</a:t>
            </a:r>
            <a:endParaRPr lang="tr-TR" sz="1400" dirty="0"/>
          </a:p>
          <a:p>
            <a:pPr algn="ctr" indent="0" marL="0">
              <a:buNone/>
            </a:pPr>
            <a:r>
              <a:rPr lang="tr-TR" sz="1000" dirty="0">
                <a:solidFill>
                  <a:srgbClr val="FFFFFF"/>
                </a:solidFill>
                <a:latin typeface="Calibri" pitchFamily="34" charset="0"/>
                <a:ea typeface="Calibri" pitchFamily="34" charset="-122"/>
                <a:cs typeface="Calibri" pitchFamily="34" charset="-120"/>
              </a:rPr>
              <a:t>Süreçler</a:t>
            </a:r>
            <a:endParaRPr lang="tr-TR" sz="1400" dirty="0"/>
          </a:p>
        </p:txBody>
      </p:sp>
      <p:sp>
        <p:nvSpPr>
          <p:cNvPr id="10" name="Shape 8"/>
          <p:cNvSpPr/>
          <p:nvPr/>
        </p:nvSpPr>
        <p:spPr>
          <a:xfrm>
            <a:off x="2569464" y="1645920"/>
            <a:ext cx="914400" cy="1143000"/>
          </a:xfrm>
          <a:prstGeom prst="roundRect">
            <a:avLst>
              <a:gd name="adj" fmla="val 5000"/>
            </a:avLst>
          </a:prstGeom>
          <a:solidFill>
            <a:srgbClr val="36454F"/>
          </a:solidFill>
          <a:ln/>
        </p:spPr>
      </p:sp>
      <p:sp>
        <p:nvSpPr>
          <p:cNvPr id="11" name="Text 9"/>
          <p:cNvSpPr txBox="1"/>
          <p:nvPr/>
        </p:nvSpPr>
        <p:spPr>
          <a:xfrm>
            <a:off x="2569464"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mbria" pitchFamily="34" charset="0"/>
                <a:ea typeface="Cambria" pitchFamily="34" charset="-122"/>
                <a:cs typeface="Cambria" pitchFamily="34" charset="-120"/>
              </a:rPr>
              <a:t>H4</a:t>
            </a:r>
            <a:endParaRPr lang="tr-TR" sz="1400" dirty="0"/>
          </a:p>
          <a:p>
            <a:pPr algn="ctr" indent="0" marL="0">
              <a:buNone/>
            </a:pPr>
            <a:r>
              <a:rPr lang="tr-TR" sz="1000" dirty="0">
                <a:solidFill>
                  <a:srgbClr val="FFFFFF"/>
                </a:solidFill>
                <a:latin typeface="Calibri" pitchFamily="34" charset="0"/>
                <a:ea typeface="Calibri" pitchFamily="34" charset="-122"/>
                <a:cs typeface="Calibri" pitchFamily="34" charset="-120"/>
              </a:rPr>
              <a:t>İş parçacıkları</a:t>
            </a:r>
            <a:endParaRPr lang="tr-TR" sz="1400" dirty="0"/>
          </a:p>
        </p:txBody>
      </p:sp>
      <p:sp>
        <p:nvSpPr>
          <p:cNvPr id="12" name="Shape 10"/>
          <p:cNvSpPr/>
          <p:nvPr/>
        </p:nvSpPr>
        <p:spPr>
          <a:xfrm>
            <a:off x="3579876" y="1645920"/>
            <a:ext cx="914400" cy="1143000"/>
          </a:xfrm>
          <a:prstGeom prst="roundRect">
            <a:avLst>
              <a:gd name="adj" fmla="val 5000"/>
            </a:avLst>
          </a:prstGeom>
          <a:solidFill>
            <a:srgbClr val="36454F"/>
          </a:solidFill>
          <a:ln/>
        </p:spPr>
      </p:sp>
      <p:sp>
        <p:nvSpPr>
          <p:cNvPr id="13" name="Text 11"/>
          <p:cNvSpPr txBox="1"/>
          <p:nvPr/>
        </p:nvSpPr>
        <p:spPr>
          <a:xfrm>
            <a:off x="3579876"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mbria" pitchFamily="34" charset="0"/>
                <a:ea typeface="Cambria" pitchFamily="34" charset="-122"/>
                <a:cs typeface="Cambria" pitchFamily="34" charset="-120"/>
              </a:rPr>
              <a:t>H5</a:t>
            </a:r>
            <a:endParaRPr lang="tr-TR" sz="1400" dirty="0"/>
          </a:p>
          <a:p>
            <a:pPr algn="ctr" indent="0" marL="0">
              <a:buNone/>
            </a:pPr>
            <a:r>
              <a:rPr lang="tr-TR" sz="1000" dirty="0">
                <a:solidFill>
                  <a:srgbClr val="FFFFFF"/>
                </a:solidFill>
                <a:latin typeface="Calibri" pitchFamily="34" charset="0"/>
                <a:ea typeface="Calibri" pitchFamily="34" charset="-122"/>
                <a:cs typeface="Calibri" pitchFamily="34" charset="-120"/>
              </a:rPr>
              <a:t>Zamanlama, eşz.</a:t>
            </a:r>
            <a:endParaRPr lang="tr-TR" sz="1400" dirty="0"/>
          </a:p>
        </p:txBody>
      </p:sp>
      <p:sp>
        <p:nvSpPr>
          <p:cNvPr id="14" name="Shape 12"/>
          <p:cNvSpPr/>
          <p:nvPr/>
        </p:nvSpPr>
        <p:spPr>
          <a:xfrm>
            <a:off x="4590288" y="1645920"/>
            <a:ext cx="914400" cy="1143000"/>
          </a:xfrm>
          <a:prstGeom prst="roundRect">
            <a:avLst>
              <a:gd name="adj" fmla="val 5000"/>
            </a:avLst>
          </a:prstGeom>
          <a:solidFill>
            <a:srgbClr val="36454F"/>
          </a:solidFill>
          <a:ln/>
        </p:spPr>
      </p:sp>
      <p:sp>
        <p:nvSpPr>
          <p:cNvPr id="15" name="Text 13"/>
          <p:cNvSpPr txBox="1"/>
          <p:nvPr/>
        </p:nvSpPr>
        <p:spPr>
          <a:xfrm>
            <a:off x="4590288"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mbria" pitchFamily="34" charset="0"/>
                <a:ea typeface="Cambria" pitchFamily="34" charset="-122"/>
                <a:cs typeface="Cambria" pitchFamily="34" charset="-120"/>
              </a:rPr>
              <a:t>H6</a:t>
            </a:r>
            <a:endParaRPr lang="tr-TR" sz="1400" dirty="0"/>
          </a:p>
          <a:p>
            <a:pPr algn="ctr" indent="0" marL="0">
              <a:buNone/>
            </a:pPr>
            <a:r>
              <a:rPr lang="tr-TR" sz="1000" dirty="0">
                <a:solidFill>
                  <a:srgbClr val="FFFFFF"/>
                </a:solidFill>
                <a:latin typeface="Calibri" pitchFamily="34" charset="0"/>
                <a:ea typeface="Calibri" pitchFamily="34" charset="-122"/>
                <a:cs typeface="Calibri" pitchFamily="34" charset="-120"/>
              </a:rPr>
              <a:t>Bellek</a:t>
            </a:r>
            <a:endParaRPr lang="tr-TR" sz="1400" dirty="0"/>
          </a:p>
        </p:txBody>
      </p:sp>
      <p:sp>
        <p:nvSpPr>
          <p:cNvPr id="16" name="Shape 14"/>
          <p:cNvSpPr/>
          <p:nvPr/>
        </p:nvSpPr>
        <p:spPr>
          <a:xfrm>
            <a:off x="5600700" y="1645920"/>
            <a:ext cx="914400" cy="1143000"/>
          </a:xfrm>
          <a:prstGeom prst="roundRect">
            <a:avLst>
              <a:gd name="adj" fmla="val 5000"/>
            </a:avLst>
          </a:prstGeom>
          <a:solidFill>
            <a:srgbClr val="36454F"/>
          </a:solidFill>
          <a:ln/>
        </p:spPr>
      </p:sp>
      <p:sp>
        <p:nvSpPr>
          <p:cNvPr id="17" name="Text 15"/>
          <p:cNvSpPr txBox="1"/>
          <p:nvPr/>
        </p:nvSpPr>
        <p:spPr>
          <a:xfrm>
            <a:off x="5600700"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FFFFFF"/>
                </a:solidFill>
                <a:latin typeface="Cambria" pitchFamily="34" charset="0"/>
                <a:ea typeface="Cambria" pitchFamily="34" charset="-122"/>
                <a:cs typeface="Cambria" pitchFamily="34" charset="-120"/>
              </a:rPr>
              <a:t>H7</a:t>
            </a:r>
            <a:endParaRPr lang="tr-TR" sz="1400" dirty="0"/>
          </a:p>
          <a:p>
            <a:pPr algn="ctr" indent="0" marL="0">
              <a:buNone/>
            </a:pPr>
            <a:r>
              <a:rPr lang="tr-TR" sz="1000" dirty="0">
                <a:solidFill>
                  <a:srgbClr val="FFFFFF"/>
                </a:solidFill>
                <a:latin typeface="Calibri" pitchFamily="34" charset="0"/>
                <a:ea typeface="Calibri" pitchFamily="34" charset="-122"/>
                <a:cs typeface="Calibri" pitchFamily="34" charset="-120"/>
              </a:rPr>
              <a:t>SB, dosyalar</a:t>
            </a:r>
            <a:endParaRPr lang="tr-TR" sz="1400" dirty="0"/>
          </a:p>
        </p:txBody>
      </p:sp>
      <p:sp>
        <p:nvSpPr>
          <p:cNvPr id="18" name="Shape 16"/>
          <p:cNvSpPr/>
          <p:nvPr/>
        </p:nvSpPr>
        <p:spPr>
          <a:xfrm>
            <a:off x="6611112" y="1645920"/>
            <a:ext cx="914400" cy="1143000"/>
          </a:xfrm>
          <a:prstGeom prst="roundRect">
            <a:avLst>
              <a:gd name="adj" fmla="val 5000"/>
            </a:avLst>
          </a:prstGeom>
          <a:solidFill>
            <a:srgbClr val="02C39A"/>
          </a:solidFill>
          <a:ln/>
        </p:spPr>
      </p:sp>
      <p:sp>
        <p:nvSpPr>
          <p:cNvPr id="19" name="Text 17"/>
          <p:cNvSpPr txBox="1"/>
          <p:nvPr/>
        </p:nvSpPr>
        <p:spPr>
          <a:xfrm>
            <a:off x="6611112"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H9–10</a:t>
            </a:r>
            <a:endParaRPr lang="tr-TR" sz="1400" dirty="0"/>
          </a:p>
          <a:p>
            <a:pPr algn="ctr" indent="0" marL="0">
              <a:buNone/>
            </a:pPr>
            <a:r>
              <a:rPr lang="tr-TR" sz="1000" dirty="0">
                <a:solidFill>
                  <a:srgbClr val="212121"/>
                </a:solidFill>
                <a:latin typeface="Calibri" pitchFamily="34" charset="0"/>
                <a:ea typeface="Calibri" pitchFamily="34" charset="-122"/>
                <a:cs typeface="Calibri" pitchFamily="34" charset="-120"/>
              </a:rPr>
              <a:t>Kabuk, dosyalar</a:t>
            </a:r>
            <a:endParaRPr lang="tr-TR" sz="1400" dirty="0"/>
          </a:p>
        </p:txBody>
      </p:sp>
      <p:sp>
        <p:nvSpPr>
          <p:cNvPr id="20" name="Shape 18"/>
          <p:cNvSpPr/>
          <p:nvPr/>
        </p:nvSpPr>
        <p:spPr>
          <a:xfrm>
            <a:off x="7621524" y="1645920"/>
            <a:ext cx="914400" cy="1143000"/>
          </a:xfrm>
          <a:prstGeom prst="roundRect">
            <a:avLst>
              <a:gd name="adj" fmla="val 5000"/>
            </a:avLst>
          </a:prstGeom>
          <a:solidFill>
            <a:srgbClr val="02C39A"/>
          </a:solidFill>
          <a:ln/>
        </p:spPr>
      </p:sp>
      <p:sp>
        <p:nvSpPr>
          <p:cNvPr id="21" name="Text 19"/>
          <p:cNvSpPr txBox="1"/>
          <p:nvPr/>
        </p:nvSpPr>
        <p:spPr>
          <a:xfrm>
            <a:off x="7621524"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H11</a:t>
            </a:r>
            <a:endParaRPr lang="tr-TR" sz="1400" dirty="0"/>
          </a:p>
          <a:p>
            <a:pPr algn="ctr" indent="0" marL="0">
              <a:buNone/>
            </a:pPr>
            <a:r>
              <a:rPr lang="tr-TR" sz="1000" dirty="0">
                <a:solidFill>
                  <a:srgbClr val="212121"/>
                </a:solidFill>
                <a:latin typeface="Calibri" pitchFamily="34" charset="0"/>
                <a:ea typeface="Calibri" pitchFamily="34" charset="-122"/>
                <a:cs typeface="Calibri" pitchFamily="34" charset="-120"/>
              </a:rPr>
              <a:t>İzinler</a:t>
            </a:r>
            <a:endParaRPr lang="tr-TR" sz="1400" dirty="0"/>
          </a:p>
        </p:txBody>
      </p:sp>
      <p:sp>
        <p:nvSpPr>
          <p:cNvPr id="22" name="Shape 20"/>
          <p:cNvSpPr/>
          <p:nvPr/>
        </p:nvSpPr>
        <p:spPr>
          <a:xfrm>
            <a:off x="8631936" y="1645920"/>
            <a:ext cx="914400" cy="1143000"/>
          </a:xfrm>
          <a:prstGeom prst="roundRect">
            <a:avLst>
              <a:gd name="adj" fmla="val 5000"/>
            </a:avLst>
          </a:prstGeom>
          <a:solidFill>
            <a:srgbClr val="02C39A"/>
          </a:solidFill>
          <a:ln/>
        </p:spPr>
      </p:sp>
      <p:sp>
        <p:nvSpPr>
          <p:cNvPr id="23" name="Text 21"/>
          <p:cNvSpPr txBox="1"/>
          <p:nvPr/>
        </p:nvSpPr>
        <p:spPr>
          <a:xfrm>
            <a:off x="8631936"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H12</a:t>
            </a:r>
            <a:endParaRPr lang="tr-TR" sz="1400" dirty="0"/>
          </a:p>
          <a:p>
            <a:pPr algn="ctr" indent="0" marL="0">
              <a:buNone/>
            </a:pPr>
            <a:r>
              <a:rPr lang="tr-TR" sz="1000" dirty="0">
                <a:solidFill>
                  <a:srgbClr val="212121"/>
                </a:solidFill>
                <a:latin typeface="Calibri" pitchFamily="34" charset="0"/>
                <a:ea typeface="Calibri" pitchFamily="34" charset="-122"/>
                <a:cs typeface="Calibri" pitchFamily="34" charset="-120"/>
              </a:rPr>
              <a:t>Borular</a:t>
            </a:r>
            <a:endParaRPr lang="tr-TR" sz="1400" dirty="0"/>
          </a:p>
        </p:txBody>
      </p:sp>
      <p:sp>
        <p:nvSpPr>
          <p:cNvPr id="24" name="Shape 22"/>
          <p:cNvSpPr/>
          <p:nvPr/>
        </p:nvSpPr>
        <p:spPr>
          <a:xfrm>
            <a:off x="9642348" y="1645920"/>
            <a:ext cx="914400" cy="1143000"/>
          </a:xfrm>
          <a:prstGeom prst="roundRect">
            <a:avLst>
              <a:gd name="adj" fmla="val 5000"/>
            </a:avLst>
          </a:prstGeom>
          <a:solidFill>
            <a:srgbClr val="02C39A"/>
          </a:solidFill>
          <a:ln/>
        </p:spPr>
      </p:sp>
      <p:sp>
        <p:nvSpPr>
          <p:cNvPr id="25" name="Text 23"/>
          <p:cNvSpPr txBox="1"/>
          <p:nvPr/>
        </p:nvSpPr>
        <p:spPr>
          <a:xfrm>
            <a:off x="9642348"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H13</a:t>
            </a:r>
            <a:endParaRPr lang="tr-TR" sz="1400" dirty="0"/>
          </a:p>
          <a:p>
            <a:pPr algn="ctr" indent="0" marL="0">
              <a:buNone/>
            </a:pPr>
            <a:r>
              <a:rPr lang="tr-TR" sz="1000" dirty="0">
                <a:solidFill>
                  <a:srgbClr val="212121"/>
                </a:solidFill>
                <a:latin typeface="Calibri" pitchFamily="34" charset="0"/>
                <a:ea typeface="Calibri" pitchFamily="34" charset="-122"/>
                <a:cs typeface="Calibri" pitchFamily="34" charset="-120"/>
              </a:rPr>
              <a:t>Canlı süreçler</a:t>
            </a:r>
            <a:endParaRPr lang="tr-TR" sz="1400" dirty="0"/>
          </a:p>
        </p:txBody>
      </p:sp>
      <p:sp>
        <p:nvSpPr>
          <p:cNvPr id="26" name="Shape 24"/>
          <p:cNvSpPr/>
          <p:nvPr/>
        </p:nvSpPr>
        <p:spPr>
          <a:xfrm>
            <a:off x="10652760" y="1645920"/>
            <a:ext cx="914400" cy="1143000"/>
          </a:xfrm>
          <a:prstGeom prst="roundRect">
            <a:avLst>
              <a:gd name="adj" fmla="val 5000"/>
            </a:avLst>
          </a:prstGeom>
          <a:solidFill>
            <a:srgbClr val="02C39A"/>
          </a:solidFill>
          <a:ln/>
        </p:spPr>
      </p:sp>
      <p:sp>
        <p:nvSpPr>
          <p:cNvPr id="27" name="Text 25"/>
          <p:cNvSpPr txBox="1"/>
          <p:nvPr/>
        </p:nvSpPr>
        <p:spPr>
          <a:xfrm>
            <a:off x="10652760" y="1645920"/>
            <a:ext cx="914400" cy="1143000"/>
          </a:xfrm>
          <a:prstGeom prst="rect">
            <a:avLst/>
          </a:prstGeom>
          <a:noFill/>
          <a:ln/>
        </p:spPr>
        <p:txBody>
          <a:bodyPr wrap="square" lIns="38100" tIns="38100" rIns="38100" bIns="38100" rtlCol="0" anchor="ctr"/>
          <a:lstStyle/>
          <a:p>
            <a:pPr algn="ctr" indent="0" marL="0">
              <a:buNone/>
            </a:pPr>
            <a:r>
              <a:rPr lang="tr-TR" sz="1400" b="1" dirty="0">
                <a:solidFill>
                  <a:srgbClr val="212121"/>
                </a:solidFill>
                <a:latin typeface="Cambria" pitchFamily="34" charset="0"/>
                <a:ea typeface="Cambria" pitchFamily="34" charset="-122"/>
                <a:cs typeface="Cambria" pitchFamily="34" charset="-120"/>
              </a:rPr>
              <a:t>H14</a:t>
            </a:r>
            <a:endParaRPr lang="tr-TR" sz="1400" dirty="0"/>
          </a:p>
          <a:p>
            <a:pPr algn="ctr" indent="0" marL="0">
              <a:buNone/>
            </a:pPr>
            <a:r>
              <a:rPr lang="tr-TR" sz="1000" dirty="0">
                <a:solidFill>
                  <a:srgbClr val="212121"/>
                </a:solidFill>
                <a:latin typeface="Calibri" pitchFamily="34" charset="0"/>
                <a:ea typeface="Calibri" pitchFamily="34" charset="-122"/>
                <a:cs typeface="Calibri" pitchFamily="34" charset="-120"/>
              </a:rPr>
              <a:t>Betikler</a:t>
            </a:r>
            <a:endParaRPr lang="tr-TR" sz="1400" dirty="0"/>
          </a:p>
        </p:txBody>
      </p:sp>
      <p:sp>
        <p:nvSpPr>
          <p:cNvPr id="28" name="Text 26"/>
          <p:cNvSpPr txBox="1"/>
          <p:nvPr/>
        </p:nvSpPr>
        <p:spPr>
          <a:xfrm>
            <a:off x="548640" y="2852928"/>
            <a:ext cx="6035040" cy="292608"/>
          </a:xfrm>
          <a:prstGeom prst="rect">
            <a:avLst/>
          </a:prstGeom>
          <a:noFill/>
          <a:ln/>
        </p:spPr>
        <p:txBody>
          <a:bodyPr wrap="square" lIns="0" tIns="0" rIns="0" bIns="0" rtlCol="0" anchor="t"/>
          <a:lstStyle/>
          <a:p>
            <a:pPr algn="ctr" indent="0" marL="0">
              <a:buNone/>
            </a:pPr>
            <a:r>
              <a:rPr lang="tr-TR" sz="1300" b="1" dirty="0">
                <a:solidFill>
                  <a:srgbClr val="36454F"/>
                </a:solidFill>
                <a:latin typeface="Calibri" pitchFamily="34" charset="0"/>
                <a:ea typeface="Calibri" pitchFamily="34" charset="-122"/>
                <a:cs typeface="Calibri" pitchFamily="34" charset="-120"/>
              </a:rPr>
              <a:t>Kuram: içeride nasıl çalışır?</a:t>
            </a:r>
            <a:endParaRPr lang="tr-TR" sz="1300" dirty="0"/>
          </a:p>
        </p:txBody>
      </p:sp>
      <p:sp>
        <p:nvSpPr>
          <p:cNvPr id="29" name="Text 27"/>
          <p:cNvSpPr txBox="1"/>
          <p:nvPr/>
        </p:nvSpPr>
        <p:spPr>
          <a:xfrm>
            <a:off x="6611112" y="2852928"/>
            <a:ext cx="5029200" cy="292608"/>
          </a:xfrm>
          <a:prstGeom prst="rect">
            <a:avLst/>
          </a:prstGeom>
          <a:noFill/>
          <a:ln/>
        </p:spPr>
        <p:txBody>
          <a:bodyPr wrap="square" lIns="0" tIns="0" rIns="0" bIns="0" rtlCol="0" anchor="t"/>
          <a:lstStyle/>
          <a:p>
            <a:pPr algn="ctr" indent="0" marL="0">
              <a:buNone/>
            </a:pPr>
            <a:r>
              <a:rPr lang="tr-TR" sz="1300" b="1" dirty="0">
                <a:solidFill>
                  <a:srgbClr val="028090"/>
                </a:solidFill>
                <a:latin typeface="Calibri" pitchFamily="34" charset="0"/>
                <a:ea typeface="Calibri" pitchFamily="34" charset="-122"/>
                <a:cs typeface="Calibri" pitchFamily="34" charset="-120"/>
              </a:rPr>
              <a:t>Uygulama: kabuktan kullanmak</a:t>
            </a:r>
            <a:endParaRPr lang="tr-TR" sz="1300" dirty="0"/>
          </a:p>
        </p:txBody>
      </p:sp>
      <p:sp>
        <p:nvSpPr>
          <p:cNvPr id="30" name="Shape 28"/>
          <p:cNvSpPr/>
          <p:nvPr/>
        </p:nvSpPr>
        <p:spPr>
          <a:xfrm>
            <a:off x="548640"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777240" y="36118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Açıklayabilirsiniz</a:t>
            </a:r>
            <a:endParaRPr lang="tr-TR" sz="1500" dirty="0"/>
          </a:p>
        </p:txBody>
      </p:sp>
      <p:sp>
        <p:nvSpPr>
          <p:cNvPr id="32" name="Text 30"/>
          <p:cNvSpPr txBox="1"/>
          <p:nvPr/>
        </p:nvSpPr>
        <p:spPr>
          <a:xfrm>
            <a:off x="777240" y="4069080"/>
            <a:ext cx="3108960" cy="20574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bir bilgisayarın neden işletim sistemine ihtiyaç duyduğunu</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süreçlerin tek işlemciyi nasıl paylaştığını</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belleğin nasıl çevrildiğini ve sayfalandığını</a:t>
            </a:r>
            <a:endParaRPr lang="tr-TR" sz="1550" dirty="0"/>
          </a:p>
        </p:txBody>
      </p:sp>
      <p:sp>
        <p:nvSpPr>
          <p:cNvPr id="33" name="Shape 31"/>
          <p:cNvSpPr/>
          <p:nvPr/>
        </p:nvSpPr>
        <p:spPr>
          <a:xfrm>
            <a:off x="4315968"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34" name="Text 32"/>
          <p:cNvSpPr txBox="1"/>
          <p:nvPr/>
        </p:nvSpPr>
        <p:spPr>
          <a:xfrm>
            <a:off x="4544568" y="36118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Hesaplayabilirsiniz</a:t>
            </a:r>
            <a:endParaRPr lang="tr-TR" sz="1500" dirty="0"/>
          </a:p>
        </p:txBody>
      </p:sp>
      <p:sp>
        <p:nvSpPr>
          <p:cNvPr id="35" name="Text 33"/>
          <p:cNvSpPr txBox="1"/>
          <p:nvPr/>
        </p:nvSpPr>
        <p:spPr>
          <a:xfrm>
            <a:off x="4544568" y="4069080"/>
            <a:ext cx="3108960" cy="20574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Gantt şemalarını ve bekleme sürelerini</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adresleri, TLB ve sayfa hatalarıyla EAT'yi</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sayfa hatası sayılarını, blok numaralarını</a:t>
            </a:r>
            <a:endParaRPr lang="tr-TR" sz="1550" dirty="0"/>
          </a:p>
        </p:txBody>
      </p:sp>
      <p:sp>
        <p:nvSpPr>
          <p:cNvPr id="36" name="Shape 34"/>
          <p:cNvSpPr/>
          <p:nvPr/>
        </p:nvSpPr>
        <p:spPr>
          <a:xfrm>
            <a:off x="8092440" y="3429000"/>
            <a:ext cx="3566160" cy="2834640"/>
          </a:xfrm>
          <a:prstGeom prst="roundRect">
            <a:avLst>
              <a:gd name="adj" fmla="val 1935"/>
            </a:avLst>
          </a:prstGeom>
          <a:solidFill>
            <a:srgbClr val="F2F2F2"/>
          </a:solidFill>
          <a:ln/>
          <a:effectLst>
            <a:outerShdw sx="100000" sy="100000" kx="0" ky="0" algn="bl" rotWithShape="0" blurRad="101600" dist="25400" dir="5400000">
              <a:srgbClr val="000000">
                <a:alpha val="12000"/>
              </a:srgbClr>
            </a:outerShdw>
          </a:effectLst>
        </p:spPr>
      </p:sp>
      <p:sp>
        <p:nvSpPr>
          <p:cNvPr id="37" name="Text 35"/>
          <p:cNvSpPr txBox="1"/>
          <p:nvPr/>
        </p:nvSpPr>
        <p:spPr>
          <a:xfrm>
            <a:off x="8321040" y="3611880"/>
            <a:ext cx="3108960" cy="384048"/>
          </a:xfrm>
          <a:prstGeom prst="rect">
            <a:avLst/>
          </a:prstGeom>
          <a:noFill/>
          <a:ln/>
        </p:spPr>
        <p:txBody>
          <a:bodyPr wrap="square" lIns="0" tIns="0" rIns="0" bIns="0" rtlCol="0" anchor="ctr"/>
          <a:lstStyle/>
          <a:p>
            <a:pPr indent="0" marL="0">
              <a:buNone/>
            </a:pPr>
            <a:r>
              <a:rPr lang="tr-TR" sz="1500" b="1" dirty="0">
                <a:solidFill>
                  <a:srgbClr val="028090"/>
                </a:solidFill>
                <a:latin typeface="Cambria" pitchFamily="34" charset="0"/>
                <a:ea typeface="Cambria" pitchFamily="34" charset="-122"/>
                <a:cs typeface="Cambria" pitchFamily="34" charset="-120"/>
              </a:rPr>
              <a:t>Yapabilirsiniz</a:t>
            </a:r>
            <a:endParaRPr lang="tr-TR" sz="1500" dirty="0"/>
          </a:p>
        </p:txBody>
      </p:sp>
      <p:sp>
        <p:nvSpPr>
          <p:cNvPr id="38" name="Text 36"/>
          <p:cNvSpPr txBox="1"/>
          <p:nvPr/>
        </p:nvSpPr>
        <p:spPr>
          <a:xfrm>
            <a:off x="8321040" y="4069080"/>
            <a:ext cx="3108960" cy="2057400"/>
          </a:xfrm>
          <a:prstGeom prst="rect">
            <a:avLst/>
          </a:prstGeom>
          <a:noFill/>
          <a:ln/>
        </p:spPr>
        <p:txBody>
          <a:bodyPr wrap="square" lIns="0" tIns="0" rIns="0" bIns="0" rtlCol="0" anchor="t"/>
          <a:lstStyle/>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her Linux kabuğunda çalışmak</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dosyaları korumak, günlükleri boru hatlarıyla incelemek</a:t>
            </a:r>
            <a:endParaRPr lang="tr-TR" sz="1550" dirty="0"/>
          </a:p>
          <a:p>
            <a:pPr marL="228600" indent="-228600">
              <a:spcAft>
                <a:spcPts val="400"/>
              </a:spcAft>
              <a:buSzPct val="100000"/>
              <a:buChar char="•"/>
            </a:pPr>
            <a:r>
              <a:rPr lang="tr-TR" sz="1550" dirty="0">
                <a:solidFill>
                  <a:srgbClr val="3A464C"/>
                </a:solidFill>
                <a:latin typeface="Calibri" pitchFamily="34" charset="0"/>
                <a:ea typeface="Calibri" pitchFamily="34" charset="-122"/>
                <a:cs typeface="Calibri" pitchFamily="34" charset="-120"/>
              </a:rPr>
              <a:t>süreçleri yönetmek, betik yazmak</a:t>
            </a:r>
            <a:endParaRPr lang="tr-TR"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tr-TR" sz="1200" b="1" spc="200" kern="0" dirty="0">
                <a:solidFill>
                  <a:srgbClr val="02C39A"/>
                </a:solidFill>
                <a:latin typeface="Calibri" pitchFamily="34" charset="0"/>
                <a:ea typeface="Calibri" pitchFamily="34" charset="-122"/>
                <a:cs typeface="Calibri" pitchFamily="34" charset="-120"/>
              </a:rPr>
              <a:t>DERSİN KAPANIŞI</a:t>
            </a:r>
            <a:endParaRPr lang="tr-TR"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tr-TR" sz="3000" b="1" dirty="0">
                <a:solidFill>
                  <a:srgbClr val="36454F"/>
                </a:solidFill>
                <a:latin typeface="Cambria" pitchFamily="34" charset="0"/>
                <a:ea typeface="Cambria" pitchFamily="34" charset="-122"/>
                <a:cs typeface="Cambria" pitchFamily="34" charset="-120"/>
              </a:rPr>
              <a:t>Bundan Sonra Nereye?</a:t>
            </a:r>
            <a:endParaRPr lang="tr-TR"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6B7679"/>
                </a:solidFill>
                <a:latin typeface="Calibri" pitchFamily="34" charset="0"/>
                <a:ea typeface="Calibri" pitchFamily="34" charset="-122"/>
                <a:cs typeface="Calibri" pitchFamily="34" charset="-120"/>
              </a:rPr>
              <a:t>MBLP131 — İşletim Sistemleri Temelleri</a:t>
            </a:r>
            <a:endParaRPr lang="tr-TR"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6B7679"/>
                </a:solidFill>
                <a:latin typeface="Calibri" pitchFamily="34" charset="0"/>
                <a:ea typeface="Calibri" pitchFamily="34" charset="-122"/>
                <a:cs typeface="Calibri" pitchFamily="34" charset="-120"/>
              </a:rPr>
              <a:t>Hafta 15  ·  35</a:t>
            </a:r>
            <a:endParaRPr lang="tr-TR" sz="900" dirty="0"/>
          </a:p>
        </p:txBody>
      </p:sp>
      <p:sp>
        <p:nvSpPr>
          <p:cNvPr id="6" name="Shape 4"/>
          <p:cNvSpPr/>
          <p:nvPr/>
        </p:nvSpPr>
        <p:spPr>
          <a:xfrm>
            <a:off x="54864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7" name="Text 5"/>
          <p:cNvSpPr txBox="1"/>
          <p:nvPr/>
        </p:nvSpPr>
        <p:spPr>
          <a:xfrm>
            <a:off x="77724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Linux kullanmaya devam</a:t>
            </a:r>
            <a:endParaRPr lang="tr-TR" sz="1600" dirty="0"/>
          </a:p>
        </p:txBody>
      </p:sp>
      <p:sp>
        <p:nvSpPr>
          <p:cNvPr id="8" name="Text 6"/>
          <p:cNvSpPr txBox="1"/>
          <p:nvPr/>
        </p:nvSpPr>
        <p:spPr>
          <a:xfrm>
            <a:off x="77724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Ubuntu'yu bir sanal makineye ya da WSL'ye (wsl --install) kurun ve her gün kullanın.</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Raspberry Pi ucuz bir Linux laboratuvarıdır.</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Ücretsiz alıştırma: OverTheWire Bandit (bir kabuk oyunu).</a:t>
            </a:r>
            <a:endParaRPr lang="tr-TR" sz="1500" dirty="0"/>
          </a:p>
        </p:txBody>
      </p:sp>
      <p:sp>
        <p:nvSpPr>
          <p:cNvPr id="9" name="Shape 7"/>
          <p:cNvSpPr/>
          <p:nvPr/>
        </p:nvSpPr>
        <p:spPr>
          <a:xfrm>
            <a:off x="432816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55676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Kitaplar (ücretsiz ve klasik)</a:t>
            </a:r>
            <a:endParaRPr lang="tr-TR" sz="1600" dirty="0"/>
          </a:p>
        </p:txBody>
      </p:sp>
      <p:sp>
        <p:nvSpPr>
          <p:cNvPr id="11" name="Text 9"/>
          <p:cNvSpPr txBox="1"/>
          <p:nvPr/>
        </p:nvSpPr>
        <p:spPr>
          <a:xfrm>
            <a:off x="455676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OSTEP — Operating Systems: Three Easy Pieces (çevrim içi ücretsiz).</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Silberschatz vd., Operating System Concepts, 10. baskı.</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W. Shotts, The Linux Command Line (ücretsiz PDF).</a:t>
            </a:r>
            <a:endParaRPr lang="tr-TR" sz="1500" dirty="0"/>
          </a:p>
        </p:txBody>
      </p:sp>
      <p:sp>
        <p:nvSpPr>
          <p:cNvPr id="12" name="Shape 10"/>
          <p:cNvSpPr/>
          <p:nvPr/>
        </p:nvSpPr>
        <p:spPr>
          <a:xfrm>
            <a:off x="8107680" y="1508760"/>
            <a:ext cx="3550920" cy="3749040"/>
          </a:xfrm>
          <a:prstGeom prst="roundRect">
            <a:avLst>
              <a:gd name="adj" fmla="val 1545"/>
            </a:avLst>
          </a:prstGeom>
          <a:solidFill>
            <a:srgbClr val="F2F2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336280" y="1691640"/>
            <a:ext cx="3093720" cy="384048"/>
          </a:xfrm>
          <a:prstGeom prst="rect">
            <a:avLst/>
          </a:prstGeom>
          <a:noFill/>
          <a:ln/>
        </p:spPr>
        <p:txBody>
          <a:bodyPr wrap="square" lIns="0" tIns="0" rIns="0" bIns="0" rtlCol="0" anchor="ctr"/>
          <a:lstStyle/>
          <a:p>
            <a:pPr indent="0" marL="0">
              <a:buNone/>
            </a:pPr>
            <a:r>
              <a:rPr lang="tr-TR" sz="1600" b="1" dirty="0">
                <a:solidFill>
                  <a:srgbClr val="028090"/>
                </a:solidFill>
                <a:latin typeface="Cambria" pitchFamily="34" charset="0"/>
                <a:ea typeface="Cambria" pitchFamily="34" charset="-122"/>
                <a:cs typeface="Cambria" pitchFamily="34" charset="-120"/>
              </a:rPr>
              <a:t>Sertifikalar</a:t>
            </a:r>
            <a:endParaRPr lang="tr-TR" sz="1600" dirty="0"/>
          </a:p>
        </p:txBody>
      </p:sp>
      <p:sp>
        <p:nvSpPr>
          <p:cNvPr id="14" name="Text 12"/>
          <p:cNvSpPr txBox="1"/>
          <p:nvPr/>
        </p:nvSpPr>
        <p:spPr>
          <a:xfrm>
            <a:off x="8336280" y="2148840"/>
            <a:ext cx="3093720" cy="2971800"/>
          </a:xfrm>
          <a:prstGeom prst="rect">
            <a:avLst/>
          </a:prstGeom>
          <a:noFill/>
          <a:ln/>
        </p:spPr>
        <p:txBody>
          <a:bodyPr wrap="square" lIns="0" tIns="0" rIns="0" bIns="0" rtlCol="0" anchor="t"/>
          <a:lstStyle/>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LPI Linux Essentials (giriş düzeyi).</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CompTIA Linux+ ya da LPIC-1 (sonraki adım).</a:t>
            </a:r>
            <a:endParaRPr lang="tr-TR" sz="1500" dirty="0"/>
          </a:p>
          <a:p>
            <a:pPr marL="228600" indent="-228600">
              <a:spcAft>
                <a:spcPts val="400"/>
              </a:spcAft>
              <a:buSzPct val="100000"/>
              <a:buChar char="•"/>
            </a:pPr>
            <a:r>
              <a:rPr lang="tr-TR" sz="1500" dirty="0">
                <a:solidFill>
                  <a:srgbClr val="3A464C"/>
                </a:solidFill>
                <a:latin typeface="Calibri" pitchFamily="34" charset="0"/>
                <a:ea typeface="Calibri" pitchFamily="34" charset="-122"/>
                <a:cs typeface="Calibri" pitchFamily="34" charset="-120"/>
              </a:rPr>
              <a:t>Daha sonra: Red Hat RHCSA, Linux Foundation LFCS. Güncel sürüm ve ücretleri denetleyin.</a:t>
            </a:r>
            <a:endParaRPr lang="tr-TR" sz="1500" dirty="0"/>
          </a:p>
        </p:txBody>
      </p:sp>
      <p:sp>
        <p:nvSpPr>
          <p:cNvPr id="15" name="Shape 13"/>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777240" y="5486400"/>
            <a:ext cx="10652760" cy="777240"/>
          </a:xfrm>
          <a:prstGeom prst="rect">
            <a:avLst/>
          </a:prstGeom>
          <a:noFill/>
          <a:ln/>
        </p:spPr>
        <p:txBody>
          <a:bodyPr wrap="square" lIns="0" tIns="0" rIns="0" bIns="0" rtlCol="0" anchor="ctr"/>
          <a:lstStyle/>
          <a:p>
            <a:pPr indent="0" marL="0">
              <a:buNone/>
            </a:pPr>
            <a:r>
              <a:rPr lang="tr-TR" sz="1400" dirty="0">
                <a:solidFill>
                  <a:srgbClr val="F2F2F2"/>
                </a:solidFill>
                <a:latin typeface="Calibri" pitchFamily="34" charset="0"/>
                <a:ea typeface="Calibri" pitchFamily="34" charset="-122"/>
                <a:cs typeface="Calibri" pitchFamily="34" charset="-120"/>
              </a:rPr>
              <a:t>Yararlı siteler: missing.csail.mit.edu (kabuk, araçlar) · explainshell.com (bu komut ne yapar?) · shellcheck.net (betiklerdeki hataları bulur).</a:t>
            </a:r>
            <a:endParaRPr lang="tr-TR"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188720"/>
            <a:ext cx="9144000" cy="320040"/>
          </a:xfrm>
          <a:prstGeom prst="rect">
            <a:avLst/>
          </a:prstGeom>
          <a:noFill/>
          <a:ln/>
        </p:spPr>
        <p:txBody>
          <a:bodyPr wrap="square" lIns="0" tIns="0" rIns="0" bIns="0" rtlCol="0" anchor="ctr"/>
          <a:lstStyle/>
          <a:p>
            <a:pPr indent="0" marL="0">
              <a:buNone/>
            </a:pPr>
            <a:r>
              <a:rPr lang="tr-TR" sz="1300" b="1" spc="300" kern="0" dirty="0">
                <a:solidFill>
                  <a:srgbClr val="02C39A"/>
                </a:solidFill>
                <a:latin typeface="Calibri" pitchFamily="34" charset="0"/>
                <a:ea typeface="Calibri" pitchFamily="34" charset="-122"/>
                <a:cs typeface="Calibri" pitchFamily="34" charset="-120"/>
              </a:rPr>
              <a:t>TEŞEKKÜRLER</a:t>
            </a:r>
            <a:endParaRPr lang="tr-TR" sz="1300" dirty="0"/>
          </a:p>
        </p:txBody>
      </p:sp>
      <p:sp>
        <p:nvSpPr>
          <p:cNvPr id="3" name="Text 1"/>
          <p:cNvSpPr txBox="1"/>
          <p:nvPr/>
        </p:nvSpPr>
        <p:spPr>
          <a:xfrm>
            <a:off x="548640" y="1554480"/>
            <a:ext cx="10972800" cy="777240"/>
          </a:xfrm>
          <a:prstGeom prst="rect">
            <a:avLst/>
          </a:prstGeom>
          <a:noFill/>
          <a:ln/>
        </p:spPr>
        <p:txBody>
          <a:bodyPr wrap="square" lIns="0" tIns="0" rIns="0" bIns="0" rtlCol="0" anchor="ctr"/>
          <a:lstStyle/>
          <a:p>
            <a:pPr indent="0" marL="0">
              <a:buNone/>
            </a:pPr>
            <a:r>
              <a:rPr lang="tr-TR" sz="3800" b="1" dirty="0">
                <a:solidFill>
                  <a:srgbClr val="FFFFFF"/>
                </a:solidFill>
                <a:latin typeface="Cambria" pitchFamily="34" charset="0"/>
                <a:ea typeface="Cambria" pitchFamily="34" charset="-122"/>
                <a:cs typeface="Cambria" pitchFamily="34" charset="-120"/>
              </a:rPr>
              <a:t>Finalde Başarılar!</a:t>
            </a:r>
            <a:endParaRPr lang="tr-TR" sz="3800" dirty="0"/>
          </a:p>
        </p:txBody>
      </p:sp>
      <p:sp>
        <p:nvSpPr>
          <p:cNvPr id="4" name="Text 2"/>
          <p:cNvSpPr txBox="1"/>
          <p:nvPr/>
        </p:nvSpPr>
        <p:spPr>
          <a:xfrm>
            <a:off x="548640" y="2468880"/>
            <a:ext cx="10515600" cy="685800"/>
          </a:xfrm>
          <a:prstGeom prst="rect">
            <a:avLst/>
          </a:prstGeom>
          <a:noFill/>
          <a:ln/>
        </p:spPr>
        <p:txBody>
          <a:bodyPr wrap="square" lIns="0" tIns="0" rIns="0" bIns="0" rtlCol="0" anchor="ctr"/>
          <a:lstStyle/>
          <a:p>
            <a:pPr indent="0" marL="0">
              <a:buNone/>
            </a:pPr>
            <a:r>
              <a:rPr lang="tr-TR" sz="1500" i="1" dirty="0">
                <a:solidFill>
                  <a:srgbClr val="F2F2F2"/>
                </a:solidFill>
                <a:latin typeface="Calibri" pitchFamily="34" charset="0"/>
                <a:ea typeface="Calibri" pitchFamily="34" charset="-122"/>
                <a:cs typeface="Calibri" pitchFamily="34" charset="-120"/>
              </a:rPr>
              <a:t>Sınavdan önce sorunuz mu var? Dersin Telegram kanalında sorun — yanıttan herkes yararlanır. [Sınav öncesi ofis saatleri: duyurulacak.]</a:t>
            </a:r>
            <a:endParaRPr lang="tr-TR" sz="1500" dirty="0"/>
          </a:p>
        </p:txBody>
      </p:sp>
      <p:sp>
        <p:nvSpPr>
          <p:cNvPr id="7" name="Text 4"/>
          <p:cNvSpPr txBox="1"/>
          <p:nvPr/>
        </p:nvSpPr>
        <p:spPr>
          <a:xfrm>
            <a:off x="3108960" y="3520440"/>
            <a:ext cx="4937760" cy="1463040"/>
          </a:xfrm>
          <a:prstGeom prst="rect">
            <a:avLst/>
          </a:prstGeom>
          <a:noFill/>
          <a:ln/>
        </p:spPr>
        <p:txBody>
          <a:bodyPr wrap="square" lIns="0" tIns="0" rIns="0" bIns="0" rtlCol="0" anchor="t"/>
          <a:lstStyle/>
          <a:p>
            <a:pPr indent="0" marL="0">
              <a:spcAft>
                <a:spcPts val="400"/>
              </a:spcAft>
              <a:buNone/>
            </a:pPr>
            <a:r>
              <a:rPr lang="tr-TR" sz="1400" b="1" dirty="0">
                <a:solidFill>
                  <a:srgbClr val="F2F2F2"/>
                </a:solidFill>
                <a:latin typeface="Calibri" pitchFamily="34" charset="0"/>
                <a:ea typeface="Calibri" pitchFamily="34" charset="-122"/>
                <a:cs typeface="Calibri" pitchFamily="34" charset="-120"/>
              </a:rPr>
              <a:t>Dr. Öğr. Üyesi Hasan Oğuz</a:t>
            </a:r>
            <a:endParaRPr lang="tr-TR" sz="1400" dirty="0"/>
          </a:p>
        </p:txBody>
      </p:sp>
      <p:sp>
        <p:nvSpPr>
          <p:cNvPr id="8" name="Shape 5"/>
          <p:cNvSpPr/>
          <p:nvPr/>
        </p:nvSpPr>
        <p:spPr>
          <a:xfrm>
            <a:off x="8229600" y="3429000"/>
            <a:ext cx="3429000" cy="2194560"/>
          </a:xfrm>
          <a:prstGeom prst="roundRect">
            <a:avLst>
              <a:gd name="adj" fmla="val 2500"/>
            </a:avLst>
          </a:prstGeom>
          <a:solidFill>
            <a:srgbClr val="36454F"/>
          </a:solidFill>
          <a:ln/>
        </p:spPr>
      </p:sp>
      <p:sp>
        <p:nvSpPr>
          <p:cNvPr id="9" name="Text 6"/>
          <p:cNvSpPr txBox="1"/>
          <p:nvPr/>
        </p:nvSpPr>
        <p:spPr>
          <a:xfrm>
            <a:off x="8458200" y="3520440"/>
            <a:ext cx="2971800" cy="2011680"/>
          </a:xfrm>
          <a:prstGeom prst="rect">
            <a:avLst/>
          </a:prstGeom>
          <a:noFill/>
          <a:ln/>
        </p:spPr>
        <p:txBody>
          <a:bodyPr wrap="square" lIns="0" tIns="0" rIns="0" bIns="0" rtlCol="0" anchor="ctr"/>
          <a:lstStyle/>
          <a:p>
            <a:pPr indent="0" marL="0">
              <a:buNone/>
            </a:pPr>
            <a:r>
              <a:rPr lang="tr-TR" sz="1400" b="1" dirty="0">
                <a:solidFill>
                  <a:srgbClr val="02C39A"/>
                </a:solidFill>
                <a:latin typeface="Calibri" pitchFamily="34" charset="0"/>
                <a:ea typeface="Calibri" pitchFamily="34" charset="-122"/>
                <a:cs typeface="Calibri" pitchFamily="34" charset="-120"/>
              </a:rPr>
              <a:t>Harika bir dönem için teşekkürler.</a:t>
            </a:r>
            <a:endParaRPr lang="tr-TR" sz="1400" dirty="0"/>
          </a:p>
          <a:p>
            <a:pPr indent="0" marL="0">
              <a:buNone/>
            </a:pPr>
            <a:r>
              <a:rPr lang="tr-TR" sz="1400" dirty="0">
                <a:solidFill>
                  <a:srgbClr val="F2F2F2"/>
                </a:solidFill>
                <a:latin typeface="Calibri" pitchFamily="34" charset="0"/>
                <a:ea typeface="Calibri" pitchFamily="34" charset="-122"/>
                <a:cs typeface="Calibri" pitchFamily="34" charset="-120"/>
              </a:rPr>
              <a:t>~/lab klasörünüzü ve ders notlarını saklayın: sınavdan çok sonra da kullanabileceğiniz bir başvuru kaynağıdır.</a:t>
            </a:r>
            <a:endParaRPr lang="tr-TR" sz="1400" dirty="0"/>
          </a:p>
        </p:txBody>
      </p:sp>
      <p:sp>
        <p:nvSpPr>
          <p:cNvPr id="10" name="Text 7"/>
          <p:cNvSpPr txBox="1"/>
          <p:nvPr/>
        </p:nvSpPr>
        <p:spPr>
          <a:xfrm>
            <a:off x="548640" y="6528816"/>
            <a:ext cx="6400800" cy="274320"/>
          </a:xfrm>
          <a:prstGeom prst="rect">
            <a:avLst/>
          </a:prstGeom>
          <a:noFill/>
          <a:ln/>
        </p:spPr>
        <p:txBody>
          <a:bodyPr wrap="square" lIns="0" tIns="0" rIns="0" bIns="0" rtlCol="0" anchor="ctr"/>
          <a:lstStyle/>
          <a:p>
            <a:pPr indent="0" marL="0">
              <a:buNone/>
            </a:pPr>
            <a:r>
              <a:rPr lang="tr-TR" sz="900" dirty="0">
                <a:solidFill>
                  <a:srgbClr val="8A9AA0"/>
                </a:solidFill>
                <a:latin typeface="Calibri" pitchFamily="34" charset="0"/>
                <a:ea typeface="Calibri" pitchFamily="34" charset="-122"/>
                <a:cs typeface="Calibri" pitchFamily="34" charset="-120"/>
              </a:rPr>
              <a:t>MBLP131 — İşletim Sistemleri Temelleri</a:t>
            </a:r>
            <a:endParaRPr lang="tr-TR" sz="900" dirty="0"/>
          </a:p>
        </p:txBody>
      </p:sp>
      <p:sp>
        <p:nvSpPr>
          <p:cNvPr id="11" name="Text 8"/>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tr-TR" sz="900" dirty="0">
                <a:solidFill>
                  <a:srgbClr val="8A9AA0"/>
                </a:solidFill>
                <a:latin typeface="Calibri" pitchFamily="34" charset="0"/>
                <a:ea typeface="Calibri" pitchFamily="34" charset="-122"/>
                <a:cs typeface="Calibri" pitchFamily="34" charset="-120"/>
              </a:rPr>
              <a:t>Hafta 15  ·  36</a:t>
            </a:r>
            <a:endParaRPr lang="tr-TR"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MBLP131 Hafta 15</dc:title>
  <dc:subject>PptxGenJS Presentation</dc:subject>
  <dc:creator>PptxGenJS</dc:creator>
  <cp:lastModifiedBy>PptxGenJS</cp:lastModifiedBy>
  <cp:revision>1</cp:revision>
  <dcterms:created xsi:type="dcterms:W3CDTF">2026-10-12T17:59:41Z</dcterms:created>
  <dcterms:modified xsi:type="dcterms:W3CDTF">2026-10-12T17:59:41Z</dcterms:modified>
</cp:coreProperties>
</file>