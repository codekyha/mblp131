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notesMasterIdLst>
    <p:notesMasterId r:id="rId4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notesMaster" Target="notesMasters/notesMaster1.xml"/><Relationship Id="rId45" Type="http://schemas.openxmlformats.org/officeDocument/2006/relationships/presProps" Target="presProps.xml"/><Relationship Id="rId46" Type="http://schemas.openxmlformats.org/officeDocument/2006/relationships/viewProps" Target="viewProps.xml"/><Relationship Id="rId47" Type="http://schemas.openxmlformats.org/officeDocument/2006/relationships/theme" Target="theme/theme1.xml"/><Relationship Id="rId4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Tekrar hoş geldiniz. Geçen hafta süreci (process) gördük. Bugün ilk saatte süreci iş parçacıklarına (thread) bölüyoruz; ikinci saatte ise her işletim sisteminin saniyede yüzlerce kez yanıtlaması gereken soruyu soruyoruz: işlemciyi sıradaki hangi iş parçacığı alacak? Ortada kısa bir mola vereceğiz.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 tekrar, iki üç dakika. Sorun: bağlam değişiminde ne kaydedilir? (Yazmaçlar, program sayacı ... PCB'ye.) Bugün göreceğiz ki iş parçacığı aslında 'PCB'nin yürütmeyi anlatan kısmı'dır; bu kısım ayrılarak bir sürecin birden çok iş parçacığına sahip olması sağlanır.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bölümler moladan önce, 4–5. bölümler moladan sonra. Uygulamalı C programları her bölümün içinde yer alıyor; çıktılar bir Linux makinesinde gerçekten ölçüldü.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Herhangi bir tanımdan önce, merak uyandıran bir örnekle başlayın.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seçeneği her istek için ayrı bir süreç yaratmak olurdu (eski Apache bunu fork ile yapıyordu). Çalışır, ama süreç yaratmak pahalıdır ve süreçler belleği kolayca paylaşamaz. İş parçacıkları TEK bir süreç içinde, onun belleğini paylaşarak eşzamanlılık sağlar. Öğrencilere sorun: telefonunuzdaki hangi programlar açıkça aynı anda birkaç iş yapıyor?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ders kitabındaki klasik şekildir. Nane yeşili kutular = tüm iş parçacıklarınca paylaşılır; gri kutular = her iş parçacığında bir kopya. Linux her iş parçacığına 'görev' (task) der ve her birine kendi task_struct kaydını verir; bir sürecin iş parçacıkları aynı bellek haritasını ve aynı dosya tablosunu gösterir. Eski kitaplar iş parçacıklarına 'hafif süreç' (lightweight process, LWP) der — bu kısaltmayı birazdan ps çıktısında göreceksiniz.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Tabloyu satır satır geçin. Ortak olan = sürecin bir kap olarak sahip olduğu her şey. Özel olan = 'yürütmede neredeyim' sorusunu yanıtlayan her şey. 5. haftanın tohumunu ekin: iki iş parçacığında aynı anda yapılan shared_counter++ güncellemeleri kaybedebilir.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dört yarar Silberschatz 4. bölümden. Yanıt verebilirlik: klasik 'Uygulama yanıt vermiyor' mesajı, arayüz iş parçacığı meşgulken ortaya çıkar. Ölçeklenebilirlik, yaklaşık 2005'ten sonra işlemci saat hızları artmayı bırakıp çekirdek sayıları artmaya başlayınca çok iş parçacıklı programlamanın vazgeçilmez olmasının nedenidir.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Derleme makinemizden (2 sanal işlemci, paylaşımlı) gerçek çıktı. Doğrudan donanım üzerinde iş parçacığı yaratmak çoğu zaman 10–20 µs sürer ve oran daha büyüktür (Silberschatz, Solaris için süreç yaratmanın yaklaşık 30 kat yavaş olduğunu aktarır). fork(), yazınca kopyala (copy-on-write) olsa bile sayfa tablolarını ve birçok çekirdek yapısını kopyalamak zorundadır; iş parçacığı ise yalnızca bir yığıt ve küçük bir çekirdek kaydı ister. Çıktıdaki us = mikrosaniye (µs).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Üst satır: tek çekirdek dört iş parçacığı arasında hızla (her birine birkaç ms) geçiş yapar — insana eşzamanlı görünür, ama herhangi bir anda yalnızca biri çalışır. Bu, paralellik olmadan eşzamanlılıktır. Alt satırlar: iki çekirdek, iki iş parçacığı gerçekten aynı anda çalışır. Paralellik eşzamanlılığı gerektirir; tersi doğru değildir. Test makinemizde 2 çekirdek var (nproc =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beş zorluk Silberschatz 4.2.1'den. Birazdan çalıştıracağımız dizi toplama programı saf veri paralelliğidir: her iş parçacığı kendi dilimini toplar; en sondaki birleştirmeye, yani main'in kısmi toplamları eklemesine kadar hiçbir bağımlılık yoktur. Test: bir yarış durumu milyonda bir çalıştırmada ortaya çıkabilir.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 Amdahl, IBM, 1967. Tahtada türetin: eski süre = 1 (normalize). Yeni süre = S + (1-S)/N. Hızlanma = eski/yeni. Bu bir üst sınırdır (≤), çünkü gerçek programlar iş parçacığı yaratma, eşzamanlama ve bellek bant genişliği için de bedel öder. Çubuk şekli S = 0,25 kullanır.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Tüm değerler tam olarak hesaplandı: N=8: 1/(0,25+0,09375)=2,909; N=16: 1/(0,25+0,046875)=3,368. Sınıfa sorun: kodun %95'i paralelse (S=0,05) sınır nedir? (20 kat.) GPU programlarının seri kısmı küçücük tutmak için bu kadar uğraşmasının nedeni budur.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Erken Java ("green threads") ve GNU Portable Threads kullanıcı düzeyindeydi. Bugün Linux, Windows ve macOS çekirdek iş parçacıklarını destekler; kullanıcı düzeyinde zamanlama ise Go goroutine'leri ve Java sanal iş parçacıkları (virtual threads, 2023) biçiminde, çoktan çoğa model olarak geri döndü.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Çekirdek tek bir zamanlanabilir varlık gördüğü için onu yalnızca tek bir çekirdekte çalıştırabilir. Herhangi bir iş parçacığı yavaş bir aygıttan read() yaparsa çekirdek bütün süreci uyutur. Çok çekirdekli işlemcilerden yararlanamadığı için bugün bu modeli kullanan sistem çok azdır.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Linux'ta pthread_create() clone() sistem çağrısını çağırır; her iş parçacığı çekirdekte kendi TID'sine sahip ayrı bir görevdir (task). ps -eLf'in her iş parçacığı için bir satır göstermesinin nedeni budur. Windows da her iş parçacığını birebir eşler.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Klasik örnekler, 9. sürümden önceki Solaris ve Windows ThreadFiber'dı. Genel amaçlı işletim sistemi çekirdekleri birebir modele geçti; çünkü çekirdek sayısı arttı ve çekirdek iş parçacıkları ucuzladı. Ama dil çalışma ortamları (Go, Java 21 sanal iş parçacıkları, Erlang) milyonlarca hafif görevi desteklemek için çoktan çoğa modeli kendileri gerçekler.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Öğrencilerin bu tabloyu ezberden doldurabildiğinden emin olun. Sınavların gözdesi: çoktan bire model neden çok çekirdekten yararlanamaz? Çünkü çekirdek yalnızca tek bir çekirdek iş parçacığı görür.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İş parçacığı fonksiyonunun imzası her zaman void *f(void *arg) biçimindedir: genel bir işaretçi alır ve genel bir işaretçi döndürür. Birden çok değer geçirmek için bir struct'a işaretçi verin. Java: sınıf Thread'den türetilir ya da Runnable'ı gerçekler; Linux'ta JVM, Java iş parçacıklarını çekirdek iş parçacıklarına birebir eşler.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Derleme: gcc -Wall -O2 -pthread thread_hello.c -o thread_hello. Satırların sırası çalıştırmadan çalıştırmaya değişir: buna zamanlayıcı karar verir. Ana iş parçacığının TID'si PID'ye eşittir. shared_counter = 3, global değişkenin paylaşıldığını gösterir — ama kilitsiz shared_counter++ bir yarış durumudur; 3 iş parçacığıyla hatayı neredeyse hiç görmezsiniz, milyonlarca artırmada görürsünüz (5. hafta). Tam programda her iş parçacığı ayrıca 2 s uyur; böylece onu ps ile izleyebiliriz.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 program, ölçülen süre kararlı olacak kadar uzun olsun diye diziyi 20 kez toplar; beklenen toplam 10^7 × 45 × 20 = 9 × 10^9'dur ve her çalıştırma bunu verir: bu bir doğruluk denetimidir. İş parçacığı fonksiyonu dilim numarası k'yı işaretçiye dönüştürülmüş olarak alır — küçük bir tamsayıyı geçirmenin yaygın bir hilesidir.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Dürüst sayılar: her biri 9 çalıştırmanın ortancası, aynı sanal makineyi başka işler de kullanırken ölçüldü. En iyi çalıştırmalar: 1,50 s, 0,76 s, 0,73 s. Amdahl'dan S'yi çözün: 1,68 = 1/(S + (1-S)/2) ise S = 2/1,68 - 1 ≈ 0,19. Burada sınırı koyan çoğunlukla bellek bant genişliğidir, bölünemeyen kod değil — Amdahl yasasının bir üst sınır ve bir model olduğunu hatırlatır. Meşgul bir makinede 4 iş parçacığı 2'den biraz hızlı olabilir, çünkü süreç işlemci zamanından daha büyük pay alır; ama çekirdek sayısının izin verdiğinden asla daha hızlı olamaz. Öğrenciler kendi dizüstü bilgisayarlarında denemeli (nproc çekirdek sayısını söyler).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Gerçek çıktı; sığması için bazı sütunlar (STIME, TTY, TIME) çıkarıldı. Şunları da deneyin: top -H (her iş parçacığı için bir satır) ya da iş parçacığı gösterimi açık htop. Windows'ta: Görev Yöneticisi &gt; Ayrıntılar &gt; sütun başlığına sağ tık &gt; Sütunları seç &gt; İş parçacıkları.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Mola. Öğrenciler sorarsa: mola sırasında kendi Linux/WSL ortamınızda nproc ve ps -eLf komutlarını deneyin.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Terimler: ders kitapları 'süreç zamanlaması' der; Linux ve Windows'ta çekirdek aslında iş parçacıklarını zamanlar. 2. bölümdeki her şey ikisi için de geçerlidir; ders kitabıyla uyumlu olmak için 'süreç' diyoruz.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Ders kitabındaki şekli çizin: yükle, sakla, topla, dosyadan oku → G/Ç'yi bekle → sakla, artır → dosyaya yaz → bekle... Patlama uzunluğu histogramı kabaca üsteldir: çok sayıda kısa patlama, uzun patlamalardan oluşan bir kuyruk. Süreç G/Ç beklerken işlemci boşta kalırdı — zamanlayıcı onu başka bir sürece vermedikçe. Çoklu programlamanın (1. hafta) bütün nedeni budur.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Gerçek çıktı; sığması için bash'in time çıktısının üç satırı birer satırda birleştirildi. G/Ç yoğun çalıştırmanın işlemci payı: (0,000+0,104)/0,384 = %27; yani geçen sürenin %73'ünde süreç fsync içinde bloke olmuş, diski bekliyordu. İşlemci zamanının neredeyse tamamının sys olduğuna dikkat edin: write ve fsync sistem çağrılarıdır. İşlemci yoğun çalıştırma 1 + 1/2 + ... + 1/400000000 ≈ 20,38 toplamını hesaplar.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haftanın 5 durumlu diyagramını hatırlayın: hazır kuyruğu tam olarak 'hazır' durumdaki süreçleri tutar. Bekleyen süreçler aygıt kuyruklarında durur. Linux'un varsayılan zamanlayıcısı (CFS, çekirdek 6.6'dan beri EEVDF) hazır görevleri basit bir liste yerine bir kırmızı-siyah ağaçta tutar.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haftadaki beş durumlu diyagramın aynısını, bu kez numaralı kırmızı geçişlerle kullanın. 3. durum: daha yüksek öncelikli bir süreç hazır hâle gelince işletim sistemi işlemciyi çalışan süreçten almak isteyebilir. Bu bizi doğrudan sonraki slayta götürür: kesintili ve kesintisiz zamanlama.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İş birlikçi zamanlama örneği: Windows 3.1'de işletim sistemini çağırmadan sonsuz döngüye giren bir program bütün bilgisayarı dondururdu. Linux, kullanıcı süreçleri için baştan beri kesintilidir; 2.6 sürümünden beri çekirdeğin kendisi de kesintilidir (preemptible kernel).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Zaman ekseni ölçekli değildir: dağıtım gecikmesi birkaç mikrosaniye, bir zaman dilimi birkaç milisaniyedir. vmstat sayıları gerçektir: boştaki 2 çekirdekli sanal makinemiz, iki ayrı bir saniyelik örnekte saniyede 487 ve 614 bağlam değişimi gösterdi.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Gerçek çıktı; time -v'nin diğer satırları çıkarıldı. 1,22 s / 50 ≈ 24 ms: kesintiler arası ortalama süre, yük altındaki bir Linux zaman diliminin mertebesindedir. G/Ç programı her fsync'te birden fazla kez bloke olur (günlük/journal yazımları); 1000 fsync çağrısına karşılık 3714 gönüllü geçiş bu yüzdendir. Çalışan bir sürecin canlı sayaçlarını /proc/&lt;pid&gt;/status içinde de okuyabilirsiniz (voluntary_ctxt_switches, nonvoluntary_ctxt_switches).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Bekleme süresini vurgulayın: zamanlama algoritması bir sürecin ne kadar hesap yaptığını ya da G/Ç yaptığını değiştirmez; yalnızca hazır kuyruğunda ne kadar oturduğunu değiştirir. Yanıt süresini burada ilk kez işlemcide çalışmaya kadar geçen süre olarak tanımlıyoruz (Silberschatz: ilk yanıt üretilene kadar geçen süre; alıştırmalarda ilk çalışmayı kullanırız).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Şekil kesintiye uğrayan bir süreci gösteriyor: 3 birim çalışır, kesilir, 2 birim bekler, 2 birim daha çalışır. Birimler ms olabilir. Vurgulayın: böyle bir süreç için yanıt ≤ bekleme ≤ dönüş. Kesintisiz durumda bir süreç yalnızca bir kez bekler; dolayısıyla yanıt süresi = bekleme süresi.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Gantt şemasını öğrencilerle birlikte tahtada kurun: her an hazır kuyruğunda kim var? t=0: P1 çalışır. t=1'de P2 gelir, bekler. t=2'de P3 gelir, bekler. t=5'te P1 biter -&gt; P2 (önce o geldi). t=8 -&gt; P3. t=14'te kuyruk boş, işlemci boşta. t=16'da P4 gelir, hemen çalışır, 18'de biter.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Tüm sayılar küçük bir Python betiğiyle denetlendi. Başlıklardaki kısaltmalar: Tam. = tamamlanma, Gel. = geliş, Dön. = dönüş, Pat. = patlama. Burada yanıt = bekleme, çünkü zamanlama kesintisizdir: her süreç bir kez bekler, sonra sonuna kadar çalışır. Boşta geçen aralık kullanımı düşürür ama hiçbir sürecin bekleme süresini artırmaz. Sorun: P2 ile P3'ün yeri değişseydi ortalamalar ne olurdu? (Ödev olarak bırakın; gelecek hafta.)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haftanın hedefleriyle bağlayın: yine kullanım kolaylığı ile verimlilik. Bir telefonun zamanlayıcısı ile bir süper bilgisayarınki farklı ölçütleri iyileştirir. Gelecek hafta: FCFS, SJF/SRTF, Öncelik, Round Robin — her biri bir Gantt şeması ve az önce hesapladığımız tabloyla.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ya da 8 çekirdekli dizüstü bilgisayarı olan öğrencileri array_sum sürelerini Telegram kanalında paylaşmaya teşvik edin; gelecek hafta hızlanmaları karşılaştırabiliriz.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Altı maddeyi yavaşça okuyun; öğrencilere en çok hangisini zor bulduklarını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Yanıtlar: (1) Ortak: kod, global değişkenler/öbek, açık dosyalar; özel: PC, yazmaçlar, yığıt, TID. (2) S = 0,1: 1/(0,1 + 0,9/4) = 1/0,325 ≈ 3,08; sınır 1/0,1 = 10. (3) Çekirdek yalnızca tek bir çekirdek iş parçacığı görür; bu yüzden süreci tek bir çekirdekte zamanlar. (4) P1: 0-4, dönüş 4, bekleme 0. P2: 4-6, dönüş 6-1 = 5, bekleme 5-2 =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Gelecek hafta bugünkü ölçütleri dört algoritmayı karşılaştırmak için kullanacağız. Sonra thread_hello'daki shared_counter++ sorununa dönüp onu kilitlerle çözeceğiz.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Sorular. Öğrencilere Telegram kanalını ve code klasöründe dört programın tamamının bir Makefile ile birlikte bulunduğunu hatırlatın.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1737360"/>
            <a:ext cx="7315200" cy="320040"/>
          </a:xfrm>
          <a:prstGeom prst="rect">
            <a:avLst/>
          </a:prstGeom>
          <a:noFill/>
          <a:ln/>
        </p:spPr>
        <p:txBody>
          <a:bodyPr wrap="square" lIns="0" tIns="0" rIns="0" bIns="0" rtlCol="0" anchor="ctr"/>
          <a:lstStyle/>
          <a:p>
            <a:pPr indent="0" marL="0">
              <a:buNone/>
            </a:pPr>
            <a:r>
              <a:rPr lang="tr-TR" sz="1300" b="1" spc="300" kern="0" dirty="0">
                <a:solidFill>
                  <a:srgbClr val="02C39A"/>
                </a:solidFill>
                <a:latin typeface="Calibri" pitchFamily="34" charset="0"/>
                <a:ea typeface="Calibri" pitchFamily="34" charset="-122"/>
                <a:cs typeface="Calibri" pitchFamily="34" charset="-120"/>
              </a:rPr>
              <a:t>MBLP131  ·  HAFTA 4</a:t>
            </a:r>
            <a:endParaRPr lang="tr-TR" sz="1300" dirty="0"/>
          </a:p>
        </p:txBody>
      </p:sp>
      <p:sp>
        <p:nvSpPr>
          <p:cNvPr id="3" name="Text 1"/>
          <p:cNvSpPr txBox="1"/>
          <p:nvPr/>
        </p:nvSpPr>
        <p:spPr>
          <a:xfrm>
            <a:off x="548640" y="2148840"/>
            <a:ext cx="8229600" cy="1463040"/>
          </a:xfrm>
          <a:prstGeom prst="rect">
            <a:avLst/>
          </a:prstGeom>
          <a:noFill/>
          <a:ln/>
        </p:spPr>
        <p:txBody>
          <a:bodyPr wrap="square" lIns="0" tIns="0" rIns="0" bIns="0" rtlCol="0" anchor="t"/>
          <a:lstStyle/>
          <a:p>
            <a:pPr indent="0" marL="0">
              <a:buNone/>
            </a:pPr>
            <a:r>
              <a:rPr lang="tr-TR" sz="4000" b="1" dirty="0">
                <a:solidFill>
                  <a:srgbClr val="FFFFFF"/>
                </a:solidFill>
                <a:latin typeface="Cambria" pitchFamily="34" charset="0"/>
                <a:ea typeface="Cambria" pitchFamily="34" charset="-122"/>
                <a:cs typeface="Cambria" pitchFamily="34" charset="-120"/>
              </a:rPr>
              <a:t>İşletim Sistemleri</a:t>
            </a:r>
            <a:endParaRPr lang="tr-TR" sz="4000" dirty="0"/>
          </a:p>
          <a:p>
            <a:pPr indent="0" marL="0">
              <a:buNone/>
            </a:pPr>
            <a:r>
              <a:rPr lang="tr-TR" sz="4000" b="1" dirty="0">
                <a:solidFill>
                  <a:srgbClr val="FFFFFF"/>
                </a:solidFill>
                <a:latin typeface="Cambria" pitchFamily="34" charset="0"/>
                <a:ea typeface="Cambria" pitchFamily="34" charset="-122"/>
                <a:cs typeface="Cambria" pitchFamily="34" charset="-120"/>
              </a:rPr>
              <a:t>Temelleri</a:t>
            </a:r>
            <a:endParaRPr lang="tr-TR" sz="4000" dirty="0"/>
          </a:p>
        </p:txBody>
      </p:sp>
      <p:sp>
        <p:nvSpPr>
          <p:cNvPr id="4" name="Text 2"/>
          <p:cNvSpPr txBox="1"/>
          <p:nvPr/>
        </p:nvSpPr>
        <p:spPr>
          <a:xfrm>
            <a:off x="548640" y="3703320"/>
            <a:ext cx="10058400" cy="457200"/>
          </a:xfrm>
          <a:prstGeom prst="rect">
            <a:avLst/>
          </a:prstGeom>
          <a:noFill/>
          <a:ln/>
        </p:spPr>
        <p:txBody>
          <a:bodyPr wrap="square" lIns="0" tIns="0" rIns="0" bIns="0" rtlCol="0" anchor="ctr"/>
          <a:lstStyle/>
          <a:p>
            <a:pPr indent="0" marL="0">
              <a:buNone/>
            </a:pPr>
            <a:r>
              <a:rPr lang="tr-TR" sz="2000" dirty="0">
                <a:solidFill>
                  <a:srgbClr val="F2F2F2"/>
                </a:solidFill>
                <a:latin typeface="Calibri" pitchFamily="34" charset="0"/>
                <a:ea typeface="Calibri" pitchFamily="34" charset="-122"/>
                <a:cs typeface="Calibri" pitchFamily="34" charset="-120"/>
              </a:rPr>
              <a:t>Hafta 4  ·  İş Parçacıkları ve İşlemci Zamanlamasının Temelleri</a:t>
            </a:r>
            <a:endParaRPr lang="tr-TR" sz="2000" dirty="0"/>
          </a:p>
        </p:txBody>
      </p:sp>
      <p:sp>
        <p:nvSpPr>
          <p:cNvPr id="5" name="Text 3"/>
          <p:cNvSpPr txBox="1"/>
          <p:nvPr/>
        </p:nvSpPr>
        <p:spPr>
          <a:xfrm>
            <a:off x="548640" y="4160520"/>
            <a:ext cx="10058400" cy="365760"/>
          </a:xfrm>
          <a:prstGeom prst="rect">
            <a:avLst/>
          </a:prstGeom>
          <a:noFill/>
          <a:ln/>
        </p:spPr>
        <p:txBody>
          <a:bodyPr wrap="square" lIns="0" tIns="0" rIns="0" bIns="0" rtlCol="0" anchor="ctr"/>
          <a:lstStyle/>
          <a:p>
            <a:pPr indent="0" marL="0">
              <a:buNone/>
            </a:pPr>
            <a:r>
              <a:rPr lang="tr-TR" sz="1400" i="1" dirty="0">
                <a:solidFill>
                  <a:srgbClr val="8A9AA0"/>
                </a:solidFill>
                <a:latin typeface="Calibri" pitchFamily="34" charset="0"/>
                <a:ea typeface="Calibri" pitchFamily="34" charset="-122"/>
                <a:cs typeface="Calibri" pitchFamily="34" charset="-120"/>
              </a:rPr>
              <a:t>Bir program aynı anda birkaç işi nasıl yapar — ve sırada kimin çalışacağına kim karar verir?</a:t>
            </a:r>
            <a:endParaRPr lang="tr-TR" sz="1400" dirty="0"/>
          </a:p>
        </p:txBody>
      </p:sp>
      <p:sp>
        <p:nvSpPr>
          <p:cNvPr id="6" name="Text 4"/>
          <p:cNvSpPr txBox="1"/>
          <p:nvPr/>
        </p:nvSpPr>
        <p:spPr>
          <a:xfrm>
            <a:off x="548640" y="6217920"/>
            <a:ext cx="10058400" cy="274320"/>
          </a:xfrm>
          <a:prstGeom prst="rect">
            <a:avLst/>
          </a:prstGeom>
          <a:noFill/>
          <a:ln/>
        </p:spPr>
        <p:txBody>
          <a:bodyPr wrap="square" lIns="0" tIns="0" rIns="0" bIns="0" rtlCol="0" anchor="ctr"/>
          <a:lstStyle/>
          <a:p>
            <a:pPr indent="0" marL="0">
              <a:buNone/>
            </a:pPr>
            <a:r>
              <a:rPr lang="tr-TR" sz="1000" dirty="0">
                <a:solidFill>
                  <a:srgbClr val="8A9AA0"/>
                </a:solidFill>
                <a:latin typeface="Calibri" pitchFamily="34" charset="0"/>
                <a:ea typeface="Calibri" pitchFamily="34" charset="-122"/>
                <a:cs typeface="Calibri" pitchFamily="34" charset="-120"/>
              </a:rPr>
              <a:t>Elektronik Haberleşme Teknolojisi Programı  ·  Meslek Yüksekokulu  ·  İstanbul Okan Üniversitesi</a:t>
            </a:r>
            <a:endParaRPr lang="tr-TR"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GEÇEN HAFTA</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Dört Fikirde 3. Hafta</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4  ·  2</a:t>
            </a:r>
            <a:endParaRPr lang="tr-TR" sz="900" dirty="0"/>
          </a:p>
        </p:txBody>
      </p:sp>
      <p:sp>
        <p:nvSpPr>
          <p:cNvPr id="6" name="Shape 4"/>
          <p:cNvSpPr/>
          <p:nvPr/>
        </p:nvSpPr>
        <p:spPr>
          <a:xfrm>
            <a:off x="548640" y="1508760"/>
            <a:ext cx="2606040" cy="3749040"/>
          </a:xfrm>
          <a:prstGeom prst="roundRect">
            <a:avLst>
              <a:gd name="adj" fmla="val 2105"/>
            </a:avLst>
          </a:prstGeom>
          <a:solidFill>
            <a:srgbClr val="F2F2F2"/>
          </a:solidFill>
          <a:ln/>
          <a:effectLst>
            <a:outerShdw sx="100000" sy="100000" kx="0" ky="0" algn="bl" rotWithShape="0" blurRad="101600" dist="25400" dir="5400000">
              <a:srgbClr val="000000">
                <a:alpha val="12000"/>
              </a:srgbClr>
            </a:outerShdw>
          </a:effectLst>
        </p:spPr>
      </p:sp>
      <p:sp>
        <p:nvSpPr>
          <p:cNvPr id="7" name="Text 5"/>
          <p:cNvSpPr txBox="1"/>
          <p:nvPr/>
        </p:nvSpPr>
        <p:spPr>
          <a:xfrm>
            <a:off x="777240" y="1691640"/>
            <a:ext cx="214884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Süreç</a:t>
            </a:r>
            <a:endParaRPr lang="tr-TR" sz="1600" dirty="0"/>
          </a:p>
        </p:txBody>
      </p:sp>
      <p:sp>
        <p:nvSpPr>
          <p:cNvPr id="8" name="Text 6"/>
          <p:cNvSpPr txBox="1"/>
          <p:nvPr/>
        </p:nvSpPr>
        <p:spPr>
          <a:xfrm>
            <a:off x="777240" y="2148840"/>
            <a:ext cx="2148840" cy="2971800"/>
          </a:xfrm>
          <a:prstGeom prst="rect">
            <a:avLst/>
          </a:prstGeom>
          <a:noFill/>
          <a:ln/>
        </p:spPr>
        <p:txBody>
          <a:bodyPr wrap="square" lIns="0" tIns="0" rIns="0" bIns="0" rtlCol="0" anchor="t"/>
          <a:lstStyle/>
          <a:p>
            <a:pPr indent="0" marL="0">
              <a:spcAft>
                <a:spcPts val="400"/>
              </a:spcAft>
              <a:buNone/>
            </a:pPr>
            <a:r>
              <a:rPr lang="tr-TR" sz="1550" dirty="0">
                <a:solidFill>
                  <a:srgbClr val="3A464C"/>
                </a:solidFill>
                <a:latin typeface="Calibri" pitchFamily="34" charset="0"/>
                <a:ea typeface="Calibri" pitchFamily="34" charset="-122"/>
                <a:cs typeface="Calibri" pitchFamily="34" charset="-120"/>
              </a:rPr>
              <a:t>Belleği: metin (kod), veri, bss, öbek (heap) ve yığıt (stack) — ayrıca işlemci durumu ve açık dosyalar.</a:t>
            </a:r>
            <a:endParaRPr lang="tr-TR" sz="1550" dirty="0"/>
          </a:p>
        </p:txBody>
      </p:sp>
      <p:sp>
        <p:nvSpPr>
          <p:cNvPr id="9" name="Shape 7"/>
          <p:cNvSpPr/>
          <p:nvPr/>
        </p:nvSpPr>
        <p:spPr>
          <a:xfrm>
            <a:off x="3383280" y="1508760"/>
            <a:ext cx="2606040" cy="3749040"/>
          </a:xfrm>
          <a:prstGeom prst="roundRect">
            <a:avLst>
              <a:gd name="adj" fmla="val 2105"/>
            </a:avLst>
          </a:prstGeom>
          <a:solidFill>
            <a:srgbClr val="F2F2F2"/>
          </a:solidFill>
          <a:ln/>
          <a:effectLst>
            <a:outerShdw sx="100000" sy="100000" kx="0" ky="0" algn="bl" rotWithShape="0" blurRad="101600" dist="25400" dir="5400000">
              <a:srgbClr val="000000">
                <a:alpha val="12000"/>
              </a:srgbClr>
            </a:outerShdw>
          </a:effectLst>
        </p:spPr>
      </p:sp>
      <p:sp>
        <p:nvSpPr>
          <p:cNvPr id="10" name="Text 8"/>
          <p:cNvSpPr txBox="1"/>
          <p:nvPr/>
        </p:nvSpPr>
        <p:spPr>
          <a:xfrm>
            <a:off x="3611880" y="1691640"/>
            <a:ext cx="214884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Beş durum</a:t>
            </a:r>
            <a:endParaRPr lang="tr-TR" sz="1600" dirty="0"/>
          </a:p>
        </p:txBody>
      </p:sp>
      <p:sp>
        <p:nvSpPr>
          <p:cNvPr id="11" name="Text 9"/>
          <p:cNvSpPr txBox="1"/>
          <p:nvPr/>
        </p:nvSpPr>
        <p:spPr>
          <a:xfrm>
            <a:off x="3611880" y="2148840"/>
            <a:ext cx="2148840" cy="2971800"/>
          </a:xfrm>
          <a:prstGeom prst="rect">
            <a:avLst/>
          </a:prstGeom>
          <a:noFill/>
          <a:ln/>
        </p:spPr>
        <p:txBody>
          <a:bodyPr wrap="square" lIns="0" tIns="0" rIns="0" bIns="0" rtlCol="0" anchor="t"/>
          <a:lstStyle/>
          <a:p>
            <a:pPr indent="0" marL="0">
              <a:spcAft>
                <a:spcPts val="400"/>
              </a:spcAft>
              <a:buNone/>
            </a:pPr>
            <a:r>
              <a:rPr lang="tr-TR" sz="1550" dirty="0">
                <a:solidFill>
                  <a:srgbClr val="3A464C"/>
                </a:solidFill>
                <a:latin typeface="Calibri" pitchFamily="34" charset="0"/>
                <a:ea typeface="Calibri" pitchFamily="34" charset="-122"/>
                <a:cs typeface="Calibri" pitchFamily="34" charset="-120"/>
              </a:rPr>
              <a:t>yeni → hazır → çalışıyor → bekliyor → sonlandı. Her çekirdekte aynı anda tek süreç çalışır.</a:t>
            </a:r>
            <a:endParaRPr lang="tr-TR" sz="1550" dirty="0"/>
          </a:p>
        </p:txBody>
      </p:sp>
      <p:sp>
        <p:nvSpPr>
          <p:cNvPr id="12" name="Shape 10"/>
          <p:cNvSpPr/>
          <p:nvPr/>
        </p:nvSpPr>
        <p:spPr>
          <a:xfrm>
            <a:off x="6217920" y="1508760"/>
            <a:ext cx="2606040" cy="3749040"/>
          </a:xfrm>
          <a:prstGeom prst="roundRect">
            <a:avLst>
              <a:gd name="adj" fmla="val 2105"/>
            </a:avLst>
          </a:prstGeom>
          <a:solidFill>
            <a:srgbClr val="F2F2F2"/>
          </a:solidFill>
          <a:ln/>
          <a:effectLst>
            <a:outerShdw sx="100000" sy="100000" kx="0" ky="0" algn="bl" rotWithShape="0" blurRad="101600" dist="25400" dir="5400000">
              <a:srgbClr val="000000">
                <a:alpha val="12000"/>
              </a:srgbClr>
            </a:outerShdw>
          </a:effectLst>
        </p:spPr>
      </p:sp>
      <p:sp>
        <p:nvSpPr>
          <p:cNvPr id="13" name="Text 11"/>
          <p:cNvSpPr txBox="1"/>
          <p:nvPr/>
        </p:nvSpPr>
        <p:spPr>
          <a:xfrm>
            <a:off x="6446520" y="1691640"/>
            <a:ext cx="214884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PCB</a:t>
            </a:r>
            <a:endParaRPr lang="tr-TR" sz="1600" dirty="0"/>
          </a:p>
        </p:txBody>
      </p:sp>
      <p:sp>
        <p:nvSpPr>
          <p:cNvPr id="14" name="Text 12"/>
          <p:cNvSpPr txBox="1"/>
          <p:nvPr/>
        </p:nvSpPr>
        <p:spPr>
          <a:xfrm>
            <a:off x="6446520" y="2148840"/>
            <a:ext cx="2148840" cy="2971800"/>
          </a:xfrm>
          <a:prstGeom prst="rect">
            <a:avLst/>
          </a:prstGeom>
          <a:noFill/>
          <a:ln/>
        </p:spPr>
        <p:txBody>
          <a:bodyPr wrap="square" lIns="0" tIns="0" rIns="0" bIns="0" rtlCol="0" anchor="t"/>
          <a:lstStyle/>
          <a:p>
            <a:pPr indent="0" marL="0">
              <a:spcAft>
                <a:spcPts val="400"/>
              </a:spcAft>
              <a:buNone/>
            </a:pPr>
            <a:r>
              <a:rPr lang="tr-TR" sz="1550" dirty="0">
                <a:solidFill>
                  <a:srgbClr val="3A464C"/>
                </a:solidFill>
                <a:latin typeface="Calibri" pitchFamily="34" charset="0"/>
                <a:ea typeface="Calibri" pitchFamily="34" charset="-122"/>
                <a:cs typeface="Calibri" pitchFamily="34" charset="-120"/>
              </a:rPr>
              <a:t>Çekirdeğin süreç kaydı: durum, PC, yazmaçlar, bellek bilgisi, açık dosyalar, zamanlama bilgisi.</a:t>
            </a:r>
            <a:endParaRPr lang="tr-TR" sz="1550" dirty="0"/>
          </a:p>
        </p:txBody>
      </p:sp>
      <p:sp>
        <p:nvSpPr>
          <p:cNvPr id="15" name="Shape 13"/>
          <p:cNvSpPr/>
          <p:nvPr/>
        </p:nvSpPr>
        <p:spPr>
          <a:xfrm>
            <a:off x="9052560" y="1508760"/>
            <a:ext cx="2606040" cy="3749040"/>
          </a:xfrm>
          <a:prstGeom prst="roundRect">
            <a:avLst>
              <a:gd name="adj" fmla="val 2105"/>
            </a:avLst>
          </a:prstGeom>
          <a:solidFill>
            <a:srgbClr val="F2F2F2"/>
          </a:solidFill>
          <a:ln/>
          <a:effectLst>
            <a:outerShdw sx="100000" sy="100000" kx="0" ky="0" algn="bl" rotWithShape="0" blurRad="101600" dist="25400" dir="5400000">
              <a:srgbClr val="000000">
                <a:alpha val="12000"/>
              </a:srgbClr>
            </a:outerShdw>
          </a:effectLst>
        </p:spPr>
      </p:sp>
      <p:sp>
        <p:nvSpPr>
          <p:cNvPr id="16" name="Text 14"/>
          <p:cNvSpPr txBox="1"/>
          <p:nvPr/>
        </p:nvSpPr>
        <p:spPr>
          <a:xfrm>
            <a:off x="9281160" y="1691640"/>
            <a:ext cx="214884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Bağlam değişimi</a:t>
            </a:r>
            <a:endParaRPr lang="tr-TR" sz="1600" dirty="0"/>
          </a:p>
        </p:txBody>
      </p:sp>
      <p:sp>
        <p:nvSpPr>
          <p:cNvPr id="17" name="Text 15"/>
          <p:cNvSpPr txBox="1"/>
          <p:nvPr/>
        </p:nvSpPr>
        <p:spPr>
          <a:xfrm>
            <a:off x="9281160" y="2148840"/>
            <a:ext cx="2148840" cy="2971800"/>
          </a:xfrm>
          <a:prstGeom prst="rect">
            <a:avLst/>
          </a:prstGeom>
          <a:noFill/>
          <a:ln/>
        </p:spPr>
        <p:txBody>
          <a:bodyPr wrap="square" lIns="0" tIns="0" rIns="0" bIns="0" rtlCol="0" anchor="t"/>
          <a:lstStyle/>
          <a:p>
            <a:pPr indent="0" marL="0">
              <a:spcAft>
                <a:spcPts val="400"/>
              </a:spcAft>
              <a:buNone/>
            </a:pPr>
            <a:r>
              <a:rPr lang="tr-TR" sz="1550" dirty="0">
                <a:solidFill>
                  <a:srgbClr val="3A464C"/>
                </a:solidFill>
                <a:latin typeface="Calibri" pitchFamily="34" charset="0"/>
                <a:ea typeface="Calibri" pitchFamily="34" charset="-122"/>
                <a:cs typeface="Calibri" pitchFamily="34" charset="-120"/>
              </a:rPr>
              <a:t>Bir sürecin PCB'si kaydedilir, diğerininki yüklenir. fork() yaratır, exec() değiştirir, wait() toplar.</a:t>
            </a:r>
            <a:endParaRPr lang="tr-TR" sz="1550" dirty="0"/>
          </a:p>
        </p:txBody>
      </p:sp>
      <p:sp>
        <p:nvSpPr>
          <p:cNvPr id="18" name="Shape 16"/>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sp>
      <p:sp>
        <p:nvSpPr>
          <p:cNvPr id="19" name="Text 17"/>
          <p:cNvSpPr txBox="1"/>
          <p:nvPr/>
        </p:nvSpPr>
        <p:spPr>
          <a:xfrm>
            <a:off x="777240" y="5486400"/>
            <a:ext cx="10652760" cy="777240"/>
          </a:xfrm>
          <a:prstGeom prst="rect">
            <a:avLst/>
          </a:prstGeom>
          <a:noFill/>
          <a:ln/>
        </p:spPr>
        <p:txBody>
          <a:bodyPr wrap="square" lIns="0" tIns="0" rIns="0" bIns="0" rtlCol="0" anchor="ctr"/>
          <a:lstStyle/>
          <a:p>
            <a:pPr indent="0" marL="0">
              <a:buNone/>
            </a:pPr>
            <a:r>
              <a:rPr lang="tr-TR" sz="1400" dirty="0">
                <a:solidFill>
                  <a:srgbClr val="F2F2F2"/>
                </a:solidFill>
                <a:latin typeface="Calibri" pitchFamily="34" charset="0"/>
                <a:ea typeface="Calibri" pitchFamily="34" charset="-122"/>
                <a:cs typeface="Calibri" pitchFamily="34" charset="-120"/>
              </a:rPr>
              <a:t>Bugün: bir süreç birden çok yürütme akışı (iş parçacığı) içerebilir — ve işletim sisteminin sırada hangisinin çalışacağına dair bir kurala ihtiyacı vardır.</a:t>
            </a:r>
            <a:endParaRPr lang="tr-TR"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HAFTA 4</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Bugünün Gündemi</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4  ·  3</a:t>
            </a:r>
            <a:endParaRPr lang="tr-TR" sz="900" dirty="0"/>
          </a:p>
        </p:txBody>
      </p:sp>
      <p:sp>
        <p:nvSpPr>
          <p:cNvPr id="6" name="Shape 4"/>
          <p:cNvSpPr/>
          <p:nvPr/>
        </p:nvSpPr>
        <p:spPr>
          <a:xfrm>
            <a:off x="548640" y="1554480"/>
            <a:ext cx="731520" cy="731520"/>
          </a:xfrm>
          <a:prstGeom prst="roundRect">
            <a:avLst>
              <a:gd name="adj" fmla="val 6250"/>
            </a:avLst>
          </a:prstGeom>
          <a:solidFill>
            <a:srgbClr val="02C39A"/>
          </a:solidFill>
          <a:ln/>
        </p:spPr>
      </p:sp>
      <p:sp>
        <p:nvSpPr>
          <p:cNvPr id="7" name="Text 5"/>
          <p:cNvSpPr txBox="1"/>
          <p:nvPr/>
        </p:nvSpPr>
        <p:spPr>
          <a:xfrm>
            <a:off x="548640" y="1554480"/>
            <a:ext cx="731520" cy="731520"/>
          </a:xfrm>
          <a:prstGeom prst="rect">
            <a:avLst/>
          </a:prstGeom>
          <a:noFill/>
          <a:ln/>
        </p:spPr>
        <p:txBody>
          <a:bodyPr wrap="square" lIns="38100" tIns="38100" rIns="38100" bIns="38100" rtlCol="0" anchor="ctr"/>
          <a:lstStyle/>
          <a:p>
            <a:pPr algn="ctr" indent="0" marL="0">
              <a:buNone/>
            </a:pPr>
            <a:r>
              <a:rPr lang="tr-TR" sz="2000" b="1" dirty="0">
                <a:solidFill>
                  <a:srgbClr val="36454F"/>
                </a:solidFill>
                <a:latin typeface="Cambria" pitchFamily="34" charset="0"/>
                <a:ea typeface="Cambria" pitchFamily="34" charset="-122"/>
                <a:cs typeface="Cambria" pitchFamily="34" charset="-120"/>
              </a:rPr>
              <a:t>1</a:t>
            </a:r>
            <a:endParaRPr lang="tr-TR" sz="2000" dirty="0"/>
          </a:p>
        </p:txBody>
      </p:sp>
      <p:sp>
        <p:nvSpPr>
          <p:cNvPr id="8" name="Shape 6"/>
          <p:cNvSpPr/>
          <p:nvPr/>
        </p:nvSpPr>
        <p:spPr>
          <a:xfrm>
            <a:off x="1463040" y="1554480"/>
            <a:ext cx="10195560" cy="731520"/>
          </a:xfrm>
          <a:prstGeom prst="roundRect">
            <a:avLst>
              <a:gd name="adj" fmla="val 6250"/>
            </a:avLst>
          </a:prstGeom>
          <a:solidFill>
            <a:srgbClr val="F2F2F2"/>
          </a:solidFill>
          <a:ln/>
        </p:spPr>
      </p:sp>
      <p:sp>
        <p:nvSpPr>
          <p:cNvPr id="9" name="Text 7"/>
          <p:cNvSpPr txBox="1"/>
          <p:nvPr/>
        </p:nvSpPr>
        <p:spPr>
          <a:xfrm>
            <a:off x="1737360" y="1554480"/>
            <a:ext cx="9784080" cy="731520"/>
          </a:xfrm>
          <a:prstGeom prst="rect">
            <a:avLst/>
          </a:prstGeom>
          <a:noFill/>
          <a:ln/>
        </p:spPr>
        <p:txBody>
          <a:bodyPr wrap="square" lIns="0" tIns="0" rIns="0" bIns="0" rtlCol="0" anchor="ctr"/>
          <a:lstStyle/>
          <a:p>
            <a:pPr indent="0" marL="0">
              <a:buNone/>
            </a:pPr>
            <a:r>
              <a:rPr lang="tr-TR" sz="1700" b="1" dirty="0">
                <a:solidFill>
                  <a:srgbClr val="36454F"/>
                </a:solidFill>
                <a:latin typeface="Cambria" pitchFamily="34" charset="0"/>
                <a:ea typeface="Cambria" pitchFamily="34" charset="-122"/>
                <a:cs typeface="Cambria" pitchFamily="34" charset="-120"/>
              </a:rPr>
              <a:t>İş parçacıkları   </a:t>
            </a:r>
            <a:r>
              <a:rPr lang="tr-TR" sz="1500" dirty="0">
                <a:solidFill>
                  <a:srgbClr val="3A464C"/>
                </a:solidFill>
                <a:latin typeface="Calibri" pitchFamily="34" charset="0"/>
                <a:ea typeface="Calibri" pitchFamily="34" charset="-122"/>
                <a:cs typeface="Calibri" pitchFamily="34" charset="-120"/>
              </a:rPr>
              <a:t>Neden iş parçacığı? Neleri paylaşırlar, neleri kendilerine saklarlar; yararları.</a:t>
            </a:r>
            <a:endParaRPr lang="tr-TR" sz="1400" dirty="0"/>
          </a:p>
        </p:txBody>
      </p:sp>
      <p:sp>
        <p:nvSpPr>
          <p:cNvPr id="10" name="Shape 8"/>
          <p:cNvSpPr/>
          <p:nvPr/>
        </p:nvSpPr>
        <p:spPr>
          <a:xfrm>
            <a:off x="548640" y="2468880"/>
            <a:ext cx="731520" cy="731520"/>
          </a:xfrm>
          <a:prstGeom prst="roundRect">
            <a:avLst>
              <a:gd name="adj" fmla="val 6250"/>
            </a:avLst>
          </a:prstGeom>
          <a:solidFill>
            <a:srgbClr val="02C39A"/>
          </a:solidFill>
          <a:ln/>
        </p:spPr>
      </p:sp>
      <p:sp>
        <p:nvSpPr>
          <p:cNvPr id="11" name="Text 9"/>
          <p:cNvSpPr txBox="1"/>
          <p:nvPr/>
        </p:nvSpPr>
        <p:spPr>
          <a:xfrm>
            <a:off x="548640" y="2468880"/>
            <a:ext cx="731520" cy="731520"/>
          </a:xfrm>
          <a:prstGeom prst="rect">
            <a:avLst/>
          </a:prstGeom>
          <a:noFill/>
          <a:ln/>
        </p:spPr>
        <p:txBody>
          <a:bodyPr wrap="square" lIns="38100" tIns="38100" rIns="38100" bIns="38100" rtlCol="0" anchor="ctr"/>
          <a:lstStyle/>
          <a:p>
            <a:pPr algn="ctr" indent="0" marL="0">
              <a:buNone/>
            </a:pPr>
            <a:r>
              <a:rPr lang="tr-TR" sz="2000" b="1" dirty="0">
                <a:solidFill>
                  <a:srgbClr val="36454F"/>
                </a:solidFill>
                <a:latin typeface="Cambria" pitchFamily="34" charset="0"/>
                <a:ea typeface="Cambria" pitchFamily="34" charset="-122"/>
                <a:cs typeface="Cambria" pitchFamily="34" charset="-120"/>
              </a:rPr>
              <a:t>2</a:t>
            </a:r>
            <a:endParaRPr lang="tr-TR" sz="2000" dirty="0"/>
          </a:p>
        </p:txBody>
      </p:sp>
      <p:sp>
        <p:nvSpPr>
          <p:cNvPr id="12" name="Shape 10"/>
          <p:cNvSpPr/>
          <p:nvPr/>
        </p:nvSpPr>
        <p:spPr>
          <a:xfrm>
            <a:off x="1463040" y="2468880"/>
            <a:ext cx="10195560" cy="731520"/>
          </a:xfrm>
          <a:prstGeom prst="roundRect">
            <a:avLst>
              <a:gd name="adj" fmla="val 6250"/>
            </a:avLst>
          </a:prstGeom>
          <a:solidFill>
            <a:srgbClr val="F2F2F2"/>
          </a:solidFill>
          <a:ln/>
        </p:spPr>
      </p:sp>
      <p:sp>
        <p:nvSpPr>
          <p:cNvPr id="13" name="Text 11"/>
          <p:cNvSpPr txBox="1"/>
          <p:nvPr/>
        </p:nvSpPr>
        <p:spPr>
          <a:xfrm>
            <a:off x="1737360" y="2468880"/>
            <a:ext cx="9784080" cy="731520"/>
          </a:xfrm>
          <a:prstGeom prst="rect">
            <a:avLst/>
          </a:prstGeom>
          <a:noFill/>
          <a:ln/>
        </p:spPr>
        <p:txBody>
          <a:bodyPr wrap="square" lIns="0" tIns="0" rIns="0" bIns="0" rtlCol="0" anchor="ctr"/>
          <a:lstStyle/>
          <a:p>
            <a:pPr indent="0" marL="0">
              <a:buNone/>
            </a:pPr>
            <a:r>
              <a:rPr lang="tr-TR" sz="1700" b="1" dirty="0">
                <a:solidFill>
                  <a:srgbClr val="36454F"/>
                </a:solidFill>
                <a:latin typeface="Cambria" pitchFamily="34" charset="0"/>
                <a:ea typeface="Cambria" pitchFamily="34" charset="-122"/>
                <a:cs typeface="Cambria" pitchFamily="34" charset="-120"/>
              </a:rPr>
              <a:t>Çok çekirdek   </a:t>
            </a:r>
            <a:r>
              <a:rPr lang="tr-TR" sz="1500" dirty="0">
                <a:solidFill>
                  <a:srgbClr val="3A464C"/>
                </a:solidFill>
                <a:latin typeface="Calibri" pitchFamily="34" charset="0"/>
                <a:ea typeface="Calibri" pitchFamily="34" charset="-122"/>
                <a:cs typeface="Calibri" pitchFamily="34" charset="-120"/>
              </a:rPr>
              <a:t>Eşzamanlılık ve paralellik; çözümlü örnekle Amdahl yasası.</a:t>
            </a:r>
            <a:endParaRPr lang="tr-TR" sz="1400" dirty="0"/>
          </a:p>
        </p:txBody>
      </p:sp>
      <p:sp>
        <p:nvSpPr>
          <p:cNvPr id="14" name="Shape 12"/>
          <p:cNvSpPr/>
          <p:nvPr/>
        </p:nvSpPr>
        <p:spPr>
          <a:xfrm>
            <a:off x="548640" y="3383280"/>
            <a:ext cx="731520" cy="731520"/>
          </a:xfrm>
          <a:prstGeom prst="roundRect">
            <a:avLst>
              <a:gd name="adj" fmla="val 6250"/>
            </a:avLst>
          </a:prstGeom>
          <a:solidFill>
            <a:srgbClr val="02C39A"/>
          </a:solidFill>
          <a:ln/>
        </p:spPr>
      </p:sp>
      <p:sp>
        <p:nvSpPr>
          <p:cNvPr id="15" name="Text 13"/>
          <p:cNvSpPr txBox="1"/>
          <p:nvPr/>
        </p:nvSpPr>
        <p:spPr>
          <a:xfrm>
            <a:off x="548640" y="3383280"/>
            <a:ext cx="731520" cy="731520"/>
          </a:xfrm>
          <a:prstGeom prst="rect">
            <a:avLst/>
          </a:prstGeom>
          <a:noFill/>
          <a:ln/>
        </p:spPr>
        <p:txBody>
          <a:bodyPr wrap="square" lIns="38100" tIns="38100" rIns="38100" bIns="38100" rtlCol="0" anchor="ctr"/>
          <a:lstStyle/>
          <a:p>
            <a:pPr algn="ctr" indent="0" marL="0">
              <a:buNone/>
            </a:pPr>
            <a:r>
              <a:rPr lang="tr-TR" sz="2000" b="1" dirty="0">
                <a:solidFill>
                  <a:srgbClr val="36454F"/>
                </a:solidFill>
                <a:latin typeface="Cambria" pitchFamily="34" charset="0"/>
                <a:ea typeface="Cambria" pitchFamily="34" charset="-122"/>
                <a:cs typeface="Cambria" pitchFamily="34" charset="-120"/>
              </a:rPr>
              <a:t>3</a:t>
            </a:r>
            <a:endParaRPr lang="tr-TR" sz="2000" dirty="0"/>
          </a:p>
        </p:txBody>
      </p:sp>
      <p:sp>
        <p:nvSpPr>
          <p:cNvPr id="16" name="Shape 14"/>
          <p:cNvSpPr/>
          <p:nvPr/>
        </p:nvSpPr>
        <p:spPr>
          <a:xfrm>
            <a:off x="1463040" y="3383280"/>
            <a:ext cx="10195560" cy="731520"/>
          </a:xfrm>
          <a:prstGeom prst="roundRect">
            <a:avLst>
              <a:gd name="adj" fmla="val 6250"/>
            </a:avLst>
          </a:prstGeom>
          <a:solidFill>
            <a:srgbClr val="F2F2F2"/>
          </a:solidFill>
          <a:ln/>
        </p:spPr>
      </p:sp>
      <p:sp>
        <p:nvSpPr>
          <p:cNvPr id="17" name="Text 15"/>
          <p:cNvSpPr txBox="1"/>
          <p:nvPr/>
        </p:nvSpPr>
        <p:spPr>
          <a:xfrm>
            <a:off x="1737360" y="3383280"/>
            <a:ext cx="9784080" cy="731520"/>
          </a:xfrm>
          <a:prstGeom prst="rect">
            <a:avLst/>
          </a:prstGeom>
          <a:noFill/>
          <a:ln/>
        </p:spPr>
        <p:txBody>
          <a:bodyPr wrap="square" lIns="0" tIns="0" rIns="0" bIns="0" rtlCol="0" anchor="ctr"/>
          <a:lstStyle/>
          <a:p>
            <a:pPr indent="0" marL="0">
              <a:buNone/>
            </a:pPr>
            <a:r>
              <a:rPr lang="tr-TR" sz="1700" b="1" dirty="0">
                <a:solidFill>
                  <a:srgbClr val="36454F"/>
                </a:solidFill>
                <a:latin typeface="Cambria" pitchFamily="34" charset="0"/>
                <a:ea typeface="Cambria" pitchFamily="34" charset="-122"/>
                <a:cs typeface="Cambria" pitchFamily="34" charset="-120"/>
              </a:rPr>
              <a:t>Modeller   </a:t>
            </a:r>
            <a:r>
              <a:rPr lang="tr-TR" sz="1500" dirty="0">
                <a:solidFill>
                  <a:srgbClr val="3A464C"/>
                </a:solidFill>
                <a:latin typeface="Calibri" pitchFamily="34" charset="0"/>
                <a:ea typeface="Calibri" pitchFamily="34" charset="-122"/>
                <a:cs typeface="Calibri" pitchFamily="34" charset="-120"/>
              </a:rPr>
              <a:t>Kullanıcı ve çekirdek iş parçacıkları; çoktan bire, birebir, çoktan çoğa; Pthreads.</a:t>
            </a:r>
            <a:endParaRPr lang="tr-TR" sz="1400" dirty="0"/>
          </a:p>
        </p:txBody>
      </p:sp>
      <p:sp>
        <p:nvSpPr>
          <p:cNvPr id="18" name="Shape 16"/>
          <p:cNvSpPr/>
          <p:nvPr/>
        </p:nvSpPr>
        <p:spPr>
          <a:xfrm>
            <a:off x="548640" y="4297680"/>
            <a:ext cx="731520" cy="731520"/>
          </a:xfrm>
          <a:prstGeom prst="roundRect">
            <a:avLst>
              <a:gd name="adj" fmla="val 6250"/>
            </a:avLst>
          </a:prstGeom>
          <a:solidFill>
            <a:srgbClr val="02C39A"/>
          </a:solidFill>
          <a:ln/>
        </p:spPr>
      </p:sp>
      <p:sp>
        <p:nvSpPr>
          <p:cNvPr id="19" name="Text 17"/>
          <p:cNvSpPr txBox="1"/>
          <p:nvPr/>
        </p:nvSpPr>
        <p:spPr>
          <a:xfrm>
            <a:off x="548640" y="4297680"/>
            <a:ext cx="731520" cy="731520"/>
          </a:xfrm>
          <a:prstGeom prst="rect">
            <a:avLst/>
          </a:prstGeom>
          <a:noFill/>
          <a:ln/>
        </p:spPr>
        <p:txBody>
          <a:bodyPr wrap="square" lIns="38100" tIns="38100" rIns="38100" bIns="38100" rtlCol="0" anchor="ctr"/>
          <a:lstStyle/>
          <a:p>
            <a:pPr algn="ctr" indent="0" marL="0">
              <a:buNone/>
            </a:pPr>
            <a:r>
              <a:rPr lang="tr-TR" sz="2000" b="1" dirty="0">
                <a:solidFill>
                  <a:srgbClr val="36454F"/>
                </a:solidFill>
                <a:latin typeface="Cambria" pitchFamily="34" charset="0"/>
                <a:ea typeface="Cambria" pitchFamily="34" charset="-122"/>
                <a:cs typeface="Cambria" pitchFamily="34" charset="-120"/>
              </a:rPr>
              <a:t>4</a:t>
            </a:r>
            <a:endParaRPr lang="tr-TR" sz="2000" dirty="0"/>
          </a:p>
        </p:txBody>
      </p:sp>
      <p:sp>
        <p:nvSpPr>
          <p:cNvPr id="20" name="Shape 18"/>
          <p:cNvSpPr/>
          <p:nvPr/>
        </p:nvSpPr>
        <p:spPr>
          <a:xfrm>
            <a:off x="1463040" y="4297680"/>
            <a:ext cx="10195560" cy="731520"/>
          </a:xfrm>
          <a:prstGeom prst="roundRect">
            <a:avLst>
              <a:gd name="adj" fmla="val 6250"/>
            </a:avLst>
          </a:prstGeom>
          <a:solidFill>
            <a:srgbClr val="F2F2F2"/>
          </a:solidFill>
          <a:ln/>
        </p:spPr>
      </p:sp>
      <p:sp>
        <p:nvSpPr>
          <p:cNvPr id="21" name="Text 19"/>
          <p:cNvSpPr txBox="1"/>
          <p:nvPr/>
        </p:nvSpPr>
        <p:spPr>
          <a:xfrm>
            <a:off x="1737360" y="4297680"/>
            <a:ext cx="9784080" cy="731520"/>
          </a:xfrm>
          <a:prstGeom prst="rect">
            <a:avLst/>
          </a:prstGeom>
          <a:noFill/>
          <a:ln/>
        </p:spPr>
        <p:txBody>
          <a:bodyPr wrap="square" lIns="0" tIns="0" rIns="0" bIns="0" rtlCol="0" anchor="ctr"/>
          <a:lstStyle/>
          <a:p>
            <a:pPr indent="0" marL="0">
              <a:buNone/>
            </a:pPr>
            <a:r>
              <a:rPr lang="tr-TR" sz="1700" b="1" dirty="0">
                <a:solidFill>
                  <a:srgbClr val="36454F"/>
                </a:solidFill>
                <a:latin typeface="Cambria" pitchFamily="34" charset="0"/>
                <a:ea typeface="Cambria" pitchFamily="34" charset="-122"/>
                <a:cs typeface="Cambria" pitchFamily="34" charset="-120"/>
              </a:rPr>
              <a:t>Zamanlama   </a:t>
            </a:r>
            <a:r>
              <a:rPr lang="tr-TR" sz="1500" dirty="0">
                <a:solidFill>
                  <a:srgbClr val="3A464C"/>
                </a:solidFill>
                <a:latin typeface="Calibri" pitchFamily="34" charset="0"/>
                <a:ea typeface="Calibri" pitchFamily="34" charset="-122"/>
                <a:cs typeface="Calibri" pitchFamily="34" charset="-120"/>
              </a:rPr>
              <a:t>İşlemci–G/Ç patlamaları, hazır kuyruğu, kesintili zamanlama, dağıtıcı.</a:t>
            </a:r>
            <a:endParaRPr lang="tr-TR" sz="1400" dirty="0"/>
          </a:p>
        </p:txBody>
      </p:sp>
      <p:sp>
        <p:nvSpPr>
          <p:cNvPr id="22" name="Shape 20"/>
          <p:cNvSpPr/>
          <p:nvPr/>
        </p:nvSpPr>
        <p:spPr>
          <a:xfrm>
            <a:off x="548640" y="5212080"/>
            <a:ext cx="731520" cy="731520"/>
          </a:xfrm>
          <a:prstGeom prst="roundRect">
            <a:avLst>
              <a:gd name="adj" fmla="val 6250"/>
            </a:avLst>
          </a:prstGeom>
          <a:solidFill>
            <a:srgbClr val="02C39A"/>
          </a:solidFill>
          <a:ln/>
        </p:spPr>
      </p:sp>
      <p:sp>
        <p:nvSpPr>
          <p:cNvPr id="23" name="Text 21"/>
          <p:cNvSpPr txBox="1"/>
          <p:nvPr/>
        </p:nvSpPr>
        <p:spPr>
          <a:xfrm>
            <a:off x="548640" y="5212080"/>
            <a:ext cx="731520" cy="731520"/>
          </a:xfrm>
          <a:prstGeom prst="rect">
            <a:avLst/>
          </a:prstGeom>
          <a:noFill/>
          <a:ln/>
        </p:spPr>
        <p:txBody>
          <a:bodyPr wrap="square" lIns="38100" tIns="38100" rIns="38100" bIns="38100" rtlCol="0" anchor="ctr"/>
          <a:lstStyle/>
          <a:p>
            <a:pPr algn="ctr" indent="0" marL="0">
              <a:buNone/>
            </a:pPr>
            <a:r>
              <a:rPr lang="tr-TR" sz="2000" b="1" dirty="0">
                <a:solidFill>
                  <a:srgbClr val="36454F"/>
                </a:solidFill>
                <a:latin typeface="Cambria" pitchFamily="34" charset="0"/>
                <a:ea typeface="Cambria" pitchFamily="34" charset="-122"/>
                <a:cs typeface="Cambria" pitchFamily="34" charset="-120"/>
              </a:rPr>
              <a:t>5</a:t>
            </a:r>
            <a:endParaRPr lang="tr-TR" sz="2000" dirty="0"/>
          </a:p>
        </p:txBody>
      </p:sp>
      <p:sp>
        <p:nvSpPr>
          <p:cNvPr id="24" name="Shape 22"/>
          <p:cNvSpPr/>
          <p:nvPr/>
        </p:nvSpPr>
        <p:spPr>
          <a:xfrm>
            <a:off x="1463040" y="5212080"/>
            <a:ext cx="10195560" cy="731520"/>
          </a:xfrm>
          <a:prstGeom prst="roundRect">
            <a:avLst>
              <a:gd name="adj" fmla="val 6250"/>
            </a:avLst>
          </a:prstGeom>
          <a:solidFill>
            <a:srgbClr val="F2F2F2"/>
          </a:solidFill>
          <a:ln/>
        </p:spPr>
      </p:sp>
      <p:sp>
        <p:nvSpPr>
          <p:cNvPr id="25" name="Text 23"/>
          <p:cNvSpPr txBox="1"/>
          <p:nvPr/>
        </p:nvSpPr>
        <p:spPr>
          <a:xfrm>
            <a:off x="1737360" y="5212080"/>
            <a:ext cx="9784080" cy="731520"/>
          </a:xfrm>
          <a:prstGeom prst="rect">
            <a:avLst/>
          </a:prstGeom>
          <a:noFill/>
          <a:ln/>
        </p:spPr>
        <p:txBody>
          <a:bodyPr wrap="square" lIns="0" tIns="0" rIns="0" bIns="0" rtlCol="0" anchor="ctr"/>
          <a:lstStyle/>
          <a:p>
            <a:pPr indent="0" marL="0">
              <a:buNone/>
            </a:pPr>
            <a:r>
              <a:rPr lang="tr-TR" sz="1700" b="1" dirty="0">
                <a:solidFill>
                  <a:srgbClr val="36454F"/>
                </a:solidFill>
                <a:latin typeface="Cambria" pitchFamily="34" charset="0"/>
                <a:ea typeface="Cambria" pitchFamily="34" charset="-122"/>
                <a:cs typeface="Cambria" pitchFamily="34" charset="-120"/>
              </a:rPr>
              <a:t>Ölçütler   </a:t>
            </a:r>
            <a:r>
              <a:rPr lang="tr-TR" sz="1500" dirty="0">
                <a:solidFill>
                  <a:srgbClr val="3A464C"/>
                </a:solidFill>
                <a:latin typeface="Calibri" pitchFamily="34" charset="0"/>
                <a:ea typeface="Calibri" pitchFamily="34" charset="-122"/>
                <a:cs typeface="Calibri" pitchFamily="34" charset="-120"/>
              </a:rPr>
              <a:t>Kullanım, üretilen iş, dönüş, bekleme ve yanıt süresi — hesaplamalı.</a:t>
            </a:r>
            <a:endParaRPr lang="tr-TR"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2514600"/>
            <a:ext cx="9144000" cy="320040"/>
          </a:xfrm>
          <a:prstGeom prst="rect">
            <a:avLst/>
          </a:prstGeom>
          <a:noFill/>
          <a:ln/>
        </p:spPr>
        <p:txBody>
          <a:bodyPr wrap="square" lIns="0" tIns="0" rIns="0" bIns="0" rtlCol="0" anchor="ctr"/>
          <a:lstStyle/>
          <a:p>
            <a:pPr indent="0" marL="0">
              <a:buNone/>
            </a:pPr>
            <a:r>
              <a:rPr lang="tr-TR" sz="1300" b="1" spc="300" kern="0" dirty="0">
                <a:solidFill>
                  <a:srgbClr val="02C39A"/>
                </a:solidFill>
                <a:latin typeface="Calibri" pitchFamily="34" charset="0"/>
                <a:ea typeface="Calibri" pitchFamily="34" charset="-122"/>
                <a:cs typeface="Calibri" pitchFamily="34" charset="-120"/>
              </a:rPr>
              <a:t>BÖLÜM 1</a:t>
            </a:r>
            <a:endParaRPr lang="tr-TR" sz="1300" dirty="0"/>
          </a:p>
        </p:txBody>
      </p:sp>
      <p:sp>
        <p:nvSpPr>
          <p:cNvPr id="3" name="Text 1"/>
          <p:cNvSpPr txBox="1"/>
          <p:nvPr/>
        </p:nvSpPr>
        <p:spPr>
          <a:xfrm>
            <a:off x="548640" y="2880360"/>
            <a:ext cx="10972800" cy="868680"/>
          </a:xfrm>
          <a:prstGeom prst="rect">
            <a:avLst/>
          </a:prstGeom>
          <a:noFill/>
          <a:ln/>
        </p:spPr>
        <p:txBody>
          <a:bodyPr wrap="square" lIns="0" tIns="0" rIns="0" bIns="0" rtlCol="0" anchor="ctr"/>
          <a:lstStyle/>
          <a:p>
            <a:pPr indent="0" marL="0">
              <a:buNone/>
            </a:pPr>
            <a:r>
              <a:rPr lang="tr-TR" sz="3800" b="1" dirty="0">
                <a:solidFill>
                  <a:srgbClr val="FFFFFF"/>
                </a:solidFill>
                <a:latin typeface="Cambria" pitchFamily="34" charset="0"/>
                <a:ea typeface="Cambria" pitchFamily="34" charset="-122"/>
                <a:cs typeface="Cambria" pitchFamily="34" charset="-120"/>
              </a:rPr>
              <a:t>İş Parçacıkları</a:t>
            </a:r>
            <a:endParaRPr lang="tr-TR" sz="3800" dirty="0"/>
          </a:p>
        </p:txBody>
      </p:sp>
      <p:sp>
        <p:nvSpPr>
          <p:cNvPr id="4" name="Text 2"/>
          <p:cNvSpPr txBox="1"/>
          <p:nvPr/>
        </p:nvSpPr>
        <p:spPr>
          <a:xfrm>
            <a:off x="548640" y="3794760"/>
            <a:ext cx="10515600" cy="457200"/>
          </a:xfrm>
          <a:prstGeom prst="rect">
            <a:avLst/>
          </a:prstGeom>
          <a:noFill/>
          <a:ln/>
        </p:spPr>
        <p:txBody>
          <a:bodyPr wrap="square" lIns="0" tIns="0" rIns="0" bIns="0" rtlCol="0" anchor="ctr"/>
          <a:lstStyle/>
          <a:p>
            <a:pPr indent="0" marL="0">
              <a:buNone/>
            </a:pPr>
            <a:r>
              <a:rPr lang="tr-TR" sz="1600" i="1" dirty="0">
                <a:solidFill>
                  <a:srgbClr val="F2F2F2"/>
                </a:solidFill>
                <a:latin typeface="Calibri" pitchFamily="34" charset="0"/>
                <a:ea typeface="Calibri" pitchFamily="34" charset="-122"/>
                <a:cs typeface="Calibri" pitchFamily="34" charset="-120"/>
              </a:rPr>
              <a:t>Tek süreç, birden çok yürütme akışı.</a:t>
            </a:r>
            <a:endParaRPr lang="tr-TR" sz="16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8A9AA0"/>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8A9AA0"/>
                </a:solidFill>
                <a:latin typeface="Calibri" pitchFamily="34" charset="0"/>
                <a:ea typeface="Calibri" pitchFamily="34" charset="-122"/>
                <a:cs typeface="Calibri" pitchFamily="34" charset="-120"/>
              </a:rPr>
              <a:t>Hafta 4  ·  4</a:t>
            </a:r>
            <a:endParaRPr lang="tr-TR"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MOTİVASYON</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Neden İş Parçacığı? Bir Web Sunucusu Örneği</a:t>
            </a:r>
            <a:endParaRPr lang="tr-TR"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tr-TR" sz="1500" dirty="0">
                <a:solidFill>
                  <a:srgbClr val="3A464C"/>
                </a:solidFill>
                <a:latin typeface="Calibri" pitchFamily="34" charset="0"/>
                <a:ea typeface="Calibri" pitchFamily="34" charset="-122"/>
                <a:cs typeface="Calibri" pitchFamily="34" charset="-120"/>
              </a:rPr>
              <a:t>Bir web sunucusu saniyede binlerce istek alır. Her istek biraz işlemci zamanı ve çok fazla bekleme (disk, ağ) gerektirir.</a:t>
            </a:r>
            <a:endParaRPr lang="tr-TR"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4  ·  5</a:t>
            </a:r>
            <a:endParaRPr lang="tr-TR" sz="900" dirty="0"/>
          </a:p>
        </p:txBody>
      </p:sp>
      <p:sp>
        <p:nvSpPr>
          <p:cNvPr id="7" name="Text 5"/>
          <p:cNvSpPr txBox="1"/>
          <p:nvPr/>
        </p:nvSpPr>
        <p:spPr>
          <a:xfrm>
            <a:off x="548640" y="2148840"/>
            <a:ext cx="5852160" cy="320040"/>
          </a:xfrm>
          <a:prstGeom prst="rect">
            <a:avLst/>
          </a:prstGeom>
          <a:noFill/>
          <a:ln/>
        </p:spPr>
        <p:txBody>
          <a:bodyPr wrap="square" lIns="0" tIns="0" rIns="0" bIns="0" rtlCol="0" anchor="t"/>
          <a:lstStyle/>
          <a:p>
            <a:pPr indent="0" marL="0">
              <a:buNone/>
            </a:pPr>
            <a:r>
              <a:rPr lang="tr-TR" sz="1400" b="1" dirty="0">
                <a:solidFill>
                  <a:srgbClr val="B5453A"/>
                </a:solidFill>
                <a:latin typeface="Calibri" pitchFamily="34" charset="0"/>
                <a:ea typeface="Calibri" pitchFamily="34" charset="-122"/>
                <a:cs typeface="Calibri" pitchFamily="34" charset="-120"/>
              </a:rPr>
              <a:t>Tek iş parçacıklı sunucu</a:t>
            </a:r>
            <a:endParaRPr lang="tr-TR" sz="1400" dirty="0"/>
          </a:p>
        </p:txBody>
      </p:sp>
      <p:sp>
        <p:nvSpPr>
          <p:cNvPr id="8" name="Shape 6"/>
          <p:cNvSpPr/>
          <p:nvPr/>
        </p:nvSpPr>
        <p:spPr>
          <a:xfrm>
            <a:off x="548640" y="2606040"/>
            <a:ext cx="777240" cy="548640"/>
          </a:xfrm>
          <a:prstGeom prst="roundRect">
            <a:avLst>
              <a:gd name="adj" fmla="val 8333"/>
            </a:avLst>
          </a:prstGeom>
          <a:solidFill>
            <a:srgbClr val="F2F2F2"/>
          </a:solidFill>
          <a:ln/>
        </p:spPr>
      </p:sp>
      <p:sp>
        <p:nvSpPr>
          <p:cNvPr id="9" name="Text 7"/>
          <p:cNvSpPr txBox="1"/>
          <p:nvPr/>
        </p:nvSpPr>
        <p:spPr>
          <a:xfrm>
            <a:off x="548640" y="2606040"/>
            <a:ext cx="777240" cy="548640"/>
          </a:xfrm>
          <a:prstGeom prst="rect">
            <a:avLst/>
          </a:prstGeom>
          <a:noFill/>
          <a:ln/>
        </p:spPr>
        <p:txBody>
          <a:bodyPr wrap="square" lIns="38100" tIns="38100" rIns="38100" bIns="38100" rtlCol="0" anchor="ctr"/>
          <a:lstStyle/>
          <a:p>
            <a:pPr algn="ctr" indent="0" marL="0">
              <a:buNone/>
            </a:pPr>
            <a:r>
              <a:rPr lang="tr-TR" sz="1100" b="1" dirty="0">
                <a:solidFill>
                  <a:srgbClr val="36454F"/>
                </a:solidFill>
                <a:latin typeface="Calibri" pitchFamily="34" charset="0"/>
                <a:ea typeface="Calibri" pitchFamily="34" charset="-122"/>
                <a:cs typeface="Calibri" pitchFamily="34" charset="-120"/>
              </a:rPr>
              <a:t>istek 1</a:t>
            </a:r>
            <a:endParaRPr lang="tr-TR" sz="1100" dirty="0"/>
          </a:p>
        </p:txBody>
      </p:sp>
      <p:sp>
        <p:nvSpPr>
          <p:cNvPr id="10" name="Shape 8"/>
          <p:cNvSpPr/>
          <p:nvPr/>
        </p:nvSpPr>
        <p:spPr>
          <a:xfrm>
            <a:off x="1417320" y="2606040"/>
            <a:ext cx="777240" cy="548640"/>
          </a:xfrm>
          <a:prstGeom prst="roundRect">
            <a:avLst>
              <a:gd name="adj" fmla="val 8333"/>
            </a:avLst>
          </a:prstGeom>
          <a:solidFill>
            <a:srgbClr val="F2F2F2"/>
          </a:solidFill>
          <a:ln/>
        </p:spPr>
      </p:sp>
      <p:sp>
        <p:nvSpPr>
          <p:cNvPr id="11" name="Text 9"/>
          <p:cNvSpPr txBox="1"/>
          <p:nvPr/>
        </p:nvSpPr>
        <p:spPr>
          <a:xfrm>
            <a:off x="1417320" y="2606040"/>
            <a:ext cx="777240" cy="548640"/>
          </a:xfrm>
          <a:prstGeom prst="rect">
            <a:avLst/>
          </a:prstGeom>
          <a:noFill/>
          <a:ln/>
        </p:spPr>
        <p:txBody>
          <a:bodyPr wrap="square" lIns="38100" tIns="38100" rIns="38100" bIns="38100" rtlCol="0" anchor="ctr"/>
          <a:lstStyle/>
          <a:p>
            <a:pPr algn="ctr" indent="0" marL="0">
              <a:buNone/>
            </a:pPr>
            <a:r>
              <a:rPr lang="tr-TR" sz="1100" b="1" dirty="0">
                <a:solidFill>
                  <a:srgbClr val="36454F"/>
                </a:solidFill>
                <a:latin typeface="Calibri" pitchFamily="34" charset="0"/>
                <a:ea typeface="Calibri" pitchFamily="34" charset="-122"/>
                <a:cs typeface="Calibri" pitchFamily="34" charset="-120"/>
              </a:rPr>
              <a:t>istek 2</a:t>
            </a:r>
            <a:endParaRPr lang="tr-TR" sz="1100" dirty="0"/>
          </a:p>
        </p:txBody>
      </p:sp>
      <p:sp>
        <p:nvSpPr>
          <p:cNvPr id="12" name="Shape 10"/>
          <p:cNvSpPr/>
          <p:nvPr/>
        </p:nvSpPr>
        <p:spPr>
          <a:xfrm>
            <a:off x="2286000" y="2606040"/>
            <a:ext cx="777240" cy="548640"/>
          </a:xfrm>
          <a:prstGeom prst="roundRect">
            <a:avLst>
              <a:gd name="adj" fmla="val 8333"/>
            </a:avLst>
          </a:prstGeom>
          <a:solidFill>
            <a:srgbClr val="F2F2F2"/>
          </a:solidFill>
          <a:ln/>
        </p:spPr>
      </p:sp>
      <p:sp>
        <p:nvSpPr>
          <p:cNvPr id="13" name="Text 11"/>
          <p:cNvSpPr txBox="1"/>
          <p:nvPr/>
        </p:nvSpPr>
        <p:spPr>
          <a:xfrm>
            <a:off x="2286000" y="2606040"/>
            <a:ext cx="777240" cy="548640"/>
          </a:xfrm>
          <a:prstGeom prst="rect">
            <a:avLst/>
          </a:prstGeom>
          <a:noFill/>
          <a:ln/>
        </p:spPr>
        <p:txBody>
          <a:bodyPr wrap="square" lIns="38100" tIns="38100" rIns="38100" bIns="38100" rtlCol="0" anchor="ctr"/>
          <a:lstStyle/>
          <a:p>
            <a:pPr algn="ctr" indent="0" marL="0">
              <a:buNone/>
            </a:pPr>
            <a:r>
              <a:rPr lang="tr-TR" sz="1100" b="1" dirty="0">
                <a:solidFill>
                  <a:srgbClr val="36454F"/>
                </a:solidFill>
                <a:latin typeface="Calibri" pitchFamily="34" charset="0"/>
                <a:ea typeface="Calibri" pitchFamily="34" charset="-122"/>
                <a:cs typeface="Calibri" pitchFamily="34" charset="-120"/>
              </a:rPr>
              <a:t>istek 3</a:t>
            </a:r>
            <a:endParaRPr lang="tr-TR" sz="1100" dirty="0"/>
          </a:p>
        </p:txBody>
      </p:sp>
      <p:sp>
        <p:nvSpPr>
          <p:cNvPr id="14" name="Shape 12"/>
          <p:cNvSpPr/>
          <p:nvPr/>
        </p:nvSpPr>
        <p:spPr>
          <a:xfrm>
            <a:off x="3154680" y="2606040"/>
            <a:ext cx="777240" cy="548640"/>
          </a:xfrm>
          <a:prstGeom prst="roundRect">
            <a:avLst>
              <a:gd name="adj" fmla="val 8333"/>
            </a:avLst>
          </a:prstGeom>
          <a:solidFill>
            <a:srgbClr val="F2F2F2"/>
          </a:solidFill>
          <a:ln/>
        </p:spPr>
      </p:sp>
      <p:sp>
        <p:nvSpPr>
          <p:cNvPr id="15" name="Text 13"/>
          <p:cNvSpPr txBox="1"/>
          <p:nvPr/>
        </p:nvSpPr>
        <p:spPr>
          <a:xfrm>
            <a:off x="3154680" y="2606040"/>
            <a:ext cx="777240" cy="548640"/>
          </a:xfrm>
          <a:prstGeom prst="rect">
            <a:avLst/>
          </a:prstGeom>
          <a:noFill/>
          <a:ln/>
        </p:spPr>
        <p:txBody>
          <a:bodyPr wrap="square" lIns="38100" tIns="38100" rIns="38100" bIns="38100" rtlCol="0" anchor="ctr"/>
          <a:lstStyle/>
          <a:p>
            <a:pPr algn="ctr" indent="0" marL="0">
              <a:buNone/>
            </a:pPr>
            <a:r>
              <a:rPr lang="tr-TR" sz="1100" b="1" dirty="0">
                <a:solidFill>
                  <a:srgbClr val="36454F"/>
                </a:solidFill>
                <a:latin typeface="Calibri" pitchFamily="34" charset="0"/>
                <a:ea typeface="Calibri" pitchFamily="34" charset="-122"/>
                <a:cs typeface="Calibri" pitchFamily="34" charset="-120"/>
              </a:rPr>
              <a:t>istek 4</a:t>
            </a:r>
            <a:endParaRPr lang="tr-TR" sz="1100" dirty="0"/>
          </a:p>
        </p:txBody>
      </p:sp>
      <p:sp>
        <p:nvSpPr>
          <p:cNvPr id="16" name="Shape 14"/>
          <p:cNvSpPr/>
          <p:nvPr/>
        </p:nvSpPr>
        <p:spPr>
          <a:xfrm>
            <a:off x="4069080" y="2880360"/>
            <a:ext cx="457200" cy="91"/>
          </a:xfrm>
          <a:prstGeom prst="line">
            <a:avLst/>
          </a:prstGeom>
          <a:noFill/>
          <a:ln w="19050">
            <a:solidFill>
              <a:srgbClr val="50808E"/>
            </a:solidFill>
            <a:prstDash val="solid"/>
            <a:tailEnd type="triangle"/>
          </a:ln>
        </p:spPr>
      </p:sp>
      <p:sp>
        <p:nvSpPr>
          <p:cNvPr id="17" name="Shape 15"/>
          <p:cNvSpPr/>
          <p:nvPr/>
        </p:nvSpPr>
        <p:spPr>
          <a:xfrm>
            <a:off x="4572000" y="2560320"/>
            <a:ext cx="1737360" cy="640080"/>
          </a:xfrm>
          <a:prstGeom prst="roundRect">
            <a:avLst>
              <a:gd name="adj" fmla="val 7143"/>
            </a:avLst>
          </a:prstGeom>
          <a:solidFill>
            <a:srgbClr val="50808E"/>
          </a:solidFill>
          <a:ln/>
        </p:spPr>
      </p:sp>
      <p:sp>
        <p:nvSpPr>
          <p:cNvPr id="18" name="Text 16"/>
          <p:cNvSpPr txBox="1"/>
          <p:nvPr/>
        </p:nvSpPr>
        <p:spPr>
          <a:xfrm>
            <a:off x="4572000" y="2560320"/>
            <a:ext cx="1737360" cy="640080"/>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1 iş parçacığı</a:t>
            </a:r>
            <a:endParaRPr lang="tr-TR" sz="1300" dirty="0"/>
          </a:p>
          <a:p>
            <a:pPr algn="ctr" indent="0" marL="0">
              <a:buNone/>
            </a:pPr>
            <a:r>
              <a:rPr lang="tr-TR" sz="1100" dirty="0">
                <a:solidFill>
                  <a:srgbClr val="FFFFFF"/>
                </a:solidFill>
                <a:latin typeface="Calibri" pitchFamily="34" charset="0"/>
                <a:ea typeface="Calibri" pitchFamily="34" charset="-122"/>
                <a:cs typeface="Calibri" pitchFamily="34" charset="-120"/>
              </a:rPr>
              <a:t>sırayla, tek tek</a:t>
            </a:r>
            <a:endParaRPr lang="tr-TR" sz="1300" dirty="0"/>
          </a:p>
        </p:txBody>
      </p:sp>
      <p:sp>
        <p:nvSpPr>
          <p:cNvPr id="19" name="Text 17"/>
          <p:cNvSpPr txBox="1"/>
          <p:nvPr/>
        </p:nvSpPr>
        <p:spPr>
          <a:xfrm>
            <a:off x="548640" y="3246120"/>
            <a:ext cx="5852160" cy="320040"/>
          </a:xfrm>
          <a:prstGeom prst="rect">
            <a:avLst/>
          </a:prstGeom>
          <a:noFill/>
          <a:ln/>
        </p:spPr>
        <p:txBody>
          <a:bodyPr wrap="square" lIns="0" tIns="0" rIns="0" bIns="0" rtlCol="0" anchor="t"/>
          <a:lstStyle/>
          <a:p>
            <a:pPr indent="0" marL="0">
              <a:buNone/>
            </a:pPr>
            <a:r>
              <a:rPr lang="tr-TR" sz="1200" i="1" dirty="0">
                <a:solidFill>
                  <a:srgbClr val="6B7679"/>
                </a:solidFill>
                <a:latin typeface="Calibri" pitchFamily="34" charset="0"/>
                <a:ea typeface="Calibri" pitchFamily="34" charset="-122"/>
                <a:cs typeface="Calibri" pitchFamily="34" charset="-120"/>
              </a:rPr>
              <a:t>1. istek diski beklerken 2–4. istekler sırada bekler.</a:t>
            </a:r>
            <a:endParaRPr lang="tr-TR" sz="1200" dirty="0"/>
          </a:p>
        </p:txBody>
      </p:sp>
      <p:sp>
        <p:nvSpPr>
          <p:cNvPr id="20" name="Text 18"/>
          <p:cNvSpPr txBox="1"/>
          <p:nvPr/>
        </p:nvSpPr>
        <p:spPr>
          <a:xfrm>
            <a:off x="548640" y="3794760"/>
            <a:ext cx="5852160" cy="320040"/>
          </a:xfrm>
          <a:prstGeom prst="rect">
            <a:avLst/>
          </a:prstGeom>
          <a:noFill/>
          <a:ln/>
        </p:spPr>
        <p:txBody>
          <a:bodyPr wrap="square" lIns="0" tIns="0" rIns="0" bIns="0" rtlCol="0" anchor="t"/>
          <a:lstStyle/>
          <a:p>
            <a:pPr indent="0" marL="0">
              <a:buNone/>
            </a:pPr>
            <a:r>
              <a:rPr lang="tr-TR" sz="1400" b="1" dirty="0">
                <a:solidFill>
                  <a:srgbClr val="028090"/>
                </a:solidFill>
                <a:latin typeface="Calibri" pitchFamily="34" charset="0"/>
                <a:ea typeface="Calibri" pitchFamily="34" charset="-122"/>
                <a:cs typeface="Calibri" pitchFamily="34" charset="-120"/>
              </a:rPr>
              <a:t>Çok iş parçacıklı sunucu</a:t>
            </a:r>
            <a:endParaRPr lang="tr-TR" sz="1400" dirty="0"/>
          </a:p>
        </p:txBody>
      </p:sp>
      <p:sp>
        <p:nvSpPr>
          <p:cNvPr id="21" name="Shape 19"/>
          <p:cNvSpPr/>
          <p:nvPr/>
        </p:nvSpPr>
        <p:spPr>
          <a:xfrm>
            <a:off x="548640" y="4709160"/>
            <a:ext cx="1554480" cy="731520"/>
          </a:xfrm>
          <a:prstGeom prst="roundRect">
            <a:avLst>
              <a:gd name="adj" fmla="val 6250"/>
            </a:avLst>
          </a:prstGeom>
          <a:solidFill>
            <a:srgbClr val="02C39A"/>
          </a:solidFill>
          <a:ln/>
        </p:spPr>
      </p:sp>
      <p:sp>
        <p:nvSpPr>
          <p:cNvPr id="22" name="Text 20"/>
          <p:cNvSpPr txBox="1"/>
          <p:nvPr/>
        </p:nvSpPr>
        <p:spPr>
          <a:xfrm>
            <a:off x="548640" y="4709160"/>
            <a:ext cx="1554480" cy="731520"/>
          </a:xfrm>
          <a:prstGeom prst="rect">
            <a:avLst/>
          </a:prstGeom>
          <a:noFill/>
          <a:ln/>
        </p:spPr>
        <p:txBody>
          <a:bodyPr wrap="square" lIns="38100" tIns="38100" rIns="38100" bIns="3810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dinleyici</a:t>
            </a:r>
            <a:endParaRPr lang="tr-TR" sz="1300" dirty="0"/>
          </a:p>
          <a:p>
            <a:pPr algn="ctr" indent="0" marL="0">
              <a:buNone/>
            </a:pPr>
            <a:r>
              <a:rPr lang="tr-TR" sz="1100" dirty="0">
                <a:solidFill>
                  <a:srgbClr val="212121"/>
                </a:solidFill>
                <a:latin typeface="Calibri" pitchFamily="34" charset="0"/>
                <a:ea typeface="Calibri" pitchFamily="34" charset="-122"/>
                <a:cs typeface="Calibri" pitchFamily="34" charset="-120"/>
              </a:rPr>
              <a:t>istekleri kabul eder</a:t>
            </a:r>
            <a:endParaRPr lang="tr-TR" sz="1300" dirty="0"/>
          </a:p>
        </p:txBody>
      </p:sp>
      <p:sp>
        <p:nvSpPr>
          <p:cNvPr id="23" name="Shape 21"/>
          <p:cNvSpPr/>
          <p:nvPr/>
        </p:nvSpPr>
        <p:spPr>
          <a:xfrm>
            <a:off x="3291840" y="4206240"/>
            <a:ext cx="1828800" cy="512064"/>
          </a:xfrm>
          <a:prstGeom prst="roundRect">
            <a:avLst>
              <a:gd name="adj" fmla="val 8929"/>
            </a:avLst>
          </a:prstGeom>
          <a:solidFill>
            <a:srgbClr val="36454F"/>
          </a:solidFill>
          <a:ln/>
        </p:spPr>
      </p:sp>
      <p:sp>
        <p:nvSpPr>
          <p:cNvPr id="24" name="Text 22"/>
          <p:cNvSpPr txBox="1"/>
          <p:nvPr/>
        </p:nvSpPr>
        <p:spPr>
          <a:xfrm>
            <a:off x="3291840" y="4206240"/>
            <a:ext cx="1828800" cy="512064"/>
          </a:xfrm>
          <a:prstGeom prst="rect">
            <a:avLst/>
          </a:prstGeom>
          <a:noFill/>
          <a:ln/>
        </p:spPr>
        <p:txBody>
          <a:bodyPr wrap="square" lIns="38100" tIns="38100" rIns="38100" bIns="38100" rtlCol="0" anchor="ctr"/>
          <a:lstStyle/>
          <a:p>
            <a:pPr algn="ctr" indent="0" marL="0">
              <a:buNone/>
            </a:pPr>
            <a:r>
              <a:rPr lang="tr-TR" sz="1150" b="1" dirty="0">
                <a:solidFill>
                  <a:srgbClr val="FFFFFF"/>
                </a:solidFill>
                <a:latin typeface="Calibri" pitchFamily="34" charset="0"/>
                <a:ea typeface="Calibri" pitchFamily="34" charset="-122"/>
                <a:cs typeface="Calibri" pitchFamily="34" charset="-120"/>
              </a:rPr>
              <a:t>işçi iş parçacığı 1</a:t>
            </a:r>
            <a:endParaRPr lang="tr-TR" sz="1150" dirty="0"/>
          </a:p>
        </p:txBody>
      </p:sp>
      <p:sp>
        <p:nvSpPr>
          <p:cNvPr id="25" name="Shape 23"/>
          <p:cNvSpPr/>
          <p:nvPr/>
        </p:nvSpPr>
        <p:spPr>
          <a:xfrm flipV="1">
            <a:off x="2121408" y="4462272"/>
            <a:ext cx="1152144" cy="612648"/>
          </a:xfrm>
          <a:prstGeom prst="line">
            <a:avLst/>
          </a:prstGeom>
          <a:noFill/>
          <a:ln w="15875">
            <a:solidFill>
              <a:srgbClr val="50808E"/>
            </a:solidFill>
            <a:prstDash val="solid"/>
            <a:tailEnd type="triangle"/>
          </a:ln>
        </p:spPr>
      </p:sp>
      <p:sp>
        <p:nvSpPr>
          <p:cNvPr id="26" name="Shape 24"/>
          <p:cNvSpPr/>
          <p:nvPr/>
        </p:nvSpPr>
        <p:spPr>
          <a:xfrm>
            <a:off x="3291840" y="4828032"/>
            <a:ext cx="1828800" cy="512064"/>
          </a:xfrm>
          <a:prstGeom prst="roundRect">
            <a:avLst>
              <a:gd name="adj" fmla="val 8929"/>
            </a:avLst>
          </a:prstGeom>
          <a:solidFill>
            <a:srgbClr val="36454F"/>
          </a:solidFill>
          <a:ln/>
        </p:spPr>
      </p:sp>
      <p:sp>
        <p:nvSpPr>
          <p:cNvPr id="27" name="Text 25"/>
          <p:cNvSpPr txBox="1"/>
          <p:nvPr/>
        </p:nvSpPr>
        <p:spPr>
          <a:xfrm>
            <a:off x="3291840" y="4828032"/>
            <a:ext cx="1828800" cy="512064"/>
          </a:xfrm>
          <a:prstGeom prst="rect">
            <a:avLst/>
          </a:prstGeom>
          <a:noFill/>
          <a:ln/>
        </p:spPr>
        <p:txBody>
          <a:bodyPr wrap="square" lIns="38100" tIns="38100" rIns="38100" bIns="38100" rtlCol="0" anchor="ctr"/>
          <a:lstStyle/>
          <a:p>
            <a:pPr algn="ctr" indent="0" marL="0">
              <a:buNone/>
            </a:pPr>
            <a:r>
              <a:rPr lang="tr-TR" sz="1150" b="1" dirty="0">
                <a:solidFill>
                  <a:srgbClr val="FFFFFF"/>
                </a:solidFill>
                <a:latin typeface="Calibri" pitchFamily="34" charset="0"/>
                <a:ea typeface="Calibri" pitchFamily="34" charset="-122"/>
                <a:cs typeface="Calibri" pitchFamily="34" charset="-120"/>
              </a:rPr>
              <a:t>işçi iş parçacığı 2</a:t>
            </a:r>
            <a:endParaRPr lang="tr-TR" sz="1150" dirty="0"/>
          </a:p>
        </p:txBody>
      </p:sp>
      <p:sp>
        <p:nvSpPr>
          <p:cNvPr id="28" name="Shape 26"/>
          <p:cNvSpPr/>
          <p:nvPr/>
        </p:nvSpPr>
        <p:spPr>
          <a:xfrm>
            <a:off x="2121408" y="5074920"/>
            <a:ext cx="1152144" cy="9144"/>
          </a:xfrm>
          <a:prstGeom prst="line">
            <a:avLst/>
          </a:prstGeom>
          <a:noFill/>
          <a:ln w="15875">
            <a:solidFill>
              <a:srgbClr val="50808E"/>
            </a:solidFill>
            <a:prstDash val="solid"/>
            <a:tailEnd type="triangle"/>
          </a:ln>
        </p:spPr>
      </p:sp>
      <p:sp>
        <p:nvSpPr>
          <p:cNvPr id="29" name="Shape 27"/>
          <p:cNvSpPr/>
          <p:nvPr/>
        </p:nvSpPr>
        <p:spPr>
          <a:xfrm>
            <a:off x="3291840" y="5449824"/>
            <a:ext cx="1828800" cy="512064"/>
          </a:xfrm>
          <a:prstGeom prst="roundRect">
            <a:avLst>
              <a:gd name="adj" fmla="val 8929"/>
            </a:avLst>
          </a:prstGeom>
          <a:solidFill>
            <a:srgbClr val="36454F"/>
          </a:solidFill>
          <a:ln/>
        </p:spPr>
      </p:sp>
      <p:sp>
        <p:nvSpPr>
          <p:cNvPr id="30" name="Text 28"/>
          <p:cNvSpPr txBox="1"/>
          <p:nvPr/>
        </p:nvSpPr>
        <p:spPr>
          <a:xfrm>
            <a:off x="3291840" y="5449824"/>
            <a:ext cx="1828800" cy="512064"/>
          </a:xfrm>
          <a:prstGeom prst="rect">
            <a:avLst/>
          </a:prstGeom>
          <a:noFill/>
          <a:ln/>
        </p:spPr>
        <p:txBody>
          <a:bodyPr wrap="square" lIns="38100" tIns="38100" rIns="38100" bIns="38100" rtlCol="0" anchor="ctr"/>
          <a:lstStyle/>
          <a:p>
            <a:pPr algn="ctr" indent="0" marL="0">
              <a:buNone/>
            </a:pPr>
            <a:r>
              <a:rPr lang="tr-TR" sz="1150" b="1" dirty="0">
                <a:solidFill>
                  <a:srgbClr val="FFFFFF"/>
                </a:solidFill>
                <a:latin typeface="Calibri" pitchFamily="34" charset="0"/>
                <a:ea typeface="Calibri" pitchFamily="34" charset="-122"/>
                <a:cs typeface="Calibri" pitchFamily="34" charset="-120"/>
              </a:rPr>
              <a:t>işçi iş parçacığı 3</a:t>
            </a:r>
            <a:endParaRPr lang="tr-TR" sz="1150" dirty="0"/>
          </a:p>
        </p:txBody>
      </p:sp>
      <p:sp>
        <p:nvSpPr>
          <p:cNvPr id="31" name="Shape 29"/>
          <p:cNvSpPr/>
          <p:nvPr/>
        </p:nvSpPr>
        <p:spPr>
          <a:xfrm>
            <a:off x="2121408" y="5074920"/>
            <a:ext cx="1152144" cy="630936"/>
          </a:xfrm>
          <a:prstGeom prst="line">
            <a:avLst/>
          </a:prstGeom>
          <a:noFill/>
          <a:ln w="15875">
            <a:solidFill>
              <a:srgbClr val="50808E"/>
            </a:solidFill>
            <a:prstDash val="solid"/>
            <a:tailEnd type="triangle"/>
          </a:ln>
        </p:spPr>
      </p:sp>
      <p:sp>
        <p:nvSpPr>
          <p:cNvPr id="32" name="Text 30"/>
          <p:cNvSpPr txBox="1"/>
          <p:nvPr/>
        </p:nvSpPr>
        <p:spPr>
          <a:xfrm>
            <a:off x="5212080" y="4892040"/>
            <a:ext cx="1463040" cy="457200"/>
          </a:xfrm>
          <a:prstGeom prst="rect">
            <a:avLst/>
          </a:prstGeom>
          <a:noFill/>
          <a:ln/>
        </p:spPr>
        <p:txBody>
          <a:bodyPr wrap="square" lIns="0" tIns="0" rIns="0" bIns="0" rtlCol="0" anchor="t"/>
          <a:lstStyle/>
          <a:p>
            <a:pPr indent="0" marL="0">
              <a:buNone/>
            </a:pPr>
            <a:r>
              <a:rPr lang="tr-TR" sz="1100" i="1" dirty="0">
                <a:solidFill>
                  <a:srgbClr val="6B7679"/>
                </a:solidFill>
                <a:latin typeface="Calibri" pitchFamily="34" charset="0"/>
                <a:ea typeface="Calibri" pitchFamily="34" charset="-122"/>
                <a:cs typeface="Calibri" pitchFamily="34" charset="-120"/>
              </a:rPr>
              <a:t>…her isteğe bir iş parçacığı</a:t>
            </a:r>
            <a:endParaRPr lang="tr-TR" sz="1100" dirty="0"/>
          </a:p>
        </p:txBody>
      </p:sp>
      <p:sp>
        <p:nvSpPr>
          <p:cNvPr id="33" name="Shape 31"/>
          <p:cNvSpPr/>
          <p:nvPr/>
        </p:nvSpPr>
        <p:spPr>
          <a:xfrm>
            <a:off x="6858000" y="2148840"/>
            <a:ext cx="4800600" cy="4114800"/>
          </a:xfrm>
          <a:prstGeom prst="roundRect">
            <a:avLst>
              <a:gd name="adj" fmla="val 1333"/>
            </a:avLst>
          </a:prstGeom>
          <a:solidFill>
            <a:srgbClr val="F2F2F2"/>
          </a:solidFill>
          <a:ln/>
          <a:effectLst>
            <a:outerShdw sx="100000" sy="100000" kx="0" ky="0" algn="bl" rotWithShape="0" blurRad="101600" dist="25400" dir="5400000">
              <a:srgbClr val="000000">
                <a:alpha val="12000"/>
              </a:srgbClr>
            </a:outerShdw>
          </a:effectLst>
        </p:spPr>
      </p:sp>
      <p:sp>
        <p:nvSpPr>
          <p:cNvPr id="34" name="Text 32"/>
          <p:cNvSpPr txBox="1"/>
          <p:nvPr/>
        </p:nvSpPr>
        <p:spPr>
          <a:xfrm>
            <a:off x="7086600" y="2331720"/>
            <a:ext cx="434340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Aynı fikir her yerde</a:t>
            </a:r>
            <a:endParaRPr lang="tr-TR" sz="1500" dirty="0"/>
          </a:p>
        </p:txBody>
      </p:sp>
      <p:sp>
        <p:nvSpPr>
          <p:cNvPr id="35" name="Text 33"/>
          <p:cNvSpPr txBox="1"/>
          <p:nvPr/>
        </p:nvSpPr>
        <p:spPr>
          <a:xfrm>
            <a:off x="7086600" y="2788920"/>
            <a:ext cx="4343400" cy="3337560"/>
          </a:xfrm>
          <a:prstGeom prst="rect">
            <a:avLst/>
          </a:prstGeom>
          <a:noFill/>
          <a:ln/>
        </p:spPr>
        <p:txBody>
          <a:bodyPr wrap="square" lIns="0" tIns="0" rIns="0" bIns="0" rtlCol="0" anchor="t"/>
          <a:lstStyle/>
          <a:p>
            <a:pPr marL="228600" indent="-228600">
              <a:spcAft>
                <a:spcPts val="400"/>
              </a:spcAft>
              <a:buSzPct val="100000"/>
              <a:buChar char="•"/>
            </a:pPr>
            <a:r>
              <a:rPr lang="tr-TR" sz="1400" b="1" dirty="0">
                <a:solidFill>
                  <a:srgbClr val="3A464C"/>
                </a:solidFill>
                <a:latin typeface="Calibri" pitchFamily="34" charset="0"/>
                <a:ea typeface="Calibri" pitchFamily="34" charset="-122"/>
                <a:cs typeface="Calibri" pitchFamily="34" charset="-120"/>
              </a:rPr>
              <a:t>Kelime işlemci:</a:t>
            </a:r>
            <a:r>
              <a:rPr lang="tr-TR" sz="1400" dirty="0">
                <a:solidFill>
                  <a:srgbClr val="3A464C"/>
                </a:solidFill>
                <a:latin typeface="Calibri" pitchFamily="34" charset="0"/>
                <a:ea typeface="Calibri" pitchFamily="34" charset="-122"/>
                <a:cs typeface="Calibri" pitchFamily="34" charset="-120"/>
              </a:rPr>
              <a:t> bir iş parçacığı tuşları okur, biri ekranı yeniden çizer, biri yazımı denetler, biri otomatik kaydeder.</a:t>
            </a:r>
            <a:endParaRPr lang="tr-TR" sz="1400" dirty="0"/>
          </a:p>
          <a:p>
            <a:pPr marL="228600" indent="-228600">
              <a:spcAft>
                <a:spcPts val="400"/>
              </a:spcAft>
              <a:buSzPct val="100000"/>
              <a:buChar char="•"/>
            </a:pPr>
            <a:r>
              <a:rPr lang="tr-TR" sz="1400" b="1" dirty="0">
                <a:solidFill>
                  <a:srgbClr val="3A464C"/>
                </a:solidFill>
                <a:latin typeface="Calibri" pitchFamily="34" charset="0"/>
                <a:ea typeface="Calibri" pitchFamily="34" charset="-122"/>
                <a:cs typeface="Calibri" pitchFamily="34" charset="-120"/>
              </a:rPr>
              <a:t>Tarayıcı:</a:t>
            </a:r>
            <a:r>
              <a:rPr lang="tr-TR" sz="1400" dirty="0">
                <a:solidFill>
                  <a:srgbClr val="3A464C"/>
                </a:solidFill>
                <a:latin typeface="Calibri" pitchFamily="34" charset="0"/>
                <a:ea typeface="Calibri" pitchFamily="34" charset="-122"/>
                <a:cs typeface="Calibri" pitchFamily="34" charset="-120"/>
              </a:rPr>
              <a:t> her sekme aynı anda sayfa yükler, resim çözer, betik çalıştırır.</a:t>
            </a:r>
            <a:endParaRPr lang="tr-TR" sz="1400" dirty="0"/>
          </a:p>
          <a:p>
            <a:pPr marL="228600" indent="-228600">
              <a:spcAft>
                <a:spcPts val="400"/>
              </a:spcAft>
              <a:buSzPct val="100000"/>
              <a:buChar char="•"/>
            </a:pPr>
            <a:r>
              <a:rPr lang="tr-TR" sz="1400" b="1" dirty="0">
                <a:solidFill>
                  <a:srgbClr val="3A464C"/>
                </a:solidFill>
                <a:latin typeface="Calibri" pitchFamily="34" charset="0"/>
                <a:ea typeface="Calibri" pitchFamily="34" charset="-122"/>
                <a:cs typeface="Calibri" pitchFamily="34" charset="-120"/>
              </a:rPr>
              <a:t>Oyun:</a:t>
            </a:r>
            <a:r>
              <a:rPr lang="tr-TR" sz="1400" dirty="0">
                <a:solidFill>
                  <a:srgbClr val="3A464C"/>
                </a:solidFill>
                <a:latin typeface="Calibri" pitchFamily="34" charset="0"/>
                <a:ea typeface="Calibri" pitchFamily="34" charset="-122"/>
                <a:cs typeface="Calibri" pitchFamily="34" charset="-120"/>
              </a:rPr>
              <a:t> görüntü, fizik, ses ve ağ ayrı iş parçacıklarında.</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Hepsi aynı belge / sayfa / dünya üzerinde çalışır — dolayısıyla belleği paylaşmaları gerekir.</a:t>
            </a:r>
            <a:endParaRPr lang="tr-TR"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TANIM</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İş Parçacığı, İşlemcide Yürütmenin Birimidir</a:t>
            </a:r>
            <a:endParaRPr lang="tr-TR"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tr-TR" sz="1500" dirty="0">
                <a:solidFill>
                  <a:srgbClr val="3A464C"/>
                </a:solidFill>
                <a:latin typeface="Calibri" pitchFamily="34" charset="0"/>
                <a:ea typeface="Calibri" pitchFamily="34" charset="-122"/>
                <a:cs typeface="Calibri" pitchFamily="34" charset="-120"/>
              </a:rPr>
              <a:t>Her iş parçacığının kendi kimliği (TID), program sayacı (PC), yazmaç kümesi ve yığıtı vardır. Gerisini sürecindeki diğer iş parçacıklarıyla paylaşır.</a:t>
            </a:r>
            <a:endParaRPr lang="tr-TR"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4  ·  6</a:t>
            </a:r>
            <a:endParaRPr lang="tr-TR" sz="900" dirty="0"/>
          </a:p>
        </p:txBody>
      </p:sp>
      <p:sp>
        <p:nvSpPr>
          <p:cNvPr id="7" name="Text 5"/>
          <p:cNvSpPr txBox="1"/>
          <p:nvPr/>
        </p:nvSpPr>
        <p:spPr>
          <a:xfrm>
            <a:off x="548640" y="2103120"/>
            <a:ext cx="3291840" cy="320040"/>
          </a:xfrm>
          <a:prstGeom prst="rect">
            <a:avLst/>
          </a:prstGeom>
          <a:noFill/>
          <a:ln/>
        </p:spPr>
        <p:txBody>
          <a:bodyPr wrap="square" lIns="0" tIns="0" rIns="0" bIns="0" rtlCol="0" anchor="t"/>
          <a:lstStyle/>
          <a:p>
            <a:pPr algn="ctr" indent="0" marL="0">
              <a:buNone/>
            </a:pPr>
            <a:r>
              <a:rPr lang="tr-TR" sz="1400" b="1" dirty="0">
                <a:solidFill>
                  <a:srgbClr val="36454F"/>
                </a:solidFill>
                <a:latin typeface="Calibri" pitchFamily="34" charset="0"/>
                <a:ea typeface="Calibri" pitchFamily="34" charset="-122"/>
                <a:cs typeface="Calibri" pitchFamily="34" charset="-120"/>
              </a:rPr>
              <a:t>Tek iş parçacıklı süreç</a:t>
            </a:r>
            <a:endParaRPr lang="tr-TR" sz="1400" dirty="0"/>
          </a:p>
        </p:txBody>
      </p:sp>
      <p:sp>
        <p:nvSpPr>
          <p:cNvPr id="8" name="Shape 6"/>
          <p:cNvSpPr/>
          <p:nvPr/>
        </p:nvSpPr>
        <p:spPr>
          <a:xfrm>
            <a:off x="548640" y="2468880"/>
            <a:ext cx="3291840" cy="3520440"/>
          </a:xfrm>
          <a:prstGeom prst="roundRect">
            <a:avLst>
              <a:gd name="adj" fmla="val 1389"/>
            </a:avLst>
          </a:prstGeom>
          <a:solidFill>
            <a:srgbClr val="FFFFFF"/>
          </a:solidFill>
          <a:ln w="12700">
            <a:solidFill>
              <a:srgbClr val="50808E"/>
            </a:solidFill>
            <a:prstDash val="solid"/>
          </a:ln>
        </p:spPr>
      </p:sp>
      <p:sp>
        <p:nvSpPr>
          <p:cNvPr id="9" name="Shape 7"/>
          <p:cNvSpPr/>
          <p:nvPr/>
        </p:nvSpPr>
        <p:spPr>
          <a:xfrm>
            <a:off x="731520" y="2606040"/>
            <a:ext cx="902208" cy="502920"/>
          </a:xfrm>
          <a:prstGeom prst="roundRect">
            <a:avLst>
              <a:gd name="adj" fmla="val 9091"/>
            </a:avLst>
          </a:prstGeom>
          <a:solidFill>
            <a:srgbClr val="02C39A"/>
          </a:solidFill>
          <a:ln/>
        </p:spPr>
      </p:sp>
      <p:sp>
        <p:nvSpPr>
          <p:cNvPr id="10" name="Text 8"/>
          <p:cNvSpPr txBox="1"/>
          <p:nvPr/>
        </p:nvSpPr>
        <p:spPr>
          <a:xfrm>
            <a:off x="731520" y="2606040"/>
            <a:ext cx="902208" cy="502920"/>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alibri" pitchFamily="34" charset="0"/>
                <a:ea typeface="Calibri" pitchFamily="34" charset="-122"/>
                <a:cs typeface="Calibri" pitchFamily="34" charset="-120"/>
              </a:rPr>
              <a:t>kod</a:t>
            </a:r>
            <a:endParaRPr lang="tr-TR" sz="1200" dirty="0"/>
          </a:p>
        </p:txBody>
      </p:sp>
      <p:sp>
        <p:nvSpPr>
          <p:cNvPr id="11" name="Shape 9"/>
          <p:cNvSpPr/>
          <p:nvPr/>
        </p:nvSpPr>
        <p:spPr>
          <a:xfrm>
            <a:off x="1706880" y="2606040"/>
            <a:ext cx="902208" cy="502920"/>
          </a:xfrm>
          <a:prstGeom prst="roundRect">
            <a:avLst>
              <a:gd name="adj" fmla="val 9091"/>
            </a:avLst>
          </a:prstGeom>
          <a:solidFill>
            <a:srgbClr val="02C39A"/>
          </a:solidFill>
          <a:ln/>
        </p:spPr>
      </p:sp>
      <p:sp>
        <p:nvSpPr>
          <p:cNvPr id="12" name="Text 10"/>
          <p:cNvSpPr txBox="1"/>
          <p:nvPr/>
        </p:nvSpPr>
        <p:spPr>
          <a:xfrm>
            <a:off x="1706880" y="2606040"/>
            <a:ext cx="902208" cy="502920"/>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alibri" pitchFamily="34" charset="0"/>
                <a:ea typeface="Calibri" pitchFamily="34" charset="-122"/>
                <a:cs typeface="Calibri" pitchFamily="34" charset="-120"/>
              </a:rPr>
              <a:t>veri</a:t>
            </a:r>
            <a:endParaRPr lang="tr-TR" sz="1200" dirty="0"/>
          </a:p>
        </p:txBody>
      </p:sp>
      <p:sp>
        <p:nvSpPr>
          <p:cNvPr id="13" name="Shape 11"/>
          <p:cNvSpPr/>
          <p:nvPr/>
        </p:nvSpPr>
        <p:spPr>
          <a:xfrm>
            <a:off x="2682240" y="2606040"/>
            <a:ext cx="902208" cy="502920"/>
          </a:xfrm>
          <a:prstGeom prst="roundRect">
            <a:avLst>
              <a:gd name="adj" fmla="val 9091"/>
            </a:avLst>
          </a:prstGeom>
          <a:solidFill>
            <a:srgbClr val="02C39A"/>
          </a:solidFill>
          <a:ln/>
        </p:spPr>
      </p:sp>
      <p:sp>
        <p:nvSpPr>
          <p:cNvPr id="14" name="Text 12"/>
          <p:cNvSpPr txBox="1"/>
          <p:nvPr/>
        </p:nvSpPr>
        <p:spPr>
          <a:xfrm>
            <a:off x="2682240" y="2606040"/>
            <a:ext cx="902208" cy="502920"/>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alibri" pitchFamily="34" charset="0"/>
                <a:ea typeface="Calibri" pitchFamily="34" charset="-122"/>
                <a:cs typeface="Calibri" pitchFamily="34" charset="-120"/>
              </a:rPr>
              <a:t>dosyalar</a:t>
            </a:r>
            <a:endParaRPr lang="tr-TR" sz="1200" dirty="0"/>
          </a:p>
        </p:txBody>
      </p:sp>
      <p:sp>
        <p:nvSpPr>
          <p:cNvPr id="15" name="Shape 13"/>
          <p:cNvSpPr/>
          <p:nvPr/>
        </p:nvSpPr>
        <p:spPr>
          <a:xfrm>
            <a:off x="731520" y="3246120"/>
            <a:ext cx="2852928" cy="457200"/>
          </a:xfrm>
          <a:prstGeom prst="roundRect">
            <a:avLst>
              <a:gd name="adj" fmla="val 10000"/>
            </a:avLst>
          </a:prstGeom>
          <a:solidFill>
            <a:srgbClr val="F2F2F2"/>
          </a:solidFill>
          <a:ln/>
        </p:spPr>
      </p:sp>
      <p:sp>
        <p:nvSpPr>
          <p:cNvPr id="16" name="Text 14"/>
          <p:cNvSpPr txBox="1"/>
          <p:nvPr/>
        </p:nvSpPr>
        <p:spPr>
          <a:xfrm>
            <a:off x="731520" y="3246120"/>
            <a:ext cx="2852928" cy="457200"/>
          </a:xfrm>
          <a:prstGeom prst="rect">
            <a:avLst/>
          </a:prstGeom>
          <a:noFill/>
          <a:ln/>
        </p:spPr>
        <p:txBody>
          <a:bodyPr wrap="square" lIns="38100" tIns="38100" rIns="38100" bIns="38100" rtlCol="0" anchor="ctr"/>
          <a:lstStyle/>
          <a:p>
            <a:pPr algn="ctr" indent="0" marL="0">
              <a:buNone/>
            </a:pPr>
            <a:r>
              <a:rPr lang="tr-TR" sz="1100" b="1" dirty="0">
                <a:solidFill>
                  <a:srgbClr val="36454F"/>
                </a:solidFill>
                <a:latin typeface="Calibri" pitchFamily="34" charset="0"/>
                <a:ea typeface="Calibri" pitchFamily="34" charset="-122"/>
                <a:cs typeface="Calibri" pitchFamily="34" charset="-120"/>
              </a:rPr>
              <a:t>yazmaçlar</a:t>
            </a:r>
            <a:endParaRPr lang="tr-TR" sz="1100" dirty="0"/>
          </a:p>
        </p:txBody>
      </p:sp>
      <p:sp>
        <p:nvSpPr>
          <p:cNvPr id="17" name="Shape 15"/>
          <p:cNvSpPr/>
          <p:nvPr/>
        </p:nvSpPr>
        <p:spPr>
          <a:xfrm>
            <a:off x="731520" y="3749040"/>
            <a:ext cx="2852928" cy="457200"/>
          </a:xfrm>
          <a:prstGeom prst="roundRect">
            <a:avLst>
              <a:gd name="adj" fmla="val 10000"/>
            </a:avLst>
          </a:prstGeom>
          <a:solidFill>
            <a:srgbClr val="F2F2F2"/>
          </a:solidFill>
          <a:ln/>
        </p:spPr>
      </p:sp>
      <p:sp>
        <p:nvSpPr>
          <p:cNvPr id="18" name="Text 16"/>
          <p:cNvSpPr txBox="1"/>
          <p:nvPr/>
        </p:nvSpPr>
        <p:spPr>
          <a:xfrm>
            <a:off x="731520" y="3749040"/>
            <a:ext cx="2852928" cy="457200"/>
          </a:xfrm>
          <a:prstGeom prst="rect">
            <a:avLst/>
          </a:prstGeom>
          <a:noFill/>
          <a:ln/>
        </p:spPr>
        <p:txBody>
          <a:bodyPr wrap="square" lIns="38100" tIns="38100" rIns="38100" bIns="38100" rtlCol="0" anchor="ctr"/>
          <a:lstStyle/>
          <a:p>
            <a:pPr algn="ctr" indent="0" marL="0">
              <a:buNone/>
            </a:pPr>
            <a:r>
              <a:rPr lang="tr-TR" sz="1100" b="1" dirty="0">
                <a:solidFill>
                  <a:srgbClr val="36454F"/>
                </a:solidFill>
                <a:latin typeface="Calibri" pitchFamily="34" charset="0"/>
                <a:ea typeface="Calibri" pitchFamily="34" charset="-122"/>
                <a:cs typeface="Calibri" pitchFamily="34" charset="-120"/>
              </a:rPr>
              <a:t>PC</a:t>
            </a:r>
            <a:endParaRPr lang="tr-TR" sz="1100" dirty="0"/>
          </a:p>
        </p:txBody>
      </p:sp>
      <p:sp>
        <p:nvSpPr>
          <p:cNvPr id="19" name="Shape 17"/>
          <p:cNvSpPr/>
          <p:nvPr/>
        </p:nvSpPr>
        <p:spPr>
          <a:xfrm>
            <a:off x="731520" y="4251960"/>
            <a:ext cx="2852928" cy="457200"/>
          </a:xfrm>
          <a:prstGeom prst="roundRect">
            <a:avLst>
              <a:gd name="adj" fmla="val 10000"/>
            </a:avLst>
          </a:prstGeom>
          <a:solidFill>
            <a:srgbClr val="F2F2F2"/>
          </a:solidFill>
          <a:ln/>
        </p:spPr>
      </p:sp>
      <p:sp>
        <p:nvSpPr>
          <p:cNvPr id="20" name="Text 18"/>
          <p:cNvSpPr txBox="1"/>
          <p:nvPr/>
        </p:nvSpPr>
        <p:spPr>
          <a:xfrm>
            <a:off x="731520" y="4251960"/>
            <a:ext cx="2852928" cy="457200"/>
          </a:xfrm>
          <a:prstGeom prst="rect">
            <a:avLst/>
          </a:prstGeom>
          <a:noFill/>
          <a:ln/>
        </p:spPr>
        <p:txBody>
          <a:bodyPr wrap="square" lIns="38100" tIns="38100" rIns="38100" bIns="38100" rtlCol="0" anchor="ctr"/>
          <a:lstStyle/>
          <a:p>
            <a:pPr algn="ctr" indent="0" marL="0">
              <a:buNone/>
            </a:pPr>
            <a:r>
              <a:rPr lang="tr-TR" sz="1100" b="1" dirty="0">
                <a:solidFill>
                  <a:srgbClr val="36454F"/>
                </a:solidFill>
                <a:latin typeface="Calibri" pitchFamily="34" charset="0"/>
                <a:ea typeface="Calibri" pitchFamily="34" charset="-122"/>
                <a:cs typeface="Calibri" pitchFamily="34" charset="-120"/>
              </a:rPr>
              <a:t>yığıt</a:t>
            </a:r>
            <a:endParaRPr lang="tr-TR" sz="1100" dirty="0"/>
          </a:p>
        </p:txBody>
      </p:sp>
      <p:sp>
        <p:nvSpPr>
          <p:cNvPr id="21" name="Shape 19"/>
          <p:cNvSpPr/>
          <p:nvPr/>
        </p:nvSpPr>
        <p:spPr>
          <a:xfrm>
            <a:off x="2157984" y="4800600"/>
            <a:ext cx="91" cy="1051560"/>
          </a:xfrm>
          <a:prstGeom prst="line">
            <a:avLst/>
          </a:prstGeom>
          <a:noFill/>
          <a:ln w="31750">
            <a:solidFill>
              <a:srgbClr val="028090"/>
            </a:solidFill>
            <a:prstDash val="solid"/>
            <a:tailEnd type="triangle"/>
          </a:ln>
        </p:spPr>
      </p:sp>
      <p:sp>
        <p:nvSpPr>
          <p:cNvPr id="22" name="Text 20"/>
          <p:cNvSpPr txBox="1"/>
          <p:nvPr/>
        </p:nvSpPr>
        <p:spPr>
          <a:xfrm>
            <a:off x="4206240" y="2103120"/>
            <a:ext cx="4937760" cy="320040"/>
          </a:xfrm>
          <a:prstGeom prst="rect">
            <a:avLst/>
          </a:prstGeom>
          <a:noFill/>
          <a:ln/>
        </p:spPr>
        <p:txBody>
          <a:bodyPr wrap="square" lIns="0" tIns="0" rIns="0" bIns="0" rtlCol="0" anchor="t"/>
          <a:lstStyle/>
          <a:p>
            <a:pPr algn="ctr" indent="0" marL="0">
              <a:buNone/>
            </a:pPr>
            <a:r>
              <a:rPr lang="tr-TR" sz="1400" b="1" dirty="0">
                <a:solidFill>
                  <a:srgbClr val="36454F"/>
                </a:solidFill>
                <a:latin typeface="Calibri" pitchFamily="34" charset="0"/>
                <a:ea typeface="Calibri" pitchFamily="34" charset="-122"/>
                <a:cs typeface="Calibri" pitchFamily="34" charset="-120"/>
              </a:rPr>
              <a:t>Çok iş parçacıklı süreç (3 iş parçacığı)</a:t>
            </a:r>
            <a:endParaRPr lang="tr-TR" sz="1400" dirty="0"/>
          </a:p>
        </p:txBody>
      </p:sp>
      <p:sp>
        <p:nvSpPr>
          <p:cNvPr id="23" name="Shape 21"/>
          <p:cNvSpPr/>
          <p:nvPr/>
        </p:nvSpPr>
        <p:spPr>
          <a:xfrm>
            <a:off x="4206240" y="2468880"/>
            <a:ext cx="4937760" cy="3520440"/>
          </a:xfrm>
          <a:prstGeom prst="roundRect">
            <a:avLst>
              <a:gd name="adj" fmla="val 1299"/>
            </a:avLst>
          </a:prstGeom>
          <a:solidFill>
            <a:srgbClr val="FFFFFF"/>
          </a:solidFill>
          <a:ln w="12700">
            <a:solidFill>
              <a:srgbClr val="50808E"/>
            </a:solidFill>
            <a:prstDash val="solid"/>
          </a:ln>
        </p:spPr>
      </p:sp>
      <p:sp>
        <p:nvSpPr>
          <p:cNvPr id="24" name="Shape 22"/>
          <p:cNvSpPr/>
          <p:nvPr/>
        </p:nvSpPr>
        <p:spPr>
          <a:xfrm>
            <a:off x="4389120" y="2606040"/>
            <a:ext cx="1450848" cy="502920"/>
          </a:xfrm>
          <a:prstGeom prst="roundRect">
            <a:avLst>
              <a:gd name="adj" fmla="val 9091"/>
            </a:avLst>
          </a:prstGeom>
          <a:solidFill>
            <a:srgbClr val="02C39A"/>
          </a:solidFill>
          <a:ln/>
        </p:spPr>
      </p:sp>
      <p:sp>
        <p:nvSpPr>
          <p:cNvPr id="25" name="Text 23"/>
          <p:cNvSpPr txBox="1"/>
          <p:nvPr/>
        </p:nvSpPr>
        <p:spPr>
          <a:xfrm>
            <a:off x="4389120" y="2606040"/>
            <a:ext cx="1450848" cy="502920"/>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alibri" pitchFamily="34" charset="0"/>
                <a:ea typeface="Calibri" pitchFamily="34" charset="-122"/>
                <a:cs typeface="Calibri" pitchFamily="34" charset="-120"/>
              </a:rPr>
              <a:t>kod</a:t>
            </a:r>
            <a:endParaRPr lang="tr-TR" sz="1200" dirty="0"/>
          </a:p>
        </p:txBody>
      </p:sp>
      <p:sp>
        <p:nvSpPr>
          <p:cNvPr id="26" name="Shape 24"/>
          <p:cNvSpPr/>
          <p:nvPr/>
        </p:nvSpPr>
        <p:spPr>
          <a:xfrm>
            <a:off x="5913120" y="2606040"/>
            <a:ext cx="1450848" cy="502920"/>
          </a:xfrm>
          <a:prstGeom prst="roundRect">
            <a:avLst>
              <a:gd name="adj" fmla="val 9091"/>
            </a:avLst>
          </a:prstGeom>
          <a:solidFill>
            <a:srgbClr val="02C39A"/>
          </a:solidFill>
          <a:ln/>
        </p:spPr>
      </p:sp>
      <p:sp>
        <p:nvSpPr>
          <p:cNvPr id="27" name="Text 25"/>
          <p:cNvSpPr txBox="1"/>
          <p:nvPr/>
        </p:nvSpPr>
        <p:spPr>
          <a:xfrm>
            <a:off x="5913120" y="2606040"/>
            <a:ext cx="1450848" cy="502920"/>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alibri" pitchFamily="34" charset="0"/>
                <a:ea typeface="Calibri" pitchFamily="34" charset="-122"/>
                <a:cs typeface="Calibri" pitchFamily="34" charset="-120"/>
              </a:rPr>
              <a:t>veri</a:t>
            </a:r>
            <a:endParaRPr lang="tr-TR" sz="1200" dirty="0"/>
          </a:p>
        </p:txBody>
      </p:sp>
      <p:sp>
        <p:nvSpPr>
          <p:cNvPr id="28" name="Shape 26"/>
          <p:cNvSpPr/>
          <p:nvPr/>
        </p:nvSpPr>
        <p:spPr>
          <a:xfrm>
            <a:off x="7437120" y="2606040"/>
            <a:ext cx="1450848" cy="502920"/>
          </a:xfrm>
          <a:prstGeom prst="roundRect">
            <a:avLst>
              <a:gd name="adj" fmla="val 9091"/>
            </a:avLst>
          </a:prstGeom>
          <a:solidFill>
            <a:srgbClr val="02C39A"/>
          </a:solidFill>
          <a:ln/>
        </p:spPr>
      </p:sp>
      <p:sp>
        <p:nvSpPr>
          <p:cNvPr id="29" name="Text 27"/>
          <p:cNvSpPr txBox="1"/>
          <p:nvPr/>
        </p:nvSpPr>
        <p:spPr>
          <a:xfrm>
            <a:off x="7437120" y="2606040"/>
            <a:ext cx="1450848" cy="502920"/>
          </a:xfrm>
          <a:prstGeom prst="rect">
            <a:avLst/>
          </a:prstGeom>
          <a:noFill/>
          <a:ln/>
        </p:spPr>
        <p:txBody>
          <a:bodyPr wrap="square" lIns="38100" tIns="38100" rIns="38100" bIns="38100" rtlCol="0" anchor="ctr"/>
          <a:lstStyle/>
          <a:p>
            <a:pPr algn="ctr" indent="0" marL="0">
              <a:buNone/>
            </a:pPr>
            <a:r>
              <a:rPr lang="tr-TR" sz="1200" b="1" dirty="0">
                <a:solidFill>
                  <a:srgbClr val="212121"/>
                </a:solidFill>
                <a:latin typeface="Calibri" pitchFamily="34" charset="0"/>
                <a:ea typeface="Calibri" pitchFamily="34" charset="-122"/>
                <a:cs typeface="Calibri" pitchFamily="34" charset="-120"/>
              </a:rPr>
              <a:t>dosyalar</a:t>
            </a:r>
            <a:endParaRPr lang="tr-TR" sz="1200" dirty="0"/>
          </a:p>
        </p:txBody>
      </p:sp>
      <p:sp>
        <p:nvSpPr>
          <p:cNvPr id="30" name="Shape 28"/>
          <p:cNvSpPr/>
          <p:nvPr/>
        </p:nvSpPr>
        <p:spPr>
          <a:xfrm>
            <a:off x="4389120" y="3246120"/>
            <a:ext cx="1450848" cy="457200"/>
          </a:xfrm>
          <a:prstGeom prst="roundRect">
            <a:avLst>
              <a:gd name="adj" fmla="val 10000"/>
            </a:avLst>
          </a:prstGeom>
          <a:solidFill>
            <a:srgbClr val="F2F2F2"/>
          </a:solidFill>
          <a:ln/>
        </p:spPr>
      </p:sp>
      <p:sp>
        <p:nvSpPr>
          <p:cNvPr id="31" name="Text 29"/>
          <p:cNvSpPr txBox="1"/>
          <p:nvPr/>
        </p:nvSpPr>
        <p:spPr>
          <a:xfrm>
            <a:off x="4389120" y="3246120"/>
            <a:ext cx="1450848" cy="457200"/>
          </a:xfrm>
          <a:prstGeom prst="rect">
            <a:avLst/>
          </a:prstGeom>
          <a:noFill/>
          <a:ln/>
        </p:spPr>
        <p:txBody>
          <a:bodyPr wrap="square" lIns="38100" tIns="38100" rIns="38100" bIns="38100" rtlCol="0" anchor="ctr"/>
          <a:lstStyle/>
          <a:p>
            <a:pPr algn="ctr" indent="0" marL="0">
              <a:buNone/>
            </a:pPr>
            <a:r>
              <a:rPr lang="tr-TR" sz="1100" b="1" dirty="0">
                <a:solidFill>
                  <a:srgbClr val="36454F"/>
                </a:solidFill>
                <a:latin typeface="Calibri" pitchFamily="34" charset="0"/>
                <a:ea typeface="Calibri" pitchFamily="34" charset="-122"/>
                <a:cs typeface="Calibri" pitchFamily="34" charset="-120"/>
              </a:rPr>
              <a:t>yazmaçlar</a:t>
            </a:r>
            <a:endParaRPr lang="tr-TR" sz="1100" dirty="0"/>
          </a:p>
        </p:txBody>
      </p:sp>
      <p:sp>
        <p:nvSpPr>
          <p:cNvPr id="32" name="Shape 30"/>
          <p:cNvSpPr/>
          <p:nvPr/>
        </p:nvSpPr>
        <p:spPr>
          <a:xfrm>
            <a:off x="4389120" y="3749040"/>
            <a:ext cx="1450848" cy="457200"/>
          </a:xfrm>
          <a:prstGeom prst="roundRect">
            <a:avLst>
              <a:gd name="adj" fmla="val 10000"/>
            </a:avLst>
          </a:prstGeom>
          <a:solidFill>
            <a:srgbClr val="F2F2F2"/>
          </a:solidFill>
          <a:ln/>
        </p:spPr>
      </p:sp>
      <p:sp>
        <p:nvSpPr>
          <p:cNvPr id="33" name="Text 31"/>
          <p:cNvSpPr txBox="1"/>
          <p:nvPr/>
        </p:nvSpPr>
        <p:spPr>
          <a:xfrm>
            <a:off x="4389120" y="3749040"/>
            <a:ext cx="1450848" cy="457200"/>
          </a:xfrm>
          <a:prstGeom prst="rect">
            <a:avLst/>
          </a:prstGeom>
          <a:noFill/>
          <a:ln/>
        </p:spPr>
        <p:txBody>
          <a:bodyPr wrap="square" lIns="38100" tIns="38100" rIns="38100" bIns="38100" rtlCol="0" anchor="ctr"/>
          <a:lstStyle/>
          <a:p>
            <a:pPr algn="ctr" indent="0" marL="0">
              <a:buNone/>
            </a:pPr>
            <a:r>
              <a:rPr lang="tr-TR" sz="1100" b="1" dirty="0">
                <a:solidFill>
                  <a:srgbClr val="36454F"/>
                </a:solidFill>
                <a:latin typeface="Calibri" pitchFamily="34" charset="0"/>
                <a:ea typeface="Calibri" pitchFamily="34" charset="-122"/>
                <a:cs typeface="Calibri" pitchFamily="34" charset="-120"/>
              </a:rPr>
              <a:t>PC</a:t>
            </a:r>
            <a:endParaRPr lang="tr-TR" sz="1100" dirty="0"/>
          </a:p>
        </p:txBody>
      </p:sp>
      <p:sp>
        <p:nvSpPr>
          <p:cNvPr id="34" name="Shape 32"/>
          <p:cNvSpPr/>
          <p:nvPr/>
        </p:nvSpPr>
        <p:spPr>
          <a:xfrm>
            <a:off x="4389120" y="4251960"/>
            <a:ext cx="1450848" cy="457200"/>
          </a:xfrm>
          <a:prstGeom prst="roundRect">
            <a:avLst>
              <a:gd name="adj" fmla="val 10000"/>
            </a:avLst>
          </a:prstGeom>
          <a:solidFill>
            <a:srgbClr val="F2F2F2"/>
          </a:solidFill>
          <a:ln/>
        </p:spPr>
      </p:sp>
      <p:sp>
        <p:nvSpPr>
          <p:cNvPr id="35" name="Text 33"/>
          <p:cNvSpPr txBox="1"/>
          <p:nvPr/>
        </p:nvSpPr>
        <p:spPr>
          <a:xfrm>
            <a:off x="4389120" y="4251960"/>
            <a:ext cx="1450848" cy="457200"/>
          </a:xfrm>
          <a:prstGeom prst="rect">
            <a:avLst/>
          </a:prstGeom>
          <a:noFill/>
          <a:ln/>
        </p:spPr>
        <p:txBody>
          <a:bodyPr wrap="square" lIns="38100" tIns="38100" rIns="38100" bIns="38100" rtlCol="0" anchor="ctr"/>
          <a:lstStyle/>
          <a:p>
            <a:pPr algn="ctr" indent="0" marL="0">
              <a:buNone/>
            </a:pPr>
            <a:r>
              <a:rPr lang="tr-TR" sz="1100" b="1" dirty="0">
                <a:solidFill>
                  <a:srgbClr val="36454F"/>
                </a:solidFill>
                <a:latin typeface="Calibri" pitchFamily="34" charset="0"/>
                <a:ea typeface="Calibri" pitchFamily="34" charset="-122"/>
                <a:cs typeface="Calibri" pitchFamily="34" charset="-120"/>
              </a:rPr>
              <a:t>yığıt</a:t>
            </a:r>
            <a:endParaRPr lang="tr-TR" sz="1100" dirty="0"/>
          </a:p>
        </p:txBody>
      </p:sp>
      <p:sp>
        <p:nvSpPr>
          <p:cNvPr id="36" name="Shape 34"/>
          <p:cNvSpPr/>
          <p:nvPr/>
        </p:nvSpPr>
        <p:spPr>
          <a:xfrm>
            <a:off x="5114544" y="4800600"/>
            <a:ext cx="91" cy="1051560"/>
          </a:xfrm>
          <a:prstGeom prst="line">
            <a:avLst/>
          </a:prstGeom>
          <a:noFill/>
          <a:ln w="31750">
            <a:solidFill>
              <a:srgbClr val="028090"/>
            </a:solidFill>
            <a:prstDash val="solid"/>
            <a:tailEnd type="triangle"/>
          </a:ln>
        </p:spPr>
      </p:sp>
      <p:sp>
        <p:nvSpPr>
          <p:cNvPr id="37" name="Shape 35"/>
          <p:cNvSpPr/>
          <p:nvPr/>
        </p:nvSpPr>
        <p:spPr>
          <a:xfrm>
            <a:off x="5913120" y="3246120"/>
            <a:ext cx="1450848" cy="457200"/>
          </a:xfrm>
          <a:prstGeom prst="roundRect">
            <a:avLst>
              <a:gd name="adj" fmla="val 10000"/>
            </a:avLst>
          </a:prstGeom>
          <a:solidFill>
            <a:srgbClr val="F2F2F2"/>
          </a:solidFill>
          <a:ln/>
        </p:spPr>
      </p:sp>
      <p:sp>
        <p:nvSpPr>
          <p:cNvPr id="38" name="Text 36"/>
          <p:cNvSpPr txBox="1"/>
          <p:nvPr/>
        </p:nvSpPr>
        <p:spPr>
          <a:xfrm>
            <a:off x="5913120" y="3246120"/>
            <a:ext cx="1450848" cy="457200"/>
          </a:xfrm>
          <a:prstGeom prst="rect">
            <a:avLst/>
          </a:prstGeom>
          <a:noFill/>
          <a:ln/>
        </p:spPr>
        <p:txBody>
          <a:bodyPr wrap="square" lIns="38100" tIns="38100" rIns="38100" bIns="38100" rtlCol="0" anchor="ctr"/>
          <a:lstStyle/>
          <a:p>
            <a:pPr algn="ctr" indent="0" marL="0">
              <a:buNone/>
            </a:pPr>
            <a:r>
              <a:rPr lang="tr-TR" sz="1100" b="1" dirty="0">
                <a:solidFill>
                  <a:srgbClr val="36454F"/>
                </a:solidFill>
                <a:latin typeface="Calibri" pitchFamily="34" charset="0"/>
                <a:ea typeface="Calibri" pitchFamily="34" charset="-122"/>
                <a:cs typeface="Calibri" pitchFamily="34" charset="-120"/>
              </a:rPr>
              <a:t>yazmaçlar</a:t>
            </a:r>
            <a:endParaRPr lang="tr-TR" sz="1100" dirty="0"/>
          </a:p>
        </p:txBody>
      </p:sp>
      <p:sp>
        <p:nvSpPr>
          <p:cNvPr id="39" name="Shape 37"/>
          <p:cNvSpPr/>
          <p:nvPr/>
        </p:nvSpPr>
        <p:spPr>
          <a:xfrm>
            <a:off x="5913120" y="3749040"/>
            <a:ext cx="1450848" cy="457200"/>
          </a:xfrm>
          <a:prstGeom prst="roundRect">
            <a:avLst>
              <a:gd name="adj" fmla="val 10000"/>
            </a:avLst>
          </a:prstGeom>
          <a:solidFill>
            <a:srgbClr val="F2F2F2"/>
          </a:solidFill>
          <a:ln/>
        </p:spPr>
      </p:sp>
      <p:sp>
        <p:nvSpPr>
          <p:cNvPr id="40" name="Text 38"/>
          <p:cNvSpPr txBox="1"/>
          <p:nvPr/>
        </p:nvSpPr>
        <p:spPr>
          <a:xfrm>
            <a:off x="5913120" y="3749040"/>
            <a:ext cx="1450848" cy="457200"/>
          </a:xfrm>
          <a:prstGeom prst="rect">
            <a:avLst/>
          </a:prstGeom>
          <a:noFill/>
          <a:ln/>
        </p:spPr>
        <p:txBody>
          <a:bodyPr wrap="square" lIns="38100" tIns="38100" rIns="38100" bIns="38100" rtlCol="0" anchor="ctr"/>
          <a:lstStyle/>
          <a:p>
            <a:pPr algn="ctr" indent="0" marL="0">
              <a:buNone/>
            </a:pPr>
            <a:r>
              <a:rPr lang="tr-TR" sz="1100" b="1" dirty="0">
                <a:solidFill>
                  <a:srgbClr val="36454F"/>
                </a:solidFill>
                <a:latin typeface="Calibri" pitchFamily="34" charset="0"/>
                <a:ea typeface="Calibri" pitchFamily="34" charset="-122"/>
                <a:cs typeface="Calibri" pitchFamily="34" charset="-120"/>
              </a:rPr>
              <a:t>PC</a:t>
            </a:r>
            <a:endParaRPr lang="tr-TR" sz="1100" dirty="0"/>
          </a:p>
        </p:txBody>
      </p:sp>
      <p:sp>
        <p:nvSpPr>
          <p:cNvPr id="41" name="Shape 39"/>
          <p:cNvSpPr/>
          <p:nvPr/>
        </p:nvSpPr>
        <p:spPr>
          <a:xfrm>
            <a:off x="5913120" y="4251960"/>
            <a:ext cx="1450848" cy="457200"/>
          </a:xfrm>
          <a:prstGeom prst="roundRect">
            <a:avLst>
              <a:gd name="adj" fmla="val 10000"/>
            </a:avLst>
          </a:prstGeom>
          <a:solidFill>
            <a:srgbClr val="F2F2F2"/>
          </a:solidFill>
          <a:ln/>
        </p:spPr>
      </p:sp>
      <p:sp>
        <p:nvSpPr>
          <p:cNvPr id="42" name="Text 40"/>
          <p:cNvSpPr txBox="1"/>
          <p:nvPr/>
        </p:nvSpPr>
        <p:spPr>
          <a:xfrm>
            <a:off x="5913120" y="4251960"/>
            <a:ext cx="1450848" cy="457200"/>
          </a:xfrm>
          <a:prstGeom prst="rect">
            <a:avLst/>
          </a:prstGeom>
          <a:noFill/>
          <a:ln/>
        </p:spPr>
        <p:txBody>
          <a:bodyPr wrap="square" lIns="38100" tIns="38100" rIns="38100" bIns="38100" rtlCol="0" anchor="ctr"/>
          <a:lstStyle/>
          <a:p>
            <a:pPr algn="ctr" indent="0" marL="0">
              <a:buNone/>
            </a:pPr>
            <a:r>
              <a:rPr lang="tr-TR" sz="1100" b="1" dirty="0">
                <a:solidFill>
                  <a:srgbClr val="36454F"/>
                </a:solidFill>
                <a:latin typeface="Calibri" pitchFamily="34" charset="0"/>
                <a:ea typeface="Calibri" pitchFamily="34" charset="-122"/>
                <a:cs typeface="Calibri" pitchFamily="34" charset="-120"/>
              </a:rPr>
              <a:t>yığıt</a:t>
            </a:r>
            <a:endParaRPr lang="tr-TR" sz="1100" dirty="0"/>
          </a:p>
        </p:txBody>
      </p:sp>
      <p:sp>
        <p:nvSpPr>
          <p:cNvPr id="43" name="Shape 41"/>
          <p:cNvSpPr/>
          <p:nvPr/>
        </p:nvSpPr>
        <p:spPr>
          <a:xfrm>
            <a:off x="6638544" y="4800600"/>
            <a:ext cx="91" cy="1051560"/>
          </a:xfrm>
          <a:prstGeom prst="line">
            <a:avLst/>
          </a:prstGeom>
          <a:noFill/>
          <a:ln w="31750">
            <a:solidFill>
              <a:srgbClr val="028090"/>
            </a:solidFill>
            <a:prstDash val="solid"/>
            <a:tailEnd type="triangle"/>
          </a:ln>
        </p:spPr>
      </p:sp>
      <p:sp>
        <p:nvSpPr>
          <p:cNvPr id="44" name="Shape 42"/>
          <p:cNvSpPr/>
          <p:nvPr/>
        </p:nvSpPr>
        <p:spPr>
          <a:xfrm>
            <a:off x="7437120" y="3246120"/>
            <a:ext cx="1450848" cy="457200"/>
          </a:xfrm>
          <a:prstGeom prst="roundRect">
            <a:avLst>
              <a:gd name="adj" fmla="val 10000"/>
            </a:avLst>
          </a:prstGeom>
          <a:solidFill>
            <a:srgbClr val="F2F2F2"/>
          </a:solidFill>
          <a:ln/>
        </p:spPr>
      </p:sp>
      <p:sp>
        <p:nvSpPr>
          <p:cNvPr id="45" name="Text 43"/>
          <p:cNvSpPr txBox="1"/>
          <p:nvPr/>
        </p:nvSpPr>
        <p:spPr>
          <a:xfrm>
            <a:off x="7437120" y="3246120"/>
            <a:ext cx="1450848" cy="457200"/>
          </a:xfrm>
          <a:prstGeom prst="rect">
            <a:avLst/>
          </a:prstGeom>
          <a:noFill/>
          <a:ln/>
        </p:spPr>
        <p:txBody>
          <a:bodyPr wrap="square" lIns="38100" tIns="38100" rIns="38100" bIns="38100" rtlCol="0" anchor="ctr"/>
          <a:lstStyle/>
          <a:p>
            <a:pPr algn="ctr" indent="0" marL="0">
              <a:buNone/>
            </a:pPr>
            <a:r>
              <a:rPr lang="tr-TR" sz="1100" b="1" dirty="0">
                <a:solidFill>
                  <a:srgbClr val="36454F"/>
                </a:solidFill>
                <a:latin typeface="Calibri" pitchFamily="34" charset="0"/>
                <a:ea typeface="Calibri" pitchFamily="34" charset="-122"/>
                <a:cs typeface="Calibri" pitchFamily="34" charset="-120"/>
              </a:rPr>
              <a:t>yazmaçlar</a:t>
            </a:r>
            <a:endParaRPr lang="tr-TR" sz="1100" dirty="0"/>
          </a:p>
        </p:txBody>
      </p:sp>
      <p:sp>
        <p:nvSpPr>
          <p:cNvPr id="46" name="Shape 44"/>
          <p:cNvSpPr/>
          <p:nvPr/>
        </p:nvSpPr>
        <p:spPr>
          <a:xfrm>
            <a:off x="7437120" y="3749040"/>
            <a:ext cx="1450848" cy="457200"/>
          </a:xfrm>
          <a:prstGeom prst="roundRect">
            <a:avLst>
              <a:gd name="adj" fmla="val 10000"/>
            </a:avLst>
          </a:prstGeom>
          <a:solidFill>
            <a:srgbClr val="F2F2F2"/>
          </a:solidFill>
          <a:ln/>
        </p:spPr>
      </p:sp>
      <p:sp>
        <p:nvSpPr>
          <p:cNvPr id="47" name="Text 45"/>
          <p:cNvSpPr txBox="1"/>
          <p:nvPr/>
        </p:nvSpPr>
        <p:spPr>
          <a:xfrm>
            <a:off x="7437120" y="3749040"/>
            <a:ext cx="1450848" cy="457200"/>
          </a:xfrm>
          <a:prstGeom prst="rect">
            <a:avLst/>
          </a:prstGeom>
          <a:noFill/>
          <a:ln/>
        </p:spPr>
        <p:txBody>
          <a:bodyPr wrap="square" lIns="38100" tIns="38100" rIns="38100" bIns="38100" rtlCol="0" anchor="ctr"/>
          <a:lstStyle/>
          <a:p>
            <a:pPr algn="ctr" indent="0" marL="0">
              <a:buNone/>
            </a:pPr>
            <a:r>
              <a:rPr lang="tr-TR" sz="1100" b="1" dirty="0">
                <a:solidFill>
                  <a:srgbClr val="36454F"/>
                </a:solidFill>
                <a:latin typeface="Calibri" pitchFamily="34" charset="0"/>
                <a:ea typeface="Calibri" pitchFamily="34" charset="-122"/>
                <a:cs typeface="Calibri" pitchFamily="34" charset="-120"/>
              </a:rPr>
              <a:t>PC</a:t>
            </a:r>
            <a:endParaRPr lang="tr-TR" sz="1100" dirty="0"/>
          </a:p>
        </p:txBody>
      </p:sp>
      <p:sp>
        <p:nvSpPr>
          <p:cNvPr id="48" name="Shape 46"/>
          <p:cNvSpPr/>
          <p:nvPr/>
        </p:nvSpPr>
        <p:spPr>
          <a:xfrm>
            <a:off x="7437120" y="4251960"/>
            <a:ext cx="1450848" cy="457200"/>
          </a:xfrm>
          <a:prstGeom prst="roundRect">
            <a:avLst>
              <a:gd name="adj" fmla="val 10000"/>
            </a:avLst>
          </a:prstGeom>
          <a:solidFill>
            <a:srgbClr val="F2F2F2"/>
          </a:solidFill>
          <a:ln/>
        </p:spPr>
      </p:sp>
      <p:sp>
        <p:nvSpPr>
          <p:cNvPr id="49" name="Text 47"/>
          <p:cNvSpPr txBox="1"/>
          <p:nvPr/>
        </p:nvSpPr>
        <p:spPr>
          <a:xfrm>
            <a:off x="7437120" y="4251960"/>
            <a:ext cx="1450848" cy="457200"/>
          </a:xfrm>
          <a:prstGeom prst="rect">
            <a:avLst/>
          </a:prstGeom>
          <a:noFill/>
          <a:ln/>
        </p:spPr>
        <p:txBody>
          <a:bodyPr wrap="square" lIns="38100" tIns="38100" rIns="38100" bIns="38100" rtlCol="0" anchor="ctr"/>
          <a:lstStyle/>
          <a:p>
            <a:pPr algn="ctr" indent="0" marL="0">
              <a:buNone/>
            </a:pPr>
            <a:r>
              <a:rPr lang="tr-TR" sz="1100" b="1" dirty="0">
                <a:solidFill>
                  <a:srgbClr val="36454F"/>
                </a:solidFill>
                <a:latin typeface="Calibri" pitchFamily="34" charset="0"/>
                <a:ea typeface="Calibri" pitchFamily="34" charset="-122"/>
                <a:cs typeface="Calibri" pitchFamily="34" charset="-120"/>
              </a:rPr>
              <a:t>yığıt</a:t>
            </a:r>
            <a:endParaRPr lang="tr-TR" sz="1100" dirty="0"/>
          </a:p>
        </p:txBody>
      </p:sp>
      <p:sp>
        <p:nvSpPr>
          <p:cNvPr id="50" name="Shape 48"/>
          <p:cNvSpPr/>
          <p:nvPr/>
        </p:nvSpPr>
        <p:spPr>
          <a:xfrm>
            <a:off x="8162544" y="4800600"/>
            <a:ext cx="91" cy="1051560"/>
          </a:xfrm>
          <a:prstGeom prst="line">
            <a:avLst/>
          </a:prstGeom>
          <a:noFill/>
          <a:ln w="31750">
            <a:solidFill>
              <a:srgbClr val="028090"/>
            </a:solidFill>
            <a:prstDash val="solid"/>
            <a:tailEnd type="triangle"/>
          </a:ln>
        </p:spPr>
      </p:sp>
      <p:sp>
        <p:nvSpPr>
          <p:cNvPr id="51" name="Text 49"/>
          <p:cNvSpPr txBox="1"/>
          <p:nvPr/>
        </p:nvSpPr>
        <p:spPr>
          <a:xfrm>
            <a:off x="4206240" y="6035040"/>
            <a:ext cx="4937760" cy="274320"/>
          </a:xfrm>
          <a:prstGeom prst="rect">
            <a:avLst/>
          </a:prstGeom>
          <a:noFill/>
          <a:ln/>
        </p:spPr>
        <p:txBody>
          <a:bodyPr wrap="square" lIns="0" tIns="0" rIns="0" bIns="0" rtlCol="0" anchor="t"/>
          <a:lstStyle/>
          <a:p>
            <a:pPr algn="ctr" indent="0" marL="0">
              <a:buNone/>
            </a:pPr>
            <a:r>
              <a:rPr lang="tr-TR" sz="1100" i="1" dirty="0">
                <a:solidFill>
                  <a:srgbClr val="028090"/>
                </a:solidFill>
                <a:latin typeface="Calibri" pitchFamily="34" charset="0"/>
                <a:ea typeface="Calibri" pitchFamily="34" charset="-122"/>
                <a:cs typeface="Calibri" pitchFamily="34" charset="-120"/>
              </a:rPr>
              <a:t>↓ = bir yürütme akışı (iş parçacığı)</a:t>
            </a:r>
            <a:endParaRPr lang="tr-TR" sz="1100" dirty="0"/>
          </a:p>
        </p:txBody>
      </p:sp>
      <p:sp>
        <p:nvSpPr>
          <p:cNvPr id="52" name="Shape 50"/>
          <p:cNvSpPr/>
          <p:nvPr/>
        </p:nvSpPr>
        <p:spPr>
          <a:xfrm>
            <a:off x="9464040" y="2103120"/>
            <a:ext cx="2194560" cy="4160520"/>
          </a:xfrm>
          <a:prstGeom prst="roundRect">
            <a:avLst>
              <a:gd name="adj" fmla="val 2500"/>
            </a:avLst>
          </a:prstGeom>
          <a:solidFill>
            <a:srgbClr val="F2F2F2"/>
          </a:solidFill>
          <a:ln/>
          <a:effectLst>
            <a:outerShdw sx="100000" sy="100000" kx="0" ky="0" algn="bl" rotWithShape="0" blurRad="101600" dist="25400" dir="5400000">
              <a:srgbClr val="000000">
                <a:alpha val="12000"/>
              </a:srgbClr>
            </a:outerShdw>
          </a:effectLst>
        </p:spPr>
      </p:sp>
      <p:sp>
        <p:nvSpPr>
          <p:cNvPr id="53" name="Text 51"/>
          <p:cNvSpPr txBox="1"/>
          <p:nvPr/>
        </p:nvSpPr>
        <p:spPr>
          <a:xfrm>
            <a:off x="9692640" y="2286000"/>
            <a:ext cx="173736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Not</a:t>
            </a:r>
            <a:endParaRPr lang="tr-TR" sz="1500" dirty="0"/>
          </a:p>
        </p:txBody>
      </p:sp>
      <p:sp>
        <p:nvSpPr>
          <p:cNvPr id="54" name="Text 52"/>
          <p:cNvSpPr txBox="1"/>
          <p:nvPr/>
        </p:nvSpPr>
        <p:spPr>
          <a:xfrm>
            <a:off x="9692640" y="2743200"/>
            <a:ext cx="1737360" cy="3383280"/>
          </a:xfrm>
          <a:prstGeom prst="rect">
            <a:avLst/>
          </a:prstGeom>
          <a:noFill/>
          <a:ln/>
        </p:spPr>
        <p:txBody>
          <a:bodyPr wrap="square" lIns="0" tIns="0" rIns="0" bIns="0" rtlCol="0" anchor="t"/>
          <a:lstStyle/>
          <a:p>
            <a:pPr indent="0" marL="0">
              <a:spcAft>
                <a:spcPts val="400"/>
              </a:spcAft>
              <a:buNone/>
            </a:pPr>
            <a:r>
              <a:rPr lang="tr-TR" sz="1300" dirty="0">
                <a:solidFill>
                  <a:srgbClr val="3A464C"/>
                </a:solidFill>
                <a:latin typeface="Calibri" pitchFamily="34" charset="0"/>
                <a:ea typeface="Calibri" pitchFamily="34" charset="-122"/>
                <a:cs typeface="Calibri" pitchFamily="34" charset="-120"/>
              </a:rPr>
              <a:t>Geleneksel ("ağır siklet") süreç, tam olarak bir iş parçacığı olan süreçtir.</a:t>
            </a:r>
            <a:endParaRPr lang="tr-TR" sz="1300" dirty="0"/>
          </a:p>
          <a:p>
            <a:pPr indent="0" marL="0">
              <a:spcAft>
                <a:spcPts val="400"/>
              </a:spcAft>
              <a:buNone/>
            </a:pPr>
            <a:endParaRPr lang="tr-TR" sz="1300" dirty="0"/>
          </a:p>
          <a:p>
            <a:pPr indent="0" marL="0">
              <a:spcAft>
                <a:spcPts val="400"/>
              </a:spcAft>
              <a:buNone/>
            </a:pPr>
            <a:r>
              <a:rPr lang="tr-TR" sz="1300" dirty="0">
                <a:solidFill>
                  <a:srgbClr val="3A464C"/>
                </a:solidFill>
                <a:latin typeface="Calibri" pitchFamily="34" charset="0"/>
                <a:ea typeface="Calibri" pitchFamily="34" charset="-122"/>
                <a:cs typeface="Calibri" pitchFamily="34" charset="-120"/>
              </a:rPr>
              <a:t>3. haftanın PCB'si artık ikiye ayrılır: sürece ait kısım + her iş parçacığı için küçük bir blok.</a:t>
            </a:r>
            <a:endParaRPr lang="tr-TR"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SÜREÇ VE İŞ PARÇACIĞI</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İş Parçacıkları Neyi Paylaşır? Ne Kendilerine Özeldir?</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4  ·  7</a:t>
            </a:r>
            <a:endParaRPr lang="tr-TR" sz="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109960" cy="914400"/>
        </p:xfrm>
        <a:graphic>
          <a:graphicData uri="http://schemas.openxmlformats.org/drawingml/2006/table">
            <a:tbl>
              <a:tblPr/>
              <a:tblGrid>
                <a:gridCol w="3017520"/>
                <a:gridCol w="2651760"/>
                <a:gridCol w="5440680"/>
              </a:tblGrid>
              <a:tr h="0">
                <a:tc>
                  <a:txBody>
                    <a:bodyPr/>
                    <a:lstStyle/>
                    <a:p>
                      <a:pPr indent="0" marL="0">
                        <a:buNone/>
                      </a:pPr>
                      <a:r>
                        <a:rPr lang="tr-TR" sz="1600" b="1" dirty="0">
                          <a:solidFill>
                            <a:srgbClr val="FFFFFF"/>
                          </a:solidFill>
                          <a:latin typeface="Cambria" pitchFamily="34" charset="0"/>
                          <a:ea typeface="Cambria" pitchFamily="34" charset="-122"/>
                          <a:cs typeface="Cambria" pitchFamily="34" charset="-120"/>
                        </a:rPr>
                        <a:t>Öğe</a:t>
                      </a:r>
                      <a:endParaRPr lang="tr-TR" sz="16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600" b="1" dirty="0">
                          <a:solidFill>
                            <a:srgbClr val="FFFFFF"/>
                          </a:solidFill>
                          <a:latin typeface="Cambria" pitchFamily="34" charset="0"/>
                          <a:ea typeface="Cambria" pitchFamily="34" charset="-122"/>
                          <a:cs typeface="Cambria" pitchFamily="34" charset="-120"/>
                        </a:rPr>
                        <a:t>Bir sürecin iş parçacıkları…</a:t>
                      </a:r>
                      <a:endParaRPr lang="tr-TR" sz="16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600" b="1" dirty="0">
                          <a:solidFill>
                            <a:srgbClr val="FFFFFF"/>
                          </a:solidFill>
                          <a:latin typeface="Cambria" pitchFamily="34" charset="0"/>
                          <a:ea typeface="Cambria" pitchFamily="34" charset="-122"/>
                          <a:cs typeface="Cambria" pitchFamily="34" charset="-120"/>
                        </a:rPr>
                        <a:t>Neden</a:t>
                      </a:r>
                      <a:endParaRPr lang="tr-TR" sz="16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tr-TR" sz="1500" b="1" dirty="0">
                          <a:solidFill>
                            <a:srgbClr val="3A464C"/>
                          </a:solidFill>
                          <a:latin typeface="Calibri" pitchFamily="34" charset="0"/>
                          <a:ea typeface="Calibri" pitchFamily="34" charset="-122"/>
                          <a:cs typeface="Calibri" pitchFamily="34" charset="-120"/>
                        </a:rPr>
                        <a:t>Kod (metin bölümü)</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paylaşır</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Tüm iş parçacıkları aynı programın fonksiyonlarını çalıştırır.</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500" b="1" dirty="0">
                          <a:solidFill>
                            <a:srgbClr val="3A464C"/>
                          </a:solidFill>
                          <a:latin typeface="Calibri" pitchFamily="34" charset="0"/>
                          <a:ea typeface="Calibri" pitchFamily="34" charset="-122"/>
                          <a:cs typeface="Calibri" pitchFamily="34" charset="-120"/>
                        </a:rPr>
                        <a:t>Global veri ve öbek</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paylaşır</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Global bir değişken ya da malloc ile ayrılmış bir dizi her iş parçacığınca görülür.</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500" b="1" dirty="0">
                          <a:solidFill>
                            <a:srgbClr val="3A464C"/>
                          </a:solidFill>
                          <a:latin typeface="Calibri" pitchFamily="34" charset="0"/>
                          <a:ea typeface="Calibri" pitchFamily="34" charset="-122"/>
                          <a:cs typeface="Calibri" pitchFamily="34" charset="-120"/>
                        </a:rPr>
                        <a:t>Açık dosyalar, PID, kullanıcı kimliği</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paylaşır</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Kaynaklar iş parçacığına değil, sürece aittir.</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500" b="1" dirty="0">
                          <a:solidFill>
                            <a:srgbClr val="3A464C"/>
                          </a:solidFill>
                          <a:latin typeface="Calibri" pitchFamily="34" charset="0"/>
                          <a:ea typeface="Calibri" pitchFamily="34" charset="-122"/>
                          <a:cs typeface="Calibri" pitchFamily="34" charset="-120"/>
                        </a:rPr>
                        <a:t>Program sayacı ve yazmaçlar</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özel</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Her iş parçacığı kodda kendi yerindedir.</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500" b="1" dirty="0">
                          <a:solidFill>
                            <a:srgbClr val="3A464C"/>
                          </a:solidFill>
                          <a:latin typeface="Calibri" pitchFamily="34" charset="0"/>
                          <a:ea typeface="Calibri" pitchFamily="34" charset="-122"/>
                          <a:cs typeface="Calibri" pitchFamily="34" charset="-120"/>
                        </a:rPr>
                        <a:t>Yığıt (yerel değişkenler)</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özel</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Her iş parçacığının kendi fonksiyon çağrı zinciri vardır.</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500" b="1" dirty="0">
                          <a:solidFill>
                            <a:srgbClr val="3A464C"/>
                          </a:solidFill>
                          <a:latin typeface="Calibri" pitchFamily="34" charset="0"/>
                          <a:ea typeface="Calibri" pitchFamily="34" charset="-122"/>
                          <a:cs typeface="Calibri" pitchFamily="34" charset="-120"/>
                        </a:rPr>
                        <a:t>İş parçacığı kimliği, zamanlama durumu</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özel</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İşletim sistemi her iş parçacığını ayrı zamanlar.</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sp>
      <p:sp>
        <p:nvSpPr>
          <p:cNvPr id="8" name="Text 5"/>
          <p:cNvSpPr txBox="1"/>
          <p:nvPr/>
        </p:nvSpPr>
        <p:spPr>
          <a:xfrm>
            <a:off x="777240" y="5486400"/>
            <a:ext cx="10652760" cy="777240"/>
          </a:xfrm>
          <a:prstGeom prst="rect">
            <a:avLst/>
          </a:prstGeom>
          <a:noFill/>
          <a:ln/>
        </p:spPr>
        <p:txBody>
          <a:bodyPr wrap="square" lIns="0" tIns="0" rIns="0" bIns="0" rtlCol="0" anchor="ctr"/>
          <a:lstStyle/>
          <a:p>
            <a:pPr indent="0" marL="0">
              <a:buNone/>
            </a:pPr>
            <a:r>
              <a:rPr lang="tr-TR" sz="1400" dirty="0">
                <a:solidFill>
                  <a:srgbClr val="F2F2F2"/>
                </a:solidFill>
                <a:latin typeface="Calibri" pitchFamily="34" charset="0"/>
                <a:ea typeface="Calibri" pitchFamily="34" charset="-122"/>
                <a:cs typeface="Calibri" pitchFamily="34" charset="-120"/>
              </a:rPr>
              <a:t>Paylaşım işin özüdür — ve tehlikesidir: aynı değişkeni aynı anda değiştiren iki iş parçacığı yanlış sonuç üretir (yarış durumu, race condition; 5. hafta).</a:t>
            </a:r>
            <a:endParaRPr lang="tr-TR"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YARARLAR</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Çok İş Parçacıklı Programlamanın Dört Yararı</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4  ·  8</a:t>
            </a:r>
            <a:endParaRPr lang="tr-TR" sz="900" dirty="0"/>
          </a:p>
        </p:txBody>
      </p:sp>
      <p:sp>
        <p:nvSpPr>
          <p:cNvPr id="6" name="Shape 4"/>
          <p:cNvSpPr/>
          <p:nvPr/>
        </p:nvSpPr>
        <p:spPr>
          <a:xfrm>
            <a:off x="548640" y="1508760"/>
            <a:ext cx="5440680" cy="1760220"/>
          </a:xfrm>
          <a:prstGeom prst="roundRect">
            <a:avLst>
              <a:gd name="adj" fmla="val 3117"/>
            </a:avLst>
          </a:prstGeom>
          <a:solidFill>
            <a:srgbClr val="F2F2F2"/>
          </a:solidFill>
          <a:ln/>
          <a:effectLst>
            <a:outerShdw sx="100000" sy="100000" kx="0" ky="0" algn="bl" rotWithShape="0" blurRad="101600" dist="25400" dir="5400000">
              <a:srgbClr val="000000">
                <a:alpha val="12000"/>
              </a:srgbClr>
            </a:outerShdw>
          </a:effectLst>
        </p:spPr>
      </p:sp>
      <p:sp>
        <p:nvSpPr>
          <p:cNvPr id="7" name="Text 5"/>
          <p:cNvSpPr txBox="1"/>
          <p:nvPr/>
        </p:nvSpPr>
        <p:spPr>
          <a:xfrm>
            <a:off x="777240" y="1691640"/>
            <a:ext cx="498348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1. Yanıt verebilirlik</a:t>
            </a:r>
            <a:endParaRPr lang="tr-TR" sz="1600" dirty="0"/>
          </a:p>
        </p:txBody>
      </p:sp>
      <p:sp>
        <p:nvSpPr>
          <p:cNvPr id="8" name="Text 6"/>
          <p:cNvSpPr txBox="1"/>
          <p:nvPr/>
        </p:nvSpPr>
        <p:spPr>
          <a:xfrm>
            <a:off x="777240" y="2148840"/>
            <a:ext cx="4983480" cy="982980"/>
          </a:xfrm>
          <a:prstGeom prst="rect">
            <a:avLst/>
          </a:prstGeom>
          <a:noFill/>
          <a:ln/>
        </p:spPr>
        <p:txBody>
          <a:bodyPr wrap="square" lIns="0" tIns="0" rIns="0" bIns="0" rtlCol="0" anchor="t"/>
          <a:lstStyle/>
          <a:p>
            <a:pPr indent="0" marL="0">
              <a:spcAft>
                <a:spcPts val="400"/>
              </a:spcAft>
              <a:buNone/>
            </a:pPr>
            <a:r>
              <a:rPr lang="tr-TR" sz="1650" dirty="0">
                <a:solidFill>
                  <a:srgbClr val="3A464C"/>
                </a:solidFill>
                <a:latin typeface="Calibri" pitchFamily="34" charset="0"/>
                <a:ea typeface="Calibri" pitchFamily="34" charset="-122"/>
                <a:cs typeface="Calibri" pitchFamily="34" charset="-120"/>
              </a:rPr>
              <a:t>Bir iş parçacığı bloke olsa ya da uzun bir hesap yapsa bile diğerleri çalışmayı sürdürür — kullanıcı arayüzü donmaz.</a:t>
            </a:r>
            <a:endParaRPr lang="tr-TR" sz="1650" dirty="0"/>
          </a:p>
        </p:txBody>
      </p:sp>
      <p:sp>
        <p:nvSpPr>
          <p:cNvPr id="9" name="Shape 7"/>
          <p:cNvSpPr/>
          <p:nvPr/>
        </p:nvSpPr>
        <p:spPr>
          <a:xfrm>
            <a:off x="6217920" y="1508760"/>
            <a:ext cx="5440680" cy="1760220"/>
          </a:xfrm>
          <a:prstGeom prst="roundRect">
            <a:avLst>
              <a:gd name="adj" fmla="val 3117"/>
            </a:avLst>
          </a:prstGeom>
          <a:solidFill>
            <a:srgbClr val="F2F2F2"/>
          </a:solidFill>
          <a:ln/>
          <a:effectLst>
            <a:outerShdw sx="100000" sy="100000" kx="0" ky="0" algn="bl" rotWithShape="0" blurRad="101600" dist="25400" dir="5400000">
              <a:srgbClr val="000000">
                <a:alpha val="12000"/>
              </a:srgbClr>
            </a:outerShdw>
          </a:effectLst>
        </p:spPr>
      </p:sp>
      <p:sp>
        <p:nvSpPr>
          <p:cNvPr id="10" name="Text 8"/>
          <p:cNvSpPr txBox="1"/>
          <p:nvPr/>
        </p:nvSpPr>
        <p:spPr>
          <a:xfrm>
            <a:off x="6446520" y="1691640"/>
            <a:ext cx="498348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2. Kaynak paylaşımı</a:t>
            </a:r>
            <a:endParaRPr lang="tr-TR" sz="1600" dirty="0"/>
          </a:p>
        </p:txBody>
      </p:sp>
      <p:sp>
        <p:nvSpPr>
          <p:cNvPr id="11" name="Text 9"/>
          <p:cNvSpPr txBox="1"/>
          <p:nvPr/>
        </p:nvSpPr>
        <p:spPr>
          <a:xfrm>
            <a:off x="6446520" y="2148840"/>
            <a:ext cx="4983480" cy="982980"/>
          </a:xfrm>
          <a:prstGeom prst="rect">
            <a:avLst/>
          </a:prstGeom>
          <a:noFill/>
          <a:ln/>
        </p:spPr>
        <p:txBody>
          <a:bodyPr wrap="square" lIns="0" tIns="0" rIns="0" bIns="0" rtlCol="0" anchor="t"/>
          <a:lstStyle/>
          <a:p>
            <a:pPr indent="0" marL="0">
              <a:spcAft>
                <a:spcPts val="400"/>
              </a:spcAft>
              <a:buNone/>
            </a:pPr>
            <a:r>
              <a:rPr lang="tr-TR" sz="1650" dirty="0">
                <a:solidFill>
                  <a:srgbClr val="3A464C"/>
                </a:solidFill>
                <a:latin typeface="Calibri" pitchFamily="34" charset="0"/>
                <a:ea typeface="Calibri" pitchFamily="34" charset="-122"/>
                <a:cs typeface="Calibri" pitchFamily="34" charset="-120"/>
              </a:rPr>
              <a:t>İş parçacıkları belleği ve dosyaları kendiliğinden paylaşır. Süreçlerin iş birliği için ek mekanizmalar (paylaşılan bellek, borular) gerekir.</a:t>
            </a:r>
            <a:endParaRPr lang="tr-TR" sz="1650" dirty="0"/>
          </a:p>
        </p:txBody>
      </p:sp>
      <p:sp>
        <p:nvSpPr>
          <p:cNvPr id="12" name="Shape 10"/>
          <p:cNvSpPr/>
          <p:nvPr/>
        </p:nvSpPr>
        <p:spPr>
          <a:xfrm>
            <a:off x="548640" y="3497580"/>
            <a:ext cx="5440680" cy="1760220"/>
          </a:xfrm>
          <a:prstGeom prst="roundRect">
            <a:avLst>
              <a:gd name="adj" fmla="val 3117"/>
            </a:avLst>
          </a:prstGeom>
          <a:solidFill>
            <a:srgbClr val="F2F2F2"/>
          </a:solidFill>
          <a:ln/>
          <a:effectLst>
            <a:outerShdw sx="100000" sy="100000" kx="0" ky="0" algn="bl" rotWithShape="0" blurRad="101600" dist="25400" dir="5400000">
              <a:srgbClr val="000000">
                <a:alpha val="12000"/>
              </a:srgbClr>
            </a:outerShdw>
          </a:effectLst>
        </p:spPr>
      </p:sp>
      <p:sp>
        <p:nvSpPr>
          <p:cNvPr id="13" name="Text 11"/>
          <p:cNvSpPr txBox="1"/>
          <p:nvPr/>
        </p:nvSpPr>
        <p:spPr>
          <a:xfrm>
            <a:off x="777240" y="3680460"/>
            <a:ext cx="498348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3. Ekonomi</a:t>
            </a:r>
            <a:endParaRPr lang="tr-TR" sz="1600" dirty="0"/>
          </a:p>
        </p:txBody>
      </p:sp>
      <p:sp>
        <p:nvSpPr>
          <p:cNvPr id="14" name="Text 12"/>
          <p:cNvSpPr txBox="1"/>
          <p:nvPr/>
        </p:nvSpPr>
        <p:spPr>
          <a:xfrm>
            <a:off x="777240" y="4137660"/>
            <a:ext cx="4983480" cy="982980"/>
          </a:xfrm>
          <a:prstGeom prst="rect">
            <a:avLst/>
          </a:prstGeom>
          <a:noFill/>
          <a:ln/>
        </p:spPr>
        <p:txBody>
          <a:bodyPr wrap="square" lIns="0" tIns="0" rIns="0" bIns="0" rtlCol="0" anchor="t"/>
          <a:lstStyle/>
          <a:p>
            <a:pPr indent="0" marL="0">
              <a:spcAft>
                <a:spcPts val="400"/>
              </a:spcAft>
              <a:buNone/>
            </a:pPr>
            <a:r>
              <a:rPr lang="tr-TR" sz="1650" dirty="0">
                <a:solidFill>
                  <a:srgbClr val="3A464C"/>
                </a:solidFill>
                <a:latin typeface="Calibri" pitchFamily="34" charset="0"/>
                <a:ea typeface="Calibri" pitchFamily="34" charset="-122"/>
                <a:cs typeface="Calibri" pitchFamily="34" charset="-120"/>
              </a:rPr>
              <a:t>İş parçacığı yaratmak ve iş parçacıkları arasında geçiş yapmak, süreçlere göre çok daha ucuzdur: yeni adres alanı gerekmez.</a:t>
            </a:r>
            <a:endParaRPr lang="tr-TR" sz="1650" dirty="0"/>
          </a:p>
        </p:txBody>
      </p:sp>
      <p:sp>
        <p:nvSpPr>
          <p:cNvPr id="15" name="Shape 13"/>
          <p:cNvSpPr/>
          <p:nvPr/>
        </p:nvSpPr>
        <p:spPr>
          <a:xfrm>
            <a:off x="6217920" y="3497580"/>
            <a:ext cx="5440680" cy="1760220"/>
          </a:xfrm>
          <a:prstGeom prst="roundRect">
            <a:avLst>
              <a:gd name="adj" fmla="val 3117"/>
            </a:avLst>
          </a:prstGeom>
          <a:solidFill>
            <a:srgbClr val="F2F2F2"/>
          </a:solidFill>
          <a:ln/>
          <a:effectLst>
            <a:outerShdw sx="100000" sy="100000" kx="0" ky="0" algn="bl" rotWithShape="0" blurRad="101600" dist="25400" dir="5400000">
              <a:srgbClr val="000000">
                <a:alpha val="12000"/>
              </a:srgbClr>
            </a:outerShdw>
          </a:effectLst>
        </p:spPr>
      </p:sp>
      <p:sp>
        <p:nvSpPr>
          <p:cNvPr id="16" name="Text 14"/>
          <p:cNvSpPr txBox="1"/>
          <p:nvPr/>
        </p:nvSpPr>
        <p:spPr>
          <a:xfrm>
            <a:off x="6446520" y="3680460"/>
            <a:ext cx="498348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4. Ölçeklenebilirlik</a:t>
            </a:r>
            <a:endParaRPr lang="tr-TR" sz="1600" dirty="0"/>
          </a:p>
        </p:txBody>
      </p:sp>
      <p:sp>
        <p:nvSpPr>
          <p:cNvPr id="17" name="Text 15"/>
          <p:cNvSpPr txBox="1"/>
          <p:nvPr/>
        </p:nvSpPr>
        <p:spPr>
          <a:xfrm>
            <a:off x="6446520" y="4137660"/>
            <a:ext cx="4983480" cy="982980"/>
          </a:xfrm>
          <a:prstGeom prst="rect">
            <a:avLst/>
          </a:prstGeom>
          <a:noFill/>
          <a:ln/>
        </p:spPr>
        <p:txBody>
          <a:bodyPr wrap="square" lIns="0" tIns="0" rIns="0" bIns="0" rtlCol="0" anchor="t"/>
          <a:lstStyle/>
          <a:p>
            <a:pPr indent="0" marL="0">
              <a:spcAft>
                <a:spcPts val="400"/>
              </a:spcAft>
              <a:buNone/>
            </a:pPr>
            <a:r>
              <a:rPr lang="tr-TR" sz="1650" dirty="0">
                <a:solidFill>
                  <a:srgbClr val="3A464C"/>
                </a:solidFill>
                <a:latin typeface="Calibri" pitchFamily="34" charset="0"/>
                <a:ea typeface="Calibri" pitchFamily="34" charset="-122"/>
                <a:cs typeface="Calibri" pitchFamily="34" charset="-120"/>
              </a:rPr>
              <a:t>Çok çekirdekli işlemcide bir sürecin iş parçacıkları farklı çekirdeklerde paralel çalışabilir. Tek iş parçacıklı süreç yalnızca bir çekirdek kullanır.</a:t>
            </a:r>
            <a:endParaRPr lang="tr-TR" sz="1650" dirty="0"/>
          </a:p>
        </p:txBody>
      </p:sp>
      <p:sp>
        <p:nvSpPr>
          <p:cNvPr id="18" name="Shape 16"/>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sp>
      <p:sp>
        <p:nvSpPr>
          <p:cNvPr id="19" name="Text 17"/>
          <p:cNvSpPr txBox="1"/>
          <p:nvPr/>
        </p:nvSpPr>
        <p:spPr>
          <a:xfrm>
            <a:off x="777240" y="5486400"/>
            <a:ext cx="10652760" cy="777240"/>
          </a:xfrm>
          <a:prstGeom prst="rect">
            <a:avLst/>
          </a:prstGeom>
          <a:noFill/>
          <a:ln/>
        </p:spPr>
        <p:txBody>
          <a:bodyPr wrap="square" lIns="0" tIns="0" rIns="0" bIns="0" rtlCol="0" anchor="ctr"/>
          <a:lstStyle/>
          <a:p>
            <a:pPr indent="0" marL="0">
              <a:buNone/>
            </a:pPr>
            <a:r>
              <a:rPr lang="tr-TR" sz="1400" dirty="0">
                <a:solidFill>
                  <a:srgbClr val="F2F2F2"/>
                </a:solidFill>
                <a:latin typeface="Calibri" pitchFamily="34" charset="0"/>
                <a:ea typeface="Calibri" pitchFamily="34" charset="-122"/>
                <a:cs typeface="Calibri" pitchFamily="34" charset="-120"/>
              </a:rPr>
              <a:t>Sonraki slayt: 3. yararı ölçüyoruz — iş parçacığı süreçten ne kadar ucuz?</a:t>
            </a:r>
            <a:endParaRPr lang="tr-TR"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UYGULAMA</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Örnek 1: İş Parçacığı Gerçekten Daha mı Ucuz?</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4  ·  9</a:t>
            </a:r>
            <a:endParaRPr lang="tr-TR" sz="900" dirty="0"/>
          </a:p>
        </p:txBody>
      </p:sp>
      <p:sp>
        <p:nvSpPr>
          <p:cNvPr id="6" name="Shape 4"/>
          <p:cNvSpPr/>
          <p:nvPr/>
        </p:nvSpPr>
        <p:spPr>
          <a:xfrm>
            <a:off x="548640" y="1508760"/>
            <a:ext cx="6492240" cy="4754880"/>
          </a:xfrm>
          <a:prstGeom prst="roundRect">
            <a:avLst>
              <a:gd name="adj" fmla="val 962"/>
            </a:avLst>
          </a:prstGeom>
          <a:solidFill>
            <a:srgbClr val="212121"/>
          </a:solidFill>
          <a:ln/>
        </p:spPr>
      </p:sp>
      <p:sp>
        <p:nvSpPr>
          <p:cNvPr id="7" name="Text 5"/>
          <p:cNvSpPr txBox="1"/>
          <p:nvPr/>
        </p:nvSpPr>
        <p:spPr>
          <a:xfrm>
            <a:off x="731520" y="1618488"/>
            <a:ext cx="6126480" cy="4535424"/>
          </a:xfrm>
          <a:prstGeom prst="rect">
            <a:avLst/>
          </a:prstGeom>
          <a:noFill/>
          <a:ln/>
        </p:spPr>
        <p:txBody>
          <a:bodyPr wrap="square" lIns="0" tIns="0" rIns="0" bIns="0" rtlCol="0" anchor="t"/>
          <a:lstStyle/>
          <a:p>
            <a:pPr indent="0" marL="0">
              <a:lnSpc>
                <a:spcPct val="105000"/>
              </a:lnSpc>
              <a:buNone/>
            </a:pPr>
            <a:r>
              <a:rPr lang="tr-TR" sz="1200" dirty="0">
                <a:solidFill>
                  <a:srgbClr val="F2F2F2"/>
                </a:solidFill>
                <a:latin typeface="Consolas" pitchFamily="34" charset="0"/>
                <a:ea typeface="Consolas" pitchFamily="34" charset="-122"/>
                <a:cs typeface="Consolas" pitchFamily="34" charset="-120"/>
              </a:rPr>
              <a:t>#define N 5000</a:t>
            </a:r>
            <a:endParaRPr lang="tr-TR" sz="1200" dirty="0"/>
          </a:p>
          <a:p>
            <a:pPr indent="0" marL="0">
              <a:lnSpc>
                <a:spcPct val="105000"/>
              </a:lnSpc>
              <a:buNone/>
            </a:pPr>
            <a:r>
              <a:rPr lang="tr-TR" sz="1200" dirty="0">
                <a:solidFill>
                  <a:srgbClr val="F2F2F2"/>
                </a:solidFill>
                <a:latin typeface="Consolas" pitchFamily="34" charset="0"/>
                <a:ea typeface="Consolas" pitchFamily="34" charset="-122"/>
                <a:cs typeface="Consolas" pitchFamily="34" charset="-120"/>
              </a:rPr>
              <a:t>void *nothing(void *arg) { return arg; }</a:t>
            </a:r>
            <a:endParaRPr lang="tr-TR" sz="1200" dirty="0"/>
          </a:p>
          <a:p>
            <a:pPr indent="0" marL="0">
              <a:lnSpc>
                <a:spcPct val="105000"/>
              </a:lnSpc>
              <a:buNone/>
            </a:pPr>
            <a:r>
              <a:rPr lang="tr-TR" sz="1200" dirty="0">
                <a:solidFill>
                  <a:srgbClr val="F2F2F2"/>
                </a:solidFill>
                <a:latin typeface="Consolas" pitchFamily="34" charset="0"/>
                <a:ea typeface="Consolas" pitchFamily="34" charset="-122"/>
                <a:cs typeface="Consolas" pitchFamily="34" charset="-120"/>
              </a:rPr>
              <a:t> </a:t>
            </a:r>
            <a:endParaRPr lang="tr-TR" sz="1200" dirty="0"/>
          </a:p>
          <a:p>
            <a:pPr indent="0" marL="0">
              <a:lnSpc>
                <a:spcPct val="105000"/>
              </a:lnSpc>
              <a:buNone/>
            </a:pPr>
            <a:r>
              <a:rPr lang="tr-TR" sz="1200" dirty="0">
                <a:solidFill>
                  <a:srgbClr val="8A9AA0"/>
                </a:solidFill>
                <a:latin typeface="Consolas" pitchFamily="34" charset="0"/>
                <a:ea typeface="Consolas" pitchFamily="34" charset="-122"/>
                <a:cs typeface="Consolas" pitchFamily="34" charset="-120"/>
              </a:rPr>
              <a:t>/* 1) N süreç */</a:t>
            </a:r>
            <a:endParaRPr lang="tr-TR" sz="1200" dirty="0"/>
          </a:p>
          <a:p>
            <a:pPr indent="0" marL="0">
              <a:lnSpc>
                <a:spcPct val="105000"/>
              </a:lnSpc>
              <a:buNone/>
            </a:pPr>
            <a:r>
              <a:rPr lang="tr-TR" sz="1200" dirty="0">
                <a:solidFill>
                  <a:srgbClr val="F2F2F2"/>
                </a:solidFill>
                <a:latin typeface="Consolas" pitchFamily="34" charset="0"/>
                <a:ea typeface="Consolas" pitchFamily="34" charset="-122"/>
                <a:cs typeface="Consolas" pitchFamily="34" charset="-120"/>
              </a:rPr>
              <a:t>for (int i = 0; i &lt; N; i++) {</a:t>
            </a:r>
            <a:endParaRPr lang="tr-TR" sz="1200" dirty="0"/>
          </a:p>
          <a:p>
            <a:pPr indent="0" marL="0">
              <a:lnSpc>
                <a:spcPct val="105000"/>
              </a:lnSpc>
              <a:buNone/>
            </a:pPr>
            <a:r>
              <a:rPr lang="tr-TR" sz="1200" dirty="0">
                <a:solidFill>
                  <a:srgbClr val="F2F2F2"/>
                </a:solidFill>
                <a:latin typeface="Consolas" pitchFamily="34" charset="0"/>
                <a:ea typeface="Consolas" pitchFamily="34" charset="-122"/>
                <a:cs typeface="Consolas" pitchFamily="34" charset="-120"/>
              </a:rPr>
              <a:t>    pid_t pid = fork();            /* süreci kopyala   */</a:t>
            </a:r>
            <a:endParaRPr lang="tr-TR" sz="1200" dirty="0"/>
          </a:p>
          <a:p>
            <a:pPr indent="0" marL="0">
              <a:lnSpc>
                <a:spcPct val="105000"/>
              </a:lnSpc>
              <a:buNone/>
            </a:pPr>
            <a:r>
              <a:rPr lang="tr-TR" sz="1200" dirty="0">
                <a:solidFill>
                  <a:srgbClr val="F2F2F2"/>
                </a:solidFill>
                <a:latin typeface="Consolas" pitchFamily="34" charset="0"/>
                <a:ea typeface="Consolas" pitchFamily="34" charset="-122"/>
                <a:cs typeface="Consolas" pitchFamily="34" charset="-120"/>
              </a:rPr>
              <a:t>    if (pid == 0) _exit(0);        /* çocuk çıkar      */</a:t>
            </a:r>
            <a:endParaRPr lang="tr-TR" sz="1200" dirty="0"/>
          </a:p>
          <a:p>
            <a:pPr indent="0" marL="0">
              <a:lnSpc>
                <a:spcPct val="105000"/>
              </a:lnSpc>
              <a:buNone/>
            </a:pPr>
            <a:r>
              <a:rPr lang="tr-TR" sz="1200" dirty="0">
                <a:solidFill>
                  <a:srgbClr val="F2F2F2"/>
                </a:solidFill>
                <a:latin typeface="Consolas" pitchFamily="34" charset="0"/>
                <a:ea typeface="Consolas" pitchFamily="34" charset="-122"/>
                <a:cs typeface="Consolas" pitchFamily="34" charset="-120"/>
              </a:rPr>
              <a:t>    waitpid(pid, NULL, 0);</a:t>
            </a:r>
            <a:endParaRPr lang="tr-TR" sz="1200" dirty="0"/>
          </a:p>
          <a:p>
            <a:pPr indent="0" marL="0">
              <a:lnSpc>
                <a:spcPct val="105000"/>
              </a:lnSpc>
              <a:buNone/>
            </a:pPr>
            <a:r>
              <a:rPr lang="tr-TR" sz="1200" dirty="0">
                <a:solidFill>
                  <a:srgbClr val="F2F2F2"/>
                </a:solidFill>
                <a:latin typeface="Consolas" pitchFamily="34" charset="0"/>
                <a:ea typeface="Consolas" pitchFamily="34" charset="-122"/>
                <a:cs typeface="Consolas" pitchFamily="34" charset="-120"/>
              </a:rPr>
              <a:t>}</a:t>
            </a:r>
            <a:endParaRPr lang="tr-TR" sz="1200" dirty="0"/>
          </a:p>
          <a:p>
            <a:pPr indent="0" marL="0">
              <a:lnSpc>
                <a:spcPct val="105000"/>
              </a:lnSpc>
              <a:buNone/>
            </a:pPr>
            <a:r>
              <a:rPr lang="tr-TR" sz="1200" dirty="0">
                <a:solidFill>
                  <a:srgbClr val="8A9AA0"/>
                </a:solidFill>
                <a:latin typeface="Consolas" pitchFamily="34" charset="0"/>
                <a:ea typeface="Consolas" pitchFamily="34" charset="-122"/>
                <a:cs typeface="Consolas" pitchFamily="34" charset="-120"/>
              </a:rPr>
              <a:t>/* 2) N iş parçacığı */</a:t>
            </a:r>
            <a:endParaRPr lang="tr-TR" sz="1200" dirty="0"/>
          </a:p>
          <a:p>
            <a:pPr indent="0" marL="0">
              <a:lnSpc>
                <a:spcPct val="105000"/>
              </a:lnSpc>
              <a:buNone/>
            </a:pPr>
            <a:r>
              <a:rPr lang="tr-TR" sz="1200" dirty="0">
                <a:solidFill>
                  <a:srgbClr val="F2F2F2"/>
                </a:solidFill>
                <a:latin typeface="Consolas" pitchFamily="34" charset="0"/>
                <a:ea typeface="Consolas" pitchFamily="34" charset="-122"/>
                <a:cs typeface="Consolas" pitchFamily="34" charset="-120"/>
              </a:rPr>
              <a:t>for (int i = 0; i &lt; N; i++) {</a:t>
            </a:r>
            <a:endParaRPr lang="tr-TR" sz="1200" dirty="0"/>
          </a:p>
          <a:p>
            <a:pPr indent="0" marL="0">
              <a:lnSpc>
                <a:spcPct val="105000"/>
              </a:lnSpc>
              <a:buNone/>
            </a:pPr>
            <a:r>
              <a:rPr lang="tr-TR" sz="1200" dirty="0">
                <a:solidFill>
                  <a:srgbClr val="F2F2F2"/>
                </a:solidFill>
                <a:latin typeface="Consolas" pitchFamily="34" charset="0"/>
                <a:ea typeface="Consolas" pitchFamily="34" charset="-122"/>
                <a:cs typeface="Consolas" pitchFamily="34" charset="-120"/>
              </a:rPr>
              <a:t>    pthread_t t;</a:t>
            </a:r>
            <a:endParaRPr lang="tr-TR" sz="1200" dirty="0"/>
          </a:p>
          <a:p>
            <a:pPr indent="0" marL="0">
              <a:lnSpc>
                <a:spcPct val="105000"/>
              </a:lnSpc>
              <a:buNone/>
            </a:pPr>
            <a:r>
              <a:rPr lang="tr-TR" sz="1200" dirty="0">
                <a:solidFill>
                  <a:srgbClr val="F2F2F2"/>
                </a:solidFill>
                <a:latin typeface="Consolas" pitchFamily="34" charset="0"/>
                <a:ea typeface="Consolas" pitchFamily="34" charset="-122"/>
                <a:cs typeface="Consolas" pitchFamily="34" charset="-120"/>
              </a:rPr>
              <a:t>    pthread_create(&amp;t, NULL, nothing, NULL);</a:t>
            </a:r>
            <a:endParaRPr lang="tr-TR" sz="1200" dirty="0"/>
          </a:p>
          <a:p>
            <a:pPr indent="0" marL="0">
              <a:lnSpc>
                <a:spcPct val="105000"/>
              </a:lnSpc>
              <a:buNone/>
            </a:pPr>
            <a:r>
              <a:rPr lang="tr-TR" sz="1200" dirty="0">
                <a:solidFill>
                  <a:srgbClr val="F2F2F2"/>
                </a:solidFill>
                <a:latin typeface="Consolas" pitchFamily="34" charset="0"/>
                <a:ea typeface="Consolas" pitchFamily="34" charset="-122"/>
                <a:cs typeface="Consolas" pitchFamily="34" charset="-120"/>
              </a:rPr>
              <a:t>    pthread_join(t, NULL);</a:t>
            </a:r>
            <a:endParaRPr lang="tr-TR" sz="1200" dirty="0"/>
          </a:p>
          <a:p>
            <a:pPr indent="0" marL="0">
              <a:lnSpc>
                <a:spcPct val="105000"/>
              </a:lnSpc>
              <a:buNone/>
            </a:pPr>
            <a:r>
              <a:rPr lang="tr-TR" sz="1200" dirty="0">
                <a:solidFill>
                  <a:srgbClr val="F2F2F2"/>
                </a:solidFill>
                <a:latin typeface="Consolas" pitchFamily="34" charset="0"/>
                <a:ea typeface="Consolas" pitchFamily="34" charset="-122"/>
                <a:cs typeface="Consolas" pitchFamily="34" charset="-120"/>
              </a:rPr>
              <a:t>}</a:t>
            </a:r>
            <a:endParaRPr lang="tr-TR" sz="1200" dirty="0"/>
          </a:p>
          <a:p>
            <a:pPr indent="0" marL="0">
              <a:lnSpc>
                <a:spcPct val="105000"/>
              </a:lnSpc>
              <a:buNone/>
            </a:pPr>
            <a:r>
              <a:rPr lang="tr-TR" sz="1200" dirty="0">
                <a:solidFill>
                  <a:srgbClr val="8A9AA0"/>
                </a:solidFill>
                <a:latin typeface="Consolas" pitchFamily="34" charset="0"/>
                <a:ea typeface="Consolas" pitchFamily="34" charset="-122"/>
                <a:cs typeface="Consolas" pitchFamily="34" charset="-120"/>
              </a:rPr>
              <a:t>/* programın tamamı: code/create_cost.c */</a:t>
            </a:r>
            <a:endParaRPr lang="tr-TR" sz="1200" dirty="0"/>
          </a:p>
        </p:txBody>
      </p:sp>
      <p:sp>
        <p:nvSpPr>
          <p:cNvPr id="8" name="Shape 6"/>
          <p:cNvSpPr/>
          <p:nvPr/>
        </p:nvSpPr>
        <p:spPr>
          <a:xfrm>
            <a:off x="7315200" y="1508760"/>
            <a:ext cx="4343400" cy="2788920"/>
          </a:xfrm>
          <a:prstGeom prst="roundRect">
            <a:avLst>
              <a:gd name="adj" fmla="val 1967"/>
            </a:avLst>
          </a:prstGeom>
          <a:solidFill>
            <a:srgbClr val="F2F2F2"/>
          </a:solidFill>
          <a:ln/>
          <a:effectLst>
            <a:outerShdw sx="100000" sy="100000" kx="0" ky="0" algn="bl" rotWithShape="0" blurRad="101600" dist="25400" dir="5400000">
              <a:srgbClr val="000000">
                <a:alpha val="12000"/>
              </a:srgbClr>
            </a:outerShdw>
          </a:effectLst>
        </p:spPr>
      </p:sp>
      <p:sp>
        <p:nvSpPr>
          <p:cNvPr id="9" name="Text 7"/>
          <p:cNvSpPr txBox="1"/>
          <p:nvPr/>
        </p:nvSpPr>
        <p:spPr>
          <a:xfrm>
            <a:off x="7543800" y="1691640"/>
            <a:ext cx="388620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Deney</a:t>
            </a:r>
            <a:endParaRPr lang="tr-TR" sz="1500" dirty="0"/>
          </a:p>
        </p:txBody>
      </p:sp>
      <p:sp>
        <p:nvSpPr>
          <p:cNvPr id="10" name="Text 8"/>
          <p:cNvSpPr txBox="1"/>
          <p:nvPr/>
        </p:nvSpPr>
        <p:spPr>
          <a:xfrm>
            <a:off x="7543800" y="2148840"/>
            <a:ext cx="3886200" cy="2011680"/>
          </a:xfrm>
          <a:prstGeom prst="rect">
            <a:avLst/>
          </a:prstGeom>
          <a:noFill/>
          <a:ln/>
        </p:spPr>
        <p:txBody>
          <a:bodyPr wrap="square" lIns="0" tIns="0" rIns="0" bIns="0" rtlCol="0" anchor="t"/>
          <a:lstStyle/>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5000 süreç yarat (fork + wait); her biri hemen çıkar.</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Sonra hiçbir şey yapmayan 5000 iş parçacığı yarat (pthread_create + join).</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2 çekirdekli bir Linux sanal makinesinde ölçüldü:</a:t>
            </a:r>
            <a:endParaRPr lang="tr-TR" sz="1300" dirty="0"/>
          </a:p>
        </p:txBody>
      </p:sp>
      <p:sp>
        <p:nvSpPr>
          <p:cNvPr id="11" name="Shape 9"/>
          <p:cNvSpPr/>
          <p:nvPr/>
        </p:nvSpPr>
        <p:spPr>
          <a:xfrm>
            <a:off x="7315200" y="4526280"/>
            <a:ext cx="4343400" cy="1737360"/>
          </a:xfrm>
          <a:prstGeom prst="roundRect">
            <a:avLst>
              <a:gd name="adj" fmla="val 2632"/>
            </a:avLst>
          </a:prstGeom>
          <a:solidFill>
            <a:srgbClr val="212121"/>
          </a:solidFill>
          <a:ln/>
        </p:spPr>
      </p:sp>
      <p:sp>
        <p:nvSpPr>
          <p:cNvPr id="12" name="Text 10"/>
          <p:cNvSpPr txBox="1"/>
          <p:nvPr/>
        </p:nvSpPr>
        <p:spPr>
          <a:xfrm>
            <a:off x="7498080" y="4636008"/>
            <a:ext cx="3977640" cy="1517904"/>
          </a:xfrm>
          <a:prstGeom prst="rect">
            <a:avLst/>
          </a:prstGeom>
          <a:noFill/>
          <a:ln/>
        </p:spPr>
        <p:txBody>
          <a:bodyPr wrap="square" lIns="0" tIns="0" rIns="0" bIns="0" rtlCol="0" anchor="t"/>
          <a:lstStyle/>
          <a:p>
            <a:pPr indent="0" marL="0">
              <a:lnSpc>
                <a:spcPct val="105000"/>
              </a:lnSpc>
              <a:buNone/>
            </a:pPr>
            <a:r>
              <a:rPr lang="tr-TR" sz="1150" dirty="0">
                <a:solidFill>
                  <a:srgbClr val="02C39A"/>
                </a:solidFill>
                <a:latin typeface="Consolas" pitchFamily="34" charset="0"/>
                <a:ea typeface="Consolas" pitchFamily="34" charset="-122"/>
                <a:cs typeface="Consolas" pitchFamily="34" charset="-120"/>
              </a:rPr>
              <a:t>$ ./create_cost</a:t>
            </a:r>
            <a:endParaRPr lang="tr-TR" sz="1150" dirty="0"/>
          </a:p>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fork + wait          :  205.5 us per process</a:t>
            </a:r>
            <a:endParaRPr lang="tr-TR" sz="1150" dirty="0"/>
          </a:p>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pthread_create + join:   51.9 us per thread</a:t>
            </a:r>
            <a:endParaRPr lang="tr-TR" sz="1150" dirty="0"/>
          </a:p>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a thread is about 4 times cheaper to create</a:t>
            </a:r>
            <a:endParaRPr lang="tr-TR"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ÇOK ÇEKİRDEK</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Eşzamanlılık ve Paralellik</a:t>
            </a:r>
            <a:endParaRPr lang="tr-TR"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tr-TR" sz="1500" dirty="0">
                <a:solidFill>
                  <a:srgbClr val="3A464C"/>
                </a:solidFill>
                <a:latin typeface="Calibri" pitchFamily="34" charset="0"/>
                <a:ea typeface="Calibri" pitchFamily="34" charset="-122"/>
                <a:cs typeface="Calibri" pitchFamily="34" charset="-120"/>
              </a:rPr>
              <a:t>Zaman içinde dört iş parçacığı, T1–T4. Aynı program, iki farklı makine.</a:t>
            </a:r>
            <a:endParaRPr lang="tr-TR"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4  ·  10</a:t>
            </a:r>
            <a:endParaRPr lang="tr-TR" sz="900" dirty="0"/>
          </a:p>
        </p:txBody>
      </p:sp>
      <p:sp>
        <p:nvSpPr>
          <p:cNvPr id="7" name="Text 5"/>
          <p:cNvSpPr txBox="1"/>
          <p:nvPr/>
        </p:nvSpPr>
        <p:spPr>
          <a:xfrm>
            <a:off x="548640" y="2331720"/>
            <a:ext cx="1737360" cy="548640"/>
          </a:xfrm>
          <a:prstGeom prst="rect">
            <a:avLst/>
          </a:prstGeom>
          <a:noFill/>
          <a:ln/>
        </p:spPr>
        <p:txBody>
          <a:bodyPr wrap="square" lIns="0" tIns="0" rIns="0" bIns="0" rtlCol="0" anchor="ctr"/>
          <a:lstStyle/>
          <a:p>
            <a:pPr indent="0" marL="0">
              <a:buNone/>
            </a:pPr>
            <a:r>
              <a:rPr lang="tr-TR" sz="1500" b="1" dirty="0">
                <a:solidFill>
                  <a:srgbClr val="36454F"/>
                </a:solidFill>
                <a:latin typeface="Calibri" pitchFamily="34" charset="0"/>
                <a:ea typeface="Calibri" pitchFamily="34" charset="-122"/>
                <a:cs typeface="Calibri" pitchFamily="34" charset="-120"/>
              </a:rPr>
              <a:t>Tek çekirdek</a:t>
            </a:r>
            <a:endParaRPr lang="tr-TR" sz="1500" dirty="0"/>
          </a:p>
        </p:txBody>
      </p:sp>
      <p:sp>
        <p:nvSpPr>
          <p:cNvPr id="8" name="Shape 6"/>
          <p:cNvSpPr/>
          <p:nvPr/>
        </p:nvSpPr>
        <p:spPr>
          <a:xfrm>
            <a:off x="2377440" y="2331720"/>
            <a:ext cx="566928" cy="548640"/>
          </a:xfrm>
          <a:prstGeom prst="rect">
            <a:avLst/>
          </a:prstGeom>
          <a:solidFill>
            <a:srgbClr val="02C39A"/>
          </a:solidFill>
          <a:ln w="19050">
            <a:solidFill>
              <a:srgbClr val="FFFFFF"/>
            </a:solidFill>
            <a:prstDash val="solid"/>
          </a:ln>
        </p:spPr>
      </p:sp>
      <p:sp>
        <p:nvSpPr>
          <p:cNvPr id="9" name="Text 7"/>
          <p:cNvSpPr txBox="1"/>
          <p:nvPr/>
        </p:nvSpPr>
        <p:spPr>
          <a:xfrm>
            <a:off x="2377440" y="2331720"/>
            <a:ext cx="566928" cy="548640"/>
          </a:xfrm>
          <a:prstGeom prst="rect">
            <a:avLst/>
          </a:prstGeom>
          <a:noFill/>
          <a:ln/>
        </p:spPr>
        <p:txBody>
          <a:bodyPr wrap="square" lIns="0" tIns="0" rIns="0" bIns="0" rtlCol="0" anchor="ctr"/>
          <a:lstStyle/>
          <a:p>
            <a:pPr algn="ctr" indent="0" marL="0">
              <a:buNone/>
            </a:pPr>
            <a:r>
              <a:rPr lang="tr-TR" sz="1200" b="1" dirty="0">
                <a:solidFill>
                  <a:srgbClr val="36454F"/>
                </a:solidFill>
                <a:latin typeface="Calibri" pitchFamily="34" charset="0"/>
                <a:ea typeface="Calibri" pitchFamily="34" charset="-122"/>
                <a:cs typeface="Calibri" pitchFamily="34" charset="-120"/>
              </a:rPr>
              <a:t>T1</a:t>
            </a:r>
            <a:endParaRPr lang="tr-TR" sz="1200" dirty="0"/>
          </a:p>
        </p:txBody>
      </p:sp>
      <p:sp>
        <p:nvSpPr>
          <p:cNvPr id="10" name="Shape 8"/>
          <p:cNvSpPr/>
          <p:nvPr/>
        </p:nvSpPr>
        <p:spPr>
          <a:xfrm>
            <a:off x="2944368" y="2331720"/>
            <a:ext cx="566928" cy="548640"/>
          </a:xfrm>
          <a:prstGeom prst="rect">
            <a:avLst/>
          </a:prstGeom>
          <a:solidFill>
            <a:srgbClr val="36454F"/>
          </a:solidFill>
          <a:ln w="19050">
            <a:solidFill>
              <a:srgbClr val="FFFFFF"/>
            </a:solidFill>
            <a:prstDash val="solid"/>
          </a:ln>
        </p:spPr>
      </p:sp>
      <p:sp>
        <p:nvSpPr>
          <p:cNvPr id="11" name="Text 9"/>
          <p:cNvSpPr txBox="1"/>
          <p:nvPr/>
        </p:nvSpPr>
        <p:spPr>
          <a:xfrm>
            <a:off x="2944368" y="2331720"/>
            <a:ext cx="566928" cy="548640"/>
          </a:xfrm>
          <a:prstGeom prst="rect">
            <a:avLst/>
          </a:prstGeom>
          <a:noFill/>
          <a:ln/>
        </p:spPr>
        <p:txBody>
          <a:bodyPr wrap="square" lIns="0" tIns="0" rIns="0" bIns="0" rtlCol="0" anchor="ctr"/>
          <a:lstStyle/>
          <a:p>
            <a:pPr algn="ctr" indent="0" marL="0">
              <a:buNone/>
            </a:pPr>
            <a:r>
              <a:rPr lang="tr-TR" sz="1200" b="1" dirty="0">
                <a:solidFill>
                  <a:srgbClr val="FFFFFF"/>
                </a:solidFill>
                <a:latin typeface="Calibri" pitchFamily="34" charset="0"/>
                <a:ea typeface="Calibri" pitchFamily="34" charset="-122"/>
                <a:cs typeface="Calibri" pitchFamily="34" charset="-120"/>
              </a:rPr>
              <a:t>T2</a:t>
            </a:r>
            <a:endParaRPr lang="tr-TR" sz="1200" dirty="0"/>
          </a:p>
        </p:txBody>
      </p:sp>
      <p:sp>
        <p:nvSpPr>
          <p:cNvPr id="12" name="Shape 10"/>
          <p:cNvSpPr/>
          <p:nvPr/>
        </p:nvSpPr>
        <p:spPr>
          <a:xfrm>
            <a:off x="3511296" y="2331720"/>
            <a:ext cx="566928" cy="548640"/>
          </a:xfrm>
          <a:prstGeom prst="rect">
            <a:avLst/>
          </a:prstGeom>
          <a:solidFill>
            <a:srgbClr val="50808E"/>
          </a:solidFill>
          <a:ln w="19050">
            <a:solidFill>
              <a:srgbClr val="FFFFFF"/>
            </a:solidFill>
            <a:prstDash val="solid"/>
          </a:ln>
        </p:spPr>
      </p:sp>
      <p:sp>
        <p:nvSpPr>
          <p:cNvPr id="13" name="Text 11"/>
          <p:cNvSpPr txBox="1"/>
          <p:nvPr/>
        </p:nvSpPr>
        <p:spPr>
          <a:xfrm>
            <a:off x="3511296" y="2331720"/>
            <a:ext cx="566928" cy="548640"/>
          </a:xfrm>
          <a:prstGeom prst="rect">
            <a:avLst/>
          </a:prstGeom>
          <a:noFill/>
          <a:ln/>
        </p:spPr>
        <p:txBody>
          <a:bodyPr wrap="square" lIns="0" tIns="0" rIns="0" bIns="0" rtlCol="0" anchor="ctr"/>
          <a:lstStyle/>
          <a:p>
            <a:pPr algn="ctr" indent="0" marL="0">
              <a:buNone/>
            </a:pPr>
            <a:r>
              <a:rPr lang="tr-TR" sz="1200" b="1" dirty="0">
                <a:solidFill>
                  <a:srgbClr val="FFFFFF"/>
                </a:solidFill>
                <a:latin typeface="Calibri" pitchFamily="34" charset="0"/>
                <a:ea typeface="Calibri" pitchFamily="34" charset="-122"/>
                <a:cs typeface="Calibri" pitchFamily="34" charset="-120"/>
              </a:rPr>
              <a:t>T3</a:t>
            </a:r>
            <a:endParaRPr lang="tr-TR" sz="1200" dirty="0"/>
          </a:p>
        </p:txBody>
      </p:sp>
      <p:sp>
        <p:nvSpPr>
          <p:cNvPr id="14" name="Shape 12"/>
          <p:cNvSpPr/>
          <p:nvPr/>
        </p:nvSpPr>
        <p:spPr>
          <a:xfrm>
            <a:off x="4078224" y="2331720"/>
            <a:ext cx="566928" cy="548640"/>
          </a:xfrm>
          <a:prstGeom prst="rect">
            <a:avLst/>
          </a:prstGeom>
          <a:solidFill>
            <a:srgbClr val="D7E9E6"/>
          </a:solidFill>
          <a:ln w="19050">
            <a:solidFill>
              <a:srgbClr val="FFFFFF"/>
            </a:solidFill>
            <a:prstDash val="solid"/>
          </a:ln>
        </p:spPr>
      </p:sp>
      <p:sp>
        <p:nvSpPr>
          <p:cNvPr id="15" name="Text 13"/>
          <p:cNvSpPr txBox="1"/>
          <p:nvPr/>
        </p:nvSpPr>
        <p:spPr>
          <a:xfrm>
            <a:off x="4078224" y="2331720"/>
            <a:ext cx="566928" cy="548640"/>
          </a:xfrm>
          <a:prstGeom prst="rect">
            <a:avLst/>
          </a:prstGeom>
          <a:noFill/>
          <a:ln/>
        </p:spPr>
        <p:txBody>
          <a:bodyPr wrap="square" lIns="0" tIns="0" rIns="0" bIns="0" rtlCol="0" anchor="ctr"/>
          <a:lstStyle/>
          <a:p>
            <a:pPr algn="ctr" indent="0" marL="0">
              <a:buNone/>
            </a:pPr>
            <a:r>
              <a:rPr lang="tr-TR" sz="1200" b="1" dirty="0">
                <a:solidFill>
                  <a:srgbClr val="36454F"/>
                </a:solidFill>
                <a:latin typeface="Calibri" pitchFamily="34" charset="0"/>
                <a:ea typeface="Calibri" pitchFamily="34" charset="-122"/>
                <a:cs typeface="Calibri" pitchFamily="34" charset="-120"/>
              </a:rPr>
              <a:t>T4</a:t>
            </a:r>
            <a:endParaRPr lang="tr-TR" sz="1200" dirty="0"/>
          </a:p>
        </p:txBody>
      </p:sp>
      <p:sp>
        <p:nvSpPr>
          <p:cNvPr id="16" name="Shape 14"/>
          <p:cNvSpPr/>
          <p:nvPr/>
        </p:nvSpPr>
        <p:spPr>
          <a:xfrm>
            <a:off x="4645152" y="2331720"/>
            <a:ext cx="566928" cy="548640"/>
          </a:xfrm>
          <a:prstGeom prst="rect">
            <a:avLst/>
          </a:prstGeom>
          <a:solidFill>
            <a:srgbClr val="02C39A"/>
          </a:solidFill>
          <a:ln w="19050">
            <a:solidFill>
              <a:srgbClr val="FFFFFF"/>
            </a:solidFill>
            <a:prstDash val="solid"/>
          </a:ln>
        </p:spPr>
      </p:sp>
      <p:sp>
        <p:nvSpPr>
          <p:cNvPr id="17" name="Text 15"/>
          <p:cNvSpPr txBox="1"/>
          <p:nvPr/>
        </p:nvSpPr>
        <p:spPr>
          <a:xfrm>
            <a:off x="4645152" y="2331720"/>
            <a:ext cx="566928" cy="548640"/>
          </a:xfrm>
          <a:prstGeom prst="rect">
            <a:avLst/>
          </a:prstGeom>
          <a:noFill/>
          <a:ln/>
        </p:spPr>
        <p:txBody>
          <a:bodyPr wrap="square" lIns="0" tIns="0" rIns="0" bIns="0" rtlCol="0" anchor="ctr"/>
          <a:lstStyle/>
          <a:p>
            <a:pPr algn="ctr" indent="0" marL="0">
              <a:buNone/>
            </a:pPr>
            <a:r>
              <a:rPr lang="tr-TR" sz="1200" b="1" dirty="0">
                <a:solidFill>
                  <a:srgbClr val="36454F"/>
                </a:solidFill>
                <a:latin typeface="Calibri" pitchFamily="34" charset="0"/>
                <a:ea typeface="Calibri" pitchFamily="34" charset="-122"/>
                <a:cs typeface="Calibri" pitchFamily="34" charset="-120"/>
              </a:rPr>
              <a:t>T1</a:t>
            </a:r>
            <a:endParaRPr lang="tr-TR" sz="1200" dirty="0"/>
          </a:p>
        </p:txBody>
      </p:sp>
      <p:sp>
        <p:nvSpPr>
          <p:cNvPr id="18" name="Shape 16"/>
          <p:cNvSpPr/>
          <p:nvPr/>
        </p:nvSpPr>
        <p:spPr>
          <a:xfrm>
            <a:off x="5212080" y="2331720"/>
            <a:ext cx="566928" cy="548640"/>
          </a:xfrm>
          <a:prstGeom prst="rect">
            <a:avLst/>
          </a:prstGeom>
          <a:solidFill>
            <a:srgbClr val="36454F"/>
          </a:solidFill>
          <a:ln w="19050">
            <a:solidFill>
              <a:srgbClr val="FFFFFF"/>
            </a:solidFill>
            <a:prstDash val="solid"/>
          </a:ln>
        </p:spPr>
      </p:sp>
      <p:sp>
        <p:nvSpPr>
          <p:cNvPr id="19" name="Text 17"/>
          <p:cNvSpPr txBox="1"/>
          <p:nvPr/>
        </p:nvSpPr>
        <p:spPr>
          <a:xfrm>
            <a:off x="5212080" y="2331720"/>
            <a:ext cx="566928" cy="548640"/>
          </a:xfrm>
          <a:prstGeom prst="rect">
            <a:avLst/>
          </a:prstGeom>
          <a:noFill/>
          <a:ln/>
        </p:spPr>
        <p:txBody>
          <a:bodyPr wrap="square" lIns="0" tIns="0" rIns="0" bIns="0" rtlCol="0" anchor="ctr"/>
          <a:lstStyle/>
          <a:p>
            <a:pPr algn="ctr" indent="0" marL="0">
              <a:buNone/>
            </a:pPr>
            <a:r>
              <a:rPr lang="tr-TR" sz="1200" b="1" dirty="0">
                <a:solidFill>
                  <a:srgbClr val="FFFFFF"/>
                </a:solidFill>
                <a:latin typeface="Calibri" pitchFamily="34" charset="0"/>
                <a:ea typeface="Calibri" pitchFamily="34" charset="-122"/>
                <a:cs typeface="Calibri" pitchFamily="34" charset="-120"/>
              </a:rPr>
              <a:t>T2</a:t>
            </a:r>
            <a:endParaRPr lang="tr-TR" sz="1200" dirty="0"/>
          </a:p>
        </p:txBody>
      </p:sp>
      <p:sp>
        <p:nvSpPr>
          <p:cNvPr id="20" name="Shape 18"/>
          <p:cNvSpPr/>
          <p:nvPr/>
        </p:nvSpPr>
        <p:spPr>
          <a:xfrm>
            <a:off x="5779008" y="2331720"/>
            <a:ext cx="566928" cy="548640"/>
          </a:xfrm>
          <a:prstGeom prst="rect">
            <a:avLst/>
          </a:prstGeom>
          <a:solidFill>
            <a:srgbClr val="50808E"/>
          </a:solidFill>
          <a:ln w="19050">
            <a:solidFill>
              <a:srgbClr val="FFFFFF"/>
            </a:solidFill>
            <a:prstDash val="solid"/>
          </a:ln>
        </p:spPr>
      </p:sp>
      <p:sp>
        <p:nvSpPr>
          <p:cNvPr id="21" name="Text 19"/>
          <p:cNvSpPr txBox="1"/>
          <p:nvPr/>
        </p:nvSpPr>
        <p:spPr>
          <a:xfrm>
            <a:off x="5779008" y="2331720"/>
            <a:ext cx="566928" cy="548640"/>
          </a:xfrm>
          <a:prstGeom prst="rect">
            <a:avLst/>
          </a:prstGeom>
          <a:noFill/>
          <a:ln/>
        </p:spPr>
        <p:txBody>
          <a:bodyPr wrap="square" lIns="0" tIns="0" rIns="0" bIns="0" rtlCol="0" anchor="ctr"/>
          <a:lstStyle/>
          <a:p>
            <a:pPr algn="ctr" indent="0" marL="0">
              <a:buNone/>
            </a:pPr>
            <a:r>
              <a:rPr lang="tr-TR" sz="1200" b="1" dirty="0">
                <a:solidFill>
                  <a:srgbClr val="FFFFFF"/>
                </a:solidFill>
                <a:latin typeface="Calibri" pitchFamily="34" charset="0"/>
                <a:ea typeface="Calibri" pitchFamily="34" charset="-122"/>
                <a:cs typeface="Calibri" pitchFamily="34" charset="-120"/>
              </a:rPr>
              <a:t>T3</a:t>
            </a:r>
            <a:endParaRPr lang="tr-TR" sz="1200" dirty="0"/>
          </a:p>
        </p:txBody>
      </p:sp>
      <p:sp>
        <p:nvSpPr>
          <p:cNvPr id="22" name="Shape 20"/>
          <p:cNvSpPr/>
          <p:nvPr/>
        </p:nvSpPr>
        <p:spPr>
          <a:xfrm>
            <a:off x="6345936" y="2331720"/>
            <a:ext cx="566928" cy="548640"/>
          </a:xfrm>
          <a:prstGeom prst="rect">
            <a:avLst/>
          </a:prstGeom>
          <a:solidFill>
            <a:srgbClr val="D7E9E6"/>
          </a:solidFill>
          <a:ln w="19050">
            <a:solidFill>
              <a:srgbClr val="FFFFFF"/>
            </a:solidFill>
            <a:prstDash val="solid"/>
          </a:ln>
        </p:spPr>
      </p:sp>
      <p:sp>
        <p:nvSpPr>
          <p:cNvPr id="23" name="Text 21"/>
          <p:cNvSpPr txBox="1"/>
          <p:nvPr/>
        </p:nvSpPr>
        <p:spPr>
          <a:xfrm>
            <a:off x="6345936" y="2331720"/>
            <a:ext cx="566928" cy="548640"/>
          </a:xfrm>
          <a:prstGeom prst="rect">
            <a:avLst/>
          </a:prstGeom>
          <a:noFill/>
          <a:ln/>
        </p:spPr>
        <p:txBody>
          <a:bodyPr wrap="square" lIns="0" tIns="0" rIns="0" bIns="0" rtlCol="0" anchor="ctr"/>
          <a:lstStyle/>
          <a:p>
            <a:pPr algn="ctr" indent="0" marL="0">
              <a:buNone/>
            </a:pPr>
            <a:r>
              <a:rPr lang="tr-TR" sz="1200" b="1" dirty="0">
                <a:solidFill>
                  <a:srgbClr val="36454F"/>
                </a:solidFill>
                <a:latin typeface="Calibri" pitchFamily="34" charset="0"/>
                <a:ea typeface="Calibri" pitchFamily="34" charset="-122"/>
                <a:cs typeface="Calibri" pitchFamily="34" charset="-120"/>
              </a:rPr>
              <a:t>T4</a:t>
            </a:r>
            <a:endParaRPr lang="tr-TR" sz="1200" dirty="0"/>
          </a:p>
        </p:txBody>
      </p:sp>
      <p:sp>
        <p:nvSpPr>
          <p:cNvPr id="24" name="Shape 22"/>
          <p:cNvSpPr/>
          <p:nvPr/>
        </p:nvSpPr>
        <p:spPr>
          <a:xfrm>
            <a:off x="6912864" y="2331720"/>
            <a:ext cx="566928" cy="548640"/>
          </a:xfrm>
          <a:prstGeom prst="rect">
            <a:avLst/>
          </a:prstGeom>
          <a:solidFill>
            <a:srgbClr val="02C39A"/>
          </a:solidFill>
          <a:ln w="19050">
            <a:solidFill>
              <a:srgbClr val="FFFFFF"/>
            </a:solidFill>
            <a:prstDash val="solid"/>
          </a:ln>
        </p:spPr>
      </p:sp>
      <p:sp>
        <p:nvSpPr>
          <p:cNvPr id="25" name="Text 23"/>
          <p:cNvSpPr txBox="1"/>
          <p:nvPr/>
        </p:nvSpPr>
        <p:spPr>
          <a:xfrm>
            <a:off x="6912864" y="2331720"/>
            <a:ext cx="566928" cy="548640"/>
          </a:xfrm>
          <a:prstGeom prst="rect">
            <a:avLst/>
          </a:prstGeom>
          <a:noFill/>
          <a:ln/>
        </p:spPr>
        <p:txBody>
          <a:bodyPr wrap="square" lIns="0" tIns="0" rIns="0" bIns="0" rtlCol="0" anchor="ctr"/>
          <a:lstStyle/>
          <a:p>
            <a:pPr algn="ctr" indent="0" marL="0">
              <a:buNone/>
            </a:pPr>
            <a:r>
              <a:rPr lang="tr-TR" sz="1200" b="1" dirty="0">
                <a:solidFill>
                  <a:srgbClr val="36454F"/>
                </a:solidFill>
                <a:latin typeface="Calibri" pitchFamily="34" charset="0"/>
                <a:ea typeface="Calibri" pitchFamily="34" charset="-122"/>
                <a:cs typeface="Calibri" pitchFamily="34" charset="-120"/>
              </a:rPr>
              <a:t>T1</a:t>
            </a:r>
            <a:endParaRPr lang="tr-TR" sz="1200" dirty="0"/>
          </a:p>
        </p:txBody>
      </p:sp>
      <p:sp>
        <p:nvSpPr>
          <p:cNvPr id="26" name="Shape 24"/>
          <p:cNvSpPr/>
          <p:nvPr/>
        </p:nvSpPr>
        <p:spPr>
          <a:xfrm>
            <a:off x="7479792" y="2331720"/>
            <a:ext cx="566928" cy="548640"/>
          </a:xfrm>
          <a:prstGeom prst="rect">
            <a:avLst/>
          </a:prstGeom>
          <a:solidFill>
            <a:srgbClr val="36454F"/>
          </a:solidFill>
          <a:ln w="19050">
            <a:solidFill>
              <a:srgbClr val="FFFFFF"/>
            </a:solidFill>
            <a:prstDash val="solid"/>
          </a:ln>
        </p:spPr>
      </p:sp>
      <p:sp>
        <p:nvSpPr>
          <p:cNvPr id="27" name="Text 25"/>
          <p:cNvSpPr txBox="1"/>
          <p:nvPr/>
        </p:nvSpPr>
        <p:spPr>
          <a:xfrm>
            <a:off x="7479792" y="2331720"/>
            <a:ext cx="566928" cy="548640"/>
          </a:xfrm>
          <a:prstGeom prst="rect">
            <a:avLst/>
          </a:prstGeom>
          <a:noFill/>
          <a:ln/>
        </p:spPr>
        <p:txBody>
          <a:bodyPr wrap="square" lIns="0" tIns="0" rIns="0" bIns="0" rtlCol="0" anchor="ctr"/>
          <a:lstStyle/>
          <a:p>
            <a:pPr algn="ctr" indent="0" marL="0">
              <a:buNone/>
            </a:pPr>
            <a:r>
              <a:rPr lang="tr-TR" sz="1200" b="1" dirty="0">
                <a:solidFill>
                  <a:srgbClr val="FFFFFF"/>
                </a:solidFill>
                <a:latin typeface="Calibri" pitchFamily="34" charset="0"/>
                <a:ea typeface="Calibri" pitchFamily="34" charset="-122"/>
                <a:cs typeface="Calibri" pitchFamily="34" charset="-120"/>
              </a:rPr>
              <a:t>T2</a:t>
            </a:r>
            <a:endParaRPr lang="tr-TR" sz="1200" dirty="0"/>
          </a:p>
        </p:txBody>
      </p:sp>
      <p:sp>
        <p:nvSpPr>
          <p:cNvPr id="28" name="Shape 26"/>
          <p:cNvSpPr/>
          <p:nvPr/>
        </p:nvSpPr>
        <p:spPr>
          <a:xfrm>
            <a:off x="8046720" y="2331720"/>
            <a:ext cx="566928" cy="548640"/>
          </a:xfrm>
          <a:prstGeom prst="rect">
            <a:avLst/>
          </a:prstGeom>
          <a:solidFill>
            <a:srgbClr val="50808E"/>
          </a:solidFill>
          <a:ln w="19050">
            <a:solidFill>
              <a:srgbClr val="FFFFFF"/>
            </a:solidFill>
            <a:prstDash val="solid"/>
          </a:ln>
        </p:spPr>
      </p:sp>
      <p:sp>
        <p:nvSpPr>
          <p:cNvPr id="29" name="Text 27"/>
          <p:cNvSpPr txBox="1"/>
          <p:nvPr/>
        </p:nvSpPr>
        <p:spPr>
          <a:xfrm>
            <a:off x="8046720" y="2331720"/>
            <a:ext cx="566928" cy="548640"/>
          </a:xfrm>
          <a:prstGeom prst="rect">
            <a:avLst/>
          </a:prstGeom>
          <a:noFill/>
          <a:ln/>
        </p:spPr>
        <p:txBody>
          <a:bodyPr wrap="square" lIns="0" tIns="0" rIns="0" bIns="0" rtlCol="0" anchor="ctr"/>
          <a:lstStyle/>
          <a:p>
            <a:pPr algn="ctr" indent="0" marL="0">
              <a:buNone/>
            </a:pPr>
            <a:r>
              <a:rPr lang="tr-TR" sz="1200" b="1" dirty="0">
                <a:solidFill>
                  <a:srgbClr val="FFFFFF"/>
                </a:solidFill>
                <a:latin typeface="Calibri" pitchFamily="34" charset="0"/>
                <a:ea typeface="Calibri" pitchFamily="34" charset="-122"/>
                <a:cs typeface="Calibri" pitchFamily="34" charset="-120"/>
              </a:rPr>
              <a:t>T3</a:t>
            </a:r>
            <a:endParaRPr lang="tr-TR" sz="1200" dirty="0"/>
          </a:p>
        </p:txBody>
      </p:sp>
      <p:sp>
        <p:nvSpPr>
          <p:cNvPr id="30" name="Shape 28"/>
          <p:cNvSpPr/>
          <p:nvPr/>
        </p:nvSpPr>
        <p:spPr>
          <a:xfrm>
            <a:off x="8613648" y="2331720"/>
            <a:ext cx="566928" cy="548640"/>
          </a:xfrm>
          <a:prstGeom prst="rect">
            <a:avLst/>
          </a:prstGeom>
          <a:solidFill>
            <a:srgbClr val="D7E9E6"/>
          </a:solidFill>
          <a:ln w="19050">
            <a:solidFill>
              <a:srgbClr val="FFFFFF"/>
            </a:solidFill>
            <a:prstDash val="solid"/>
          </a:ln>
        </p:spPr>
      </p:sp>
      <p:sp>
        <p:nvSpPr>
          <p:cNvPr id="31" name="Text 29"/>
          <p:cNvSpPr txBox="1"/>
          <p:nvPr/>
        </p:nvSpPr>
        <p:spPr>
          <a:xfrm>
            <a:off x="8613648" y="2331720"/>
            <a:ext cx="566928" cy="548640"/>
          </a:xfrm>
          <a:prstGeom prst="rect">
            <a:avLst/>
          </a:prstGeom>
          <a:noFill/>
          <a:ln/>
        </p:spPr>
        <p:txBody>
          <a:bodyPr wrap="square" lIns="0" tIns="0" rIns="0" bIns="0" rtlCol="0" anchor="ctr"/>
          <a:lstStyle/>
          <a:p>
            <a:pPr algn="ctr" indent="0" marL="0">
              <a:buNone/>
            </a:pPr>
            <a:r>
              <a:rPr lang="tr-TR" sz="1200" b="1" dirty="0">
                <a:solidFill>
                  <a:srgbClr val="36454F"/>
                </a:solidFill>
                <a:latin typeface="Calibri" pitchFamily="34" charset="0"/>
                <a:ea typeface="Calibri" pitchFamily="34" charset="-122"/>
                <a:cs typeface="Calibri" pitchFamily="34" charset="-120"/>
              </a:rPr>
              <a:t>T4</a:t>
            </a:r>
            <a:endParaRPr lang="tr-TR" sz="1200" dirty="0"/>
          </a:p>
        </p:txBody>
      </p:sp>
      <p:sp>
        <p:nvSpPr>
          <p:cNvPr id="32" name="Shape 30"/>
          <p:cNvSpPr/>
          <p:nvPr/>
        </p:nvSpPr>
        <p:spPr>
          <a:xfrm>
            <a:off x="9180576" y="2331720"/>
            <a:ext cx="566928" cy="548640"/>
          </a:xfrm>
          <a:prstGeom prst="rect">
            <a:avLst/>
          </a:prstGeom>
          <a:solidFill>
            <a:srgbClr val="02C39A"/>
          </a:solidFill>
          <a:ln w="19050">
            <a:solidFill>
              <a:srgbClr val="FFFFFF"/>
            </a:solidFill>
            <a:prstDash val="solid"/>
          </a:ln>
        </p:spPr>
      </p:sp>
      <p:sp>
        <p:nvSpPr>
          <p:cNvPr id="33" name="Text 31"/>
          <p:cNvSpPr txBox="1"/>
          <p:nvPr/>
        </p:nvSpPr>
        <p:spPr>
          <a:xfrm>
            <a:off x="9180576" y="2331720"/>
            <a:ext cx="566928" cy="548640"/>
          </a:xfrm>
          <a:prstGeom prst="rect">
            <a:avLst/>
          </a:prstGeom>
          <a:noFill/>
          <a:ln/>
        </p:spPr>
        <p:txBody>
          <a:bodyPr wrap="square" lIns="0" tIns="0" rIns="0" bIns="0" rtlCol="0" anchor="ctr"/>
          <a:lstStyle/>
          <a:p>
            <a:pPr algn="ctr" indent="0" marL="0">
              <a:buNone/>
            </a:pPr>
            <a:r>
              <a:rPr lang="tr-TR" sz="1200" b="1" dirty="0">
                <a:solidFill>
                  <a:srgbClr val="36454F"/>
                </a:solidFill>
                <a:latin typeface="Calibri" pitchFamily="34" charset="0"/>
                <a:ea typeface="Calibri" pitchFamily="34" charset="-122"/>
                <a:cs typeface="Calibri" pitchFamily="34" charset="-120"/>
              </a:rPr>
              <a:t>T1</a:t>
            </a:r>
            <a:endParaRPr lang="tr-TR" sz="1200" dirty="0"/>
          </a:p>
        </p:txBody>
      </p:sp>
      <p:sp>
        <p:nvSpPr>
          <p:cNvPr id="34" name="Shape 32"/>
          <p:cNvSpPr/>
          <p:nvPr/>
        </p:nvSpPr>
        <p:spPr>
          <a:xfrm>
            <a:off x="9747504" y="2331720"/>
            <a:ext cx="566928" cy="548640"/>
          </a:xfrm>
          <a:prstGeom prst="rect">
            <a:avLst/>
          </a:prstGeom>
          <a:solidFill>
            <a:srgbClr val="36454F"/>
          </a:solidFill>
          <a:ln w="19050">
            <a:solidFill>
              <a:srgbClr val="FFFFFF"/>
            </a:solidFill>
            <a:prstDash val="solid"/>
          </a:ln>
        </p:spPr>
      </p:sp>
      <p:sp>
        <p:nvSpPr>
          <p:cNvPr id="35" name="Text 33"/>
          <p:cNvSpPr txBox="1"/>
          <p:nvPr/>
        </p:nvSpPr>
        <p:spPr>
          <a:xfrm>
            <a:off x="9747504" y="2331720"/>
            <a:ext cx="566928" cy="548640"/>
          </a:xfrm>
          <a:prstGeom prst="rect">
            <a:avLst/>
          </a:prstGeom>
          <a:noFill/>
          <a:ln/>
        </p:spPr>
        <p:txBody>
          <a:bodyPr wrap="square" lIns="0" tIns="0" rIns="0" bIns="0" rtlCol="0" anchor="ctr"/>
          <a:lstStyle/>
          <a:p>
            <a:pPr algn="ctr" indent="0" marL="0">
              <a:buNone/>
            </a:pPr>
            <a:r>
              <a:rPr lang="tr-TR" sz="1200" b="1" dirty="0">
                <a:solidFill>
                  <a:srgbClr val="FFFFFF"/>
                </a:solidFill>
                <a:latin typeface="Calibri" pitchFamily="34" charset="0"/>
                <a:ea typeface="Calibri" pitchFamily="34" charset="-122"/>
                <a:cs typeface="Calibri" pitchFamily="34" charset="-120"/>
              </a:rPr>
              <a:t>T2</a:t>
            </a:r>
            <a:endParaRPr lang="tr-TR" sz="1200" dirty="0"/>
          </a:p>
        </p:txBody>
      </p:sp>
      <p:sp>
        <p:nvSpPr>
          <p:cNvPr id="36" name="Shape 34"/>
          <p:cNvSpPr/>
          <p:nvPr/>
        </p:nvSpPr>
        <p:spPr>
          <a:xfrm>
            <a:off x="10314432" y="2331720"/>
            <a:ext cx="566928" cy="548640"/>
          </a:xfrm>
          <a:prstGeom prst="rect">
            <a:avLst/>
          </a:prstGeom>
          <a:solidFill>
            <a:srgbClr val="50808E"/>
          </a:solidFill>
          <a:ln w="19050">
            <a:solidFill>
              <a:srgbClr val="FFFFFF"/>
            </a:solidFill>
            <a:prstDash val="solid"/>
          </a:ln>
        </p:spPr>
      </p:sp>
      <p:sp>
        <p:nvSpPr>
          <p:cNvPr id="37" name="Text 35"/>
          <p:cNvSpPr txBox="1"/>
          <p:nvPr/>
        </p:nvSpPr>
        <p:spPr>
          <a:xfrm>
            <a:off x="10314432" y="2331720"/>
            <a:ext cx="566928" cy="548640"/>
          </a:xfrm>
          <a:prstGeom prst="rect">
            <a:avLst/>
          </a:prstGeom>
          <a:noFill/>
          <a:ln/>
        </p:spPr>
        <p:txBody>
          <a:bodyPr wrap="square" lIns="0" tIns="0" rIns="0" bIns="0" rtlCol="0" anchor="ctr"/>
          <a:lstStyle/>
          <a:p>
            <a:pPr algn="ctr" indent="0" marL="0">
              <a:buNone/>
            </a:pPr>
            <a:r>
              <a:rPr lang="tr-TR" sz="1200" b="1" dirty="0">
                <a:solidFill>
                  <a:srgbClr val="FFFFFF"/>
                </a:solidFill>
                <a:latin typeface="Calibri" pitchFamily="34" charset="0"/>
                <a:ea typeface="Calibri" pitchFamily="34" charset="-122"/>
                <a:cs typeface="Calibri" pitchFamily="34" charset="-120"/>
              </a:rPr>
              <a:t>T3</a:t>
            </a:r>
            <a:endParaRPr lang="tr-TR" sz="1200" dirty="0"/>
          </a:p>
        </p:txBody>
      </p:sp>
      <p:sp>
        <p:nvSpPr>
          <p:cNvPr id="38" name="Shape 36"/>
          <p:cNvSpPr/>
          <p:nvPr/>
        </p:nvSpPr>
        <p:spPr>
          <a:xfrm>
            <a:off x="10881360" y="2331720"/>
            <a:ext cx="566928" cy="548640"/>
          </a:xfrm>
          <a:prstGeom prst="rect">
            <a:avLst/>
          </a:prstGeom>
          <a:solidFill>
            <a:srgbClr val="D7E9E6"/>
          </a:solidFill>
          <a:ln w="19050">
            <a:solidFill>
              <a:srgbClr val="FFFFFF"/>
            </a:solidFill>
            <a:prstDash val="solid"/>
          </a:ln>
        </p:spPr>
      </p:sp>
      <p:sp>
        <p:nvSpPr>
          <p:cNvPr id="39" name="Text 37"/>
          <p:cNvSpPr txBox="1"/>
          <p:nvPr/>
        </p:nvSpPr>
        <p:spPr>
          <a:xfrm>
            <a:off x="10881360" y="2331720"/>
            <a:ext cx="566928" cy="548640"/>
          </a:xfrm>
          <a:prstGeom prst="rect">
            <a:avLst/>
          </a:prstGeom>
          <a:noFill/>
          <a:ln/>
        </p:spPr>
        <p:txBody>
          <a:bodyPr wrap="square" lIns="0" tIns="0" rIns="0" bIns="0" rtlCol="0" anchor="ctr"/>
          <a:lstStyle/>
          <a:p>
            <a:pPr algn="ctr" indent="0" marL="0">
              <a:buNone/>
            </a:pPr>
            <a:r>
              <a:rPr lang="tr-TR" sz="1200" b="1" dirty="0">
                <a:solidFill>
                  <a:srgbClr val="36454F"/>
                </a:solidFill>
                <a:latin typeface="Calibri" pitchFamily="34" charset="0"/>
                <a:ea typeface="Calibri" pitchFamily="34" charset="-122"/>
                <a:cs typeface="Calibri" pitchFamily="34" charset="-120"/>
              </a:rPr>
              <a:t>T4</a:t>
            </a:r>
            <a:endParaRPr lang="tr-TR" sz="1200" dirty="0"/>
          </a:p>
        </p:txBody>
      </p:sp>
      <p:sp>
        <p:nvSpPr>
          <p:cNvPr id="40" name="Text 38"/>
          <p:cNvSpPr txBox="1"/>
          <p:nvPr/>
        </p:nvSpPr>
        <p:spPr>
          <a:xfrm>
            <a:off x="548640" y="3429000"/>
            <a:ext cx="1737360" cy="548640"/>
          </a:xfrm>
          <a:prstGeom prst="rect">
            <a:avLst/>
          </a:prstGeom>
          <a:noFill/>
          <a:ln/>
        </p:spPr>
        <p:txBody>
          <a:bodyPr wrap="square" lIns="0" tIns="0" rIns="0" bIns="0" rtlCol="0" anchor="ctr"/>
          <a:lstStyle/>
          <a:p>
            <a:pPr indent="0" marL="0">
              <a:buNone/>
            </a:pPr>
            <a:r>
              <a:rPr lang="tr-TR" sz="1500" b="1" dirty="0">
                <a:solidFill>
                  <a:srgbClr val="36454F"/>
                </a:solidFill>
                <a:latin typeface="Calibri" pitchFamily="34" charset="0"/>
                <a:ea typeface="Calibri" pitchFamily="34" charset="-122"/>
                <a:cs typeface="Calibri" pitchFamily="34" charset="-120"/>
              </a:rPr>
              <a:t>Çekirdek 0</a:t>
            </a:r>
            <a:endParaRPr lang="tr-TR" sz="1500" dirty="0"/>
          </a:p>
        </p:txBody>
      </p:sp>
      <p:sp>
        <p:nvSpPr>
          <p:cNvPr id="41" name="Text 39"/>
          <p:cNvSpPr txBox="1"/>
          <p:nvPr/>
        </p:nvSpPr>
        <p:spPr>
          <a:xfrm>
            <a:off x="548640" y="4023360"/>
            <a:ext cx="1737360" cy="548640"/>
          </a:xfrm>
          <a:prstGeom prst="rect">
            <a:avLst/>
          </a:prstGeom>
          <a:noFill/>
          <a:ln/>
        </p:spPr>
        <p:txBody>
          <a:bodyPr wrap="square" lIns="0" tIns="0" rIns="0" bIns="0" rtlCol="0" anchor="ctr"/>
          <a:lstStyle/>
          <a:p>
            <a:pPr indent="0" marL="0">
              <a:buNone/>
            </a:pPr>
            <a:r>
              <a:rPr lang="tr-TR" sz="1500" b="1" dirty="0">
                <a:solidFill>
                  <a:srgbClr val="36454F"/>
                </a:solidFill>
                <a:latin typeface="Calibri" pitchFamily="34" charset="0"/>
                <a:ea typeface="Calibri" pitchFamily="34" charset="-122"/>
                <a:cs typeface="Calibri" pitchFamily="34" charset="-120"/>
              </a:rPr>
              <a:t>Çekirdek 1</a:t>
            </a:r>
            <a:endParaRPr lang="tr-TR" sz="1500" dirty="0"/>
          </a:p>
        </p:txBody>
      </p:sp>
      <p:sp>
        <p:nvSpPr>
          <p:cNvPr id="42" name="Shape 40"/>
          <p:cNvSpPr/>
          <p:nvPr/>
        </p:nvSpPr>
        <p:spPr>
          <a:xfrm>
            <a:off x="2377440" y="3429000"/>
            <a:ext cx="566928" cy="548640"/>
          </a:xfrm>
          <a:prstGeom prst="rect">
            <a:avLst/>
          </a:prstGeom>
          <a:solidFill>
            <a:srgbClr val="02C39A"/>
          </a:solidFill>
          <a:ln w="19050">
            <a:solidFill>
              <a:srgbClr val="FFFFFF"/>
            </a:solidFill>
            <a:prstDash val="solid"/>
          </a:ln>
        </p:spPr>
      </p:sp>
      <p:sp>
        <p:nvSpPr>
          <p:cNvPr id="43" name="Text 41"/>
          <p:cNvSpPr txBox="1"/>
          <p:nvPr/>
        </p:nvSpPr>
        <p:spPr>
          <a:xfrm>
            <a:off x="2377440" y="3429000"/>
            <a:ext cx="566928" cy="548640"/>
          </a:xfrm>
          <a:prstGeom prst="rect">
            <a:avLst/>
          </a:prstGeom>
          <a:noFill/>
          <a:ln/>
        </p:spPr>
        <p:txBody>
          <a:bodyPr wrap="square" lIns="0" tIns="0" rIns="0" bIns="0" rtlCol="0" anchor="ctr"/>
          <a:lstStyle/>
          <a:p>
            <a:pPr algn="ctr" indent="0" marL="0">
              <a:buNone/>
            </a:pPr>
            <a:r>
              <a:rPr lang="tr-TR" sz="1200" b="1" dirty="0">
                <a:solidFill>
                  <a:srgbClr val="36454F"/>
                </a:solidFill>
                <a:latin typeface="Calibri" pitchFamily="34" charset="0"/>
                <a:ea typeface="Calibri" pitchFamily="34" charset="-122"/>
                <a:cs typeface="Calibri" pitchFamily="34" charset="-120"/>
              </a:rPr>
              <a:t>T1</a:t>
            </a:r>
            <a:endParaRPr lang="tr-TR" sz="1200" dirty="0"/>
          </a:p>
        </p:txBody>
      </p:sp>
      <p:sp>
        <p:nvSpPr>
          <p:cNvPr id="44" name="Shape 42"/>
          <p:cNvSpPr/>
          <p:nvPr/>
        </p:nvSpPr>
        <p:spPr>
          <a:xfrm>
            <a:off x="2944368" y="3429000"/>
            <a:ext cx="566928" cy="548640"/>
          </a:xfrm>
          <a:prstGeom prst="rect">
            <a:avLst/>
          </a:prstGeom>
          <a:solidFill>
            <a:srgbClr val="50808E"/>
          </a:solidFill>
          <a:ln w="19050">
            <a:solidFill>
              <a:srgbClr val="FFFFFF"/>
            </a:solidFill>
            <a:prstDash val="solid"/>
          </a:ln>
        </p:spPr>
      </p:sp>
      <p:sp>
        <p:nvSpPr>
          <p:cNvPr id="45" name="Text 43"/>
          <p:cNvSpPr txBox="1"/>
          <p:nvPr/>
        </p:nvSpPr>
        <p:spPr>
          <a:xfrm>
            <a:off x="2944368" y="3429000"/>
            <a:ext cx="566928" cy="548640"/>
          </a:xfrm>
          <a:prstGeom prst="rect">
            <a:avLst/>
          </a:prstGeom>
          <a:noFill/>
          <a:ln/>
        </p:spPr>
        <p:txBody>
          <a:bodyPr wrap="square" lIns="0" tIns="0" rIns="0" bIns="0" rtlCol="0" anchor="ctr"/>
          <a:lstStyle/>
          <a:p>
            <a:pPr algn="ctr" indent="0" marL="0">
              <a:buNone/>
            </a:pPr>
            <a:r>
              <a:rPr lang="tr-TR" sz="1200" b="1" dirty="0">
                <a:solidFill>
                  <a:srgbClr val="FFFFFF"/>
                </a:solidFill>
                <a:latin typeface="Calibri" pitchFamily="34" charset="0"/>
                <a:ea typeface="Calibri" pitchFamily="34" charset="-122"/>
                <a:cs typeface="Calibri" pitchFamily="34" charset="-120"/>
              </a:rPr>
              <a:t>T3</a:t>
            </a:r>
            <a:endParaRPr lang="tr-TR" sz="1200" dirty="0"/>
          </a:p>
        </p:txBody>
      </p:sp>
      <p:sp>
        <p:nvSpPr>
          <p:cNvPr id="46" name="Shape 44"/>
          <p:cNvSpPr/>
          <p:nvPr/>
        </p:nvSpPr>
        <p:spPr>
          <a:xfrm>
            <a:off x="3511296" y="3429000"/>
            <a:ext cx="566928" cy="548640"/>
          </a:xfrm>
          <a:prstGeom prst="rect">
            <a:avLst/>
          </a:prstGeom>
          <a:solidFill>
            <a:srgbClr val="02C39A"/>
          </a:solidFill>
          <a:ln w="19050">
            <a:solidFill>
              <a:srgbClr val="FFFFFF"/>
            </a:solidFill>
            <a:prstDash val="solid"/>
          </a:ln>
        </p:spPr>
      </p:sp>
      <p:sp>
        <p:nvSpPr>
          <p:cNvPr id="47" name="Text 45"/>
          <p:cNvSpPr txBox="1"/>
          <p:nvPr/>
        </p:nvSpPr>
        <p:spPr>
          <a:xfrm>
            <a:off x="3511296" y="3429000"/>
            <a:ext cx="566928" cy="548640"/>
          </a:xfrm>
          <a:prstGeom prst="rect">
            <a:avLst/>
          </a:prstGeom>
          <a:noFill/>
          <a:ln/>
        </p:spPr>
        <p:txBody>
          <a:bodyPr wrap="square" lIns="0" tIns="0" rIns="0" bIns="0" rtlCol="0" anchor="ctr"/>
          <a:lstStyle/>
          <a:p>
            <a:pPr algn="ctr" indent="0" marL="0">
              <a:buNone/>
            </a:pPr>
            <a:r>
              <a:rPr lang="tr-TR" sz="1200" b="1" dirty="0">
                <a:solidFill>
                  <a:srgbClr val="36454F"/>
                </a:solidFill>
                <a:latin typeface="Calibri" pitchFamily="34" charset="0"/>
                <a:ea typeface="Calibri" pitchFamily="34" charset="-122"/>
                <a:cs typeface="Calibri" pitchFamily="34" charset="-120"/>
              </a:rPr>
              <a:t>T1</a:t>
            </a:r>
            <a:endParaRPr lang="tr-TR" sz="1200" dirty="0"/>
          </a:p>
        </p:txBody>
      </p:sp>
      <p:sp>
        <p:nvSpPr>
          <p:cNvPr id="48" name="Shape 46"/>
          <p:cNvSpPr/>
          <p:nvPr/>
        </p:nvSpPr>
        <p:spPr>
          <a:xfrm>
            <a:off x="4078224" y="3429000"/>
            <a:ext cx="566928" cy="548640"/>
          </a:xfrm>
          <a:prstGeom prst="rect">
            <a:avLst/>
          </a:prstGeom>
          <a:solidFill>
            <a:srgbClr val="50808E"/>
          </a:solidFill>
          <a:ln w="19050">
            <a:solidFill>
              <a:srgbClr val="FFFFFF"/>
            </a:solidFill>
            <a:prstDash val="solid"/>
          </a:ln>
        </p:spPr>
      </p:sp>
      <p:sp>
        <p:nvSpPr>
          <p:cNvPr id="49" name="Text 47"/>
          <p:cNvSpPr txBox="1"/>
          <p:nvPr/>
        </p:nvSpPr>
        <p:spPr>
          <a:xfrm>
            <a:off x="4078224" y="3429000"/>
            <a:ext cx="566928" cy="548640"/>
          </a:xfrm>
          <a:prstGeom prst="rect">
            <a:avLst/>
          </a:prstGeom>
          <a:noFill/>
          <a:ln/>
        </p:spPr>
        <p:txBody>
          <a:bodyPr wrap="square" lIns="0" tIns="0" rIns="0" bIns="0" rtlCol="0" anchor="ctr"/>
          <a:lstStyle/>
          <a:p>
            <a:pPr algn="ctr" indent="0" marL="0">
              <a:buNone/>
            </a:pPr>
            <a:r>
              <a:rPr lang="tr-TR" sz="1200" b="1" dirty="0">
                <a:solidFill>
                  <a:srgbClr val="FFFFFF"/>
                </a:solidFill>
                <a:latin typeface="Calibri" pitchFamily="34" charset="0"/>
                <a:ea typeface="Calibri" pitchFamily="34" charset="-122"/>
                <a:cs typeface="Calibri" pitchFamily="34" charset="-120"/>
              </a:rPr>
              <a:t>T3</a:t>
            </a:r>
            <a:endParaRPr lang="tr-TR" sz="1200" dirty="0"/>
          </a:p>
        </p:txBody>
      </p:sp>
      <p:sp>
        <p:nvSpPr>
          <p:cNvPr id="50" name="Shape 48"/>
          <p:cNvSpPr/>
          <p:nvPr/>
        </p:nvSpPr>
        <p:spPr>
          <a:xfrm>
            <a:off x="4645152" y="3429000"/>
            <a:ext cx="566928" cy="548640"/>
          </a:xfrm>
          <a:prstGeom prst="rect">
            <a:avLst/>
          </a:prstGeom>
          <a:solidFill>
            <a:srgbClr val="02C39A"/>
          </a:solidFill>
          <a:ln w="19050">
            <a:solidFill>
              <a:srgbClr val="FFFFFF"/>
            </a:solidFill>
            <a:prstDash val="solid"/>
          </a:ln>
        </p:spPr>
      </p:sp>
      <p:sp>
        <p:nvSpPr>
          <p:cNvPr id="51" name="Text 49"/>
          <p:cNvSpPr txBox="1"/>
          <p:nvPr/>
        </p:nvSpPr>
        <p:spPr>
          <a:xfrm>
            <a:off x="4645152" y="3429000"/>
            <a:ext cx="566928" cy="548640"/>
          </a:xfrm>
          <a:prstGeom prst="rect">
            <a:avLst/>
          </a:prstGeom>
          <a:noFill/>
          <a:ln/>
        </p:spPr>
        <p:txBody>
          <a:bodyPr wrap="square" lIns="0" tIns="0" rIns="0" bIns="0" rtlCol="0" anchor="ctr"/>
          <a:lstStyle/>
          <a:p>
            <a:pPr algn="ctr" indent="0" marL="0">
              <a:buNone/>
            </a:pPr>
            <a:r>
              <a:rPr lang="tr-TR" sz="1200" b="1" dirty="0">
                <a:solidFill>
                  <a:srgbClr val="36454F"/>
                </a:solidFill>
                <a:latin typeface="Calibri" pitchFamily="34" charset="0"/>
                <a:ea typeface="Calibri" pitchFamily="34" charset="-122"/>
                <a:cs typeface="Calibri" pitchFamily="34" charset="-120"/>
              </a:rPr>
              <a:t>T1</a:t>
            </a:r>
            <a:endParaRPr lang="tr-TR" sz="1200" dirty="0"/>
          </a:p>
        </p:txBody>
      </p:sp>
      <p:sp>
        <p:nvSpPr>
          <p:cNvPr id="52" name="Shape 50"/>
          <p:cNvSpPr/>
          <p:nvPr/>
        </p:nvSpPr>
        <p:spPr>
          <a:xfrm>
            <a:off x="5212080" y="3429000"/>
            <a:ext cx="566928" cy="548640"/>
          </a:xfrm>
          <a:prstGeom prst="rect">
            <a:avLst/>
          </a:prstGeom>
          <a:solidFill>
            <a:srgbClr val="50808E"/>
          </a:solidFill>
          <a:ln w="19050">
            <a:solidFill>
              <a:srgbClr val="FFFFFF"/>
            </a:solidFill>
            <a:prstDash val="solid"/>
          </a:ln>
        </p:spPr>
      </p:sp>
      <p:sp>
        <p:nvSpPr>
          <p:cNvPr id="53" name="Text 51"/>
          <p:cNvSpPr txBox="1"/>
          <p:nvPr/>
        </p:nvSpPr>
        <p:spPr>
          <a:xfrm>
            <a:off x="5212080" y="3429000"/>
            <a:ext cx="566928" cy="548640"/>
          </a:xfrm>
          <a:prstGeom prst="rect">
            <a:avLst/>
          </a:prstGeom>
          <a:noFill/>
          <a:ln/>
        </p:spPr>
        <p:txBody>
          <a:bodyPr wrap="square" lIns="0" tIns="0" rIns="0" bIns="0" rtlCol="0" anchor="ctr"/>
          <a:lstStyle/>
          <a:p>
            <a:pPr algn="ctr" indent="0" marL="0">
              <a:buNone/>
            </a:pPr>
            <a:r>
              <a:rPr lang="tr-TR" sz="1200" b="1" dirty="0">
                <a:solidFill>
                  <a:srgbClr val="FFFFFF"/>
                </a:solidFill>
                <a:latin typeface="Calibri" pitchFamily="34" charset="0"/>
                <a:ea typeface="Calibri" pitchFamily="34" charset="-122"/>
                <a:cs typeface="Calibri" pitchFamily="34" charset="-120"/>
              </a:rPr>
              <a:t>T3</a:t>
            </a:r>
            <a:endParaRPr lang="tr-TR" sz="1200" dirty="0"/>
          </a:p>
        </p:txBody>
      </p:sp>
      <p:sp>
        <p:nvSpPr>
          <p:cNvPr id="54" name="Shape 52"/>
          <p:cNvSpPr/>
          <p:nvPr/>
        </p:nvSpPr>
        <p:spPr>
          <a:xfrm>
            <a:off x="5779008" y="3429000"/>
            <a:ext cx="566928" cy="548640"/>
          </a:xfrm>
          <a:prstGeom prst="rect">
            <a:avLst/>
          </a:prstGeom>
          <a:solidFill>
            <a:srgbClr val="02C39A"/>
          </a:solidFill>
          <a:ln w="19050">
            <a:solidFill>
              <a:srgbClr val="FFFFFF"/>
            </a:solidFill>
            <a:prstDash val="solid"/>
          </a:ln>
        </p:spPr>
      </p:sp>
      <p:sp>
        <p:nvSpPr>
          <p:cNvPr id="55" name="Text 53"/>
          <p:cNvSpPr txBox="1"/>
          <p:nvPr/>
        </p:nvSpPr>
        <p:spPr>
          <a:xfrm>
            <a:off x="5779008" y="3429000"/>
            <a:ext cx="566928" cy="548640"/>
          </a:xfrm>
          <a:prstGeom prst="rect">
            <a:avLst/>
          </a:prstGeom>
          <a:noFill/>
          <a:ln/>
        </p:spPr>
        <p:txBody>
          <a:bodyPr wrap="square" lIns="0" tIns="0" rIns="0" bIns="0" rtlCol="0" anchor="ctr"/>
          <a:lstStyle/>
          <a:p>
            <a:pPr algn="ctr" indent="0" marL="0">
              <a:buNone/>
            </a:pPr>
            <a:r>
              <a:rPr lang="tr-TR" sz="1200" b="1" dirty="0">
                <a:solidFill>
                  <a:srgbClr val="36454F"/>
                </a:solidFill>
                <a:latin typeface="Calibri" pitchFamily="34" charset="0"/>
                <a:ea typeface="Calibri" pitchFamily="34" charset="-122"/>
                <a:cs typeface="Calibri" pitchFamily="34" charset="-120"/>
              </a:rPr>
              <a:t>T1</a:t>
            </a:r>
            <a:endParaRPr lang="tr-TR" sz="1200" dirty="0"/>
          </a:p>
        </p:txBody>
      </p:sp>
      <p:sp>
        <p:nvSpPr>
          <p:cNvPr id="56" name="Shape 54"/>
          <p:cNvSpPr/>
          <p:nvPr/>
        </p:nvSpPr>
        <p:spPr>
          <a:xfrm>
            <a:off x="6345936" y="3429000"/>
            <a:ext cx="566928" cy="548640"/>
          </a:xfrm>
          <a:prstGeom prst="rect">
            <a:avLst/>
          </a:prstGeom>
          <a:solidFill>
            <a:srgbClr val="50808E"/>
          </a:solidFill>
          <a:ln w="19050">
            <a:solidFill>
              <a:srgbClr val="FFFFFF"/>
            </a:solidFill>
            <a:prstDash val="solid"/>
          </a:ln>
        </p:spPr>
      </p:sp>
      <p:sp>
        <p:nvSpPr>
          <p:cNvPr id="57" name="Text 55"/>
          <p:cNvSpPr txBox="1"/>
          <p:nvPr/>
        </p:nvSpPr>
        <p:spPr>
          <a:xfrm>
            <a:off x="6345936" y="3429000"/>
            <a:ext cx="566928" cy="548640"/>
          </a:xfrm>
          <a:prstGeom prst="rect">
            <a:avLst/>
          </a:prstGeom>
          <a:noFill/>
          <a:ln/>
        </p:spPr>
        <p:txBody>
          <a:bodyPr wrap="square" lIns="0" tIns="0" rIns="0" bIns="0" rtlCol="0" anchor="ctr"/>
          <a:lstStyle/>
          <a:p>
            <a:pPr algn="ctr" indent="0" marL="0">
              <a:buNone/>
            </a:pPr>
            <a:r>
              <a:rPr lang="tr-TR" sz="1200" b="1" dirty="0">
                <a:solidFill>
                  <a:srgbClr val="FFFFFF"/>
                </a:solidFill>
                <a:latin typeface="Calibri" pitchFamily="34" charset="0"/>
                <a:ea typeface="Calibri" pitchFamily="34" charset="-122"/>
                <a:cs typeface="Calibri" pitchFamily="34" charset="-120"/>
              </a:rPr>
              <a:t>T3</a:t>
            </a:r>
            <a:endParaRPr lang="tr-TR" sz="1200" dirty="0"/>
          </a:p>
        </p:txBody>
      </p:sp>
      <p:sp>
        <p:nvSpPr>
          <p:cNvPr id="58" name="Shape 56"/>
          <p:cNvSpPr/>
          <p:nvPr/>
        </p:nvSpPr>
        <p:spPr>
          <a:xfrm>
            <a:off x="6912864" y="3429000"/>
            <a:ext cx="566928" cy="548640"/>
          </a:xfrm>
          <a:prstGeom prst="rect">
            <a:avLst/>
          </a:prstGeom>
          <a:solidFill>
            <a:srgbClr val="02C39A"/>
          </a:solidFill>
          <a:ln w="19050">
            <a:solidFill>
              <a:srgbClr val="FFFFFF"/>
            </a:solidFill>
            <a:prstDash val="solid"/>
          </a:ln>
        </p:spPr>
      </p:sp>
      <p:sp>
        <p:nvSpPr>
          <p:cNvPr id="59" name="Text 57"/>
          <p:cNvSpPr txBox="1"/>
          <p:nvPr/>
        </p:nvSpPr>
        <p:spPr>
          <a:xfrm>
            <a:off x="6912864" y="3429000"/>
            <a:ext cx="566928" cy="548640"/>
          </a:xfrm>
          <a:prstGeom prst="rect">
            <a:avLst/>
          </a:prstGeom>
          <a:noFill/>
          <a:ln/>
        </p:spPr>
        <p:txBody>
          <a:bodyPr wrap="square" lIns="0" tIns="0" rIns="0" bIns="0" rtlCol="0" anchor="ctr"/>
          <a:lstStyle/>
          <a:p>
            <a:pPr algn="ctr" indent="0" marL="0">
              <a:buNone/>
            </a:pPr>
            <a:r>
              <a:rPr lang="tr-TR" sz="1200" b="1" dirty="0">
                <a:solidFill>
                  <a:srgbClr val="36454F"/>
                </a:solidFill>
                <a:latin typeface="Calibri" pitchFamily="34" charset="0"/>
                <a:ea typeface="Calibri" pitchFamily="34" charset="-122"/>
                <a:cs typeface="Calibri" pitchFamily="34" charset="-120"/>
              </a:rPr>
              <a:t>T1</a:t>
            </a:r>
            <a:endParaRPr lang="tr-TR" sz="1200" dirty="0"/>
          </a:p>
        </p:txBody>
      </p:sp>
      <p:sp>
        <p:nvSpPr>
          <p:cNvPr id="60" name="Shape 58"/>
          <p:cNvSpPr/>
          <p:nvPr/>
        </p:nvSpPr>
        <p:spPr>
          <a:xfrm>
            <a:off x="7479792" y="3429000"/>
            <a:ext cx="566928" cy="548640"/>
          </a:xfrm>
          <a:prstGeom prst="rect">
            <a:avLst/>
          </a:prstGeom>
          <a:solidFill>
            <a:srgbClr val="50808E"/>
          </a:solidFill>
          <a:ln w="19050">
            <a:solidFill>
              <a:srgbClr val="FFFFFF"/>
            </a:solidFill>
            <a:prstDash val="solid"/>
          </a:ln>
        </p:spPr>
      </p:sp>
      <p:sp>
        <p:nvSpPr>
          <p:cNvPr id="61" name="Text 59"/>
          <p:cNvSpPr txBox="1"/>
          <p:nvPr/>
        </p:nvSpPr>
        <p:spPr>
          <a:xfrm>
            <a:off x="7479792" y="3429000"/>
            <a:ext cx="566928" cy="548640"/>
          </a:xfrm>
          <a:prstGeom prst="rect">
            <a:avLst/>
          </a:prstGeom>
          <a:noFill/>
          <a:ln/>
        </p:spPr>
        <p:txBody>
          <a:bodyPr wrap="square" lIns="0" tIns="0" rIns="0" bIns="0" rtlCol="0" anchor="ctr"/>
          <a:lstStyle/>
          <a:p>
            <a:pPr algn="ctr" indent="0" marL="0">
              <a:buNone/>
            </a:pPr>
            <a:r>
              <a:rPr lang="tr-TR" sz="1200" b="1" dirty="0">
                <a:solidFill>
                  <a:srgbClr val="FFFFFF"/>
                </a:solidFill>
                <a:latin typeface="Calibri" pitchFamily="34" charset="0"/>
                <a:ea typeface="Calibri" pitchFamily="34" charset="-122"/>
                <a:cs typeface="Calibri" pitchFamily="34" charset="-120"/>
              </a:rPr>
              <a:t>T3</a:t>
            </a:r>
            <a:endParaRPr lang="tr-TR" sz="1200" dirty="0"/>
          </a:p>
        </p:txBody>
      </p:sp>
      <p:sp>
        <p:nvSpPr>
          <p:cNvPr id="62" name="Shape 60"/>
          <p:cNvSpPr/>
          <p:nvPr/>
        </p:nvSpPr>
        <p:spPr>
          <a:xfrm>
            <a:off x="8046720" y="3429000"/>
            <a:ext cx="566928" cy="548640"/>
          </a:xfrm>
          <a:prstGeom prst="rect">
            <a:avLst/>
          </a:prstGeom>
          <a:solidFill>
            <a:srgbClr val="02C39A"/>
          </a:solidFill>
          <a:ln w="19050">
            <a:solidFill>
              <a:srgbClr val="FFFFFF"/>
            </a:solidFill>
            <a:prstDash val="solid"/>
          </a:ln>
        </p:spPr>
      </p:sp>
      <p:sp>
        <p:nvSpPr>
          <p:cNvPr id="63" name="Text 61"/>
          <p:cNvSpPr txBox="1"/>
          <p:nvPr/>
        </p:nvSpPr>
        <p:spPr>
          <a:xfrm>
            <a:off x="8046720" y="3429000"/>
            <a:ext cx="566928" cy="548640"/>
          </a:xfrm>
          <a:prstGeom prst="rect">
            <a:avLst/>
          </a:prstGeom>
          <a:noFill/>
          <a:ln/>
        </p:spPr>
        <p:txBody>
          <a:bodyPr wrap="square" lIns="0" tIns="0" rIns="0" bIns="0" rtlCol="0" anchor="ctr"/>
          <a:lstStyle/>
          <a:p>
            <a:pPr algn="ctr" indent="0" marL="0">
              <a:buNone/>
            </a:pPr>
            <a:r>
              <a:rPr lang="tr-TR" sz="1200" b="1" dirty="0">
                <a:solidFill>
                  <a:srgbClr val="36454F"/>
                </a:solidFill>
                <a:latin typeface="Calibri" pitchFamily="34" charset="0"/>
                <a:ea typeface="Calibri" pitchFamily="34" charset="-122"/>
                <a:cs typeface="Calibri" pitchFamily="34" charset="-120"/>
              </a:rPr>
              <a:t>T1</a:t>
            </a:r>
            <a:endParaRPr lang="tr-TR" sz="1200" dirty="0"/>
          </a:p>
        </p:txBody>
      </p:sp>
      <p:sp>
        <p:nvSpPr>
          <p:cNvPr id="64" name="Shape 62"/>
          <p:cNvSpPr/>
          <p:nvPr/>
        </p:nvSpPr>
        <p:spPr>
          <a:xfrm>
            <a:off x="8613648" y="3429000"/>
            <a:ext cx="566928" cy="548640"/>
          </a:xfrm>
          <a:prstGeom prst="rect">
            <a:avLst/>
          </a:prstGeom>
          <a:solidFill>
            <a:srgbClr val="50808E"/>
          </a:solidFill>
          <a:ln w="19050">
            <a:solidFill>
              <a:srgbClr val="FFFFFF"/>
            </a:solidFill>
            <a:prstDash val="solid"/>
          </a:ln>
        </p:spPr>
      </p:sp>
      <p:sp>
        <p:nvSpPr>
          <p:cNvPr id="65" name="Text 63"/>
          <p:cNvSpPr txBox="1"/>
          <p:nvPr/>
        </p:nvSpPr>
        <p:spPr>
          <a:xfrm>
            <a:off x="8613648" y="3429000"/>
            <a:ext cx="566928" cy="548640"/>
          </a:xfrm>
          <a:prstGeom prst="rect">
            <a:avLst/>
          </a:prstGeom>
          <a:noFill/>
          <a:ln/>
        </p:spPr>
        <p:txBody>
          <a:bodyPr wrap="square" lIns="0" tIns="0" rIns="0" bIns="0" rtlCol="0" anchor="ctr"/>
          <a:lstStyle/>
          <a:p>
            <a:pPr algn="ctr" indent="0" marL="0">
              <a:buNone/>
            </a:pPr>
            <a:r>
              <a:rPr lang="tr-TR" sz="1200" b="1" dirty="0">
                <a:solidFill>
                  <a:srgbClr val="FFFFFF"/>
                </a:solidFill>
                <a:latin typeface="Calibri" pitchFamily="34" charset="0"/>
                <a:ea typeface="Calibri" pitchFamily="34" charset="-122"/>
                <a:cs typeface="Calibri" pitchFamily="34" charset="-120"/>
              </a:rPr>
              <a:t>T3</a:t>
            </a:r>
            <a:endParaRPr lang="tr-TR" sz="1200" dirty="0"/>
          </a:p>
        </p:txBody>
      </p:sp>
      <p:sp>
        <p:nvSpPr>
          <p:cNvPr id="66" name="Shape 64"/>
          <p:cNvSpPr/>
          <p:nvPr/>
        </p:nvSpPr>
        <p:spPr>
          <a:xfrm>
            <a:off x="9180576" y="3429000"/>
            <a:ext cx="566928" cy="548640"/>
          </a:xfrm>
          <a:prstGeom prst="rect">
            <a:avLst/>
          </a:prstGeom>
          <a:solidFill>
            <a:srgbClr val="02C39A"/>
          </a:solidFill>
          <a:ln w="19050">
            <a:solidFill>
              <a:srgbClr val="FFFFFF"/>
            </a:solidFill>
            <a:prstDash val="solid"/>
          </a:ln>
        </p:spPr>
      </p:sp>
      <p:sp>
        <p:nvSpPr>
          <p:cNvPr id="67" name="Text 65"/>
          <p:cNvSpPr txBox="1"/>
          <p:nvPr/>
        </p:nvSpPr>
        <p:spPr>
          <a:xfrm>
            <a:off x="9180576" y="3429000"/>
            <a:ext cx="566928" cy="548640"/>
          </a:xfrm>
          <a:prstGeom prst="rect">
            <a:avLst/>
          </a:prstGeom>
          <a:noFill/>
          <a:ln/>
        </p:spPr>
        <p:txBody>
          <a:bodyPr wrap="square" lIns="0" tIns="0" rIns="0" bIns="0" rtlCol="0" anchor="ctr"/>
          <a:lstStyle/>
          <a:p>
            <a:pPr algn="ctr" indent="0" marL="0">
              <a:buNone/>
            </a:pPr>
            <a:r>
              <a:rPr lang="tr-TR" sz="1200" b="1" dirty="0">
                <a:solidFill>
                  <a:srgbClr val="36454F"/>
                </a:solidFill>
                <a:latin typeface="Calibri" pitchFamily="34" charset="0"/>
                <a:ea typeface="Calibri" pitchFamily="34" charset="-122"/>
                <a:cs typeface="Calibri" pitchFamily="34" charset="-120"/>
              </a:rPr>
              <a:t>T1</a:t>
            </a:r>
            <a:endParaRPr lang="tr-TR" sz="1200" dirty="0"/>
          </a:p>
        </p:txBody>
      </p:sp>
      <p:sp>
        <p:nvSpPr>
          <p:cNvPr id="68" name="Shape 66"/>
          <p:cNvSpPr/>
          <p:nvPr/>
        </p:nvSpPr>
        <p:spPr>
          <a:xfrm>
            <a:off x="9747504" y="3429000"/>
            <a:ext cx="566928" cy="548640"/>
          </a:xfrm>
          <a:prstGeom prst="rect">
            <a:avLst/>
          </a:prstGeom>
          <a:solidFill>
            <a:srgbClr val="50808E"/>
          </a:solidFill>
          <a:ln w="19050">
            <a:solidFill>
              <a:srgbClr val="FFFFFF"/>
            </a:solidFill>
            <a:prstDash val="solid"/>
          </a:ln>
        </p:spPr>
      </p:sp>
      <p:sp>
        <p:nvSpPr>
          <p:cNvPr id="69" name="Text 67"/>
          <p:cNvSpPr txBox="1"/>
          <p:nvPr/>
        </p:nvSpPr>
        <p:spPr>
          <a:xfrm>
            <a:off x="9747504" y="3429000"/>
            <a:ext cx="566928" cy="548640"/>
          </a:xfrm>
          <a:prstGeom prst="rect">
            <a:avLst/>
          </a:prstGeom>
          <a:noFill/>
          <a:ln/>
        </p:spPr>
        <p:txBody>
          <a:bodyPr wrap="square" lIns="0" tIns="0" rIns="0" bIns="0" rtlCol="0" anchor="ctr"/>
          <a:lstStyle/>
          <a:p>
            <a:pPr algn="ctr" indent="0" marL="0">
              <a:buNone/>
            </a:pPr>
            <a:r>
              <a:rPr lang="tr-TR" sz="1200" b="1" dirty="0">
                <a:solidFill>
                  <a:srgbClr val="FFFFFF"/>
                </a:solidFill>
                <a:latin typeface="Calibri" pitchFamily="34" charset="0"/>
                <a:ea typeface="Calibri" pitchFamily="34" charset="-122"/>
                <a:cs typeface="Calibri" pitchFamily="34" charset="-120"/>
              </a:rPr>
              <a:t>T3</a:t>
            </a:r>
            <a:endParaRPr lang="tr-TR" sz="1200" dirty="0"/>
          </a:p>
        </p:txBody>
      </p:sp>
      <p:sp>
        <p:nvSpPr>
          <p:cNvPr id="70" name="Shape 68"/>
          <p:cNvSpPr/>
          <p:nvPr/>
        </p:nvSpPr>
        <p:spPr>
          <a:xfrm>
            <a:off x="10314432" y="3429000"/>
            <a:ext cx="566928" cy="548640"/>
          </a:xfrm>
          <a:prstGeom prst="rect">
            <a:avLst/>
          </a:prstGeom>
          <a:solidFill>
            <a:srgbClr val="02C39A"/>
          </a:solidFill>
          <a:ln w="19050">
            <a:solidFill>
              <a:srgbClr val="FFFFFF"/>
            </a:solidFill>
            <a:prstDash val="solid"/>
          </a:ln>
        </p:spPr>
      </p:sp>
      <p:sp>
        <p:nvSpPr>
          <p:cNvPr id="71" name="Text 69"/>
          <p:cNvSpPr txBox="1"/>
          <p:nvPr/>
        </p:nvSpPr>
        <p:spPr>
          <a:xfrm>
            <a:off x="10314432" y="3429000"/>
            <a:ext cx="566928" cy="548640"/>
          </a:xfrm>
          <a:prstGeom prst="rect">
            <a:avLst/>
          </a:prstGeom>
          <a:noFill/>
          <a:ln/>
        </p:spPr>
        <p:txBody>
          <a:bodyPr wrap="square" lIns="0" tIns="0" rIns="0" bIns="0" rtlCol="0" anchor="ctr"/>
          <a:lstStyle/>
          <a:p>
            <a:pPr algn="ctr" indent="0" marL="0">
              <a:buNone/>
            </a:pPr>
            <a:r>
              <a:rPr lang="tr-TR" sz="1200" b="1" dirty="0">
                <a:solidFill>
                  <a:srgbClr val="36454F"/>
                </a:solidFill>
                <a:latin typeface="Calibri" pitchFamily="34" charset="0"/>
                <a:ea typeface="Calibri" pitchFamily="34" charset="-122"/>
                <a:cs typeface="Calibri" pitchFamily="34" charset="-120"/>
              </a:rPr>
              <a:t>T1</a:t>
            </a:r>
            <a:endParaRPr lang="tr-TR" sz="1200" dirty="0"/>
          </a:p>
        </p:txBody>
      </p:sp>
      <p:sp>
        <p:nvSpPr>
          <p:cNvPr id="72" name="Shape 70"/>
          <p:cNvSpPr/>
          <p:nvPr/>
        </p:nvSpPr>
        <p:spPr>
          <a:xfrm>
            <a:off x="10881360" y="3429000"/>
            <a:ext cx="566928" cy="548640"/>
          </a:xfrm>
          <a:prstGeom prst="rect">
            <a:avLst/>
          </a:prstGeom>
          <a:solidFill>
            <a:srgbClr val="50808E"/>
          </a:solidFill>
          <a:ln w="19050">
            <a:solidFill>
              <a:srgbClr val="FFFFFF"/>
            </a:solidFill>
            <a:prstDash val="solid"/>
          </a:ln>
        </p:spPr>
      </p:sp>
      <p:sp>
        <p:nvSpPr>
          <p:cNvPr id="73" name="Text 71"/>
          <p:cNvSpPr txBox="1"/>
          <p:nvPr/>
        </p:nvSpPr>
        <p:spPr>
          <a:xfrm>
            <a:off x="10881360" y="3429000"/>
            <a:ext cx="566928" cy="548640"/>
          </a:xfrm>
          <a:prstGeom prst="rect">
            <a:avLst/>
          </a:prstGeom>
          <a:noFill/>
          <a:ln/>
        </p:spPr>
        <p:txBody>
          <a:bodyPr wrap="square" lIns="0" tIns="0" rIns="0" bIns="0" rtlCol="0" anchor="ctr"/>
          <a:lstStyle/>
          <a:p>
            <a:pPr algn="ctr" indent="0" marL="0">
              <a:buNone/>
            </a:pPr>
            <a:r>
              <a:rPr lang="tr-TR" sz="1200" b="1" dirty="0">
                <a:solidFill>
                  <a:srgbClr val="FFFFFF"/>
                </a:solidFill>
                <a:latin typeface="Calibri" pitchFamily="34" charset="0"/>
                <a:ea typeface="Calibri" pitchFamily="34" charset="-122"/>
                <a:cs typeface="Calibri" pitchFamily="34" charset="-120"/>
              </a:rPr>
              <a:t>T3</a:t>
            </a:r>
            <a:endParaRPr lang="tr-TR" sz="1200" dirty="0"/>
          </a:p>
        </p:txBody>
      </p:sp>
      <p:sp>
        <p:nvSpPr>
          <p:cNvPr id="74" name="Shape 72"/>
          <p:cNvSpPr/>
          <p:nvPr/>
        </p:nvSpPr>
        <p:spPr>
          <a:xfrm>
            <a:off x="2377440" y="4023360"/>
            <a:ext cx="566928" cy="548640"/>
          </a:xfrm>
          <a:prstGeom prst="rect">
            <a:avLst/>
          </a:prstGeom>
          <a:solidFill>
            <a:srgbClr val="36454F"/>
          </a:solidFill>
          <a:ln w="19050">
            <a:solidFill>
              <a:srgbClr val="FFFFFF"/>
            </a:solidFill>
            <a:prstDash val="solid"/>
          </a:ln>
        </p:spPr>
      </p:sp>
      <p:sp>
        <p:nvSpPr>
          <p:cNvPr id="75" name="Text 73"/>
          <p:cNvSpPr txBox="1"/>
          <p:nvPr/>
        </p:nvSpPr>
        <p:spPr>
          <a:xfrm>
            <a:off x="2377440" y="4023360"/>
            <a:ext cx="566928" cy="548640"/>
          </a:xfrm>
          <a:prstGeom prst="rect">
            <a:avLst/>
          </a:prstGeom>
          <a:noFill/>
          <a:ln/>
        </p:spPr>
        <p:txBody>
          <a:bodyPr wrap="square" lIns="0" tIns="0" rIns="0" bIns="0" rtlCol="0" anchor="ctr"/>
          <a:lstStyle/>
          <a:p>
            <a:pPr algn="ctr" indent="0" marL="0">
              <a:buNone/>
            </a:pPr>
            <a:r>
              <a:rPr lang="tr-TR" sz="1200" b="1" dirty="0">
                <a:solidFill>
                  <a:srgbClr val="FFFFFF"/>
                </a:solidFill>
                <a:latin typeface="Calibri" pitchFamily="34" charset="0"/>
                <a:ea typeface="Calibri" pitchFamily="34" charset="-122"/>
                <a:cs typeface="Calibri" pitchFamily="34" charset="-120"/>
              </a:rPr>
              <a:t>T2</a:t>
            </a:r>
            <a:endParaRPr lang="tr-TR" sz="1200" dirty="0"/>
          </a:p>
        </p:txBody>
      </p:sp>
      <p:sp>
        <p:nvSpPr>
          <p:cNvPr id="76" name="Shape 74"/>
          <p:cNvSpPr/>
          <p:nvPr/>
        </p:nvSpPr>
        <p:spPr>
          <a:xfrm>
            <a:off x="2944368" y="4023360"/>
            <a:ext cx="566928" cy="548640"/>
          </a:xfrm>
          <a:prstGeom prst="rect">
            <a:avLst/>
          </a:prstGeom>
          <a:solidFill>
            <a:srgbClr val="D7E9E6"/>
          </a:solidFill>
          <a:ln w="19050">
            <a:solidFill>
              <a:srgbClr val="FFFFFF"/>
            </a:solidFill>
            <a:prstDash val="solid"/>
          </a:ln>
        </p:spPr>
      </p:sp>
      <p:sp>
        <p:nvSpPr>
          <p:cNvPr id="77" name="Text 75"/>
          <p:cNvSpPr txBox="1"/>
          <p:nvPr/>
        </p:nvSpPr>
        <p:spPr>
          <a:xfrm>
            <a:off x="2944368" y="4023360"/>
            <a:ext cx="566928" cy="548640"/>
          </a:xfrm>
          <a:prstGeom prst="rect">
            <a:avLst/>
          </a:prstGeom>
          <a:noFill/>
          <a:ln/>
        </p:spPr>
        <p:txBody>
          <a:bodyPr wrap="square" lIns="0" tIns="0" rIns="0" bIns="0" rtlCol="0" anchor="ctr"/>
          <a:lstStyle/>
          <a:p>
            <a:pPr algn="ctr" indent="0" marL="0">
              <a:buNone/>
            </a:pPr>
            <a:r>
              <a:rPr lang="tr-TR" sz="1200" b="1" dirty="0">
                <a:solidFill>
                  <a:srgbClr val="36454F"/>
                </a:solidFill>
                <a:latin typeface="Calibri" pitchFamily="34" charset="0"/>
                <a:ea typeface="Calibri" pitchFamily="34" charset="-122"/>
                <a:cs typeface="Calibri" pitchFamily="34" charset="-120"/>
              </a:rPr>
              <a:t>T4</a:t>
            </a:r>
            <a:endParaRPr lang="tr-TR" sz="1200" dirty="0"/>
          </a:p>
        </p:txBody>
      </p:sp>
      <p:sp>
        <p:nvSpPr>
          <p:cNvPr id="78" name="Shape 76"/>
          <p:cNvSpPr/>
          <p:nvPr/>
        </p:nvSpPr>
        <p:spPr>
          <a:xfrm>
            <a:off x="3511296" y="4023360"/>
            <a:ext cx="566928" cy="548640"/>
          </a:xfrm>
          <a:prstGeom prst="rect">
            <a:avLst/>
          </a:prstGeom>
          <a:solidFill>
            <a:srgbClr val="36454F"/>
          </a:solidFill>
          <a:ln w="19050">
            <a:solidFill>
              <a:srgbClr val="FFFFFF"/>
            </a:solidFill>
            <a:prstDash val="solid"/>
          </a:ln>
        </p:spPr>
      </p:sp>
      <p:sp>
        <p:nvSpPr>
          <p:cNvPr id="79" name="Text 77"/>
          <p:cNvSpPr txBox="1"/>
          <p:nvPr/>
        </p:nvSpPr>
        <p:spPr>
          <a:xfrm>
            <a:off x="3511296" y="4023360"/>
            <a:ext cx="566928" cy="548640"/>
          </a:xfrm>
          <a:prstGeom prst="rect">
            <a:avLst/>
          </a:prstGeom>
          <a:noFill/>
          <a:ln/>
        </p:spPr>
        <p:txBody>
          <a:bodyPr wrap="square" lIns="0" tIns="0" rIns="0" bIns="0" rtlCol="0" anchor="ctr"/>
          <a:lstStyle/>
          <a:p>
            <a:pPr algn="ctr" indent="0" marL="0">
              <a:buNone/>
            </a:pPr>
            <a:r>
              <a:rPr lang="tr-TR" sz="1200" b="1" dirty="0">
                <a:solidFill>
                  <a:srgbClr val="FFFFFF"/>
                </a:solidFill>
                <a:latin typeface="Calibri" pitchFamily="34" charset="0"/>
                <a:ea typeface="Calibri" pitchFamily="34" charset="-122"/>
                <a:cs typeface="Calibri" pitchFamily="34" charset="-120"/>
              </a:rPr>
              <a:t>T2</a:t>
            </a:r>
            <a:endParaRPr lang="tr-TR" sz="1200" dirty="0"/>
          </a:p>
        </p:txBody>
      </p:sp>
      <p:sp>
        <p:nvSpPr>
          <p:cNvPr id="80" name="Shape 78"/>
          <p:cNvSpPr/>
          <p:nvPr/>
        </p:nvSpPr>
        <p:spPr>
          <a:xfrm>
            <a:off x="4078224" y="4023360"/>
            <a:ext cx="566928" cy="548640"/>
          </a:xfrm>
          <a:prstGeom prst="rect">
            <a:avLst/>
          </a:prstGeom>
          <a:solidFill>
            <a:srgbClr val="D7E9E6"/>
          </a:solidFill>
          <a:ln w="19050">
            <a:solidFill>
              <a:srgbClr val="FFFFFF"/>
            </a:solidFill>
            <a:prstDash val="solid"/>
          </a:ln>
        </p:spPr>
      </p:sp>
      <p:sp>
        <p:nvSpPr>
          <p:cNvPr id="81" name="Text 79"/>
          <p:cNvSpPr txBox="1"/>
          <p:nvPr/>
        </p:nvSpPr>
        <p:spPr>
          <a:xfrm>
            <a:off x="4078224" y="4023360"/>
            <a:ext cx="566928" cy="548640"/>
          </a:xfrm>
          <a:prstGeom prst="rect">
            <a:avLst/>
          </a:prstGeom>
          <a:noFill/>
          <a:ln/>
        </p:spPr>
        <p:txBody>
          <a:bodyPr wrap="square" lIns="0" tIns="0" rIns="0" bIns="0" rtlCol="0" anchor="ctr"/>
          <a:lstStyle/>
          <a:p>
            <a:pPr algn="ctr" indent="0" marL="0">
              <a:buNone/>
            </a:pPr>
            <a:r>
              <a:rPr lang="tr-TR" sz="1200" b="1" dirty="0">
                <a:solidFill>
                  <a:srgbClr val="36454F"/>
                </a:solidFill>
                <a:latin typeface="Calibri" pitchFamily="34" charset="0"/>
                <a:ea typeface="Calibri" pitchFamily="34" charset="-122"/>
                <a:cs typeface="Calibri" pitchFamily="34" charset="-120"/>
              </a:rPr>
              <a:t>T4</a:t>
            </a:r>
            <a:endParaRPr lang="tr-TR" sz="1200" dirty="0"/>
          </a:p>
        </p:txBody>
      </p:sp>
      <p:sp>
        <p:nvSpPr>
          <p:cNvPr id="82" name="Shape 80"/>
          <p:cNvSpPr/>
          <p:nvPr/>
        </p:nvSpPr>
        <p:spPr>
          <a:xfrm>
            <a:off x="4645152" y="4023360"/>
            <a:ext cx="566928" cy="548640"/>
          </a:xfrm>
          <a:prstGeom prst="rect">
            <a:avLst/>
          </a:prstGeom>
          <a:solidFill>
            <a:srgbClr val="36454F"/>
          </a:solidFill>
          <a:ln w="19050">
            <a:solidFill>
              <a:srgbClr val="FFFFFF"/>
            </a:solidFill>
            <a:prstDash val="solid"/>
          </a:ln>
        </p:spPr>
      </p:sp>
      <p:sp>
        <p:nvSpPr>
          <p:cNvPr id="83" name="Text 81"/>
          <p:cNvSpPr txBox="1"/>
          <p:nvPr/>
        </p:nvSpPr>
        <p:spPr>
          <a:xfrm>
            <a:off x="4645152" y="4023360"/>
            <a:ext cx="566928" cy="548640"/>
          </a:xfrm>
          <a:prstGeom prst="rect">
            <a:avLst/>
          </a:prstGeom>
          <a:noFill/>
          <a:ln/>
        </p:spPr>
        <p:txBody>
          <a:bodyPr wrap="square" lIns="0" tIns="0" rIns="0" bIns="0" rtlCol="0" anchor="ctr"/>
          <a:lstStyle/>
          <a:p>
            <a:pPr algn="ctr" indent="0" marL="0">
              <a:buNone/>
            </a:pPr>
            <a:r>
              <a:rPr lang="tr-TR" sz="1200" b="1" dirty="0">
                <a:solidFill>
                  <a:srgbClr val="FFFFFF"/>
                </a:solidFill>
                <a:latin typeface="Calibri" pitchFamily="34" charset="0"/>
                <a:ea typeface="Calibri" pitchFamily="34" charset="-122"/>
                <a:cs typeface="Calibri" pitchFamily="34" charset="-120"/>
              </a:rPr>
              <a:t>T2</a:t>
            </a:r>
            <a:endParaRPr lang="tr-TR" sz="1200" dirty="0"/>
          </a:p>
        </p:txBody>
      </p:sp>
      <p:sp>
        <p:nvSpPr>
          <p:cNvPr id="84" name="Shape 82"/>
          <p:cNvSpPr/>
          <p:nvPr/>
        </p:nvSpPr>
        <p:spPr>
          <a:xfrm>
            <a:off x="5212080" y="4023360"/>
            <a:ext cx="566928" cy="548640"/>
          </a:xfrm>
          <a:prstGeom prst="rect">
            <a:avLst/>
          </a:prstGeom>
          <a:solidFill>
            <a:srgbClr val="D7E9E6"/>
          </a:solidFill>
          <a:ln w="19050">
            <a:solidFill>
              <a:srgbClr val="FFFFFF"/>
            </a:solidFill>
            <a:prstDash val="solid"/>
          </a:ln>
        </p:spPr>
      </p:sp>
      <p:sp>
        <p:nvSpPr>
          <p:cNvPr id="85" name="Text 83"/>
          <p:cNvSpPr txBox="1"/>
          <p:nvPr/>
        </p:nvSpPr>
        <p:spPr>
          <a:xfrm>
            <a:off x="5212080" y="4023360"/>
            <a:ext cx="566928" cy="548640"/>
          </a:xfrm>
          <a:prstGeom prst="rect">
            <a:avLst/>
          </a:prstGeom>
          <a:noFill/>
          <a:ln/>
        </p:spPr>
        <p:txBody>
          <a:bodyPr wrap="square" lIns="0" tIns="0" rIns="0" bIns="0" rtlCol="0" anchor="ctr"/>
          <a:lstStyle/>
          <a:p>
            <a:pPr algn="ctr" indent="0" marL="0">
              <a:buNone/>
            </a:pPr>
            <a:r>
              <a:rPr lang="tr-TR" sz="1200" b="1" dirty="0">
                <a:solidFill>
                  <a:srgbClr val="36454F"/>
                </a:solidFill>
                <a:latin typeface="Calibri" pitchFamily="34" charset="0"/>
                <a:ea typeface="Calibri" pitchFamily="34" charset="-122"/>
                <a:cs typeface="Calibri" pitchFamily="34" charset="-120"/>
              </a:rPr>
              <a:t>T4</a:t>
            </a:r>
            <a:endParaRPr lang="tr-TR" sz="1200" dirty="0"/>
          </a:p>
        </p:txBody>
      </p:sp>
      <p:sp>
        <p:nvSpPr>
          <p:cNvPr id="86" name="Shape 84"/>
          <p:cNvSpPr/>
          <p:nvPr/>
        </p:nvSpPr>
        <p:spPr>
          <a:xfrm>
            <a:off x="5779008" y="4023360"/>
            <a:ext cx="566928" cy="548640"/>
          </a:xfrm>
          <a:prstGeom prst="rect">
            <a:avLst/>
          </a:prstGeom>
          <a:solidFill>
            <a:srgbClr val="36454F"/>
          </a:solidFill>
          <a:ln w="19050">
            <a:solidFill>
              <a:srgbClr val="FFFFFF"/>
            </a:solidFill>
            <a:prstDash val="solid"/>
          </a:ln>
        </p:spPr>
      </p:sp>
      <p:sp>
        <p:nvSpPr>
          <p:cNvPr id="87" name="Text 85"/>
          <p:cNvSpPr txBox="1"/>
          <p:nvPr/>
        </p:nvSpPr>
        <p:spPr>
          <a:xfrm>
            <a:off x="5779008" y="4023360"/>
            <a:ext cx="566928" cy="548640"/>
          </a:xfrm>
          <a:prstGeom prst="rect">
            <a:avLst/>
          </a:prstGeom>
          <a:noFill/>
          <a:ln/>
        </p:spPr>
        <p:txBody>
          <a:bodyPr wrap="square" lIns="0" tIns="0" rIns="0" bIns="0" rtlCol="0" anchor="ctr"/>
          <a:lstStyle/>
          <a:p>
            <a:pPr algn="ctr" indent="0" marL="0">
              <a:buNone/>
            </a:pPr>
            <a:r>
              <a:rPr lang="tr-TR" sz="1200" b="1" dirty="0">
                <a:solidFill>
                  <a:srgbClr val="FFFFFF"/>
                </a:solidFill>
                <a:latin typeface="Calibri" pitchFamily="34" charset="0"/>
                <a:ea typeface="Calibri" pitchFamily="34" charset="-122"/>
                <a:cs typeface="Calibri" pitchFamily="34" charset="-120"/>
              </a:rPr>
              <a:t>T2</a:t>
            </a:r>
            <a:endParaRPr lang="tr-TR" sz="1200" dirty="0"/>
          </a:p>
        </p:txBody>
      </p:sp>
      <p:sp>
        <p:nvSpPr>
          <p:cNvPr id="88" name="Shape 86"/>
          <p:cNvSpPr/>
          <p:nvPr/>
        </p:nvSpPr>
        <p:spPr>
          <a:xfrm>
            <a:off x="6345936" y="4023360"/>
            <a:ext cx="566928" cy="548640"/>
          </a:xfrm>
          <a:prstGeom prst="rect">
            <a:avLst/>
          </a:prstGeom>
          <a:solidFill>
            <a:srgbClr val="D7E9E6"/>
          </a:solidFill>
          <a:ln w="19050">
            <a:solidFill>
              <a:srgbClr val="FFFFFF"/>
            </a:solidFill>
            <a:prstDash val="solid"/>
          </a:ln>
        </p:spPr>
      </p:sp>
      <p:sp>
        <p:nvSpPr>
          <p:cNvPr id="89" name="Text 87"/>
          <p:cNvSpPr txBox="1"/>
          <p:nvPr/>
        </p:nvSpPr>
        <p:spPr>
          <a:xfrm>
            <a:off x="6345936" y="4023360"/>
            <a:ext cx="566928" cy="548640"/>
          </a:xfrm>
          <a:prstGeom prst="rect">
            <a:avLst/>
          </a:prstGeom>
          <a:noFill/>
          <a:ln/>
        </p:spPr>
        <p:txBody>
          <a:bodyPr wrap="square" lIns="0" tIns="0" rIns="0" bIns="0" rtlCol="0" anchor="ctr"/>
          <a:lstStyle/>
          <a:p>
            <a:pPr algn="ctr" indent="0" marL="0">
              <a:buNone/>
            </a:pPr>
            <a:r>
              <a:rPr lang="tr-TR" sz="1200" b="1" dirty="0">
                <a:solidFill>
                  <a:srgbClr val="36454F"/>
                </a:solidFill>
                <a:latin typeface="Calibri" pitchFamily="34" charset="0"/>
                <a:ea typeface="Calibri" pitchFamily="34" charset="-122"/>
                <a:cs typeface="Calibri" pitchFamily="34" charset="-120"/>
              </a:rPr>
              <a:t>T4</a:t>
            </a:r>
            <a:endParaRPr lang="tr-TR" sz="1200" dirty="0"/>
          </a:p>
        </p:txBody>
      </p:sp>
      <p:sp>
        <p:nvSpPr>
          <p:cNvPr id="90" name="Shape 88"/>
          <p:cNvSpPr/>
          <p:nvPr/>
        </p:nvSpPr>
        <p:spPr>
          <a:xfrm>
            <a:off x="6912864" y="4023360"/>
            <a:ext cx="566928" cy="548640"/>
          </a:xfrm>
          <a:prstGeom prst="rect">
            <a:avLst/>
          </a:prstGeom>
          <a:solidFill>
            <a:srgbClr val="36454F"/>
          </a:solidFill>
          <a:ln w="19050">
            <a:solidFill>
              <a:srgbClr val="FFFFFF"/>
            </a:solidFill>
            <a:prstDash val="solid"/>
          </a:ln>
        </p:spPr>
      </p:sp>
      <p:sp>
        <p:nvSpPr>
          <p:cNvPr id="91" name="Text 89"/>
          <p:cNvSpPr txBox="1"/>
          <p:nvPr/>
        </p:nvSpPr>
        <p:spPr>
          <a:xfrm>
            <a:off x="6912864" y="4023360"/>
            <a:ext cx="566928" cy="548640"/>
          </a:xfrm>
          <a:prstGeom prst="rect">
            <a:avLst/>
          </a:prstGeom>
          <a:noFill/>
          <a:ln/>
        </p:spPr>
        <p:txBody>
          <a:bodyPr wrap="square" lIns="0" tIns="0" rIns="0" bIns="0" rtlCol="0" anchor="ctr"/>
          <a:lstStyle/>
          <a:p>
            <a:pPr algn="ctr" indent="0" marL="0">
              <a:buNone/>
            </a:pPr>
            <a:r>
              <a:rPr lang="tr-TR" sz="1200" b="1" dirty="0">
                <a:solidFill>
                  <a:srgbClr val="FFFFFF"/>
                </a:solidFill>
                <a:latin typeface="Calibri" pitchFamily="34" charset="0"/>
                <a:ea typeface="Calibri" pitchFamily="34" charset="-122"/>
                <a:cs typeface="Calibri" pitchFamily="34" charset="-120"/>
              </a:rPr>
              <a:t>T2</a:t>
            </a:r>
            <a:endParaRPr lang="tr-TR" sz="1200" dirty="0"/>
          </a:p>
        </p:txBody>
      </p:sp>
      <p:sp>
        <p:nvSpPr>
          <p:cNvPr id="92" name="Shape 90"/>
          <p:cNvSpPr/>
          <p:nvPr/>
        </p:nvSpPr>
        <p:spPr>
          <a:xfrm>
            <a:off x="7479792" y="4023360"/>
            <a:ext cx="566928" cy="548640"/>
          </a:xfrm>
          <a:prstGeom prst="rect">
            <a:avLst/>
          </a:prstGeom>
          <a:solidFill>
            <a:srgbClr val="D7E9E6"/>
          </a:solidFill>
          <a:ln w="19050">
            <a:solidFill>
              <a:srgbClr val="FFFFFF"/>
            </a:solidFill>
            <a:prstDash val="solid"/>
          </a:ln>
        </p:spPr>
      </p:sp>
      <p:sp>
        <p:nvSpPr>
          <p:cNvPr id="93" name="Text 91"/>
          <p:cNvSpPr txBox="1"/>
          <p:nvPr/>
        </p:nvSpPr>
        <p:spPr>
          <a:xfrm>
            <a:off x="7479792" y="4023360"/>
            <a:ext cx="566928" cy="548640"/>
          </a:xfrm>
          <a:prstGeom prst="rect">
            <a:avLst/>
          </a:prstGeom>
          <a:noFill/>
          <a:ln/>
        </p:spPr>
        <p:txBody>
          <a:bodyPr wrap="square" lIns="0" tIns="0" rIns="0" bIns="0" rtlCol="0" anchor="ctr"/>
          <a:lstStyle/>
          <a:p>
            <a:pPr algn="ctr" indent="0" marL="0">
              <a:buNone/>
            </a:pPr>
            <a:r>
              <a:rPr lang="tr-TR" sz="1200" b="1" dirty="0">
                <a:solidFill>
                  <a:srgbClr val="36454F"/>
                </a:solidFill>
                <a:latin typeface="Calibri" pitchFamily="34" charset="0"/>
                <a:ea typeface="Calibri" pitchFamily="34" charset="-122"/>
                <a:cs typeface="Calibri" pitchFamily="34" charset="-120"/>
              </a:rPr>
              <a:t>T4</a:t>
            </a:r>
            <a:endParaRPr lang="tr-TR" sz="1200" dirty="0"/>
          </a:p>
        </p:txBody>
      </p:sp>
      <p:sp>
        <p:nvSpPr>
          <p:cNvPr id="94" name="Shape 92"/>
          <p:cNvSpPr/>
          <p:nvPr/>
        </p:nvSpPr>
        <p:spPr>
          <a:xfrm>
            <a:off x="8046720" y="4023360"/>
            <a:ext cx="566928" cy="548640"/>
          </a:xfrm>
          <a:prstGeom prst="rect">
            <a:avLst/>
          </a:prstGeom>
          <a:solidFill>
            <a:srgbClr val="36454F"/>
          </a:solidFill>
          <a:ln w="19050">
            <a:solidFill>
              <a:srgbClr val="FFFFFF"/>
            </a:solidFill>
            <a:prstDash val="solid"/>
          </a:ln>
        </p:spPr>
      </p:sp>
      <p:sp>
        <p:nvSpPr>
          <p:cNvPr id="95" name="Text 93"/>
          <p:cNvSpPr txBox="1"/>
          <p:nvPr/>
        </p:nvSpPr>
        <p:spPr>
          <a:xfrm>
            <a:off x="8046720" y="4023360"/>
            <a:ext cx="566928" cy="548640"/>
          </a:xfrm>
          <a:prstGeom prst="rect">
            <a:avLst/>
          </a:prstGeom>
          <a:noFill/>
          <a:ln/>
        </p:spPr>
        <p:txBody>
          <a:bodyPr wrap="square" lIns="0" tIns="0" rIns="0" bIns="0" rtlCol="0" anchor="ctr"/>
          <a:lstStyle/>
          <a:p>
            <a:pPr algn="ctr" indent="0" marL="0">
              <a:buNone/>
            </a:pPr>
            <a:r>
              <a:rPr lang="tr-TR" sz="1200" b="1" dirty="0">
                <a:solidFill>
                  <a:srgbClr val="FFFFFF"/>
                </a:solidFill>
                <a:latin typeface="Calibri" pitchFamily="34" charset="0"/>
                <a:ea typeface="Calibri" pitchFamily="34" charset="-122"/>
                <a:cs typeface="Calibri" pitchFamily="34" charset="-120"/>
              </a:rPr>
              <a:t>T2</a:t>
            </a:r>
            <a:endParaRPr lang="tr-TR" sz="1200" dirty="0"/>
          </a:p>
        </p:txBody>
      </p:sp>
      <p:sp>
        <p:nvSpPr>
          <p:cNvPr id="96" name="Shape 94"/>
          <p:cNvSpPr/>
          <p:nvPr/>
        </p:nvSpPr>
        <p:spPr>
          <a:xfrm>
            <a:off x="8613648" y="4023360"/>
            <a:ext cx="566928" cy="548640"/>
          </a:xfrm>
          <a:prstGeom prst="rect">
            <a:avLst/>
          </a:prstGeom>
          <a:solidFill>
            <a:srgbClr val="D7E9E6"/>
          </a:solidFill>
          <a:ln w="19050">
            <a:solidFill>
              <a:srgbClr val="FFFFFF"/>
            </a:solidFill>
            <a:prstDash val="solid"/>
          </a:ln>
        </p:spPr>
      </p:sp>
      <p:sp>
        <p:nvSpPr>
          <p:cNvPr id="97" name="Text 95"/>
          <p:cNvSpPr txBox="1"/>
          <p:nvPr/>
        </p:nvSpPr>
        <p:spPr>
          <a:xfrm>
            <a:off x="8613648" y="4023360"/>
            <a:ext cx="566928" cy="548640"/>
          </a:xfrm>
          <a:prstGeom prst="rect">
            <a:avLst/>
          </a:prstGeom>
          <a:noFill/>
          <a:ln/>
        </p:spPr>
        <p:txBody>
          <a:bodyPr wrap="square" lIns="0" tIns="0" rIns="0" bIns="0" rtlCol="0" anchor="ctr"/>
          <a:lstStyle/>
          <a:p>
            <a:pPr algn="ctr" indent="0" marL="0">
              <a:buNone/>
            </a:pPr>
            <a:r>
              <a:rPr lang="tr-TR" sz="1200" b="1" dirty="0">
                <a:solidFill>
                  <a:srgbClr val="36454F"/>
                </a:solidFill>
                <a:latin typeface="Calibri" pitchFamily="34" charset="0"/>
                <a:ea typeface="Calibri" pitchFamily="34" charset="-122"/>
                <a:cs typeface="Calibri" pitchFamily="34" charset="-120"/>
              </a:rPr>
              <a:t>T4</a:t>
            </a:r>
            <a:endParaRPr lang="tr-TR" sz="1200" dirty="0"/>
          </a:p>
        </p:txBody>
      </p:sp>
      <p:sp>
        <p:nvSpPr>
          <p:cNvPr id="98" name="Shape 96"/>
          <p:cNvSpPr/>
          <p:nvPr/>
        </p:nvSpPr>
        <p:spPr>
          <a:xfrm>
            <a:off x="9180576" y="4023360"/>
            <a:ext cx="566928" cy="548640"/>
          </a:xfrm>
          <a:prstGeom prst="rect">
            <a:avLst/>
          </a:prstGeom>
          <a:solidFill>
            <a:srgbClr val="36454F"/>
          </a:solidFill>
          <a:ln w="19050">
            <a:solidFill>
              <a:srgbClr val="FFFFFF"/>
            </a:solidFill>
            <a:prstDash val="solid"/>
          </a:ln>
        </p:spPr>
      </p:sp>
      <p:sp>
        <p:nvSpPr>
          <p:cNvPr id="99" name="Text 97"/>
          <p:cNvSpPr txBox="1"/>
          <p:nvPr/>
        </p:nvSpPr>
        <p:spPr>
          <a:xfrm>
            <a:off x="9180576" y="4023360"/>
            <a:ext cx="566928" cy="548640"/>
          </a:xfrm>
          <a:prstGeom prst="rect">
            <a:avLst/>
          </a:prstGeom>
          <a:noFill/>
          <a:ln/>
        </p:spPr>
        <p:txBody>
          <a:bodyPr wrap="square" lIns="0" tIns="0" rIns="0" bIns="0" rtlCol="0" anchor="ctr"/>
          <a:lstStyle/>
          <a:p>
            <a:pPr algn="ctr" indent="0" marL="0">
              <a:buNone/>
            </a:pPr>
            <a:r>
              <a:rPr lang="tr-TR" sz="1200" b="1" dirty="0">
                <a:solidFill>
                  <a:srgbClr val="FFFFFF"/>
                </a:solidFill>
                <a:latin typeface="Calibri" pitchFamily="34" charset="0"/>
                <a:ea typeface="Calibri" pitchFamily="34" charset="-122"/>
                <a:cs typeface="Calibri" pitchFamily="34" charset="-120"/>
              </a:rPr>
              <a:t>T2</a:t>
            </a:r>
            <a:endParaRPr lang="tr-TR" sz="1200" dirty="0"/>
          </a:p>
        </p:txBody>
      </p:sp>
      <p:sp>
        <p:nvSpPr>
          <p:cNvPr id="100" name="Shape 98"/>
          <p:cNvSpPr/>
          <p:nvPr/>
        </p:nvSpPr>
        <p:spPr>
          <a:xfrm>
            <a:off x="9747504" y="4023360"/>
            <a:ext cx="566928" cy="548640"/>
          </a:xfrm>
          <a:prstGeom prst="rect">
            <a:avLst/>
          </a:prstGeom>
          <a:solidFill>
            <a:srgbClr val="D7E9E6"/>
          </a:solidFill>
          <a:ln w="19050">
            <a:solidFill>
              <a:srgbClr val="FFFFFF"/>
            </a:solidFill>
            <a:prstDash val="solid"/>
          </a:ln>
        </p:spPr>
      </p:sp>
      <p:sp>
        <p:nvSpPr>
          <p:cNvPr id="101" name="Text 99"/>
          <p:cNvSpPr txBox="1"/>
          <p:nvPr/>
        </p:nvSpPr>
        <p:spPr>
          <a:xfrm>
            <a:off x="9747504" y="4023360"/>
            <a:ext cx="566928" cy="548640"/>
          </a:xfrm>
          <a:prstGeom prst="rect">
            <a:avLst/>
          </a:prstGeom>
          <a:noFill/>
          <a:ln/>
        </p:spPr>
        <p:txBody>
          <a:bodyPr wrap="square" lIns="0" tIns="0" rIns="0" bIns="0" rtlCol="0" anchor="ctr"/>
          <a:lstStyle/>
          <a:p>
            <a:pPr algn="ctr" indent="0" marL="0">
              <a:buNone/>
            </a:pPr>
            <a:r>
              <a:rPr lang="tr-TR" sz="1200" b="1" dirty="0">
                <a:solidFill>
                  <a:srgbClr val="36454F"/>
                </a:solidFill>
                <a:latin typeface="Calibri" pitchFamily="34" charset="0"/>
                <a:ea typeface="Calibri" pitchFamily="34" charset="-122"/>
                <a:cs typeface="Calibri" pitchFamily="34" charset="-120"/>
              </a:rPr>
              <a:t>T4</a:t>
            </a:r>
            <a:endParaRPr lang="tr-TR" sz="1200" dirty="0"/>
          </a:p>
        </p:txBody>
      </p:sp>
      <p:sp>
        <p:nvSpPr>
          <p:cNvPr id="102" name="Shape 100"/>
          <p:cNvSpPr/>
          <p:nvPr/>
        </p:nvSpPr>
        <p:spPr>
          <a:xfrm>
            <a:off x="10314432" y="4023360"/>
            <a:ext cx="566928" cy="548640"/>
          </a:xfrm>
          <a:prstGeom prst="rect">
            <a:avLst/>
          </a:prstGeom>
          <a:solidFill>
            <a:srgbClr val="36454F"/>
          </a:solidFill>
          <a:ln w="19050">
            <a:solidFill>
              <a:srgbClr val="FFFFFF"/>
            </a:solidFill>
            <a:prstDash val="solid"/>
          </a:ln>
        </p:spPr>
      </p:sp>
      <p:sp>
        <p:nvSpPr>
          <p:cNvPr id="103" name="Text 101"/>
          <p:cNvSpPr txBox="1"/>
          <p:nvPr/>
        </p:nvSpPr>
        <p:spPr>
          <a:xfrm>
            <a:off x="10314432" y="4023360"/>
            <a:ext cx="566928" cy="548640"/>
          </a:xfrm>
          <a:prstGeom prst="rect">
            <a:avLst/>
          </a:prstGeom>
          <a:noFill/>
          <a:ln/>
        </p:spPr>
        <p:txBody>
          <a:bodyPr wrap="square" lIns="0" tIns="0" rIns="0" bIns="0" rtlCol="0" anchor="ctr"/>
          <a:lstStyle/>
          <a:p>
            <a:pPr algn="ctr" indent="0" marL="0">
              <a:buNone/>
            </a:pPr>
            <a:r>
              <a:rPr lang="tr-TR" sz="1200" b="1" dirty="0">
                <a:solidFill>
                  <a:srgbClr val="FFFFFF"/>
                </a:solidFill>
                <a:latin typeface="Calibri" pitchFamily="34" charset="0"/>
                <a:ea typeface="Calibri" pitchFamily="34" charset="-122"/>
                <a:cs typeface="Calibri" pitchFamily="34" charset="-120"/>
              </a:rPr>
              <a:t>T2</a:t>
            </a:r>
            <a:endParaRPr lang="tr-TR" sz="1200" dirty="0"/>
          </a:p>
        </p:txBody>
      </p:sp>
      <p:sp>
        <p:nvSpPr>
          <p:cNvPr id="104" name="Shape 102"/>
          <p:cNvSpPr/>
          <p:nvPr/>
        </p:nvSpPr>
        <p:spPr>
          <a:xfrm>
            <a:off x="10881360" y="4023360"/>
            <a:ext cx="566928" cy="548640"/>
          </a:xfrm>
          <a:prstGeom prst="rect">
            <a:avLst/>
          </a:prstGeom>
          <a:solidFill>
            <a:srgbClr val="D7E9E6"/>
          </a:solidFill>
          <a:ln w="19050">
            <a:solidFill>
              <a:srgbClr val="FFFFFF"/>
            </a:solidFill>
            <a:prstDash val="solid"/>
          </a:ln>
        </p:spPr>
      </p:sp>
      <p:sp>
        <p:nvSpPr>
          <p:cNvPr id="105" name="Text 103"/>
          <p:cNvSpPr txBox="1"/>
          <p:nvPr/>
        </p:nvSpPr>
        <p:spPr>
          <a:xfrm>
            <a:off x="10881360" y="4023360"/>
            <a:ext cx="566928" cy="548640"/>
          </a:xfrm>
          <a:prstGeom prst="rect">
            <a:avLst/>
          </a:prstGeom>
          <a:noFill/>
          <a:ln/>
        </p:spPr>
        <p:txBody>
          <a:bodyPr wrap="square" lIns="0" tIns="0" rIns="0" bIns="0" rtlCol="0" anchor="ctr"/>
          <a:lstStyle/>
          <a:p>
            <a:pPr algn="ctr" indent="0" marL="0">
              <a:buNone/>
            </a:pPr>
            <a:r>
              <a:rPr lang="tr-TR" sz="1200" b="1" dirty="0">
                <a:solidFill>
                  <a:srgbClr val="36454F"/>
                </a:solidFill>
                <a:latin typeface="Calibri" pitchFamily="34" charset="0"/>
                <a:ea typeface="Calibri" pitchFamily="34" charset="-122"/>
                <a:cs typeface="Calibri" pitchFamily="34" charset="-120"/>
              </a:rPr>
              <a:t>T4</a:t>
            </a:r>
            <a:endParaRPr lang="tr-TR" sz="1200" dirty="0"/>
          </a:p>
        </p:txBody>
      </p:sp>
      <p:sp>
        <p:nvSpPr>
          <p:cNvPr id="106" name="Shape 104"/>
          <p:cNvSpPr/>
          <p:nvPr/>
        </p:nvSpPr>
        <p:spPr>
          <a:xfrm>
            <a:off x="2377440" y="4754880"/>
            <a:ext cx="9070848" cy="91"/>
          </a:xfrm>
          <a:prstGeom prst="line">
            <a:avLst/>
          </a:prstGeom>
          <a:noFill/>
          <a:ln w="19050">
            <a:solidFill>
              <a:srgbClr val="50808E"/>
            </a:solidFill>
            <a:prstDash val="solid"/>
            <a:tailEnd type="triangle"/>
          </a:ln>
        </p:spPr>
      </p:sp>
      <p:sp>
        <p:nvSpPr>
          <p:cNvPr id="107" name="Text 105"/>
          <p:cNvSpPr txBox="1"/>
          <p:nvPr/>
        </p:nvSpPr>
        <p:spPr>
          <a:xfrm>
            <a:off x="10625328" y="4800600"/>
            <a:ext cx="822960" cy="274320"/>
          </a:xfrm>
          <a:prstGeom prst="rect">
            <a:avLst/>
          </a:prstGeom>
          <a:noFill/>
          <a:ln/>
        </p:spPr>
        <p:txBody>
          <a:bodyPr wrap="square" lIns="0" tIns="0" rIns="0" bIns="0" rtlCol="0" anchor="t"/>
          <a:lstStyle/>
          <a:p>
            <a:pPr algn="r" indent="0" marL="0">
              <a:buNone/>
            </a:pPr>
            <a:r>
              <a:rPr lang="tr-TR" sz="1100" i="1" dirty="0">
                <a:solidFill>
                  <a:srgbClr val="6B7679"/>
                </a:solidFill>
                <a:latin typeface="Calibri" pitchFamily="34" charset="0"/>
                <a:ea typeface="Calibri" pitchFamily="34" charset="-122"/>
                <a:cs typeface="Calibri" pitchFamily="34" charset="-120"/>
              </a:rPr>
              <a:t>zaman</a:t>
            </a:r>
            <a:endParaRPr lang="tr-TR" sz="1100" dirty="0"/>
          </a:p>
        </p:txBody>
      </p:sp>
      <p:sp>
        <p:nvSpPr>
          <p:cNvPr id="108" name="Shape 106"/>
          <p:cNvSpPr/>
          <p:nvPr/>
        </p:nvSpPr>
        <p:spPr>
          <a:xfrm>
            <a:off x="548640" y="5166360"/>
            <a:ext cx="5440680" cy="1097280"/>
          </a:xfrm>
          <a:prstGeom prst="roundRect">
            <a:avLst>
              <a:gd name="adj" fmla="val 5000"/>
            </a:avLst>
          </a:prstGeom>
          <a:solidFill>
            <a:srgbClr val="F2F2F2"/>
          </a:solidFill>
          <a:ln/>
          <a:effectLst>
            <a:outerShdw sx="100000" sy="100000" kx="0" ky="0" algn="bl" rotWithShape="0" blurRad="101600" dist="25400" dir="5400000">
              <a:srgbClr val="000000">
                <a:alpha val="12000"/>
              </a:srgbClr>
            </a:outerShdw>
          </a:effectLst>
        </p:spPr>
      </p:sp>
      <p:sp>
        <p:nvSpPr>
          <p:cNvPr id="109" name="Text 107"/>
          <p:cNvSpPr txBox="1"/>
          <p:nvPr/>
        </p:nvSpPr>
        <p:spPr>
          <a:xfrm>
            <a:off x="777240" y="5349240"/>
            <a:ext cx="4983480" cy="384048"/>
          </a:xfrm>
          <a:prstGeom prst="rect">
            <a:avLst/>
          </a:prstGeom>
          <a:noFill/>
          <a:ln/>
        </p:spPr>
        <p:txBody>
          <a:bodyPr wrap="square" lIns="0" tIns="0" rIns="0" bIns="0" rtlCol="0" anchor="ctr"/>
          <a:lstStyle/>
          <a:p>
            <a:pPr indent="0" marL="0">
              <a:buNone/>
            </a:pPr>
            <a:r>
              <a:rPr lang="tr-TR" sz="1400" b="1" dirty="0">
                <a:solidFill>
                  <a:srgbClr val="028090"/>
                </a:solidFill>
                <a:latin typeface="Cambria" pitchFamily="34" charset="0"/>
                <a:ea typeface="Cambria" pitchFamily="34" charset="-122"/>
                <a:cs typeface="Cambria" pitchFamily="34" charset="-120"/>
              </a:rPr>
              <a:t>Eşzamanlılık (concurrency)</a:t>
            </a:r>
            <a:endParaRPr lang="tr-TR" sz="1400" dirty="0"/>
          </a:p>
        </p:txBody>
      </p:sp>
      <p:sp>
        <p:nvSpPr>
          <p:cNvPr id="110" name="Text 108"/>
          <p:cNvSpPr txBox="1"/>
          <p:nvPr/>
        </p:nvSpPr>
        <p:spPr>
          <a:xfrm>
            <a:off x="777240" y="5806440"/>
            <a:ext cx="4983480" cy="320040"/>
          </a:xfrm>
          <a:prstGeom prst="rect">
            <a:avLst/>
          </a:prstGeom>
          <a:noFill/>
          <a:ln/>
        </p:spPr>
        <p:txBody>
          <a:bodyPr wrap="square" lIns="0" tIns="0" rIns="0" bIns="0" rtlCol="0" anchor="t"/>
          <a:lstStyle/>
          <a:p>
            <a:pPr indent="0" marL="0">
              <a:spcAft>
                <a:spcPts val="400"/>
              </a:spcAft>
              <a:buNone/>
            </a:pPr>
            <a:r>
              <a:rPr lang="tr-TR" sz="1500" dirty="0">
                <a:solidFill>
                  <a:srgbClr val="3A464C"/>
                </a:solidFill>
                <a:latin typeface="Calibri" pitchFamily="34" charset="0"/>
                <a:ea typeface="Calibri" pitchFamily="34" charset="-122"/>
                <a:cs typeface="Calibri" pitchFamily="34" charset="-120"/>
              </a:rPr>
              <a:t>Görevler sırayla ilerler — TEK çekirdekte bile.</a:t>
            </a:r>
            <a:endParaRPr lang="tr-TR" sz="1500" dirty="0"/>
          </a:p>
        </p:txBody>
      </p:sp>
      <p:sp>
        <p:nvSpPr>
          <p:cNvPr id="111" name="Shape 109"/>
          <p:cNvSpPr/>
          <p:nvPr/>
        </p:nvSpPr>
        <p:spPr>
          <a:xfrm>
            <a:off x="6217920" y="5166360"/>
            <a:ext cx="5440680" cy="1097280"/>
          </a:xfrm>
          <a:prstGeom prst="roundRect">
            <a:avLst>
              <a:gd name="adj" fmla="val 5000"/>
            </a:avLst>
          </a:prstGeom>
          <a:solidFill>
            <a:srgbClr val="F2F2F2"/>
          </a:solidFill>
          <a:ln/>
          <a:effectLst>
            <a:outerShdw sx="100000" sy="100000" kx="0" ky="0" algn="bl" rotWithShape="0" blurRad="101600" dist="25400" dir="5400000">
              <a:srgbClr val="000000">
                <a:alpha val="12000"/>
              </a:srgbClr>
            </a:outerShdw>
          </a:effectLst>
        </p:spPr>
      </p:sp>
      <p:sp>
        <p:nvSpPr>
          <p:cNvPr id="112" name="Text 110"/>
          <p:cNvSpPr txBox="1"/>
          <p:nvPr/>
        </p:nvSpPr>
        <p:spPr>
          <a:xfrm>
            <a:off x="6446520" y="5349240"/>
            <a:ext cx="4983480" cy="384048"/>
          </a:xfrm>
          <a:prstGeom prst="rect">
            <a:avLst/>
          </a:prstGeom>
          <a:noFill/>
          <a:ln/>
        </p:spPr>
        <p:txBody>
          <a:bodyPr wrap="square" lIns="0" tIns="0" rIns="0" bIns="0" rtlCol="0" anchor="ctr"/>
          <a:lstStyle/>
          <a:p>
            <a:pPr indent="0" marL="0">
              <a:buNone/>
            </a:pPr>
            <a:r>
              <a:rPr lang="tr-TR" sz="1400" b="1" dirty="0">
                <a:solidFill>
                  <a:srgbClr val="028090"/>
                </a:solidFill>
                <a:latin typeface="Cambria" pitchFamily="34" charset="0"/>
                <a:ea typeface="Cambria" pitchFamily="34" charset="-122"/>
                <a:cs typeface="Cambria" pitchFamily="34" charset="-120"/>
              </a:rPr>
              <a:t>Paralellik (parallelism)</a:t>
            </a:r>
            <a:endParaRPr lang="tr-TR" sz="1400" dirty="0"/>
          </a:p>
        </p:txBody>
      </p:sp>
      <p:sp>
        <p:nvSpPr>
          <p:cNvPr id="113" name="Text 111"/>
          <p:cNvSpPr txBox="1"/>
          <p:nvPr/>
        </p:nvSpPr>
        <p:spPr>
          <a:xfrm>
            <a:off x="6446520" y="5806440"/>
            <a:ext cx="4983480" cy="320040"/>
          </a:xfrm>
          <a:prstGeom prst="rect">
            <a:avLst/>
          </a:prstGeom>
          <a:noFill/>
          <a:ln/>
        </p:spPr>
        <p:txBody>
          <a:bodyPr wrap="square" lIns="0" tIns="0" rIns="0" bIns="0" rtlCol="0" anchor="t"/>
          <a:lstStyle/>
          <a:p>
            <a:pPr indent="0" marL="0">
              <a:spcAft>
                <a:spcPts val="400"/>
              </a:spcAft>
              <a:buNone/>
            </a:pPr>
            <a:r>
              <a:rPr lang="tr-TR" sz="1500" dirty="0">
                <a:solidFill>
                  <a:srgbClr val="3A464C"/>
                </a:solidFill>
                <a:latin typeface="Calibri" pitchFamily="34" charset="0"/>
                <a:ea typeface="Calibri" pitchFamily="34" charset="-122"/>
                <a:cs typeface="Calibri" pitchFamily="34" charset="-120"/>
              </a:rPr>
              <a:t>Görevler AYNI anda yürür — en az 2 çekirdek gerekir.</a:t>
            </a:r>
            <a:endParaRPr lang="tr-TR"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ÇOK ÇEKİRDEK</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Çok Çekirdek İçin Programlama: Beş Zorluk</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4  ·  11</a:t>
            </a:r>
            <a:endParaRPr lang="tr-TR" sz="900" dirty="0"/>
          </a:p>
        </p:txBody>
      </p:sp>
      <p:sp>
        <p:nvSpPr>
          <p:cNvPr id="6" name="Shape 4"/>
          <p:cNvSpPr/>
          <p:nvPr/>
        </p:nvSpPr>
        <p:spPr>
          <a:xfrm>
            <a:off x="548640" y="1508760"/>
            <a:ext cx="2039112" cy="3749040"/>
          </a:xfrm>
          <a:prstGeom prst="roundRect">
            <a:avLst>
              <a:gd name="adj" fmla="val 2691"/>
            </a:avLst>
          </a:prstGeom>
          <a:solidFill>
            <a:srgbClr val="F2F2F2"/>
          </a:solidFill>
          <a:ln/>
          <a:effectLst>
            <a:outerShdw sx="100000" sy="100000" kx="0" ky="0" algn="bl" rotWithShape="0" blurRad="101600" dist="25400" dir="5400000">
              <a:srgbClr val="000000">
                <a:alpha val="12000"/>
              </a:srgbClr>
            </a:outerShdw>
          </a:effectLst>
        </p:spPr>
      </p:sp>
      <p:sp>
        <p:nvSpPr>
          <p:cNvPr id="7" name="Text 5"/>
          <p:cNvSpPr txBox="1"/>
          <p:nvPr/>
        </p:nvSpPr>
        <p:spPr>
          <a:xfrm>
            <a:off x="777240" y="1691640"/>
            <a:ext cx="1581912"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Görev bulma</a:t>
            </a:r>
            <a:endParaRPr lang="tr-TR" sz="1600" dirty="0"/>
          </a:p>
        </p:txBody>
      </p:sp>
      <p:sp>
        <p:nvSpPr>
          <p:cNvPr id="8" name="Text 6"/>
          <p:cNvSpPr txBox="1"/>
          <p:nvPr/>
        </p:nvSpPr>
        <p:spPr>
          <a:xfrm>
            <a:off x="777240" y="2148840"/>
            <a:ext cx="1581912" cy="2971800"/>
          </a:xfrm>
          <a:prstGeom prst="rect">
            <a:avLst/>
          </a:prstGeom>
          <a:noFill/>
          <a:ln/>
        </p:spPr>
        <p:txBody>
          <a:bodyPr wrap="square" lIns="0" tIns="0" rIns="0" bIns="0" rtlCol="0" anchor="t"/>
          <a:lstStyle/>
          <a:p>
            <a:pPr indent="0" marL="0">
              <a:spcAft>
                <a:spcPts val="400"/>
              </a:spcAft>
              <a:buNone/>
            </a:pPr>
            <a:r>
              <a:rPr lang="tr-TR" sz="1500" dirty="0">
                <a:solidFill>
                  <a:srgbClr val="3A464C"/>
                </a:solidFill>
                <a:latin typeface="Calibri" pitchFamily="34" charset="0"/>
                <a:ea typeface="Calibri" pitchFamily="34" charset="-122"/>
                <a:cs typeface="Calibri" pitchFamily="34" charset="-120"/>
              </a:rPr>
              <a:t>İşin bağımsız çalışabilecek parçalarını belirlemek.</a:t>
            </a:r>
            <a:endParaRPr lang="tr-TR" sz="1500" dirty="0"/>
          </a:p>
        </p:txBody>
      </p:sp>
      <p:sp>
        <p:nvSpPr>
          <p:cNvPr id="9" name="Shape 7"/>
          <p:cNvSpPr/>
          <p:nvPr/>
        </p:nvSpPr>
        <p:spPr>
          <a:xfrm>
            <a:off x="2816352" y="1508760"/>
            <a:ext cx="2039112" cy="3749040"/>
          </a:xfrm>
          <a:prstGeom prst="roundRect">
            <a:avLst>
              <a:gd name="adj" fmla="val 2691"/>
            </a:avLst>
          </a:prstGeom>
          <a:solidFill>
            <a:srgbClr val="F2F2F2"/>
          </a:solidFill>
          <a:ln/>
          <a:effectLst>
            <a:outerShdw sx="100000" sy="100000" kx="0" ky="0" algn="bl" rotWithShape="0" blurRad="101600" dist="25400" dir="5400000">
              <a:srgbClr val="000000">
                <a:alpha val="12000"/>
              </a:srgbClr>
            </a:outerShdw>
          </a:effectLst>
        </p:spPr>
      </p:sp>
      <p:sp>
        <p:nvSpPr>
          <p:cNvPr id="10" name="Text 8"/>
          <p:cNvSpPr txBox="1"/>
          <p:nvPr/>
        </p:nvSpPr>
        <p:spPr>
          <a:xfrm>
            <a:off x="3044952" y="1691640"/>
            <a:ext cx="1581912"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Denge</a:t>
            </a:r>
            <a:endParaRPr lang="tr-TR" sz="1600" dirty="0"/>
          </a:p>
        </p:txBody>
      </p:sp>
      <p:sp>
        <p:nvSpPr>
          <p:cNvPr id="11" name="Text 9"/>
          <p:cNvSpPr txBox="1"/>
          <p:nvPr/>
        </p:nvSpPr>
        <p:spPr>
          <a:xfrm>
            <a:off x="3044952" y="2148840"/>
            <a:ext cx="1581912" cy="2971800"/>
          </a:xfrm>
          <a:prstGeom prst="rect">
            <a:avLst/>
          </a:prstGeom>
          <a:noFill/>
          <a:ln/>
        </p:spPr>
        <p:txBody>
          <a:bodyPr wrap="square" lIns="0" tIns="0" rIns="0" bIns="0" rtlCol="0" anchor="t"/>
          <a:lstStyle/>
          <a:p>
            <a:pPr indent="0" marL="0">
              <a:spcAft>
                <a:spcPts val="400"/>
              </a:spcAft>
              <a:buNone/>
            </a:pPr>
            <a:r>
              <a:rPr lang="tr-TR" sz="1500" dirty="0">
                <a:solidFill>
                  <a:srgbClr val="3A464C"/>
                </a:solidFill>
                <a:latin typeface="Calibri" pitchFamily="34" charset="0"/>
                <a:ea typeface="Calibri" pitchFamily="34" charset="-122"/>
                <a:cs typeface="Calibri" pitchFamily="34" charset="-120"/>
              </a:rPr>
              <a:t>Her çekirdeğe benzer miktarda iş vermek; yoksa bazıları boşta kalır.</a:t>
            </a:r>
            <a:endParaRPr lang="tr-TR" sz="1500" dirty="0"/>
          </a:p>
        </p:txBody>
      </p:sp>
      <p:sp>
        <p:nvSpPr>
          <p:cNvPr id="12" name="Shape 10"/>
          <p:cNvSpPr/>
          <p:nvPr/>
        </p:nvSpPr>
        <p:spPr>
          <a:xfrm>
            <a:off x="5084064" y="1508760"/>
            <a:ext cx="2039112" cy="3749040"/>
          </a:xfrm>
          <a:prstGeom prst="roundRect">
            <a:avLst>
              <a:gd name="adj" fmla="val 2691"/>
            </a:avLst>
          </a:prstGeom>
          <a:solidFill>
            <a:srgbClr val="F2F2F2"/>
          </a:solidFill>
          <a:ln/>
          <a:effectLst>
            <a:outerShdw sx="100000" sy="100000" kx="0" ky="0" algn="bl" rotWithShape="0" blurRad="101600" dist="25400" dir="5400000">
              <a:srgbClr val="000000">
                <a:alpha val="12000"/>
              </a:srgbClr>
            </a:outerShdw>
          </a:effectLst>
        </p:spPr>
      </p:sp>
      <p:sp>
        <p:nvSpPr>
          <p:cNvPr id="13" name="Text 11"/>
          <p:cNvSpPr txBox="1"/>
          <p:nvPr/>
        </p:nvSpPr>
        <p:spPr>
          <a:xfrm>
            <a:off x="5312664" y="1691640"/>
            <a:ext cx="1581912"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Veriyi bölmek</a:t>
            </a:r>
            <a:endParaRPr lang="tr-TR" sz="1600" dirty="0"/>
          </a:p>
        </p:txBody>
      </p:sp>
      <p:sp>
        <p:nvSpPr>
          <p:cNvPr id="14" name="Text 12"/>
          <p:cNvSpPr txBox="1"/>
          <p:nvPr/>
        </p:nvSpPr>
        <p:spPr>
          <a:xfrm>
            <a:off x="5312664" y="2148840"/>
            <a:ext cx="1581912" cy="2971800"/>
          </a:xfrm>
          <a:prstGeom prst="rect">
            <a:avLst/>
          </a:prstGeom>
          <a:noFill/>
          <a:ln/>
        </p:spPr>
        <p:txBody>
          <a:bodyPr wrap="square" lIns="0" tIns="0" rIns="0" bIns="0" rtlCol="0" anchor="t"/>
          <a:lstStyle/>
          <a:p>
            <a:pPr indent="0" marL="0">
              <a:spcAft>
                <a:spcPts val="400"/>
              </a:spcAft>
              <a:buNone/>
            </a:pPr>
            <a:r>
              <a:rPr lang="tr-TR" sz="1500" dirty="0">
                <a:solidFill>
                  <a:srgbClr val="3A464C"/>
                </a:solidFill>
                <a:latin typeface="Calibri" pitchFamily="34" charset="0"/>
                <a:ea typeface="Calibri" pitchFamily="34" charset="-122"/>
                <a:cs typeface="Calibri" pitchFamily="34" charset="-120"/>
              </a:rPr>
              <a:t>Veriyi, her iş parçacığı kendi parçasında çalışacak biçimde ayırmak.</a:t>
            </a:r>
            <a:endParaRPr lang="tr-TR" sz="1500" dirty="0"/>
          </a:p>
        </p:txBody>
      </p:sp>
      <p:sp>
        <p:nvSpPr>
          <p:cNvPr id="15" name="Shape 13"/>
          <p:cNvSpPr/>
          <p:nvPr/>
        </p:nvSpPr>
        <p:spPr>
          <a:xfrm>
            <a:off x="7351776" y="1508760"/>
            <a:ext cx="2039112" cy="3749040"/>
          </a:xfrm>
          <a:prstGeom prst="roundRect">
            <a:avLst>
              <a:gd name="adj" fmla="val 2691"/>
            </a:avLst>
          </a:prstGeom>
          <a:solidFill>
            <a:srgbClr val="F2F2F2"/>
          </a:solidFill>
          <a:ln/>
          <a:effectLst>
            <a:outerShdw sx="100000" sy="100000" kx="0" ky="0" algn="bl" rotWithShape="0" blurRad="101600" dist="25400" dir="5400000">
              <a:srgbClr val="000000">
                <a:alpha val="12000"/>
              </a:srgbClr>
            </a:outerShdw>
          </a:effectLst>
        </p:spPr>
      </p:sp>
      <p:sp>
        <p:nvSpPr>
          <p:cNvPr id="16" name="Text 14"/>
          <p:cNvSpPr txBox="1"/>
          <p:nvPr/>
        </p:nvSpPr>
        <p:spPr>
          <a:xfrm>
            <a:off x="7580376" y="1691640"/>
            <a:ext cx="1581912"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Veri bağımlılığı</a:t>
            </a:r>
            <a:endParaRPr lang="tr-TR" sz="1600" dirty="0"/>
          </a:p>
        </p:txBody>
      </p:sp>
      <p:sp>
        <p:nvSpPr>
          <p:cNvPr id="17" name="Text 15"/>
          <p:cNvSpPr txBox="1"/>
          <p:nvPr/>
        </p:nvSpPr>
        <p:spPr>
          <a:xfrm>
            <a:off x="7580376" y="2148840"/>
            <a:ext cx="1581912" cy="2971800"/>
          </a:xfrm>
          <a:prstGeom prst="rect">
            <a:avLst/>
          </a:prstGeom>
          <a:noFill/>
          <a:ln/>
        </p:spPr>
        <p:txBody>
          <a:bodyPr wrap="square" lIns="0" tIns="0" rIns="0" bIns="0" rtlCol="0" anchor="t"/>
          <a:lstStyle/>
          <a:p>
            <a:pPr indent="0" marL="0">
              <a:spcAft>
                <a:spcPts val="400"/>
              </a:spcAft>
              <a:buNone/>
            </a:pPr>
            <a:r>
              <a:rPr lang="tr-TR" sz="1500" dirty="0">
                <a:solidFill>
                  <a:srgbClr val="3A464C"/>
                </a:solidFill>
                <a:latin typeface="Calibri" pitchFamily="34" charset="0"/>
                <a:ea typeface="Calibri" pitchFamily="34" charset="-122"/>
                <a:cs typeface="Calibri" pitchFamily="34" charset="-120"/>
              </a:rPr>
              <a:t>B görevi A'nın sonucuna muhtaçsa B beklemelidir: eşzamanlama.</a:t>
            </a:r>
            <a:endParaRPr lang="tr-TR" sz="1500" dirty="0"/>
          </a:p>
        </p:txBody>
      </p:sp>
      <p:sp>
        <p:nvSpPr>
          <p:cNvPr id="18" name="Shape 16"/>
          <p:cNvSpPr/>
          <p:nvPr/>
        </p:nvSpPr>
        <p:spPr>
          <a:xfrm>
            <a:off x="9619488" y="1508760"/>
            <a:ext cx="2039112" cy="3749040"/>
          </a:xfrm>
          <a:prstGeom prst="roundRect">
            <a:avLst>
              <a:gd name="adj" fmla="val 2691"/>
            </a:avLst>
          </a:prstGeom>
          <a:solidFill>
            <a:srgbClr val="F2F2F2"/>
          </a:solidFill>
          <a:ln/>
          <a:effectLst>
            <a:outerShdw sx="100000" sy="100000" kx="0" ky="0" algn="bl" rotWithShape="0" blurRad="101600" dist="25400" dir="5400000">
              <a:srgbClr val="000000">
                <a:alpha val="12000"/>
              </a:srgbClr>
            </a:outerShdw>
          </a:effectLst>
        </p:spPr>
      </p:sp>
      <p:sp>
        <p:nvSpPr>
          <p:cNvPr id="19" name="Text 17"/>
          <p:cNvSpPr txBox="1"/>
          <p:nvPr/>
        </p:nvSpPr>
        <p:spPr>
          <a:xfrm>
            <a:off x="9848088" y="1691640"/>
            <a:ext cx="1581912"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Test</a:t>
            </a:r>
            <a:endParaRPr lang="tr-TR" sz="1600" dirty="0"/>
          </a:p>
        </p:txBody>
      </p:sp>
      <p:sp>
        <p:nvSpPr>
          <p:cNvPr id="20" name="Text 18"/>
          <p:cNvSpPr txBox="1"/>
          <p:nvPr/>
        </p:nvSpPr>
        <p:spPr>
          <a:xfrm>
            <a:off x="9848088" y="2148840"/>
            <a:ext cx="1581912" cy="2971800"/>
          </a:xfrm>
          <a:prstGeom prst="rect">
            <a:avLst/>
          </a:prstGeom>
          <a:noFill/>
          <a:ln/>
        </p:spPr>
        <p:txBody>
          <a:bodyPr wrap="square" lIns="0" tIns="0" rIns="0" bIns="0" rtlCol="0" anchor="t"/>
          <a:lstStyle/>
          <a:p>
            <a:pPr indent="0" marL="0">
              <a:spcAft>
                <a:spcPts val="400"/>
              </a:spcAft>
              <a:buNone/>
            </a:pPr>
            <a:r>
              <a:rPr lang="tr-TR" sz="1500" dirty="0">
                <a:solidFill>
                  <a:srgbClr val="3A464C"/>
                </a:solidFill>
                <a:latin typeface="Calibri" pitchFamily="34" charset="0"/>
                <a:ea typeface="Calibri" pitchFamily="34" charset="-122"/>
                <a:cs typeface="Calibri" pitchFamily="34" charset="-120"/>
              </a:rPr>
              <a:t>Olası iç içe geçiş sırası çok fazladır: hatalar yalnızca bazen ortaya çıkar.</a:t>
            </a:r>
            <a:endParaRPr lang="tr-TR" sz="1500" dirty="0"/>
          </a:p>
        </p:txBody>
      </p:sp>
      <p:sp>
        <p:nvSpPr>
          <p:cNvPr id="21" name="Shape 19"/>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sp>
      <p:sp>
        <p:nvSpPr>
          <p:cNvPr id="22" name="Text 20"/>
          <p:cNvSpPr txBox="1"/>
          <p:nvPr/>
        </p:nvSpPr>
        <p:spPr>
          <a:xfrm>
            <a:off x="777240" y="5486400"/>
            <a:ext cx="10652760" cy="777240"/>
          </a:xfrm>
          <a:prstGeom prst="rect">
            <a:avLst/>
          </a:prstGeom>
          <a:noFill/>
          <a:ln/>
        </p:spPr>
        <p:txBody>
          <a:bodyPr wrap="square" lIns="0" tIns="0" rIns="0" bIns="0" rtlCol="0" anchor="ctr"/>
          <a:lstStyle/>
          <a:p>
            <a:pPr indent="0" marL="0">
              <a:buNone/>
            </a:pPr>
            <a:r>
              <a:rPr lang="tr-TR" sz="1400" dirty="0">
                <a:solidFill>
                  <a:srgbClr val="F2F2F2"/>
                </a:solidFill>
                <a:latin typeface="Calibri" pitchFamily="34" charset="0"/>
                <a:ea typeface="Calibri" pitchFamily="34" charset="-122"/>
                <a:cs typeface="Calibri" pitchFamily="34" charset="-120"/>
              </a:rPr>
              <a:t>Veri paralelliği: verinin farklı parçalarına aynı işlem (dizi toplama örneğimiz). Görev paralelliği: aynı anda farklı işlemler (kelime işlemcinin iş parçacıkları).</a:t>
            </a:r>
            <a:endParaRPr lang="tr-TR"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ÇOK ÇEKİRDEK</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Amdahl Yasası: Çekirdek Eklemenin Sınırı</a:t>
            </a:r>
            <a:endParaRPr lang="tr-TR"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tr-TR" sz="1500" dirty="0">
                <a:solidFill>
                  <a:srgbClr val="3A464C"/>
                </a:solidFill>
                <a:latin typeface="Calibri" pitchFamily="34" charset="0"/>
                <a:ea typeface="Calibri" pitchFamily="34" charset="-122"/>
                <a:cs typeface="Calibri" pitchFamily="34" charset="-120"/>
              </a:rPr>
              <a:t>Her programın bir kısmı seri çalışır (bölünemez). Bu kısım, çekirdek sayısı arttıkça hızlanmaz.</a:t>
            </a:r>
            <a:endParaRPr lang="tr-TR"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4  ·  12</a:t>
            </a:r>
            <a:endParaRPr lang="tr-TR" sz="900" dirty="0"/>
          </a:p>
        </p:txBody>
      </p:sp>
      <p:sp>
        <p:nvSpPr>
          <p:cNvPr id="7" name="Shape 5"/>
          <p:cNvSpPr/>
          <p:nvPr/>
        </p:nvSpPr>
        <p:spPr>
          <a:xfrm>
            <a:off x="548640" y="2240280"/>
            <a:ext cx="6035040" cy="2103120"/>
          </a:xfrm>
          <a:prstGeom prst="roundRect">
            <a:avLst>
              <a:gd name="adj" fmla="val 2609"/>
            </a:avLst>
          </a:prstGeom>
          <a:solidFill>
            <a:srgbClr val="F2F2F2"/>
          </a:solidFill>
          <a:ln/>
        </p:spPr>
      </p:sp>
      <p:sp>
        <p:nvSpPr>
          <p:cNvPr id="8" name="Text 6"/>
          <p:cNvSpPr txBox="1"/>
          <p:nvPr/>
        </p:nvSpPr>
        <p:spPr>
          <a:xfrm>
            <a:off x="777240" y="2743200"/>
            <a:ext cx="2194560" cy="914400"/>
          </a:xfrm>
          <a:prstGeom prst="rect">
            <a:avLst/>
          </a:prstGeom>
          <a:noFill/>
          <a:ln/>
        </p:spPr>
        <p:txBody>
          <a:bodyPr wrap="square" lIns="0" tIns="0" rIns="0" bIns="0" rtlCol="0" anchor="ctr"/>
          <a:lstStyle/>
          <a:p>
            <a:pPr indent="0" marL="0">
              <a:buNone/>
            </a:pPr>
            <a:r>
              <a:rPr lang="tr-TR" sz="2600" b="1" dirty="0">
                <a:solidFill>
                  <a:srgbClr val="36454F"/>
                </a:solidFill>
                <a:latin typeface="Cambria" pitchFamily="34" charset="0"/>
                <a:ea typeface="Cambria" pitchFamily="34" charset="-122"/>
                <a:cs typeface="Cambria" pitchFamily="34" charset="-120"/>
              </a:rPr>
              <a:t>hızlanma ≤</a:t>
            </a:r>
            <a:endParaRPr lang="tr-TR" sz="2600" dirty="0"/>
          </a:p>
        </p:txBody>
      </p:sp>
      <p:sp>
        <p:nvSpPr>
          <p:cNvPr id="9" name="Text 7"/>
          <p:cNvSpPr txBox="1"/>
          <p:nvPr/>
        </p:nvSpPr>
        <p:spPr>
          <a:xfrm>
            <a:off x="2926080" y="2560320"/>
            <a:ext cx="3291840" cy="548640"/>
          </a:xfrm>
          <a:prstGeom prst="rect">
            <a:avLst/>
          </a:prstGeom>
          <a:noFill/>
          <a:ln/>
        </p:spPr>
        <p:txBody>
          <a:bodyPr wrap="square" lIns="0" tIns="0" rIns="0" bIns="0" rtlCol="0" anchor="ctr"/>
          <a:lstStyle/>
          <a:p>
            <a:pPr algn="ctr" indent="0" marL="0">
              <a:buNone/>
            </a:pPr>
            <a:r>
              <a:rPr lang="tr-TR" sz="2800" dirty="0">
                <a:solidFill>
                  <a:srgbClr val="36454F"/>
                </a:solidFill>
                <a:latin typeface="Cambria" pitchFamily="34" charset="0"/>
                <a:ea typeface="Cambria" pitchFamily="34" charset="-122"/>
                <a:cs typeface="Cambria" pitchFamily="34" charset="-120"/>
              </a:rPr>
              <a:t>1</a:t>
            </a:r>
            <a:endParaRPr lang="tr-TR" sz="2800" dirty="0"/>
          </a:p>
        </p:txBody>
      </p:sp>
      <p:sp>
        <p:nvSpPr>
          <p:cNvPr id="10" name="Shape 8"/>
          <p:cNvSpPr/>
          <p:nvPr/>
        </p:nvSpPr>
        <p:spPr>
          <a:xfrm>
            <a:off x="3017520" y="3200400"/>
            <a:ext cx="3108960" cy="91"/>
          </a:xfrm>
          <a:prstGeom prst="line">
            <a:avLst/>
          </a:prstGeom>
          <a:noFill/>
          <a:ln w="25400">
            <a:solidFill>
              <a:srgbClr val="36454F"/>
            </a:solidFill>
            <a:prstDash val="solid"/>
          </a:ln>
        </p:spPr>
      </p:sp>
      <p:sp>
        <p:nvSpPr>
          <p:cNvPr id="11" name="Text 9"/>
          <p:cNvSpPr txBox="1"/>
          <p:nvPr/>
        </p:nvSpPr>
        <p:spPr>
          <a:xfrm>
            <a:off x="2926080" y="3291840"/>
            <a:ext cx="3291840" cy="548640"/>
          </a:xfrm>
          <a:prstGeom prst="rect">
            <a:avLst/>
          </a:prstGeom>
          <a:noFill/>
          <a:ln/>
        </p:spPr>
        <p:txBody>
          <a:bodyPr wrap="square" lIns="0" tIns="0" rIns="0" bIns="0" rtlCol="0" anchor="ctr"/>
          <a:lstStyle/>
          <a:p>
            <a:pPr algn="ctr" indent="0" marL="0">
              <a:buNone/>
            </a:pPr>
            <a:r>
              <a:rPr lang="tr-TR" sz="2600" dirty="0">
                <a:solidFill>
                  <a:srgbClr val="36454F"/>
                </a:solidFill>
                <a:latin typeface="Cambria" pitchFamily="34" charset="0"/>
                <a:ea typeface="Cambria" pitchFamily="34" charset="-122"/>
                <a:cs typeface="Cambria" pitchFamily="34" charset="-120"/>
              </a:rPr>
              <a:t>S  +  (1 − S) / N</a:t>
            </a:r>
            <a:endParaRPr lang="tr-TR" sz="2600" dirty="0"/>
          </a:p>
        </p:txBody>
      </p:sp>
      <p:sp>
        <p:nvSpPr>
          <p:cNvPr id="12" name="Text 10"/>
          <p:cNvSpPr txBox="1"/>
          <p:nvPr/>
        </p:nvSpPr>
        <p:spPr>
          <a:xfrm>
            <a:off x="868680" y="3886200"/>
            <a:ext cx="5486400" cy="320040"/>
          </a:xfrm>
          <a:prstGeom prst="rect">
            <a:avLst/>
          </a:prstGeom>
          <a:noFill/>
          <a:ln/>
        </p:spPr>
        <p:txBody>
          <a:bodyPr wrap="square" lIns="0" tIns="0" rIns="0" bIns="0" rtlCol="0" anchor="t"/>
          <a:lstStyle/>
          <a:p>
            <a:pPr indent="0" marL="0">
              <a:buNone/>
            </a:pPr>
            <a:r>
              <a:rPr lang="tr-TR" sz="1300" i="1" dirty="0">
                <a:solidFill>
                  <a:srgbClr val="6B7679"/>
                </a:solidFill>
                <a:latin typeface="Calibri" pitchFamily="34" charset="0"/>
                <a:ea typeface="Calibri" pitchFamily="34" charset="-122"/>
                <a:cs typeface="Calibri" pitchFamily="34" charset="-120"/>
              </a:rPr>
              <a:t>S = işin seri kesri,  N = çekirdek sayısı</a:t>
            </a:r>
            <a:endParaRPr lang="tr-TR" sz="1300" dirty="0"/>
          </a:p>
        </p:txBody>
      </p:sp>
      <p:sp>
        <p:nvSpPr>
          <p:cNvPr id="13" name="Text 11"/>
          <p:cNvSpPr txBox="1"/>
          <p:nvPr/>
        </p:nvSpPr>
        <p:spPr>
          <a:xfrm>
            <a:off x="548640" y="4617720"/>
            <a:ext cx="1051560" cy="457200"/>
          </a:xfrm>
          <a:prstGeom prst="rect">
            <a:avLst/>
          </a:prstGeom>
          <a:noFill/>
          <a:ln/>
        </p:spPr>
        <p:txBody>
          <a:bodyPr wrap="square" lIns="0" tIns="0" rIns="0" bIns="0" rtlCol="0" anchor="ctr"/>
          <a:lstStyle/>
          <a:p>
            <a:pPr indent="0" marL="0">
              <a:buNone/>
            </a:pPr>
            <a:r>
              <a:rPr lang="tr-TR" sz="1250" b="1" dirty="0">
                <a:solidFill>
                  <a:srgbClr val="3A464C"/>
                </a:solidFill>
                <a:latin typeface="Calibri" pitchFamily="34" charset="0"/>
                <a:ea typeface="Calibri" pitchFamily="34" charset="-122"/>
                <a:cs typeface="Calibri" pitchFamily="34" charset="-120"/>
              </a:rPr>
              <a:t>1 çekirdek</a:t>
            </a:r>
            <a:endParaRPr lang="tr-TR" sz="1250" dirty="0"/>
          </a:p>
        </p:txBody>
      </p:sp>
      <p:sp>
        <p:nvSpPr>
          <p:cNvPr id="14" name="Shape 12"/>
          <p:cNvSpPr/>
          <p:nvPr/>
        </p:nvSpPr>
        <p:spPr>
          <a:xfrm>
            <a:off x="1645920" y="4617720"/>
            <a:ext cx="1280160" cy="457200"/>
          </a:xfrm>
          <a:prstGeom prst="rect">
            <a:avLst/>
          </a:prstGeom>
          <a:solidFill>
            <a:srgbClr val="36454F"/>
          </a:solidFill>
          <a:ln w="19050">
            <a:solidFill>
              <a:srgbClr val="FFFFFF"/>
            </a:solidFill>
            <a:prstDash val="solid"/>
          </a:ln>
        </p:spPr>
      </p:sp>
      <p:sp>
        <p:nvSpPr>
          <p:cNvPr id="15" name="Text 13"/>
          <p:cNvSpPr txBox="1"/>
          <p:nvPr/>
        </p:nvSpPr>
        <p:spPr>
          <a:xfrm>
            <a:off x="1645920" y="4617720"/>
            <a:ext cx="1280160" cy="457200"/>
          </a:xfrm>
          <a:prstGeom prst="rect">
            <a:avLst/>
          </a:prstGeom>
          <a:noFill/>
          <a:ln/>
        </p:spPr>
        <p:txBody>
          <a:bodyPr wrap="square" lIns="0" tIns="0" rIns="0" bIns="0" rtlCol="0" anchor="ctr"/>
          <a:lstStyle/>
          <a:p>
            <a:pPr algn="ctr" indent="0" marL="0">
              <a:buNone/>
            </a:pPr>
            <a:r>
              <a:rPr lang="tr-TR" sz="1200" b="1" dirty="0">
                <a:solidFill>
                  <a:srgbClr val="FFFFFF"/>
                </a:solidFill>
                <a:latin typeface="Calibri" pitchFamily="34" charset="0"/>
                <a:ea typeface="Calibri" pitchFamily="34" charset="-122"/>
                <a:cs typeface="Calibri" pitchFamily="34" charset="-120"/>
              </a:rPr>
              <a:t>seri</a:t>
            </a:r>
            <a:endParaRPr lang="tr-TR" sz="1200" dirty="0"/>
          </a:p>
        </p:txBody>
      </p:sp>
      <p:sp>
        <p:nvSpPr>
          <p:cNvPr id="16" name="Shape 14"/>
          <p:cNvSpPr/>
          <p:nvPr/>
        </p:nvSpPr>
        <p:spPr>
          <a:xfrm>
            <a:off x="2926080" y="4617720"/>
            <a:ext cx="3840480" cy="457200"/>
          </a:xfrm>
          <a:prstGeom prst="rect">
            <a:avLst/>
          </a:prstGeom>
          <a:solidFill>
            <a:srgbClr val="02C39A"/>
          </a:solidFill>
          <a:ln w="19050">
            <a:solidFill>
              <a:srgbClr val="FFFFFF"/>
            </a:solidFill>
            <a:prstDash val="solid"/>
          </a:ln>
        </p:spPr>
      </p:sp>
      <p:sp>
        <p:nvSpPr>
          <p:cNvPr id="17" name="Text 15"/>
          <p:cNvSpPr txBox="1"/>
          <p:nvPr/>
        </p:nvSpPr>
        <p:spPr>
          <a:xfrm>
            <a:off x="2926080" y="4617720"/>
            <a:ext cx="3840480" cy="457200"/>
          </a:xfrm>
          <a:prstGeom prst="rect">
            <a:avLst/>
          </a:prstGeom>
          <a:noFill/>
          <a:ln/>
        </p:spPr>
        <p:txBody>
          <a:bodyPr wrap="square" lIns="0" tIns="0" rIns="0" bIns="0" rtlCol="0" anchor="ctr"/>
          <a:lstStyle/>
          <a:p>
            <a:pPr algn="ctr" indent="0" marL="0">
              <a:buNone/>
            </a:pPr>
            <a:r>
              <a:rPr lang="tr-TR" sz="1200" b="1" dirty="0">
                <a:solidFill>
                  <a:srgbClr val="36454F"/>
                </a:solidFill>
                <a:latin typeface="Calibri" pitchFamily="34" charset="0"/>
                <a:ea typeface="Calibri" pitchFamily="34" charset="-122"/>
                <a:cs typeface="Calibri" pitchFamily="34" charset="-120"/>
              </a:rPr>
              <a:t>paralel kısım</a:t>
            </a:r>
            <a:endParaRPr lang="tr-TR" sz="1200" dirty="0"/>
          </a:p>
        </p:txBody>
      </p:sp>
      <p:sp>
        <p:nvSpPr>
          <p:cNvPr id="18" name="Text 16"/>
          <p:cNvSpPr txBox="1"/>
          <p:nvPr/>
        </p:nvSpPr>
        <p:spPr>
          <a:xfrm>
            <a:off x="548640" y="5303520"/>
            <a:ext cx="1051560" cy="457200"/>
          </a:xfrm>
          <a:prstGeom prst="rect">
            <a:avLst/>
          </a:prstGeom>
          <a:noFill/>
          <a:ln/>
        </p:spPr>
        <p:txBody>
          <a:bodyPr wrap="square" lIns="0" tIns="0" rIns="0" bIns="0" rtlCol="0" anchor="ctr"/>
          <a:lstStyle/>
          <a:p>
            <a:pPr indent="0" marL="0">
              <a:buNone/>
            </a:pPr>
            <a:r>
              <a:rPr lang="tr-TR" sz="1250" b="1" dirty="0">
                <a:solidFill>
                  <a:srgbClr val="3A464C"/>
                </a:solidFill>
                <a:latin typeface="Calibri" pitchFamily="34" charset="0"/>
                <a:ea typeface="Calibri" pitchFamily="34" charset="-122"/>
                <a:cs typeface="Calibri" pitchFamily="34" charset="-120"/>
              </a:rPr>
              <a:t>4 çekirdek</a:t>
            </a:r>
            <a:endParaRPr lang="tr-TR" sz="1250" dirty="0"/>
          </a:p>
        </p:txBody>
      </p:sp>
      <p:sp>
        <p:nvSpPr>
          <p:cNvPr id="19" name="Shape 17"/>
          <p:cNvSpPr/>
          <p:nvPr/>
        </p:nvSpPr>
        <p:spPr>
          <a:xfrm>
            <a:off x="1645920" y="5303520"/>
            <a:ext cx="1280160" cy="457200"/>
          </a:xfrm>
          <a:prstGeom prst="rect">
            <a:avLst/>
          </a:prstGeom>
          <a:solidFill>
            <a:srgbClr val="36454F"/>
          </a:solidFill>
          <a:ln w="19050">
            <a:solidFill>
              <a:srgbClr val="FFFFFF"/>
            </a:solidFill>
            <a:prstDash val="solid"/>
          </a:ln>
        </p:spPr>
      </p:sp>
      <p:sp>
        <p:nvSpPr>
          <p:cNvPr id="20" name="Text 18"/>
          <p:cNvSpPr txBox="1"/>
          <p:nvPr/>
        </p:nvSpPr>
        <p:spPr>
          <a:xfrm>
            <a:off x="1645920" y="5303520"/>
            <a:ext cx="1280160" cy="457200"/>
          </a:xfrm>
          <a:prstGeom prst="rect">
            <a:avLst/>
          </a:prstGeom>
          <a:noFill/>
          <a:ln/>
        </p:spPr>
        <p:txBody>
          <a:bodyPr wrap="square" lIns="0" tIns="0" rIns="0" bIns="0" rtlCol="0" anchor="ctr"/>
          <a:lstStyle/>
          <a:p>
            <a:pPr algn="ctr" indent="0" marL="0">
              <a:buNone/>
            </a:pPr>
            <a:r>
              <a:rPr lang="tr-TR" sz="1200" b="1" dirty="0">
                <a:solidFill>
                  <a:srgbClr val="FFFFFF"/>
                </a:solidFill>
                <a:latin typeface="Calibri" pitchFamily="34" charset="0"/>
                <a:ea typeface="Calibri" pitchFamily="34" charset="-122"/>
                <a:cs typeface="Calibri" pitchFamily="34" charset="-120"/>
              </a:rPr>
              <a:t>seri</a:t>
            </a:r>
            <a:endParaRPr lang="tr-TR" sz="1200" dirty="0"/>
          </a:p>
        </p:txBody>
      </p:sp>
      <p:sp>
        <p:nvSpPr>
          <p:cNvPr id="21" name="Shape 19"/>
          <p:cNvSpPr/>
          <p:nvPr/>
        </p:nvSpPr>
        <p:spPr>
          <a:xfrm>
            <a:off x="2926080" y="5303520"/>
            <a:ext cx="960120" cy="457200"/>
          </a:xfrm>
          <a:prstGeom prst="rect">
            <a:avLst/>
          </a:prstGeom>
          <a:solidFill>
            <a:srgbClr val="02C39A"/>
          </a:solidFill>
          <a:ln w="19050">
            <a:solidFill>
              <a:srgbClr val="FFFFFF"/>
            </a:solidFill>
            <a:prstDash val="solid"/>
          </a:ln>
        </p:spPr>
      </p:sp>
      <p:sp>
        <p:nvSpPr>
          <p:cNvPr id="22" name="Text 20"/>
          <p:cNvSpPr txBox="1"/>
          <p:nvPr/>
        </p:nvSpPr>
        <p:spPr>
          <a:xfrm>
            <a:off x="2926080" y="5303520"/>
            <a:ext cx="960120" cy="457200"/>
          </a:xfrm>
          <a:prstGeom prst="rect">
            <a:avLst/>
          </a:prstGeom>
          <a:noFill/>
          <a:ln/>
        </p:spPr>
        <p:txBody>
          <a:bodyPr wrap="square" lIns="0" tIns="0" rIns="0" bIns="0" rtlCol="0" anchor="ctr"/>
          <a:lstStyle/>
          <a:p>
            <a:pPr algn="ctr" indent="0" marL="0">
              <a:buNone/>
            </a:pPr>
            <a:r>
              <a:rPr lang="tr-TR" sz="1200" b="1" dirty="0">
                <a:solidFill>
                  <a:srgbClr val="36454F"/>
                </a:solidFill>
                <a:latin typeface="Calibri" pitchFamily="34" charset="0"/>
                <a:ea typeface="Calibri" pitchFamily="34" charset="-122"/>
                <a:cs typeface="Calibri" pitchFamily="34" charset="-120"/>
              </a:rPr>
              <a:t>÷4</a:t>
            </a:r>
            <a:endParaRPr lang="tr-TR" sz="1200" dirty="0"/>
          </a:p>
        </p:txBody>
      </p:sp>
      <p:sp>
        <p:nvSpPr>
          <p:cNvPr id="23" name="Text 21"/>
          <p:cNvSpPr txBox="1"/>
          <p:nvPr/>
        </p:nvSpPr>
        <p:spPr>
          <a:xfrm>
            <a:off x="4014216" y="5303520"/>
            <a:ext cx="2560320" cy="457200"/>
          </a:xfrm>
          <a:prstGeom prst="rect">
            <a:avLst/>
          </a:prstGeom>
          <a:noFill/>
          <a:ln/>
        </p:spPr>
        <p:txBody>
          <a:bodyPr wrap="square" lIns="0" tIns="0" rIns="0" bIns="0" rtlCol="0" anchor="ctr"/>
          <a:lstStyle/>
          <a:p>
            <a:pPr indent="0" marL="0">
              <a:buNone/>
            </a:pPr>
            <a:r>
              <a:rPr lang="tr-TR" sz="1200" i="1" dirty="0">
                <a:solidFill>
                  <a:srgbClr val="B5453A"/>
                </a:solidFill>
                <a:latin typeface="Calibri" pitchFamily="34" charset="0"/>
                <a:ea typeface="Calibri" pitchFamily="34" charset="-122"/>
                <a:cs typeface="Calibri" pitchFamily="34" charset="-120"/>
              </a:rPr>
              <a:t>seri kısım aynen kalır</a:t>
            </a:r>
            <a:endParaRPr lang="tr-TR" sz="1200" dirty="0"/>
          </a:p>
        </p:txBody>
      </p:sp>
      <p:sp>
        <p:nvSpPr>
          <p:cNvPr id="24" name="Shape 22"/>
          <p:cNvSpPr/>
          <p:nvPr/>
        </p:nvSpPr>
        <p:spPr>
          <a:xfrm>
            <a:off x="6858000" y="2240280"/>
            <a:ext cx="4800600" cy="4023360"/>
          </a:xfrm>
          <a:prstGeom prst="roundRect">
            <a:avLst>
              <a:gd name="adj" fmla="val 1364"/>
            </a:avLst>
          </a:prstGeom>
          <a:solidFill>
            <a:srgbClr val="F2F2F2"/>
          </a:solidFill>
          <a:ln/>
          <a:effectLst>
            <a:outerShdw sx="100000" sy="100000" kx="0" ky="0" algn="bl" rotWithShape="0" blurRad="101600" dist="25400" dir="5400000">
              <a:srgbClr val="000000">
                <a:alpha val="12000"/>
              </a:srgbClr>
            </a:outerShdw>
          </a:effectLst>
        </p:spPr>
      </p:sp>
      <p:sp>
        <p:nvSpPr>
          <p:cNvPr id="25" name="Text 23"/>
          <p:cNvSpPr txBox="1"/>
          <p:nvPr/>
        </p:nvSpPr>
        <p:spPr>
          <a:xfrm>
            <a:off x="7086600" y="2423160"/>
            <a:ext cx="434340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Formülü okumak</a:t>
            </a:r>
            <a:endParaRPr lang="tr-TR" sz="1500" dirty="0"/>
          </a:p>
        </p:txBody>
      </p:sp>
      <p:sp>
        <p:nvSpPr>
          <p:cNvPr id="26" name="Text 24"/>
          <p:cNvSpPr txBox="1"/>
          <p:nvPr/>
        </p:nvSpPr>
        <p:spPr>
          <a:xfrm>
            <a:off x="7086600" y="2880360"/>
            <a:ext cx="4343400" cy="3246120"/>
          </a:xfrm>
          <a:prstGeom prst="rect">
            <a:avLst/>
          </a:prstGeom>
          <a:noFill/>
          <a:ln/>
        </p:spPr>
        <p:txBody>
          <a:bodyPr wrap="square" lIns="0" tIns="0" rIns="0" bIns="0" rtlCol="0" anchor="t"/>
          <a:lstStyle/>
          <a:p>
            <a:pPr marL="228600" indent="-228600">
              <a:spcAft>
                <a:spcPts val="400"/>
              </a:spcAft>
              <a:buSzPct val="100000"/>
              <a:buChar char="•"/>
            </a:pPr>
            <a:r>
              <a:rPr lang="tr-TR" sz="1600" dirty="0">
                <a:solidFill>
                  <a:srgbClr val="3A464C"/>
                </a:solidFill>
                <a:latin typeface="Calibri" pitchFamily="34" charset="0"/>
                <a:ea typeface="Calibri" pitchFamily="34" charset="-122"/>
                <a:cs typeface="Calibri" pitchFamily="34" charset="-120"/>
              </a:rPr>
              <a:t>1 çekirdekte program S + (1 − S) = 1 sürer.</a:t>
            </a:r>
            <a:endParaRPr lang="tr-TR" sz="1600" dirty="0"/>
          </a:p>
          <a:p>
            <a:pPr marL="228600" indent="-228600">
              <a:spcAft>
                <a:spcPts val="400"/>
              </a:spcAft>
              <a:buSzPct val="100000"/>
              <a:buChar char="•"/>
            </a:pPr>
            <a:r>
              <a:rPr lang="tr-TR" sz="1600" dirty="0">
                <a:solidFill>
                  <a:srgbClr val="3A464C"/>
                </a:solidFill>
                <a:latin typeface="Calibri" pitchFamily="34" charset="0"/>
                <a:ea typeface="Calibri" pitchFamily="34" charset="-122"/>
                <a:cs typeface="Calibri" pitchFamily="34" charset="-120"/>
              </a:rPr>
              <a:t>N çekirdekte yalnızca paralel kısım kısalır: (1 − S)/N.</a:t>
            </a:r>
            <a:endParaRPr lang="tr-TR" sz="1600" dirty="0"/>
          </a:p>
          <a:p>
            <a:pPr marL="228600" indent="-228600">
              <a:spcAft>
                <a:spcPts val="400"/>
              </a:spcAft>
              <a:buSzPct val="100000"/>
              <a:buChar char="•"/>
            </a:pPr>
            <a:r>
              <a:rPr lang="tr-TR" sz="1600" b="1" dirty="0">
                <a:solidFill>
                  <a:srgbClr val="3A464C"/>
                </a:solidFill>
                <a:latin typeface="Calibri" pitchFamily="34" charset="0"/>
                <a:ea typeface="Calibri" pitchFamily="34" charset="-122"/>
                <a:cs typeface="Calibri" pitchFamily="34" charset="-120"/>
              </a:rPr>
              <a:t>Sınır:</a:t>
            </a:r>
            <a:r>
              <a:rPr lang="tr-TR" sz="1600" dirty="0">
                <a:solidFill>
                  <a:srgbClr val="3A464C"/>
                </a:solidFill>
                <a:latin typeface="Calibri" pitchFamily="34" charset="0"/>
                <a:ea typeface="Calibri" pitchFamily="34" charset="-122"/>
                <a:cs typeface="Calibri" pitchFamily="34" charset="-120"/>
              </a:rPr>
              <a:t> sonsuz sayıda çekirdekle bile hızlanma ≤ 1/S.</a:t>
            </a:r>
            <a:endParaRPr lang="tr-TR" sz="1600" dirty="0"/>
          </a:p>
          <a:p>
            <a:pPr marL="228600" indent="-228600">
              <a:spcAft>
                <a:spcPts val="400"/>
              </a:spcAft>
              <a:buSzPct val="100000"/>
              <a:buChar char="•"/>
            </a:pPr>
            <a:r>
              <a:rPr lang="tr-TR" sz="1600" dirty="0">
                <a:solidFill>
                  <a:srgbClr val="3A464C"/>
                </a:solidFill>
                <a:latin typeface="Calibri" pitchFamily="34" charset="0"/>
                <a:ea typeface="Calibri" pitchFamily="34" charset="-122"/>
                <a:cs typeface="Calibri" pitchFamily="34" charset="-120"/>
              </a:rPr>
              <a:t>%25 seri ⇒ kaç çekirdek alırsanız alın, asla 4 kattan fazla hızlanmaz.</a:t>
            </a:r>
            <a:endParaRPr lang="tr-TR"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ÇOK ÇEKİRDEK</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Çözümlü Örnek: %75 Paralel, %25 Seri</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4  ·  13</a:t>
            </a:r>
            <a:endParaRPr lang="tr-TR" sz="900" dirty="0"/>
          </a:p>
        </p:txBody>
      </p:sp>
      <p:sp>
        <p:nvSpPr>
          <p:cNvPr id="6" name="Shape 4"/>
          <p:cNvSpPr/>
          <p:nvPr/>
        </p:nvSpPr>
        <p:spPr>
          <a:xfrm>
            <a:off x="548640" y="1508760"/>
            <a:ext cx="5486400" cy="3520440"/>
          </a:xfrm>
          <a:prstGeom prst="roundRect">
            <a:avLst>
              <a:gd name="adj" fmla="val 1299"/>
            </a:avLst>
          </a:prstGeom>
          <a:solidFill>
            <a:srgbClr val="212121"/>
          </a:solidFill>
          <a:ln/>
        </p:spPr>
      </p:sp>
      <p:sp>
        <p:nvSpPr>
          <p:cNvPr id="7" name="Text 5"/>
          <p:cNvSpPr txBox="1"/>
          <p:nvPr/>
        </p:nvSpPr>
        <p:spPr>
          <a:xfrm>
            <a:off x="731520" y="1618488"/>
            <a:ext cx="5120640" cy="3300984"/>
          </a:xfrm>
          <a:prstGeom prst="rect">
            <a:avLst/>
          </a:prstGeom>
          <a:noFill/>
          <a:ln/>
        </p:spPr>
        <p:txBody>
          <a:bodyPr wrap="square" lIns="0" tIns="0" rIns="0" bIns="0" rtlCol="0" anchor="t"/>
          <a:lstStyle/>
          <a:p>
            <a:pPr indent="0" marL="0">
              <a:lnSpc>
                <a:spcPct val="105000"/>
              </a:lnSpc>
              <a:buNone/>
            </a:pPr>
            <a:r>
              <a:rPr lang="tr-TR" sz="1500" dirty="0">
                <a:solidFill>
                  <a:srgbClr val="F2F2F2"/>
                </a:solidFill>
                <a:latin typeface="Consolas" pitchFamily="34" charset="0"/>
                <a:ea typeface="Consolas" pitchFamily="34" charset="-122"/>
                <a:cs typeface="Consolas" pitchFamily="34" charset="-120"/>
              </a:rPr>
              <a:t>S = 0.25, yani 1 − S = 0.75</a:t>
            </a:r>
            <a:endParaRPr lang="tr-TR" sz="1500" dirty="0"/>
          </a:p>
          <a:p>
            <a:pPr indent="0" marL="0">
              <a:lnSpc>
                <a:spcPct val="105000"/>
              </a:lnSpc>
              <a:buNone/>
            </a:pPr>
            <a:r>
              <a:rPr lang="tr-TR" sz="1500" dirty="0">
                <a:solidFill>
                  <a:srgbClr val="F2F2F2"/>
                </a:solidFill>
                <a:latin typeface="Consolas" pitchFamily="34" charset="0"/>
                <a:ea typeface="Consolas" pitchFamily="34" charset="-122"/>
                <a:cs typeface="Consolas" pitchFamily="34" charset="-120"/>
              </a:rPr>
              <a:t> </a:t>
            </a:r>
            <a:endParaRPr lang="tr-TR" sz="1500" dirty="0"/>
          </a:p>
          <a:p>
            <a:pPr indent="0" marL="0">
              <a:lnSpc>
                <a:spcPct val="105000"/>
              </a:lnSpc>
              <a:buNone/>
            </a:pPr>
            <a:r>
              <a:rPr lang="tr-TR" sz="1500" dirty="0">
                <a:solidFill>
                  <a:srgbClr val="F2F2F2"/>
                </a:solidFill>
                <a:latin typeface="Consolas" pitchFamily="34" charset="0"/>
                <a:ea typeface="Consolas" pitchFamily="34" charset="-122"/>
                <a:cs typeface="Consolas" pitchFamily="34" charset="-120"/>
              </a:rPr>
              <a:t>N = 2:   1 / (0.25 + 0.75/2)</a:t>
            </a:r>
            <a:endParaRPr lang="tr-TR" sz="1500" dirty="0"/>
          </a:p>
          <a:p>
            <a:pPr indent="0" marL="0">
              <a:lnSpc>
                <a:spcPct val="105000"/>
              </a:lnSpc>
              <a:buNone/>
            </a:pPr>
            <a:r>
              <a:rPr lang="tr-TR" sz="1500" dirty="0">
                <a:solidFill>
                  <a:srgbClr val="F2F2F2"/>
                </a:solidFill>
                <a:latin typeface="Consolas" pitchFamily="34" charset="0"/>
                <a:ea typeface="Consolas" pitchFamily="34" charset="-122"/>
                <a:cs typeface="Consolas" pitchFamily="34" charset="-120"/>
              </a:rPr>
              <a:t>       = 1 / 0.625   = 1.60</a:t>
            </a:r>
            <a:endParaRPr lang="tr-TR" sz="1500" dirty="0"/>
          </a:p>
          <a:p>
            <a:pPr indent="0" marL="0">
              <a:lnSpc>
                <a:spcPct val="105000"/>
              </a:lnSpc>
              <a:buNone/>
            </a:pPr>
            <a:r>
              <a:rPr lang="tr-TR" sz="1500" dirty="0">
                <a:solidFill>
                  <a:srgbClr val="F2F2F2"/>
                </a:solidFill>
                <a:latin typeface="Consolas" pitchFamily="34" charset="0"/>
                <a:ea typeface="Consolas" pitchFamily="34" charset="-122"/>
                <a:cs typeface="Consolas" pitchFamily="34" charset="-120"/>
              </a:rPr>
              <a:t> </a:t>
            </a:r>
            <a:endParaRPr lang="tr-TR" sz="1500" dirty="0"/>
          </a:p>
          <a:p>
            <a:pPr indent="0" marL="0">
              <a:lnSpc>
                <a:spcPct val="105000"/>
              </a:lnSpc>
              <a:buNone/>
            </a:pPr>
            <a:r>
              <a:rPr lang="tr-TR" sz="1500" dirty="0">
                <a:solidFill>
                  <a:srgbClr val="F2F2F2"/>
                </a:solidFill>
                <a:latin typeface="Consolas" pitchFamily="34" charset="0"/>
                <a:ea typeface="Consolas" pitchFamily="34" charset="-122"/>
                <a:cs typeface="Consolas" pitchFamily="34" charset="-120"/>
              </a:rPr>
              <a:t>N = 4:   1 / (0.25 + 0.75/4)</a:t>
            </a:r>
            <a:endParaRPr lang="tr-TR" sz="1500" dirty="0"/>
          </a:p>
          <a:p>
            <a:pPr indent="0" marL="0">
              <a:lnSpc>
                <a:spcPct val="105000"/>
              </a:lnSpc>
              <a:buNone/>
            </a:pPr>
            <a:r>
              <a:rPr lang="tr-TR" sz="1500" dirty="0">
                <a:solidFill>
                  <a:srgbClr val="F2F2F2"/>
                </a:solidFill>
                <a:latin typeface="Consolas" pitchFamily="34" charset="0"/>
                <a:ea typeface="Consolas" pitchFamily="34" charset="-122"/>
                <a:cs typeface="Consolas" pitchFamily="34" charset="-120"/>
              </a:rPr>
              <a:t>       = 1 / 0.4375  ≈ 2.29</a:t>
            </a:r>
            <a:endParaRPr lang="tr-TR" sz="1500" dirty="0"/>
          </a:p>
          <a:p>
            <a:pPr indent="0" marL="0">
              <a:lnSpc>
                <a:spcPct val="105000"/>
              </a:lnSpc>
              <a:buNone/>
            </a:pPr>
            <a:r>
              <a:rPr lang="tr-TR" sz="1500" dirty="0">
                <a:solidFill>
                  <a:srgbClr val="F2F2F2"/>
                </a:solidFill>
                <a:latin typeface="Consolas" pitchFamily="34" charset="0"/>
                <a:ea typeface="Consolas" pitchFamily="34" charset="-122"/>
                <a:cs typeface="Consolas" pitchFamily="34" charset="-120"/>
              </a:rPr>
              <a:t> </a:t>
            </a:r>
            <a:endParaRPr lang="tr-TR" sz="1500" dirty="0"/>
          </a:p>
          <a:p>
            <a:pPr indent="0" marL="0">
              <a:lnSpc>
                <a:spcPct val="105000"/>
              </a:lnSpc>
              <a:buNone/>
            </a:pPr>
            <a:r>
              <a:rPr lang="tr-TR" sz="1500" dirty="0">
                <a:solidFill>
                  <a:srgbClr val="F2F2F2"/>
                </a:solidFill>
                <a:latin typeface="Consolas" pitchFamily="34" charset="0"/>
                <a:ea typeface="Consolas" pitchFamily="34" charset="-122"/>
                <a:cs typeface="Consolas" pitchFamily="34" charset="-120"/>
              </a:rPr>
              <a:t>N → ∞:   1 / 0.25    = 4.00</a:t>
            </a:r>
            <a:endParaRPr lang="tr-TR" sz="1500" dirty="0"/>
          </a:p>
        </p:txBody>
      </p:sp>
      <p:sp>
        <p:nvSpPr>
          <p:cNvPr id="8" name="Text 6"/>
          <p:cNvSpPr txBox="1"/>
          <p:nvPr/>
        </p:nvSpPr>
        <p:spPr>
          <a:xfrm>
            <a:off x="6583680" y="1508760"/>
            <a:ext cx="5029200" cy="320040"/>
          </a:xfrm>
          <a:prstGeom prst="rect">
            <a:avLst/>
          </a:prstGeom>
          <a:noFill/>
          <a:ln/>
        </p:spPr>
        <p:txBody>
          <a:bodyPr wrap="square" lIns="0" tIns="0" rIns="0" bIns="0" rtlCol="0" anchor="t"/>
          <a:lstStyle/>
          <a:p>
            <a:pPr indent="0" marL="0">
              <a:buNone/>
            </a:pPr>
            <a:r>
              <a:rPr lang="tr-TR" sz="1300" b="1" dirty="0">
                <a:solidFill>
                  <a:srgbClr val="36454F"/>
                </a:solidFill>
                <a:latin typeface="Calibri" pitchFamily="34" charset="0"/>
                <a:ea typeface="Calibri" pitchFamily="34" charset="-122"/>
                <a:cs typeface="Calibri" pitchFamily="34" charset="-120"/>
              </a:rPr>
              <a:t>hızlanma – çekirdek sayısı N</a:t>
            </a:r>
            <a:endParaRPr lang="tr-TR" sz="1300" dirty="0"/>
          </a:p>
        </p:txBody>
      </p:sp>
      <p:sp>
        <p:nvSpPr>
          <p:cNvPr id="9" name="Shape 7"/>
          <p:cNvSpPr/>
          <p:nvPr/>
        </p:nvSpPr>
        <p:spPr>
          <a:xfrm>
            <a:off x="6766560" y="4251960"/>
            <a:ext cx="640080" cy="777240"/>
          </a:xfrm>
          <a:prstGeom prst="rect">
            <a:avLst/>
          </a:prstGeom>
          <a:solidFill>
            <a:srgbClr val="02C39A"/>
          </a:solidFill>
          <a:ln/>
        </p:spPr>
      </p:sp>
      <p:sp>
        <p:nvSpPr>
          <p:cNvPr id="10" name="Text 8"/>
          <p:cNvSpPr txBox="1"/>
          <p:nvPr/>
        </p:nvSpPr>
        <p:spPr>
          <a:xfrm>
            <a:off x="6629400" y="3959352"/>
            <a:ext cx="914400" cy="274320"/>
          </a:xfrm>
          <a:prstGeom prst="rect">
            <a:avLst/>
          </a:prstGeom>
          <a:noFill/>
          <a:ln/>
        </p:spPr>
        <p:txBody>
          <a:bodyPr wrap="square" lIns="0" tIns="0" rIns="0" bIns="0" rtlCol="0" anchor="t"/>
          <a:lstStyle/>
          <a:p>
            <a:pPr algn="ctr" indent="0" marL="0">
              <a:buNone/>
            </a:pPr>
            <a:r>
              <a:rPr lang="tr-TR" sz="1200" b="1" dirty="0">
                <a:solidFill>
                  <a:srgbClr val="36454F"/>
                </a:solidFill>
                <a:latin typeface="Calibri" pitchFamily="34" charset="0"/>
                <a:ea typeface="Calibri" pitchFamily="34" charset="-122"/>
                <a:cs typeface="Calibri" pitchFamily="34" charset="-120"/>
              </a:rPr>
              <a:t>1,00</a:t>
            </a:r>
            <a:endParaRPr lang="tr-TR" sz="1200" dirty="0"/>
          </a:p>
        </p:txBody>
      </p:sp>
      <p:sp>
        <p:nvSpPr>
          <p:cNvPr id="11" name="Text 9"/>
          <p:cNvSpPr txBox="1"/>
          <p:nvPr/>
        </p:nvSpPr>
        <p:spPr>
          <a:xfrm>
            <a:off x="6629400" y="5074920"/>
            <a:ext cx="914400" cy="274320"/>
          </a:xfrm>
          <a:prstGeom prst="rect">
            <a:avLst/>
          </a:prstGeom>
          <a:noFill/>
          <a:ln/>
        </p:spPr>
        <p:txBody>
          <a:bodyPr wrap="square" lIns="0" tIns="0" rIns="0" bIns="0" rtlCol="0" anchor="t"/>
          <a:lstStyle/>
          <a:p>
            <a:pPr algn="ctr" indent="0" marL="0">
              <a:buNone/>
            </a:pPr>
            <a:r>
              <a:rPr lang="tr-TR" sz="1200" dirty="0">
                <a:solidFill>
                  <a:srgbClr val="6B7679"/>
                </a:solidFill>
                <a:latin typeface="Calibri" pitchFamily="34" charset="0"/>
                <a:ea typeface="Calibri" pitchFamily="34" charset="-122"/>
                <a:cs typeface="Calibri" pitchFamily="34" charset="-120"/>
              </a:rPr>
              <a:t>N=1</a:t>
            </a:r>
            <a:endParaRPr lang="tr-TR" sz="1200" dirty="0"/>
          </a:p>
        </p:txBody>
      </p:sp>
      <p:sp>
        <p:nvSpPr>
          <p:cNvPr id="12" name="Shape 10"/>
          <p:cNvSpPr/>
          <p:nvPr/>
        </p:nvSpPr>
        <p:spPr>
          <a:xfrm>
            <a:off x="7607808" y="3785616"/>
            <a:ext cx="640080" cy="1243584"/>
          </a:xfrm>
          <a:prstGeom prst="rect">
            <a:avLst/>
          </a:prstGeom>
          <a:solidFill>
            <a:srgbClr val="02C39A"/>
          </a:solidFill>
          <a:ln/>
        </p:spPr>
      </p:sp>
      <p:sp>
        <p:nvSpPr>
          <p:cNvPr id="13" name="Text 11"/>
          <p:cNvSpPr txBox="1"/>
          <p:nvPr/>
        </p:nvSpPr>
        <p:spPr>
          <a:xfrm>
            <a:off x="7470648" y="3493008"/>
            <a:ext cx="914400" cy="274320"/>
          </a:xfrm>
          <a:prstGeom prst="rect">
            <a:avLst/>
          </a:prstGeom>
          <a:noFill/>
          <a:ln/>
        </p:spPr>
        <p:txBody>
          <a:bodyPr wrap="square" lIns="0" tIns="0" rIns="0" bIns="0" rtlCol="0" anchor="t"/>
          <a:lstStyle/>
          <a:p>
            <a:pPr algn="ctr" indent="0" marL="0">
              <a:buNone/>
            </a:pPr>
            <a:r>
              <a:rPr lang="tr-TR" sz="1200" b="1" dirty="0">
                <a:solidFill>
                  <a:srgbClr val="36454F"/>
                </a:solidFill>
                <a:latin typeface="Calibri" pitchFamily="34" charset="0"/>
                <a:ea typeface="Calibri" pitchFamily="34" charset="-122"/>
                <a:cs typeface="Calibri" pitchFamily="34" charset="-120"/>
              </a:rPr>
              <a:t>1,60</a:t>
            </a:r>
            <a:endParaRPr lang="tr-TR" sz="1200" dirty="0"/>
          </a:p>
        </p:txBody>
      </p:sp>
      <p:sp>
        <p:nvSpPr>
          <p:cNvPr id="14" name="Text 12"/>
          <p:cNvSpPr txBox="1"/>
          <p:nvPr/>
        </p:nvSpPr>
        <p:spPr>
          <a:xfrm>
            <a:off x="7470648" y="5074920"/>
            <a:ext cx="914400" cy="274320"/>
          </a:xfrm>
          <a:prstGeom prst="rect">
            <a:avLst/>
          </a:prstGeom>
          <a:noFill/>
          <a:ln/>
        </p:spPr>
        <p:txBody>
          <a:bodyPr wrap="square" lIns="0" tIns="0" rIns="0" bIns="0" rtlCol="0" anchor="t"/>
          <a:lstStyle/>
          <a:p>
            <a:pPr algn="ctr" indent="0" marL="0">
              <a:buNone/>
            </a:pPr>
            <a:r>
              <a:rPr lang="tr-TR" sz="1200" dirty="0">
                <a:solidFill>
                  <a:srgbClr val="6B7679"/>
                </a:solidFill>
                <a:latin typeface="Calibri" pitchFamily="34" charset="0"/>
                <a:ea typeface="Calibri" pitchFamily="34" charset="-122"/>
                <a:cs typeface="Calibri" pitchFamily="34" charset="-120"/>
              </a:rPr>
              <a:t>N=2</a:t>
            </a:r>
            <a:endParaRPr lang="tr-TR" sz="1200" dirty="0"/>
          </a:p>
        </p:txBody>
      </p:sp>
      <p:sp>
        <p:nvSpPr>
          <p:cNvPr id="15" name="Shape 13"/>
          <p:cNvSpPr/>
          <p:nvPr/>
        </p:nvSpPr>
        <p:spPr>
          <a:xfrm>
            <a:off x="8449056" y="3249320"/>
            <a:ext cx="640080" cy="1779880"/>
          </a:xfrm>
          <a:prstGeom prst="rect">
            <a:avLst/>
          </a:prstGeom>
          <a:solidFill>
            <a:srgbClr val="02C39A"/>
          </a:solidFill>
          <a:ln/>
        </p:spPr>
      </p:sp>
      <p:sp>
        <p:nvSpPr>
          <p:cNvPr id="16" name="Text 14"/>
          <p:cNvSpPr txBox="1"/>
          <p:nvPr/>
        </p:nvSpPr>
        <p:spPr>
          <a:xfrm>
            <a:off x="8311896" y="2956712"/>
            <a:ext cx="914400" cy="274320"/>
          </a:xfrm>
          <a:prstGeom prst="rect">
            <a:avLst/>
          </a:prstGeom>
          <a:noFill/>
          <a:ln/>
        </p:spPr>
        <p:txBody>
          <a:bodyPr wrap="square" lIns="0" tIns="0" rIns="0" bIns="0" rtlCol="0" anchor="t"/>
          <a:lstStyle/>
          <a:p>
            <a:pPr algn="ctr" indent="0" marL="0">
              <a:buNone/>
            </a:pPr>
            <a:r>
              <a:rPr lang="tr-TR" sz="1200" b="1" dirty="0">
                <a:solidFill>
                  <a:srgbClr val="36454F"/>
                </a:solidFill>
                <a:latin typeface="Calibri" pitchFamily="34" charset="0"/>
                <a:ea typeface="Calibri" pitchFamily="34" charset="-122"/>
                <a:cs typeface="Calibri" pitchFamily="34" charset="-120"/>
              </a:rPr>
              <a:t>2,29</a:t>
            </a:r>
            <a:endParaRPr lang="tr-TR" sz="1200" dirty="0"/>
          </a:p>
        </p:txBody>
      </p:sp>
      <p:sp>
        <p:nvSpPr>
          <p:cNvPr id="17" name="Text 15"/>
          <p:cNvSpPr txBox="1"/>
          <p:nvPr/>
        </p:nvSpPr>
        <p:spPr>
          <a:xfrm>
            <a:off x="8311896" y="5074920"/>
            <a:ext cx="914400" cy="274320"/>
          </a:xfrm>
          <a:prstGeom prst="rect">
            <a:avLst/>
          </a:prstGeom>
          <a:noFill/>
          <a:ln/>
        </p:spPr>
        <p:txBody>
          <a:bodyPr wrap="square" lIns="0" tIns="0" rIns="0" bIns="0" rtlCol="0" anchor="t"/>
          <a:lstStyle/>
          <a:p>
            <a:pPr algn="ctr" indent="0" marL="0">
              <a:buNone/>
            </a:pPr>
            <a:r>
              <a:rPr lang="tr-TR" sz="1200" dirty="0">
                <a:solidFill>
                  <a:srgbClr val="6B7679"/>
                </a:solidFill>
                <a:latin typeface="Calibri" pitchFamily="34" charset="0"/>
                <a:ea typeface="Calibri" pitchFamily="34" charset="-122"/>
                <a:cs typeface="Calibri" pitchFamily="34" charset="-120"/>
              </a:rPr>
              <a:t>N=4</a:t>
            </a:r>
            <a:endParaRPr lang="tr-TR" sz="1200" dirty="0"/>
          </a:p>
        </p:txBody>
      </p:sp>
      <p:sp>
        <p:nvSpPr>
          <p:cNvPr id="18" name="Shape 16"/>
          <p:cNvSpPr/>
          <p:nvPr/>
        </p:nvSpPr>
        <p:spPr>
          <a:xfrm>
            <a:off x="9290304" y="2767432"/>
            <a:ext cx="640080" cy="2261768"/>
          </a:xfrm>
          <a:prstGeom prst="rect">
            <a:avLst/>
          </a:prstGeom>
          <a:solidFill>
            <a:srgbClr val="02C39A"/>
          </a:solidFill>
          <a:ln/>
        </p:spPr>
      </p:sp>
      <p:sp>
        <p:nvSpPr>
          <p:cNvPr id="19" name="Text 17"/>
          <p:cNvSpPr txBox="1"/>
          <p:nvPr/>
        </p:nvSpPr>
        <p:spPr>
          <a:xfrm>
            <a:off x="9153144" y="2474824"/>
            <a:ext cx="914400" cy="274320"/>
          </a:xfrm>
          <a:prstGeom prst="rect">
            <a:avLst/>
          </a:prstGeom>
          <a:noFill/>
          <a:ln/>
        </p:spPr>
        <p:txBody>
          <a:bodyPr wrap="square" lIns="0" tIns="0" rIns="0" bIns="0" rtlCol="0" anchor="t"/>
          <a:lstStyle/>
          <a:p>
            <a:pPr algn="ctr" indent="0" marL="0">
              <a:buNone/>
            </a:pPr>
            <a:r>
              <a:rPr lang="tr-TR" sz="1200" b="1" dirty="0">
                <a:solidFill>
                  <a:srgbClr val="36454F"/>
                </a:solidFill>
                <a:latin typeface="Calibri" pitchFamily="34" charset="0"/>
                <a:ea typeface="Calibri" pitchFamily="34" charset="-122"/>
                <a:cs typeface="Calibri" pitchFamily="34" charset="-120"/>
              </a:rPr>
              <a:t>2,91</a:t>
            </a:r>
            <a:endParaRPr lang="tr-TR" sz="1200" dirty="0"/>
          </a:p>
        </p:txBody>
      </p:sp>
      <p:sp>
        <p:nvSpPr>
          <p:cNvPr id="20" name="Text 18"/>
          <p:cNvSpPr txBox="1"/>
          <p:nvPr/>
        </p:nvSpPr>
        <p:spPr>
          <a:xfrm>
            <a:off x="9153144" y="5074920"/>
            <a:ext cx="914400" cy="274320"/>
          </a:xfrm>
          <a:prstGeom prst="rect">
            <a:avLst/>
          </a:prstGeom>
          <a:noFill/>
          <a:ln/>
        </p:spPr>
        <p:txBody>
          <a:bodyPr wrap="square" lIns="0" tIns="0" rIns="0" bIns="0" rtlCol="0" anchor="t"/>
          <a:lstStyle/>
          <a:p>
            <a:pPr algn="ctr" indent="0" marL="0">
              <a:buNone/>
            </a:pPr>
            <a:r>
              <a:rPr lang="tr-TR" sz="1200" dirty="0">
                <a:solidFill>
                  <a:srgbClr val="6B7679"/>
                </a:solidFill>
                <a:latin typeface="Calibri" pitchFamily="34" charset="0"/>
                <a:ea typeface="Calibri" pitchFamily="34" charset="-122"/>
                <a:cs typeface="Calibri" pitchFamily="34" charset="-120"/>
              </a:rPr>
              <a:t>N=8</a:t>
            </a:r>
            <a:endParaRPr lang="tr-TR" sz="1200" dirty="0"/>
          </a:p>
        </p:txBody>
      </p:sp>
      <p:sp>
        <p:nvSpPr>
          <p:cNvPr id="21" name="Shape 19"/>
          <p:cNvSpPr/>
          <p:nvPr/>
        </p:nvSpPr>
        <p:spPr>
          <a:xfrm>
            <a:off x="10131552" y="2409901"/>
            <a:ext cx="640080" cy="2619299"/>
          </a:xfrm>
          <a:prstGeom prst="rect">
            <a:avLst/>
          </a:prstGeom>
          <a:solidFill>
            <a:srgbClr val="02C39A"/>
          </a:solidFill>
          <a:ln/>
        </p:spPr>
      </p:sp>
      <p:sp>
        <p:nvSpPr>
          <p:cNvPr id="22" name="Text 20"/>
          <p:cNvSpPr txBox="1"/>
          <p:nvPr/>
        </p:nvSpPr>
        <p:spPr>
          <a:xfrm>
            <a:off x="9994392" y="2117293"/>
            <a:ext cx="914400" cy="274320"/>
          </a:xfrm>
          <a:prstGeom prst="rect">
            <a:avLst/>
          </a:prstGeom>
          <a:noFill/>
          <a:ln/>
        </p:spPr>
        <p:txBody>
          <a:bodyPr wrap="square" lIns="0" tIns="0" rIns="0" bIns="0" rtlCol="0" anchor="t"/>
          <a:lstStyle/>
          <a:p>
            <a:pPr algn="ctr" indent="0" marL="0">
              <a:buNone/>
            </a:pPr>
            <a:r>
              <a:rPr lang="tr-TR" sz="1200" b="1" dirty="0">
                <a:solidFill>
                  <a:srgbClr val="36454F"/>
                </a:solidFill>
                <a:latin typeface="Calibri" pitchFamily="34" charset="0"/>
                <a:ea typeface="Calibri" pitchFamily="34" charset="-122"/>
                <a:cs typeface="Calibri" pitchFamily="34" charset="-120"/>
              </a:rPr>
              <a:t>3,37</a:t>
            </a:r>
            <a:endParaRPr lang="tr-TR" sz="1200" dirty="0"/>
          </a:p>
        </p:txBody>
      </p:sp>
      <p:sp>
        <p:nvSpPr>
          <p:cNvPr id="23" name="Text 21"/>
          <p:cNvSpPr txBox="1"/>
          <p:nvPr/>
        </p:nvSpPr>
        <p:spPr>
          <a:xfrm>
            <a:off x="9994392" y="5074920"/>
            <a:ext cx="914400" cy="274320"/>
          </a:xfrm>
          <a:prstGeom prst="rect">
            <a:avLst/>
          </a:prstGeom>
          <a:noFill/>
          <a:ln/>
        </p:spPr>
        <p:txBody>
          <a:bodyPr wrap="square" lIns="0" tIns="0" rIns="0" bIns="0" rtlCol="0" anchor="t"/>
          <a:lstStyle/>
          <a:p>
            <a:pPr algn="ctr" indent="0" marL="0">
              <a:buNone/>
            </a:pPr>
            <a:r>
              <a:rPr lang="tr-TR" sz="1200" dirty="0">
                <a:solidFill>
                  <a:srgbClr val="6B7679"/>
                </a:solidFill>
                <a:latin typeface="Calibri" pitchFamily="34" charset="0"/>
                <a:ea typeface="Calibri" pitchFamily="34" charset="-122"/>
                <a:cs typeface="Calibri" pitchFamily="34" charset="-120"/>
              </a:rPr>
              <a:t>N=16</a:t>
            </a:r>
            <a:endParaRPr lang="tr-TR" sz="1200" dirty="0"/>
          </a:p>
        </p:txBody>
      </p:sp>
      <p:sp>
        <p:nvSpPr>
          <p:cNvPr id="24" name="Shape 22"/>
          <p:cNvSpPr/>
          <p:nvPr/>
        </p:nvSpPr>
        <p:spPr>
          <a:xfrm>
            <a:off x="10972800" y="1920240"/>
            <a:ext cx="640080" cy="3108960"/>
          </a:xfrm>
          <a:prstGeom prst="rect">
            <a:avLst/>
          </a:prstGeom>
          <a:solidFill>
            <a:srgbClr val="36454F"/>
          </a:solidFill>
          <a:ln/>
        </p:spPr>
      </p:sp>
      <p:sp>
        <p:nvSpPr>
          <p:cNvPr id="25" name="Text 23"/>
          <p:cNvSpPr txBox="1"/>
          <p:nvPr/>
        </p:nvSpPr>
        <p:spPr>
          <a:xfrm>
            <a:off x="10835640" y="1627632"/>
            <a:ext cx="914400" cy="274320"/>
          </a:xfrm>
          <a:prstGeom prst="rect">
            <a:avLst/>
          </a:prstGeom>
          <a:noFill/>
          <a:ln/>
        </p:spPr>
        <p:txBody>
          <a:bodyPr wrap="square" lIns="0" tIns="0" rIns="0" bIns="0" rtlCol="0" anchor="t"/>
          <a:lstStyle/>
          <a:p>
            <a:pPr algn="ctr" indent="0" marL="0">
              <a:buNone/>
            </a:pPr>
            <a:r>
              <a:rPr lang="tr-TR" sz="1200" b="1" dirty="0">
                <a:solidFill>
                  <a:srgbClr val="36454F"/>
                </a:solidFill>
                <a:latin typeface="Calibri" pitchFamily="34" charset="0"/>
                <a:ea typeface="Calibri" pitchFamily="34" charset="-122"/>
                <a:cs typeface="Calibri" pitchFamily="34" charset="-120"/>
              </a:rPr>
              <a:t>4,00</a:t>
            </a:r>
            <a:endParaRPr lang="tr-TR" sz="1200" dirty="0"/>
          </a:p>
        </p:txBody>
      </p:sp>
      <p:sp>
        <p:nvSpPr>
          <p:cNvPr id="26" name="Text 24"/>
          <p:cNvSpPr txBox="1"/>
          <p:nvPr/>
        </p:nvSpPr>
        <p:spPr>
          <a:xfrm>
            <a:off x="10835640" y="5074920"/>
            <a:ext cx="914400" cy="274320"/>
          </a:xfrm>
          <a:prstGeom prst="rect">
            <a:avLst/>
          </a:prstGeom>
          <a:noFill/>
          <a:ln/>
        </p:spPr>
        <p:txBody>
          <a:bodyPr wrap="square" lIns="0" tIns="0" rIns="0" bIns="0" rtlCol="0" anchor="t"/>
          <a:lstStyle/>
          <a:p>
            <a:pPr algn="ctr" indent="0" marL="0">
              <a:buNone/>
            </a:pPr>
            <a:r>
              <a:rPr lang="tr-TR" sz="1200" dirty="0">
                <a:solidFill>
                  <a:srgbClr val="6B7679"/>
                </a:solidFill>
                <a:latin typeface="Calibri" pitchFamily="34" charset="0"/>
                <a:ea typeface="Calibri" pitchFamily="34" charset="-122"/>
                <a:cs typeface="Calibri" pitchFamily="34" charset="-120"/>
              </a:rPr>
              <a:t>N=∞</a:t>
            </a:r>
            <a:endParaRPr lang="tr-TR" sz="1200" dirty="0"/>
          </a:p>
        </p:txBody>
      </p:sp>
      <p:sp>
        <p:nvSpPr>
          <p:cNvPr id="27" name="Shape 25"/>
          <p:cNvSpPr/>
          <p:nvPr/>
        </p:nvSpPr>
        <p:spPr>
          <a:xfrm>
            <a:off x="6583680" y="5029200"/>
            <a:ext cx="5230368" cy="91"/>
          </a:xfrm>
          <a:prstGeom prst="line">
            <a:avLst/>
          </a:prstGeom>
          <a:noFill/>
          <a:ln w="15875">
            <a:solidFill>
              <a:srgbClr val="50808E"/>
            </a:solidFill>
            <a:prstDash val="solid"/>
          </a:ln>
        </p:spPr>
      </p:sp>
      <p:sp>
        <p:nvSpPr>
          <p:cNvPr id="28" name="Shape 26"/>
          <p:cNvSpPr/>
          <p:nvPr/>
        </p:nvSpPr>
        <p:spPr>
          <a:xfrm>
            <a:off x="548640" y="5440680"/>
            <a:ext cx="11109960" cy="822960"/>
          </a:xfrm>
          <a:prstGeom prst="roundRect">
            <a:avLst>
              <a:gd name="adj" fmla="val 6667"/>
            </a:avLst>
          </a:prstGeom>
          <a:solidFill>
            <a:srgbClr val="36454F"/>
          </a:solidFill>
          <a:ln/>
          <a:effectLst>
            <a:outerShdw sx="100000" sy="100000" kx="0" ky="0" algn="bl" rotWithShape="0" blurRad="101600" dist="25400" dir="5400000">
              <a:srgbClr val="000000">
                <a:alpha val="12000"/>
              </a:srgbClr>
            </a:outerShdw>
          </a:effectLst>
        </p:spPr>
      </p:sp>
      <p:sp>
        <p:nvSpPr>
          <p:cNvPr id="29" name="Text 27"/>
          <p:cNvSpPr txBox="1"/>
          <p:nvPr/>
        </p:nvSpPr>
        <p:spPr>
          <a:xfrm>
            <a:off x="777240" y="5440680"/>
            <a:ext cx="10652760" cy="822960"/>
          </a:xfrm>
          <a:prstGeom prst="rect">
            <a:avLst/>
          </a:prstGeom>
          <a:noFill/>
          <a:ln/>
        </p:spPr>
        <p:txBody>
          <a:bodyPr wrap="square" lIns="0" tIns="0" rIns="0" bIns="0" rtlCol="0" anchor="ctr"/>
          <a:lstStyle/>
          <a:p>
            <a:pPr indent="0" marL="0">
              <a:buNone/>
            </a:pPr>
            <a:r>
              <a:rPr lang="tr-TR" sz="1400" dirty="0">
                <a:solidFill>
                  <a:srgbClr val="F2F2F2"/>
                </a:solidFill>
                <a:latin typeface="Calibri" pitchFamily="34" charset="0"/>
                <a:ea typeface="Calibri" pitchFamily="34" charset="-122"/>
                <a:cs typeface="Calibri" pitchFamily="34" charset="-120"/>
              </a:rPr>
              <a:t>8 çekirdekten 16 çekirdeğe çıkmak (donanımı ikiye katlamak) hızlanmayı yalnızca 2,91'den 3,37'ye yükseltir. Önce seri kısmı küçültün — sonra çekirdek ekleyin.</a:t>
            </a:r>
            <a:endParaRPr lang="tr-TR"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İŞ PARÇACIĞI TÜRLERİ</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Kullanıcı Düzeyi ve Çekirdek Düzeyi İş Parçacıkları</a:t>
            </a:r>
            <a:endParaRPr lang="tr-TR"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tr-TR" sz="1500" dirty="0">
                <a:solidFill>
                  <a:srgbClr val="3A464C"/>
                </a:solidFill>
                <a:latin typeface="Calibri" pitchFamily="34" charset="0"/>
                <a:ea typeface="Calibri" pitchFamily="34" charset="-122"/>
                <a:cs typeface="Calibri" pitchFamily="34" charset="-120"/>
              </a:rPr>
              <a:t>İş parçacıklarının varlığından kim haberdar — yalnızca programın içindeki bir kütüphane mi, yoksa çekirdeğin kendisi mi?</a:t>
            </a:r>
            <a:endParaRPr lang="tr-TR"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4  ·  14</a:t>
            </a:r>
            <a:endParaRPr lang="tr-TR" sz="900" dirty="0"/>
          </a:p>
        </p:txBody>
      </p:sp>
      <p:sp>
        <p:nvSpPr>
          <p:cNvPr id="7" name="Shape 5"/>
          <p:cNvSpPr/>
          <p:nvPr/>
        </p:nvSpPr>
        <p:spPr>
          <a:xfrm>
            <a:off x="548640" y="2103120"/>
            <a:ext cx="5440680" cy="3154680"/>
          </a:xfrm>
          <a:prstGeom prst="roundRect">
            <a:avLst>
              <a:gd name="adj" fmla="val 1739"/>
            </a:avLst>
          </a:prstGeom>
          <a:solidFill>
            <a:srgbClr val="F2F2F2"/>
          </a:solidFill>
          <a:ln/>
          <a:effectLst>
            <a:outerShdw sx="100000" sy="100000" kx="0" ky="0" algn="bl" rotWithShape="0" blurRad="101600" dist="25400" dir="5400000">
              <a:srgbClr val="000000">
                <a:alpha val="12000"/>
              </a:srgbClr>
            </a:outerShdw>
          </a:effectLst>
        </p:spPr>
      </p:sp>
      <p:sp>
        <p:nvSpPr>
          <p:cNvPr id="8" name="Text 6"/>
          <p:cNvSpPr txBox="1"/>
          <p:nvPr/>
        </p:nvSpPr>
        <p:spPr>
          <a:xfrm>
            <a:off x="777240" y="2286000"/>
            <a:ext cx="498348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Kullanıcı düzeyi (user-level)</a:t>
            </a:r>
            <a:endParaRPr lang="tr-TR" sz="1500" dirty="0"/>
          </a:p>
        </p:txBody>
      </p:sp>
      <p:sp>
        <p:nvSpPr>
          <p:cNvPr id="9" name="Text 7"/>
          <p:cNvSpPr txBox="1"/>
          <p:nvPr/>
        </p:nvSpPr>
        <p:spPr>
          <a:xfrm>
            <a:off x="777240" y="2743200"/>
            <a:ext cx="4983480" cy="2377440"/>
          </a:xfrm>
          <a:prstGeom prst="rect">
            <a:avLst/>
          </a:prstGeom>
          <a:noFill/>
          <a:ln/>
        </p:spPr>
        <p:txBody>
          <a:bodyPr wrap="square" lIns="0" tIns="0" rIns="0" bIns="0" rtlCol="0" anchor="t"/>
          <a:lstStyle/>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Süreç içindeki bir kütüphane yönetir; çekirdek tek iş parçacıklı tek bir süreç görür.</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Yaratma ve geçiş: yalnızca fonksiyon çağrıları — çok hızlı, sistem çağrısı yok.</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Bir iş parçacığı bloke eden bir sistem çağrısı yaparsa çekirdek bütün süreci bloke eder.</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İki çekirdeği kullanamaz: çekirdek tek bir şeyi zamanlar.</a:t>
            </a:r>
            <a:endParaRPr lang="tr-TR" sz="1400" dirty="0"/>
          </a:p>
        </p:txBody>
      </p:sp>
      <p:sp>
        <p:nvSpPr>
          <p:cNvPr id="10" name="Shape 8"/>
          <p:cNvSpPr/>
          <p:nvPr/>
        </p:nvSpPr>
        <p:spPr>
          <a:xfrm>
            <a:off x="6217920" y="2103120"/>
            <a:ext cx="5440680" cy="3154680"/>
          </a:xfrm>
          <a:prstGeom prst="roundRect">
            <a:avLst>
              <a:gd name="adj" fmla="val 1739"/>
            </a:avLst>
          </a:prstGeom>
          <a:solidFill>
            <a:srgbClr val="F2F2F2"/>
          </a:solidFill>
          <a:ln/>
          <a:effectLst>
            <a:outerShdw sx="100000" sy="100000" kx="0" ky="0" algn="bl" rotWithShape="0" blurRad="101600" dist="25400" dir="5400000">
              <a:srgbClr val="000000">
                <a:alpha val="12000"/>
              </a:srgbClr>
            </a:outerShdw>
          </a:effectLst>
        </p:spPr>
      </p:sp>
      <p:sp>
        <p:nvSpPr>
          <p:cNvPr id="11" name="Text 9"/>
          <p:cNvSpPr txBox="1"/>
          <p:nvPr/>
        </p:nvSpPr>
        <p:spPr>
          <a:xfrm>
            <a:off x="6446520" y="2286000"/>
            <a:ext cx="498348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Çekirdek düzeyi (kernel-level)</a:t>
            </a:r>
            <a:endParaRPr lang="tr-TR" sz="1500" dirty="0"/>
          </a:p>
        </p:txBody>
      </p:sp>
      <p:sp>
        <p:nvSpPr>
          <p:cNvPr id="12" name="Text 10"/>
          <p:cNvSpPr txBox="1"/>
          <p:nvPr/>
        </p:nvSpPr>
        <p:spPr>
          <a:xfrm>
            <a:off x="6446520" y="2743200"/>
            <a:ext cx="4983480" cy="2377440"/>
          </a:xfrm>
          <a:prstGeom prst="rect">
            <a:avLst/>
          </a:prstGeom>
          <a:noFill/>
          <a:ln/>
        </p:spPr>
        <p:txBody>
          <a:bodyPr wrap="square" lIns="0" tIns="0" rIns="0" bIns="0" rtlCol="0" anchor="t"/>
          <a:lstStyle/>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İşletim sistemi çekirdeği yaratır ve zamanlar; her birinin kendi çekirdek kaydı vardır.</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Yaratma ve geçiş sistem çağrısı ister — kullanıcı düzeyine göre yavaştır.</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Bir iş parçacığı bloke olursa çekirdek aynı sürecin başka bir iş parçacığını çalıştırır.</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Bir sürecin iş parçacıkları birkaç çekirdekte paralel çalışır.</a:t>
            </a:r>
            <a:endParaRPr lang="tr-TR" sz="1400" dirty="0"/>
          </a:p>
        </p:txBody>
      </p:sp>
      <p:sp>
        <p:nvSpPr>
          <p:cNvPr id="13" name="Shape 11"/>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sp>
      <p:sp>
        <p:nvSpPr>
          <p:cNvPr id="14" name="Text 12"/>
          <p:cNvSpPr txBox="1"/>
          <p:nvPr/>
        </p:nvSpPr>
        <p:spPr>
          <a:xfrm>
            <a:off x="777240" y="5486400"/>
            <a:ext cx="10652760" cy="777240"/>
          </a:xfrm>
          <a:prstGeom prst="rect">
            <a:avLst/>
          </a:prstGeom>
          <a:noFill/>
          <a:ln/>
        </p:spPr>
        <p:txBody>
          <a:bodyPr wrap="square" lIns="0" tIns="0" rIns="0" bIns="0" rtlCol="0" anchor="ctr"/>
          <a:lstStyle/>
          <a:p>
            <a:pPr indent="0" marL="0">
              <a:buNone/>
            </a:pPr>
            <a:r>
              <a:rPr lang="tr-TR" sz="1400" dirty="0">
                <a:solidFill>
                  <a:srgbClr val="F2F2F2"/>
                </a:solidFill>
                <a:latin typeface="Calibri" pitchFamily="34" charset="0"/>
                <a:ea typeface="Calibri" pitchFamily="34" charset="-122"/>
                <a:cs typeface="Calibri" pitchFamily="34" charset="-120"/>
              </a:rPr>
              <a:t>Her kullanıcı iş parçacığı eninde sonunda bir çekirdek iş parçacığı üzerinde çalışmalıdır. Bu eşleştirmenin biçimine çoklu iş parçacığı modeli denir.</a:t>
            </a:r>
            <a:endParaRPr lang="tr-TR"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ÇOKLU İŞ PARÇACIĞI MODELLERİ</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Model 1: Çoktan Bire (Many-to-One)</a:t>
            </a:r>
            <a:endParaRPr lang="tr-TR"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tr-TR" sz="1500" dirty="0">
                <a:solidFill>
                  <a:srgbClr val="3A464C"/>
                </a:solidFill>
                <a:latin typeface="Calibri" pitchFamily="34" charset="0"/>
                <a:ea typeface="Calibri" pitchFamily="34" charset="-122"/>
                <a:cs typeface="Calibri" pitchFamily="34" charset="-120"/>
              </a:rPr>
              <a:t>Birçok kullanıcı iş parçacığı tek bir çekirdek iş parçacığına eşlenir. Yönetimi kullanıcı alanındaki bir kütüphane yapar.</a:t>
            </a:r>
            <a:endParaRPr lang="tr-TR"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4  ·  15</a:t>
            </a:r>
            <a:endParaRPr lang="tr-TR" sz="900" dirty="0"/>
          </a:p>
        </p:txBody>
      </p:sp>
      <p:sp>
        <p:nvSpPr>
          <p:cNvPr id="7" name="Shape 5"/>
          <p:cNvSpPr/>
          <p:nvPr/>
        </p:nvSpPr>
        <p:spPr>
          <a:xfrm>
            <a:off x="548640" y="2103120"/>
            <a:ext cx="5669280" cy="1143000"/>
          </a:xfrm>
          <a:prstGeom prst="roundRect">
            <a:avLst>
              <a:gd name="adj" fmla="val 4000"/>
            </a:avLst>
          </a:prstGeom>
          <a:solidFill>
            <a:srgbClr val="F2F2F2"/>
          </a:solidFill>
          <a:ln/>
        </p:spPr>
      </p:sp>
      <p:sp>
        <p:nvSpPr>
          <p:cNvPr id="8" name="Text 6"/>
          <p:cNvSpPr txBox="1"/>
          <p:nvPr/>
        </p:nvSpPr>
        <p:spPr>
          <a:xfrm>
            <a:off x="685800" y="2157984"/>
            <a:ext cx="2286000" cy="256032"/>
          </a:xfrm>
          <a:prstGeom prst="rect">
            <a:avLst/>
          </a:prstGeom>
          <a:noFill/>
          <a:ln/>
        </p:spPr>
        <p:txBody>
          <a:bodyPr wrap="square" lIns="0" tIns="0" rIns="0" bIns="0" rtlCol="0" anchor="t"/>
          <a:lstStyle/>
          <a:p>
            <a:pPr indent="0" marL="0">
              <a:buNone/>
            </a:pPr>
            <a:r>
              <a:rPr lang="tr-TR" sz="1100" i="1" dirty="0">
                <a:solidFill>
                  <a:srgbClr val="6B7679"/>
                </a:solidFill>
                <a:latin typeface="Calibri" pitchFamily="34" charset="0"/>
                <a:ea typeface="Calibri" pitchFamily="34" charset="-122"/>
                <a:cs typeface="Calibri" pitchFamily="34" charset="-120"/>
              </a:rPr>
              <a:t>kullanıcı alanı</a:t>
            </a:r>
            <a:endParaRPr lang="tr-TR" sz="1100" dirty="0"/>
          </a:p>
        </p:txBody>
      </p:sp>
      <p:sp>
        <p:nvSpPr>
          <p:cNvPr id="9" name="Shape 7"/>
          <p:cNvSpPr/>
          <p:nvPr/>
        </p:nvSpPr>
        <p:spPr>
          <a:xfrm>
            <a:off x="548640" y="4343400"/>
            <a:ext cx="5669280" cy="1143000"/>
          </a:xfrm>
          <a:prstGeom prst="roundRect">
            <a:avLst>
              <a:gd name="adj" fmla="val 4000"/>
            </a:avLst>
          </a:prstGeom>
          <a:solidFill>
            <a:srgbClr val="36454F"/>
          </a:solidFill>
          <a:ln/>
        </p:spPr>
      </p:sp>
      <p:sp>
        <p:nvSpPr>
          <p:cNvPr id="10" name="Text 8"/>
          <p:cNvSpPr txBox="1"/>
          <p:nvPr/>
        </p:nvSpPr>
        <p:spPr>
          <a:xfrm>
            <a:off x="685800" y="5175504"/>
            <a:ext cx="2286000" cy="256032"/>
          </a:xfrm>
          <a:prstGeom prst="rect">
            <a:avLst/>
          </a:prstGeom>
          <a:noFill/>
          <a:ln/>
        </p:spPr>
        <p:txBody>
          <a:bodyPr wrap="square" lIns="0" tIns="0" rIns="0" bIns="0" rtlCol="0" anchor="t"/>
          <a:lstStyle/>
          <a:p>
            <a:pPr indent="0" marL="0">
              <a:buNone/>
            </a:pPr>
            <a:r>
              <a:rPr lang="tr-TR" sz="1100" i="1" dirty="0">
                <a:solidFill>
                  <a:srgbClr val="8A9AA0"/>
                </a:solidFill>
                <a:latin typeface="Calibri" pitchFamily="34" charset="0"/>
                <a:ea typeface="Calibri" pitchFamily="34" charset="-122"/>
                <a:cs typeface="Calibri" pitchFamily="34" charset="-120"/>
              </a:rPr>
              <a:t>çekirdek alanı</a:t>
            </a:r>
            <a:endParaRPr lang="tr-TR" sz="1100" dirty="0"/>
          </a:p>
        </p:txBody>
      </p:sp>
      <p:sp>
        <p:nvSpPr>
          <p:cNvPr id="11" name="Shape 9"/>
          <p:cNvSpPr/>
          <p:nvPr/>
        </p:nvSpPr>
        <p:spPr>
          <a:xfrm>
            <a:off x="1257300" y="2916936"/>
            <a:ext cx="2125980" cy="1746504"/>
          </a:xfrm>
          <a:prstGeom prst="line">
            <a:avLst/>
          </a:prstGeom>
          <a:noFill/>
          <a:ln w="25400">
            <a:solidFill>
              <a:srgbClr val="028090"/>
            </a:solidFill>
            <a:prstDash val="solid"/>
          </a:ln>
        </p:spPr>
      </p:sp>
      <p:sp>
        <p:nvSpPr>
          <p:cNvPr id="12" name="Shape 10"/>
          <p:cNvSpPr/>
          <p:nvPr/>
        </p:nvSpPr>
        <p:spPr>
          <a:xfrm>
            <a:off x="2674620" y="2916936"/>
            <a:ext cx="708660" cy="1746504"/>
          </a:xfrm>
          <a:prstGeom prst="line">
            <a:avLst/>
          </a:prstGeom>
          <a:noFill/>
          <a:ln w="25400">
            <a:solidFill>
              <a:srgbClr val="028090"/>
            </a:solidFill>
            <a:prstDash val="solid"/>
          </a:ln>
        </p:spPr>
      </p:sp>
      <p:sp>
        <p:nvSpPr>
          <p:cNvPr id="13" name="Shape 11"/>
          <p:cNvSpPr/>
          <p:nvPr/>
        </p:nvSpPr>
        <p:spPr>
          <a:xfrm flipH="1">
            <a:off x="3383280" y="2916936"/>
            <a:ext cx="708660" cy="1746504"/>
          </a:xfrm>
          <a:prstGeom prst="line">
            <a:avLst/>
          </a:prstGeom>
          <a:noFill/>
          <a:ln w="25400">
            <a:solidFill>
              <a:srgbClr val="028090"/>
            </a:solidFill>
            <a:prstDash val="solid"/>
          </a:ln>
        </p:spPr>
      </p:sp>
      <p:sp>
        <p:nvSpPr>
          <p:cNvPr id="14" name="Shape 12"/>
          <p:cNvSpPr/>
          <p:nvPr/>
        </p:nvSpPr>
        <p:spPr>
          <a:xfrm flipH="1">
            <a:off x="3383280" y="2916936"/>
            <a:ext cx="2125980" cy="1746504"/>
          </a:xfrm>
          <a:prstGeom prst="line">
            <a:avLst/>
          </a:prstGeom>
          <a:noFill/>
          <a:ln w="25400">
            <a:solidFill>
              <a:srgbClr val="028090"/>
            </a:solidFill>
            <a:prstDash val="solid"/>
          </a:ln>
        </p:spPr>
      </p:sp>
      <p:sp>
        <p:nvSpPr>
          <p:cNvPr id="15" name="Shape 13"/>
          <p:cNvSpPr/>
          <p:nvPr/>
        </p:nvSpPr>
        <p:spPr>
          <a:xfrm>
            <a:off x="1010412" y="2423160"/>
            <a:ext cx="493776" cy="493776"/>
          </a:xfrm>
          <a:prstGeom prst="ellipse">
            <a:avLst/>
          </a:prstGeom>
          <a:solidFill>
            <a:srgbClr val="02C39A"/>
          </a:solidFill>
          <a:ln/>
        </p:spPr>
      </p:sp>
      <p:sp>
        <p:nvSpPr>
          <p:cNvPr id="16" name="Text 14"/>
          <p:cNvSpPr txBox="1"/>
          <p:nvPr/>
        </p:nvSpPr>
        <p:spPr>
          <a:xfrm>
            <a:off x="1010412" y="2423160"/>
            <a:ext cx="493776" cy="493776"/>
          </a:xfrm>
          <a:prstGeom prst="rect">
            <a:avLst/>
          </a:prstGeom>
          <a:noFill/>
          <a:ln/>
        </p:spPr>
        <p:txBody>
          <a:bodyPr wrap="square" lIns="0" tIns="0" rIns="0" bIns="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K</a:t>
            </a:r>
            <a:endParaRPr lang="tr-TR" sz="1300" dirty="0"/>
          </a:p>
        </p:txBody>
      </p:sp>
      <p:sp>
        <p:nvSpPr>
          <p:cNvPr id="17" name="Shape 15"/>
          <p:cNvSpPr/>
          <p:nvPr/>
        </p:nvSpPr>
        <p:spPr>
          <a:xfrm>
            <a:off x="2427732" y="2423160"/>
            <a:ext cx="493776" cy="493776"/>
          </a:xfrm>
          <a:prstGeom prst="ellipse">
            <a:avLst/>
          </a:prstGeom>
          <a:solidFill>
            <a:srgbClr val="02C39A"/>
          </a:solidFill>
          <a:ln/>
        </p:spPr>
      </p:sp>
      <p:sp>
        <p:nvSpPr>
          <p:cNvPr id="18" name="Text 16"/>
          <p:cNvSpPr txBox="1"/>
          <p:nvPr/>
        </p:nvSpPr>
        <p:spPr>
          <a:xfrm>
            <a:off x="2427732" y="2423160"/>
            <a:ext cx="493776" cy="493776"/>
          </a:xfrm>
          <a:prstGeom prst="rect">
            <a:avLst/>
          </a:prstGeom>
          <a:noFill/>
          <a:ln/>
        </p:spPr>
        <p:txBody>
          <a:bodyPr wrap="square" lIns="0" tIns="0" rIns="0" bIns="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K</a:t>
            </a:r>
            <a:endParaRPr lang="tr-TR" sz="1300" dirty="0"/>
          </a:p>
        </p:txBody>
      </p:sp>
      <p:sp>
        <p:nvSpPr>
          <p:cNvPr id="19" name="Shape 17"/>
          <p:cNvSpPr/>
          <p:nvPr/>
        </p:nvSpPr>
        <p:spPr>
          <a:xfrm>
            <a:off x="3845052" y="2423160"/>
            <a:ext cx="493776" cy="493776"/>
          </a:xfrm>
          <a:prstGeom prst="ellipse">
            <a:avLst/>
          </a:prstGeom>
          <a:solidFill>
            <a:srgbClr val="02C39A"/>
          </a:solidFill>
          <a:ln/>
        </p:spPr>
      </p:sp>
      <p:sp>
        <p:nvSpPr>
          <p:cNvPr id="20" name="Text 18"/>
          <p:cNvSpPr txBox="1"/>
          <p:nvPr/>
        </p:nvSpPr>
        <p:spPr>
          <a:xfrm>
            <a:off x="3845052" y="2423160"/>
            <a:ext cx="493776" cy="493776"/>
          </a:xfrm>
          <a:prstGeom prst="rect">
            <a:avLst/>
          </a:prstGeom>
          <a:noFill/>
          <a:ln/>
        </p:spPr>
        <p:txBody>
          <a:bodyPr wrap="square" lIns="0" tIns="0" rIns="0" bIns="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K</a:t>
            </a:r>
            <a:endParaRPr lang="tr-TR" sz="1300" dirty="0"/>
          </a:p>
        </p:txBody>
      </p:sp>
      <p:sp>
        <p:nvSpPr>
          <p:cNvPr id="21" name="Shape 19"/>
          <p:cNvSpPr/>
          <p:nvPr/>
        </p:nvSpPr>
        <p:spPr>
          <a:xfrm>
            <a:off x="5262372" y="2423160"/>
            <a:ext cx="493776" cy="493776"/>
          </a:xfrm>
          <a:prstGeom prst="ellipse">
            <a:avLst/>
          </a:prstGeom>
          <a:solidFill>
            <a:srgbClr val="02C39A"/>
          </a:solidFill>
          <a:ln/>
        </p:spPr>
      </p:sp>
      <p:sp>
        <p:nvSpPr>
          <p:cNvPr id="22" name="Text 20"/>
          <p:cNvSpPr txBox="1"/>
          <p:nvPr/>
        </p:nvSpPr>
        <p:spPr>
          <a:xfrm>
            <a:off x="5262372" y="2423160"/>
            <a:ext cx="493776" cy="493776"/>
          </a:xfrm>
          <a:prstGeom prst="rect">
            <a:avLst/>
          </a:prstGeom>
          <a:noFill/>
          <a:ln/>
        </p:spPr>
        <p:txBody>
          <a:bodyPr wrap="square" lIns="0" tIns="0" rIns="0" bIns="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K</a:t>
            </a:r>
            <a:endParaRPr lang="tr-TR" sz="1300" dirty="0"/>
          </a:p>
        </p:txBody>
      </p:sp>
      <p:sp>
        <p:nvSpPr>
          <p:cNvPr id="23" name="Shape 21"/>
          <p:cNvSpPr/>
          <p:nvPr/>
        </p:nvSpPr>
        <p:spPr>
          <a:xfrm>
            <a:off x="3136392" y="4663440"/>
            <a:ext cx="493776" cy="493776"/>
          </a:xfrm>
          <a:prstGeom prst="ellipse">
            <a:avLst/>
          </a:prstGeom>
          <a:solidFill>
            <a:srgbClr val="FFFFFF"/>
          </a:solidFill>
          <a:ln/>
        </p:spPr>
      </p:sp>
      <p:sp>
        <p:nvSpPr>
          <p:cNvPr id="24" name="Text 22"/>
          <p:cNvSpPr txBox="1"/>
          <p:nvPr/>
        </p:nvSpPr>
        <p:spPr>
          <a:xfrm>
            <a:off x="3136392" y="4663440"/>
            <a:ext cx="493776" cy="493776"/>
          </a:xfrm>
          <a:prstGeom prst="rect">
            <a:avLst/>
          </a:prstGeom>
          <a:noFill/>
          <a:ln/>
        </p:spPr>
        <p:txBody>
          <a:bodyPr wrap="square" lIns="0" tIns="0" rIns="0" bIns="0" rtlCol="0" anchor="ctr"/>
          <a:lstStyle/>
          <a:p>
            <a:pPr algn="ctr" indent="0" marL="0">
              <a:buNone/>
            </a:pPr>
            <a:r>
              <a:rPr lang="tr-TR" sz="1300" b="1" dirty="0">
                <a:solidFill>
                  <a:srgbClr val="36454F"/>
                </a:solidFill>
                <a:latin typeface="Calibri" pitchFamily="34" charset="0"/>
                <a:ea typeface="Calibri" pitchFamily="34" charset="-122"/>
                <a:cs typeface="Calibri" pitchFamily="34" charset="-120"/>
              </a:rPr>
              <a:t>Ç</a:t>
            </a:r>
            <a:endParaRPr lang="tr-TR" sz="1300" dirty="0"/>
          </a:p>
        </p:txBody>
      </p:sp>
      <p:sp>
        <p:nvSpPr>
          <p:cNvPr id="25" name="Text 23"/>
          <p:cNvSpPr txBox="1"/>
          <p:nvPr/>
        </p:nvSpPr>
        <p:spPr>
          <a:xfrm>
            <a:off x="548640" y="5623560"/>
            <a:ext cx="5669280" cy="548640"/>
          </a:xfrm>
          <a:prstGeom prst="rect">
            <a:avLst/>
          </a:prstGeom>
          <a:noFill/>
          <a:ln/>
        </p:spPr>
        <p:txBody>
          <a:bodyPr wrap="square" lIns="0" tIns="0" rIns="0" bIns="0" rtlCol="0" anchor="t"/>
          <a:lstStyle/>
          <a:p>
            <a:pPr indent="0" marL="0">
              <a:buNone/>
            </a:pPr>
            <a:r>
              <a:rPr lang="tr-TR" sz="1200" i="1" dirty="0">
                <a:solidFill>
                  <a:srgbClr val="6B7679"/>
                </a:solidFill>
                <a:latin typeface="Calibri" pitchFamily="34" charset="0"/>
                <a:ea typeface="Calibri" pitchFamily="34" charset="-122"/>
                <a:cs typeface="Calibri" pitchFamily="34" charset="-120"/>
              </a:rPr>
              <a:t>K = kullanıcı iş parçacığı,  Ç = çekirdek iş parçacığı</a:t>
            </a:r>
            <a:endParaRPr lang="tr-TR" sz="1200" dirty="0"/>
          </a:p>
        </p:txBody>
      </p:sp>
      <p:sp>
        <p:nvSpPr>
          <p:cNvPr id="26" name="Shape 24"/>
          <p:cNvSpPr/>
          <p:nvPr/>
        </p:nvSpPr>
        <p:spPr>
          <a:xfrm>
            <a:off x="6537960" y="2103120"/>
            <a:ext cx="5120640" cy="1463040"/>
          </a:xfrm>
          <a:prstGeom prst="roundRect">
            <a:avLst>
              <a:gd name="adj" fmla="val 3750"/>
            </a:avLst>
          </a:prstGeom>
          <a:solidFill>
            <a:srgbClr val="F2F2F2"/>
          </a:solidFill>
          <a:ln/>
          <a:effectLst>
            <a:outerShdw sx="100000" sy="100000" kx="0" ky="0" algn="bl" rotWithShape="0" blurRad="101600" dist="25400" dir="5400000">
              <a:srgbClr val="000000">
                <a:alpha val="12000"/>
              </a:srgbClr>
            </a:outerShdw>
          </a:effectLst>
        </p:spPr>
      </p:sp>
      <p:sp>
        <p:nvSpPr>
          <p:cNvPr id="27" name="Text 25"/>
          <p:cNvSpPr txBox="1"/>
          <p:nvPr/>
        </p:nvSpPr>
        <p:spPr>
          <a:xfrm>
            <a:off x="6766560" y="2286000"/>
            <a:ext cx="466344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Avantajlar</a:t>
            </a:r>
            <a:endParaRPr lang="tr-TR" sz="1500" dirty="0"/>
          </a:p>
        </p:txBody>
      </p:sp>
      <p:sp>
        <p:nvSpPr>
          <p:cNvPr id="28" name="Text 26"/>
          <p:cNvSpPr txBox="1"/>
          <p:nvPr/>
        </p:nvSpPr>
        <p:spPr>
          <a:xfrm>
            <a:off x="6766560" y="2743200"/>
            <a:ext cx="4663440" cy="685800"/>
          </a:xfrm>
          <a:prstGeom prst="rect">
            <a:avLst/>
          </a:prstGeom>
          <a:noFill/>
          <a:ln/>
        </p:spPr>
        <p:txBody>
          <a:bodyPr wrap="square" lIns="0" tIns="0" rIns="0" bIns="0" rtlCol="0" anchor="t"/>
          <a:lstStyle/>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Hızlı: iş parçacığı geçişi çekirdeğe uğramadan yapılır.</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Çekirdek iş parçacığı olmayan bir işletim sisteminde bile çalışır.</a:t>
            </a:r>
            <a:endParaRPr lang="tr-TR" sz="1400" dirty="0"/>
          </a:p>
        </p:txBody>
      </p:sp>
      <p:sp>
        <p:nvSpPr>
          <p:cNvPr id="29" name="Shape 27"/>
          <p:cNvSpPr/>
          <p:nvPr/>
        </p:nvSpPr>
        <p:spPr>
          <a:xfrm>
            <a:off x="6537960" y="3749040"/>
            <a:ext cx="5120640" cy="1463040"/>
          </a:xfrm>
          <a:prstGeom prst="roundRect">
            <a:avLst>
              <a:gd name="adj" fmla="val 3750"/>
            </a:avLst>
          </a:prstGeom>
          <a:solidFill>
            <a:srgbClr val="F2F2F2"/>
          </a:solidFill>
          <a:ln/>
          <a:effectLst>
            <a:outerShdw sx="100000" sy="100000" kx="0" ky="0" algn="bl" rotWithShape="0" blurRad="101600" dist="25400" dir="5400000">
              <a:srgbClr val="000000">
                <a:alpha val="12000"/>
              </a:srgbClr>
            </a:outerShdw>
          </a:effectLst>
        </p:spPr>
      </p:sp>
      <p:sp>
        <p:nvSpPr>
          <p:cNvPr id="30" name="Text 28"/>
          <p:cNvSpPr txBox="1"/>
          <p:nvPr/>
        </p:nvSpPr>
        <p:spPr>
          <a:xfrm>
            <a:off x="6766560" y="3931920"/>
            <a:ext cx="4663440" cy="384048"/>
          </a:xfrm>
          <a:prstGeom prst="rect">
            <a:avLst/>
          </a:prstGeom>
          <a:noFill/>
          <a:ln/>
        </p:spPr>
        <p:txBody>
          <a:bodyPr wrap="square" lIns="0" tIns="0" rIns="0" bIns="0" rtlCol="0" anchor="ctr"/>
          <a:lstStyle/>
          <a:p>
            <a:pPr indent="0" marL="0">
              <a:buNone/>
            </a:pPr>
            <a:r>
              <a:rPr lang="tr-TR" sz="1500" b="1" dirty="0">
                <a:solidFill>
                  <a:srgbClr val="B5453A"/>
                </a:solidFill>
                <a:latin typeface="Cambria" pitchFamily="34" charset="0"/>
                <a:ea typeface="Cambria" pitchFamily="34" charset="-122"/>
                <a:cs typeface="Cambria" pitchFamily="34" charset="-120"/>
              </a:rPr>
              <a:t>Dezavantajlar</a:t>
            </a:r>
            <a:endParaRPr lang="tr-TR" sz="1500" dirty="0"/>
          </a:p>
        </p:txBody>
      </p:sp>
      <p:sp>
        <p:nvSpPr>
          <p:cNvPr id="31" name="Text 29"/>
          <p:cNvSpPr txBox="1"/>
          <p:nvPr/>
        </p:nvSpPr>
        <p:spPr>
          <a:xfrm>
            <a:off x="6766560" y="4389120"/>
            <a:ext cx="4663440" cy="685800"/>
          </a:xfrm>
          <a:prstGeom prst="rect">
            <a:avLst/>
          </a:prstGeom>
          <a:noFill/>
          <a:ln/>
        </p:spPr>
        <p:txBody>
          <a:bodyPr wrap="square" lIns="0" tIns="0" rIns="0" bIns="0" rtlCol="0" anchor="t"/>
          <a:lstStyle/>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Bloke eden tek bir çağrı TÜM iş parçacıklarını durdurur.</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Paralellik yok: çekirdekte aynı anda tek iş parçacığı olabilir.</a:t>
            </a:r>
            <a:endParaRPr lang="tr-TR" sz="1400" dirty="0"/>
          </a:p>
        </p:txBody>
      </p:sp>
      <p:sp>
        <p:nvSpPr>
          <p:cNvPr id="32" name="Shape 30"/>
          <p:cNvSpPr/>
          <p:nvPr/>
        </p:nvSpPr>
        <p:spPr>
          <a:xfrm>
            <a:off x="6537960" y="5394960"/>
            <a:ext cx="5120640" cy="868680"/>
          </a:xfrm>
          <a:prstGeom prst="roundRect">
            <a:avLst>
              <a:gd name="adj" fmla="val 6316"/>
            </a:avLst>
          </a:prstGeom>
          <a:solidFill>
            <a:srgbClr val="36454F"/>
          </a:solidFill>
          <a:ln/>
          <a:effectLst>
            <a:outerShdw sx="100000" sy="100000" kx="0" ky="0" algn="bl" rotWithShape="0" blurRad="101600" dist="25400" dir="5400000">
              <a:srgbClr val="000000">
                <a:alpha val="12000"/>
              </a:srgbClr>
            </a:outerShdw>
          </a:effectLst>
        </p:spPr>
      </p:sp>
      <p:sp>
        <p:nvSpPr>
          <p:cNvPr id="33" name="Text 31"/>
          <p:cNvSpPr txBox="1"/>
          <p:nvPr/>
        </p:nvSpPr>
        <p:spPr>
          <a:xfrm>
            <a:off x="6766560" y="5394960"/>
            <a:ext cx="4663440" cy="868680"/>
          </a:xfrm>
          <a:prstGeom prst="rect">
            <a:avLst/>
          </a:prstGeom>
          <a:noFill/>
          <a:ln/>
        </p:spPr>
        <p:txBody>
          <a:bodyPr wrap="square" lIns="0" tIns="0" rIns="0" bIns="0" rtlCol="0" anchor="ctr"/>
          <a:lstStyle/>
          <a:p>
            <a:pPr indent="0" marL="0">
              <a:buNone/>
            </a:pPr>
            <a:r>
              <a:rPr lang="tr-TR" sz="1300" dirty="0">
                <a:solidFill>
                  <a:srgbClr val="F2F2F2"/>
                </a:solidFill>
                <a:latin typeface="Calibri" pitchFamily="34" charset="0"/>
                <a:ea typeface="Calibri" pitchFamily="34" charset="-122"/>
                <a:cs typeface="Calibri" pitchFamily="34" charset="-120"/>
              </a:rPr>
              <a:t>Örnekler: Solaris Green Threads, GNU Portable Threads. Bugün nadiren kullanılır.</a:t>
            </a:r>
            <a:endParaRPr lang="tr-TR"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ÇOKLU İŞ PARÇACIĞI MODELLERİ</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Model 2: Birebir (One-to-One)</a:t>
            </a:r>
            <a:endParaRPr lang="tr-TR"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tr-TR" sz="1500" dirty="0">
                <a:solidFill>
                  <a:srgbClr val="3A464C"/>
                </a:solidFill>
                <a:latin typeface="Calibri" pitchFamily="34" charset="0"/>
                <a:ea typeface="Calibri" pitchFamily="34" charset="-122"/>
                <a:cs typeface="Calibri" pitchFamily="34" charset="-120"/>
              </a:rPr>
              <a:t>Her kullanıcı iş parçacığı kendi çekirdek iş parçacığına eşlenir. pthread_create() çekirdekten yeni bir iş parçacığı ister.</a:t>
            </a:r>
            <a:endParaRPr lang="tr-TR"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4  ·  16</a:t>
            </a:r>
            <a:endParaRPr lang="tr-TR" sz="900" dirty="0"/>
          </a:p>
        </p:txBody>
      </p:sp>
      <p:sp>
        <p:nvSpPr>
          <p:cNvPr id="7" name="Shape 5"/>
          <p:cNvSpPr/>
          <p:nvPr/>
        </p:nvSpPr>
        <p:spPr>
          <a:xfrm>
            <a:off x="548640" y="2103120"/>
            <a:ext cx="5669280" cy="1143000"/>
          </a:xfrm>
          <a:prstGeom prst="roundRect">
            <a:avLst>
              <a:gd name="adj" fmla="val 4000"/>
            </a:avLst>
          </a:prstGeom>
          <a:solidFill>
            <a:srgbClr val="F2F2F2"/>
          </a:solidFill>
          <a:ln/>
        </p:spPr>
      </p:sp>
      <p:sp>
        <p:nvSpPr>
          <p:cNvPr id="8" name="Text 6"/>
          <p:cNvSpPr txBox="1"/>
          <p:nvPr/>
        </p:nvSpPr>
        <p:spPr>
          <a:xfrm>
            <a:off x="685800" y="2157984"/>
            <a:ext cx="2286000" cy="256032"/>
          </a:xfrm>
          <a:prstGeom prst="rect">
            <a:avLst/>
          </a:prstGeom>
          <a:noFill/>
          <a:ln/>
        </p:spPr>
        <p:txBody>
          <a:bodyPr wrap="square" lIns="0" tIns="0" rIns="0" bIns="0" rtlCol="0" anchor="t"/>
          <a:lstStyle/>
          <a:p>
            <a:pPr indent="0" marL="0">
              <a:buNone/>
            </a:pPr>
            <a:r>
              <a:rPr lang="tr-TR" sz="1100" i="1" dirty="0">
                <a:solidFill>
                  <a:srgbClr val="6B7679"/>
                </a:solidFill>
                <a:latin typeface="Calibri" pitchFamily="34" charset="0"/>
                <a:ea typeface="Calibri" pitchFamily="34" charset="-122"/>
                <a:cs typeface="Calibri" pitchFamily="34" charset="-120"/>
              </a:rPr>
              <a:t>kullanıcı alanı</a:t>
            </a:r>
            <a:endParaRPr lang="tr-TR" sz="1100" dirty="0"/>
          </a:p>
        </p:txBody>
      </p:sp>
      <p:sp>
        <p:nvSpPr>
          <p:cNvPr id="9" name="Shape 7"/>
          <p:cNvSpPr/>
          <p:nvPr/>
        </p:nvSpPr>
        <p:spPr>
          <a:xfrm>
            <a:off x="548640" y="4343400"/>
            <a:ext cx="5669280" cy="1143000"/>
          </a:xfrm>
          <a:prstGeom prst="roundRect">
            <a:avLst>
              <a:gd name="adj" fmla="val 4000"/>
            </a:avLst>
          </a:prstGeom>
          <a:solidFill>
            <a:srgbClr val="36454F"/>
          </a:solidFill>
          <a:ln/>
        </p:spPr>
      </p:sp>
      <p:sp>
        <p:nvSpPr>
          <p:cNvPr id="10" name="Text 8"/>
          <p:cNvSpPr txBox="1"/>
          <p:nvPr/>
        </p:nvSpPr>
        <p:spPr>
          <a:xfrm>
            <a:off x="685800" y="5175504"/>
            <a:ext cx="2286000" cy="256032"/>
          </a:xfrm>
          <a:prstGeom prst="rect">
            <a:avLst/>
          </a:prstGeom>
          <a:noFill/>
          <a:ln/>
        </p:spPr>
        <p:txBody>
          <a:bodyPr wrap="square" lIns="0" tIns="0" rIns="0" bIns="0" rtlCol="0" anchor="t"/>
          <a:lstStyle/>
          <a:p>
            <a:pPr indent="0" marL="0">
              <a:buNone/>
            </a:pPr>
            <a:r>
              <a:rPr lang="tr-TR" sz="1100" i="1" dirty="0">
                <a:solidFill>
                  <a:srgbClr val="8A9AA0"/>
                </a:solidFill>
                <a:latin typeface="Calibri" pitchFamily="34" charset="0"/>
                <a:ea typeface="Calibri" pitchFamily="34" charset="-122"/>
                <a:cs typeface="Calibri" pitchFamily="34" charset="-120"/>
              </a:rPr>
              <a:t>çekirdek alanı</a:t>
            </a:r>
            <a:endParaRPr lang="tr-TR" sz="1100" dirty="0"/>
          </a:p>
        </p:txBody>
      </p:sp>
      <p:sp>
        <p:nvSpPr>
          <p:cNvPr id="11" name="Shape 9"/>
          <p:cNvSpPr/>
          <p:nvPr/>
        </p:nvSpPr>
        <p:spPr>
          <a:xfrm>
            <a:off x="1257300" y="2916936"/>
            <a:ext cx="91" cy="1746504"/>
          </a:xfrm>
          <a:prstGeom prst="line">
            <a:avLst/>
          </a:prstGeom>
          <a:noFill/>
          <a:ln w="25400">
            <a:solidFill>
              <a:srgbClr val="028090"/>
            </a:solidFill>
            <a:prstDash val="solid"/>
          </a:ln>
        </p:spPr>
      </p:sp>
      <p:sp>
        <p:nvSpPr>
          <p:cNvPr id="12" name="Shape 10"/>
          <p:cNvSpPr/>
          <p:nvPr/>
        </p:nvSpPr>
        <p:spPr>
          <a:xfrm>
            <a:off x="2674620" y="2916936"/>
            <a:ext cx="91" cy="1746504"/>
          </a:xfrm>
          <a:prstGeom prst="line">
            <a:avLst/>
          </a:prstGeom>
          <a:noFill/>
          <a:ln w="25400">
            <a:solidFill>
              <a:srgbClr val="028090"/>
            </a:solidFill>
            <a:prstDash val="solid"/>
          </a:ln>
        </p:spPr>
      </p:sp>
      <p:sp>
        <p:nvSpPr>
          <p:cNvPr id="13" name="Shape 11"/>
          <p:cNvSpPr/>
          <p:nvPr/>
        </p:nvSpPr>
        <p:spPr>
          <a:xfrm>
            <a:off x="4091940" y="2916936"/>
            <a:ext cx="91" cy="1746504"/>
          </a:xfrm>
          <a:prstGeom prst="line">
            <a:avLst/>
          </a:prstGeom>
          <a:noFill/>
          <a:ln w="25400">
            <a:solidFill>
              <a:srgbClr val="028090"/>
            </a:solidFill>
            <a:prstDash val="solid"/>
          </a:ln>
        </p:spPr>
      </p:sp>
      <p:sp>
        <p:nvSpPr>
          <p:cNvPr id="14" name="Shape 12"/>
          <p:cNvSpPr/>
          <p:nvPr/>
        </p:nvSpPr>
        <p:spPr>
          <a:xfrm>
            <a:off x="5509260" y="2916936"/>
            <a:ext cx="91" cy="1746504"/>
          </a:xfrm>
          <a:prstGeom prst="line">
            <a:avLst/>
          </a:prstGeom>
          <a:noFill/>
          <a:ln w="25400">
            <a:solidFill>
              <a:srgbClr val="028090"/>
            </a:solidFill>
            <a:prstDash val="solid"/>
          </a:ln>
        </p:spPr>
      </p:sp>
      <p:sp>
        <p:nvSpPr>
          <p:cNvPr id="15" name="Shape 13"/>
          <p:cNvSpPr/>
          <p:nvPr/>
        </p:nvSpPr>
        <p:spPr>
          <a:xfrm>
            <a:off x="1010412" y="2423160"/>
            <a:ext cx="493776" cy="493776"/>
          </a:xfrm>
          <a:prstGeom prst="ellipse">
            <a:avLst/>
          </a:prstGeom>
          <a:solidFill>
            <a:srgbClr val="02C39A"/>
          </a:solidFill>
          <a:ln/>
        </p:spPr>
      </p:sp>
      <p:sp>
        <p:nvSpPr>
          <p:cNvPr id="16" name="Text 14"/>
          <p:cNvSpPr txBox="1"/>
          <p:nvPr/>
        </p:nvSpPr>
        <p:spPr>
          <a:xfrm>
            <a:off x="1010412" y="2423160"/>
            <a:ext cx="493776" cy="493776"/>
          </a:xfrm>
          <a:prstGeom prst="rect">
            <a:avLst/>
          </a:prstGeom>
          <a:noFill/>
          <a:ln/>
        </p:spPr>
        <p:txBody>
          <a:bodyPr wrap="square" lIns="0" tIns="0" rIns="0" bIns="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K</a:t>
            </a:r>
            <a:endParaRPr lang="tr-TR" sz="1300" dirty="0"/>
          </a:p>
        </p:txBody>
      </p:sp>
      <p:sp>
        <p:nvSpPr>
          <p:cNvPr id="17" name="Shape 15"/>
          <p:cNvSpPr/>
          <p:nvPr/>
        </p:nvSpPr>
        <p:spPr>
          <a:xfrm>
            <a:off x="2427732" y="2423160"/>
            <a:ext cx="493776" cy="493776"/>
          </a:xfrm>
          <a:prstGeom prst="ellipse">
            <a:avLst/>
          </a:prstGeom>
          <a:solidFill>
            <a:srgbClr val="02C39A"/>
          </a:solidFill>
          <a:ln/>
        </p:spPr>
      </p:sp>
      <p:sp>
        <p:nvSpPr>
          <p:cNvPr id="18" name="Text 16"/>
          <p:cNvSpPr txBox="1"/>
          <p:nvPr/>
        </p:nvSpPr>
        <p:spPr>
          <a:xfrm>
            <a:off x="2427732" y="2423160"/>
            <a:ext cx="493776" cy="493776"/>
          </a:xfrm>
          <a:prstGeom prst="rect">
            <a:avLst/>
          </a:prstGeom>
          <a:noFill/>
          <a:ln/>
        </p:spPr>
        <p:txBody>
          <a:bodyPr wrap="square" lIns="0" tIns="0" rIns="0" bIns="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K</a:t>
            </a:r>
            <a:endParaRPr lang="tr-TR" sz="1300" dirty="0"/>
          </a:p>
        </p:txBody>
      </p:sp>
      <p:sp>
        <p:nvSpPr>
          <p:cNvPr id="19" name="Shape 17"/>
          <p:cNvSpPr/>
          <p:nvPr/>
        </p:nvSpPr>
        <p:spPr>
          <a:xfrm>
            <a:off x="3845052" y="2423160"/>
            <a:ext cx="493776" cy="493776"/>
          </a:xfrm>
          <a:prstGeom prst="ellipse">
            <a:avLst/>
          </a:prstGeom>
          <a:solidFill>
            <a:srgbClr val="02C39A"/>
          </a:solidFill>
          <a:ln/>
        </p:spPr>
      </p:sp>
      <p:sp>
        <p:nvSpPr>
          <p:cNvPr id="20" name="Text 18"/>
          <p:cNvSpPr txBox="1"/>
          <p:nvPr/>
        </p:nvSpPr>
        <p:spPr>
          <a:xfrm>
            <a:off x="3845052" y="2423160"/>
            <a:ext cx="493776" cy="493776"/>
          </a:xfrm>
          <a:prstGeom prst="rect">
            <a:avLst/>
          </a:prstGeom>
          <a:noFill/>
          <a:ln/>
        </p:spPr>
        <p:txBody>
          <a:bodyPr wrap="square" lIns="0" tIns="0" rIns="0" bIns="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K</a:t>
            </a:r>
            <a:endParaRPr lang="tr-TR" sz="1300" dirty="0"/>
          </a:p>
        </p:txBody>
      </p:sp>
      <p:sp>
        <p:nvSpPr>
          <p:cNvPr id="21" name="Shape 19"/>
          <p:cNvSpPr/>
          <p:nvPr/>
        </p:nvSpPr>
        <p:spPr>
          <a:xfrm>
            <a:off x="5262372" y="2423160"/>
            <a:ext cx="493776" cy="493776"/>
          </a:xfrm>
          <a:prstGeom prst="ellipse">
            <a:avLst/>
          </a:prstGeom>
          <a:solidFill>
            <a:srgbClr val="02C39A"/>
          </a:solidFill>
          <a:ln/>
        </p:spPr>
      </p:sp>
      <p:sp>
        <p:nvSpPr>
          <p:cNvPr id="22" name="Text 20"/>
          <p:cNvSpPr txBox="1"/>
          <p:nvPr/>
        </p:nvSpPr>
        <p:spPr>
          <a:xfrm>
            <a:off x="5262372" y="2423160"/>
            <a:ext cx="493776" cy="493776"/>
          </a:xfrm>
          <a:prstGeom prst="rect">
            <a:avLst/>
          </a:prstGeom>
          <a:noFill/>
          <a:ln/>
        </p:spPr>
        <p:txBody>
          <a:bodyPr wrap="square" lIns="0" tIns="0" rIns="0" bIns="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K</a:t>
            </a:r>
            <a:endParaRPr lang="tr-TR" sz="1300" dirty="0"/>
          </a:p>
        </p:txBody>
      </p:sp>
      <p:sp>
        <p:nvSpPr>
          <p:cNvPr id="23" name="Shape 21"/>
          <p:cNvSpPr/>
          <p:nvPr/>
        </p:nvSpPr>
        <p:spPr>
          <a:xfrm>
            <a:off x="1010412" y="4663440"/>
            <a:ext cx="493776" cy="493776"/>
          </a:xfrm>
          <a:prstGeom prst="ellipse">
            <a:avLst/>
          </a:prstGeom>
          <a:solidFill>
            <a:srgbClr val="FFFFFF"/>
          </a:solidFill>
          <a:ln/>
        </p:spPr>
      </p:sp>
      <p:sp>
        <p:nvSpPr>
          <p:cNvPr id="24" name="Text 22"/>
          <p:cNvSpPr txBox="1"/>
          <p:nvPr/>
        </p:nvSpPr>
        <p:spPr>
          <a:xfrm>
            <a:off x="1010412" y="4663440"/>
            <a:ext cx="493776" cy="493776"/>
          </a:xfrm>
          <a:prstGeom prst="rect">
            <a:avLst/>
          </a:prstGeom>
          <a:noFill/>
          <a:ln/>
        </p:spPr>
        <p:txBody>
          <a:bodyPr wrap="square" lIns="0" tIns="0" rIns="0" bIns="0" rtlCol="0" anchor="ctr"/>
          <a:lstStyle/>
          <a:p>
            <a:pPr algn="ctr" indent="0" marL="0">
              <a:buNone/>
            </a:pPr>
            <a:r>
              <a:rPr lang="tr-TR" sz="1300" b="1" dirty="0">
                <a:solidFill>
                  <a:srgbClr val="36454F"/>
                </a:solidFill>
                <a:latin typeface="Calibri" pitchFamily="34" charset="0"/>
                <a:ea typeface="Calibri" pitchFamily="34" charset="-122"/>
                <a:cs typeface="Calibri" pitchFamily="34" charset="-120"/>
              </a:rPr>
              <a:t>Ç</a:t>
            </a:r>
            <a:endParaRPr lang="tr-TR" sz="1300" dirty="0"/>
          </a:p>
        </p:txBody>
      </p:sp>
      <p:sp>
        <p:nvSpPr>
          <p:cNvPr id="25" name="Shape 23"/>
          <p:cNvSpPr/>
          <p:nvPr/>
        </p:nvSpPr>
        <p:spPr>
          <a:xfrm>
            <a:off x="2427732" y="4663440"/>
            <a:ext cx="493776" cy="493776"/>
          </a:xfrm>
          <a:prstGeom prst="ellipse">
            <a:avLst/>
          </a:prstGeom>
          <a:solidFill>
            <a:srgbClr val="FFFFFF"/>
          </a:solidFill>
          <a:ln/>
        </p:spPr>
      </p:sp>
      <p:sp>
        <p:nvSpPr>
          <p:cNvPr id="26" name="Text 24"/>
          <p:cNvSpPr txBox="1"/>
          <p:nvPr/>
        </p:nvSpPr>
        <p:spPr>
          <a:xfrm>
            <a:off x="2427732" y="4663440"/>
            <a:ext cx="493776" cy="493776"/>
          </a:xfrm>
          <a:prstGeom prst="rect">
            <a:avLst/>
          </a:prstGeom>
          <a:noFill/>
          <a:ln/>
        </p:spPr>
        <p:txBody>
          <a:bodyPr wrap="square" lIns="0" tIns="0" rIns="0" bIns="0" rtlCol="0" anchor="ctr"/>
          <a:lstStyle/>
          <a:p>
            <a:pPr algn="ctr" indent="0" marL="0">
              <a:buNone/>
            </a:pPr>
            <a:r>
              <a:rPr lang="tr-TR" sz="1300" b="1" dirty="0">
                <a:solidFill>
                  <a:srgbClr val="36454F"/>
                </a:solidFill>
                <a:latin typeface="Calibri" pitchFamily="34" charset="0"/>
                <a:ea typeface="Calibri" pitchFamily="34" charset="-122"/>
                <a:cs typeface="Calibri" pitchFamily="34" charset="-120"/>
              </a:rPr>
              <a:t>Ç</a:t>
            </a:r>
            <a:endParaRPr lang="tr-TR" sz="1300" dirty="0"/>
          </a:p>
        </p:txBody>
      </p:sp>
      <p:sp>
        <p:nvSpPr>
          <p:cNvPr id="27" name="Shape 25"/>
          <p:cNvSpPr/>
          <p:nvPr/>
        </p:nvSpPr>
        <p:spPr>
          <a:xfrm>
            <a:off x="3845052" y="4663440"/>
            <a:ext cx="493776" cy="493776"/>
          </a:xfrm>
          <a:prstGeom prst="ellipse">
            <a:avLst/>
          </a:prstGeom>
          <a:solidFill>
            <a:srgbClr val="FFFFFF"/>
          </a:solidFill>
          <a:ln/>
        </p:spPr>
      </p:sp>
      <p:sp>
        <p:nvSpPr>
          <p:cNvPr id="28" name="Text 26"/>
          <p:cNvSpPr txBox="1"/>
          <p:nvPr/>
        </p:nvSpPr>
        <p:spPr>
          <a:xfrm>
            <a:off x="3845052" y="4663440"/>
            <a:ext cx="493776" cy="493776"/>
          </a:xfrm>
          <a:prstGeom prst="rect">
            <a:avLst/>
          </a:prstGeom>
          <a:noFill/>
          <a:ln/>
        </p:spPr>
        <p:txBody>
          <a:bodyPr wrap="square" lIns="0" tIns="0" rIns="0" bIns="0" rtlCol="0" anchor="ctr"/>
          <a:lstStyle/>
          <a:p>
            <a:pPr algn="ctr" indent="0" marL="0">
              <a:buNone/>
            </a:pPr>
            <a:r>
              <a:rPr lang="tr-TR" sz="1300" b="1" dirty="0">
                <a:solidFill>
                  <a:srgbClr val="36454F"/>
                </a:solidFill>
                <a:latin typeface="Calibri" pitchFamily="34" charset="0"/>
                <a:ea typeface="Calibri" pitchFamily="34" charset="-122"/>
                <a:cs typeface="Calibri" pitchFamily="34" charset="-120"/>
              </a:rPr>
              <a:t>Ç</a:t>
            </a:r>
            <a:endParaRPr lang="tr-TR" sz="1300" dirty="0"/>
          </a:p>
        </p:txBody>
      </p:sp>
      <p:sp>
        <p:nvSpPr>
          <p:cNvPr id="29" name="Shape 27"/>
          <p:cNvSpPr/>
          <p:nvPr/>
        </p:nvSpPr>
        <p:spPr>
          <a:xfrm>
            <a:off x="5262372" y="4663440"/>
            <a:ext cx="493776" cy="493776"/>
          </a:xfrm>
          <a:prstGeom prst="ellipse">
            <a:avLst/>
          </a:prstGeom>
          <a:solidFill>
            <a:srgbClr val="FFFFFF"/>
          </a:solidFill>
          <a:ln/>
        </p:spPr>
      </p:sp>
      <p:sp>
        <p:nvSpPr>
          <p:cNvPr id="30" name="Text 28"/>
          <p:cNvSpPr txBox="1"/>
          <p:nvPr/>
        </p:nvSpPr>
        <p:spPr>
          <a:xfrm>
            <a:off x="5262372" y="4663440"/>
            <a:ext cx="493776" cy="493776"/>
          </a:xfrm>
          <a:prstGeom prst="rect">
            <a:avLst/>
          </a:prstGeom>
          <a:noFill/>
          <a:ln/>
        </p:spPr>
        <p:txBody>
          <a:bodyPr wrap="square" lIns="0" tIns="0" rIns="0" bIns="0" rtlCol="0" anchor="ctr"/>
          <a:lstStyle/>
          <a:p>
            <a:pPr algn="ctr" indent="0" marL="0">
              <a:buNone/>
            </a:pPr>
            <a:r>
              <a:rPr lang="tr-TR" sz="1300" b="1" dirty="0">
                <a:solidFill>
                  <a:srgbClr val="36454F"/>
                </a:solidFill>
                <a:latin typeface="Calibri" pitchFamily="34" charset="0"/>
                <a:ea typeface="Calibri" pitchFamily="34" charset="-122"/>
                <a:cs typeface="Calibri" pitchFamily="34" charset="-120"/>
              </a:rPr>
              <a:t>Ç</a:t>
            </a:r>
            <a:endParaRPr lang="tr-TR" sz="1300" dirty="0"/>
          </a:p>
        </p:txBody>
      </p:sp>
      <p:sp>
        <p:nvSpPr>
          <p:cNvPr id="31" name="Text 29"/>
          <p:cNvSpPr txBox="1"/>
          <p:nvPr/>
        </p:nvSpPr>
        <p:spPr>
          <a:xfrm>
            <a:off x="548640" y="5623560"/>
            <a:ext cx="5669280" cy="548640"/>
          </a:xfrm>
          <a:prstGeom prst="rect">
            <a:avLst/>
          </a:prstGeom>
          <a:noFill/>
          <a:ln/>
        </p:spPr>
        <p:txBody>
          <a:bodyPr wrap="square" lIns="0" tIns="0" rIns="0" bIns="0" rtlCol="0" anchor="t"/>
          <a:lstStyle/>
          <a:p>
            <a:pPr indent="0" marL="0">
              <a:buNone/>
            </a:pPr>
            <a:r>
              <a:rPr lang="tr-TR" sz="1200" i="1" dirty="0">
                <a:solidFill>
                  <a:srgbClr val="6B7679"/>
                </a:solidFill>
                <a:latin typeface="Calibri" pitchFamily="34" charset="0"/>
                <a:ea typeface="Calibri" pitchFamily="34" charset="-122"/>
                <a:cs typeface="Calibri" pitchFamily="34" charset="-120"/>
              </a:rPr>
              <a:t>Her pthread_create(), çekirdeğin zamanladığı yeni bir iş parçacığı yaratır.</a:t>
            </a:r>
            <a:endParaRPr lang="tr-TR" sz="1200" dirty="0"/>
          </a:p>
        </p:txBody>
      </p:sp>
      <p:sp>
        <p:nvSpPr>
          <p:cNvPr id="32" name="Shape 30"/>
          <p:cNvSpPr/>
          <p:nvPr/>
        </p:nvSpPr>
        <p:spPr>
          <a:xfrm>
            <a:off x="6537960" y="2103120"/>
            <a:ext cx="5120640" cy="1463040"/>
          </a:xfrm>
          <a:prstGeom prst="roundRect">
            <a:avLst>
              <a:gd name="adj" fmla="val 3750"/>
            </a:avLst>
          </a:prstGeom>
          <a:solidFill>
            <a:srgbClr val="F2F2F2"/>
          </a:solidFill>
          <a:ln/>
          <a:effectLst>
            <a:outerShdw sx="100000" sy="100000" kx="0" ky="0" algn="bl" rotWithShape="0" blurRad="101600" dist="25400" dir="5400000">
              <a:srgbClr val="000000">
                <a:alpha val="12000"/>
              </a:srgbClr>
            </a:outerShdw>
          </a:effectLst>
        </p:spPr>
      </p:sp>
      <p:sp>
        <p:nvSpPr>
          <p:cNvPr id="33" name="Text 31"/>
          <p:cNvSpPr txBox="1"/>
          <p:nvPr/>
        </p:nvSpPr>
        <p:spPr>
          <a:xfrm>
            <a:off x="6766560" y="2286000"/>
            <a:ext cx="466344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Avantajlar</a:t>
            </a:r>
            <a:endParaRPr lang="tr-TR" sz="1500" dirty="0"/>
          </a:p>
        </p:txBody>
      </p:sp>
      <p:sp>
        <p:nvSpPr>
          <p:cNvPr id="34" name="Text 32"/>
          <p:cNvSpPr txBox="1"/>
          <p:nvPr/>
        </p:nvSpPr>
        <p:spPr>
          <a:xfrm>
            <a:off x="6766560" y="2743200"/>
            <a:ext cx="4663440" cy="685800"/>
          </a:xfrm>
          <a:prstGeom prst="rect">
            <a:avLst/>
          </a:prstGeom>
          <a:noFill/>
          <a:ln/>
        </p:spPr>
        <p:txBody>
          <a:bodyPr wrap="square" lIns="0" tIns="0" rIns="0" bIns="0" rtlCol="0" anchor="t"/>
          <a:lstStyle/>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Bloke eden bir çağrı yalnızca o iş parçacığını bloke eder.</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Çok çekirdekli işlemcilerde gerçek paralellik.</a:t>
            </a:r>
            <a:endParaRPr lang="tr-TR" sz="1400" dirty="0"/>
          </a:p>
        </p:txBody>
      </p:sp>
      <p:sp>
        <p:nvSpPr>
          <p:cNvPr id="35" name="Shape 33"/>
          <p:cNvSpPr/>
          <p:nvPr/>
        </p:nvSpPr>
        <p:spPr>
          <a:xfrm>
            <a:off x="6537960" y="3749040"/>
            <a:ext cx="5120640" cy="1463040"/>
          </a:xfrm>
          <a:prstGeom prst="roundRect">
            <a:avLst>
              <a:gd name="adj" fmla="val 3750"/>
            </a:avLst>
          </a:prstGeom>
          <a:solidFill>
            <a:srgbClr val="F2F2F2"/>
          </a:solidFill>
          <a:ln/>
          <a:effectLst>
            <a:outerShdw sx="100000" sy="100000" kx="0" ky="0" algn="bl" rotWithShape="0" blurRad="101600" dist="25400" dir="5400000">
              <a:srgbClr val="000000">
                <a:alpha val="12000"/>
              </a:srgbClr>
            </a:outerShdw>
          </a:effectLst>
        </p:spPr>
      </p:sp>
      <p:sp>
        <p:nvSpPr>
          <p:cNvPr id="36" name="Text 34"/>
          <p:cNvSpPr txBox="1"/>
          <p:nvPr/>
        </p:nvSpPr>
        <p:spPr>
          <a:xfrm>
            <a:off x="6766560" y="3931920"/>
            <a:ext cx="4663440" cy="384048"/>
          </a:xfrm>
          <a:prstGeom prst="rect">
            <a:avLst/>
          </a:prstGeom>
          <a:noFill/>
          <a:ln/>
        </p:spPr>
        <p:txBody>
          <a:bodyPr wrap="square" lIns="0" tIns="0" rIns="0" bIns="0" rtlCol="0" anchor="ctr"/>
          <a:lstStyle/>
          <a:p>
            <a:pPr indent="0" marL="0">
              <a:buNone/>
            </a:pPr>
            <a:r>
              <a:rPr lang="tr-TR" sz="1500" b="1" dirty="0">
                <a:solidFill>
                  <a:srgbClr val="B5453A"/>
                </a:solidFill>
                <a:latin typeface="Cambria" pitchFamily="34" charset="0"/>
                <a:ea typeface="Cambria" pitchFamily="34" charset="-122"/>
                <a:cs typeface="Cambria" pitchFamily="34" charset="-120"/>
              </a:rPr>
              <a:t>Dezavantajlar</a:t>
            </a:r>
            <a:endParaRPr lang="tr-TR" sz="1500" dirty="0"/>
          </a:p>
        </p:txBody>
      </p:sp>
      <p:sp>
        <p:nvSpPr>
          <p:cNvPr id="37" name="Text 35"/>
          <p:cNvSpPr txBox="1"/>
          <p:nvPr/>
        </p:nvSpPr>
        <p:spPr>
          <a:xfrm>
            <a:off x="6766560" y="4389120"/>
            <a:ext cx="4663440" cy="685800"/>
          </a:xfrm>
          <a:prstGeom prst="rect">
            <a:avLst/>
          </a:prstGeom>
          <a:noFill/>
          <a:ln/>
        </p:spPr>
        <p:txBody>
          <a:bodyPr wrap="square" lIns="0" tIns="0" rIns="0" bIns="0" rtlCol="0" anchor="t"/>
          <a:lstStyle/>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Her kullanıcı iş parçacığı bir çekirdek iş parçacığına mal olur: yaratmak sistem çağrısı ister.</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Çok sayıda iş parçacığı çekirdeğe yük olabilir.</a:t>
            </a:r>
            <a:endParaRPr lang="tr-TR" sz="1400" dirty="0"/>
          </a:p>
        </p:txBody>
      </p:sp>
      <p:sp>
        <p:nvSpPr>
          <p:cNvPr id="38" name="Shape 36"/>
          <p:cNvSpPr/>
          <p:nvPr/>
        </p:nvSpPr>
        <p:spPr>
          <a:xfrm>
            <a:off x="6537960" y="5394960"/>
            <a:ext cx="5120640" cy="868680"/>
          </a:xfrm>
          <a:prstGeom prst="roundRect">
            <a:avLst>
              <a:gd name="adj" fmla="val 6316"/>
            </a:avLst>
          </a:prstGeom>
          <a:solidFill>
            <a:srgbClr val="36454F"/>
          </a:solidFill>
          <a:ln/>
          <a:effectLst>
            <a:outerShdw sx="100000" sy="100000" kx="0" ky="0" algn="bl" rotWithShape="0" blurRad="101600" dist="25400" dir="5400000">
              <a:srgbClr val="000000">
                <a:alpha val="12000"/>
              </a:srgbClr>
            </a:outerShdw>
          </a:effectLst>
        </p:spPr>
      </p:sp>
      <p:sp>
        <p:nvSpPr>
          <p:cNvPr id="39" name="Text 37"/>
          <p:cNvSpPr txBox="1"/>
          <p:nvPr/>
        </p:nvSpPr>
        <p:spPr>
          <a:xfrm>
            <a:off x="6766560" y="5394960"/>
            <a:ext cx="4663440" cy="868680"/>
          </a:xfrm>
          <a:prstGeom prst="rect">
            <a:avLst/>
          </a:prstGeom>
          <a:noFill/>
          <a:ln/>
        </p:spPr>
        <p:txBody>
          <a:bodyPr wrap="square" lIns="0" tIns="0" rIns="0" bIns="0" rtlCol="0" anchor="ctr"/>
          <a:lstStyle/>
          <a:p>
            <a:pPr indent="0" marL="0">
              <a:buNone/>
            </a:pPr>
            <a:r>
              <a:rPr lang="tr-TR" sz="1300" dirty="0">
                <a:solidFill>
                  <a:srgbClr val="F2F2F2"/>
                </a:solidFill>
                <a:latin typeface="Calibri" pitchFamily="34" charset="0"/>
                <a:ea typeface="Calibri" pitchFamily="34" charset="-122"/>
                <a:cs typeface="Calibri" pitchFamily="34" charset="-120"/>
              </a:rPr>
              <a:t>Linux (NPTL) ve Windows bu modeli kullanır — bugün programlarımızda göreceğimiz model.</a:t>
            </a:r>
            <a:endParaRPr lang="tr-TR"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ÇOKLU İŞ PARÇACIĞI MODELLERİ</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Model 3: Çoktan Çoğa (Many-to-Many)</a:t>
            </a:r>
            <a:endParaRPr lang="tr-TR"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tr-TR" sz="1500" dirty="0">
                <a:solidFill>
                  <a:srgbClr val="3A464C"/>
                </a:solidFill>
                <a:latin typeface="Calibri" pitchFamily="34" charset="0"/>
                <a:ea typeface="Calibri" pitchFamily="34" charset="-122"/>
                <a:cs typeface="Calibri" pitchFamily="34" charset="-120"/>
              </a:rPr>
              <a:t>Birçok kullanıcı iş parçacığı, daha az ya da eşit sayıda çekirdek iş parçacığı üzerine çoğullanır.</a:t>
            </a:r>
            <a:endParaRPr lang="tr-TR"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4  ·  17</a:t>
            </a:r>
            <a:endParaRPr lang="tr-TR" sz="900" dirty="0"/>
          </a:p>
        </p:txBody>
      </p:sp>
      <p:sp>
        <p:nvSpPr>
          <p:cNvPr id="7" name="Shape 5"/>
          <p:cNvSpPr/>
          <p:nvPr/>
        </p:nvSpPr>
        <p:spPr>
          <a:xfrm>
            <a:off x="548640" y="2103120"/>
            <a:ext cx="5669280" cy="1143000"/>
          </a:xfrm>
          <a:prstGeom prst="roundRect">
            <a:avLst>
              <a:gd name="adj" fmla="val 4000"/>
            </a:avLst>
          </a:prstGeom>
          <a:solidFill>
            <a:srgbClr val="F2F2F2"/>
          </a:solidFill>
          <a:ln/>
        </p:spPr>
      </p:sp>
      <p:sp>
        <p:nvSpPr>
          <p:cNvPr id="8" name="Text 6"/>
          <p:cNvSpPr txBox="1"/>
          <p:nvPr/>
        </p:nvSpPr>
        <p:spPr>
          <a:xfrm>
            <a:off x="685800" y="2157984"/>
            <a:ext cx="2286000" cy="256032"/>
          </a:xfrm>
          <a:prstGeom prst="rect">
            <a:avLst/>
          </a:prstGeom>
          <a:noFill/>
          <a:ln/>
        </p:spPr>
        <p:txBody>
          <a:bodyPr wrap="square" lIns="0" tIns="0" rIns="0" bIns="0" rtlCol="0" anchor="t"/>
          <a:lstStyle/>
          <a:p>
            <a:pPr indent="0" marL="0">
              <a:buNone/>
            </a:pPr>
            <a:r>
              <a:rPr lang="tr-TR" sz="1100" i="1" dirty="0">
                <a:solidFill>
                  <a:srgbClr val="6B7679"/>
                </a:solidFill>
                <a:latin typeface="Calibri" pitchFamily="34" charset="0"/>
                <a:ea typeface="Calibri" pitchFamily="34" charset="-122"/>
                <a:cs typeface="Calibri" pitchFamily="34" charset="-120"/>
              </a:rPr>
              <a:t>kullanıcı alanı</a:t>
            </a:r>
            <a:endParaRPr lang="tr-TR" sz="1100" dirty="0"/>
          </a:p>
        </p:txBody>
      </p:sp>
      <p:sp>
        <p:nvSpPr>
          <p:cNvPr id="9" name="Shape 7"/>
          <p:cNvSpPr/>
          <p:nvPr/>
        </p:nvSpPr>
        <p:spPr>
          <a:xfrm>
            <a:off x="548640" y="4343400"/>
            <a:ext cx="5669280" cy="1143000"/>
          </a:xfrm>
          <a:prstGeom prst="roundRect">
            <a:avLst>
              <a:gd name="adj" fmla="val 4000"/>
            </a:avLst>
          </a:prstGeom>
          <a:solidFill>
            <a:srgbClr val="36454F"/>
          </a:solidFill>
          <a:ln/>
        </p:spPr>
      </p:sp>
      <p:sp>
        <p:nvSpPr>
          <p:cNvPr id="10" name="Text 8"/>
          <p:cNvSpPr txBox="1"/>
          <p:nvPr/>
        </p:nvSpPr>
        <p:spPr>
          <a:xfrm>
            <a:off x="685800" y="5175504"/>
            <a:ext cx="2286000" cy="256032"/>
          </a:xfrm>
          <a:prstGeom prst="rect">
            <a:avLst/>
          </a:prstGeom>
          <a:noFill/>
          <a:ln/>
        </p:spPr>
        <p:txBody>
          <a:bodyPr wrap="square" lIns="0" tIns="0" rIns="0" bIns="0" rtlCol="0" anchor="t"/>
          <a:lstStyle/>
          <a:p>
            <a:pPr indent="0" marL="0">
              <a:buNone/>
            </a:pPr>
            <a:r>
              <a:rPr lang="tr-TR" sz="1100" i="1" dirty="0">
                <a:solidFill>
                  <a:srgbClr val="8A9AA0"/>
                </a:solidFill>
                <a:latin typeface="Calibri" pitchFamily="34" charset="0"/>
                <a:ea typeface="Calibri" pitchFamily="34" charset="-122"/>
                <a:cs typeface="Calibri" pitchFamily="34" charset="-120"/>
              </a:rPr>
              <a:t>çekirdek alanı</a:t>
            </a:r>
            <a:endParaRPr lang="tr-TR" sz="1100" dirty="0"/>
          </a:p>
        </p:txBody>
      </p:sp>
      <p:sp>
        <p:nvSpPr>
          <p:cNvPr id="11" name="Shape 9"/>
          <p:cNvSpPr/>
          <p:nvPr/>
        </p:nvSpPr>
        <p:spPr>
          <a:xfrm>
            <a:off x="1115568" y="2916936"/>
            <a:ext cx="377952" cy="1746504"/>
          </a:xfrm>
          <a:prstGeom prst="line">
            <a:avLst/>
          </a:prstGeom>
          <a:noFill/>
          <a:ln w="25400">
            <a:solidFill>
              <a:srgbClr val="028090"/>
            </a:solidFill>
            <a:prstDash val="solid"/>
          </a:ln>
        </p:spPr>
      </p:sp>
      <p:sp>
        <p:nvSpPr>
          <p:cNvPr id="12" name="Shape 10"/>
          <p:cNvSpPr/>
          <p:nvPr/>
        </p:nvSpPr>
        <p:spPr>
          <a:xfrm flipH="1">
            <a:off x="1493520" y="2916936"/>
            <a:ext cx="755904" cy="1746504"/>
          </a:xfrm>
          <a:prstGeom prst="line">
            <a:avLst/>
          </a:prstGeom>
          <a:noFill/>
          <a:ln w="25400">
            <a:solidFill>
              <a:srgbClr val="028090"/>
            </a:solidFill>
            <a:prstDash val="solid"/>
          </a:ln>
        </p:spPr>
      </p:sp>
      <p:sp>
        <p:nvSpPr>
          <p:cNvPr id="13" name="Shape 11"/>
          <p:cNvSpPr/>
          <p:nvPr/>
        </p:nvSpPr>
        <p:spPr>
          <a:xfrm>
            <a:off x="3383280" y="2916936"/>
            <a:ext cx="91" cy="1746504"/>
          </a:xfrm>
          <a:prstGeom prst="line">
            <a:avLst/>
          </a:prstGeom>
          <a:noFill/>
          <a:ln w="25400">
            <a:solidFill>
              <a:srgbClr val="028090"/>
            </a:solidFill>
            <a:prstDash val="solid"/>
          </a:ln>
        </p:spPr>
      </p:sp>
      <p:sp>
        <p:nvSpPr>
          <p:cNvPr id="14" name="Shape 12"/>
          <p:cNvSpPr/>
          <p:nvPr/>
        </p:nvSpPr>
        <p:spPr>
          <a:xfrm>
            <a:off x="4517136" y="2916936"/>
            <a:ext cx="755904" cy="1746504"/>
          </a:xfrm>
          <a:prstGeom prst="line">
            <a:avLst/>
          </a:prstGeom>
          <a:noFill/>
          <a:ln w="25400">
            <a:solidFill>
              <a:srgbClr val="028090"/>
            </a:solidFill>
            <a:prstDash val="solid"/>
          </a:ln>
        </p:spPr>
      </p:sp>
      <p:sp>
        <p:nvSpPr>
          <p:cNvPr id="15" name="Shape 13"/>
          <p:cNvSpPr/>
          <p:nvPr/>
        </p:nvSpPr>
        <p:spPr>
          <a:xfrm flipH="1">
            <a:off x="5273040" y="2916936"/>
            <a:ext cx="377952" cy="1746504"/>
          </a:xfrm>
          <a:prstGeom prst="line">
            <a:avLst/>
          </a:prstGeom>
          <a:noFill/>
          <a:ln w="25400">
            <a:solidFill>
              <a:srgbClr val="028090"/>
            </a:solidFill>
            <a:prstDash val="solid"/>
          </a:ln>
        </p:spPr>
      </p:sp>
      <p:sp>
        <p:nvSpPr>
          <p:cNvPr id="16" name="Shape 14"/>
          <p:cNvSpPr/>
          <p:nvPr/>
        </p:nvSpPr>
        <p:spPr>
          <a:xfrm>
            <a:off x="868680" y="2423160"/>
            <a:ext cx="493776" cy="493776"/>
          </a:xfrm>
          <a:prstGeom prst="ellipse">
            <a:avLst/>
          </a:prstGeom>
          <a:solidFill>
            <a:srgbClr val="02C39A"/>
          </a:solidFill>
          <a:ln/>
        </p:spPr>
      </p:sp>
      <p:sp>
        <p:nvSpPr>
          <p:cNvPr id="17" name="Text 15"/>
          <p:cNvSpPr txBox="1"/>
          <p:nvPr/>
        </p:nvSpPr>
        <p:spPr>
          <a:xfrm>
            <a:off x="868680" y="2423160"/>
            <a:ext cx="493776" cy="493776"/>
          </a:xfrm>
          <a:prstGeom prst="rect">
            <a:avLst/>
          </a:prstGeom>
          <a:noFill/>
          <a:ln/>
        </p:spPr>
        <p:txBody>
          <a:bodyPr wrap="square" lIns="0" tIns="0" rIns="0" bIns="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K</a:t>
            </a:r>
            <a:endParaRPr lang="tr-TR" sz="1300" dirty="0"/>
          </a:p>
        </p:txBody>
      </p:sp>
      <p:sp>
        <p:nvSpPr>
          <p:cNvPr id="18" name="Shape 16"/>
          <p:cNvSpPr/>
          <p:nvPr/>
        </p:nvSpPr>
        <p:spPr>
          <a:xfrm>
            <a:off x="2002536" y="2423160"/>
            <a:ext cx="493776" cy="493776"/>
          </a:xfrm>
          <a:prstGeom prst="ellipse">
            <a:avLst/>
          </a:prstGeom>
          <a:solidFill>
            <a:srgbClr val="02C39A"/>
          </a:solidFill>
          <a:ln/>
        </p:spPr>
      </p:sp>
      <p:sp>
        <p:nvSpPr>
          <p:cNvPr id="19" name="Text 17"/>
          <p:cNvSpPr txBox="1"/>
          <p:nvPr/>
        </p:nvSpPr>
        <p:spPr>
          <a:xfrm>
            <a:off x="2002536" y="2423160"/>
            <a:ext cx="493776" cy="493776"/>
          </a:xfrm>
          <a:prstGeom prst="rect">
            <a:avLst/>
          </a:prstGeom>
          <a:noFill/>
          <a:ln/>
        </p:spPr>
        <p:txBody>
          <a:bodyPr wrap="square" lIns="0" tIns="0" rIns="0" bIns="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K</a:t>
            </a:r>
            <a:endParaRPr lang="tr-TR" sz="1300" dirty="0"/>
          </a:p>
        </p:txBody>
      </p:sp>
      <p:sp>
        <p:nvSpPr>
          <p:cNvPr id="20" name="Shape 18"/>
          <p:cNvSpPr/>
          <p:nvPr/>
        </p:nvSpPr>
        <p:spPr>
          <a:xfrm>
            <a:off x="3136392" y="2423160"/>
            <a:ext cx="493776" cy="493776"/>
          </a:xfrm>
          <a:prstGeom prst="ellipse">
            <a:avLst/>
          </a:prstGeom>
          <a:solidFill>
            <a:srgbClr val="02C39A"/>
          </a:solidFill>
          <a:ln/>
        </p:spPr>
      </p:sp>
      <p:sp>
        <p:nvSpPr>
          <p:cNvPr id="21" name="Text 19"/>
          <p:cNvSpPr txBox="1"/>
          <p:nvPr/>
        </p:nvSpPr>
        <p:spPr>
          <a:xfrm>
            <a:off x="3136392" y="2423160"/>
            <a:ext cx="493776" cy="493776"/>
          </a:xfrm>
          <a:prstGeom prst="rect">
            <a:avLst/>
          </a:prstGeom>
          <a:noFill/>
          <a:ln/>
        </p:spPr>
        <p:txBody>
          <a:bodyPr wrap="square" lIns="0" tIns="0" rIns="0" bIns="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K</a:t>
            </a:r>
            <a:endParaRPr lang="tr-TR" sz="1300" dirty="0"/>
          </a:p>
        </p:txBody>
      </p:sp>
      <p:sp>
        <p:nvSpPr>
          <p:cNvPr id="22" name="Shape 20"/>
          <p:cNvSpPr/>
          <p:nvPr/>
        </p:nvSpPr>
        <p:spPr>
          <a:xfrm>
            <a:off x="4270248" y="2423160"/>
            <a:ext cx="493776" cy="493776"/>
          </a:xfrm>
          <a:prstGeom prst="ellipse">
            <a:avLst/>
          </a:prstGeom>
          <a:solidFill>
            <a:srgbClr val="02C39A"/>
          </a:solidFill>
          <a:ln/>
        </p:spPr>
      </p:sp>
      <p:sp>
        <p:nvSpPr>
          <p:cNvPr id="23" name="Text 21"/>
          <p:cNvSpPr txBox="1"/>
          <p:nvPr/>
        </p:nvSpPr>
        <p:spPr>
          <a:xfrm>
            <a:off x="4270248" y="2423160"/>
            <a:ext cx="493776" cy="493776"/>
          </a:xfrm>
          <a:prstGeom prst="rect">
            <a:avLst/>
          </a:prstGeom>
          <a:noFill/>
          <a:ln/>
        </p:spPr>
        <p:txBody>
          <a:bodyPr wrap="square" lIns="0" tIns="0" rIns="0" bIns="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K</a:t>
            </a:r>
            <a:endParaRPr lang="tr-TR" sz="1300" dirty="0"/>
          </a:p>
        </p:txBody>
      </p:sp>
      <p:sp>
        <p:nvSpPr>
          <p:cNvPr id="24" name="Shape 22"/>
          <p:cNvSpPr/>
          <p:nvPr/>
        </p:nvSpPr>
        <p:spPr>
          <a:xfrm>
            <a:off x="5404104" y="2423160"/>
            <a:ext cx="493776" cy="493776"/>
          </a:xfrm>
          <a:prstGeom prst="ellipse">
            <a:avLst/>
          </a:prstGeom>
          <a:solidFill>
            <a:srgbClr val="02C39A"/>
          </a:solidFill>
          <a:ln/>
        </p:spPr>
      </p:sp>
      <p:sp>
        <p:nvSpPr>
          <p:cNvPr id="25" name="Text 23"/>
          <p:cNvSpPr txBox="1"/>
          <p:nvPr/>
        </p:nvSpPr>
        <p:spPr>
          <a:xfrm>
            <a:off x="5404104" y="2423160"/>
            <a:ext cx="493776" cy="493776"/>
          </a:xfrm>
          <a:prstGeom prst="rect">
            <a:avLst/>
          </a:prstGeom>
          <a:noFill/>
          <a:ln/>
        </p:spPr>
        <p:txBody>
          <a:bodyPr wrap="square" lIns="0" tIns="0" rIns="0" bIns="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K</a:t>
            </a:r>
            <a:endParaRPr lang="tr-TR" sz="1300" dirty="0"/>
          </a:p>
        </p:txBody>
      </p:sp>
      <p:sp>
        <p:nvSpPr>
          <p:cNvPr id="26" name="Shape 24"/>
          <p:cNvSpPr/>
          <p:nvPr/>
        </p:nvSpPr>
        <p:spPr>
          <a:xfrm>
            <a:off x="1246632" y="4663440"/>
            <a:ext cx="493776" cy="493776"/>
          </a:xfrm>
          <a:prstGeom prst="ellipse">
            <a:avLst/>
          </a:prstGeom>
          <a:solidFill>
            <a:srgbClr val="FFFFFF"/>
          </a:solidFill>
          <a:ln/>
        </p:spPr>
      </p:sp>
      <p:sp>
        <p:nvSpPr>
          <p:cNvPr id="27" name="Text 25"/>
          <p:cNvSpPr txBox="1"/>
          <p:nvPr/>
        </p:nvSpPr>
        <p:spPr>
          <a:xfrm>
            <a:off x="1246632" y="4663440"/>
            <a:ext cx="493776" cy="493776"/>
          </a:xfrm>
          <a:prstGeom prst="rect">
            <a:avLst/>
          </a:prstGeom>
          <a:noFill/>
          <a:ln/>
        </p:spPr>
        <p:txBody>
          <a:bodyPr wrap="square" lIns="0" tIns="0" rIns="0" bIns="0" rtlCol="0" anchor="ctr"/>
          <a:lstStyle/>
          <a:p>
            <a:pPr algn="ctr" indent="0" marL="0">
              <a:buNone/>
            </a:pPr>
            <a:r>
              <a:rPr lang="tr-TR" sz="1300" b="1" dirty="0">
                <a:solidFill>
                  <a:srgbClr val="36454F"/>
                </a:solidFill>
                <a:latin typeface="Calibri" pitchFamily="34" charset="0"/>
                <a:ea typeface="Calibri" pitchFamily="34" charset="-122"/>
                <a:cs typeface="Calibri" pitchFamily="34" charset="-120"/>
              </a:rPr>
              <a:t>Ç</a:t>
            </a:r>
            <a:endParaRPr lang="tr-TR" sz="1300" dirty="0"/>
          </a:p>
        </p:txBody>
      </p:sp>
      <p:sp>
        <p:nvSpPr>
          <p:cNvPr id="28" name="Shape 26"/>
          <p:cNvSpPr/>
          <p:nvPr/>
        </p:nvSpPr>
        <p:spPr>
          <a:xfrm>
            <a:off x="3136392" y="4663440"/>
            <a:ext cx="493776" cy="493776"/>
          </a:xfrm>
          <a:prstGeom prst="ellipse">
            <a:avLst/>
          </a:prstGeom>
          <a:solidFill>
            <a:srgbClr val="FFFFFF"/>
          </a:solidFill>
          <a:ln/>
        </p:spPr>
      </p:sp>
      <p:sp>
        <p:nvSpPr>
          <p:cNvPr id="29" name="Text 27"/>
          <p:cNvSpPr txBox="1"/>
          <p:nvPr/>
        </p:nvSpPr>
        <p:spPr>
          <a:xfrm>
            <a:off x="3136392" y="4663440"/>
            <a:ext cx="493776" cy="493776"/>
          </a:xfrm>
          <a:prstGeom prst="rect">
            <a:avLst/>
          </a:prstGeom>
          <a:noFill/>
          <a:ln/>
        </p:spPr>
        <p:txBody>
          <a:bodyPr wrap="square" lIns="0" tIns="0" rIns="0" bIns="0" rtlCol="0" anchor="ctr"/>
          <a:lstStyle/>
          <a:p>
            <a:pPr algn="ctr" indent="0" marL="0">
              <a:buNone/>
            </a:pPr>
            <a:r>
              <a:rPr lang="tr-TR" sz="1300" b="1" dirty="0">
                <a:solidFill>
                  <a:srgbClr val="36454F"/>
                </a:solidFill>
                <a:latin typeface="Calibri" pitchFamily="34" charset="0"/>
                <a:ea typeface="Calibri" pitchFamily="34" charset="-122"/>
                <a:cs typeface="Calibri" pitchFamily="34" charset="-120"/>
              </a:rPr>
              <a:t>Ç</a:t>
            </a:r>
            <a:endParaRPr lang="tr-TR" sz="1300" dirty="0"/>
          </a:p>
        </p:txBody>
      </p:sp>
      <p:sp>
        <p:nvSpPr>
          <p:cNvPr id="30" name="Shape 28"/>
          <p:cNvSpPr/>
          <p:nvPr/>
        </p:nvSpPr>
        <p:spPr>
          <a:xfrm>
            <a:off x="5026152" y="4663440"/>
            <a:ext cx="493776" cy="493776"/>
          </a:xfrm>
          <a:prstGeom prst="ellipse">
            <a:avLst/>
          </a:prstGeom>
          <a:solidFill>
            <a:srgbClr val="FFFFFF"/>
          </a:solidFill>
          <a:ln/>
        </p:spPr>
      </p:sp>
      <p:sp>
        <p:nvSpPr>
          <p:cNvPr id="31" name="Text 29"/>
          <p:cNvSpPr txBox="1"/>
          <p:nvPr/>
        </p:nvSpPr>
        <p:spPr>
          <a:xfrm>
            <a:off x="5026152" y="4663440"/>
            <a:ext cx="493776" cy="493776"/>
          </a:xfrm>
          <a:prstGeom prst="rect">
            <a:avLst/>
          </a:prstGeom>
          <a:noFill/>
          <a:ln/>
        </p:spPr>
        <p:txBody>
          <a:bodyPr wrap="square" lIns="0" tIns="0" rIns="0" bIns="0" rtlCol="0" anchor="ctr"/>
          <a:lstStyle/>
          <a:p>
            <a:pPr algn="ctr" indent="0" marL="0">
              <a:buNone/>
            </a:pPr>
            <a:r>
              <a:rPr lang="tr-TR" sz="1300" b="1" dirty="0">
                <a:solidFill>
                  <a:srgbClr val="36454F"/>
                </a:solidFill>
                <a:latin typeface="Calibri" pitchFamily="34" charset="0"/>
                <a:ea typeface="Calibri" pitchFamily="34" charset="-122"/>
                <a:cs typeface="Calibri" pitchFamily="34" charset="-120"/>
              </a:rPr>
              <a:t>Ç</a:t>
            </a:r>
            <a:endParaRPr lang="tr-TR" sz="1300" dirty="0"/>
          </a:p>
        </p:txBody>
      </p:sp>
      <p:sp>
        <p:nvSpPr>
          <p:cNvPr id="32" name="Text 30"/>
          <p:cNvSpPr txBox="1"/>
          <p:nvPr/>
        </p:nvSpPr>
        <p:spPr>
          <a:xfrm>
            <a:off x="548640" y="5623560"/>
            <a:ext cx="5669280" cy="548640"/>
          </a:xfrm>
          <a:prstGeom prst="rect">
            <a:avLst/>
          </a:prstGeom>
          <a:noFill/>
          <a:ln/>
        </p:spPr>
        <p:txBody>
          <a:bodyPr wrap="square" lIns="0" tIns="0" rIns="0" bIns="0" rtlCol="0" anchor="t"/>
          <a:lstStyle/>
          <a:p>
            <a:pPr indent="0" marL="0">
              <a:buNone/>
            </a:pPr>
            <a:r>
              <a:rPr lang="tr-TR" sz="1200" i="1" dirty="0">
                <a:solidFill>
                  <a:srgbClr val="6B7679"/>
                </a:solidFill>
                <a:latin typeface="Calibri" pitchFamily="34" charset="0"/>
                <a:ea typeface="Calibri" pitchFamily="34" charset="-122"/>
                <a:cs typeface="Calibri" pitchFamily="34" charset="-120"/>
              </a:rPr>
              <a:t>Hangi kullanıcı iş parçacığının hangi çekirdek iş parçacığında çalışacağına kütüphane karar verir.</a:t>
            </a:r>
            <a:endParaRPr lang="tr-TR" sz="1200" dirty="0"/>
          </a:p>
        </p:txBody>
      </p:sp>
      <p:sp>
        <p:nvSpPr>
          <p:cNvPr id="33" name="Shape 31"/>
          <p:cNvSpPr/>
          <p:nvPr/>
        </p:nvSpPr>
        <p:spPr>
          <a:xfrm>
            <a:off x="6537960" y="2103120"/>
            <a:ext cx="5120640" cy="1463040"/>
          </a:xfrm>
          <a:prstGeom prst="roundRect">
            <a:avLst>
              <a:gd name="adj" fmla="val 3750"/>
            </a:avLst>
          </a:prstGeom>
          <a:solidFill>
            <a:srgbClr val="F2F2F2"/>
          </a:solidFill>
          <a:ln/>
          <a:effectLst>
            <a:outerShdw sx="100000" sy="100000" kx="0" ky="0" algn="bl" rotWithShape="0" blurRad="101600" dist="25400" dir="5400000">
              <a:srgbClr val="000000">
                <a:alpha val="12000"/>
              </a:srgbClr>
            </a:outerShdw>
          </a:effectLst>
        </p:spPr>
      </p:sp>
      <p:sp>
        <p:nvSpPr>
          <p:cNvPr id="34" name="Text 32"/>
          <p:cNvSpPr txBox="1"/>
          <p:nvPr/>
        </p:nvSpPr>
        <p:spPr>
          <a:xfrm>
            <a:off x="6766560" y="2286000"/>
            <a:ext cx="466344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Avantajlar</a:t>
            </a:r>
            <a:endParaRPr lang="tr-TR" sz="1500" dirty="0"/>
          </a:p>
        </p:txBody>
      </p:sp>
      <p:sp>
        <p:nvSpPr>
          <p:cNvPr id="35" name="Text 33"/>
          <p:cNvSpPr txBox="1"/>
          <p:nvPr/>
        </p:nvSpPr>
        <p:spPr>
          <a:xfrm>
            <a:off x="6766560" y="2743200"/>
            <a:ext cx="4663440" cy="685800"/>
          </a:xfrm>
          <a:prstGeom prst="rect">
            <a:avLst/>
          </a:prstGeom>
          <a:noFill/>
          <a:ln/>
        </p:spPr>
        <p:txBody>
          <a:bodyPr wrap="square" lIns="0" tIns="0" rIns="0" bIns="0" rtlCol="0" anchor="t"/>
          <a:lstStyle/>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İstediğiniz kadar kullanıcı iş parçacığını ucuza yaratabilirsiniz.</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Çok çekirdekte yine paraleldir; bloke eden bir çağrı her şeyi durdurmaz.</a:t>
            </a:r>
            <a:endParaRPr lang="tr-TR" sz="1400" dirty="0"/>
          </a:p>
        </p:txBody>
      </p:sp>
      <p:sp>
        <p:nvSpPr>
          <p:cNvPr id="36" name="Shape 34"/>
          <p:cNvSpPr/>
          <p:nvPr/>
        </p:nvSpPr>
        <p:spPr>
          <a:xfrm>
            <a:off x="6537960" y="3749040"/>
            <a:ext cx="5120640" cy="1463040"/>
          </a:xfrm>
          <a:prstGeom prst="roundRect">
            <a:avLst>
              <a:gd name="adj" fmla="val 3750"/>
            </a:avLst>
          </a:prstGeom>
          <a:solidFill>
            <a:srgbClr val="F2F2F2"/>
          </a:solidFill>
          <a:ln/>
          <a:effectLst>
            <a:outerShdw sx="100000" sy="100000" kx="0" ky="0" algn="bl" rotWithShape="0" blurRad="101600" dist="25400" dir="5400000">
              <a:srgbClr val="000000">
                <a:alpha val="12000"/>
              </a:srgbClr>
            </a:outerShdw>
          </a:effectLst>
        </p:spPr>
      </p:sp>
      <p:sp>
        <p:nvSpPr>
          <p:cNvPr id="37" name="Text 35"/>
          <p:cNvSpPr txBox="1"/>
          <p:nvPr/>
        </p:nvSpPr>
        <p:spPr>
          <a:xfrm>
            <a:off x="6766560" y="3931920"/>
            <a:ext cx="4663440" cy="384048"/>
          </a:xfrm>
          <a:prstGeom prst="rect">
            <a:avLst/>
          </a:prstGeom>
          <a:noFill/>
          <a:ln/>
        </p:spPr>
        <p:txBody>
          <a:bodyPr wrap="square" lIns="0" tIns="0" rIns="0" bIns="0" rtlCol="0" anchor="ctr"/>
          <a:lstStyle/>
          <a:p>
            <a:pPr indent="0" marL="0">
              <a:buNone/>
            </a:pPr>
            <a:r>
              <a:rPr lang="tr-TR" sz="1500" b="1" dirty="0">
                <a:solidFill>
                  <a:srgbClr val="B5453A"/>
                </a:solidFill>
                <a:latin typeface="Cambria" pitchFamily="34" charset="0"/>
                <a:ea typeface="Cambria" pitchFamily="34" charset="-122"/>
                <a:cs typeface="Cambria" pitchFamily="34" charset="-120"/>
              </a:rPr>
              <a:t>Dezavantajlar</a:t>
            </a:r>
            <a:endParaRPr lang="tr-TR" sz="1500" dirty="0"/>
          </a:p>
        </p:txBody>
      </p:sp>
      <p:sp>
        <p:nvSpPr>
          <p:cNvPr id="38" name="Text 36"/>
          <p:cNvSpPr txBox="1"/>
          <p:nvPr/>
        </p:nvSpPr>
        <p:spPr>
          <a:xfrm>
            <a:off x="6766560" y="4389120"/>
            <a:ext cx="4663440" cy="685800"/>
          </a:xfrm>
          <a:prstGeom prst="rect">
            <a:avLst/>
          </a:prstGeom>
          <a:noFill/>
          <a:ln/>
        </p:spPr>
        <p:txBody>
          <a:bodyPr wrap="square" lIns="0" tIns="0" rIns="0" bIns="0" rtlCol="0" anchor="t"/>
          <a:lstStyle/>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Gerçeklemesi karmaşıktır: iki zamanlayıcı (kütüphane + çekirdek) uyum içinde çalışmalıdır.</a:t>
            </a:r>
            <a:endParaRPr lang="tr-TR" sz="1400" dirty="0"/>
          </a:p>
        </p:txBody>
      </p:sp>
      <p:sp>
        <p:nvSpPr>
          <p:cNvPr id="39" name="Shape 37"/>
          <p:cNvSpPr/>
          <p:nvPr/>
        </p:nvSpPr>
        <p:spPr>
          <a:xfrm>
            <a:off x="6537960" y="5394960"/>
            <a:ext cx="5120640" cy="868680"/>
          </a:xfrm>
          <a:prstGeom prst="roundRect">
            <a:avLst>
              <a:gd name="adj" fmla="val 6316"/>
            </a:avLst>
          </a:prstGeom>
          <a:solidFill>
            <a:srgbClr val="36454F"/>
          </a:solidFill>
          <a:ln/>
          <a:effectLst>
            <a:outerShdw sx="100000" sy="100000" kx="0" ky="0" algn="bl" rotWithShape="0" blurRad="101600" dist="25400" dir="5400000">
              <a:srgbClr val="000000">
                <a:alpha val="12000"/>
              </a:srgbClr>
            </a:outerShdw>
          </a:effectLst>
        </p:spPr>
      </p:sp>
      <p:sp>
        <p:nvSpPr>
          <p:cNvPr id="40" name="Text 38"/>
          <p:cNvSpPr txBox="1"/>
          <p:nvPr/>
        </p:nvSpPr>
        <p:spPr>
          <a:xfrm>
            <a:off x="6766560" y="5394960"/>
            <a:ext cx="4663440" cy="868680"/>
          </a:xfrm>
          <a:prstGeom prst="rect">
            <a:avLst/>
          </a:prstGeom>
          <a:noFill/>
          <a:ln/>
        </p:spPr>
        <p:txBody>
          <a:bodyPr wrap="square" lIns="0" tIns="0" rIns="0" bIns="0" rtlCol="0" anchor="ctr"/>
          <a:lstStyle/>
          <a:p>
            <a:pPr indent="0" marL="0">
              <a:buNone/>
            </a:pPr>
            <a:r>
              <a:rPr lang="tr-TR" sz="1300" dirty="0">
                <a:solidFill>
                  <a:srgbClr val="F2F2F2"/>
                </a:solidFill>
                <a:latin typeface="Calibri" pitchFamily="34" charset="0"/>
                <a:ea typeface="Calibri" pitchFamily="34" charset="-122"/>
                <a:cs typeface="Calibri" pitchFamily="34" charset="-120"/>
              </a:rPr>
              <a:t>Türevi iki düzeyli model: bir iş parçacığını 1:1 bağlamaya da izin verir. Modern biçimi: Go goroutine'leri, Java sanal iş parçacıkları.</a:t>
            </a:r>
            <a:endParaRPr lang="tr-TR"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ÖZET</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Üç Model Yan Yana</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4  ·  18</a:t>
            </a:r>
            <a:endParaRPr lang="tr-TR" sz="9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109960" cy="914400"/>
        </p:xfrm>
        <a:graphic>
          <a:graphicData uri="http://schemas.openxmlformats.org/drawingml/2006/table">
            <a:tbl>
              <a:tblPr/>
              <a:tblGrid>
                <a:gridCol w="2103120"/>
                <a:gridCol w="2011680"/>
                <a:gridCol w="2331720"/>
                <a:gridCol w="2377440"/>
                <a:gridCol w="2286000"/>
              </a:tblGrid>
              <a:tr h="0">
                <a:tc>
                  <a:txBody>
                    <a:bodyPr/>
                    <a:lstStyle/>
                    <a:p>
                      <a:pPr indent="0" marL="0">
                        <a:buNone/>
                      </a:pPr>
                      <a:r>
                        <a:rPr lang="tr-TR" sz="1700" b="1" dirty="0">
                          <a:solidFill>
                            <a:srgbClr val="FFFFFF"/>
                          </a:solidFill>
                          <a:latin typeface="Cambria" pitchFamily="34" charset="0"/>
                          <a:ea typeface="Cambria" pitchFamily="34" charset="-122"/>
                          <a:cs typeface="Cambria" pitchFamily="34" charset="-120"/>
                        </a:rPr>
                        <a:t>Model</a:t>
                      </a:r>
                      <a:endParaRPr lang="tr-TR" sz="17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700" b="1" dirty="0">
                          <a:solidFill>
                            <a:srgbClr val="FFFFFF"/>
                          </a:solidFill>
                          <a:latin typeface="Cambria" pitchFamily="34" charset="0"/>
                          <a:ea typeface="Cambria" pitchFamily="34" charset="-122"/>
                          <a:cs typeface="Cambria" pitchFamily="34" charset="-120"/>
                        </a:rPr>
                        <a:t>Kullanıcı : çekirdek</a:t>
                      </a:r>
                      <a:endParaRPr lang="tr-TR" sz="17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700" b="1" dirty="0">
                          <a:solidFill>
                            <a:srgbClr val="FFFFFF"/>
                          </a:solidFill>
                          <a:latin typeface="Cambria" pitchFamily="34" charset="0"/>
                          <a:ea typeface="Cambria" pitchFamily="34" charset="-122"/>
                          <a:cs typeface="Cambria" pitchFamily="34" charset="-120"/>
                        </a:rPr>
                        <a:t>Çok çekirdekte paralel mi?</a:t>
                      </a:r>
                      <a:endParaRPr lang="tr-TR" sz="17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700" b="1" dirty="0">
                          <a:solidFill>
                            <a:srgbClr val="FFFFFF"/>
                          </a:solidFill>
                          <a:latin typeface="Cambria" pitchFamily="34" charset="0"/>
                          <a:ea typeface="Cambria" pitchFamily="34" charset="-122"/>
                          <a:cs typeface="Cambria" pitchFamily="34" charset="-120"/>
                        </a:rPr>
                        <a:t>Bloke eden çağrı durdurur…</a:t>
                      </a:r>
                      <a:endParaRPr lang="tr-TR" sz="17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700" b="1" dirty="0">
                          <a:solidFill>
                            <a:srgbClr val="FFFFFF"/>
                          </a:solidFill>
                          <a:latin typeface="Cambria" pitchFamily="34" charset="0"/>
                          <a:ea typeface="Cambria" pitchFamily="34" charset="-122"/>
                          <a:cs typeface="Cambria" pitchFamily="34" charset="-120"/>
                        </a:rPr>
                        <a:t>Kullananlar</a:t>
                      </a:r>
                      <a:endParaRPr lang="tr-TR" sz="17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tr-TR" sz="1600" b="1" dirty="0">
                          <a:solidFill>
                            <a:srgbClr val="3A464C"/>
                          </a:solidFill>
                          <a:latin typeface="Calibri" pitchFamily="34" charset="0"/>
                          <a:ea typeface="Calibri" pitchFamily="34" charset="-122"/>
                          <a:cs typeface="Calibri" pitchFamily="34" charset="-120"/>
                        </a:rPr>
                        <a:t>Çoktan bire</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600" dirty="0">
                          <a:solidFill>
                            <a:srgbClr val="3A464C"/>
                          </a:solidFill>
                          <a:latin typeface="Calibri" pitchFamily="34" charset="0"/>
                          <a:ea typeface="Calibri" pitchFamily="34" charset="-122"/>
                          <a:cs typeface="Calibri" pitchFamily="34" charset="-120"/>
                        </a:rPr>
                        <a:t>N : 1</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600" dirty="0">
                          <a:solidFill>
                            <a:srgbClr val="3A464C"/>
                          </a:solidFill>
                          <a:latin typeface="Calibri" pitchFamily="34" charset="0"/>
                          <a:ea typeface="Calibri" pitchFamily="34" charset="-122"/>
                          <a:cs typeface="Calibri" pitchFamily="34" charset="-120"/>
                        </a:rPr>
                        <a:t>hayır</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600" dirty="0">
                          <a:solidFill>
                            <a:srgbClr val="3A464C"/>
                          </a:solidFill>
                          <a:latin typeface="Calibri" pitchFamily="34" charset="0"/>
                          <a:ea typeface="Calibri" pitchFamily="34" charset="-122"/>
                          <a:cs typeface="Calibri" pitchFamily="34" charset="-120"/>
                        </a:rPr>
                        <a:t>tüm iş parçacıklarını</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600" dirty="0">
                          <a:solidFill>
                            <a:srgbClr val="3A464C"/>
                          </a:solidFill>
                          <a:latin typeface="Calibri" pitchFamily="34" charset="0"/>
                          <a:ea typeface="Calibri" pitchFamily="34" charset="-122"/>
                          <a:cs typeface="Calibri" pitchFamily="34" charset="-120"/>
                        </a:rPr>
                        <a:t>Green threads (eski)</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600" b="1" dirty="0">
                          <a:solidFill>
                            <a:srgbClr val="3A464C"/>
                          </a:solidFill>
                          <a:latin typeface="Calibri" pitchFamily="34" charset="0"/>
                          <a:ea typeface="Calibri" pitchFamily="34" charset="-122"/>
                          <a:cs typeface="Calibri" pitchFamily="34" charset="-120"/>
                        </a:rPr>
                        <a:t>Birebir</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600" dirty="0">
                          <a:solidFill>
                            <a:srgbClr val="3A464C"/>
                          </a:solidFill>
                          <a:latin typeface="Calibri" pitchFamily="34" charset="0"/>
                          <a:ea typeface="Calibri" pitchFamily="34" charset="-122"/>
                          <a:cs typeface="Calibri" pitchFamily="34" charset="-120"/>
                        </a:rPr>
                        <a:t>1 : 1</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600" dirty="0">
                          <a:solidFill>
                            <a:srgbClr val="3A464C"/>
                          </a:solidFill>
                          <a:latin typeface="Calibri" pitchFamily="34" charset="0"/>
                          <a:ea typeface="Calibri" pitchFamily="34" charset="-122"/>
                          <a:cs typeface="Calibri" pitchFamily="34" charset="-120"/>
                        </a:rPr>
                        <a:t>evet</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600" dirty="0">
                          <a:solidFill>
                            <a:srgbClr val="3A464C"/>
                          </a:solidFill>
                          <a:latin typeface="Calibri" pitchFamily="34" charset="0"/>
                          <a:ea typeface="Calibri" pitchFamily="34" charset="-122"/>
                          <a:cs typeface="Calibri" pitchFamily="34" charset="-120"/>
                        </a:rPr>
                        <a:t>yalnızca o iş parçacığını</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600" dirty="0">
                          <a:solidFill>
                            <a:srgbClr val="3A464C"/>
                          </a:solidFill>
                          <a:latin typeface="Calibri" pitchFamily="34" charset="0"/>
                          <a:ea typeface="Calibri" pitchFamily="34" charset="-122"/>
                          <a:cs typeface="Calibri" pitchFamily="34" charset="-120"/>
                        </a:rPr>
                        <a:t>Linux, Windows</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600" b="1" dirty="0">
                          <a:solidFill>
                            <a:srgbClr val="3A464C"/>
                          </a:solidFill>
                          <a:latin typeface="Calibri" pitchFamily="34" charset="0"/>
                          <a:ea typeface="Calibri" pitchFamily="34" charset="-122"/>
                          <a:cs typeface="Calibri" pitchFamily="34" charset="-120"/>
                        </a:rPr>
                        <a:t>Çoktan çoğa</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600" dirty="0">
                          <a:solidFill>
                            <a:srgbClr val="3A464C"/>
                          </a:solidFill>
                          <a:latin typeface="Calibri" pitchFamily="34" charset="0"/>
                          <a:ea typeface="Calibri" pitchFamily="34" charset="-122"/>
                          <a:cs typeface="Calibri" pitchFamily="34" charset="-120"/>
                        </a:rPr>
                        <a:t>N : M  (M ≤ N)</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600" dirty="0">
                          <a:solidFill>
                            <a:srgbClr val="3A464C"/>
                          </a:solidFill>
                          <a:latin typeface="Calibri" pitchFamily="34" charset="0"/>
                          <a:ea typeface="Calibri" pitchFamily="34" charset="-122"/>
                          <a:cs typeface="Calibri" pitchFamily="34" charset="-120"/>
                        </a:rPr>
                        <a:t>evet</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600" dirty="0">
                          <a:solidFill>
                            <a:srgbClr val="3A464C"/>
                          </a:solidFill>
                          <a:latin typeface="Calibri" pitchFamily="34" charset="0"/>
                          <a:ea typeface="Calibri" pitchFamily="34" charset="-122"/>
                          <a:cs typeface="Calibri" pitchFamily="34" charset="-120"/>
                        </a:rPr>
                        <a:t>yalnızca o iş parçacığını</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600" dirty="0">
                          <a:solidFill>
                            <a:srgbClr val="3A464C"/>
                          </a:solidFill>
                          <a:latin typeface="Calibri" pitchFamily="34" charset="0"/>
                          <a:ea typeface="Calibri" pitchFamily="34" charset="-122"/>
                          <a:cs typeface="Calibri" pitchFamily="34" charset="-120"/>
                        </a:rPr>
                        <a:t>Go, Java sanal iş parçacıkları</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bl>
          </a:graphicData>
        </a:graphic>
      </p:graphicFrame>
      <p:sp>
        <p:nvSpPr>
          <p:cNvPr id="7" name="Shape 4"/>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sp>
      <p:sp>
        <p:nvSpPr>
          <p:cNvPr id="8" name="Text 5"/>
          <p:cNvSpPr txBox="1"/>
          <p:nvPr/>
        </p:nvSpPr>
        <p:spPr>
          <a:xfrm>
            <a:off x="777240" y="5486400"/>
            <a:ext cx="10652760" cy="777240"/>
          </a:xfrm>
          <a:prstGeom prst="rect">
            <a:avLst/>
          </a:prstGeom>
          <a:noFill/>
          <a:ln/>
        </p:spPr>
        <p:txBody>
          <a:bodyPr wrap="square" lIns="0" tIns="0" rIns="0" bIns="0" rtlCol="0" anchor="ctr"/>
          <a:lstStyle/>
          <a:p>
            <a:pPr indent="0" marL="0">
              <a:buNone/>
            </a:pPr>
            <a:r>
              <a:rPr lang="tr-TR" sz="1400" dirty="0">
                <a:solidFill>
                  <a:srgbClr val="F2F2F2"/>
                </a:solidFill>
                <a:latin typeface="Calibri" pitchFamily="34" charset="0"/>
                <a:ea typeface="Calibri" pitchFamily="34" charset="-122"/>
                <a:cs typeface="Calibri" pitchFamily="34" charset="-120"/>
              </a:rPr>
              <a:t>Linux ve Windows birebir modeli kullanır: pthread_create() ile yarattığınız her iş parçacığı, çekirdeğin zamanlayıcısında ayrı bir varlıktır.</a:t>
            </a:r>
            <a:endParaRPr lang="tr-TR"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İŞ PARÇACIĞI KÜTÜPHANELERİ</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POSIX İş Parçacıkları (Pthreads): Temel Çağrılar</a:t>
            </a:r>
            <a:endParaRPr lang="tr-TR"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tr-TR" sz="1500" dirty="0">
                <a:solidFill>
                  <a:srgbClr val="3A464C"/>
                </a:solidFill>
                <a:latin typeface="Calibri" pitchFamily="34" charset="0"/>
                <a:ea typeface="Calibri" pitchFamily="34" charset="-122"/>
                <a:cs typeface="Calibri" pitchFamily="34" charset="-120"/>
              </a:rPr>
              <a:t>Üç ana iş parçacığı kütüphanesi: POSIX Pthreads (Linux, macOS), Windows iş parçacığı API'si ve Java iş parçacıkları.</a:t>
            </a:r>
            <a:endParaRPr lang="tr-TR"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4  ·  19</a:t>
            </a:r>
            <a:endParaRPr lang="tr-TR" sz="9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11109960" cy="914400"/>
        </p:xfrm>
        <a:graphic>
          <a:graphicData uri="http://schemas.openxmlformats.org/drawingml/2006/table">
            <a:tbl>
              <a:tblPr/>
              <a:tblGrid>
                <a:gridCol w="4023360"/>
                <a:gridCol w="7086600"/>
              </a:tblGrid>
              <a:tr h="0">
                <a:tc>
                  <a:txBody>
                    <a:bodyPr/>
                    <a:lstStyle/>
                    <a:p>
                      <a:pPr indent="0" marL="0">
                        <a:buNone/>
                      </a:pPr>
                      <a:r>
                        <a:rPr lang="tr-TR" sz="1700" b="1" dirty="0">
                          <a:solidFill>
                            <a:srgbClr val="FFFFFF"/>
                          </a:solidFill>
                          <a:latin typeface="Cambria" pitchFamily="34" charset="0"/>
                          <a:ea typeface="Cambria" pitchFamily="34" charset="-122"/>
                          <a:cs typeface="Cambria" pitchFamily="34" charset="-120"/>
                        </a:rPr>
                        <a:t>Çağrı</a:t>
                      </a:r>
                      <a:endParaRPr lang="tr-TR" sz="17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700" b="1" dirty="0">
                          <a:solidFill>
                            <a:srgbClr val="FFFFFF"/>
                          </a:solidFill>
                          <a:latin typeface="Cambria" pitchFamily="34" charset="0"/>
                          <a:ea typeface="Cambria" pitchFamily="34" charset="-122"/>
                          <a:cs typeface="Cambria" pitchFamily="34" charset="-120"/>
                        </a:rPr>
                        <a:t>Ne yapar?</a:t>
                      </a:r>
                      <a:endParaRPr lang="tr-TR" sz="17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tr-TR" sz="1600" b="1" dirty="0">
                          <a:solidFill>
                            <a:srgbClr val="3A464C"/>
                          </a:solidFill>
                          <a:latin typeface="Calibri" pitchFamily="34" charset="0"/>
                          <a:ea typeface="Calibri" pitchFamily="34" charset="-122"/>
                          <a:cs typeface="Calibri" pitchFamily="34" charset="-120"/>
                        </a:rPr>
                        <a:t>pthread_create(&amp;t, NULL, f, arg)</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600" dirty="0">
                          <a:solidFill>
                            <a:srgbClr val="3A464C"/>
                          </a:solidFill>
                          <a:latin typeface="Calibri" pitchFamily="34" charset="0"/>
                          <a:ea typeface="Calibri" pitchFamily="34" charset="-122"/>
                          <a:cs typeface="Calibri" pitchFamily="34" charset="-120"/>
                        </a:rPr>
                        <a:t>f(arg) fonksiyonunu çalıştıran yeni bir iş parçacığı başlatır. Tutamacı t'ye yazılır.</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600" b="1" dirty="0">
                          <a:solidFill>
                            <a:srgbClr val="3A464C"/>
                          </a:solidFill>
                          <a:latin typeface="Calibri" pitchFamily="34" charset="0"/>
                          <a:ea typeface="Calibri" pitchFamily="34" charset="-122"/>
                          <a:cs typeface="Calibri" pitchFamily="34" charset="-120"/>
                        </a:rPr>
                        <a:t>pthread_join(t, &amp;result)</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600" dirty="0">
                          <a:solidFill>
                            <a:srgbClr val="3A464C"/>
                          </a:solidFill>
                          <a:latin typeface="Calibri" pitchFamily="34" charset="0"/>
                          <a:ea typeface="Calibri" pitchFamily="34" charset="-122"/>
                          <a:cs typeface="Calibri" pitchFamily="34" charset="-120"/>
                        </a:rPr>
                        <a:t>t iş parçacığı bitene kadar bekler (süreçlerdeki wait() gibi).</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600" b="1" dirty="0">
                          <a:solidFill>
                            <a:srgbClr val="3A464C"/>
                          </a:solidFill>
                          <a:latin typeface="Calibri" pitchFamily="34" charset="0"/>
                          <a:ea typeface="Calibri" pitchFamily="34" charset="-122"/>
                          <a:cs typeface="Calibri" pitchFamily="34" charset="-120"/>
                        </a:rPr>
                        <a:t>pthread_exit(value)</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600" dirty="0">
                          <a:solidFill>
                            <a:srgbClr val="3A464C"/>
                          </a:solidFill>
                          <a:latin typeface="Calibri" pitchFamily="34" charset="0"/>
                          <a:ea typeface="Calibri" pitchFamily="34" charset="-122"/>
                          <a:cs typeface="Calibri" pitchFamily="34" charset="-120"/>
                        </a:rPr>
                        <a:t>Çağıran iş parçacığını sonlandırır (f'den dönmek de aynı işi görür).</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600" b="1" dirty="0">
                          <a:solidFill>
                            <a:srgbClr val="3A464C"/>
                          </a:solidFill>
                          <a:latin typeface="Calibri" pitchFamily="34" charset="0"/>
                          <a:ea typeface="Calibri" pitchFamily="34" charset="-122"/>
                          <a:cs typeface="Calibri" pitchFamily="34" charset="-120"/>
                        </a:rPr>
                        <a:t>pthread_self()</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600" dirty="0">
                          <a:solidFill>
                            <a:srgbClr val="3A464C"/>
                          </a:solidFill>
                          <a:latin typeface="Calibri" pitchFamily="34" charset="0"/>
                          <a:ea typeface="Calibri" pitchFamily="34" charset="-122"/>
                          <a:cs typeface="Calibri" pitchFamily="34" charset="-120"/>
                        </a:rPr>
                        <a:t>Çağıran iş parçacığının kendi tutamacını döndürür.</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600" b="1" dirty="0">
                          <a:solidFill>
                            <a:srgbClr val="3A464C"/>
                          </a:solidFill>
                          <a:latin typeface="Calibri" pitchFamily="34" charset="0"/>
                          <a:ea typeface="Calibri" pitchFamily="34" charset="-122"/>
                          <a:cs typeface="Calibri" pitchFamily="34" charset="-120"/>
                        </a:rPr>
                        <a:t>gcc -pthread prog.c</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600" dirty="0">
                          <a:solidFill>
                            <a:srgbClr val="3A464C"/>
                          </a:solidFill>
                          <a:latin typeface="Calibri" pitchFamily="34" charset="0"/>
                          <a:ea typeface="Calibri" pitchFamily="34" charset="-122"/>
                          <a:cs typeface="Calibri" pitchFamily="34" charset="-120"/>
                        </a:rPr>
                        <a:t>Pthreads kütüphanesiyle derler ve bağlar.</a:t>
                      </a:r>
                      <a:endParaRPr lang="tr-TR"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bl>
          </a:graphicData>
        </a:graphic>
      </p:graphicFrame>
      <p:sp>
        <p:nvSpPr>
          <p:cNvPr id="8" name="Shape 5"/>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sp>
      <p:sp>
        <p:nvSpPr>
          <p:cNvPr id="9" name="Text 6"/>
          <p:cNvSpPr txBox="1"/>
          <p:nvPr/>
        </p:nvSpPr>
        <p:spPr>
          <a:xfrm>
            <a:off x="777240" y="5486400"/>
            <a:ext cx="10652760" cy="777240"/>
          </a:xfrm>
          <a:prstGeom prst="rect">
            <a:avLst/>
          </a:prstGeom>
          <a:noFill/>
          <a:ln/>
        </p:spPr>
        <p:txBody>
          <a:bodyPr wrap="square" lIns="0" tIns="0" rIns="0" bIns="0" rtlCol="0" anchor="ctr"/>
          <a:lstStyle/>
          <a:p>
            <a:pPr indent="0" marL="0">
              <a:buNone/>
            </a:pPr>
            <a:r>
              <a:rPr lang="tr-TR" sz="1400" dirty="0">
                <a:solidFill>
                  <a:srgbClr val="F2F2F2"/>
                </a:solidFill>
                <a:latin typeface="Calibri" pitchFamily="34" charset="0"/>
                <a:ea typeface="Calibri" pitchFamily="34" charset="-122"/>
                <a:cs typeface="Calibri" pitchFamily="34" charset="-120"/>
              </a:rPr>
              <a:t>Pthreads bir gerçekleme değil, bir belirtimdir (POSIX standardı). Linux'ta glibc (NPTL) tarafından clone() sistem çağrısının üzerine gerçeklenir.</a:t>
            </a:r>
            <a:endParaRPr lang="tr-TR"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UYGULAMA</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Örnek 2: Üç İş Parçacığından Merhaba</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4  ·  20</a:t>
            </a:r>
            <a:endParaRPr lang="tr-TR" sz="900" dirty="0"/>
          </a:p>
        </p:txBody>
      </p:sp>
      <p:sp>
        <p:nvSpPr>
          <p:cNvPr id="6" name="Shape 4"/>
          <p:cNvSpPr/>
          <p:nvPr/>
        </p:nvSpPr>
        <p:spPr>
          <a:xfrm>
            <a:off x="548640" y="1508760"/>
            <a:ext cx="6492240" cy="4754880"/>
          </a:xfrm>
          <a:prstGeom prst="roundRect">
            <a:avLst>
              <a:gd name="adj" fmla="val 962"/>
            </a:avLst>
          </a:prstGeom>
          <a:solidFill>
            <a:srgbClr val="212121"/>
          </a:solidFill>
          <a:ln/>
        </p:spPr>
      </p:sp>
      <p:sp>
        <p:nvSpPr>
          <p:cNvPr id="7" name="Text 5"/>
          <p:cNvSpPr txBox="1"/>
          <p:nvPr/>
        </p:nvSpPr>
        <p:spPr>
          <a:xfrm>
            <a:off x="731520" y="1618488"/>
            <a:ext cx="6126480" cy="4535424"/>
          </a:xfrm>
          <a:prstGeom prst="rect">
            <a:avLst/>
          </a:prstGeom>
          <a:noFill/>
          <a:ln/>
        </p:spPr>
        <p:txBody>
          <a:bodyPr wrap="square" lIns="0" tIns="0" rIns="0" bIns="0" rtlCol="0" anchor="t"/>
          <a:lstStyle/>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int shared_counter = 0;          /* global: TEK kopya */</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 </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void *worker(void *arg)</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    int my_number = *(int *)arg; /* KENDİ yığıtımda */</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    printf("thread %d: PID = %d, TID = %d\n",</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           my_number, getpid(), gettid());</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    shared_counter++;</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    return NULL;</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 </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int main(void)</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    pthread_t tid[3];  int number[3];</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    for (int i = 0; i &lt; 3; i++) {</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        number[i] = i + 1;</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        pthread_create(&amp;tid[i], NULL, worker, &amp;number[i]);</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    }</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    for (int i = 0; i &lt; 3; i++)</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        pthread_join(tid[i], NULL);   /* bekle */</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    printf("shared_counter = %d\n", shared_counter);</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a:t>
            </a:r>
            <a:endParaRPr lang="tr-TR" sz="1100" dirty="0"/>
          </a:p>
          <a:p>
            <a:pPr indent="0" marL="0">
              <a:lnSpc>
                <a:spcPct val="105000"/>
              </a:lnSpc>
              <a:buNone/>
            </a:pPr>
            <a:r>
              <a:rPr lang="tr-TR" sz="1100" dirty="0">
                <a:solidFill>
                  <a:srgbClr val="8A9AA0"/>
                </a:solidFill>
                <a:latin typeface="Consolas" pitchFamily="34" charset="0"/>
                <a:ea typeface="Consolas" pitchFamily="34" charset="-122"/>
                <a:cs typeface="Consolas" pitchFamily="34" charset="-120"/>
              </a:rPr>
              <a:t>/* programın tamamı: code/thread_hello.c */</a:t>
            </a:r>
            <a:endParaRPr lang="tr-TR" sz="1100" dirty="0"/>
          </a:p>
        </p:txBody>
      </p:sp>
      <p:sp>
        <p:nvSpPr>
          <p:cNvPr id="8" name="Shape 6"/>
          <p:cNvSpPr/>
          <p:nvPr/>
        </p:nvSpPr>
        <p:spPr>
          <a:xfrm>
            <a:off x="7315200" y="1508760"/>
            <a:ext cx="4343400" cy="2148840"/>
          </a:xfrm>
          <a:prstGeom prst="roundRect">
            <a:avLst>
              <a:gd name="adj" fmla="val 2553"/>
            </a:avLst>
          </a:prstGeom>
          <a:solidFill>
            <a:srgbClr val="F2F2F2"/>
          </a:solidFill>
          <a:ln/>
          <a:effectLst>
            <a:outerShdw sx="100000" sy="100000" kx="0" ky="0" algn="bl" rotWithShape="0" blurRad="101600" dist="25400" dir="5400000">
              <a:srgbClr val="000000">
                <a:alpha val="12000"/>
              </a:srgbClr>
            </a:outerShdw>
          </a:effectLst>
        </p:spPr>
      </p:sp>
      <p:sp>
        <p:nvSpPr>
          <p:cNvPr id="9" name="Text 7"/>
          <p:cNvSpPr txBox="1"/>
          <p:nvPr/>
        </p:nvSpPr>
        <p:spPr>
          <a:xfrm>
            <a:off x="7543800" y="1691640"/>
            <a:ext cx="388620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Neye dikkat edelim?</a:t>
            </a:r>
            <a:endParaRPr lang="tr-TR" sz="1500" dirty="0"/>
          </a:p>
        </p:txBody>
      </p:sp>
      <p:sp>
        <p:nvSpPr>
          <p:cNvPr id="10" name="Text 8"/>
          <p:cNvSpPr txBox="1"/>
          <p:nvPr/>
        </p:nvSpPr>
        <p:spPr>
          <a:xfrm>
            <a:off x="7543800" y="2148840"/>
            <a:ext cx="3886200" cy="1371600"/>
          </a:xfrm>
          <a:prstGeom prst="rect">
            <a:avLst/>
          </a:prstGeom>
          <a:noFill/>
          <a:ln/>
        </p:spPr>
        <p:txBody>
          <a:bodyPr wrap="square" lIns="0" tIns="0" rIns="0" bIns="0" rtlCol="0" anchor="t"/>
          <a:lstStyle/>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Tüm iş parçacıkları aynı PID'yi yazar: tek süreç.</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Her iş parçacığının kendi TID'si var (bir çekirdek iş parçacığı: birebir model).</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İş parçacıkları herhangi bir sırada biter: 3, 2'den önce yazdı!</a:t>
            </a:r>
            <a:endParaRPr lang="tr-TR" sz="1300" dirty="0"/>
          </a:p>
        </p:txBody>
      </p:sp>
      <p:sp>
        <p:nvSpPr>
          <p:cNvPr id="11" name="Shape 9"/>
          <p:cNvSpPr/>
          <p:nvPr/>
        </p:nvSpPr>
        <p:spPr>
          <a:xfrm>
            <a:off x="7315200" y="3886200"/>
            <a:ext cx="4343400" cy="2377440"/>
          </a:xfrm>
          <a:prstGeom prst="roundRect">
            <a:avLst>
              <a:gd name="adj" fmla="val 1923"/>
            </a:avLst>
          </a:prstGeom>
          <a:solidFill>
            <a:srgbClr val="212121"/>
          </a:solidFill>
          <a:ln/>
        </p:spPr>
      </p:sp>
      <p:sp>
        <p:nvSpPr>
          <p:cNvPr id="12" name="Text 10"/>
          <p:cNvSpPr txBox="1"/>
          <p:nvPr/>
        </p:nvSpPr>
        <p:spPr>
          <a:xfrm>
            <a:off x="7498080" y="3995928"/>
            <a:ext cx="3977640" cy="2157984"/>
          </a:xfrm>
          <a:prstGeom prst="rect">
            <a:avLst/>
          </a:prstGeom>
          <a:noFill/>
          <a:ln/>
        </p:spPr>
        <p:txBody>
          <a:bodyPr wrap="square" lIns="0" tIns="0" rIns="0" bIns="0" rtlCol="0" anchor="t"/>
          <a:lstStyle/>
          <a:p>
            <a:pPr indent="0" marL="0">
              <a:lnSpc>
                <a:spcPct val="105000"/>
              </a:lnSpc>
              <a:buNone/>
            </a:pPr>
            <a:r>
              <a:rPr lang="tr-TR" sz="1200" dirty="0">
                <a:solidFill>
                  <a:srgbClr val="02C39A"/>
                </a:solidFill>
                <a:latin typeface="Consolas" pitchFamily="34" charset="0"/>
                <a:ea typeface="Consolas" pitchFamily="34" charset="-122"/>
                <a:cs typeface="Consolas" pitchFamily="34" charset="-120"/>
              </a:rPr>
              <a:t>$ ./thread_hello</a:t>
            </a:r>
            <a:endParaRPr lang="tr-TR" sz="1200" dirty="0"/>
          </a:p>
          <a:p>
            <a:pPr indent="0" marL="0">
              <a:lnSpc>
                <a:spcPct val="105000"/>
              </a:lnSpc>
              <a:buNone/>
            </a:pPr>
            <a:r>
              <a:rPr lang="tr-TR" sz="1200" dirty="0">
                <a:solidFill>
                  <a:srgbClr val="F2F2F2"/>
                </a:solidFill>
                <a:latin typeface="Consolas" pitchFamily="34" charset="0"/>
                <a:ea typeface="Consolas" pitchFamily="34" charset="-122"/>
                <a:cs typeface="Consolas" pitchFamily="34" charset="-120"/>
              </a:rPr>
              <a:t>main    : PID = 6351, TID = 6351</a:t>
            </a:r>
            <a:endParaRPr lang="tr-TR" sz="1200" dirty="0"/>
          </a:p>
          <a:p>
            <a:pPr indent="0" marL="0">
              <a:lnSpc>
                <a:spcPct val="105000"/>
              </a:lnSpc>
              <a:buNone/>
            </a:pPr>
            <a:r>
              <a:rPr lang="tr-TR" sz="1200" dirty="0">
                <a:solidFill>
                  <a:srgbClr val="F2F2F2"/>
                </a:solidFill>
                <a:latin typeface="Consolas" pitchFamily="34" charset="0"/>
                <a:ea typeface="Consolas" pitchFamily="34" charset="-122"/>
                <a:cs typeface="Consolas" pitchFamily="34" charset="-120"/>
              </a:rPr>
              <a:t>thread 1: PID = 6351, TID = 6352</a:t>
            </a:r>
            <a:endParaRPr lang="tr-TR" sz="1200" dirty="0"/>
          </a:p>
          <a:p>
            <a:pPr indent="0" marL="0">
              <a:lnSpc>
                <a:spcPct val="105000"/>
              </a:lnSpc>
              <a:buNone/>
            </a:pPr>
            <a:r>
              <a:rPr lang="tr-TR" sz="1200" dirty="0">
                <a:solidFill>
                  <a:srgbClr val="F2F2F2"/>
                </a:solidFill>
                <a:latin typeface="Consolas" pitchFamily="34" charset="0"/>
                <a:ea typeface="Consolas" pitchFamily="34" charset="-122"/>
                <a:cs typeface="Consolas" pitchFamily="34" charset="-120"/>
              </a:rPr>
              <a:t>thread 3: PID = 6351, TID = 6354</a:t>
            </a:r>
            <a:endParaRPr lang="tr-TR" sz="1200" dirty="0"/>
          </a:p>
          <a:p>
            <a:pPr indent="0" marL="0">
              <a:lnSpc>
                <a:spcPct val="105000"/>
              </a:lnSpc>
              <a:buNone/>
            </a:pPr>
            <a:r>
              <a:rPr lang="tr-TR" sz="1200" dirty="0">
                <a:solidFill>
                  <a:srgbClr val="F2F2F2"/>
                </a:solidFill>
                <a:latin typeface="Consolas" pitchFamily="34" charset="0"/>
                <a:ea typeface="Consolas" pitchFamily="34" charset="-122"/>
                <a:cs typeface="Consolas" pitchFamily="34" charset="-120"/>
              </a:rPr>
              <a:t>thread 2: PID = 6351, TID = 6353</a:t>
            </a:r>
            <a:endParaRPr lang="tr-TR" sz="1200" dirty="0"/>
          </a:p>
          <a:p>
            <a:pPr indent="0" marL="0">
              <a:lnSpc>
                <a:spcPct val="105000"/>
              </a:lnSpc>
              <a:buNone/>
            </a:pPr>
            <a:r>
              <a:rPr lang="tr-TR" sz="1200" dirty="0">
                <a:solidFill>
                  <a:srgbClr val="F2F2F2"/>
                </a:solidFill>
                <a:latin typeface="Consolas" pitchFamily="34" charset="0"/>
                <a:ea typeface="Consolas" pitchFamily="34" charset="-122"/>
                <a:cs typeface="Consolas" pitchFamily="34" charset="-120"/>
              </a:rPr>
              <a:t>main    : all threads done,</a:t>
            </a:r>
            <a:endParaRPr lang="tr-TR" sz="1200" dirty="0"/>
          </a:p>
          <a:p>
            <a:pPr indent="0" marL="0">
              <a:lnSpc>
                <a:spcPct val="105000"/>
              </a:lnSpc>
              <a:buNone/>
            </a:pPr>
            <a:r>
              <a:rPr lang="tr-TR" sz="1200" dirty="0">
                <a:solidFill>
                  <a:srgbClr val="F2F2F2"/>
                </a:solidFill>
                <a:latin typeface="Consolas" pitchFamily="34" charset="0"/>
                <a:ea typeface="Consolas" pitchFamily="34" charset="-122"/>
                <a:cs typeface="Consolas" pitchFamily="34" charset="-120"/>
              </a:rPr>
              <a:t>          shared_counter = 3</a:t>
            </a:r>
            <a:endParaRPr lang="tr-TR"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UYGULAMA</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Örnek 3: Bir Diziyi T İş Parçacığıyla Toplamak</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4  ·  21</a:t>
            </a:r>
            <a:endParaRPr lang="tr-TR" sz="900" dirty="0"/>
          </a:p>
        </p:txBody>
      </p:sp>
      <p:sp>
        <p:nvSpPr>
          <p:cNvPr id="6" name="Shape 4"/>
          <p:cNvSpPr/>
          <p:nvPr/>
        </p:nvSpPr>
        <p:spPr>
          <a:xfrm>
            <a:off x="548640" y="1508760"/>
            <a:ext cx="6492240" cy="4754880"/>
          </a:xfrm>
          <a:prstGeom prst="roundRect">
            <a:avLst>
              <a:gd name="adj" fmla="val 962"/>
            </a:avLst>
          </a:prstGeom>
          <a:solidFill>
            <a:srgbClr val="212121"/>
          </a:solidFill>
          <a:ln/>
        </p:spPr>
      </p:sp>
      <p:sp>
        <p:nvSpPr>
          <p:cNvPr id="7" name="Text 5"/>
          <p:cNvSpPr txBox="1"/>
          <p:nvPr/>
        </p:nvSpPr>
        <p:spPr>
          <a:xfrm>
            <a:off x="731520" y="1618488"/>
            <a:ext cx="6126480" cy="4535424"/>
          </a:xfrm>
          <a:prstGeom prst="rect">
            <a:avLst/>
          </a:prstGeom>
          <a:noFill/>
          <a:ln/>
        </p:spPr>
        <p:txBody>
          <a:bodyPr wrap="square" lIns="0" tIns="0" rIns="0" bIns="0" rtlCol="0" anchor="t"/>
          <a:lstStyle/>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int  *a;              /* büyük dizi: ortak      */</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long  partial[MAXT];  /* her iş parçacığına bir */</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 </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void *sum_slice(void *arg)</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    long k = (long)arg;               /* dilimim */</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    long start = k * N / T, end = (k + 1) * N / T;</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    long s = 0;</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    for (long i = start; i &lt; end; i++)</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        s += a[i];</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    partial[k] = s;                   /* gözüm   */</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    return NULL;</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 </a:t>
            </a:r>
            <a:endParaRPr lang="tr-TR" sz="1100" dirty="0"/>
          </a:p>
          <a:p>
            <a:pPr indent="0" marL="0">
              <a:lnSpc>
                <a:spcPct val="105000"/>
              </a:lnSpc>
              <a:buNone/>
            </a:pPr>
            <a:r>
              <a:rPr lang="tr-TR" sz="1100" dirty="0">
                <a:solidFill>
                  <a:srgbClr val="8A9AA0"/>
                </a:solidFill>
                <a:latin typeface="Consolas" pitchFamily="34" charset="0"/>
                <a:ea typeface="Consolas" pitchFamily="34" charset="-122"/>
                <a:cs typeface="Consolas" pitchFamily="34" charset="-120"/>
              </a:rPr>
              <a:t>/* main() içinde: */</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for (long k = 0; k &lt; T; k++)</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    pthread_create(&amp;th[k], NULL, sum_slice, (void *)k);</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for (long k = 0; k &lt; T; k++) {</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    pthread_join(th[k], NULL);</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    total += partial[k];</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a:t>
            </a:r>
            <a:endParaRPr lang="tr-TR" sz="1100" dirty="0"/>
          </a:p>
          <a:p>
            <a:pPr indent="0" marL="0">
              <a:lnSpc>
                <a:spcPct val="105000"/>
              </a:lnSpc>
              <a:buNone/>
            </a:pPr>
            <a:r>
              <a:rPr lang="tr-TR" sz="1100" dirty="0">
                <a:solidFill>
                  <a:srgbClr val="8A9AA0"/>
                </a:solidFill>
                <a:latin typeface="Consolas" pitchFamily="34" charset="0"/>
                <a:ea typeface="Consolas" pitchFamily="34" charset="-122"/>
                <a:cs typeface="Consolas" pitchFamily="34" charset="-120"/>
              </a:rPr>
              <a:t>/* tam program (zaman ölçümü, 20 tekrar): code/array_sum.c */</a:t>
            </a:r>
            <a:endParaRPr lang="tr-TR" sz="1100" dirty="0"/>
          </a:p>
        </p:txBody>
      </p:sp>
      <p:sp>
        <p:nvSpPr>
          <p:cNvPr id="8" name="Shape 6"/>
          <p:cNvSpPr/>
          <p:nvPr/>
        </p:nvSpPr>
        <p:spPr>
          <a:xfrm>
            <a:off x="7315200" y="1508760"/>
            <a:ext cx="4343400" cy="2788920"/>
          </a:xfrm>
          <a:prstGeom prst="roundRect">
            <a:avLst>
              <a:gd name="adj" fmla="val 1967"/>
            </a:avLst>
          </a:prstGeom>
          <a:solidFill>
            <a:srgbClr val="F2F2F2"/>
          </a:solidFill>
          <a:ln/>
          <a:effectLst>
            <a:outerShdw sx="100000" sy="100000" kx="0" ky="0" algn="bl" rotWithShape="0" blurRad="101600" dist="25400" dir="5400000">
              <a:srgbClr val="000000">
                <a:alpha val="12000"/>
              </a:srgbClr>
            </a:outerShdw>
          </a:effectLst>
        </p:spPr>
      </p:sp>
      <p:sp>
        <p:nvSpPr>
          <p:cNvPr id="9" name="Text 7"/>
          <p:cNvSpPr txBox="1"/>
          <p:nvPr/>
        </p:nvSpPr>
        <p:spPr>
          <a:xfrm>
            <a:off x="7543800" y="1691640"/>
            <a:ext cx="388620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Veri paralelliği</a:t>
            </a:r>
            <a:endParaRPr lang="tr-TR" sz="1500" dirty="0"/>
          </a:p>
        </p:txBody>
      </p:sp>
      <p:sp>
        <p:nvSpPr>
          <p:cNvPr id="10" name="Text 8"/>
          <p:cNvSpPr txBox="1"/>
          <p:nvPr/>
        </p:nvSpPr>
        <p:spPr>
          <a:xfrm>
            <a:off x="7543800" y="2148840"/>
            <a:ext cx="3886200" cy="2011680"/>
          </a:xfrm>
          <a:prstGeom prst="rect">
            <a:avLst/>
          </a:prstGeom>
          <a:noFill/>
          <a:ln/>
        </p:spPr>
        <p:txBody>
          <a:bodyPr wrap="square" lIns="0" tIns="0" rIns="0" bIns="0" rtlCol="0" anchor="t"/>
          <a:lstStyle/>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100 milyon int (400 MB), T eşit dilime bölünür.</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k. iş parçacığı k. dilimi partial[k]'ya toplar — sonuçlar paylaşılmaz, kilit gerekmez.</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main() tüm iş parçacıklarını bekler (join) ve kısmi toplamları ekler.</a:t>
            </a:r>
            <a:endParaRPr lang="tr-TR" sz="1300" dirty="0"/>
          </a:p>
        </p:txBody>
      </p:sp>
      <p:sp>
        <p:nvSpPr>
          <p:cNvPr id="11" name="Shape 9"/>
          <p:cNvSpPr/>
          <p:nvPr/>
        </p:nvSpPr>
        <p:spPr>
          <a:xfrm>
            <a:off x="7315200" y="4526280"/>
            <a:ext cx="4343400" cy="1737360"/>
          </a:xfrm>
          <a:prstGeom prst="roundRect">
            <a:avLst>
              <a:gd name="adj" fmla="val 2632"/>
            </a:avLst>
          </a:prstGeom>
          <a:solidFill>
            <a:srgbClr val="212121"/>
          </a:solidFill>
          <a:ln/>
        </p:spPr>
      </p:sp>
      <p:sp>
        <p:nvSpPr>
          <p:cNvPr id="12" name="Text 10"/>
          <p:cNvSpPr txBox="1"/>
          <p:nvPr/>
        </p:nvSpPr>
        <p:spPr>
          <a:xfrm>
            <a:off x="7498080" y="4636008"/>
            <a:ext cx="3977640" cy="1517904"/>
          </a:xfrm>
          <a:prstGeom prst="rect">
            <a:avLst/>
          </a:prstGeom>
          <a:noFill/>
          <a:ln/>
        </p:spPr>
        <p:txBody>
          <a:bodyPr wrap="square" lIns="0" tIns="0" rIns="0" bIns="0" rtlCol="0" anchor="t"/>
          <a:lstStyle/>
          <a:p>
            <a:pPr indent="0" marL="0">
              <a:lnSpc>
                <a:spcPct val="105000"/>
              </a:lnSpc>
              <a:buNone/>
            </a:pPr>
            <a:r>
              <a:rPr lang="tr-TR" sz="1150" dirty="0">
                <a:solidFill>
                  <a:srgbClr val="02C39A"/>
                </a:solidFill>
                <a:latin typeface="Consolas" pitchFamily="34" charset="0"/>
                <a:ea typeface="Consolas" pitchFamily="34" charset="-122"/>
                <a:cs typeface="Consolas" pitchFamily="34" charset="-120"/>
              </a:rPr>
              <a:t>$ ./array_sum 1</a:t>
            </a:r>
            <a:endParaRPr lang="tr-TR" sz="1150" dirty="0"/>
          </a:p>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threads = 1  sum = 9000000000  time = 1.686 s</a:t>
            </a:r>
            <a:endParaRPr lang="tr-TR" sz="1150" dirty="0"/>
          </a:p>
          <a:p>
            <a:pPr indent="0" marL="0">
              <a:lnSpc>
                <a:spcPct val="105000"/>
              </a:lnSpc>
              <a:buNone/>
            </a:pPr>
            <a:r>
              <a:rPr lang="tr-TR" sz="1150" dirty="0">
                <a:solidFill>
                  <a:srgbClr val="02C39A"/>
                </a:solidFill>
                <a:latin typeface="Consolas" pitchFamily="34" charset="0"/>
                <a:ea typeface="Consolas" pitchFamily="34" charset="-122"/>
                <a:cs typeface="Consolas" pitchFamily="34" charset="-120"/>
              </a:rPr>
              <a:t>$ ./array_sum 2</a:t>
            </a:r>
            <a:endParaRPr lang="tr-TR" sz="1150" dirty="0"/>
          </a:p>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threads = 2  sum = 9000000000  time = 0.999 s</a:t>
            </a:r>
            <a:endParaRPr lang="tr-TR"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UYGULAMA</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Ölçüm: 2 Çekirdekte 1, 2 ve 4 İş Parçacığı</a:t>
            </a:r>
            <a:endParaRPr lang="tr-TR"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tr-TR" sz="1500" dirty="0">
                <a:solidFill>
                  <a:srgbClr val="3A464C"/>
                </a:solidFill>
                <a:latin typeface="Calibri" pitchFamily="34" charset="0"/>
                <a:ea typeface="Calibri" pitchFamily="34" charset="-122"/>
                <a:cs typeface="Calibri" pitchFamily="34" charset="-120"/>
              </a:rPr>
              <a:t>Test sanal makinemizde 9 çalıştırmanın ortancası ($ nproc → 2). Makine başka işlerle paylaşıldığından tek tek çalıştırmalar ±%30'a kadar değişti.</a:t>
            </a:r>
            <a:endParaRPr lang="tr-TR"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4  ·  22</a:t>
            </a:r>
            <a:endParaRPr lang="tr-TR" sz="9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2148840"/>
          <a:ext cx="5486400" cy="914400"/>
        </p:xfrm>
        <a:graphic>
          <a:graphicData uri="http://schemas.openxmlformats.org/drawingml/2006/table">
            <a:tbl>
              <a:tblPr/>
              <a:tblGrid>
                <a:gridCol w="1828800"/>
                <a:gridCol w="2011680"/>
                <a:gridCol w="1645920"/>
              </a:tblGrid>
              <a:tr h="0">
                <a:tc>
                  <a:txBody>
                    <a:bodyPr/>
                    <a:lstStyle/>
                    <a:p>
                      <a:pPr indent="0" marL="0">
                        <a:buNone/>
                      </a:pPr>
                      <a:r>
                        <a:rPr lang="tr-TR" sz="1500" b="1" dirty="0">
                          <a:solidFill>
                            <a:srgbClr val="FFFFFF"/>
                          </a:solidFill>
                          <a:latin typeface="Cambria" pitchFamily="34" charset="0"/>
                          <a:ea typeface="Cambria" pitchFamily="34" charset="-122"/>
                          <a:cs typeface="Cambria" pitchFamily="34" charset="-120"/>
                        </a:rPr>
                        <a:t>İş parçacığı T</a:t>
                      </a:r>
                      <a:endParaRPr lang="tr-TR" sz="1500" dirty="0">
                        <a:latin typeface="Cambria" charset="0"/>
                        <a:ea typeface="Cambria" charset="0"/>
                        <a:cs typeface="Cambria" charset="0"/>
                      </a:endParaRPr>
                    </a:p>
                  </a:txBody>
                  <a:tcPr marL="101600" marR="101600" marT="76200" marB="762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500" b="1" dirty="0">
                          <a:solidFill>
                            <a:srgbClr val="FFFFFF"/>
                          </a:solidFill>
                          <a:latin typeface="Cambria" pitchFamily="34" charset="0"/>
                          <a:ea typeface="Cambria" pitchFamily="34" charset="-122"/>
                          <a:cs typeface="Cambria" pitchFamily="34" charset="-120"/>
                        </a:rPr>
                        <a:t>Süre (ortanca)</a:t>
                      </a:r>
                      <a:endParaRPr lang="tr-TR" sz="1500" dirty="0">
                        <a:latin typeface="Cambria" charset="0"/>
                        <a:ea typeface="Cambria" charset="0"/>
                        <a:cs typeface="Cambria" charset="0"/>
                      </a:endParaRPr>
                    </a:p>
                  </a:txBody>
                  <a:tcPr marL="101600" marR="101600" marT="76200" marB="762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500" b="1" dirty="0">
                          <a:solidFill>
                            <a:srgbClr val="FFFFFF"/>
                          </a:solidFill>
                          <a:latin typeface="Cambria" pitchFamily="34" charset="0"/>
                          <a:ea typeface="Cambria" pitchFamily="34" charset="-122"/>
                          <a:cs typeface="Cambria" pitchFamily="34" charset="-120"/>
                        </a:rPr>
                        <a:t>Hızlanma</a:t>
                      </a:r>
                      <a:endParaRPr lang="tr-TR" sz="1500" dirty="0">
                        <a:latin typeface="Cambria" charset="0"/>
                        <a:ea typeface="Cambria" charset="0"/>
                        <a:cs typeface="Cambria" charset="0"/>
                      </a:endParaRPr>
                    </a:p>
                  </a:txBody>
                  <a:tcPr marL="101600" marR="101600" marT="76200" marB="762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algn="l" indent="0" marL="0">
                        <a:buNone/>
                      </a:pPr>
                      <a:r>
                        <a:rPr lang="tr-TR" sz="1500" b="1" dirty="0">
                          <a:solidFill>
                            <a:srgbClr val="3A464C"/>
                          </a:solidFill>
                          <a:latin typeface="Calibri" pitchFamily="34" charset="0"/>
                          <a:ea typeface="Calibri" pitchFamily="34" charset="-122"/>
                          <a:cs typeface="Calibri" pitchFamily="34" charset="-120"/>
                        </a:rPr>
                        <a:t>1</a:t>
                      </a:r>
                      <a:endParaRPr lang="tr-TR" sz="1500" dirty="0">
                        <a:latin typeface="Calibri" charset="0"/>
                        <a:ea typeface="Calibri" charset="0"/>
                        <a:cs typeface="Calibri" charset="0"/>
                      </a:endParaRPr>
                    </a:p>
                  </a:txBody>
                  <a:tcPr marL="101600" marR="101600" marT="76200" marB="762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500" dirty="0">
                          <a:solidFill>
                            <a:srgbClr val="3A464C"/>
                          </a:solidFill>
                          <a:latin typeface="Calibri" pitchFamily="34" charset="0"/>
                          <a:ea typeface="Calibri" pitchFamily="34" charset="-122"/>
                          <a:cs typeface="Calibri" pitchFamily="34" charset="-120"/>
                        </a:rPr>
                        <a:t>1,564 s</a:t>
                      </a:r>
                      <a:endParaRPr lang="tr-TR" sz="1500" dirty="0">
                        <a:latin typeface="Calibri" charset="0"/>
                        <a:ea typeface="Calibri" charset="0"/>
                        <a:cs typeface="Calibri" charset="0"/>
                      </a:endParaRPr>
                    </a:p>
                  </a:txBody>
                  <a:tcPr marL="101600" marR="101600" marT="76200" marB="762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500" dirty="0">
                          <a:solidFill>
                            <a:srgbClr val="3A464C"/>
                          </a:solidFill>
                          <a:latin typeface="Calibri" pitchFamily="34" charset="0"/>
                          <a:ea typeface="Calibri" pitchFamily="34" charset="-122"/>
                          <a:cs typeface="Calibri" pitchFamily="34" charset="-120"/>
                        </a:rPr>
                        <a:t>1,00</a:t>
                      </a:r>
                      <a:endParaRPr lang="tr-TR" sz="1500" dirty="0">
                        <a:latin typeface="Calibri" charset="0"/>
                        <a:ea typeface="Calibri" charset="0"/>
                        <a:cs typeface="Calibri" charset="0"/>
                      </a:endParaRPr>
                    </a:p>
                  </a:txBody>
                  <a:tcPr marL="101600" marR="101600" marT="76200" marB="762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algn="l" indent="0" marL="0">
                        <a:buNone/>
                      </a:pPr>
                      <a:r>
                        <a:rPr lang="tr-TR" sz="1500" b="1" dirty="0">
                          <a:solidFill>
                            <a:srgbClr val="3A464C"/>
                          </a:solidFill>
                          <a:latin typeface="Calibri" pitchFamily="34" charset="0"/>
                          <a:ea typeface="Calibri" pitchFamily="34" charset="-122"/>
                          <a:cs typeface="Calibri" pitchFamily="34" charset="-120"/>
                        </a:rPr>
                        <a:t>2</a:t>
                      </a:r>
                      <a:endParaRPr lang="tr-TR" sz="1500" dirty="0">
                        <a:latin typeface="Calibri" charset="0"/>
                        <a:ea typeface="Calibri" charset="0"/>
                        <a:cs typeface="Calibri" charset="0"/>
                      </a:endParaRPr>
                    </a:p>
                  </a:txBody>
                  <a:tcPr marL="101600" marR="101600" marT="76200" marB="762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500" dirty="0">
                          <a:solidFill>
                            <a:srgbClr val="3A464C"/>
                          </a:solidFill>
                          <a:latin typeface="Calibri" pitchFamily="34" charset="0"/>
                          <a:ea typeface="Calibri" pitchFamily="34" charset="-122"/>
                          <a:cs typeface="Calibri" pitchFamily="34" charset="-120"/>
                        </a:rPr>
                        <a:t>0,932 s</a:t>
                      </a:r>
                      <a:endParaRPr lang="tr-TR" sz="1500" dirty="0">
                        <a:latin typeface="Calibri" charset="0"/>
                        <a:ea typeface="Calibri" charset="0"/>
                        <a:cs typeface="Calibri" charset="0"/>
                      </a:endParaRPr>
                    </a:p>
                  </a:txBody>
                  <a:tcPr marL="101600" marR="101600" marT="76200" marB="762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500" dirty="0">
                          <a:solidFill>
                            <a:srgbClr val="3A464C"/>
                          </a:solidFill>
                          <a:latin typeface="Calibri" pitchFamily="34" charset="0"/>
                          <a:ea typeface="Calibri" pitchFamily="34" charset="-122"/>
                          <a:cs typeface="Calibri" pitchFamily="34" charset="-120"/>
                        </a:rPr>
                        <a:t>1,68</a:t>
                      </a:r>
                      <a:endParaRPr lang="tr-TR" sz="1500" dirty="0">
                        <a:latin typeface="Calibri" charset="0"/>
                        <a:ea typeface="Calibri" charset="0"/>
                        <a:cs typeface="Calibri" charset="0"/>
                      </a:endParaRPr>
                    </a:p>
                  </a:txBody>
                  <a:tcPr marL="101600" marR="101600" marT="76200" marB="762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algn="l" indent="0" marL="0">
                        <a:buNone/>
                      </a:pPr>
                      <a:r>
                        <a:rPr lang="tr-TR" sz="1500" b="1" dirty="0">
                          <a:solidFill>
                            <a:srgbClr val="3A464C"/>
                          </a:solidFill>
                          <a:latin typeface="Calibri" pitchFamily="34" charset="0"/>
                          <a:ea typeface="Calibri" pitchFamily="34" charset="-122"/>
                          <a:cs typeface="Calibri" pitchFamily="34" charset="-120"/>
                        </a:rPr>
                        <a:t>4</a:t>
                      </a:r>
                      <a:endParaRPr lang="tr-TR" sz="1500" dirty="0">
                        <a:latin typeface="Calibri" charset="0"/>
                        <a:ea typeface="Calibri" charset="0"/>
                        <a:cs typeface="Calibri" charset="0"/>
                      </a:endParaRPr>
                    </a:p>
                  </a:txBody>
                  <a:tcPr marL="101600" marR="101600" marT="76200" marB="762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500" dirty="0">
                          <a:solidFill>
                            <a:srgbClr val="3A464C"/>
                          </a:solidFill>
                          <a:latin typeface="Calibri" pitchFamily="34" charset="0"/>
                          <a:ea typeface="Calibri" pitchFamily="34" charset="-122"/>
                          <a:cs typeface="Calibri" pitchFamily="34" charset="-120"/>
                        </a:rPr>
                        <a:t>0,855 s</a:t>
                      </a:r>
                      <a:endParaRPr lang="tr-TR" sz="1500" dirty="0">
                        <a:latin typeface="Calibri" charset="0"/>
                        <a:ea typeface="Calibri" charset="0"/>
                        <a:cs typeface="Calibri" charset="0"/>
                      </a:endParaRPr>
                    </a:p>
                  </a:txBody>
                  <a:tcPr marL="101600" marR="101600" marT="76200" marB="762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500" dirty="0">
                          <a:solidFill>
                            <a:srgbClr val="3A464C"/>
                          </a:solidFill>
                          <a:latin typeface="Calibri" pitchFamily="34" charset="0"/>
                          <a:ea typeface="Calibri" pitchFamily="34" charset="-122"/>
                          <a:cs typeface="Calibri" pitchFamily="34" charset="-120"/>
                        </a:rPr>
                        <a:t>1,83</a:t>
                      </a:r>
                      <a:endParaRPr lang="tr-TR" sz="1500" dirty="0">
                        <a:latin typeface="Calibri" charset="0"/>
                        <a:ea typeface="Calibri" charset="0"/>
                        <a:cs typeface="Calibri" charset="0"/>
                      </a:endParaRPr>
                    </a:p>
                  </a:txBody>
                  <a:tcPr marL="101600" marR="101600" marT="76200" marB="762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bl>
          </a:graphicData>
        </a:graphic>
      </p:graphicFrame>
      <p:sp>
        <p:nvSpPr>
          <p:cNvPr id="8" name="Text 5"/>
          <p:cNvSpPr txBox="1"/>
          <p:nvPr/>
        </p:nvSpPr>
        <p:spPr>
          <a:xfrm>
            <a:off x="548640" y="3977640"/>
            <a:ext cx="1645920" cy="411480"/>
          </a:xfrm>
          <a:prstGeom prst="rect">
            <a:avLst/>
          </a:prstGeom>
          <a:noFill/>
          <a:ln/>
        </p:spPr>
        <p:txBody>
          <a:bodyPr wrap="square" lIns="0" tIns="0" rIns="0" bIns="0" rtlCol="0" anchor="ctr"/>
          <a:lstStyle/>
          <a:p>
            <a:pPr indent="0" marL="0">
              <a:buNone/>
            </a:pPr>
            <a:r>
              <a:rPr lang="tr-TR" sz="1250" b="1" dirty="0">
                <a:solidFill>
                  <a:srgbClr val="3A464C"/>
                </a:solidFill>
                <a:latin typeface="Calibri" pitchFamily="34" charset="0"/>
                <a:ea typeface="Calibri" pitchFamily="34" charset="-122"/>
                <a:cs typeface="Calibri" pitchFamily="34" charset="-120"/>
              </a:rPr>
              <a:t>T=1</a:t>
            </a:r>
            <a:endParaRPr lang="tr-TR" sz="1250" dirty="0"/>
          </a:p>
        </p:txBody>
      </p:sp>
      <p:sp>
        <p:nvSpPr>
          <p:cNvPr id="9" name="Shape 6"/>
          <p:cNvSpPr/>
          <p:nvPr/>
        </p:nvSpPr>
        <p:spPr>
          <a:xfrm>
            <a:off x="2194560" y="4023360"/>
            <a:ext cx="1600200" cy="329184"/>
          </a:xfrm>
          <a:prstGeom prst="rect">
            <a:avLst/>
          </a:prstGeom>
          <a:solidFill>
            <a:srgbClr val="02C39A"/>
          </a:solidFill>
          <a:ln/>
        </p:spPr>
      </p:sp>
      <p:sp>
        <p:nvSpPr>
          <p:cNvPr id="10" name="Text 7"/>
          <p:cNvSpPr txBox="1"/>
          <p:nvPr/>
        </p:nvSpPr>
        <p:spPr>
          <a:xfrm>
            <a:off x="3840480" y="3977640"/>
            <a:ext cx="731520" cy="411480"/>
          </a:xfrm>
          <a:prstGeom prst="rect">
            <a:avLst/>
          </a:prstGeom>
          <a:noFill/>
          <a:ln/>
        </p:spPr>
        <p:txBody>
          <a:bodyPr wrap="square" lIns="0" tIns="0" rIns="0" bIns="0" rtlCol="0" anchor="ctr"/>
          <a:lstStyle/>
          <a:p>
            <a:pPr indent="0" marL="0">
              <a:buNone/>
            </a:pPr>
            <a:r>
              <a:rPr lang="tr-TR" sz="1200" dirty="0">
                <a:solidFill>
                  <a:srgbClr val="36454F"/>
                </a:solidFill>
                <a:latin typeface="Calibri" pitchFamily="34" charset="0"/>
                <a:ea typeface="Calibri" pitchFamily="34" charset="-122"/>
                <a:cs typeface="Calibri" pitchFamily="34" charset="-120"/>
              </a:rPr>
              <a:t>1,00×</a:t>
            </a:r>
            <a:endParaRPr lang="tr-TR" sz="1200" dirty="0"/>
          </a:p>
        </p:txBody>
      </p:sp>
      <p:sp>
        <p:nvSpPr>
          <p:cNvPr id="11" name="Text 8"/>
          <p:cNvSpPr txBox="1"/>
          <p:nvPr/>
        </p:nvSpPr>
        <p:spPr>
          <a:xfrm>
            <a:off x="548640" y="4507992"/>
            <a:ext cx="1645920" cy="411480"/>
          </a:xfrm>
          <a:prstGeom prst="rect">
            <a:avLst/>
          </a:prstGeom>
          <a:noFill/>
          <a:ln/>
        </p:spPr>
        <p:txBody>
          <a:bodyPr wrap="square" lIns="0" tIns="0" rIns="0" bIns="0" rtlCol="0" anchor="ctr"/>
          <a:lstStyle/>
          <a:p>
            <a:pPr indent="0" marL="0">
              <a:buNone/>
            </a:pPr>
            <a:r>
              <a:rPr lang="tr-TR" sz="1250" b="1" dirty="0">
                <a:solidFill>
                  <a:srgbClr val="3A464C"/>
                </a:solidFill>
                <a:latin typeface="Calibri" pitchFamily="34" charset="0"/>
                <a:ea typeface="Calibri" pitchFamily="34" charset="-122"/>
                <a:cs typeface="Calibri" pitchFamily="34" charset="-120"/>
              </a:rPr>
              <a:t>T=2</a:t>
            </a:r>
            <a:endParaRPr lang="tr-TR" sz="1250" dirty="0"/>
          </a:p>
        </p:txBody>
      </p:sp>
      <p:sp>
        <p:nvSpPr>
          <p:cNvPr id="12" name="Shape 9"/>
          <p:cNvSpPr/>
          <p:nvPr/>
        </p:nvSpPr>
        <p:spPr>
          <a:xfrm>
            <a:off x="2194560" y="4553712"/>
            <a:ext cx="2688336" cy="329184"/>
          </a:xfrm>
          <a:prstGeom prst="rect">
            <a:avLst/>
          </a:prstGeom>
          <a:solidFill>
            <a:srgbClr val="02C39A"/>
          </a:solidFill>
          <a:ln/>
        </p:spPr>
      </p:sp>
      <p:sp>
        <p:nvSpPr>
          <p:cNvPr id="13" name="Text 10"/>
          <p:cNvSpPr txBox="1"/>
          <p:nvPr/>
        </p:nvSpPr>
        <p:spPr>
          <a:xfrm>
            <a:off x="4928616" y="4507992"/>
            <a:ext cx="731520" cy="411480"/>
          </a:xfrm>
          <a:prstGeom prst="rect">
            <a:avLst/>
          </a:prstGeom>
          <a:noFill/>
          <a:ln/>
        </p:spPr>
        <p:txBody>
          <a:bodyPr wrap="square" lIns="0" tIns="0" rIns="0" bIns="0" rtlCol="0" anchor="ctr"/>
          <a:lstStyle/>
          <a:p>
            <a:pPr indent="0" marL="0">
              <a:buNone/>
            </a:pPr>
            <a:r>
              <a:rPr lang="tr-TR" sz="1200" dirty="0">
                <a:solidFill>
                  <a:srgbClr val="36454F"/>
                </a:solidFill>
                <a:latin typeface="Calibri" pitchFamily="34" charset="0"/>
                <a:ea typeface="Calibri" pitchFamily="34" charset="-122"/>
                <a:cs typeface="Calibri" pitchFamily="34" charset="-120"/>
              </a:rPr>
              <a:t>1,68×</a:t>
            </a:r>
            <a:endParaRPr lang="tr-TR" sz="1200" dirty="0"/>
          </a:p>
        </p:txBody>
      </p:sp>
      <p:sp>
        <p:nvSpPr>
          <p:cNvPr id="14" name="Text 11"/>
          <p:cNvSpPr txBox="1"/>
          <p:nvPr/>
        </p:nvSpPr>
        <p:spPr>
          <a:xfrm>
            <a:off x="548640" y="5038344"/>
            <a:ext cx="1645920" cy="411480"/>
          </a:xfrm>
          <a:prstGeom prst="rect">
            <a:avLst/>
          </a:prstGeom>
          <a:noFill/>
          <a:ln/>
        </p:spPr>
        <p:txBody>
          <a:bodyPr wrap="square" lIns="0" tIns="0" rIns="0" bIns="0" rtlCol="0" anchor="ctr"/>
          <a:lstStyle/>
          <a:p>
            <a:pPr indent="0" marL="0">
              <a:buNone/>
            </a:pPr>
            <a:r>
              <a:rPr lang="tr-TR" sz="1250" b="1" dirty="0">
                <a:solidFill>
                  <a:srgbClr val="3A464C"/>
                </a:solidFill>
                <a:latin typeface="Calibri" pitchFamily="34" charset="0"/>
                <a:ea typeface="Calibri" pitchFamily="34" charset="-122"/>
                <a:cs typeface="Calibri" pitchFamily="34" charset="-120"/>
              </a:rPr>
              <a:t>T=4</a:t>
            </a:r>
            <a:endParaRPr lang="tr-TR" sz="1250" dirty="0"/>
          </a:p>
        </p:txBody>
      </p:sp>
      <p:sp>
        <p:nvSpPr>
          <p:cNvPr id="15" name="Shape 12"/>
          <p:cNvSpPr/>
          <p:nvPr/>
        </p:nvSpPr>
        <p:spPr>
          <a:xfrm>
            <a:off x="2194560" y="5084064"/>
            <a:ext cx="2928366" cy="329184"/>
          </a:xfrm>
          <a:prstGeom prst="rect">
            <a:avLst/>
          </a:prstGeom>
          <a:solidFill>
            <a:srgbClr val="02C39A"/>
          </a:solidFill>
          <a:ln/>
        </p:spPr>
      </p:sp>
      <p:sp>
        <p:nvSpPr>
          <p:cNvPr id="16" name="Text 13"/>
          <p:cNvSpPr txBox="1"/>
          <p:nvPr/>
        </p:nvSpPr>
        <p:spPr>
          <a:xfrm>
            <a:off x="5168646" y="5038344"/>
            <a:ext cx="731520" cy="411480"/>
          </a:xfrm>
          <a:prstGeom prst="rect">
            <a:avLst/>
          </a:prstGeom>
          <a:noFill/>
          <a:ln/>
        </p:spPr>
        <p:txBody>
          <a:bodyPr wrap="square" lIns="0" tIns="0" rIns="0" bIns="0" rtlCol="0" anchor="ctr"/>
          <a:lstStyle/>
          <a:p>
            <a:pPr indent="0" marL="0">
              <a:buNone/>
            </a:pPr>
            <a:r>
              <a:rPr lang="tr-TR" sz="1200" dirty="0">
                <a:solidFill>
                  <a:srgbClr val="36454F"/>
                </a:solidFill>
                <a:latin typeface="Calibri" pitchFamily="34" charset="0"/>
                <a:ea typeface="Calibri" pitchFamily="34" charset="-122"/>
                <a:cs typeface="Calibri" pitchFamily="34" charset="-120"/>
              </a:rPr>
              <a:t>1,83×</a:t>
            </a:r>
            <a:endParaRPr lang="tr-TR" sz="1200" dirty="0"/>
          </a:p>
        </p:txBody>
      </p:sp>
      <p:sp>
        <p:nvSpPr>
          <p:cNvPr id="17" name="Text 14"/>
          <p:cNvSpPr txBox="1"/>
          <p:nvPr/>
        </p:nvSpPr>
        <p:spPr>
          <a:xfrm>
            <a:off x="548640" y="5568696"/>
            <a:ext cx="1645920" cy="411480"/>
          </a:xfrm>
          <a:prstGeom prst="rect">
            <a:avLst/>
          </a:prstGeom>
          <a:noFill/>
          <a:ln/>
        </p:spPr>
        <p:txBody>
          <a:bodyPr wrap="square" lIns="0" tIns="0" rIns="0" bIns="0" rtlCol="0" anchor="ctr"/>
          <a:lstStyle/>
          <a:p>
            <a:pPr indent="0" marL="0">
              <a:buNone/>
            </a:pPr>
            <a:r>
              <a:rPr lang="tr-TR" sz="1250" b="1" dirty="0">
                <a:solidFill>
                  <a:srgbClr val="3A464C"/>
                </a:solidFill>
                <a:latin typeface="Calibri" pitchFamily="34" charset="0"/>
                <a:ea typeface="Calibri" pitchFamily="34" charset="-122"/>
                <a:cs typeface="Calibri" pitchFamily="34" charset="-120"/>
              </a:rPr>
              <a:t>ideal, 2 çekirdek</a:t>
            </a:r>
            <a:endParaRPr lang="tr-TR" sz="1250" dirty="0"/>
          </a:p>
        </p:txBody>
      </p:sp>
      <p:sp>
        <p:nvSpPr>
          <p:cNvPr id="18" name="Shape 15"/>
          <p:cNvSpPr/>
          <p:nvPr/>
        </p:nvSpPr>
        <p:spPr>
          <a:xfrm>
            <a:off x="2194560" y="5614416"/>
            <a:ext cx="3200400" cy="329184"/>
          </a:xfrm>
          <a:prstGeom prst="rect">
            <a:avLst/>
          </a:prstGeom>
          <a:solidFill>
            <a:srgbClr val="F2F2F2"/>
          </a:solidFill>
          <a:ln w="12700">
            <a:solidFill>
              <a:srgbClr val="50808E"/>
            </a:solidFill>
            <a:prstDash val="dash"/>
          </a:ln>
        </p:spPr>
      </p:sp>
      <p:sp>
        <p:nvSpPr>
          <p:cNvPr id="19" name="Text 16"/>
          <p:cNvSpPr txBox="1"/>
          <p:nvPr/>
        </p:nvSpPr>
        <p:spPr>
          <a:xfrm>
            <a:off x="5440680" y="5568696"/>
            <a:ext cx="731520" cy="411480"/>
          </a:xfrm>
          <a:prstGeom prst="rect">
            <a:avLst/>
          </a:prstGeom>
          <a:noFill/>
          <a:ln/>
        </p:spPr>
        <p:txBody>
          <a:bodyPr wrap="square" lIns="0" tIns="0" rIns="0" bIns="0" rtlCol="0" anchor="ctr"/>
          <a:lstStyle/>
          <a:p>
            <a:pPr indent="0" marL="0">
              <a:buNone/>
            </a:pPr>
            <a:r>
              <a:rPr lang="tr-TR" sz="1200" dirty="0">
                <a:solidFill>
                  <a:srgbClr val="36454F"/>
                </a:solidFill>
                <a:latin typeface="Calibri" pitchFamily="34" charset="0"/>
                <a:ea typeface="Calibri" pitchFamily="34" charset="-122"/>
                <a:cs typeface="Calibri" pitchFamily="34" charset="-120"/>
              </a:rPr>
              <a:t>2,00×</a:t>
            </a:r>
            <a:endParaRPr lang="tr-TR" sz="1200" dirty="0"/>
          </a:p>
        </p:txBody>
      </p:sp>
      <p:sp>
        <p:nvSpPr>
          <p:cNvPr id="20" name="Shape 17"/>
          <p:cNvSpPr/>
          <p:nvPr/>
        </p:nvSpPr>
        <p:spPr>
          <a:xfrm>
            <a:off x="6400800" y="2148840"/>
            <a:ext cx="5257800" cy="4114800"/>
          </a:xfrm>
          <a:prstGeom prst="roundRect">
            <a:avLst>
              <a:gd name="adj" fmla="val 1333"/>
            </a:avLst>
          </a:prstGeom>
          <a:solidFill>
            <a:srgbClr val="F2F2F2"/>
          </a:solidFill>
          <a:ln/>
          <a:effectLst>
            <a:outerShdw sx="100000" sy="100000" kx="0" ky="0" algn="bl" rotWithShape="0" blurRad="101600" dist="25400" dir="5400000">
              <a:srgbClr val="000000">
                <a:alpha val="12000"/>
              </a:srgbClr>
            </a:outerShdw>
          </a:effectLst>
        </p:spPr>
      </p:sp>
      <p:sp>
        <p:nvSpPr>
          <p:cNvPr id="21" name="Text 18"/>
          <p:cNvSpPr txBox="1"/>
          <p:nvPr/>
        </p:nvSpPr>
        <p:spPr>
          <a:xfrm>
            <a:off x="6629400" y="2331720"/>
            <a:ext cx="480060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Yorum</a:t>
            </a:r>
            <a:endParaRPr lang="tr-TR" sz="1500" dirty="0"/>
          </a:p>
        </p:txBody>
      </p:sp>
      <p:sp>
        <p:nvSpPr>
          <p:cNvPr id="22" name="Text 19"/>
          <p:cNvSpPr txBox="1"/>
          <p:nvPr/>
        </p:nvSpPr>
        <p:spPr>
          <a:xfrm>
            <a:off x="6629400" y="2788920"/>
            <a:ext cx="4800600" cy="3337560"/>
          </a:xfrm>
          <a:prstGeom prst="rect">
            <a:avLst/>
          </a:prstGeom>
          <a:noFill/>
          <a:ln/>
        </p:spPr>
        <p:txBody>
          <a:bodyPr wrap="square" lIns="0" tIns="0" rIns="0" bIns="0" rtlCol="0" anchor="t"/>
          <a:lstStyle/>
          <a:p>
            <a:pPr marL="228600" indent="-228600">
              <a:spcAft>
                <a:spcPts val="400"/>
              </a:spcAft>
              <a:buSzPct val="100000"/>
              <a:buChar char="•"/>
            </a:pPr>
            <a:r>
              <a:rPr lang="tr-TR" sz="1400" b="1" dirty="0">
                <a:solidFill>
                  <a:srgbClr val="3A464C"/>
                </a:solidFill>
                <a:latin typeface="Calibri" pitchFamily="34" charset="0"/>
                <a:ea typeface="Calibri" pitchFamily="34" charset="-122"/>
                <a:cs typeface="Calibri" pitchFamily="34" charset="-120"/>
              </a:rPr>
              <a:t>2 iş parçacığı:</a:t>
            </a:r>
            <a:r>
              <a:rPr lang="tr-TR" sz="1400" dirty="0">
                <a:solidFill>
                  <a:srgbClr val="3A464C"/>
                </a:solidFill>
                <a:latin typeface="Calibri" pitchFamily="34" charset="0"/>
                <a:ea typeface="Calibri" pitchFamily="34" charset="-122"/>
                <a:cs typeface="Calibri" pitchFamily="34" charset="-120"/>
              </a:rPr>
              <a:t> 1,68× daha hızlı — iyi, ama ideal 2×'in altında.</a:t>
            </a:r>
            <a:endParaRPr lang="tr-TR" sz="1400" dirty="0"/>
          </a:p>
          <a:p>
            <a:pPr marL="228600" indent="-228600">
              <a:spcAft>
                <a:spcPts val="400"/>
              </a:spcAft>
              <a:buSzPct val="100000"/>
              <a:buChar char="•"/>
            </a:pPr>
            <a:r>
              <a:rPr lang="tr-TR" sz="1400" b="1" dirty="0">
                <a:solidFill>
                  <a:srgbClr val="3A464C"/>
                </a:solidFill>
                <a:latin typeface="Calibri" pitchFamily="34" charset="0"/>
                <a:ea typeface="Calibri" pitchFamily="34" charset="-122"/>
                <a:cs typeface="Calibri" pitchFamily="34" charset="-120"/>
              </a:rPr>
              <a:t>4 iş parçacığı:</a:t>
            </a:r>
            <a:r>
              <a:rPr lang="tr-TR" sz="1400" dirty="0">
                <a:solidFill>
                  <a:srgbClr val="3A464C"/>
                </a:solidFill>
                <a:latin typeface="Calibri" pitchFamily="34" charset="0"/>
                <a:ea typeface="Calibri" pitchFamily="34" charset="-122"/>
                <a:cs typeface="Calibri" pitchFamily="34" charset="-120"/>
              </a:rPr>
              <a:t> pek daha iyi değil: yalnızca 2 çekirdek var, herhangi bir anda en çok 2 iş parçacığı çalışır.</a:t>
            </a:r>
            <a:endParaRPr lang="tr-TR" sz="1400" dirty="0"/>
          </a:p>
          <a:p>
            <a:pPr marL="228600" indent="-228600">
              <a:spcAft>
                <a:spcPts val="400"/>
              </a:spcAft>
              <a:buSzPct val="100000"/>
              <a:buChar char="•"/>
            </a:pPr>
            <a:r>
              <a:rPr lang="tr-TR" sz="1400" b="1" dirty="0">
                <a:solidFill>
                  <a:srgbClr val="3A464C"/>
                </a:solidFill>
                <a:latin typeface="Calibri" pitchFamily="34" charset="0"/>
                <a:ea typeface="Calibri" pitchFamily="34" charset="-122"/>
                <a:cs typeface="Calibri" pitchFamily="34" charset="-120"/>
              </a:rPr>
              <a:t>Neden 2× değil?</a:t>
            </a:r>
            <a:r>
              <a:rPr lang="tr-TR" sz="1400" dirty="0">
                <a:solidFill>
                  <a:srgbClr val="3A464C"/>
                </a:solidFill>
                <a:latin typeface="Calibri" pitchFamily="34" charset="0"/>
                <a:ea typeface="Calibri" pitchFamily="34" charset="-122"/>
                <a:cs typeface="Calibri" pitchFamily="34" charset="-120"/>
              </a:rPr>
              <a:t> iş parçacıklarını yaratma ve bekleme, ortak bellek bant genişliği ve makinedeki diğer işler.</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Amdahl: 2 çekirdekte 1,68× sanki S ≈ 0,19 gibi davranır — "seri kısım" tüm bu ek yükleri içerir.</a:t>
            </a:r>
            <a:endParaRPr lang="tr-TR"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UYGULAMA</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İş Parçacıklarını ps ve /proc ile Görmek</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4  ·  23</a:t>
            </a:r>
            <a:endParaRPr lang="tr-TR" sz="900" dirty="0"/>
          </a:p>
        </p:txBody>
      </p:sp>
      <p:sp>
        <p:nvSpPr>
          <p:cNvPr id="6" name="Shape 4"/>
          <p:cNvSpPr/>
          <p:nvPr/>
        </p:nvSpPr>
        <p:spPr>
          <a:xfrm>
            <a:off x="548640" y="1508760"/>
            <a:ext cx="6949440" cy="4754880"/>
          </a:xfrm>
          <a:prstGeom prst="roundRect">
            <a:avLst>
              <a:gd name="adj" fmla="val 962"/>
            </a:avLst>
          </a:prstGeom>
          <a:solidFill>
            <a:srgbClr val="212121"/>
          </a:solidFill>
          <a:ln/>
        </p:spPr>
      </p:sp>
      <p:sp>
        <p:nvSpPr>
          <p:cNvPr id="7" name="Text 5"/>
          <p:cNvSpPr txBox="1"/>
          <p:nvPr/>
        </p:nvSpPr>
        <p:spPr>
          <a:xfrm>
            <a:off x="731520" y="1618488"/>
            <a:ext cx="6583680" cy="4535424"/>
          </a:xfrm>
          <a:prstGeom prst="rect">
            <a:avLst/>
          </a:prstGeom>
          <a:noFill/>
          <a:ln/>
        </p:spPr>
        <p:txBody>
          <a:bodyPr wrap="square" lIns="0" tIns="0" rIns="0" bIns="0" rtlCol="0" anchor="t"/>
          <a:lstStyle/>
          <a:p>
            <a:pPr indent="0" marL="0">
              <a:lnSpc>
                <a:spcPct val="105000"/>
              </a:lnSpc>
              <a:buNone/>
            </a:pPr>
            <a:r>
              <a:rPr lang="tr-TR" sz="1250" dirty="0">
                <a:solidFill>
                  <a:srgbClr val="02C39A"/>
                </a:solidFill>
                <a:latin typeface="Consolas" pitchFamily="34" charset="0"/>
                <a:ea typeface="Consolas" pitchFamily="34" charset="-122"/>
                <a:cs typeface="Consolas" pitchFamily="34" charset="-120"/>
              </a:rPr>
              <a:t>$ ./thread_hello &amp;      # iş parçacıkları 2 s uyur</a:t>
            </a:r>
            <a:endParaRPr lang="tr-TR" sz="1250" dirty="0"/>
          </a:p>
          <a:p>
            <a:pPr indent="0" marL="0">
              <a:lnSpc>
                <a:spcPct val="105000"/>
              </a:lnSpc>
              <a:buNone/>
            </a:pPr>
            <a:r>
              <a:rPr lang="tr-TR" sz="1250" dirty="0">
                <a:solidFill>
                  <a:srgbClr val="02C39A"/>
                </a:solidFill>
                <a:latin typeface="Consolas" pitchFamily="34" charset="0"/>
                <a:ea typeface="Consolas" pitchFamily="34" charset="-122"/>
                <a:cs typeface="Consolas" pitchFamily="34" charset="-120"/>
              </a:rPr>
              <a:t>$ ps -eLf | grep thread_hello</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UID    PID  PPID   LWP  C NLWP CMD</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root 27241 27234 27241  0    4 ./thread_hello</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root 27241 27234 27243  0    4 ./thread_hello</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root 27241 27234 27244  0    4 ./thread_hello</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root 27241 27234 27245  0    4 ./thread_hello</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 </a:t>
            </a:r>
            <a:endParaRPr lang="tr-TR" sz="1250" dirty="0"/>
          </a:p>
          <a:p>
            <a:pPr indent="0" marL="0">
              <a:lnSpc>
                <a:spcPct val="105000"/>
              </a:lnSpc>
              <a:buNone/>
            </a:pPr>
            <a:r>
              <a:rPr lang="tr-TR" sz="1250" dirty="0">
                <a:solidFill>
                  <a:srgbClr val="02C39A"/>
                </a:solidFill>
                <a:latin typeface="Consolas" pitchFamily="34" charset="0"/>
                <a:ea typeface="Consolas" pitchFamily="34" charset="-122"/>
                <a:cs typeface="Consolas" pitchFamily="34" charset="-120"/>
              </a:rPr>
              <a:t>$ ls /proc/27241/task</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27241  27243  27244  27245</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 </a:t>
            </a:r>
            <a:endParaRPr lang="tr-TR" sz="1250" dirty="0"/>
          </a:p>
          <a:p>
            <a:pPr indent="0" marL="0">
              <a:lnSpc>
                <a:spcPct val="105000"/>
              </a:lnSpc>
              <a:buNone/>
            </a:pPr>
            <a:r>
              <a:rPr lang="tr-TR" sz="1250" dirty="0">
                <a:solidFill>
                  <a:srgbClr val="02C39A"/>
                </a:solidFill>
                <a:latin typeface="Consolas" pitchFamily="34" charset="0"/>
                <a:ea typeface="Consolas" pitchFamily="34" charset="-122"/>
                <a:cs typeface="Consolas" pitchFamily="34" charset="-120"/>
              </a:rPr>
              <a:t>$ grep Threads /proc/27241/status</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Threads:	4</a:t>
            </a:r>
            <a:endParaRPr lang="tr-TR" sz="1250" dirty="0"/>
          </a:p>
        </p:txBody>
      </p:sp>
      <p:sp>
        <p:nvSpPr>
          <p:cNvPr id="8" name="Shape 6"/>
          <p:cNvSpPr/>
          <p:nvPr/>
        </p:nvSpPr>
        <p:spPr>
          <a:xfrm>
            <a:off x="7772400" y="1508760"/>
            <a:ext cx="3886200" cy="4754880"/>
          </a:xfrm>
          <a:prstGeom prst="roundRect">
            <a:avLst>
              <a:gd name="adj" fmla="val 1412"/>
            </a:avLst>
          </a:prstGeom>
          <a:solidFill>
            <a:srgbClr val="F2F2F2"/>
          </a:solidFill>
          <a:ln/>
          <a:effectLst>
            <a:outerShdw sx="100000" sy="100000" kx="0" ky="0" algn="bl" rotWithShape="0" blurRad="101600" dist="25400" dir="5400000">
              <a:srgbClr val="000000">
                <a:alpha val="12000"/>
              </a:srgbClr>
            </a:outerShdw>
          </a:effectLst>
        </p:spPr>
      </p:sp>
      <p:sp>
        <p:nvSpPr>
          <p:cNvPr id="9" name="Text 7"/>
          <p:cNvSpPr txBox="1"/>
          <p:nvPr/>
        </p:nvSpPr>
        <p:spPr>
          <a:xfrm>
            <a:off x="8001000" y="1691640"/>
            <a:ext cx="342900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Çıktıyı okumak</a:t>
            </a:r>
            <a:endParaRPr lang="tr-TR" sz="1500" dirty="0"/>
          </a:p>
        </p:txBody>
      </p:sp>
      <p:sp>
        <p:nvSpPr>
          <p:cNvPr id="10" name="Text 8"/>
          <p:cNvSpPr txBox="1"/>
          <p:nvPr/>
        </p:nvSpPr>
        <p:spPr>
          <a:xfrm>
            <a:off x="8001000" y="2148840"/>
            <a:ext cx="3429000" cy="3977640"/>
          </a:xfrm>
          <a:prstGeom prst="rect">
            <a:avLst/>
          </a:prstGeom>
          <a:noFill/>
          <a:ln/>
        </p:spPr>
        <p:txBody>
          <a:bodyPr wrap="square" lIns="0" tIns="0" rIns="0" bIns="0" rtlCol="0" anchor="t"/>
          <a:lstStyle/>
          <a:p>
            <a:pPr marL="228600" indent="-228600">
              <a:spcAft>
                <a:spcPts val="400"/>
              </a:spcAft>
              <a:buSzPct val="100000"/>
              <a:buChar char="•"/>
            </a:pPr>
            <a:r>
              <a:rPr lang="tr-TR" sz="1400" b="1" dirty="0">
                <a:solidFill>
                  <a:srgbClr val="3A464C"/>
                </a:solidFill>
                <a:latin typeface="Calibri" pitchFamily="34" charset="0"/>
                <a:ea typeface="Calibri" pitchFamily="34" charset="-122"/>
                <a:cs typeface="Calibri" pitchFamily="34" charset="-120"/>
              </a:rPr>
              <a:t>-L</a:t>
            </a:r>
            <a:r>
              <a:rPr lang="tr-TR" sz="1400" dirty="0">
                <a:solidFill>
                  <a:srgbClr val="3A464C"/>
                </a:solidFill>
                <a:latin typeface="Calibri" pitchFamily="34" charset="0"/>
                <a:ea typeface="Calibri" pitchFamily="34" charset="-122"/>
                <a:cs typeface="Calibri" pitchFamily="34" charset="-120"/>
              </a:rPr>
              <a:t> her iş parçacığı için bir satır gösterir.</a:t>
            </a:r>
            <a:endParaRPr lang="tr-TR" sz="1400" dirty="0"/>
          </a:p>
          <a:p>
            <a:pPr marL="228600" indent="-228600">
              <a:spcAft>
                <a:spcPts val="400"/>
              </a:spcAft>
              <a:buSzPct val="100000"/>
              <a:buChar char="•"/>
            </a:pPr>
            <a:r>
              <a:rPr lang="tr-TR" sz="1400" b="1" dirty="0">
                <a:solidFill>
                  <a:srgbClr val="3A464C"/>
                </a:solidFill>
                <a:latin typeface="Calibri" pitchFamily="34" charset="0"/>
                <a:ea typeface="Calibri" pitchFamily="34" charset="-122"/>
                <a:cs typeface="Calibri" pitchFamily="34" charset="-120"/>
              </a:rPr>
              <a:t>PID</a:t>
            </a:r>
            <a:r>
              <a:rPr lang="tr-TR" sz="1400" dirty="0">
                <a:solidFill>
                  <a:srgbClr val="3A464C"/>
                </a:solidFill>
                <a:latin typeface="Calibri" pitchFamily="34" charset="0"/>
                <a:ea typeface="Calibri" pitchFamily="34" charset="-122"/>
                <a:cs typeface="Calibri" pitchFamily="34" charset="-120"/>
              </a:rPr>
              <a:t> tüm satırlarda aynı: tek süreç.</a:t>
            </a:r>
            <a:endParaRPr lang="tr-TR" sz="1400" dirty="0"/>
          </a:p>
          <a:p>
            <a:pPr marL="228600" indent="-228600">
              <a:spcAft>
                <a:spcPts val="400"/>
              </a:spcAft>
              <a:buSzPct val="100000"/>
              <a:buChar char="•"/>
            </a:pPr>
            <a:r>
              <a:rPr lang="tr-TR" sz="1400" b="1" dirty="0">
                <a:solidFill>
                  <a:srgbClr val="3A464C"/>
                </a:solidFill>
                <a:latin typeface="Calibri" pitchFamily="34" charset="0"/>
                <a:ea typeface="Calibri" pitchFamily="34" charset="-122"/>
                <a:cs typeface="Calibri" pitchFamily="34" charset="-120"/>
              </a:rPr>
              <a:t>LWP</a:t>
            </a:r>
            <a:r>
              <a:rPr lang="tr-TR" sz="1400" dirty="0">
                <a:solidFill>
                  <a:srgbClr val="3A464C"/>
                </a:solidFill>
                <a:latin typeface="Calibri" pitchFamily="34" charset="0"/>
                <a:ea typeface="Calibri" pitchFamily="34" charset="-122"/>
                <a:cs typeface="Calibri" pitchFamily="34" charset="-120"/>
              </a:rPr>
              <a:t> (light-weight process, hafif süreç) = iş parçacığı kimliği.</a:t>
            </a:r>
            <a:endParaRPr lang="tr-TR" sz="1400" dirty="0"/>
          </a:p>
          <a:p>
            <a:pPr marL="228600" indent="-228600">
              <a:spcAft>
                <a:spcPts val="400"/>
              </a:spcAft>
              <a:buSzPct val="100000"/>
              <a:buChar char="•"/>
            </a:pPr>
            <a:r>
              <a:rPr lang="tr-TR" sz="1400" b="1" dirty="0">
                <a:solidFill>
                  <a:srgbClr val="3A464C"/>
                </a:solidFill>
                <a:latin typeface="Calibri" pitchFamily="34" charset="0"/>
                <a:ea typeface="Calibri" pitchFamily="34" charset="-122"/>
                <a:cs typeface="Calibri" pitchFamily="34" charset="-120"/>
              </a:rPr>
              <a:t>NLWP</a:t>
            </a:r>
            <a:r>
              <a:rPr lang="tr-TR" sz="1400" dirty="0">
                <a:solidFill>
                  <a:srgbClr val="3A464C"/>
                </a:solidFill>
                <a:latin typeface="Calibri" pitchFamily="34" charset="0"/>
                <a:ea typeface="Calibri" pitchFamily="34" charset="-122"/>
                <a:cs typeface="Calibri" pitchFamily="34" charset="-120"/>
              </a:rPr>
              <a:t> = iş parçacığı sayısı: main + 3 işçi = 4.</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/proc/&lt;pid&gt;/task/ altında her iş parçacığı için bir klasör vardır.</a:t>
            </a:r>
            <a:endParaRPr lang="tr-TR"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2514600"/>
            <a:ext cx="9144000" cy="320040"/>
          </a:xfrm>
          <a:prstGeom prst="rect">
            <a:avLst/>
          </a:prstGeom>
          <a:noFill/>
          <a:ln/>
        </p:spPr>
        <p:txBody>
          <a:bodyPr wrap="square" lIns="0" tIns="0" rIns="0" bIns="0" rtlCol="0" anchor="ctr"/>
          <a:lstStyle/>
          <a:p>
            <a:pPr indent="0" marL="0">
              <a:buNone/>
            </a:pPr>
            <a:r>
              <a:rPr lang="tr-TR" sz="1300" b="1" spc="300" kern="0" dirty="0">
                <a:solidFill>
                  <a:srgbClr val="02C39A"/>
                </a:solidFill>
                <a:latin typeface="Calibri" pitchFamily="34" charset="0"/>
                <a:ea typeface="Calibri" pitchFamily="34" charset="-122"/>
                <a:cs typeface="Calibri" pitchFamily="34" charset="-120"/>
              </a:rPr>
              <a:t>ARA</a:t>
            </a:r>
            <a:endParaRPr lang="tr-TR" sz="1300" dirty="0"/>
          </a:p>
        </p:txBody>
      </p:sp>
      <p:sp>
        <p:nvSpPr>
          <p:cNvPr id="3" name="Text 1"/>
          <p:cNvSpPr txBox="1"/>
          <p:nvPr/>
        </p:nvSpPr>
        <p:spPr>
          <a:xfrm>
            <a:off x="548640" y="2880360"/>
            <a:ext cx="10972800" cy="868680"/>
          </a:xfrm>
          <a:prstGeom prst="rect">
            <a:avLst/>
          </a:prstGeom>
          <a:noFill/>
          <a:ln/>
        </p:spPr>
        <p:txBody>
          <a:bodyPr wrap="square" lIns="0" tIns="0" rIns="0" bIns="0" rtlCol="0" anchor="ctr"/>
          <a:lstStyle/>
          <a:p>
            <a:pPr indent="0" marL="0">
              <a:buNone/>
            </a:pPr>
            <a:r>
              <a:rPr lang="tr-TR" sz="3800" b="1" dirty="0">
                <a:solidFill>
                  <a:srgbClr val="FFFFFF"/>
                </a:solidFill>
                <a:latin typeface="Cambria" pitchFamily="34" charset="0"/>
                <a:ea typeface="Cambria" pitchFamily="34" charset="-122"/>
                <a:cs typeface="Cambria" pitchFamily="34" charset="-120"/>
              </a:rPr>
              <a:t>10 Dakika Mola</a:t>
            </a:r>
            <a:endParaRPr lang="tr-TR" sz="3800" dirty="0"/>
          </a:p>
        </p:txBody>
      </p:sp>
      <p:sp>
        <p:nvSpPr>
          <p:cNvPr id="4" name="Text 2"/>
          <p:cNvSpPr txBox="1"/>
          <p:nvPr/>
        </p:nvSpPr>
        <p:spPr>
          <a:xfrm>
            <a:off x="548640" y="3794760"/>
            <a:ext cx="10515600" cy="457200"/>
          </a:xfrm>
          <a:prstGeom prst="rect">
            <a:avLst/>
          </a:prstGeom>
          <a:noFill/>
          <a:ln/>
        </p:spPr>
        <p:txBody>
          <a:bodyPr wrap="square" lIns="0" tIns="0" rIns="0" bIns="0" rtlCol="0" anchor="ctr"/>
          <a:lstStyle/>
          <a:p>
            <a:pPr indent="0" marL="0">
              <a:buNone/>
            </a:pPr>
            <a:r>
              <a:rPr lang="tr-TR" sz="1600" i="1" dirty="0">
                <a:solidFill>
                  <a:srgbClr val="F2F2F2"/>
                </a:solidFill>
                <a:latin typeface="Calibri" pitchFamily="34" charset="0"/>
                <a:ea typeface="Calibri" pitchFamily="34" charset="-122"/>
                <a:cs typeface="Calibri" pitchFamily="34" charset="-120"/>
              </a:rPr>
              <a:t>Sırada işlemci zamanlayıcısı var: sıradaki kim çalışacak ve "iyi"yi nasıl ölçeriz?</a:t>
            </a:r>
            <a:endParaRPr lang="tr-TR" sz="16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8A9AA0"/>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8A9AA0"/>
                </a:solidFill>
                <a:latin typeface="Calibri" pitchFamily="34" charset="0"/>
                <a:ea typeface="Calibri" pitchFamily="34" charset="-122"/>
                <a:cs typeface="Calibri" pitchFamily="34" charset="-120"/>
              </a:rPr>
              <a:t>Hafta 4  ·  24</a:t>
            </a:r>
            <a:endParaRPr lang="tr-TR"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2514600"/>
            <a:ext cx="9144000" cy="320040"/>
          </a:xfrm>
          <a:prstGeom prst="rect">
            <a:avLst/>
          </a:prstGeom>
          <a:noFill/>
          <a:ln/>
        </p:spPr>
        <p:txBody>
          <a:bodyPr wrap="square" lIns="0" tIns="0" rIns="0" bIns="0" rtlCol="0" anchor="ctr"/>
          <a:lstStyle/>
          <a:p>
            <a:pPr indent="0" marL="0">
              <a:buNone/>
            </a:pPr>
            <a:r>
              <a:rPr lang="tr-TR" sz="1300" b="1" spc="300" kern="0" dirty="0">
                <a:solidFill>
                  <a:srgbClr val="02C39A"/>
                </a:solidFill>
                <a:latin typeface="Calibri" pitchFamily="34" charset="0"/>
                <a:ea typeface="Calibri" pitchFamily="34" charset="-122"/>
                <a:cs typeface="Calibri" pitchFamily="34" charset="-120"/>
              </a:rPr>
              <a:t>BÖLÜM 2</a:t>
            </a:r>
            <a:endParaRPr lang="tr-TR" sz="1300" dirty="0"/>
          </a:p>
        </p:txBody>
      </p:sp>
      <p:sp>
        <p:nvSpPr>
          <p:cNvPr id="3" name="Text 1"/>
          <p:cNvSpPr txBox="1"/>
          <p:nvPr/>
        </p:nvSpPr>
        <p:spPr>
          <a:xfrm>
            <a:off x="548640" y="2880360"/>
            <a:ext cx="10972800" cy="868680"/>
          </a:xfrm>
          <a:prstGeom prst="rect">
            <a:avLst/>
          </a:prstGeom>
          <a:noFill/>
          <a:ln/>
        </p:spPr>
        <p:txBody>
          <a:bodyPr wrap="square" lIns="0" tIns="0" rIns="0" bIns="0" rtlCol="0" anchor="ctr"/>
          <a:lstStyle/>
          <a:p>
            <a:pPr indent="0" marL="0">
              <a:buNone/>
            </a:pPr>
            <a:r>
              <a:rPr lang="tr-TR" sz="3800" b="1" dirty="0">
                <a:solidFill>
                  <a:srgbClr val="FFFFFF"/>
                </a:solidFill>
                <a:latin typeface="Cambria" pitchFamily="34" charset="0"/>
                <a:ea typeface="Cambria" pitchFamily="34" charset="-122"/>
                <a:cs typeface="Cambria" pitchFamily="34" charset="-120"/>
              </a:rPr>
              <a:t>İşlemci Zamanlaması: Temel Kavramlar</a:t>
            </a:r>
            <a:endParaRPr lang="tr-TR" sz="3800" dirty="0"/>
          </a:p>
        </p:txBody>
      </p:sp>
      <p:sp>
        <p:nvSpPr>
          <p:cNvPr id="4" name="Text 2"/>
          <p:cNvSpPr txBox="1"/>
          <p:nvPr/>
        </p:nvSpPr>
        <p:spPr>
          <a:xfrm>
            <a:off x="548640" y="3794760"/>
            <a:ext cx="10515600" cy="457200"/>
          </a:xfrm>
          <a:prstGeom prst="rect">
            <a:avLst/>
          </a:prstGeom>
          <a:noFill/>
          <a:ln/>
        </p:spPr>
        <p:txBody>
          <a:bodyPr wrap="square" lIns="0" tIns="0" rIns="0" bIns="0" rtlCol="0" anchor="ctr"/>
          <a:lstStyle/>
          <a:p>
            <a:pPr indent="0" marL="0">
              <a:buNone/>
            </a:pPr>
            <a:r>
              <a:rPr lang="tr-TR" sz="1600" i="1" dirty="0">
                <a:solidFill>
                  <a:srgbClr val="F2F2F2"/>
                </a:solidFill>
                <a:latin typeface="Calibri" pitchFamily="34" charset="0"/>
                <a:ea typeface="Calibri" pitchFamily="34" charset="-122"/>
                <a:cs typeface="Calibri" pitchFamily="34" charset="-120"/>
              </a:rPr>
              <a:t>Çok sayıda hazır iş parçacığı, az sayıda çekirdek: biri seçim yapmalı.</a:t>
            </a:r>
            <a:endParaRPr lang="tr-TR" sz="16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8A9AA0"/>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8A9AA0"/>
                </a:solidFill>
                <a:latin typeface="Calibri" pitchFamily="34" charset="0"/>
                <a:ea typeface="Calibri" pitchFamily="34" charset="-122"/>
                <a:cs typeface="Calibri" pitchFamily="34" charset="-120"/>
              </a:rPr>
              <a:t>Hafta 4  ·  25</a:t>
            </a:r>
            <a:endParaRPr lang="tr-TR"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ZAMANLAMANIN TEMELLERİ</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İşlemci–G/Ç Patlama Döngüsü</a:t>
            </a:r>
            <a:endParaRPr lang="tr-TR"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tr-TR" sz="1500" dirty="0">
                <a:solidFill>
                  <a:srgbClr val="3A464C"/>
                </a:solidFill>
                <a:latin typeface="Calibri" pitchFamily="34" charset="0"/>
                <a:ea typeface="Calibri" pitchFamily="34" charset="-122"/>
                <a:cs typeface="Calibri" pitchFamily="34" charset="-120"/>
              </a:rPr>
              <a:t>Bir süreç hesaplama (CPU patlaması, CPU burst) ile G/Ç beklemesi (G/Ç patlaması, I/O burst) arasında gidip gelir.</a:t>
            </a:r>
            <a:endParaRPr lang="tr-TR"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4  ·  26</a:t>
            </a:r>
            <a:endParaRPr lang="tr-TR" sz="900" dirty="0"/>
          </a:p>
        </p:txBody>
      </p:sp>
      <p:sp>
        <p:nvSpPr>
          <p:cNvPr id="7" name="Text 5"/>
          <p:cNvSpPr txBox="1"/>
          <p:nvPr/>
        </p:nvSpPr>
        <p:spPr>
          <a:xfrm>
            <a:off x="548640" y="2240280"/>
            <a:ext cx="2011680" cy="548640"/>
          </a:xfrm>
          <a:prstGeom prst="rect">
            <a:avLst/>
          </a:prstGeom>
          <a:noFill/>
          <a:ln/>
        </p:spPr>
        <p:txBody>
          <a:bodyPr wrap="square" lIns="0" tIns="0" rIns="0" bIns="0" rtlCol="0" anchor="ctr"/>
          <a:lstStyle/>
          <a:p>
            <a:pPr indent="0" marL="0">
              <a:buNone/>
            </a:pPr>
            <a:r>
              <a:rPr lang="tr-TR" sz="1500" b="1" dirty="0">
                <a:solidFill>
                  <a:srgbClr val="36454F"/>
                </a:solidFill>
                <a:latin typeface="Calibri" pitchFamily="34" charset="0"/>
                <a:ea typeface="Calibri" pitchFamily="34" charset="-122"/>
                <a:cs typeface="Calibri" pitchFamily="34" charset="-120"/>
              </a:rPr>
              <a:t>İşlemci yoğun</a:t>
            </a:r>
            <a:endParaRPr lang="tr-TR" sz="1500" dirty="0"/>
          </a:p>
        </p:txBody>
      </p:sp>
      <p:sp>
        <p:nvSpPr>
          <p:cNvPr id="8" name="Shape 6"/>
          <p:cNvSpPr/>
          <p:nvPr/>
        </p:nvSpPr>
        <p:spPr>
          <a:xfrm>
            <a:off x="2651760" y="2240280"/>
            <a:ext cx="3218688" cy="548640"/>
          </a:xfrm>
          <a:prstGeom prst="rect">
            <a:avLst/>
          </a:prstGeom>
          <a:solidFill>
            <a:srgbClr val="02C39A"/>
          </a:solidFill>
          <a:ln w="19050">
            <a:solidFill>
              <a:srgbClr val="FFFFFF"/>
            </a:solidFill>
            <a:prstDash val="solid"/>
          </a:ln>
        </p:spPr>
      </p:sp>
      <p:sp>
        <p:nvSpPr>
          <p:cNvPr id="9" name="Text 7"/>
          <p:cNvSpPr txBox="1"/>
          <p:nvPr/>
        </p:nvSpPr>
        <p:spPr>
          <a:xfrm>
            <a:off x="2651760" y="2240280"/>
            <a:ext cx="3218688" cy="548640"/>
          </a:xfrm>
          <a:prstGeom prst="rect">
            <a:avLst/>
          </a:prstGeom>
          <a:noFill/>
          <a:ln/>
        </p:spPr>
        <p:txBody>
          <a:bodyPr wrap="square" lIns="0" tIns="0" rIns="0" bIns="0" rtlCol="0" anchor="ctr"/>
          <a:lstStyle/>
          <a:p>
            <a:pPr algn="ctr" indent="0" marL="0">
              <a:buNone/>
            </a:pPr>
            <a:r>
              <a:rPr lang="tr-TR" sz="1200" b="1" dirty="0">
                <a:solidFill>
                  <a:srgbClr val="36454F"/>
                </a:solidFill>
                <a:latin typeface="Calibri" pitchFamily="34" charset="0"/>
                <a:ea typeface="Calibri" pitchFamily="34" charset="-122"/>
                <a:cs typeface="Calibri" pitchFamily="34" charset="-120"/>
              </a:rPr>
              <a:t>CPU</a:t>
            </a:r>
            <a:endParaRPr lang="tr-TR" sz="1200" dirty="0"/>
          </a:p>
        </p:txBody>
      </p:sp>
      <p:sp>
        <p:nvSpPr>
          <p:cNvPr id="10" name="Shape 8"/>
          <p:cNvSpPr/>
          <p:nvPr/>
        </p:nvSpPr>
        <p:spPr>
          <a:xfrm>
            <a:off x="5870448" y="2240280"/>
            <a:ext cx="585216" cy="548640"/>
          </a:xfrm>
          <a:prstGeom prst="rect">
            <a:avLst/>
          </a:prstGeom>
          <a:solidFill>
            <a:srgbClr val="F2F2F2"/>
          </a:solidFill>
          <a:ln w="19050">
            <a:solidFill>
              <a:srgbClr val="FFFFFF"/>
            </a:solidFill>
            <a:prstDash val="solid"/>
          </a:ln>
        </p:spPr>
      </p:sp>
      <p:sp>
        <p:nvSpPr>
          <p:cNvPr id="11" name="Text 9"/>
          <p:cNvSpPr txBox="1"/>
          <p:nvPr/>
        </p:nvSpPr>
        <p:spPr>
          <a:xfrm>
            <a:off x="5870448" y="2240280"/>
            <a:ext cx="585216" cy="548640"/>
          </a:xfrm>
          <a:prstGeom prst="rect">
            <a:avLst/>
          </a:prstGeom>
          <a:noFill/>
          <a:ln/>
        </p:spPr>
        <p:txBody>
          <a:bodyPr wrap="square" lIns="0" tIns="0" rIns="0" bIns="0" rtlCol="0" anchor="ctr"/>
          <a:lstStyle/>
          <a:p>
            <a:pPr algn="ctr" indent="0" marL="0">
              <a:buNone/>
            </a:pPr>
            <a:r>
              <a:rPr lang="tr-TR" sz="1200" b="1" dirty="0">
                <a:solidFill>
                  <a:srgbClr val="36454F"/>
                </a:solidFill>
                <a:latin typeface="Calibri" pitchFamily="34" charset="0"/>
                <a:ea typeface="Calibri" pitchFamily="34" charset="-122"/>
                <a:cs typeface="Calibri" pitchFamily="34" charset="-120"/>
              </a:rPr>
              <a:t>G/Ç</a:t>
            </a:r>
            <a:endParaRPr lang="tr-TR" sz="1200" dirty="0"/>
          </a:p>
        </p:txBody>
      </p:sp>
      <p:sp>
        <p:nvSpPr>
          <p:cNvPr id="12" name="Shape 10"/>
          <p:cNvSpPr/>
          <p:nvPr/>
        </p:nvSpPr>
        <p:spPr>
          <a:xfrm>
            <a:off x="6455664" y="2240280"/>
            <a:ext cx="3511296" cy="548640"/>
          </a:xfrm>
          <a:prstGeom prst="rect">
            <a:avLst/>
          </a:prstGeom>
          <a:solidFill>
            <a:srgbClr val="02C39A"/>
          </a:solidFill>
          <a:ln w="19050">
            <a:solidFill>
              <a:srgbClr val="FFFFFF"/>
            </a:solidFill>
            <a:prstDash val="solid"/>
          </a:ln>
        </p:spPr>
      </p:sp>
      <p:sp>
        <p:nvSpPr>
          <p:cNvPr id="13" name="Text 11"/>
          <p:cNvSpPr txBox="1"/>
          <p:nvPr/>
        </p:nvSpPr>
        <p:spPr>
          <a:xfrm>
            <a:off x="6455664" y="2240280"/>
            <a:ext cx="3511296" cy="548640"/>
          </a:xfrm>
          <a:prstGeom prst="rect">
            <a:avLst/>
          </a:prstGeom>
          <a:noFill/>
          <a:ln/>
        </p:spPr>
        <p:txBody>
          <a:bodyPr wrap="square" lIns="0" tIns="0" rIns="0" bIns="0" rtlCol="0" anchor="ctr"/>
          <a:lstStyle/>
          <a:p>
            <a:pPr algn="ctr" indent="0" marL="0">
              <a:buNone/>
            </a:pPr>
            <a:r>
              <a:rPr lang="tr-TR" sz="1200" b="1" dirty="0">
                <a:solidFill>
                  <a:srgbClr val="36454F"/>
                </a:solidFill>
                <a:latin typeface="Calibri" pitchFamily="34" charset="0"/>
                <a:ea typeface="Calibri" pitchFamily="34" charset="-122"/>
                <a:cs typeface="Calibri" pitchFamily="34" charset="-120"/>
              </a:rPr>
              <a:t>CPU</a:t>
            </a:r>
            <a:endParaRPr lang="tr-TR" sz="1200" dirty="0"/>
          </a:p>
        </p:txBody>
      </p:sp>
      <p:sp>
        <p:nvSpPr>
          <p:cNvPr id="14" name="Shape 12"/>
          <p:cNvSpPr/>
          <p:nvPr/>
        </p:nvSpPr>
        <p:spPr>
          <a:xfrm>
            <a:off x="9966960" y="2240280"/>
            <a:ext cx="585216" cy="548640"/>
          </a:xfrm>
          <a:prstGeom prst="rect">
            <a:avLst/>
          </a:prstGeom>
          <a:solidFill>
            <a:srgbClr val="F2F2F2"/>
          </a:solidFill>
          <a:ln w="19050">
            <a:solidFill>
              <a:srgbClr val="FFFFFF"/>
            </a:solidFill>
            <a:prstDash val="solid"/>
          </a:ln>
        </p:spPr>
      </p:sp>
      <p:sp>
        <p:nvSpPr>
          <p:cNvPr id="15" name="Text 13"/>
          <p:cNvSpPr txBox="1"/>
          <p:nvPr/>
        </p:nvSpPr>
        <p:spPr>
          <a:xfrm>
            <a:off x="9966960" y="2240280"/>
            <a:ext cx="585216" cy="548640"/>
          </a:xfrm>
          <a:prstGeom prst="rect">
            <a:avLst/>
          </a:prstGeom>
          <a:noFill/>
          <a:ln/>
        </p:spPr>
        <p:txBody>
          <a:bodyPr wrap="square" lIns="0" tIns="0" rIns="0" bIns="0" rtlCol="0" anchor="ctr"/>
          <a:lstStyle/>
          <a:p>
            <a:pPr algn="ctr" indent="0" marL="0">
              <a:buNone/>
            </a:pPr>
            <a:r>
              <a:rPr lang="tr-TR" sz="1200" b="1" dirty="0">
                <a:solidFill>
                  <a:srgbClr val="36454F"/>
                </a:solidFill>
                <a:latin typeface="Calibri" pitchFamily="34" charset="0"/>
                <a:ea typeface="Calibri" pitchFamily="34" charset="-122"/>
                <a:cs typeface="Calibri" pitchFamily="34" charset="-120"/>
              </a:rPr>
              <a:t>G/Ç</a:t>
            </a:r>
            <a:endParaRPr lang="tr-TR" sz="1200" dirty="0"/>
          </a:p>
        </p:txBody>
      </p:sp>
      <p:sp>
        <p:nvSpPr>
          <p:cNvPr id="16" name="Shape 14"/>
          <p:cNvSpPr/>
          <p:nvPr/>
        </p:nvSpPr>
        <p:spPr>
          <a:xfrm>
            <a:off x="10552176" y="2240280"/>
            <a:ext cx="877824" cy="548640"/>
          </a:xfrm>
          <a:prstGeom prst="rect">
            <a:avLst/>
          </a:prstGeom>
          <a:solidFill>
            <a:srgbClr val="02C39A"/>
          </a:solidFill>
          <a:ln w="19050">
            <a:solidFill>
              <a:srgbClr val="FFFFFF"/>
            </a:solidFill>
            <a:prstDash val="solid"/>
          </a:ln>
        </p:spPr>
      </p:sp>
      <p:sp>
        <p:nvSpPr>
          <p:cNvPr id="17" name="Text 15"/>
          <p:cNvSpPr txBox="1"/>
          <p:nvPr/>
        </p:nvSpPr>
        <p:spPr>
          <a:xfrm>
            <a:off x="10552176" y="2240280"/>
            <a:ext cx="877824" cy="548640"/>
          </a:xfrm>
          <a:prstGeom prst="rect">
            <a:avLst/>
          </a:prstGeom>
          <a:noFill/>
          <a:ln/>
        </p:spPr>
        <p:txBody>
          <a:bodyPr wrap="square" lIns="0" tIns="0" rIns="0" bIns="0" rtlCol="0" anchor="ctr"/>
          <a:lstStyle/>
          <a:p>
            <a:pPr algn="ctr" indent="0" marL="0">
              <a:buNone/>
            </a:pPr>
            <a:r>
              <a:rPr lang="tr-TR" sz="1200" b="1" dirty="0">
                <a:solidFill>
                  <a:srgbClr val="36454F"/>
                </a:solidFill>
                <a:latin typeface="Calibri" pitchFamily="34" charset="0"/>
                <a:ea typeface="Calibri" pitchFamily="34" charset="-122"/>
                <a:cs typeface="Calibri" pitchFamily="34" charset="-120"/>
              </a:rPr>
              <a:t>CPU</a:t>
            </a:r>
            <a:endParaRPr lang="tr-TR" sz="1200" dirty="0"/>
          </a:p>
        </p:txBody>
      </p:sp>
      <p:sp>
        <p:nvSpPr>
          <p:cNvPr id="18" name="Text 16"/>
          <p:cNvSpPr txBox="1"/>
          <p:nvPr/>
        </p:nvSpPr>
        <p:spPr>
          <a:xfrm>
            <a:off x="548640" y="3108960"/>
            <a:ext cx="2011680" cy="548640"/>
          </a:xfrm>
          <a:prstGeom prst="rect">
            <a:avLst/>
          </a:prstGeom>
          <a:noFill/>
          <a:ln/>
        </p:spPr>
        <p:txBody>
          <a:bodyPr wrap="square" lIns="0" tIns="0" rIns="0" bIns="0" rtlCol="0" anchor="ctr"/>
          <a:lstStyle/>
          <a:p>
            <a:pPr indent="0" marL="0">
              <a:buNone/>
            </a:pPr>
            <a:r>
              <a:rPr lang="tr-TR" sz="1500" b="1" dirty="0">
                <a:solidFill>
                  <a:srgbClr val="36454F"/>
                </a:solidFill>
                <a:latin typeface="Calibri" pitchFamily="34" charset="0"/>
                <a:ea typeface="Calibri" pitchFamily="34" charset="-122"/>
                <a:cs typeface="Calibri" pitchFamily="34" charset="-120"/>
              </a:rPr>
              <a:t>G/Ç yoğun</a:t>
            </a:r>
            <a:endParaRPr lang="tr-TR" sz="1500" dirty="0"/>
          </a:p>
        </p:txBody>
      </p:sp>
      <p:sp>
        <p:nvSpPr>
          <p:cNvPr id="19" name="Shape 17"/>
          <p:cNvSpPr/>
          <p:nvPr/>
        </p:nvSpPr>
        <p:spPr>
          <a:xfrm>
            <a:off x="2651760" y="3108960"/>
            <a:ext cx="585216" cy="548640"/>
          </a:xfrm>
          <a:prstGeom prst="rect">
            <a:avLst/>
          </a:prstGeom>
          <a:solidFill>
            <a:srgbClr val="02C39A"/>
          </a:solidFill>
          <a:ln w="19050">
            <a:solidFill>
              <a:srgbClr val="FFFFFF"/>
            </a:solidFill>
            <a:prstDash val="solid"/>
          </a:ln>
        </p:spPr>
      </p:sp>
      <p:sp>
        <p:nvSpPr>
          <p:cNvPr id="20" name="Text 18"/>
          <p:cNvSpPr txBox="1"/>
          <p:nvPr/>
        </p:nvSpPr>
        <p:spPr>
          <a:xfrm>
            <a:off x="2651760" y="3108960"/>
            <a:ext cx="585216" cy="548640"/>
          </a:xfrm>
          <a:prstGeom prst="rect">
            <a:avLst/>
          </a:prstGeom>
          <a:noFill/>
          <a:ln/>
        </p:spPr>
        <p:txBody>
          <a:bodyPr wrap="square" lIns="0" tIns="0" rIns="0" bIns="0" rtlCol="0" anchor="ctr"/>
          <a:lstStyle/>
          <a:p>
            <a:pPr algn="ctr" indent="0" marL="0">
              <a:buNone/>
            </a:pPr>
            <a:r>
              <a:rPr lang="tr-TR" sz="1200" b="1" dirty="0">
                <a:solidFill>
                  <a:srgbClr val="36454F"/>
                </a:solidFill>
                <a:latin typeface="Calibri" pitchFamily="34" charset="0"/>
                <a:ea typeface="Calibri" pitchFamily="34" charset="-122"/>
                <a:cs typeface="Calibri" pitchFamily="34" charset="-120"/>
              </a:rPr>
              <a:t>CPU</a:t>
            </a:r>
            <a:endParaRPr lang="tr-TR" sz="1200" dirty="0"/>
          </a:p>
        </p:txBody>
      </p:sp>
      <p:sp>
        <p:nvSpPr>
          <p:cNvPr id="21" name="Shape 19"/>
          <p:cNvSpPr/>
          <p:nvPr/>
        </p:nvSpPr>
        <p:spPr>
          <a:xfrm>
            <a:off x="3236976" y="3108960"/>
            <a:ext cx="1463040" cy="548640"/>
          </a:xfrm>
          <a:prstGeom prst="rect">
            <a:avLst/>
          </a:prstGeom>
          <a:solidFill>
            <a:srgbClr val="F2F2F2"/>
          </a:solidFill>
          <a:ln w="19050">
            <a:solidFill>
              <a:srgbClr val="FFFFFF"/>
            </a:solidFill>
            <a:prstDash val="solid"/>
          </a:ln>
        </p:spPr>
      </p:sp>
      <p:sp>
        <p:nvSpPr>
          <p:cNvPr id="22" name="Text 20"/>
          <p:cNvSpPr txBox="1"/>
          <p:nvPr/>
        </p:nvSpPr>
        <p:spPr>
          <a:xfrm>
            <a:off x="3236976" y="3108960"/>
            <a:ext cx="1463040" cy="548640"/>
          </a:xfrm>
          <a:prstGeom prst="rect">
            <a:avLst/>
          </a:prstGeom>
          <a:noFill/>
          <a:ln/>
        </p:spPr>
        <p:txBody>
          <a:bodyPr wrap="square" lIns="0" tIns="0" rIns="0" bIns="0" rtlCol="0" anchor="ctr"/>
          <a:lstStyle/>
          <a:p>
            <a:pPr algn="ctr" indent="0" marL="0">
              <a:buNone/>
            </a:pPr>
            <a:r>
              <a:rPr lang="tr-TR" sz="1200" b="1" dirty="0">
                <a:solidFill>
                  <a:srgbClr val="36454F"/>
                </a:solidFill>
                <a:latin typeface="Calibri" pitchFamily="34" charset="0"/>
                <a:ea typeface="Calibri" pitchFamily="34" charset="-122"/>
                <a:cs typeface="Calibri" pitchFamily="34" charset="-120"/>
              </a:rPr>
              <a:t>G/Ç</a:t>
            </a:r>
            <a:endParaRPr lang="tr-TR" sz="1200" dirty="0"/>
          </a:p>
        </p:txBody>
      </p:sp>
      <p:sp>
        <p:nvSpPr>
          <p:cNvPr id="23" name="Shape 21"/>
          <p:cNvSpPr/>
          <p:nvPr/>
        </p:nvSpPr>
        <p:spPr>
          <a:xfrm>
            <a:off x="4700016" y="3108960"/>
            <a:ext cx="438912" cy="548640"/>
          </a:xfrm>
          <a:prstGeom prst="rect">
            <a:avLst/>
          </a:prstGeom>
          <a:solidFill>
            <a:srgbClr val="02C39A"/>
          </a:solidFill>
          <a:ln w="19050">
            <a:solidFill>
              <a:srgbClr val="FFFFFF"/>
            </a:solidFill>
            <a:prstDash val="solid"/>
          </a:ln>
        </p:spPr>
      </p:sp>
      <p:sp>
        <p:nvSpPr>
          <p:cNvPr id="24" name="Text 22"/>
          <p:cNvSpPr txBox="1"/>
          <p:nvPr/>
        </p:nvSpPr>
        <p:spPr>
          <a:xfrm>
            <a:off x="4700016" y="3108960"/>
            <a:ext cx="438912" cy="548640"/>
          </a:xfrm>
          <a:prstGeom prst="rect">
            <a:avLst/>
          </a:prstGeom>
          <a:noFill/>
          <a:ln/>
        </p:spPr>
        <p:txBody>
          <a:bodyPr wrap="square" lIns="0" tIns="0" rIns="0" bIns="0" rtlCol="0" anchor="ctr"/>
          <a:lstStyle/>
          <a:p>
            <a:pPr algn="ctr" indent="0" marL="0">
              <a:buNone/>
            </a:pPr>
            <a:r>
              <a:rPr lang="tr-TR" sz="1200" b="1" dirty="0">
                <a:solidFill>
                  <a:srgbClr val="36454F"/>
                </a:solidFill>
                <a:latin typeface="Calibri" pitchFamily="34" charset="0"/>
                <a:ea typeface="Calibri" pitchFamily="34" charset="-122"/>
                <a:cs typeface="Calibri" pitchFamily="34" charset="-120"/>
              </a:rPr>
              <a:t>CPU</a:t>
            </a:r>
            <a:endParaRPr lang="tr-TR" sz="1200" dirty="0"/>
          </a:p>
        </p:txBody>
      </p:sp>
      <p:sp>
        <p:nvSpPr>
          <p:cNvPr id="25" name="Shape 23"/>
          <p:cNvSpPr/>
          <p:nvPr/>
        </p:nvSpPr>
        <p:spPr>
          <a:xfrm>
            <a:off x="5138928" y="3108960"/>
            <a:ext cx="1609344" cy="548640"/>
          </a:xfrm>
          <a:prstGeom prst="rect">
            <a:avLst/>
          </a:prstGeom>
          <a:solidFill>
            <a:srgbClr val="F2F2F2"/>
          </a:solidFill>
          <a:ln w="19050">
            <a:solidFill>
              <a:srgbClr val="FFFFFF"/>
            </a:solidFill>
            <a:prstDash val="solid"/>
          </a:ln>
        </p:spPr>
      </p:sp>
      <p:sp>
        <p:nvSpPr>
          <p:cNvPr id="26" name="Text 24"/>
          <p:cNvSpPr txBox="1"/>
          <p:nvPr/>
        </p:nvSpPr>
        <p:spPr>
          <a:xfrm>
            <a:off x="5138928" y="3108960"/>
            <a:ext cx="1609344" cy="548640"/>
          </a:xfrm>
          <a:prstGeom prst="rect">
            <a:avLst/>
          </a:prstGeom>
          <a:noFill/>
          <a:ln/>
        </p:spPr>
        <p:txBody>
          <a:bodyPr wrap="square" lIns="0" tIns="0" rIns="0" bIns="0" rtlCol="0" anchor="ctr"/>
          <a:lstStyle/>
          <a:p>
            <a:pPr algn="ctr" indent="0" marL="0">
              <a:buNone/>
            </a:pPr>
            <a:r>
              <a:rPr lang="tr-TR" sz="1200" b="1" dirty="0">
                <a:solidFill>
                  <a:srgbClr val="36454F"/>
                </a:solidFill>
                <a:latin typeface="Calibri" pitchFamily="34" charset="0"/>
                <a:ea typeface="Calibri" pitchFamily="34" charset="-122"/>
                <a:cs typeface="Calibri" pitchFamily="34" charset="-120"/>
              </a:rPr>
              <a:t>G/Ç</a:t>
            </a:r>
            <a:endParaRPr lang="tr-TR" sz="1200" dirty="0"/>
          </a:p>
        </p:txBody>
      </p:sp>
      <p:sp>
        <p:nvSpPr>
          <p:cNvPr id="27" name="Shape 25"/>
          <p:cNvSpPr/>
          <p:nvPr/>
        </p:nvSpPr>
        <p:spPr>
          <a:xfrm>
            <a:off x="6748272" y="3108960"/>
            <a:ext cx="585216" cy="548640"/>
          </a:xfrm>
          <a:prstGeom prst="rect">
            <a:avLst/>
          </a:prstGeom>
          <a:solidFill>
            <a:srgbClr val="02C39A"/>
          </a:solidFill>
          <a:ln w="19050">
            <a:solidFill>
              <a:srgbClr val="FFFFFF"/>
            </a:solidFill>
            <a:prstDash val="solid"/>
          </a:ln>
        </p:spPr>
      </p:sp>
      <p:sp>
        <p:nvSpPr>
          <p:cNvPr id="28" name="Text 26"/>
          <p:cNvSpPr txBox="1"/>
          <p:nvPr/>
        </p:nvSpPr>
        <p:spPr>
          <a:xfrm>
            <a:off x="6748272" y="3108960"/>
            <a:ext cx="585216" cy="548640"/>
          </a:xfrm>
          <a:prstGeom prst="rect">
            <a:avLst/>
          </a:prstGeom>
          <a:noFill/>
          <a:ln/>
        </p:spPr>
        <p:txBody>
          <a:bodyPr wrap="square" lIns="0" tIns="0" rIns="0" bIns="0" rtlCol="0" anchor="ctr"/>
          <a:lstStyle/>
          <a:p>
            <a:pPr algn="ctr" indent="0" marL="0">
              <a:buNone/>
            </a:pPr>
            <a:r>
              <a:rPr lang="tr-TR" sz="1200" b="1" dirty="0">
                <a:solidFill>
                  <a:srgbClr val="36454F"/>
                </a:solidFill>
                <a:latin typeface="Calibri" pitchFamily="34" charset="0"/>
                <a:ea typeface="Calibri" pitchFamily="34" charset="-122"/>
                <a:cs typeface="Calibri" pitchFamily="34" charset="-120"/>
              </a:rPr>
              <a:t>CPU</a:t>
            </a:r>
            <a:endParaRPr lang="tr-TR" sz="1200" dirty="0"/>
          </a:p>
        </p:txBody>
      </p:sp>
      <p:sp>
        <p:nvSpPr>
          <p:cNvPr id="29" name="Shape 27"/>
          <p:cNvSpPr/>
          <p:nvPr/>
        </p:nvSpPr>
        <p:spPr>
          <a:xfrm>
            <a:off x="7333488" y="3108960"/>
            <a:ext cx="1463040" cy="548640"/>
          </a:xfrm>
          <a:prstGeom prst="rect">
            <a:avLst/>
          </a:prstGeom>
          <a:solidFill>
            <a:srgbClr val="F2F2F2"/>
          </a:solidFill>
          <a:ln w="19050">
            <a:solidFill>
              <a:srgbClr val="FFFFFF"/>
            </a:solidFill>
            <a:prstDash val="solid"/>
          </a:ln>
        </p:spPr>
      </p:sp>
      <p:sp>
        <p:nvSpPr>
          <p:cNvPr id="30" name="Text 28"/>
          <p:cNvSpPr txBox="1"/>
          <p:nvPr/>
        </p:nvSpPr>
        <p:spPr>
          <a:xfrm>
            <a:off x="7333488" y="3108960"/>
            <a:ext cx="1463040" cy="548640"/>
          </a:xfrm>
          <a:prstGeom prst="rect">
            <a:avLst/>
          </a:prstGeom>
          <a:noFill/>
          <a:ln/>
        </p:spPr>
        <p:txBody>
          <a:bodyPr wrap="square" lIns="0" tIns="0" rIns="0" bIns="0" rtlCol="0" anchor="ctr"/>
          <a:lstStyle/>
          <a:p>
            <a:pPr algn="ctr" indent="0" marL="0">
              <a:buNone/>
            </a:pPr>
            <a:r>
              <a:rPr lang="tr-TR" sz="1200" b="1" dirty="0">
                <a:solidFill>
                  <a:srgbClr val="36454F"/>
                </a:solidFill>
                <a:latin typeface="Calibri" pitchFamily="34" charset="0"/>
                <a:ea typeface="Calibri" pitchFamily="34" charset="-122"/>
                <a:cs typeface="Calibri" pitchFamily="34" charset="-120"/>
              </a:rPr>
              <a:t>G/Ç</a:t>
            </a:r>
            <a:endParaRPr lang="tr-TR" sz="1200" dirty="0"/>
          </a:p>
        </p:txBody>
      </p:sp>
      <p:sp>
        <p:nvSpPr>
          <p:cNvPr id="31" name="Shape 29"/>
          <p:cNvSpPr/>
          <p:nvPr/>
        </p:nvSpPr>
        <p:spPr>
          <a:xfrm>
            <a:off x="8796528" y="3108960"/>
            <a:ext cx="438912" cy="548640"/>
          </a:xfrm>
          <a:prstGeom prst="rect">
            <a:avLst/>
          </a:prstGeom>
          <a:solidFill>
            <a:srgbClr val="02C39A"/>
          </a:solidFill>
          <a:ln w="19050">
            <a:solidFill>
              <a:srgbClr val="FFFFFF"/>
            </a:solidFill>
            <a:prstDash val="solid"/>
          </a:ln>
        </p:spPr>
      </p:sp>
      <p:sp>
        <p:nvSpPr>
          <p:cNvPr id="32" name="Text 30"/>
          <p:cNvSpPr txBox="1"/>
          <p:nvPr/>
        </p:nvSpPr>
        <p:spPr>
          <a:xfrm>
            <a:off x="8796528" y="3108960"/>
            <a:ext cx="438912" cy="548640"/>
          </a:xfrm>
          <a:prstGeom prst="rect">
            <a:avLst/>
          </a:prstGeom>
          <a:noFill/>
          <a:ln/>
        </p:spPr>
        <p:txBody>
          <a:bodyPr wrap="square" lIns="0" tIns="0" rIns="0" bIns="0" rtlCol="0" anchor="ctr"/>
          <a:lstStyle/>
          <a:p>
            <a:pPr algn="ctr" indent="0" marL="0">
              <a:buNone/>
            </a:pPr>
            <a:r>
              <a:rPr lang="tr-TR" sz="1200" b="1" dirty="0">
                <a:solidFill>
                  <a:srgbClr val="36454F"/>
                </a:solidFill>
                <a:latin typeface="Calibri" pitchFamily="34" charset="0"/>
                <a:ea typeface="Calibri" pitchFamily="34" charset="-122"/>
                <a:cs typeface="Calibri" pitchFamily="34" charset="-120"/>
              </a:rPr>
              <a:t>CPU</a:t>
            </a:r>
            <a:endParaRPr lang="tr-TR" sz="1200" dirty="0"/>
          </a:p>
        </p:txBody>
      </p:sp>
      <p:sp>
        <p:nvSpPr>
          <p:cNvPr id="33" name="Shape 31"/>
          <p:cNvSpPr/>
          <p:nvPr/>
        </p:nvSpPr>
        <p:spPr>
          <a:xfrm>
            <a:off x="9235440" y="3108960"/>
            <a:ext cx="1609344" cy="548640"/>
          </a:xfrm>
          <a:prstGeom prst="rect">
            <a:avLst/>
          </a:prstGeom>
          <a:solidFill>
            <a:srgbClr val="F2F2F2"/>
          </a:solidFill>
          <a:ln w="19050">
            <a:solidFill>
              <a:srgbClr val="FFFFFF"/>
            </a:solidFill>
            <a:prstDash val="solid"/>
          </a:ln>
        </p:spPr>
      </p:sp>
      <p:sp>
        <p:nvSpPr>
          <p:cNvPr id="34" name="Text 32"/>
          <p:cNvSpPr txBox="1"/>
          <p:nvPr/>
        </p:nvSpPr>
        <p:spPr>
          <a:xfrm>
            <a:off x="9235440" y="3108960"/>
            <a:ext cx="1609344" cy="548640"/>
          </a:xfrm>
          <a:prstGeom prst="rect">
            <a:avLst/>
          </a:prstGeom>
          <a:noFill/>
          <a:ln/>
        </p:spPr>
        <p:txBody>
          <a:bodyPr wrap="square" lIns="0" tIns="0" rIns="0" bIns="0" rtlCol="0" anchor="ctr"/>
          <a:lstStyle/>
          <a:p>
            <a:pPr algn="ctr" indent="0" marL="0">
              <a:buNone/>
            </a:pPr>
            <a:r>
              <a:rPr lang="tr-TR" sz="1200" b="1" dirty="0">
                <a:solidFill>
                  <a:srgbClr val="36454F"/>
                </a:solidFill>
                <a:latin typeface="Calibri" pitchFamily="34" charset="0"/>
                <a:ea typeface="Calibri" pitchFamily="34" charset="-122"/>
                <a:cs typeface="Calibri" pitchFamily="34" charset="-120"/>
              </a:rPr>
              <a:t>G/Ç</a:t>
            </a:r>
            <a:endParaRPr lang="tr-TR" sz="1200" dirty="0"/>
          </a:p>
        </p:txBody>
      </p:sp>
      <p:sp>
        <p:nvSpPr>
          <p:cNvPr id="35" name="Shape 33"/>
          <p:cNvSpPr/>
          <p:nvPr/>
        </p:nvSpPr>
        <p:spPr>
          <a:xfrm>
            <a:off x="10844784" y="3108960"/>
            <a:ext cx="585216" cy="548640"/>
          </a:xfrm>
          <a:prstGeom prst="rect">
            <a:avLst/>
          </a:prstGeom>
          <a:solidFill>
            <a:srgbClr val="02C39A"/>
          </a:solidFill>
          <a:ln w="19050">
            <a:solidFill>
              <a:srgbClr val="FFFFFF"/>
            </a:solidFill>
            <a:prstDash val="solid"/>
          </a:ln>
        </p:spPr>
      </p:sp>
      <p:sp>
        <p:nvSpPr>
          <p:cNvPr id="36" name="Text 34"/>
          <p:cNvSpPr txBox="1"/>
          <p:nvPr/>
        </p:nvSpPr>
        <p:spPr>
          <a:xfrm>
            <a:off x="10844784" y="3108960"/>
            <a:ext cx="585216" cy="548640"/>
          </a:xfrm>
          <a:prstGeom prst="rect">
            <a:avLst/>
          </a:prstGeom>
          <a:noFill/>
          <a:ln/>
        </p:spPr>
        <p:txBody>
          <a:bodyPr wrap="square" lIns="0" tIns="0" rIns="0" bIns="0" rtlCol="0" anchor="ctr"/>
          <a:lstStyle/>
          <a:p>
            <a:pPr algn="ctr" indent="0" marL="0">
              <a:buNone/>
            </a:pPr>
            <a:r>
              <a:rPr lang="tr-TR" sz="1200" b="1" dirty="0">
                <a:solidFill>
                  <a:srgbClr val="36454F"/>
                </a:solidFill>
                <a:latin typeface="Calibri" pitchFamily="34" charset="0"/>
                <a:ea typeface="Calibri" pitchFamily="34" charset="-122"/>
                <a:cs typeface="Calibri" pitchFamily="34" charset="-120"/>
              </a:rPr>
              <a:t>CPU</a:t>
            </a:r>
            <a:endParaRPr lang="tr-TR" sz="1200" dirty="0"/>
          </a:p>
        </p:txBody>
      </p:sp>
      <p:sp>
        <p:nvSpPr>
          <p:cNvPr id="37" name="Shape 35"/>
          <p:cNvSpPr/>
          <p:nvPr/>
        </p:nvSpPr>
        <p:spPr>
          <a:xfrm>
            <a:off x="2651760" y="3840480"/>
            <a:ext cx="8778240" cy="91"/>
          </a:xfrm>
          <a:prstGeom prst="line">
            <a:avLst/>
          </a:prstGeom>
          <a:noFill/>
          <a:ln w="19050">
            <a:solidFill>
              <a:srgbClr val="50808E"/>
            </a:solidFill>
            <a:prstDash val="solid"/>
            <a:tailEnd type="triangle"/>
          </a:ln>
        </p:spPr>
      </p:sp>
      <p:sp>
        <p:nvSpPr>
          <p:cNvPr id="38" name="Text 36"/>
          <p:cNvSpPr txBox="1"/>
          <p:nvPr/>
        </p:nvSpPr>
        <p:spPr>
          <a:xfrm>
            <a:off x="10607040" y="3886200"/>
            <a:ext cx="822960" cy="274320"/>
          </a:xfrm>
          <a:prstGeom prst="rect">
            <a:avLst/>
          </a:prstGeom>
          <a:noFill/>
          <a:ln/>
        </p:spPr>
        <p:txBody>
          <a:bodyPr wrap="square" lIns="0" tIns="0" rIns="0" bIns="0" rtlCol="0" anchor="t"/>
          <a:lstStyle/>
          <a:p>
            <a:pPr algn="r" indent="0" marL="0">
              <a:buNone/>
            </a:pPr>
            <a:r>
              <a:rPr lang="tr-TR" sz="1100" i="1" dirty="0">
                <a:solidFill>
                  <a:srgbClr val="6B7679"/>
                </a:solidFill>
                <a:latin typeface="Calibri" pitchFamily="34" charset="0"/>
                <a:ea typeface="Calibri" pitchFamily="34" charset="-122"/>
                <a:cs typeface="Calibri" pitchFamily="34" charset="-120"/>
              </a:rPr>
              <a:t>zaman</a:t>
            </a:r>
            <a:endParaRPr lang="tr-TR" sz="1100" dirty="0"/>
          </a:p>
        </p:txBody>
      </p:sp>
      <p:sp>
        <p:nvSpPr>
          <p:cNvPr id="39" name="Shape 37"/>
          <p:cNvSpPr/>
          <p:nvPr/>
        </p:nvSpPr>
        <p:spPr>
          <a:xfrm>
            <a:off x="548640" y="4343400"/>
            <a:ext cx="3566160" cy="1920240"/>
          </a:xfrm>
          <a:prstGeom prst="roundRect">
            <a:avLst>
              <a:gd name="adj" fmla="val 2857"/>
            </a:avLst>
          </a:prstGeom>
          <a:solidFill>
            <a:srgbClr val="F2F2F2"/>
          </a:solidFill>
          <a:ln/>
          <a:effectLst>
            <a:outerShdw sx="100000" sy="100000" kx="0" ky="0" algn="bl" rotWithShape="0" blurRad="101600" dist="25400" dir="5400000">
              <a:srgbClr val="000000">
                <a:alpha val="12000"/>
              </a:srgbClr>
            </a:outerShdw>
          </a:effectLst>
        </p:spPr>
      </p:sp>
      <p:sp>
        <p:nvSpPr>
          <p:cNvPr id="40" name="Text 38"/>
          <p:cNvSpPr txBox="1"/>
          <p:nvPr/>
        </p:nvSpPr>
        <p:spPr>
          <a:xfrm>
            <a:off x="777240" y="4526280"/>
            <a:ext cx="310896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İşlemci yoğun (CPU-bound)</a:t>
            </a:r>
            <a:endParaRPr lang="tr-TR" sz="1500" dirty="0"/>
          </a:p>
        </p:txBody>
      </p:sp>
      <p:sp>
        <p:nvSpPr>
          <p:cNvPr id="41" name="Text 39"/>
          <p:cNvSpPr txBox="1"/>
          <p:nvPr/>
        </p:nvSpPr>
        <p:spPr>
          <a:xfrm>
            <a:off x="777240" y="4983480"/>
            <a:ext cx="3108960" cy="1143000"/>
          </a:xfrm>
          <a:prstGeom prst="rect">
            <a:avLst/>
          </a:prstGeom>
          <a:noFill/>
          <a:ln/>
        </p:spPr>
        <p:txBody>
          <a:bodyPr wrap="square" lIns="0" tIns="0" rIns="0" bIns="0" rtlCol="0" anchor="t"/>
          <a:lstStyle/>
          <a:p>
            <a:pPr indent="0" marL="0">
              <a:spcAft>
                <a:spcPts val="400"/>
              </a:spcAft>
              <a:buNone/>
            </a:pPr>
            <a:r>
              <a:rPr lang="tr-TR" sz="1400" dirty="0">
                <a:solidFill>
                  <a:srgbClr val="3A464C"/>
                </a:solidFill>
                <a:latin typeface="Calibri" pitchFamily="34" charset="0"/>
                <a:ea typeface="Calibri" pitchFamily="34" charset="-122"/>
                <a:cs typeface="Calibri" pitchFamily="34" charset="-120"/>
              </a:rPr>
              <a:t>Az sayıda, uzun CPU patlaması. Örnek: video kodlama, derleme, bilimsel benzetim.</a:t>
            </a:r>
            <a:endParaRPr lang="tr-TR" sz="1400" dirty="0"/>
          </a:p>
        </p:txBody>
      </p:sp>
      <p:sp>
        <p:nvSpPr>
          <p:cNvPr id="42" name="Shape 40"/>
          <p:cNvSpPr/>
          <p:nvPr/>
        </p:nvSpPr>
        <p:spPr>
          <a:xfrm>
            <a:off x="4315968" y="4343400"/>
            <a:ext cx="3566160" cy="1920240"/>
          </a:xfrm>
          <a:prstGeom prst="roundRect">
            <a:avLst>
              <a:gd name="adj" fmla="val 2857"/>
            </a:avLst>
          </a:prstGeom>
          <a:solidFill>
            <a:srgbClr val="F2F2F2"/>
          </a:solidFill>
          <a:ln/>
          <a:effectLst>
            <a:outerShdw sx="100000" sy="100000" kx="0" ky="0" algn="bl" rotWithShape="0" blurRad="101600" dist="25400" dir="5400000">
              <a:srgbClr val="000000">
                <a:alpha val="12000"/>
              </a:srgbClr>
            </a:outerShdw>
          </a:effectLst>
        </p:spPr>
      </p:sp>
      <p:sp>
        <p:nvSpPr>
          <p:cNvPr id="43" name="Text 41"/>
          <p:cNvSpPr txBox="1"/>
          <p:nvPr/>
        </p:nvSpPr>
        <p:spPr>
          <a:xfrm>
            <a:off x="4544568" y="4526280"/>
            <a:ext cx="310896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G/Ç yoğun (I/O-bound)</a:t>
            </a:r>
            <a:endParaRPr lang="tr-TR" sz="1500" dirty="0"/>
          </a:p>
        </p:txBody>
      </p:sp>
      <p:sp>
        <p:nvSpPr>
          <p:cNvPr id="44" name="Text 42"/>
          <p:cNvSpPr txBox="1"/>
          <p:nvPr/>
        </p:nvSpPr>
        <p:spPr>
          <a:xfrm>
            <a:off x="4544568" y="4983480"/>
            <a:ext cx="3108960" cy="1143000"/>
          </a:xfrm>
          <a:prstGeom prst="rect">
            <a:avLst/>
          </a:prstGeom>
          <a:noFill/>
          <a:ln/>
        </p:spPr>
        <p:txBody>
          <a:bodyPr wrap="square" lIns="0" tIns="0" rIns="0" bIns="0" rtlCol="0" anchor="t"/>
          <a:lstStyle/>
          <a:p>
            <a:pPr indent="0" marL="0">
              <a:spcAft>
                <a:spcPts val="400"/>
              </a:spcAft>
              <a:buNone/>
            </a:pPr>
            <a:r>
              <a:rPr lang="tr-TR" sz="1400" dirty="0">
                <a:solidFill>
                  <a:srgbClr val="3A464C"/>
                </a:solidFill>
                <a:latin typeface="Calibri" pitchFamily="34" charset="0"/>
                <a:ea typeface="Calibri" pitchFamily="34" charset="-122"/>
                <a:cs typeface="Calibri" pitchFamily="34" charset="-120"/>
              </a:rPr>
              <a:t>Çok sayıda kısa CPU patlaması, çoğunlukla bekleme. Örnek: metin düzenleyici, web sunucusu, dosya kopyalama.</a:t>
            </a:r>
            <a:endParaRPr lang="tr-TR" sz="1400" dirty="0"/>
          </a:p>
        </p:txBody>
      </p:sp>
      <p:sp>
        <p:nvSpPr>
          <p:cNvPr id="45" name="Shape 43"/>
          <p:cNvSpPr/>
          <p:nvPr/>
        </p:nvSpPr>
        <p:spPr>
          <a:xfrm>
            <a:off x="8092440" y="4343400"/>
            <a:ext cx="3566160" cy="1920240"/>
          </a:xfrm>
          <a:prstGeom prst="roundRect">
            <a:avLst>
              <a:gd name="adj" fmla="val 2857"/>
            </a:avLst>
          </a:prstGeom>
          <a:solidFill>
            <a:srgbClr val="F2F2F2"/>
          </a:solidFill>
          <a:ln/>
          <a:effectLst>
            <a:outerShdw sx="100000" sy="100000" kx="0" ky="0" algn="bl" rotWithShape="0" blurRad="101600" dist="25400" dir="5400000">
              <a:srgbClr val="000000">
                <a:alpha val="12000"/>
              </a:srgbClr>
            </a:outerShdw>
          </a:effectLst>
        </p:spPr>
      </p:sp>
      <p:sp>
        <p:nvSpPr>
          <p:cNvPr id="46" name="Text 44"/>
          <p:cNvSpPr txBox="1"/>
          <p:nvPr/>
        </p:nvSpPr>
        <p:spPr>
          <a:xfrm>
            <a:off x="8321040" y="4526280"/>
            <a:ext cx="310896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Ölçülmüş gerçek</a:t>
            </a:r>
            <a:endParaRPr lang="tr-TR" sz="1500" dirty="0"/>
          </a:p>
        </p:txBody>
      </p:sp>
      <p:sp>
        <p:nvSpPr>
          <p:cNvPr id="47" name="Text 45"/>
          <p:cNvSpPr txBox="1"/>
          <p:nvPr/>
        </p:nvSpPr>
        <p:spPr>
          <a:xfrm>
            <a:off x="8321040" y="4983480"/>
            <a:ext cx="3108960" cy="1143000"/>
          </a:xfrm>
          <a:prstGeom prst="rect">
            <a:avLst/>
          </a:prstGeom>
          <a:noFill/>
          <a:ln/>
        </p:spPr>
        <p:txBody>
          <a:bodyPr wrap="square" lIns="0" tIns="0" rIns="0" bIns="0" rtlCol="0" anchor="t"/>
          <a:lstStyle/>
          <a:p>
            <a:pPr indent="0" marL="0">
              <a:spcAft>
                <a:spcPts val="400"/>
              </a:spcAft>
              <a:buNone/>
            </a:pPr>
            <a:r>
              <a:rPr lang="tr-TR" sz="1400" dirty="0">
                <a:solidFill>
                  <a:srgbClr val="3A464C"/>
                </a:solidFill>
                <a:latin typeface="Calibri" pitchFamily="34" charset="0"/>
                <a:ea typeface="Calibri" pitchFamily="34" charset="-122"/>
                <a:cs typeface="Calibri" pitchFamily="34" charset="-120"/>
              </a:rPr>
              <a:t>CPU patlamalarının çoğu kısadır (birkaç ms); uzun olanlar azdır. Zamanlayıcılar buna göre tasarlanır.</a:t>
            </a:r>
            <a:endParaRPr lang="tr-TR"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UYGULAMA</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Örnek 4: time ile İşlemci Yoğun ve G/Ç Yoğun</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4  ·  27</a:t>
            </a:r>
            <a:endParaRPr lang="tr-TR" sz="900" dirty="0"/>
          </a:p>
        </p:txBody>
      </p:sp>
      <p:sp>
        <p:nvSpPr>
          <p:cNvPr id="6" name="Shape 4"/>
          <p:cNvSpPr/>
          <p:nvPr/>
        </p:nvSpPr>
        <p:spPr>
          <a:xfrm>
            <a:off x="548640" y="1508760"/>
            <a:ext cx="5852160" cy="4754880"/>
          </a:xfrm>
          <a:prstGeom prst="roundRect">
            <a:avLst>
              <a:gd name="adj" fmla="val 962"/>
            </a:avLst>
          </a:prstGeom>
          <a:solidFill>
            <a:srgbClr val="212121"/>
          </a:solidFill>
          <a:ln/>
        </p:spPr>
      </p:sp>
      <p:sp>
        <p:nvSpPr>
          <p:cNvPr id="7" name="Text 5"/>
          <p:cNvSpPr txBox="1"/>
          <p:nvPr/>
        </p:nvSpPr>
        <p:spPr>
          <a:xfrm>
            <a:off x="731520" y="1618488"/>
            <a:ext cx="5486400" cy="4535424"/>
          </a:xfrm>
          <a:prstGeom prst="rect">
            <a:avLst/>
          </a:prstGeom>
          <a:noFill/>
          <a:ln/>
        </p:spPr>
        <p:txBody>
          <a:bodyPr wrap="square" lIns="0" tIns="0" rIns="0" bIns="0" rtlCol="0" anchor="t"/>
          <a:lstStyle/>
          <a:p>
            <a:pPr indent="0" marL="0">
              <a:lnSpc>
                <a:spcPct val="105000"/>
              </a:lnSpc>
              <a:buNone/>
            </a:pPr>
            <a:r>
              <a:rPr lang="tr-TR" sz="1300" dirty="0">
                <a:solidFill>
                  <a:srgbClr val="8A9AA0"/>
                </a:solidFill>
                <a:latin typeface="Consolas" pitchFamily="34" charset="0"/>
                <a:ea typeface="Consolas" pitchFamily="34" charset="-122"/>
                <a:cs typeface="Consolas" pitchFamily="34" charset="-120"/>
              </a:rPr>
              <a:t>/* ./burst cpu : tek, uzun bir CPU patlaması */</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for (long i = 1; i &lt;= 400000000L; i++)</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    x += 1.0 / i;</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 </a:t>
            </a:r>
            <a:endParaRPr lang="tr-TR" sz="1300" dirty="0"/>
          </a:p>
          <a:p>
            <a:pPr indent="0" marL="0">
              <a:lnSpc>
                <a:spcPct val="105000"/>
              </a:lnSpc>
              <a:buNone/>
            </a:pPr>
            <a:r>
              <a:rPr lang="tr-TR" sz="1300" dirty="0">
                <a:solidFill>
                  <a:srgbClr val="8A9AA0"/>
                </a:solidFill>
                <a:latin typeface="Consolas" pitchFamily="34" charset="0"/>
                <a:ea typeface="Consolas" pitchFamily="34" charset="-122"/>
                <a:cs typeface="Consolas" pitchFamily="34" charset="-120"/>
              </a:rPr>
              <a:t>/* ./burst io : 1000 x (kısa CPU + G/Ç beklemesi) */</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for (int i = 0; i &lt; 1000; i++) {</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    buf[0] = 'A' + i % 26;     /* CPU    */</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    write(fd, buf, 4096);      /* G/Ç... */</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    fsync(fd);                 /* ...diski bekle */</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a:t>
            </a:r>
            <a:endParaRPr lang="tr-TR" sz="1300" dirty="0"/>
          </a:p>
          <a:p>
            <a:pPr indent="0" marL="0">
              <a:lnSpc>
                <a:spcPct val="105000"/>
              </a:lnSpc>
              <a:buNone/>
            </a:pPr>
            <a:r>
              <a:rPr lang="tr-TR" sz="1300" dirty="0">
                <a:solidFill>
                  <a:srgbClr val="8A9AA0"/>
                </a:solidFill>
                <a:latin typeface="Consolas" pitchFamily="34" charset="0"/>
                <a:ea typeface="Consolas" pitchFamily="34" charset="-122"/>
                <a:cs typeface="Consolas" pitchFamily="34" charset="-120"/>
              </a:rPr>
              <a:t>/* programın tamamı: code/burst.c */</a:t>
            </a:r>
            <a:endParaRPr lang="tr-TR" sz="1300" dirty="0"/>
          </a:p>
        </p:txBody>
      </p:sp>
      <p:sp>
        <p:nvSpPr>
          <p:cNvPr id="8" name="Shape 6"/>
          <p:cNvSpPr/>
          <p:nvPr/>
        </p:nvSpPr>
        <p:spPr>
          <a:xfrm>
            <a:off x="6675120" y="1508760"/>
            <a:ext cx="4983480" cy="2697480"/>
          </a:xfrm>
          <a:prstGeom prst="roundRect">
            <a:avLst>
              <a:gd name="adj" fmla="val 2034"/>
            </a:avLst>
          </a:prstGeom>
          <a:solidFill>
            <a:srgbClr val="F2F2F2"/>
          </a:solidFill>
          <a:ln/>
          <a:effectLst>
            <a:outerShdw sx="100000" sy="100000" kx="0" ky="0" algn="bl" rotWithShape="0" blurRad="101600" dist="25400" dir="5400000">
              <a:srgbClr val="000000">
                <a:alpha val="12000"/>
              </a:srgbClr>
            </a:outerShdw>
          </a:effectLst>
        </p:spPr>
      </p:sp>
      <p:sp>
        <p:nvSpPr>
          <p:cNvPr id="9" name="Text 7"/>
          <p:cNvSpPr txBox="1"/>
          <p:nvPr/>
        </p:nvSpPr>
        <p:spPr>
          <a:xfrm>
            <a:off x="6903720" y="1691640"/>
            <a:ext cx="452628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real ile user + sys</a:t>
            </a:r>
            <a:endParaRPr lang="tr-TR" sz="1500" dirty="0"/>
          </a:p>
        </p:txBody>
      </p:sp>
      <p:sp>
        <p:nvSpPr>
          <p:cNvPr id="10" name="Text 8"/>
          <p:cNvSpPr txBox="1"/>
          <p:nvPr/>
        </p:nvSpPr>
        <p:spPr>
          <a:xfrm>
            <a:off x="6903720" y="2148840"/>
            <a:ext cx="4526280" cy="1920240"/>
          </a:xfrm>
          <a:prstGeom prst="rect">
            <a:avLst/>
          </a:prstGeom>
          <a:noFill/>
          <a:ln/>
        </p:spPr>
        <p:txBody>
          <a:bodyPr wrap="square" lIns="0" tIns="0" rIns="0" bIns="0" rtlCol="0" anchor="t"/>
          <a:lstStyle/>
          <a:p>
            <a:pPr marL="228600" indent="-228600">
              <a:spcAft>
                <a:spcPts val="400"/>
              </a:spcAft>
              <a:buSzPct val="100000"/>
              <a:buChar char="•"/>
            </a:pPr>
            <a:r>
              <a:rPr lang="tr-TR" sz="1300" b="1" dirty="0">
                <a:solidFill>
                  <a:srgbClr val="3A464C"/>
                </a:solidFill>
                <a:latin typeface="Calibri" pitchFamily="34" charset="0"/>
                <a:ea typeface="Calibri" pitchFamily="34" charset="-122"/>
                <a:cs typeface="Calibri" pitchFamily="34" charset="-120"/>
              </a:rPr>
              <a:t>real:</a:t>
            </a:r>
            <a:r>
              <a:rPr lang="tr-TR" sz="1300" dirty="0">
                <a:solidFill>
                  <a:srgbClr val="3A464C"/>
                </a:solidFill>
                <a:latin typeface="Calibri" pitchFamily="34" charset="0"/>
                <a:ea typeface="Calibri" pitchFamily="34" charset="-122"/>
                <a:cs typeface="Calibri" pitchFamily="34" charset="-120"/>
              </a:rPr>
              <a:t> duvar saati süresi.</a:t>
            </a:r>
            <a:endParaRPr lang="tr-TR" sz="1300" dirty="0"/>
          </a:p>
          <a:p>
            <a:pPr marL="228600" indent="-228600">
              <a:spcAft>
                <a:spcPts val="400"/>
              </a:spcAft>
              <a:buSzPct val="100000"/>
              <a:buChar char="•"/>
            </a:pPr>
            <a:r>
              <a:rPr lang="tr-TR" sz="1300" b="1" dirty="0">
                <a:solidFill>
                  <a:srgbClr val="3A464C"/>
                </a:solidFill>
                <a:latin typeface="Calibri" pitchFamily="34" charset="0"/>
                <a:ea typeface="Calibri" pitchFamily="34" charset="-122"/>
                <a:cs typeface="Calibri" pitchFamily="34" charset="-120"/>
              </a:rPr>
              <a:t>user / sys:</a:t>
            </a:r>
            <a:r>
              <a:rPr lang="tr-TR" sz="1300" dirty="0">
                <a:solidFill>
                  <a:srgbClr val="3A464C"/>
                </a:solidFill>
                <a:latin typeface="Calibri" pitchFamily="34" charset="0"/>
                <a:ea typeface="Calibri" pitchFamily="34" charset="-122"/>
                <a:cs typeface="Calibri" pitchFamily="34" charset="-120"/>
              </a:rPr>
              <a:t> kullanıcı / çekirdek modunda harcanan işlemci zamanı.</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İşlemci yoğun: real ≈ user + sys.</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G/Ç yoğun: real ≫ user + sys — sürecin zamanın yaklaşık %73'ünde beklediği, işlemcinin de başkalarına boş kaldığı anlamına gelir.</a:t>
            </a:r>
            <a:endParaRPr lang="tr-TR" sz="1300" dirty="0"/>
          </a:p>
        </p:txBody>
      </p:sp>
      <p:sp>
        <p:nvSpPr>
          <p:cNvPr id="11" name="Shape 9"/>
          <p:cNvSpPr/>
          <p:nvPr/>
        </p:nvSpPr>
        <p:spPr>
          <a:xfrm>
            <a:off x="6675120" y="4434840"/>
            <a:ext cx="4983480" cy="1828800"/>
          </a:xfrm>
          <a:prstGeom prst="roundRect">
            <a:avLst>
              <a:gd name="adj" fmla="val 2500"/>
            </a:avLst>
          </a:prstGeom>
          <a:solidFill>
            <a:srgbClr val="212121"/>
          </a:solidFill>
          <a:ln/>
        </p:spPr>
      </p:sp>
      <p:sp>
        <p:nvSpPr>
          <p:cNvPr id="12" name="Text 10"/>
          <p:cNvSpPr txBox="1"/>
          <p:nvPr/>
        </p:nvSpPr>
        <p:spPr>
          <a:xfrm>
            <a:off x="6858000" y="4544568"/>
            <a:ext cx="4617720" cy="1609344"/>
          </a:xfrm>
          <a:prstGeom prst="rect">
            <a:avLst/>
          </a:prstGeom>
          <a:noFill/>
          <a:ln/>
        </p:spPr>
        <p:txBody>
          <a:bodyPr wrap="square" lIns="0" tIns="0" rIns="0" bIns="0" rtlCol="0" anchor="t"/>
          <a:lstStyle/>
          <a:p>
            <a:pPr indent="0" marL="0">
              <a:lnSpc>
                <a:spcPct val="105000"/>
              </a:lnSpc>
              <a:buNone/>
            </a:pPr>
            <a:r>
              <a:rPr lang="tr-TR" sz="1200" dirty="0">
                <a:solidFill>
                  <a:srgbClr val="02C39A"/>
                </a:solidFill>
                <a:latin typeface="Consolas" pitchFamily="34" charset="0"/>
                <a:ea typeface="Consolas" pitchFamily="34" charset="-122"/>
                <a:cs typeface="Consolas" pitchFamily="34" charset="-120"/>
              </a:rPr>
              <a:t>$ time ./burst cpu</a:t>
            </a:r>
            <a:endParaRPr lang="tr-TR" sz="1200" dirty="0"/>
          </a:p>
          <a:p>
            <a:pPr indent="0" marL="0">
              <a:lnSpc>
                <a:spcPct val="105000"/>
              </a:lnSpc>
              <a:buNone/>
            </a:pPr>
            <a:r>
              <a:rPr lang="tr-TR" sz="1200" dirty="0">
                <a:solidFill>
                  <a:srgbClr val="F2F2F2"/>
                </a:solidFill>
                <a:latin typeface="Consolas" pitchFamily="34" charset="0"/>
                <a:ea typeface="Consolas" pitchFamily="34" charset="-122"/>
                <a:cs typeface="Consolas" pitchFamily="34" charset="-120"/>
              </a:rPr>
              <a:t>real 0m1.266s  user 0m1.197s  sys 0m0.001s</a:t>
            </a:r>
            <a:endParaRPr lang="tr-TR" sz="1200" dirty="0"/>
          </a:p>
          <a:p>
            <a:pPr indent="0" marL="0">
              <a:lnSpc>
                <a:spcPct val="105000"/>
              </a:lnSpc>
              <a:buNone/>
            </a:pPr>
            <a:r>
              <a:rPr lang="tr-TR" sz="1200" dirty="0">
                <a:solidFill>
                  <a:srgbClr val="02C39A"/>
                </a:solidFill>
                <a:latin typeface="Consolas" pitchFamily="34" charset="0"/>
                <a:ea typeface="Consolas" pitchFamily="34" charset="-122"/>
                <a:cs typeface="Consolas" pitchFamily="34" charset="-120"/>
              </a:rPr>
              <a:t>$ time ./burst io</a:t>
            </a:r>
            <a:endParaRPr lang="tr-TR" sz="1200" dirty="0"/>
          </a:p>
          <a:p>
            <a:pPr indent="0" marL="0">
              <a:lnSpc>
                <a:spcPct val="105000"/>
              </a:lnSpc>
              <a:buNone/>
            </a:pPr>
            <a:r>
              <a:rPr lang="tr-TR" sz="1200" dirty="0">
                <a:solidFill>
                  <a:srgbClr val="F2F2F2"/>
                </a:solidFill>
                <a:latin typeface="Consolas" pitchFamily="34" charset="0"/>
                <a:ea typeface="Consolas" pitchFamily="34" charset="-122"/>
                <a:cs typeface="Consolas" pitchFamily="34" charset="-120"/>
              </a:rPr>
              <a:t>real 0m0.384s  user 0m0.000s  sys 0m0.104s</a:t>
            </a:r>
            <a:endParaRPr lang="tr-TR"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ZAMANLAMANIN TEMELLERİ</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İşlemci Zamanlayıcısı ve Hazır Kuyruğu</a:t>
            </a:r>
            <a:endParaRPr lang="tr-TR"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tr-TR" sz="1500" dirty="0">
                <a:solidFill>
                  <a:srgbClr val="3A464C"/>
                </a:solidFill>
                <a:latin typeface="Calibri" pitchFamily="34" charset="0"/>
                <a:ea typeface="Calibri" pitchFamily="34" charset="-122"/>
                <a:cs typeface="Calibri" pitchFamily="34" charset="-120"/>
              </a:rPr>
              <a:t>İşlemci her boşa çıktığında kısa vadeli zamanlayıcı (short-term scheduler) hazır kuyruğundan bir süreç seçer.</a:t>
            </a:r>
            <a:endParaRPr lang="tr-TR"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4  ·  28</a:t>
            </a:r>
            <a:endParaRPr lang="tr-TR" sz="900" dirty="0"/>
          </a:p>
        </p:txBody>
      </p:sp>
      <p:sp>
        <p:nvSpPr>
          <p:cNvPr id="7" name="Shape 5"/>
          <p:cNvSpPr/>
          <p:nvPr/>
        </p:nvSpPr>
        <p:spPr>
          <a:xfrm>
            <a:off x="822960" y="2743200"/>
            <a:ext cx="4206240" cy="914400"/>
          </a:xfrm>
          <a:prstGeom prst="roundRect">
            <a:avLst>
              <a:gd name="adj" fmla="val 5000"/>
            </a:avLst>
          </a:prstGeom>
          <a:solidFill>
            <a:srgbClr val="F2F2F2"/>
          </a:solidFill>
          <a:ln/>
        </p:spPr>
      </p:sp>
      <p:sp>
        <p:nvSpPr>
          <p:cNvPr id="8" name="Shape 6"/>
          <p:cNvSpPr/>
          <p:nvPr/>
        </p:nvSpPr>
        <p:spPr>
          <a:xfrm>
            <a:off x="960120" y="2907792"/>
            <a:ext cx="914400" cy="585216"/>
          </a:xfrm>
          <a:prstGeom prst="roundRect">
            <a:avLst>
              <a:gd name="adj" fmla="val 7813"/>
            </a:avLst>
          </a:prstGeom>
          <a:solidFill>
            <a:srgbClr val="FFFFFF"/>
          </a:solidFill>
          <a:ln/>
        </p:spPr>
      </p:sp>
      <p:sp>
        <p:nvSpPr>
          <p:cNvPr id="9" name="Text 7"/>
          <p:cNvSpPr txBox="1"/>
          <p:nvPr/>
        </p:nvSpPr>
        <p:spPr>
          <a:xfrm>
            <a:off x="960120" y="2907792"/>
            <a:ext cx="914400" cy="585216"/>
          </a:xfrm>
          <a:prstGeom prst="rect">
            <a:avLst/>
          </a:prstGeom>
          <a:noFill/>
          <a:ln/>
        </p:spPr>
        <p:txBody>
          <a:bodyPr wrap="square" lIns="38100" tIns="38100" rIns="38100" bIns="38100" rtlCol="0" anchor="ctr"/>
          <a:lstStyle/>
          <a:p>
            <a:pPr algn="ctr" indent="0" marL="0">
              <a:buNone/>
            </a:pPr>
            <a:r>
              <a:rPr lang="tr-TR" sz="1200" b="1" dirty="0">
                <a:solidFill>
                  <a:srgbClr val="36454F"/>
                </a:solidFill>
                <a:latin typeface="Calibri" pitchFamily="34" charset="0"/>
                <a:ea typeface="Calibri" pitchFamily="34" charset="-122"/>
                <a:cs typeface="Calibri" pitchFamily="34" charset="-120"/>
              </a:rPr>
              <a:t>PCB 7</a:t>
            </a:r>
            <a:endParaRPr lang="tr-TR" sz="1200" dirty="0"/>
          </a:p>
        </p:txBody>
      </p:sp>
      <p:sp>
        <p:nvSpPr>
          <p:cNvPr id="10" name="Shape 8"/>
          <p:cNvSpPr/>
          <p:nvPr/>
        </p:nvSpPr>
        <p:spPr>
          <a:xfrm>
            <a:off x="1965960" y="2907792"/>
            <a:ext cx="914400" cy="585216"/>
          </a:xfrm>
          <a:prstGeom prst="roundRect">
            <a:avLst>
              <a:gd name="adj" fmla="val 7813"/>
            </a:avLst>
          </a:prstGeom>
          <a:solidFill>
            <a:srgbClr val="FFFFFF"/>
          </a:solidFill>
          <a:ln/>
        </p:spPr>
      </p:sp>
      <p:sp>
        <p:nvSpPr>
          <p:cNvPr id="11" name="Text 9"/>
          <p:cNvSpPr txBox="1"/>
          <p:nvPr/>
        </p:nvSpPr>
        <p:spPr>
          <a:xfrm>
            <a:off x="1965960" y="2907792"/>
            <a:ext cx="914400" cy="585216"/>
          </a:xfrm>
          <a:prstGeom prst="rect">
            <a:avLst/>
          </a:prstGeom>
          <a:noFill/>
          <a:ln/>
        </p:spPr>
        <p:txBody>
          <a:bodyPr wrap="square" lIns="38100" tIns="38100" rIns="38100" bIns="38100" rtlCol="0" anchor="ctr"/>
          <a:lstStyle/>
          <a:p>
            <a:pPr algn="ctr" indent="0" marL="0">
              <a:buNone/>
            </a:pPr>
            <a:r>
              <a:rPr lang="tr-TR" sz="1200" b="1" dirty="0">
                <a:solidFill>
                  <a:srgbClr val="36454F"/>
                </a:solidFill>
                <a:latin typeface="Calibri" pitchFamily="34" charset="0"/>
                <a:ea typeface="Calibri" pitchFamily="34" charset="-122"/>
                <a:cs typeface="Calibri" pitchFamily="34" charset="-120"/>
              </a:rPr>
              <a:t>PCB 3</a:t>
            </a:r>
            <a:endParaRPr lang="tr-TR" sz="1200" dirty="0"/>
          </a:p>
        </p:txBody>
      </p:sp>
      <p:sp>
        <p:nvSpPr>
          <p:cNvPr id="12" name="Shape 10"/>
          <p:cNvSpPr/>
          <p:nvPr/>
        </p:nvSpPr>
        <p:spPr>
          <a:xfrm>
            <a:off x="2971800" y="2907792"/>
            <a:ext cx="914400" cy="585216"/>
          </a:xfrm>
          <a:prstGeom prst="roundRect">
            <a:avLst>
              <a:gd name="adj" fmla="val 7813"/>
            </a:avLst>
          </a:prstGeom>
          <a:solidFill>
            <a:srgbClr val="FFFFFF"/>
          </a:solidFill>
          <a:ln/>
        </p:spPr>
      </p:sp>
      <p:sp>
        <p:nvSpPr>
          <p:cNvPr id="13" name="Text 11"/>
          <p:cNvSpPr txBox="1"/>
          <p:nvPr/>
        </p:nvSpPr>
        <p:spPr>
          <a:xfrm>
            <a:off x="2971800" y="2907792"/>
            <a:ext cx="914400" cy="585216"/>
          </a:xfrm>
          <a:prstGeom prst="rect">
            <a:avLst/>
          </a:prstGeom>
          <a:noFill/>
          <a:ln/>
        </p:spPr>
        <p:txBody>
          <a:bodyPr wrap="square" lIns="38100" tIns="38100" rIns="38100" bIns="38100" rtlCol="0" anchor="ctr"/>
          <a:lstStyle/>
          <a:p>
            <a:pPr algn="ctr" indent="0" marL="0">
              <a:buNone/>
            </a:pPr>
            <a:r>
              <a:rPr lang="tr-TR" sz="1200" b="1" dirty="0">
                <a:solidFill>
                  <a:srgbClr val="36454F"/>
                </a:solidFill>
                <a:latin typeface="Calibri" pitchFamily="34" charset="0"/>
                <a:ea typeface="Calibri" pitchFamily="34" charset="-122"/>
                <a:cs typeface="Calibri" pitchFamily="34" charset="-120"/>
              </a:rPr>
              <a:t>PCB 9</a:t>
            </a:r>
            <a:endParaRPr lang="tr-TR" sz="1200" dirty="0"/>
          </a:p>
        </p:txBody>
      </p:sp>
      <p:sp>
        <p:nvSpPr>
          <p:cNvPr id="14" name="Shape 12"/>
          <p:cNvSpPr/>
          <p:nvPr/>
        </p:nvSpPr>
        <p:spPr>
          <a:xfrm>
            <a:off x="3977640" y="2907792"/>
            <a:ext cx="914400" cy="585216"/>
          </a:xfrm>
          <a:prstGeom prst="roundRect">
            <a:avLst>
              <a:gd name="adj" fmla="val 7813"/>
            </a:avLst>
          </a:prstGeom>
          <a:solidFill>
            <a:srgbClr val="FFFFFF"/>
          </a:solidFill>
          <a:ln/>
        </p:spPr>
      </p:sp>
      <p:sp>
        <p:nvSpPr>
          <p:cNvPr id="15" name="Text 13"/>
          <p:cNvSpPr txBox="1"/>
          <p:nvPr/>
        </p:nvSpPr>
        <p:spPr>
          <a:xfrm>
            <a:off x="3977640" y="2907792"/>
            <a:ext cx="914400" cy="585216"/>
          </a:xfrm>
          <a:prstGeom prst="rect">
            <a:avLst/>
          </a:prstGeom>
          <a:noFill/>
          <a:ln/>
        </p:spPr>
        <p:txBody>
          <a:bodyPr wrap="square" lIns="38100" tIns="38100" rIns="38100" bIns="38100" rtlCol="0" anchor="ctr"/>
          <a:lstStyle/>
          <a:p>
            <a:pPr algn="ctr" indent="0" marL="0">
              <a:buNone/>
            </a:pPr>
            <a:r>
              <a:rPr lang="tr-TR" sz="1200" b="1" dirty="0">
                <a:solidFill>
                  <a:srgbClr val="36454F"/>
                </a:solidFill>
                <a:latin typeface="Calibri" pitchFamily="34" charset="0"/>
                <a:ea typeface="Calibri" pitchFamily="34" charset="-122"/>
                <a:cs typeface="Calibri" pitchFamily="34" charset="-120"/>
              </a:rPr>
              <a:t>PCB 2</a:t>
            </a:r>
            <a:endParaRPr lang="tr-TR" sz="1200" dirty="0"/>
          </a:p>
        </p:txBody>
      </p:sp>
      <p:sp>
        <p:nvSpPr>
          <p:cNvPr id="16" name="Text 14"/>
          <p:cNvSpPr txBox="1"/>
          <p:nvPr/>
        </p:nvSpPr>
        <p:spPr>
          <a:xfrm>
            <a:off x="822960" y="2423160"/>
            <a:ext cx="2286000" cy="274320"/>
          </a:xfrm>
          <a:prstGeom prst="rect">
            <a:avLst/>
          </a:prstGeom>
          <a:noFill/>
          <a:ln/>
        </p:spPr>
        <p:txBody>
          <a:bodyPr wrap="square" lIns="0" tIns="0" rIns="0" bIns="0" rtlCol="0" anchor="t"/>
          <a:lstStyle/>
          <a:p>
            <a:pPr indent="0" marL="0">
              <a:buNone/>
            </a:pPr>
            <a:r>
              <a:rPr lang="tr-TR" sz="1200" b="1" dirty="0">
                <a:solidFill>
                  <a:srgbClr val="028090"/>
                </a:solidFill>
                <a:latin typeface="Calibri" pitchFamily="34" charset="0"/>
                <a:ea typeface="Calibri" pitchFamily="34" charset="-122"/>
                <a:cs typeface="Calibri" pitchFamily="34" charset="-120"/>
              </a:rPr>
              <a:t>hazır kuyruğu</a:t>
            </a:r>
            <a:endParaRPr lang="tr-TR" sz="1200" dirty="0"/>
          </a:p>
        </p:txBody>
      </p:sp>
      <p:sp>
        <p:nvSpPr>
          <p:cNvPr id="17" name="Shape 15"/>
          <p:cNvSpPr/>
          <p:nvPr/>
        </p:nvSpPr>
        <p:spPr>
          <a:xfrm>
            <a:off x="5074920" y="3200400"/>
            <a:ext cx="640080" cy="91"/>
          </a:xfrm>
          <a:prstGeom prst="line">
            <a:avLst/>
          </a:prstGeom>
          <a:noFill/>
          <a:ln w="25400">
            <a:solidFill>
              <a:srgbClr val="028090"/>
            </a:solidFill>
            <a:prstDash val="solid"/>
            <a:tailEnd type="triangle"/>
          </a:ln>
        </p:spPr>
      </p:sp>
      <p:sp>
        <p:nvSpPr>
          <p:cNvPr id="18" name="Shape 16"/>
          <p:cNvSpPr/>
          <p:nvPr/>
        </p:nvSpPr>
        <p:spPr>
          <a:xfrm>
            <a:off x="5760720" y="2743200"/>
            <a:ext cx="1371600" cy="914400"/>
          </a:xfrm>
          <a:prstGeom prst="roundRect">
            <a:avLst>
              <a:gd name="adj" fmla="val 5000"/>
            </a:avLst>
          </a:prstGeom>
          <a:solidFill>
            <a:srgbClr val="02C39A"/>
          </a:solidFill>
          <a:ln/>
        </p:spPr>
      </p:sp>
      <p:sp>
        <p:nvSpPr>
          <p:cNvPr id="19" name="Text 17"/>
          <p:cNvSpPr txBox="1"/>
          <p:nvPr/>
        </p:nvSpPr>
        <p:spPr>
          <a:xfrm>
            <a:off x="5760720" y="2743200"/>
            <a:ext cx="1371600" cy="914400"/>
          </a:xfrm>
          <a:prstGeom prst="rect">
            <a:avLst/>
          </a:prstGeom>
          <a:noFill/>
          <a:ln/>
        </p:spPr>
        <p:txBody>
          <a:bodyPr wrap="square" lIns="38100" tIns="38100" rIns="38100" bIns="38100" rtlCol="0" anchor="ctr"/>
          <a:lstStyle/>
          <a:p>
            <a:pPr algn="ctr" indent="0" marL="0">
              <a:buNone/>
            </a:pPr>
            <a:r>
              <a:rPr lang="tr-TR" sz="1600" b="1" dirty="0">
                <a:solidFill>
                  <a:srgbClr val="212121"/>
                </a:solidFill>
                <a:latin typeface="Calibri" pitchFamily="34" charset="0"/>
                <a:ea typeface="Calibri" pitchFamily="34" charset="-122"/>
                <a:cs typeface="Calibri" pitchFamily="34" charset="-120"/>
              </a:rPr>
              <a:t>CPU</a:t>
            </a:r>
            <a:endParaRPr lang="tr-TR" sz="1600" dirty="0"/>
          </a:p>
        </p:txBody>
      </p:sp>
      <p:sp>
        <p:nvSpPr>
          <p:cNvPr id="20" name="Text 18"/>
          <p:cNvSpPr txBox="1"/>
          <p:nvPr/>
        </p:nvSpPr>
        <p:spPr>
          <a:xfrm>
            <a:off x="4983480" y="3246120"/>
            <a:ext cx="868680" cy="274320"/>
          </a:xfrm>
          <a:prstGeom prst="rect">
            <a:avLst/>
          </a:prstGeom>
          <a:noFill/>
          <a:ln/>
        </p:spPr>
        <p:txBody>
          <a:bodyPr wrap="square" lIns="0" tIns="0" rIns="0" bIns="0" rtlCol="0" anchor="t"/>
          <a:lstStyle/>
          <a:p>
            <a:pPr algn="ctr" indent="0" marL="0">
              <a:buNone/>
            </a:pPr>
            <a:r>
              <a:rPr lang="tr-TR" sz="1000" i="1" dirty="0">
                <a:solidFill>
                  <a:srgbClr val="028090"/>
                </a:solidFill>
                <a:latin typeface="Calibri" pitchFamily="34" charset="0"/>
                <a:ea typeface="Calibri" pitchFamily="34" charset="-122"/>
                <a:cs typeface="Calibri" pitchFamily="34" charset="-120"/>
              </a:rPr>
              <a:t>dağıt</a:t>
            </a:r>
            <a:endParaRPr lang="tr-TR" sz="1000" dirty="0"/>
          </a:p>
        </p:txBody>
      </p:sp>
      <p:sp>
        <p:nvSpPr>
          <p:cNvPr id="21" name="Shape 19"/>
          <p:cNvSpPr/>
          <p:nvPr/>
        </p:nvSpPr>
        <p:spPr>
          <a:xfrm>
            <a:off x="822960" y="4754880"/>
            <a:ext cx="4206240" cy="914400"/>
          </a:xfrm>
          <a:prstGeom prst="roundRect">
            <a:avLst>
              <a:gd name="adj" fmla="val 5000"/>
            </a:avLst>
          </a:prstGeom>
          <a:solidFill>
            <a:srgbClr val="F2F2F2"/>
          </a:solidFill>
          <a:ln/>
        </p:spPr>
      </p:sp>
      <p:sp>
        <p:nvSpPr>
          <p:cNvPr id="22" name="Shape 20"/>
          <p:cNvSpPr/>
          <p:nvPr/>
        </p:nvSpPr>
        <p:spPr>
          <a:xfrm>
            <a:off x="960120" y="4919472"/>
            <a:ext cx="914400" cy="585216"/>
          </a:xfrm>
          <a:prstGeom prst="roundRect">
            <a:avLst>
              <a:gd name="adj" fmla="val 7813"/>
            </a:avLst>
          </a:prstGeom>
          <a:solidFill>
            <a:srgbClr val="FFFFFF"/>
          </a:solidFill>
          <a:ln/>
        </p:spPr>
      </p:sp>
      <p:sp>
        <p:nvSpPr>
          <p:cNvPr id="23" name="Text 21"/>
          <p:cNvSpPr txBox="1"/>
          <p:nvPr/>
        </p:nvSpPr>
        <p:spPr>
          <a:xfrm>
            <a:off x="960120" y="4919472"/>
            <a:ext cx="914400" cy="585216"/>
          </a:xfrm>
          <a:prstGeom prst="rect">
            <a:avLst/>
          </a:prstGeom>
          <a:noFill/>
          <a:ln/>
        </p:spPr>
        <p:txBody>
          <a:bodyPr wrap="square" lIns="38100" tIns="38100" rIns="38100" bIns="38100" rtlCol="0" anchor="ctr"/>
          <a:lstStyle/>
          <a:p>
            <a:pPr algn="ctr" indent="0" marL="0">
              <a:buNone/>
            </a:pPr>
            <a:r>
              <a:rPr lang="tr-TR" sz="1200" b="1" dirty="0">
                <a:solidFill>
                  <a:srgbClr val="36454F"/>
                </a:solidFill>
                <a:latin typeface="Calibri" pitchFamily="34" charset="0"/>
                <a:ea typeface="Calibri" pitchFamily="34" charset="-122"/>
                <a:cs typeface="Calibri" pitchFamily="34" charset="-120"/>
              </a:rPr>
              <a:t>PCB 5</a:t>
            </a:r>
            <a:endParaRPr lang="tr-TR" sz="1200" dirty="0"/>
          </a:p>
        </p:txBody>
      </p:sp>
      <p:sp>
        <p:nvSpPr>
          <p:cNvPr id="24" name="Shape 22"/>
          <p:cNvSpPr/>
          <p:nvPr/>
        </p:nvSpPr>
        <p:spPr>
          <a:xfrm>
            <a:off x="1965960" y="4919472"/>
            <a:ext cx="914400" cy="585216"/>
          </a:xfrm>
          <a:prstGeom prst="roundRect">
            <a:avLst>
              <a:gd name="adj" fmla="val 7813"/>
            </a:avLst>
          </a:prstGeom>
          <a:solidFill>
            <a:srgbClr val="FFFFFF"/>
          </a:solidFill>
          <a:ln/>
        </p:spPr>
      </p:sp>
      <p:sp>
        <p:nvSpPr>
          <p:cNvPr id="25" name="Text 23"/>
          <p:cNvSpPr txBox="1"/>
          <p:nvPr/>
        </p:nvSpPr>
        <p:spPr>
          <a:xfrm>
            <a:off x="1965960" y="4919472"/>
            <a:ext cx="914400" cy="585216"/>
          </a:xfrm>
          <a:prstGeom prst="rect">
            <a:avLst/>
          </a:prstGeom>
          <a:noFill/>
          <a:ln/>
        </p:spPr>
        <p:txBody>
          <a:bodyPr wrap="square" lIns="38100" tIns="38100" rIns="38100" bIns="38100" rtlCol="0" anchor="ctr"/>
          <a:lstStyle/>
          <a:p>
            <a:pPr algn="ctr" indent="0" marL="0">
              <a:buNone/>
            </a:pPr>
            <a:r>
              <a:rPr lang="tr-TR" sz="1200" b="1" dirty="0">
                <a:solidFill>
                  <a:srgbClr val="36454F"/>
                </a:solidFill>
                <a:latin typeface="Calibri" pitchFamily="34" charset="0"/>
                <a:ea typeface="Calibri" pitchFamily="34" charset="-122"/>
                <a:cs typeface="Calibri" pitchFamily="34" charset="-120"/>
              </a:rPr>
              <a:t>PCB 1</a:t>
            </a:r>
            <a:endParaRPr lang="tr-TR" sz="1200" dirty="0"/>
          </a:p>
        </p:txBody>
      </p:sp>
      <p:sp>
        <p:nvSpPr>
          <p:cNvPr id="26" name="Text 24"/>
          <p:cNvSpPr txBox="1"/>
          <p:nvPr/>
        </p:nvSpPr>
        <p:spPr>
          <a:xfrm>
            <a:off x="822960" y="5715000"/>
            <a:ext cx="2560320" cy="274320"/>
          </a:xfrm>
          <a:prstGeom prst="rect">
            <a:avLst/>
          </a:prstGeom>
          <a:noFill/>
          <a:ln/>
        </p:spPr>
        <p:txBody>
          <a:bodyPr wrap="square" lIns="0" tIns="0" rIns="0" bIns="0" rtlCol="0" anchor="t"/>
          <a:lstStyle/>
          <a:p>
            <a:pPr indent="0" marL="0">
              <a:buNone/>
            </a:pPr>
            <a:r>
              <a:rPr lang="tr-TR" sz="1200" b="1" dirty="0">
                <a:solidFill>
                  <a:srgbClr val="50808E"/>
                </a:solidFill>
                <a:latin typeface="Calibri" pitchFamily="34" charset="0"/>
                <a:ea typeface="Calibri" pitchFamily="34" charset="-122"/>
                <a:cs typeface="Calibri" pitchFamily="34" charset="-120"/>
              </a:rPr>
              <a:t>G/Ç bekleme kuyruğu</a:t>
            </a:r>
            <a:endParaRPr lang="tr-TR" sz="1200" dirty="0"/>
          </a:p>
        </p:txBody>
      </p:sp>
      <p:sp>
        <p:nvSpPr>
          <p:cNvPr id="27" name="Shape 25"/>
          <p:cNvSpPr/>
          <p:nvPr/>
        </p:nvSpPr>
        <p:spPr>
          <a:xfrm>
            <a:off x="6446520" y="3703320"/>
            <a:ext cx="91" cy="1508760"/>
          </a:xfrm>
          <a:prstGeom prst="line">
            <a:avLst/>
          </a:prstGeom>
          <a:noFill/>
          <a:ln w="19050">
            <a:solidFill>
              <a:srgbClr val="50808E"/>
            </a:solidFill>
            <a:prstDash val="solid"/>
            <a:tailEnd type="triangle"/>
          </a:ln>
        </p:spPr>
      </p:sp>
      <p:sp>
        <p:nvSpPr>
          <p:cNvPr id="28" name="Shape 26"/>
          <p:cNvSpPr/>
          <p:nvPr/>
        </p:nvSpPr>
        <p:spPr>
          <a:xfrm flipH="1">
            <a:off x="5074920" y="5212080"/>
            <a:ext cx="1325880" cy="91"/>
          </a:xfrm>
          <a:prstGeom prst="line">
            <a:avLst/>
          </a:prstGeom>
          <a:noFill/>
          <a:ln w="19050">
            <a:solidFill>
              <a:srgbClr val="50808E"/>
            </a:solidFill>
            <a:prstDash val="solid"/>
            <a:tailEnd type="triangle"/>
          </a:ln>
        </p:spPr>
      </p:sp>
      <p:sp>
        <p:nvSpPr>
          <p:cNvPr id="29" name="Text 27"/>
          <p:cNvSpPr txBox="1"/>
          <p:nvPr/>
        </p:nvSpPr>
        <p:spPr>
          <a:xfrm>
            <a:off x="5120640" y="4846320"/>
            <a:ext cx="1280160" cy="274320"/>
          </a:xfrm>
          <a:prstGeom prst="rect">
            <a:avLst/>
          </a:prstGeom>
          <a:noFill/>
          <a:ln/>
        </p:spPr>
        <p:txBody>
          <a:bodyPr wrap="square" lIns="0" tIns="0" rIns="0" bIns="0" rtlCol="0" anchor="t"/>
          <a:lstStyle/>
          <a:p>
            <a:pPr algn="ctr" indent="0" marL="0">
              <a:buNone/>
            </a:pPr>
            <a:r>
              <a:rPr lang="tr-TR" sz="1100" i="1" dirty="0">
                <a:solidFill>
                  <a:srgbClr val="50808E"/>
                </a:solidFill>
                <a:latin typeface="Calibri" pitchFamily="34" charset="0"/>
                <a:ea typeface="Calibri" pitchFamily="34" charset="-122"/>
                <a:cs typeface="Calibri" pitchFamily="34" charset="-120"/>
              </a:rPr>
              <a:t>G/Ç isteği</a:t>
            </a:r>
            <a:endParaRPr lang="tr-TR" sz="1100" dirty="0"/>
          </a:p>
        </p:txBody>
      </p:sp>
      <p:sp>
        <p:nvSpPr>
          <p:cNvPr id="30" name="Shape 28"/>
          <p:cNvSpPr/>
          <p:nvPr/>
        </p:nvSpPr>
        <p:spPr>
          <a:xfrm>
            <a:off x="594360" y="5212080"/>
            <a:ext cx="228600" cy="91"/>
          </a:xfrm>
          <a:prstGeom prst="line">
            <a:avLst/>
          </a:prstGeom>
          <a:noFill/>
          <a:ln w="19050">
            <a:solidFill>
              <a:srgbClr val="50808E"/>
            </a:solidFill>
            <a:prstDash val="solid"/>
          </a:ln>
        </p:spPr>
      </p:sp>
      <p:sp>
        <p:nvSpPr>
          <p:cNvPr id="31" name="Shape 29"/>
          <p:cNvSpPr/>
          <p:nvPr/>
        </p:nvSpPr>
        <p:spPr>
          <a:xfrm>
            <a:off x="594360" y="3200400"/>
            <a:ext cx="91" cy="2011680"/>
          </a:xfrm>
          <a:prstGeom prst="line">
            <a:avLst/>
          </a:prstGeom>
          <a:noFill/>
          <a:ln w="19050">
            <a:solidFill>
              <a:srgbClr val="50808E"/>
            </a:solidFill>
            <a:prstDash val="solid"/>
          </a:ln>
        </p:spPr>
      </p:sp>
      <p:sp>
        <p:nvSpPr>
          <p:cNvPr id="32" name="Shape 30"/>
          <p:cNvSpPr/>
          <p:nvPr/>
        </p:nvSpPr>
        <p:spPr>
          <a:xfrm>
            <a:off x="594360" y="3200400"/>
            <a:ext cx="210312" cy="91"/>
          </a:xfrm>
          <a:prstGeom prst="line">
            <a:avLst/>
          </a:prstGeom>
          <a:noFill/>
          <a:ln w="19050">
            <a:solidFill>
              <a:srgbClr val="50808E"/>
            </a:solidFill>
            <a:prstDash val="solid"/>
            <a:tailEnd type="triangle"/>
          </a:ln>
        </p:spPr>
      </p:sp>
      <p:sp>
        <p:nvSpPr>
          <p:cNvPr id="33" name="Text 31"/>
          <p:cNvSpPr txBox="1"/>
          <p:nvPr/>
        </p:nvSpPr>
        <p:spPr>
          <a:xfrm>
            <a:off x="868680" y="4069080"/>
            <a:ext cx="1097280" cy="274320"/>
          </a:xfrm>
          <a:prstGeom prst="rect">
            <a:avLst/>
          </a:prstGeom>
          <a:noFill/>
          <a:ln/>
        </p:spPr>
        <p:txBody>
          <a:bodyPr wrap="square" lIns="0" tIns="0" rIns="0" bIns="0" rtlCol="0" anchor="t"/>
          <a:lstStyle/>
          <a:p>
            <a:pPr indent="0" marL="0">
              <a:buNone/>
            </a:pPr>
            <a:r>
              <a:rPr lang="tr-TR" sz="1100" i="1" dirty="0">
                <a:solidFill>
                  <a:srgbClr val="50808E"/>
                </a:solidFill>
                <a:latin typeface="Calibri" pitchFamily="34" charset="0"/>
                <a:ea typeface="Calibri" pitchFamily="34" charset="-122"/>
                <a:cs typeface="Calibri" pitchFamily="34" charset="-120"/>
              </a:rPr>
              <a:t>G/Ç bitti</a:t>
            </a:r>
            <a:endParaRPr lang="tr-TR" sz="1100" dirty="0"/>
          </a:p>
        </p:txBody>
      </p:sp>
      <p:sp>
        <p:nvSpPr>
          <p:cNvPr id="34" name="Shape 32"/>
          <p:cNvSpPr/>
          <p:nvPr/>
        </p:nvSpPr>
        <p:spPr>
          <a:xfrm flipV="1">
            <a:off x="7132320" y="2286000"/>
            <a:ext cx="91" cy="685800"/>
          </a:xfrm>
          <a:prstGeom prst="line">
            <a:avLst/>
          </a:prstGeom>
          <a:noFill/>
          <a:ln w="19050">
            <a:solidFill>
              <a:srgbClr val="50808E"/>
            </a:solidFill>
            <a:prstDash val="solid"/>
            <a:tailEnd type="triangle"/>
          </a:ln>
        </p:spPr>
      </p:sp>
      <p:sp>
        <p:nvSpPr>
          <p:cNvPr id="35" name="Shape 33"/>
          <p:cNvSpPr/>
          <p:nvPr/>
        </p:nvSpPr>
        <p:spPr>
          <a:xfrm flipH="1">
            <a:off x="2926080" y="2286000"/>
            <a:ext cx="4206240" cy="91"/>
          </a:xfrm>
          <a:prstGeom prst="line">
            <a:avLst/>
          </a:prstGeom>
          <a:noFill/>
          <a:ln w="19050">
            <a:solidFill>
              <a:srgbClr val="50808E"/>
            </a:solidFill>
            <a:prstDash val="solid"/>
          </a:ln>
        </p:spPr>
      </p:sp>
      <p:sp>
        <p:nvSpPr>
          <p:cNvPr id="36" name="Shape 34"/>
          <p:cNvSpPr/>
          <p:nvPr/>
        </p:nvSpPr>
        <p:spPr>
          <a:xfrm>
            <a:off x="2926080" y="2286000"/>
            <a:ext cx="91" cy="128016"/>
          </a:xfrm>
          <a:prstGeom prst="line">
            <a:avLst/>
          </a:prstGeom>
          <a:noFill/>
          <a:ln w="19050">
            <a:solidFill>
              <a:srgbClr val="50808E"/>
            </a:solidFill>
            <a:prstDash val="solid"/>
            <a:tailEnd type="triangle"/>
          </a:ln>
        </p:spPr>
      </p:sp>
      <p:sp>
        <p:nvSpPr>
          <p:cNvPr id="37" name="Text 35"/>
          <p:cNvSpPr txBox="1"/>
          <p:nvPr/>
        </p:nvSpPr>
        <p:spPr>
          <a:xfrm>
            <a:off x="4480560" y="1993392"/>
            <a:ext cx="2560320" cy="274320"/>
          </a:xfrm>
          <a:prstGeom prst="rect">
            <a:avLst/>
          </a:prstGeom>
          <a:noFill/>
          <a:ln/>
        </p:spPr>
        <p:txBody>
          <a:bodyPr wrap="square" lIns="0" tIns="0" rIns="0" bIns="0" rtlCol="0" anchor="t"/>
          <a:lstStyle/>
          <a:p>
            <a:pPr algn="r" indent="0" marL="0">
              <a:buNone/>
            </a:pPr>
            <a:r>
              <a:rPr lang="tr-TR" sz="1100" i="1" dirty="0">
                <a:solidFill>
                  <a:srgbClr val="50808E"/>
                </a:solidFill>
                <a:latin typeface="Calibri" pitchFamily="34" charset="0"/>
                <a:ea typeface="Calibri" pitchFamily="34" charset="-122"/>
                <a:cs typeface="Calibri" pitchFamily="34" charset="-120"/>
              </a:rPr>
              <a:t>zaman dilimi doldu</a:t>
            </a:r>
            <a:endParaRPr lang="tr-TR" sz="1100" dirty="0"/>
          </a:p>
        </p:txBody>
      </p:sp>
      <p:sp>
        <p:nvSpPr>
          <p:cNvPr id="38" name="Shape 36"/>
          <p:cNvSpPr/>
          <p:nvPr/>
        </p:nvSpPr>
        <p:spPr>
          <a:xfrm>
            <a:off x="7498080" y="2148840"/>
            <a:ext cx="4160520" cy="4114800"/>
          </a:xfrm>
          <a:prstGeom prst="roundRect">
            <a:avLst>
              <a:gd name="adj" fmla="val 1333"/>
            </a:avLst>
          </a:prstGeom>
          <a:solidFill>
            <a:srgbClr val="F2F2F2"/>
          </a:solidFill>
          <a:ln/>
          <a:effectLst>
            <a:outerShdw sx="100000" sy="100000" kx="0" ky="0" algn="bl" rotWithShape="0" blurRad="101600" dist="25400" dir="5400000">
              <a:srgbClr val="000000">
                <a:alpha val="12000"/>
              </a:srgbClr>
            </a:outerShdw>
          </a:effectLst>
        </p:spPr>
      </p:sp>
      <p:sp>
        <p:nvSpPr>
          <p:cNvPr id="39" name="Text 37"/>
          <p:cNvSpPr txBox="1"/>
          <p:nvPr/>
        </p:nvSpPr>
        <p:spPr>
          <a:xfrm>
            <a:off x="7726680" y="2331720"/>
            <a:ext cx="370332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Önemli noktalar</a:t>
            </a:r>
            <a:endParaRPr lang="tr-TR" sz="1500" dirty="0"/>
          </a:p>
        </p:txBody>
      </p:sp>
      <p:sp>
        <p:nvSpPr>
          <p:cNvPr id="40" name="Text 38"/>
          <p:cNvSpPr txBox="1"/>
          <p:nvPr/>
        </p:nvSpPr>
        <p:spPr>
          <a:xfrm>
            <a:off x="7726680" y="2788920"/>
            <a:ext cx="3703320" cy="3337560"/>
          </a:xfrm>
          <a:prstGeom prst="rect">
            <a:avLst/>
          </a:prstGeom>
          <a:noFill/>
          <a:ln/>
        </p:spPr>
        <p:txBody>
          <a:bodyPr wrap="square" lIns="0" tIns="0" rIns="0" bIns="0" rtlCol="0" anchor="t"/>
          <a:lstStyle/>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Hazır kuyruğu (ready queue), şu anda çalışabilecek süreçlerin PCB'lerini tutar.</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Mutlaka FIFO değildir: bir öncelik kuyruğu, bir ağaç ya da bir liste olabilir. Sırayı belirlemek zamanlama algoritmasının işidir (5. hafta).</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Kısa vadeli zamanlayıcı çok sık (birkaç ms'de bir) çalışır; bu yüzden hızlı olmalıdır.</a:t>
            </a:r>
            <a:endParaRPr lang="tr-TR"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ZAMANLAMANIN TEMELLERİ</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Zamanlayıcı Ne Zaman Karar Vermek Zorunda?</a:t>
            </a:r>
            <a:endParaRPr lang="tr-TR"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tr-TR" sz="1500" dirty="0">
                <a:solidFill>
                  <a:srgbClr val="3A464C"/>
                </a:solidFill>
                <a:latin typeface="Calibri" pitchFamily="34" charset="0"/>
                <a:ea typeface="Calibri" pitchFamily="34" charset="-122"/>
                <a:cs typeface="Calibri" pitchFamily="34" charset="-120"/>
              </a:rPr>
              <a:t>Süreç durum diyagramındaki dört durum bir zamanlama kararını tetikleyebilir.</a:t>
            </a:r>
            <a:endParaRPr lang="tr-TR"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4  ·  29</a:t>
            </a:r>
            <a:endParaRPr lang="tr-TR" sz="900" dirty="0"/>
          </a:p>
        </p:txBody>
      </p:sp>
      <p:sp>
        <p:nvSpPr>
          <p:cNvPr id="7" name="Shape 5"/>
          <p:cNvSpPr/>
          <p:nvPr/>
        </p:nvSpPr>
        <p:spPr>
          <a:xfrm>
            <a:off x="548640" y="2240280"/>
            <a:ext cx="1600200" cy="685800"/>
          </a:xfrm>
          <a:prstGeom prst="roundRect">
            <a:avLst>
              <a:gd name="adj" fmla="val 6667"/>
            </a:avLst>
          </a:prstGeom>
          <a:solidFill>
            <a:srgbClr val="F2F2F2"/>
          </a:solidFill>
          <a:ln/>
        </p:spPr>
      </p:sp>
      <p:sp>
        <p:nvSpPr>
          <p:cNvPr id="8" name="Text 6"/>
          <p:cNvSpPr txBox="1"/>
          <p:nvPr/>
        </p:nvSpPr>
        <p:spPr>
          <a:xfrm>
            <a:off x="548640" y="2240280"/>
            <a:ext cx="1600200" cy="685800"/>
          </a:xfrm>
          <a:prstGeom prst="rect">
            <a:avLst/>
          </a:prstGeom>
          <a:noFill/>
          <a:ln/>
        </p:spPr>
        <p:txBody>
          <a:bodyPr wrap="square" lIns="38100" tIns="38100" rIns="38100" bIns="38100" rtlCol="0" anchor="ctr"/>
          <a:lstStyle/>
          <a:p>
            <a:pPr algn="ctr" indent="0" marL="0">
              <a:buNone/>
            </a:pPr>
            <a:r>
              <a:rPr lang="tr-TR" sz="1400" b="1" dirty="0">
                <a:solidFill>
                  <a:srgbClr val="36454F"/>
                </a:solidFill>
                <a:latin typeface="Calibri" pitchFamily="34" charset="0"/>
                <a:ea typeface="Calibri" pitchFamily="34" charset="-122"/>
                <a:cs typeface="Calibri" pitchFamily="34" charset="-120"/>
              </a:rPr>
              <a:t>yeni</a:t>
            </a:r>
            <a:endParaRPr lang="tr-TR" sz="1400" dirty="0"/>
          </a:p>
        </p:txBody>
      </p:sp>
      <p:sp>
        <p:nvSpPr>
          <p:cNvPr id="9" name="Shape 7"/>
          <p:cNvSpPr/>
          <p:nvPr/>
        </p:nvSpPr>
        <p:spPr>
          <a:xfrm>
            <a:off x="1737360" y="3703320"/>
            <a:ext cx="1600200" cy="685800"/>
          </a:xfrm>
          <a:prstGeom prst="roundRect">
            <a:avLst>
              <a:gd name="adj" fmla="val 6667"/>
            </a:avLst>
          </a:prstGeom>
          <a:solidFill>
            <a:srgbClr val="F2F2F2"/>
          </a:solidFill>
          <a:ln/>
        </p:spPr>
      </p:sp>
      <p:sp>
        <p:nvSpPr>
          <p:cNvPr id="10" name="Text 8"/>
          <p:cNvSpPr txBox="1"/>
          <p:nvPr/>
        </p:nvSpPr>
        <p:spPr>
          <a:xfrm>
            <a:off x="1737360" y="3703320"/>
            <a:ext cx="1600200" cy="685800"/>
          </a:xfrm>
          <a:prstGeom prst="rect">
            <a:avLst/>
          </a:prstGeom>
          <a:noFill/>
          <a:ln/>
        </p:spPr>
        <p:txBody>
          <a:bodyPr wrap="square" lIns="38100" tIns="38100" rIns="38100" bIns="38100" rtlCol="0" anchor="ctr"/>
          <a:lstStyle/>
          <a:p>
            <a:pPr algn="ctr" indent="0" marL="0">
              <a:buNone/>
            </a:pPr>
            <a:r>
              <a:rPr lang="tr-TR" sz="1400" b="1" dirty="0">
                <a:solidFill>
                  <a:srgbClr val="36454F"/>
                </a:solidFill>
                <a:latin typeface="Calibri" pitchFamily="34" charset="0"/>
                <a:ea typeface="Calibri" pitchFamily="34" charset="-122"/>
                <a:cs typeface="Calibri" pitchFamily="34" charset="-120"/>
              </a:rPr>
              <a:t>hazır</a:t>
            </a:r>
            <a:endParaRPr lang="tr-TR" sz="1400" dirty="0"/>
          </a:p>
        </p:txBody>
      </p:sp>
      <p:sp>
        <p:nvSpPr>
          <p:cNvPr id="11" name="Shape 9"/>
          <p:cNvSpPr/>
          <p:nvPr/>
        </p:nvSpPr>
        <p:spPr>
          <a:xfrm>
            <a:off x="4434840" y="3703320"/>
            <a:ext cx="1600200" cy="685800"/>
          </a:xfrm>
          <a:prstGeom prst="roundRect">
            <a:avLst>
              <a:gd name="adj" fmla="val 6667"/>
            </a:avLst>
          </a:prstGeom>
          <a:solidFill>
            <a:srgbClr val="02C39A"/>
          </a:solidFill>
          <a:ln/>
        </p:spPr>
      </p:sp>
      <p:sp>
        <p:nvSpPr>
          <p:cNvPr id="12" name="Text 10"/>
          <p:cNvSpPr txBox="1"/>
          <p:nvPr/>
        </p:nvSpPr>
        <p:spPr>
          <a:xfrm>
            <a:off x="4434840" y="3703320"/>
            <a:ext cx="1600200" cy="685800"/>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çalışıyor</a:t>
            </a:r>
            <a:endParaRPr lang="tr-TR" sz="1400" dirty="0"/>
          </a:p>
        </p:txBody>
      </p:sp>
      <p:sp>
        <p:nvSpPr>
          <p:cNvPr id="13" name="Shape 11"/>
          <p:cNvSpPr/>
          <p:nvPr/>
        </p:nvSpPr>
        <p:spPr>
          <a:xfrm>
            <a:off x="3108960" y="5257800"/>
            <a:ext cx="1600200" cy="685800"/>
          </a:xfrm>
          <a:prstGeom prst="roundRect">
            <a:avLst>
              <a:gd name="adj" fmla="val 6667"/>
            </a:avLst>
          </a:prstGeom>
          <a:solidFill>
            <a:srgbClr val="F2F2F2"/>
          </a:solidFill>
          <a:ln/>
        </p:spPr>
      </p:sp>
      <p:sp>
        <p:nvSpPr>
          <p:cNvPr id="14" name="Text 12"/>
          <p:cNvSpPr txBox="1"/>
          <p:nvPr/>
        </p:nvSpPr>
        <p:spPr>
          <a:xfrm>
            <a:off x="3108960" y="5257800"/>
            <a:ext cx="1600200" cy="685800"/>
          </a:xfrm>
          <a:prstGeom prst="rect">
            <a:avLst/>
          </a:prstGeom>
          <a:noFill/>
          <a:ln/>
        </p:spPr>
        <p:txBody>
          <a:bodyPr wrap="square" lIns="38100" tIns="38100" rIns="38100" bIns="38100" rtlCol="0" anchor="ctr"/>
          <a:lstStyle/>
          <a:p>
            <a:pPr algn="ctr" indent="0" marL="0">
              <a:buNone/>
            </a:pPr>
            <a:r>
              <a:rPr lang="tr-TR" sz="1400" b="1" dirty="0">
                <a:solidFill>
                  <a:srgbClr val="36454F"/>
                </a:solidFill>
                <a:latin typeface="Calibri" pitchFamily="34" charset="0"/>
                <a:ea typeface="Calibri" pitchFamily="34" charset="-122"/>
                <a:cs typeface="Calibri" pitchFamily="34" charset="-120"/>
              </a:rPr>
              <a:t>bekliyor</a:t>
            </a:r>
            <a:endParaRPr lang="tr-TR" sz="1400" dirty="0"/>
          </a:p>
        </p:txBody>
      </p:sp>
      <p:sp>
        <p:nvSpPr>
          <p:cNvPr id="15" name="Shape 13"/>
          <p:cNvSpPr/>
          <p:nvPr/>
        </p:nvSpPr>
        <p:spPr>
          <a:xfrm>
            <a:off x="4434840" y="2240280"/>
            <a:ext cx="1600200" cy="685800"/>
          </a:xfrm>
          <a:prstGeom prst="roundRect">
            <a:avLst>
              <a:gd name="adj" fmla="val 6667"/>
            </a:avLst>
          </a:prstGeom>
          <a:solidFill>
            <a:srgbClr val="F2F2F2"/>
          </a:solidFill>
          <a:ln/>
        </p:spPr>
      </p:sp>
      <p:sp>
        <p:nvSpPr>
          <p:cNvPr id="16" name="Text 14"/>
          <p:cNvSpPr txBox="1"/>
          <p:nvPr/>
        </p:nvSpPr>
        <p:spPr>
          <a:xfrm>
            <a:off x="4434840" y="2240280"/>
            <a:ext cx="1600200" cy="685800"/>
          </a:xfrm>
          <a:prstGeom prst="rect">
            <a:avLst/>
          </a:prstGeom>
          <a:noFill/>
          <a:ln/>
        </p:spPr>
        <p:txBody>
          <a:bodyPr wrap="square" lIns="38100" tIns="38100" rIns="38100" bIns="38100" rtlCol="0" anchor="ctr"/>
          <a:lstStyle/>
          <a:p>
            <a:pPr algn="ctr" indent="0" marL="0">
              <a:buNone/>
            </a:pPr>
            <a:r>
              <a:rPr lang="tr-TR" sz="1400" b="1" dirty="0">
                <a:solidFill>
                  <a:srgbClr val="36454F"/>
                </a:solidFill>
                <a:latin typeface="Calibri" pitchFamily="34" charset="0"/>
                <a:ea typeface="Calibri" pitchFamily="34" charset="-122"/>
                <a:cs typeface="Calibri" pitchFamily="34" charset="-120"/>
              </a:rPr>
              <a:t>sonlandı</a:t>
            </a:r>
            <a:endParaRPr lang="tr-TR" sz="1400" dirty="0"/>
          </a:p>
        </p:txBody>
      </p:sp>
      <p:sp>
        <p:nvSpPr>
          <p:cNvPr id="17" name="Shape 15"/>
          <p:cNvSpPr/>
          <p:nvPr/>
        </p:nvSpPr>
        <p:spPr>
          <a:xfrm>
            <a:off x="1371600" y="2953512"/>
            <a:ext cx="640080" cy="722376"/>
          </a:xfrm>
          <a:prstGeom prst="line">
            <a:avLst/>
          </a:prstGeom>
          <a:noFill/>
          <a:ln w="19050">
            <a:solidFill>
              <a:srgbClr val="50808E"/>
            </a:solidFill>
            <a:prstDash val="solid"/>
            <a:tailEnd type="triangle"/>
          </a:ln>
        </p:spPr>
      </p:sp>
      <p:sp>
        <p:nvSpPr>
          <p:cNvPr id="18" name="Shape 16"/>
          <p:cNvSpPr/>
          <p:nvPr/>
        </p:nvSpPr>
        <p:spPr>
          <a:xfrm>
            <a:off x="3364992" y="3886200"/>
            <a:ext cx="1042416" cy="91"/>
          </a:xfrm>
          <a:prstGeom prst="line">
            <a:avLst/>
          </a:prstGeom>
          <a:noFill/>
          <a:ln w="19050">
            <a:solidFill>
              <a:srgbClr val="50808E"/>
            </a:solidFill>
            <a:prstDash val="solid"/>
            <a:tailEnd type="triangle"/>
          </a:ln>
        </p:spPr>
      </p:sp>
      <p:sp>
        <p:nvSpPr>
          <p:cNvPr id="19" name="Text 17"/>
          <p:cNvSpPr txBox="1"/>
          <p:nvPr/>
        </p:nvSpPr>
        <p:spPr>
          <a:xfrm>
            <a:off x="3337560" y="3566160"/>
            <a:ext cx="1097280" cy="274320"/>
          </a:xfrm>
          <a:prstGeom prst="rect">
            <a:avLst/>
          </a:prstGeom>
          <a:noFill/>
          <a:ln/>
        </p:spPr>
        <p:txBody>
          <a:bodyPr wrap="square" lIns="0" tIns="0" rIns="0" bIns="0" rtlCol="0" anchor="t"/>
          <a:lstStyle/>
          <a:p>
            <a:pPr algn="ctr" indent="0" marL="0">
              <a:buNone/>
            </a:pPr>
            <a:r>
              <a:rPr lang="tr-TR" sz="1000" i="1" dirty="0">
                <a:solidFill>
                  <a:srgbClr val="50808E"/>
                </a:solidFill>
                <a:latin typeface="Calibri" pitchFamily="34" charset="0"/>
                <a:ea typeface="Calibri" pitchFamily="34" charset="-122"/>
                <a:cs typeface="Calibri" pitchFamily="34" charset="-120"/>
              </a:rPr>
              <a:t>dağıtım</a:t>
            </a:r>
            <a:endParaRPr lang="tr-TR" sz="1000" dirty="0"/>
          </a:p>
        </p:txBody>
      </p:sp>
      <p:sp>
        <p:nvSpPr>
          <p:cNvPr id="20" name="Shape 18"/>
          <p:cNvSpPr/>
          <p:nvPr/>
        </p:nvSpPr>
        <p:spPr>
          <a:xfrm flipH="1">
            <a:off x="3364992" y="4206240"/>
            <a:ext cx="1042416" cy="91"/>
          </a:xfrm>
          <a:prstGeom prst="line">
            <a:avLst/>
          </a:prstGeom>
          <a:noFill/>
          <a:ln w="25400">
            <a:solidFill>
              <a:srgbClr val="B5453A"/>
            </a:solidFill>
            <a:prstDash val="solid"/>
            <a:tailEnd type="triangle"/>
          </a:ln>
        </p:spPr>
      </p:sp>
      <p:sp>
        <p:nvSpPr>
          <p:cNvPr id="21" name="Shape 19"/>
          <p:cNvSpPr/>
          <p:nvPr/>
        </p:nvSpPr>
        <p:spPr>
          <a:xfrm>
            <a:off x="3703320" y="4343400"/>
            <a:ext cx="384048" cy="384048"/>
          </a:xfrm>
          <a:prstGeom prst="ellipse">
            <a:avLst/>
          </a:prstGeom>
          <a:solidFill>
            <a:srgbClr val="B5453A"/>
          </a:solidFill>
          <a:ln/>
        </p:spPr>
      </p:sp>
      <p:sp>
        <p:nvSpPr>
          <p:cNvPr id="22" name="Text 20"/>
          <p:cNvSpPr txBox="1"/>
          <p:nvPr/>
        </p:nvSpPr>
        <p:spPr>
          <a:xfrm>
            <a:off x="3703320" y="4343400"/>
            <a:ext cx="384048" cy="384048"/>
          </a:xfrm>
          <a:prstGeom prst="rect">
            <a:avLst/>
          </a:prstGeom>
          <a:noFill/>
          <a:ln/>
        </p:spPr>
        <p:txBody>
          <a:bodyPr wrap="square" lIns="0" tIns="0" rIns="0" bIns="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2</a:t>
            </a:r>
            <a:endParaRPr lang="tr-TR" sz="1300" dirty="0"/>
          </a:p>
        </p:txBody>
      </p:sp>
      <p:sp>
        <p:nvSpPr>
          <p:cNvPr id="23" name="Shape 21"/>
          <p:cNvSpPr/>
          <p:nvPr/>
        </p:nvSpPr>
        <p:spPr>
          <a:xfrm flipH="1">
            <a:off x="4389120" y="4416552"/>
            <a:ext cx="457200" cy="813816"/>
          </a:xfrm>
          <a:prstGeom prst="line">
            <a:avLst/>
          </a:prstGeom>
          <a:noFill/>
          <a:ln w="25400">
            <a:solidFill>
              <a:srgbClr val="B5453A"/>
            </a:solidFill>
            <a:prstDash val="solid"/>
            <a:tailEnd type="triangle"/>
          </a:ln>
        </p:spPr>
      </p:sp>
      <p:sp>
        <p:nvSpPr>
          <p:cNvPr id="24" name="Shape 22"/>
          <p:cNvSpPr/>
          <p:nvPr/>
        </p:nvSpPr>
        <p:spPr>
          <a:xfrm>
            <a:off x="4892040" y="4754880"/>
            <a:ext cx="384048" cy="384048"/>
          </a:xfrm>
          <a:prstGeom prst="ellipse">
            <a:avLst/>
          </a:prstGeom>
          <a:solidFill>
            <a:srgbClr val="B5453A"/>
          </a:solidFill>
          <a:ln/>
        </p:spPr>
      </p:sp>
      <p:sp>
        <p:nvSpPr>
          <p:cNvPr id="25" name="Text 23"/>
          <p:cNvSpPr txBox="1"/>
          <p:nvPr/>
        </p:nvSpPr>
        <p:spPr>
          <a:xfrm>
            <a:off x="4892040" y="4754880"/>
            <a:ext cx="384048" cy="384048"/>
          </a:xfrm>
          <a:prstGeom prst="rect">
            <a:avLst/>
          </a:prstGeom>
          <a:noFill/>
          <a:ln/>
        </p:spPr>
        <p:txBody>
          <a:bodyPr wrap="square" lIns="0" tIns="0" rIns="0" bIns="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1</a:t>
            </a:r>
            <a:endParaRPr lang="tr-TR" sz="1300" dirty="0"/>
          </a:p>
        </p:txBody>
      </p:sp>
      <p:sp>
        <p:nvSpPr>
          <p:cNvPr id="26" name="Shape 24"/>
          <p:cNvSpPr/>
          <p:nvPr/>
        </p:nvSpPr>
        <p:spPr>
          <a:xfrm flipH="1" flipV="1">
            <a:off x="2743200" y="4416552"/>
            <a:ext cx="548640" cy="813816"/>
          </a:xfrm>
          <a:prstGeom prst="line">
            <a:avLst/>
          </a:prstGeom>
          <a:noFill/>
          <a:ln w="25400">
            <a:solidFill>
              <a:srgbClr val="B5453A"/>
            </a:solidFill>
            <a:prstDash val="solid"/>
            <a:tailEnd type="triangle"/>
          </a:ln>
        </p:spPr>
      </p:sp>
      <p:sp>
        <p:nvSpPr>
          <p:cNvPr id="27" name="Shape 25"/>
          <p:cNvSpPr/>
          <p:nvPr/>
        </p:nvSpPr>
        <p:spPr>
          <a:xfrm>
            <a:off x="2423160" y="4754880"/>
            <a:ext cx="384048" cy="384048"/>
          </a:xfrm>
          <a:prstGeom prst="ellipse">
            <a:avLst/>
          </a:prstGeom>
          <a:solidFill>
            <a:srgbClr val="B5453A"/>
          </a:solidFill>
          <a:ln/>
        </p:spPr>
      </p:sp>
      <p:sp>
        <p:nvSpPr>
          <p:cNvPr id="28" name="Text 26"/>
          <p:cNvSpPr txBox="1"/>
          <p:nvPr/>
        </p:nvSpPr>
        <p:spPr>
          <a:xfrm>
            <a:off x="2423160" y="4754880"/>
            <a:ext cx="384048" cy="384048"/>
          </a:xfrm>
          <a:prstGeom prst="rect">
            <a:avLst/>
          </a:prstGeom>
          <a:noFill/>
          <a:ln/>
        </p:spPr>
        <p:txBody>
          <a:bodyPr wrap="square" lIns="0" tIns="0" rIns="0" bIns="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3</a:t>
            </a:r>
            <a:endParaRPr lang="tr-TR" sz="1300" dirty="0"/>
          </a:p>
        </p:txBody>
      </p:sp>
      <p:sp>
        <p:nvSpPr>
          <p:cNvPr id="29" name="Shape 27"/>
          <p:cNvSpPr/>
          <p:nvPr/>
        </p:nvSpPr>
        <p:spPr>
          <a:xfrm flipV="1">
            <a:off x="5230368" y="2953512"/>
            <a:ext cx="91" cy="722376"/>
          </a:xfrm>
          <a:prstGeom prst="line">
            <a:avLst/>
          </a:prstGeom>
          <a:noFill/>
          <a:ln w="25400">
            <a:solidFill>
              <a:srgbClr val="B5453A"/>
            </a:solidFill>
            <a:prstDash val="solid"/>
            <a:tailEnd type="triangle"/>
          </a:ln>
        </p:spPr>
      </p:sp>
      <p:sp>
        <p:nvSpPr>
          <p:cNvPr id="30" name="Shape 28"/>
          <p:cNvSpPr/>
          <p:nvPr/>
        </p:nvSpPr>
        <p:spPr>
          <a:xfrm>
            <a:off x="5394960" y="3108960"/>
            <a:ext cx="384048" cy="384048"/>
          </a:xfrm>
          <a:prstGeom prst="ellipse">
            <a:avLst/>
          </a:prstGeom>
          <a:solidFill>
            <a:srgbClr val="B5453A"/>
          </a:solidFill>
          <a:ln/>
        </p:spPr>
      </p:sp>
      <p:sp>
        <p:nvSpPr>
          <p:cNvPr id="31" name="Text 29"/>
          <p:cNvSpPr txBox="1"/>
          <p:nvPr/>
        </p:nvSpPr>
        <p:spPr>
          <a:xfrm>
            <a:off x="5394960" y="3108960"/>
            <a:ext cx="384048" cy="384048"/>
          </a:xfrm>
          <a:prstGeom prst="rect">
            <a:avLst/>
          </a:prstGeom>
          <a:noFill/>
          <a:ln/>
        </p:spPr>
        <p:txBody>
          <a:bodyPr wrap="square" lIns="0" tIns="0" rIns="0" bIns="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4</a:t>
            </a:r>
            <a:endParaRPr lang="tr-TR" sz="1300" dirty="0"/>
          </a:p>
        </p:txBody>
      </p:sp>
      <p:sp>
        <p:nvSpPr>
          <p:cNvPr id="32" name="Shape 30"/>
          <p:cNvSpPr/>
          <p:nvPr/>
        </p:nvSpPr>
        <p:spPr>
          <a:xfrm>
            <a:off x="6583680" y="2148840"/>
            <a:ext cx="5074920" cy="4114800"/>
          </a:xfrm>
          <a:prstGeom prst="roundRect">
            <a:avLst>
              <a:gd name="adj" fmla="val 1333"/>
            </a:avLst>
          </a:prstGeom>
          <a:solidFill>
            <a:srgbClr val="F2F2F2"/>
          </a:solidFill>
          <a:ln/>
          <a:effectLst>
            <a:outerShdw sx="100000" sy="100000" kx="0" ky="0" algn="bl" rotWithShape="0" blurRad="101600" dist="25400" dir="5400000">
              <a:srgbClr val="000000">
                <a:alpha val="12000"/>
              </a:srgbClr>
            </a:outerShdw>
          </a:effectLst>
        </p:spPr>
      </p:sp>
      <p:sp>
        <p:nvSpPr>
          <p:cNvPr id="33" name="Text 31"/>
          <p:cNvSpPr txBox="1"/>
          <p:nvPr/>
        </p:nvSpPr>
        <p:spPr>
          <a:xfrm>
            <a:off x="6812280" y="2331720"/>
            <a:ext cx="461772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Dört durum</a:t>
            </a:r>
            <a:endParaRPr lang="tr-TR" sz="1500" dirty="0"/>
          </a:p>
        </p:txBody>
      </p:sp>
      <p:sp>
        <p:nvSpPr>
          <p:cNvPr id="34" name="Text 32"/>
          <p:cNvSpPr txBox="1"/>
          <p:nvPr/>
        </p:nvSpPr>
        <p:spPr>
          <a:xfrm>
            <a:off x="6812280" y="2788920"/>
            <a:ext cx="4617720" cy="3337560"/>
          </a:xfrm>
          <a:prstGeom prst="rect">
            <a:avLst/>
          </a:prstGeom>
          <a:noFill/>
          <a:ln/>
        </p:spPr>
        <p:txBody>
          <a:bodyPr wrap="square" lIns="0" tIns="0" rIns="0" bIns="0" rtlCol="0" anchor="t"/>
          <a:lstStyle/>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1. çalışıyor → bekliyor:</a:t>
            </a:r>
            <a:r>
              <a:rPr lang="tr-TR" sz="1350" dirty="0">
                <a:solidFill>
                  <a:srgbClr val="3A464C"/>
                </a:solidFill>
                <a:latin typeface="Calibri" pitchFamily="34" charset="0"/>
                <a:ea typeface="Calibri" pitchFamily="34" charset="-122"/>
                <a:cs typeface="Calibri" pitchFamily="34" charset="-120"/>
              </a:rPr>
              <a:t> G/Ç isteği ya da bir çocuk için wait().</a:t>
            </a:r>
            <a:endParaRPr lang="tr-TR" sz="1350" dirty="0"/>
          </a:p>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2. çalışıyor → hazır:</a:t>
            </a:r>
            <a:r>
              <a:rPr lang="tr-TR" sz="1350" dirty="0">
                <a:solidFill>
                  <a:srgbClr val="3A464C"/>
                </a:solidFill>
                <a:latin typeface="Calibri" pitchFamily="34" charset="0"/>
                <a:ea typeface="Calibri" pitchFamily="34" charset="-122"/>
                <a:cs typeface="Calibri" pitchFamily="34" charset="-120"/>
              </a:rPr>
              <a:t> bir kesme; örneğin zamanlayıcı saati zaman diliminin bittiğini bildirir.</a:t>
            </a:r>
            <a:endParaRPr lang="tr-TR" sz="1350" dirty="0"/>
          </a:p>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3. bekliyor → hazır:</a:t>
            </a:r>
            <a:r>
              <a:rPr lang="tr-TR" sz="1350" dirty="0">
                <a:solidFill>
                  <a:srgbClr val="3A464C"/>
                </a:solidFill>
                <a:latin typeface="Calibri" pitchFamily="34" charset="0"/>
                <a:ea typeface="Calibri" pitchFamily="34" charset="-122"/>
                <a:cs typeface="Calibri" pitchFamily="34" charset="-120"/>
              </a:rPr>
              <a:t> G/Ç tamamlandı.</a:t>
            </a:r>
            <a:endParaRPr lang="tr-TR" sz="1350" dirty="0"/>
          </a:p>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4. çalışıyor → sonlandı:</a:t>
            </a:r>
            <a:r>
              <a:rPr lang="tr-TR" sz="1350" dirty="0">
                <a:solidFill>
                  <a:srgbClr val="3A464C"/>
                </a:solidFill>
                <a:latin typeface="Calibri" pitchFamily="34" charset="0"/>
                <a:ea typeface="Calibri" pitchFamily="34" charset="-122"/>
                <a:cs typeface="Calibri" pitchFamily="34" charset="-120"/>
              </a:rPr>
              <a:t> süreç çıkar.</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1 ve 4'te işlemci boşalmıştır: yeni bir süreç seçilMELİDİR. 2 ve 3'te işletim sistemi geçiş yapmayı SEÇEBİLİR.</a:t>
            </a:r>
            <a:endParaRPr lang="tr-TR" sz="13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ZAMANLAMANIN TEMELLERİ</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Kesintisiz ve Kesintili Zamanlama</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4  ·  30</a:t>
            </a:r>
            <a:endParaRPr lang="tr-TR" sz="900" dirty="0"/>
          </a:p>
        </p:txBody>
      </p:sp>
      <p:sp>
        <p:nvSpPr>
          <p:cNvPr id="6" name="Shape 4"/>
          <p:cNvSpPr/>
          <p:nvPr/>
        </p:nvSpPr>
        <p:spPr>
          <a:xfrm>
            <a:off x="548640" y="1508760"/>
            <a:ext cx="5440680" cy="3749040"/>
          </a:xfrm>
          <a:prstGeom prst="roundRect">
            <a:avLst>
              <a:gd name="adj" fmla="val 1463"/>
            </a:avLst>
          </a:prstGeom>
          <a:solidFill>
            <a:srgbClr val="F2F2F2"/>
          </a:solidFill>
          <a:ln/>
          <a:effectLst>
            <a:outerShdw sx="100000" sy="100000" kx="0" ky="0" algn="bl" rotWithShape="0" blurRad="101600" dist="25400" dir="5400000">
              <a:srgbClr val="000000">
                <a:alpha val="12000"/>
              </a:srgbClr>
            </a:outerShdw>
          </a:effectLst>
        </p:spPr>
      </p:sp>
      <p:sp>
        <p:nvSpPr>
          <p:cNvPr id="7" name="Text 5"/>
          <p:cNvSpPr txBox="1"/>
          <p:nvPr/>
        </p:nvSpPr>
        <p:spPr>
          <a:xfrm>
            <a:off x="777240" y="1691640"/>
            <a:ext cx="498348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Kesintisiz (non-preemptive, iş birlikçi)</a:t>
            </a:r>
            <a:endParaRPr lang="tr-TR" sz="1500" dirty="0"/>
          </a:p>
        </p:txBody>
      </p:sp>
      <p:sp>
        <p:nvSpPr>
          <p:cNvPr id="8" name="Text 6"/>
          <p:cNvSpPr txBox="1"/>
          <p:nvPr/>
        </p:nvSpPr>
        <p:spPr>
          <a:xfrm>
            <a:off x="777240" y="2148840"/>
            <a:ext cx="4983480" cy="2971800"/>
          </a:xfrm>
          <a:prstGeom prst="rect">
            <a:avLst/>
          </a:prstGeom>
          <a:noFill/>
          <a:ln/>
        </p:spPr>
        <p:txBody>
          <a:bodyPr wrap="square" lIns="0" tIns="0" rIns="0" bIns="0" rtlCol="0" anchor="t"/>
          <a:lstStyle/>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Zamanlama yalnızca 1. ve 4. durumlarda yapılır.</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Bir süreç işlemciyi aldığında, bloke olana ya da sonlanana kadar bırakmaz.</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Basittir, ama tek bir uzun süreç herkesi bekletebilir.</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Windows 3.x, klasik Mac OS (OS X öncesi).</a:t>
            </a:r>
            <a:endParaRPr lang="tr-TR" sz="1400" dirty="0"/>
          </a:p>
        </p:txBody>
      </p:sp>
      <p:sp>
        <p:nvSpPr>
          <p:cNvPr id="9" name="Shape 7"/>
          <p:cNvSpPr/>
          <p:nvPr/>
        </p:nvSpPr>
        <p:spPr>
          <a:xfrm>
            <a:off x="6217920" y="1508760"/>
            <a:ext cx="5440680" cy="3749040"/>
          </a:xfrm>
          <a:prstGeom prst="roundRect">
            <a:avLst>
              <a:gd name="adj" fmla="val 1463"/>
            </a:avLst>
          </a:prstGeom>
          <a:solidFill>
            <a:srgbClr val="F2F2F2"/>
          </a:solidFill>
          <a:ln/>
          <a:effectLst>
            <a:outerShdw sx="100000" sy="100000" kx="0" ky="0" algn="bl" rotWithShape="0" blurRad="101600" dist="25400" dir="5400000">
              <a:srgbClr val="000000">
                <a:alpha val="12000"/>
              </a:srgbClr>
            </a:outerShdw>
          </a:effectLst>
        </p:spPr>
      </p:sp>
      <p:sp>
        <p:nvSpPr>
          <p:cNvPr id="10" name="Text 8"/>
          <p:cNvSpPr txBox="1"/>
          <p:nvPr/>
        </p:nvSpPr>
        <p:spPr>
          <a:xfrm>
            <a:off x="6446520" y="1691640"/>
            <a:ext cx="498348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Kesintili (preemptive)</a:t>
            </a:r>
            <a:endParaRPr lang="tr-TR" sz="1500" dirty="0"/>
          </a:p>
        </p:txBody>
      </p:sp>
      <p:sp>
        <p:nvSpPr>
          <p:cNvPr id="11" name="Text 9"/>
          <p:cNvSpPr txBox="1"/>
          <p:nvPr/>
        </p:nvSpPr>
        <p:spPr>
          <a:xfrm>
            <a:off x="6446520" y="2148840"/>
            <a:ext cx="4983480" cy="2971800"/>
          </a:xfrm>
          <a:prstGeom prst="rect">
            <a:avLst/>
          </a:prstGeom>
          <a:noFill/>
          <a:ln/>
        </p:spPr>
        <p:txBody>
          <a:bodyPr wrap="square" lIns="0" tIns="0" rIns="0" bIns="0" rtlCol="0" anchor="t"/>
          <a:lstStyle/>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Zamanlama 2. ve 3. durumlarda da yapılır.</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İşletim sistemi işlemciyi (zamanlayıcı kesmesiyle) geri alabilir.</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Daha iyi yanıt verebilirlik; kontrolden çıkan bir program sistemi donduramaz.</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Tüm modern işletim sistemleri: Windows, macOS, Linux, Android, iOS.</a:t>
            </a:r>
            <a:endParaRPr lang="tr-TR" sz="1400" dirty="0"/>
          </a:p>
        </p:txBody>
      </p:sp>
      <p:sp>
        <p:nvSpPr>
          <p:cNvPr id="12" name="Shape 10"/>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sp>
      <p:sp>
        <p:nvSpPr>
          <p:cNvPr id="13" name="Text 11"/>
          <p:cNvSpPr txBox="1"/>
          <p:nvPr/>
        </p:nvSpPr>
        <p:spPr>
          <a:xfrm>
            <a:off x="777240" y="5486400"/>
            <a:ext cx="10652760" cy="777240"/>
          </a:xfrm>
          <a:prstGeom prst="rect">
            <a:avLst/>
          </a:prstGeom>
          <a:noFill/>
          <a:ln/>
        </p:spPr>
        <p:txBody>
          <a:bodyPr wrap="square" lIns="0" tIns="0" rIns="0" bIns="0" rtlCol="0" anchor="ctr"/>
          <a:lstStyle/>
          <a:p>
            <a:pPr indent="0" marL="0">
              <a:buNone/>
            </a:pPr>
            <a:r>
              <a:rPr lang="tr-TR" sz="1400" dirty="0">
                <a:solidFill>
                  <a:srgbClr val="F2F2F2"/>
                </a:solidFill>
                <a:latin typeface="Calibri" pitchFamily="34" charset="0"/>
                <a:ea typeface="Calibri" pitchFamily="34" charset="-122"/>
                <a:cs typeface="Calibri" pitchFamily="34" charset="-120"/>
              </a:rPr>
              <a:t>Kesintinin bedeli: bir iş parçacığı ortak veriyi güncellemenin tam ortasında kesilebilir → yarış durumları. Bu, 5. haftanın ikinci yarısının konusudur.</a:t>
            </a:r>
            <a:endParaRPr lang="tr-TR"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ZAMANLAMANIN TEMELLERİ</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Dağıtıcı ve Dağıtım Gecikmesi</a:t>
            </a:r>
            <a:endParaRPr lang="tr-TR"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tr-TR" sz="1500" dirty="0">
                <a:solidFill>
                  <a:srgbClr val="3A464C"/>
                </a:solidFill>
                <a:latin typeface="Calibri" pitchFamily="34" charset="0"/>
                <a:ea typeface="Calibri" pitchFamily="34" charset="-122"/>
                <a:cs typeface="Calibri" pitchFamily="34" charset="-120"/>
              </a:rPr>
              <a:t>Zamanlayıcı sırada KİMİN çalışacağına karar verir; dağıtıcı (dispatcher) işlemciyi o sürece fiilen verir.</a:t>
            </a:r>
            <a:endParaRPr lang="tr-TR"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4  ·  31</a:t>
            </a:r>
            <a:endParaRPr lang="tr-TR" sz="900" dirty="0"/>
          </a:p>
        </p:txBody>
      </p:sp>
      <p:sp>
        <p:nvSpPr>
          <p:cNvPr id="7" name="Shape 5"/>
          <p:cNvSpPr/>
          <p:nvPr/>
        </p:nvSpPr>
        <p:spPr>
          <a:xfrm>
            <a:off x="548640" y="2148840"/>
            <a:ext cx="4937760" cy="2697480"/>
          </a:xfrm>
          <a:prstGeom prst="roundRect">
            <a:avLst>
              <a:gd name="adj" fmla="val 2034"/>
            </a:avLst>
          </a:prstGeom>
          <a:solidFill>
            <a:srgbClr val="F2F2F2"/>
          </a:solidFill>
          <a:ln/>
          <a:effectLst>
            <a:outerShdw sx="100000" sy="100000" kx="0" ky="0" algn="bl" rotWithShape="0" blurRad="101600" dist="25400" dir="5400000">
              <a:srgbClr val="000000">
                <a:alpha val="12000"/>
              </a:srgbClr>
            </a:outerShdw>
          </a:effectLst>
        </p:spPr>
      </p:sp>
      <p:sp>
        <p:nvSpPr>
          <p:cNvPr id="8" name="Text 6"/>
          <p:cNvSpPr txBox="1"/>
          <p:nvPr/>
        </p:nvSpPr>
        <p:spPr>
          <a:xfrm>
            <a:off x="777240" y="2331720"/>
            <a:ext cx="448056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Dağıtıcının üç görevi</a:t>
            </a:r>
            <a:endParaRPr lang="tr-TR" sz="1500" dirty="0"/>
          </a:p>
        </p:txBody>
      </p:sp>
      <p:sp>
        <p:nvSpPr>
          <p:cNvPr id="9" name="Text 7"/>
          <p:cNvSpPr txBox="1"/>
          <p:nvPr/>
        </p:nvSpPr>
        <p:spPr>
          <a:xfrm>
            <a:off x="777240" y="2788920"/>
            <a:ext cx="4480560" cy="1920240"/>
          </a:xfrm>
          <a:prstGeom prst="rect">
            <a:avLst/>
          </a:prstGeom>
          <a:noFill/>
          <a:ln/>
        </p:spPr>
        <p:txBody>
          <a:bodyPr wrap="square" lIns="0" tIns="0" rIns="0" bIns="0" rtlCol="0" anchor="t"/>
          <a:lstStyle/>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Bağlam değişimi: eski sürecin durumunu PCB'sine kaydet, yenisininkini yükle.</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Kullanıcı moduna geç.</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Yeni programda doğru yere (kaydedilmiş PC'sine) atla.</a:t>
            </a:r>
            <a:endParaRPr lang="tr-TR" sz="1400" dirty="0"/>
          </a:p>
        </p:txBody>
      </p:sp>
      <p:sp>
        <p:nvSpPr>
          <p:cNvPr id="10" name="Shape 8"/>
          <p:cNvSpPr/>
          <p:nvPr/>
        </p:nvSpPr>
        <p:spPr>
          <a:xfrm>
            <a:off x="5852160" y="2331720"/>
            <a:ext cx="2057400" cy="685800"/>
          </a:xfrm>
          <a:prstGeom prst="rect">
            <a:avLst/>
          </a:prstGeom>
          <a:solidFill>
            <a:srgbClr val="02C39A"/>
          </a:solidFill>
          <a:ln w="19050">
            <a:solidFill>
              <a:srgbClr val="FFFFFF"/>
            </a:solidFill>
            <a:prstDash val="solid"/>
          </a:ln>
        </p:spPr>
      </p:sp>
      <p:sp>
        <p:nvSpPr>
          <p:cNvPr id="11" name="Text 9"/>
          <p:cNvSpPr txBox="1"/>
          <p:nvPr/>
        </p:nvSpPr>
        <p:spPr>
          <a:xfrm>
            <a:off x="5852160" y="2331720"/>
            <a:ext cx="2057400" cy="685800"/>
          </a:xfrm>
          <a:prstGeom prst="rect">
            <a:avLst/>
          </a:prstGeom>
          <a:noFill/>
          <a:ln/>
        </p:spPr>
        <p:txBody>
          <a:bodyPr wrap="square" lIns="0" tIns="0" rIns="0" bIns="0" rtlCol="0" anchor="ctr"/>
          <a:lstStyle/>
          <a:p>
            <a:pPr algn="ctr" indent="0" marL="0">
              <a:buNone/>
            </a:pPr>
            <a:r>
              <a:rPr lang="tr-TR" sz="1400" b="1" dirty="0">
                <a:solidFill>
                  <a:srgbClr val="36454F"/>
                </a:solidFill>
                <a:latin typeface="Calibri" pitchFamily="34" charset="0"/>
                <a:ea typeface="Calibri" pitchFamily="34" charset="-122"/>
                <a:cs typeface="Calibri" pitchFamily="34" charset="-120"/>
              </a:rPr>
              <a:t>P0 çalışıyor</a:t>
            </a:r>
            <a:endParaRPr lang="tr-TR" sz="1400" dirty="0"/>
          </a:p>
        </p:txBody>
      </p:sp>
      <p:sp>
        <p:nvSpPr>
          <p:cNvPr id="12" name="Shape 10"/>
          <p:cNvSpPr/>
          <p:nvPr/>
        </p:nvSpPr>
        <p:spPr>
          <a:xfrm>
            <a:off x="7909560" y="2331720"/>
            <a:ext cx="1143000" cy="685800"/>
          </a:xfrm>
          <a:prstGeom prst="rect">
            <a:avLst/>
          </a:prstGeom>
          <a:solidFill>
            <a:srgbClr val="B5453A"/>
          </a:solidFill>
          <a:ln w="19050">
            <a:solidFill>
              <a:srgbClr val="FFFFFF"/>
            </a:solidFill>
            <a:prstDash val="solid"/>
          </a:ln>
        </p:spPr>
      </p:sp>
      <p:sp>
        <p:nvSpPr>
          <p:cNvPr id="13" name="Shape 11"/>
          <p:cNvSpPr/>
          <p:nvPr/>
        </p:nvSpPr>
        <p:spPr>
          <a:xfrm>
            <a:off x="9052560" y="2331720"/>
            <a:ext cx="2286000" cy="685800"/>
          </a:xfrm>
          <a:prstGeom prst="rect">
            <a:avLst/>
          </a:prstGeom>
          <a:solidFill>
            <a:srgbClr val="36454F"/>
          </a:solidFill>
          <a:ln w="19050">
            <a:solidFill>
              <a:srgbClr val="FFFFFF"/>
            </a:solidFill>
            <a:prstDash val="solid"/>
          </a:ln>
        </p:spPr>
      </p:sp>
      <p:sp>
        <p:nvSpPr>
          <p:cNvPr id="14" name="Text 12"/>
          <p:cNvSpPr txBox="1"/>
          <p:nvPr/>
        </p:nvSpPr>
        <p:spPr>
          <a:xfrm>
            <a:off x="9052560" y="2331720"/>
            <a:ext cx="2286000" cy="685800"/>
          </a:xfrm>
          <a:prstGeom prst="rect">
            <a:avLst/>
          </a:prstGeom>
          <a:noFill/>
          <a:ln/>
        </p:spPr>
        <p:txBody>
          <a:bodyPr wrap="square" lIns="0" tIns="0" rIns="0" bIns="0" rtlCol="0" anchor="ctr"/>
          <a:lstStyle/>
          <a:p>
            <a:pPr algn="ctr" indent="0" marL="0">
              <a:buNone/>
            </a:pPr>
            <a:r>
              <a:rPr lang="tr-TR" sz="1400" b="1" dirty="0">
                <a:solidFill>
                  <a:srgbClr val="FFFFFF"/>
                </a:solidFill>
                <a:latin typeface="Calibri" pitchFamily="34" charset="0"/>
                <a:ea typeface="Calibri" pitchFamily="34" charset="-122"/>
                <a:cs typeface="Calibri" pitchFamily="34" charset="-120"/>
              </a:rPr>
              <a:t>P1 çalışıyor</a:t>
            </a:r>
            <a:endParaRPr lang="tr-TR" sz="1400" dirty="0"/>
          </a:p>
        </p:txBody>
      </p:sp>
      <p:sp>
        <p:nvSpPr>
          <p:cNvPr id="15" name="Text 13"/>
          <p:cNvSpPr txBox="1"/>
          <p:nvPr/>
        </p:nvSpPr>
        <p:spPr>
          <a:xfrm>
            <a:off x="7818120" y="3081528"/>
            <a:ext cx="1325880" cy="502920"/>
          </a:xfrm>
          <a:prstGeom prst="rect">
            <a:avLst/>
          </a:prstGeom>
          <a:noFill/>
          <a:ln/>
        </p:spPr>
        <p:txBody>
          <a:bodyPr wrap="square" lIns="0" tIns="0" rIns="0" bIns="0" rtlCol="0" anchor="t"/>
          <a:lstStyle/>
          <a:p>
            <a:pPr algn="ctr" indent="0" marL="0">
              <a:buNone/>
            </a:pPr>
            <a:r>
              <a:rPr lang="tr-TR" sz="1200" b="1" dirty="0">
                <a:solidFill>
                  <a:srgbClr val="B5453A"/>
                </a:solidFill>
                <a:latin typeface="Calibri" pitchFamily="34" charset="0"/>
                <a:ea typeface="Calibri" pitchFamily="34" charset="-122"/>
                <a:cs typeface="Calibri" pitchFamily="34" charset="-120"/>
              </a:rPr>
              <a:t>dağıtım</a:t>
            </a:r>
            <a:endParaRPr lang="tr-TR" sz="1200" dirty="0"/>
          </a:p>
          <a:p>
            <a:pPr algn="ctr" indent="0" marL="0">
              <a:buNone/>
            </a:pPr>
            <a:r>
              <a:rPr lang="tr-TR" sz="1200" b="1" dirty="0">
                <a:solidFill>
                  <a:srgbClr val="B5453A"/>
                </a:solidFill>
                <a:latin typeface="Calibri" pitchFamily="34" charset="0"/>
                <a:ea typeface="Calibri" pitchFamily="34" charset="-122"/>
                <a:cs typeface="Calibri" pitchFamily="34" charset="-120"/>
              </a:rPr>
              <a:t>gecikmesi</a:t>
            </a:r>
            <a:endParaRPr lang="tr-TR" sz="1200" dirty="0"/>
          </a:p>
        </p:txBody>
      </p:sp>
      <p:sp>
        <p:nvSpPr>
          <p:cNvPr id="16" name="Text 14"/>
          <p:cNvSpPr txBox="1"/>
          <p:nvPr/>
        </p:nvSpPr>
        <p:spPr>
          <a:xfrm>
            <a:off x="5852160" y="3657600"/>
            <a:ext cx="5486400" cy="274320"/>
          </a:xfrm>
          <a:prstGeom prst="rect">
            <a:avLst/>
          </a:prstGeom>
          <a:noFill/>
          <a:ln/>
        </p:spPr>
        <p:txBody>
          <a:bodyPr wrap="square" lIns="0" tIns="0" rIns="0" bIns="0" rtlCol="0" anchor="t"/>
          <a:lstStyle/>
          <a:p>
            <a:pPr algn="ctr" indent="0" marL="0">
              <a:buNone/>
            </a:pPr>
            <a:r>
              <a:rPr lang="tr-TR" sz="1200" i="1" dirty="0">
                <a:solidFill>
                  <a:srgbClr val="6B7679"/>
                </a:solidFill>
                <a:latin typeface="Calibri" pitchFamily="34" charset="0"/>
                <a:ea typeface="Calibri" pitchFamily="34" charset="-122"/>
                <a:cs typeface="Calibri" pitchFamily="34" charset="-120"/>
              </a:rPr>
              <a:t>P0 → PCB0 kaydet, PCB1 → P1 yükle</a:t>
            </a:r>
            <a:endParaRPr lang="tr-TR" sz="1200" dirty="0"/>
          </a:p>
        </p:txBody>
      </p:sp>
      <p:sp>
        <p:nvSpPr>
          <p:cNvPr id="17" name="Shape 15"/>
          <p:cNvSpPr/>
          <p:nvPr/>
        </p:nvSpPr>
        <p:spPr>
          <a:xfrm>
            <a:off x="5852160" y="4206240"/>
            <a:ext cx="5806440" cy="640080"/>
          </a:xfrm>
          <a:prstGeom prst="roundRect">
            <a:avLst>
              <a:gd name="adj" fmla="val 8571"/>
            </a:avLst>
          </a:prstGeom>
          <a:solidFill>
            <a:srgbClr val="36454F"/>
          </a:solidFill>
          <a:ln/>
          <a:effectLst>
            <a:outerShdw sx="100000" sy="100000" kx="0" ky="0" algn="bl" rotWithShape="0" blurRad="101600" dist="25400" dir="5400000">
              <a:srgbClr val="000000">
                <a:alpha val="12000"/>
              </a:srgbClr>
            </a:outerShdw>
          </a:effectLst>
        </p:spPr>
      </p:sp>
      <p:sp>
        <p:nvSpPr>
          <p:cNvPr id="18" name="Text 16"/>
          <p:cNvSpPr txBox="1"/>
          <p:nvPr/>
        </p:nvSpPr>
        <p:spPr>
          <a:xfrm>
            <a:off x="6080760" y="4206240"/>
            <a:ext cx="5349240" cy="640080"/>
          </a:xfrm>
          <a:prstGeom prst="rect">
            <a:avLst/>
          </a:prstGeom>
          <a:noFill/>
          <a:ln/>
        </p:spPr>
        <p:txBody>
          <a:bodyPr wrap="square" lIns="0" tIns="0" rIns="0" bIns="0" rtlCol="0" anchor="ctr"/>
          <a:lstStyle/>
          <a:p>
            <a:pPr indent="0" marL="0">
              <a:buNone/>
            </a:pPr>
            <a:r>
              <a:rPr lang="tr-TR" sz="1400" dirty="0">
                <a:solidFill>
                  <a:srgbClr val="F2F2F2"/>
                </a:solidFill>
                <a:latin typeface="Calibri" pitchFamily="34" charset="0"/>
                <a:ea typeface="Calibri" pitchFamily="34" charset="-122"/>
                <a:cs typeface="Calibri" pitchFamily="34" charset="-120"/>
              </a:rPr>
              <a:t>Dağıtım gecikmesi saf ek yüktür: bu sırada yararlı hiçbir iş yapılmaz.</a:t>
            </a:r>
            <a:endParaRPr lang="tr-TR" sz="1400" dirty="0"/>
          </a:p>
        </p:txBody>
      </p:sp>
      <p:sp>
        <p:nvSpPr>
          <p:cNvPr id="19" name="Shape 17"/>
          <p:cNvSpPr/>
          <p:nvPr/>
        </p:nvSpPr>
        <p:spPr>
          <a:xfrm>
            <a:off x="548640" y="5074920"/>
            <a:ext cx="11109960" cy="1188720"/>
          </a:xfrm>
          <a:prstGeom prst="roundRect">
            <a:avLst>
              <a:gd name="adj" fmla="val 4615"/>
            </a:avLst>
          </a:prstGeom>
          <a:solidFill>
            <a:srgbClr val="36454F"/>
          </a:solidFill>
          <a:ln/>
          <a:effectLst>
            <a:outerShdw sx="100000" sy="100000" kx="0" ky="0" algn="bl" rotWithShape="0" blurRad="101600" dist="25400" dir="5400000">
              <a:srgbClr val="000000">
                <a:alpha val="12000"/>
              </a:srgbClr>
            </a:outerShdw>
          </a:effectLst>
        </p:spPr>
      </p:sp>
      <p:sp>
        <p:nvSpPr>
          <p:cNvPr id="20" name="Text 18"/>
          <p:cNvSpPr txBox="1"/>
          <p:nvPr/>
        </p:nvSpPr>
        <p:spPr>
          <a:xfrm>
            <a:off x="777240" y="5074920"/>
            <a:ext cx="10652760" cy="1188720"/>
          </a:xfrm>
          <a:prstGeom prst="rect">
            <a:avLst/>
          </a:prstGeom>
          <a:noFill/>
          <a:ln/>
        </p:spPr>
        <p:txBody>
          <a:bodyPr wrap="square" lIns="0" tIns="0" rIns="0" bIns="0" rtlCol="0" anchor="ctr"/>
          <a:lstStyle/>
          <a:p>
            <a:pPr indent="0" marL="0">
              <a:buNone/>
            </a:pPr>
            <a:r>
              <a:rPr lang="tr-TR" sz="1400" dirty="0">
                <a:solidFill>
                  <a:srgbClr val="F2F2F2"/>
                </a:solidFill>
                <a:latin typeface="Calibri" pitchFamily="34" charset="0"/>
                <a:ea typeface="Calibri" pitchFamily="34" charset="-122"/>
                <a:cs typeface="Calibri" pitchFamily="34" charset="-120"/>
              </a:rPr>
              <a:t>Küçüktür (mikrosaniyeler) ama çok sık yaşanır: vmstat 1 komutunu izleyin — boştaki test sanal makinemizde cs sütunu saniyede yaklaşık 500–600 bağlam değişimi gösterdi; meşgul bir sunucu on binlerce gösterir.</a:t>
            </a:r>
            <a:endParaRPr lang="tr-TR"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UYGULAMA</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Bağlam Değişimlerini Saymak: Gönüllü mü, Zorla mı?</a:t>
            </a:r>
            <a:endParaRPr lang="tr-TR"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tr-TR" sz="1500" dirty="0">
                <a:solidFill>
                  <a:srgbClr val="3A464C"/>
                </a:solidFill>
                <a:latin typeface="Calibri" pitchFamily="34" charset="0"/>
                <a:ea typeface="Calibri" pitchFamily="34" charset="-122"/>
                <a:cs typeface="Calibri" pitchFamily="34" charset="-120"/>
              </a:rPr>
              <a:t>GNU time -v, sürecin işlemciyi kaç kez kendisi bıraktığını (bloke oldu) ve kaç kez elinden alındığını raporlar.</a:t>
            </a:r>
            <a:endParaRPr lang="tr-TR"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4  ·  32</a:t>
            </a:r>
            <a:endParaRPr lang="tr-TR" sz="900" dirty="0"/>
          </a:p>
        </p:txBody>
      </p:sp>
      <p:sp>
        <p:nvSpPr>
          <p:cNvPr id="7" name="Shape 5"/>
          <p:cNvSpPr/>
          <p:nvPr/>
        </p:nvSpPr>
        <p:spPr>
          <a:xfrm>
            <a:off x="548640" y="2103120"/>
            <a:ext cx="6309360" cy="4160520"/>
          </a:xfrm>
          <a:prstGeom prst="roundRect">
            <a:avLst>
              <a:gd name="adj" fmla="val 1099"/>
            </a:avLst>
          </a:prstGeom>
          <a:solidFill>
            <a:srgbClr val="212121"/>
          </a:solidFill>
          <a:ln/>
        </p:spPr>
      </p:sp>
      <p:sp>
        <p:nvSpPr>
          <p:cNvPr id="8" name="Text 6"/>
          <p:cNvSpPr txBox="1"/>
          <p:nvPr/>
        </p:nvSpPr>
        <p:spPr>
          <a:xfrm>
            <a:off x="731520" y="2212848"/>
            <a:ext cx="5943600" cy="3941064"/>
          </a:xfrm>
          <a:prstGeom prst="rect">
            <a:avLst/>
          </a:prstGeom>
          <a:noFill/>
          <a:ln/>
        </p:spPr>
        <p:txBody>
          <a:bodyPr wrap="square" lIns="0" tIns="0" rIns="0" bIns="0" rtlCol="0" anchor="t"/>
          <a:lstStyle/>
          <a:p>
            <a:pPr indent="0" marL="0">
              <a:lnSpc>
                <a:spcPct val="105000"/>
              </a:lnSpc>
              <a:buNone/>
            </a:pPr>
            <a:r>
              <a:rPr lang="tr-TR" sz="1250" dirty="0">
                <a:solidFill>
                  <a:srgbClr val="02C39A"/>
                </a:solidFill>
                <a:latin typeface="Consolas" pitchFamily="34" charset="0"/>
                <a:ea typeface="Consolas" pitchFamily="34" charset="-122"/>
                <a:cs typeface="Consolas" pitchFamily="34" charset="-120"/>
              </a:rPr>
              <a:t>$ /usr/bin/time -v ./burst cpu</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  User time (seconds): 1.17</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  System time (seconds): 0.01</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  Elapsed (wall clock) time: 0:01.22</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  Voluntary context switches: 1</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  Involuntary context switches: 50</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 </a:t>
            </a:r>
            <a:endParaRPr lang="tr-TR" sz="1250" dirty="0"/>
          </a:p>
          <a:p>
            <a:pPr indent="0" marL="0">
              <a:lnSpc>
                <a:spcPct val="105000"/>
              </a:lnSpc>
              <a:buNone/>
            </a:pPr>
            <a:r>
              <a:rPr lang="tr-TR" sz="1250" dirty="0">
                <a:solidFill>
                  <a:srgbClr val="02C39A"/>
                </a:solidFill>
                <a:latin typeface="Consolas" pitchFamily="34" charset="0"/>
                <a:ea typeface="Consolas" pitchFamily="34" charset="-122"/>
                <a:cs typeface="Consolas" pitchFamily="34" charset="-120"/>
              </a:rPr>
              <a:t>$ /usr/bin/time -v ./burst io</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  User time (seconds): 0.00</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  System time (seconds): 0.11</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  Elapsed (wall clock) time: 0:00.46</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  Voluntary context switches: 3714</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  Involuntary context switches: 0</a:t>
            </a:r>
            <a:endParaRPr lang="tr-TR" sz="1250" dirty="0"/>
          </a:p>
        </p:txBody>
      </p:sp>
      <p:sp>
        <p:nvSpPr>
          <p:cNvPr id="9" name="Shape 7"/>
          <p:cNvSpPr/>
          <p:nvPr/>
        </p:nvSpPr>
        <p:spPr>
          <a:xfrm>
            <a:off x="7132320" y="2103120"/>
            <a:ext cx="4526280" cy="4160520"/>
          </a:xfrm>
          <a:prstGeom prst="roundRect">
            <a:avLst>
              <a:gd name="adj" fmla="val 1319"/>
            </a:avLst>
          </a:prstGeom>
          <a:solidFill>
            <a:srgbClr val="F2F2F2"/>
          </a:solidFill>
          <a:ln/>
          <a:effectLst>
            <a:outerShdw sx="100000" sy="100000" kx="0" ky="0" algn="bl" rotWithShape="0" blurRad="101600" dist="25400" dir="5400000">
              <a:srgbClr val="000000">
                <a:alpha val="12000"/>
              </a:srgbClr>
            </a:outerShdw>
          </a:effectLst>
        </p:spPr>
      </p:sp>
      <p:sp>
        <p:nvSpPr>
          <p:cNvPr id="10" name="Text 8"/>
          <p:cNvSpPr txBox="1"/>
          <p:nvPr/>
        </p:nvSpPr>
        <p:spPr>
          <a:xfrm>
            <a:off x="7360920" y="2286000"/>
            <a:ext cx="406908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Sonucu okumak</a:t>
            </a:r>
            <a:endParaRPr lang="tr-TR" sz="1500" dirty="0"/>
          </a:p>
        </p:txBody>
      </p:sp>
      <p:sp>
        <p:nvSpPr>
          <p:cNvPr id="11" name="Text 9"/>
          <p:cNvSpPr txBox="1"/>
          <p:nvPr/>
        </p:nvSpPr>
        <p:spPr>
          <a:xfrm>
            <a:off x="7360920" y="2743200"/>
            <a:ext cx="4069080" cy="3383280"/>
          </a:xfrm>
          <a:prstGeom prst="rect">
            <a:avLst/>
          </a:prstGeom>
          <a:noFill/>
          <a:ln/>
        </p:spPr>
        <p:txBody>
          <a:bodyPr wrap="square" lIns="0" tIns="0" rIns="0" bIns="0" rtlCol="0" anchor="t"/>
          <a:lstStyle/>
          <a:p>
            <a:pPr marL="228600" indent="-228600">
              <a:spcAft>
                <a:spcPts val="400"/>
              </a:spcAft>
              <a:buSzPct val="100000"/>
              <a:buChar char="•"/>
            </a:pPr>
            <a:r>
              <a:rPr lang="tr-TR" sz="1400" b="1" dirty="0">
                <a:solidFill>
                  <a:srgbClr val="3A464C"/>
                </a:solidFill>
                <a:latin typeface="Calibri" pitchFamily="34" charset="0"/>
                <a:ea typeface="Calibri" pitchFamily="34" charset="-122"/>
                <a:cs typeface="Calibri" pitchFamily="34" charset="-120"/>
              </a:rPr>
              <a:t>Voluntary (gönüllü):</a:t>
            </a:r>
            <a:r>
              <a:rPr lang="tr-TR" sz="1400" dirty="0">
                <a:solidFill>
                  <a:srgbClr val="3A464C"/>
                </a:solidFill>
                <a:latin typeface="Calibri" pitchFamily="34" charset="0"/>
                <a:ea typeface="Calibri" pitchFamily="34" charset="-122"/>
                <a:cs typeface="Calibri" pitchFamily="34" charset="-120"/>
              </a:rPr>
              <a:t> süreç bloke oldu (1. durum) — G/Ç yoğun programlara özgü.</a:t>
            </a:r>
            <a:endParaRPr lang="tr-TR" sz="1400" dirty="0"/>
          </a:p>
          <a:p>
            <a:pPr marL="228600" indent="-228600">
              <a:spcAft>
                <a:spcPts val="400"/>
              </a:spcAft>
              <a:buSzPct val="100000"/>
              <a:buChar char="•"/>
            </a:pPr>
            <a:r>
              <a:rPr lang="tr-TR" sz="1400" b="1" dirty="0">
                <a:solidFill>
                  <a:srgbClr val="3A464C"/>
                </a:solidFill>
                <a:latin typeface="Calibri" pitchFamily="34" charset="0"/>
                <a:ea typeface="Calibri" pitchFamily="34" charset="-122"/>
                <a:cs typeface="Calibri" pitchFamily="34" charset="-120"/>
              </a:rPr>
              <a:t>Involuntary (zorla):</a:t>
            </a:r>
            <a:r>
              <a:rPr lang="tr-TR" sz="1400" dirty="0">
                <a:solidFill>
                  <a:srgbClr val="3A464C"/>
                </a:solidFill>
                <a:latin typeface="Calibri" pitchFamily="34" charset="0"/>
                <a:ea typeface="Calibri" pitchFamily="34" charset="-122"/>
                <a:cs typeface="Calibri" pitchFamily="34" charset="-120"/>
              </a:rPr>
              <a:t> zamanlayıcı işlemciyi elinden aldı (2. durum) — işlemci yoğun programlara özgü.</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1,2 s'de 50 kesinti: işlemci yoğun program ortalama yaklaşık 24 ms'de bir kesildi.</a:t>
            </a:r>
            <a:endParaRPr lang="tr-TR"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ZAMANLAMA ÖLÇÜTLERİ</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Bir Zamanlayıcıyı Nasıl Değerlendiririz? Beş Ölçüt</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4  ·  33</a:t>
            </a:r>
            <a:endParaRPr lang="tr-TR" sz="9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109960" cy="914400"/>
        </p:xfrm>
        <a:graphic>
          <a:graphicData uri="http://schemas.openxmlformats.org/drawingml/2006/table">
            <a:tbl>
              <a:tblPr/>
              <a:tblGrid>
                <a:gridCol w="2743200"/>
                <a:gridCol w="6629400"/>
                <a:gridCol w="1737360"/>
              </a:tblGrid>
              <a:tr h="0">
                <a:tc>
                  <a:txBody>
                    <a:bodyPr/>
                    <a:lstStyle/>
                    <a:p>
                      <a:pPr indent="0" marL="0">
                        <a:buNone/>
                      </a:pPr>
                      <a:r>
                        <a:rPr lang="tr-TR" sz="1550" b="1" dirty="0">
                          <a:solidFill>
                            <a:srgbClr val="FFFFFF"/>
                          </a:solidFill>
                          <a:latin typeface="Cambria" pitchFamily="34" charset="0"/>
                          <a:ea typeface="Cambria" pitchFamily="34" charset="-122"/>
                          <a:cs typeface="Cambria" pitchFamily="34" charset="-120"/>
                        </a:rPr>
                        <a:t>Ölçüt</a:t>
                      </a:r>
                      <a:endParaRPr lang="tr-TR" sz="155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550" b="1" dirty="0">
                          <a:solidFill>
                            <a:srgbClr val="FFFFFF"/>
                          </a:solidFill>
                          <a:latin typeface="Cambria" pitchFamily="34" charset="0"/>
                          <a:ea typeface="Cambria" pitchFamily="34" charset="-122"/>
                          <a:cs typeface="Cambria" pitchFamily="34" charset="-120"/>
                        </a:rPr>
                        <a:t>Tanım</a:t>
                      </a:r>
                      <a:endParaRPr lang="tr-TR" sz="155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550" b="1" dirty="0">
                          <a:solidFill>
                            <a:srgbClr val="FFFFFF"/>
                          </a:solidFill>
                          <a:latin typeface="Cambria" pitchFamily="34" charset="0"/>
                          <a:ea typeface="Cambria" pitchFamily="34" charset="-122"/>
                          <a:cs typeface="Cambria" pitchFamily="34" charset="-120"/>
                        </a:rPr>
                        <a:t>Hedef</a:t>
                      </a:r>
                      <a:endParaRPr lang="tr-TR" sz="155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tr-TR" sz="1450" b="1" dirty="0">
                          <a:solidFill>
                            <a:srgbClr val="3A464C"/>
                          </a:solidFill>
                          <a:latin typeface="Calibri" pitchFamily="34" charset="0"/>
                          <a:ea typeface="Calibri" pitchFamily="34" charset="-122"/>
                          <a:cs typeface="Calibri" pitchFamily="34" charset="-120"/>
                        </a:rPr>
                        <a:t>İşlemci kullanımı (CPU utilisation)</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İşlemcinin yararlı işle meşgul olduğu zamanın oranı (hafif yükte %40 … ağır yükte %90).</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en büyük</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450" b="1" dirty="0">
                          <a:solidFill>
                            <a:srgbClr val="3A464C"/>
                          </a:solidFill>
                          <a:latin typeface="Calibri" pitchFamily="34" charset="0"/>
                          <a:ea typeface="Calibri" pitchFamily="34" charset="-122"/>
                          <a:cs typeface="Calibri" pitchFamily="34" charset="-120"/>
                        </a:rPr>
                        <a:t>Üretilen iş (throughput)</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Birim zamanda tamamlanan süreç sayısı.</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en büyük</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450" b="1" dirty="0">
                          <a:solidFill>
                            <a:srgbClr val="3A464C"/>
                          </a:solidFill>
                          <a:latin typeface="Calibri" pitchFamily="34" charset="0"/>
                          <a:ea typeface="Calibri" pitchFamily="34" charset="-122"/>
                          <a:cs typeface="Calibri" pitchFamily="34" charset="-120"/>
                        </a:rPr>
                        <a:t>Dönüş süresi (turnaround)</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Gelişten (sunuluştan) tamamlanmaya kadar her şey: bekleme ve G/Ç dahil.</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en küçük</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450" b="1" dirty="0">
                          <a:solidFill>
                            <a:srgbClr val="3A464C"/>
                          </a:solidFill>
                          <a:latin typeface="Calibri" pitchFamily="34" charset="0"/>
                          <a:ea typeface="Calibri" pitchFamily="34" charset="-122"/>
                          <a:cs typeface="Calibri" pitchFamily="34" charset="-120"/>
                        </a:rPr>
                        <a:t>Bekleme süresi (waiting)</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Hazır kuyruğunda geçen toplam süre. Zamanlayıcının doğrudan denetlediği tek kısım.</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en küçük</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450" b="1" dirty="0">
                          <a:solidFill>
                            <a:srgbClr val="3A464C"/>
                          </a:solidFill>
                          <a:latin typeface="Calibri" pitchFamily="34" charset="0"/>
                          <a:ea typeface="Calibri" pitchFamily="34" charset="-122"/>
                          <a:cs typeface="Calibri" pitchFamily="34" charset="-120"/>
                        </a:rPr>
                        <a:t>Yanıt süresi (response)</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Gelişten, sürecin işlemciyi ilk kez aldığı ana (ilk yanıta) kadar.</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en küçük</a:t>
                      </a:r>
                      <a:endParaRPr lang="tr-TR"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bl>
          </a:graphicData>
        </a:graphic>
      </p:graphicFrame>
      <p:sp>
        <p:nvSpPr>
          <p:cNvPr id="7" name="Shape 4"/>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sp>
      <p:sp>
        <p:nvSpPr>
          <p:cNvPr id="8" name="Text 5"/>
          <p:cNvSpPr txBox="1"/>
          <p:nvPr/>
        </p:nvSpPr>
        <p:spPr>
          <a:xfrm>
            <a:off x="777240" y="5486400"/>
            <a:ext cx="10652760" cy="777240"/>
          </a:xfrm>
          <a:prstGeom prst="rect">
            <a:avLst/>
          </a:prstGeom>
          <a:noFill/>
          <a:ln/>
        </p:spPr>
        <p:txBody>
          <a:bodyPr wrap="square" lIns="0" tIns="0" rIns="0" bIns="0" rtlCol="0" anchor="ctr"/>
          <a:lstStyle/>
          <a:p>
            <a:pPr indent="0" marL="0">
              <a:buNone/>
            </a:pPr>
            <a:r>
              <a:rPr lang="tr-TR" sz="1400" dirty="0">
                <a:solidFill>
                  <a:srgbClr val="F2F2F2"/>
                </a:solidFill>
                <a:latin typeface="Calibri" pitchFamily="34" charset="0"/>
                <a:ea typeface="Calibri" pitchFamily="34" charset="-122"/>
                <a:cs typeface="Calibri" pitchFamily="34" charset="-120"/>
              </a:rPr>
              <a:t>Genellikle ortalamayı iyileştiririz. Etkileşimli sistemlerde öngörülebilir (düşük varyanslı) bir yanıt süresi, düşük bir ortalamadan daha önemli olabilir.</a:t>
            </a:r>
            <a:endParaRPr lang="tr-TR"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ZAMANLAMA ÖLÇÜTLERİ</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Tanımların Formülleri</a:t>
            </a:r>
            <a:endParaRPr lang="tr-TR"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tr-TR" sz="1500" dirty="0">
                <a:solidFill>
                  <a:srgbClr val="3A464C"/>
                </a:solidFill>
                <a:latin typeface="Calibri" pitchFamily="34" charset="0"/>
                <a:ea typeface="Calibri" pitchFamily="34" charset="-122"/>
                <a:cs typeface="Calibri" pitchFamily="34" charset="-120"/>
              </a:rPr>
              <a:t>Tek CPU patlaması olan (G/Ç yapmayan) bir süreç için; tüm zamanlar aynı saatle ölçülür.</a:t>
            </a:r>
            <a:endParaRPr lang="tr-TR"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4  ·  34</a:t>
            </a:r>
            <a:endParaRPr lang="tr-TR" sz="900" dirty="0"/>
          </a:p>
        </p:txBody>
      </p:sp>
      <p:sp>
        <p:nvSpPr>
          <p:cNvPr id="7" name="Shape 5"/>
          <p:cNvSpPr/>
          <p:nvPr/>
        </p:nvSpPr>
        <p:spPr>
          <a:xfrm>
            <a:off x="548640" y="2103120"/>
            <a:ext cx="6035040" cy="1965960"/>
          </a:xfrm>
          <a:prstGeom prst="roundRect">
            <a:avLst>
              <a:gd name="adj" fmla="val 2791"/>
            </a:avLst>
          </a:prstGeom>
          <a:solidFill>
            <a:srgbClr val="F2F2F2"/>
          </a:solidFill>
          <a:ln/>
        </p:spPr>
      </p:sp>
      <p:sp>
        <p:nvSpPr>
          <p:cNvPr id="8" name="Text 6"/>
          <p:cNvSpPr txBox="1"/>
          <p:nvPr/>
        </p:nvSpPr>
        <p:spPr>
          <a:xfrm>
            <a:off x="822960" y="2194560"/>
            <a:ext cx="5669280" cy="548640"/>
          </a:xfrm>
          <a:prstGeom prst="rect">
            <a:avLst/>
          </a:prstGeom>
          <a:noFill/>
          <a:ln/>
        </p:spPr>
        <p:txBody>
          <a:bodyPr wrap="square" lIns="0" tIns="0" rIns="0" bIns="0" rtlCol="0" anchor="ctr"/>
          <a:lstStyle/>
          <a:p>
            <a:pPr indent="0" marL="0">
              <a:buNone/>
            </a:pPr>
            <a:r>
              <a:rPr lang="tr-TR" sz="2200" b="1" dirty="0">
                <a:solidFill>
                  <a:srgbClr val="36454F"/>
                </a:solidFill>
                <a:latin typeface="Cambria" pitchFamily="34" charset="0"/>
                <a:ea typeface="Cambria" pitchFamily="34" charset="-122"/>
                <a:cs typeface="Cambria" pitchFamily="34" charset="-120"/>
              </a:rPr>
              <a:t>T</a:t>
            </a:r>
            <a:r>
              <a:rPr lang="tr-TR" sz="2200" b="1" baseline="-40000" dirty="0">
                <a:solidFill>
                  <a:srgbClr val="36454F"/>
                </a:solidFill>
                <a:latin typeface="Cambria" pitchFamily="34" charset="0"/>
                <a:ea typeface="Cambria" pitchFamily="34" charset="-122"/>
                <a:cs typeface="Cambria" pitchFamily="34" charset="-120"/>
              </a:rPr>
              <a:t>dönüş</a:t>
            </a:r>
            <a:r>
              <a:rPr lang="tr-TR" sz="2200" dirty="0">
                <a:solidFill>
                  <a:srgbClr val="36454F"/>
                </a:solidFill>
                <a:latin typeface="Cambria" pitchFamily="34" charset="0"/>
                <a:ea typeface="Cambria" pitchFamily="34" charset="-122"/>
                <a:cs typeface="Cambria" pitchFamily="34" charset="-120"/>
              </a:rPr>
              <a:t>  =  T</a:t>
            </a:r>
            <a:r>
              <a:rPr lang="tr-TR" sz="2200" baseline="-40000" dirty="0">
                <a:solidFill>
                  <a:srgbClr val="36454F"/>
                </a:solidFill>
                <a:latin typeface="Cambria" pitchFamily="34" charset="0"/>
                <a:ea typeface="Cambria" pitchFamily="34" charset="-122"/>
                <a:cs typeface="Cambria" pitchFamily="34" charset="-120"/>
              </a:rPr>
              <a:t>tamamlanma</a:t>
            </a:r>
            <a:r>
              <a:rPr lang="tr-TR" sz="2200" dirty="0">
                <a:solidFill>
                  <a:srgbClr val="36454F"/>
                </a:solidFill>
                <a:latin typeface="Cambria" pitchFamily="34" charset="0"/>
                <a:ea typeface="Cambria" pitchFamily="34" charset="-122"/>
                <a:cs typeface="Cambria" pitchFamily="34" charset="-120"/>
              </a:rPr>
              <a:t>  −  T</a:t>
            </a:r>
            <a:r>
              <a:rPr lang="tr-TR" sz="2200" baseline="-40000" dirty="0">
                <a:solidFill>
                  <a:srgbClr val="36454F"/>
                </a:solidFill>
                <a:latin typeface="Cambria" pitchFamily="34" charset="0"/>
                <a:ea typeface="Cambria" pitchFamily="34" charset="-122"/>
                <a:cs typeface="Cambria" pitchFamily="34" charset="-120"/>
              </a:rPr>
              <a:t>geliş</a:t>
            </a:r>
            <a:endParaRPr lang="tr-TR" sz="2200" dirty="0"/>
          </a:p>
        </p:txBody>
      </p:sp>
      <p:sp>
        <p:nvSpPr>
          <p:cNvPr id="9" name="Text 7"/>
          <p:cNvSpPr txBox="1"/>
          <p:nvPr/>
        </p:nvSpPr>
        <p:spPr>
          <a:xfrm>
            <a:off x="822960" y="2788920"/>
            <a:ext cx="5669280" cy="548640"/>
          </a:xfrm>
          <a:prstGeom prst="rect">
            <a:avLst/>
          </a:prstGeom>
          <a:noFill/>
          <a:ln/>
        </p:spPr>
        <p:txBody>
          <a:bodyPr wrap="square" lIns="0" tIns="0" rIns="0" bIns="0" rtlCol="0" anchor="ctr"/>
          <a:lstStyle/>
          <a:p>
            <a:pPr indent="0" marL="0">
              <a:buNone/>
            </a:pPr>
            <a:r>
              <a:rPr lang="tr-TR" sz="2200" b="1" dirty="0">
                <a:solidFill>
                  <a:srgbClr val="36454F"/>
                </a:solidFill>
                <a:latin typeface="Cambria" pitchFamily="34" charset="0"/>
                <a:ea typeface="Cambria" pitchFamily="34" charset="-122"/>
                <a:cs typeface="Cambria" pitchFamily="34" charset="-120"/>
              </a:rPr>
              <a:t>T</a:t>
            </a:r>
            <a:r>
              <a:rPr lang="tr-TR" sz="2200" b="1" baseline="-40000" dirty="0">
                <a:solidFill>
                  <a:srgbClr val="36454F"/>
                </a:solidFill>
                <a:latin typeface="Cambria" pitchFamily="34" charset="0"/>
                <a:ea typeface="Cambria" pitchFamily="34" charset="-122"/>
                <a:cs typeface="Cambria" pitchFamily="34" charset="-120"/>
              </a:rPr>
              <a:t>bekleme</a:t>
            </a:r>
            <a:r>
              <a:rPr lang="tr-TR" sz="2200" dirty="0">
                <a:solidFill>
                  <a:srgbClr val="36454F"/>
                </a:solidFill>
                <a:latin typeface="Cambria" pitchFamily="34" charset="0"/>
                <a:ea typeface="Cambria" pitchFamily="34" charset="-122"/>
                <a:cs typeface="Cambria" pitchFamily="34" charset="-120"/>
              </a:rPr>
              <a:t>  =  T</a:t>
            </a:r>
            <a:r>
              <a:rPr lang="tr-TR" sz="2200" baseline="-40000" dirty="0">
                <a:solidFill>
                  <a:srgbClr val="36454F"/>
                </a:solidFill>
                <a:latin typeface="Cambria" pitchFamily="34" charset="0"/>
                <a:ea typeface="Cambria" pitchFamily="34" charset="-122"/>
                <a:cs typeface="Cambria" pitchFamily="34" charset="-120"/>
              </a:rPr>
              <a:t>dönüş</a:t>
            </a:r>
            <a:r>
              <a:rPr lang="tr-TR" sz="2200" dirty="0">
                <a:solidFill>
                  <a:srgbClr val="36454F"/>
                </a:solidFill>
                <a:latin typeface="Cambria" pitchFamily="34" charset="0"/>
                <a:ea typeface="Cambria" pitchFamily="34" charset="-122"/>
                <a:cs typeface="Cambria" pitchFamily="34" charset="-120"/>
              </a:rPr>
              <a:t>  −  T</a:t>
            </a:r>
            <a:r>
              <a:rPr lang="tr-TR" sz="2200" baseline="-40000" dirty="0">
                <a:solidFill>
                  <a:srgbClr val="36454F"/>
                </a:solidFill>
                <a:latin typeface="Cambria" pitchFamily="34" charset="0"/>
                <a:ea typeface="Cambria" pitchFamily="34" charset="-122"/>
                <a:cs typeface="Cambria" pitchFamily="34" charset="-120"/>
              </a:rPr>
              <a:t>patlama</a:t>
            </a:r>
            <a:endParaRPr lang="tr-TR" sz="2200" dirty="0"/>
          </a:p>
        </p:txBody>
      </p:sp>
      <p:sp>
        <p:nvSpPr>
          <p:cNvPr id="10" name="Text 8"/>
          <p:cNvSpPr txBox="1"/>
          <p:nvPr/>
        </p:nvSpPr>
        <p:spPr>
          <a:xfrm>
            <a:off x="822960" y="3383280"/>
            <a:ext cx="5669280" cy="548640"/>
          </a:xfrm>
          <a:prstGeom prst="rect">
            <a:avLst/>
          </a:prstGeom>
          <a:noFill/>
          <a:ln/>
        </p:spPr>
        <p:txBody>
          <a:bodyPr wrap="square" lIns="0" tIns="0" rIns="0" bIns="0" rtlCol="0" anchor="ctr"/>
          <a:lstStyle/>
          <a:p>
            <a:pPr indent="0" marL="0">
              <a:buNone/>
            </a:pPr>
            <a:r>
              <a:rPr lang="tr-TR" sz="2200" b="1" dirty="0">
                <a:solidFill>
                  <a:srgbClr val="36454F"/>
                </a:solidFill>
                <a:latin typeface="Cambria" pitchFamily="34" charset="0"/>
                <a:ea typeface="Cambria" pitchFamily="34" charset="-122"/>
                <a:cs typeface="Cambria" pitchFamily="34" charset="-120"/>
              </a:rPr>
              <a:t>T</a:t>
            </a:r>
            <a:r>
              <a:rPr lang="tr-TR" sz="2200" b="1" baseline="-40000" dirty="0">
                <a:solidFill>
                  <a:srgbClr val="36454F"/>
                </a:solidFill>
                <a:latin typeface="Cambria" pitchFamily="34" charset="0"/>
                <a:ea typeface="Cambria" pitchFamily="34" charset="-122"/>
                <a:cs typeface="Cambria" pitchFamily="34" charset="-120"/>
              </a:rPr>
              <a:t>yanıt</a:t>
            </a:r>
            <a:r>
              <a:rPr lang="tr-TR" sz="2200" dirty="0">
                <a:solidFill>
                  <a:srgbClr val="36454F"/>
                </a:solidFill>
                <a:latin typeface="Cambria" pitchFamily="34" charset="0"/>
                <a:ea typeface="Cambria" pitchFamily="34" charset="-122"/>
                <a:cs typeface="Cambria" pitchFamily="34" charset="-120"/>
              </a:rPr>
              <a:t>  =  T</a:t>
            </a:r>
            <a:r>
              <a:rPr lang="tr-TR" sz="2200" baseline="-40000" dirty="0">
                <a:solidFill>
                  <a:srgbClr val="36454F"/>
                </a:solidFill>
                <a:latin typeface="Cambria" pitchFamily="34" charset="0"/>
                <a:ea typeface="Cambria" pitchFamily="34" charset="-122"/>
                <a:cs typeface="Cambria" pitchFamily="34" charset="-120"/>
              </a:rPr>
              <a:t>ilk çalışma</a:t>
            </a:r>
            <a:r>
              <a:rPr lang="tr-TR" sz="2200" dirty="0">
                <a:solidFill>
                  <a:srgbClr val="36454F"/>
                </a:solidFill>
                <a:latin typeface="Cambria" pitchFamily="34" charset="0"/>
                <a:ea typeface="Cambria" pitchFamily="34" charset="-122"/>
                <a:cs typeface="Cambria" pitchFamily="34" charset="-120"/>
              </a:rPr>
              <a:t>  −  T</a:t>
            </a:r>
            <a:r>
              <a:rPr lang="tr-TR" sz="2200" baseline="-40000" dirty="0">
                <a:solidFill>
                  <a:srgbClr val="36454F"/>
                </a:solidFill>
                <a:latin typeface="Cambria" pitchFamily="34" charset="0"/>
                <a:ea typeface="Cambria" pitchFamily="34" charset="-122"/>
                <a:cs typeface="Cambria" pitchFamily="34" charset="-120"/>
              </a:rPr>
              <a:t>geliş</a:t>
            </a:r>
            <a:endParaRPr lang="tr-TR" sz="2200" dirty="0"/>
          </a:p>
        </p:txBody>
      </p:sp>
      <p:sp>
        <p:nvSpPr>
          <p:cNvPr id="11" name="Shape 9"/>
          <p:cNvSpPr/>
          <p:nvPr/>
        </p:nvSpPr>
        <p:spPr>
          <a:xfrm>
            <a:off x="822960" y="4572000"/>
            <a:ext cx="1828800" cy="502920"/>
          </a:xfrm>
          <a:prstGeom prst="rect">
            <a:avLst/>
          </a:prstGeom>
          <a:solidFill>
            <a:srgbClr val="F2F2F2"/>
          </a:solidFill>
          <a:ln w="19050">
            <a:solidFill>
              <a:srgbClr val="FFFFFF"/>
            </a:solidFill>
            <a:prstDash val="solid"/>
          </a:ln>
        </p:spPr>
      </p:sp>
      <p:sp>
        <p:nvSpPr>
          <p:cNvPr id="12" name="Text 10"/>
          <p:cNvSpPr txBox="1"/>
          <p:nvPr/>
        </p:nvSpPr>
        <p:spPr>
          <a:xfrm>
            <a:off x="822960" y="4572000"/>
            <a:ext cx="1828800" cy="502920"/>
          </a:xfrm>
          <a:prstGeom prst="rect">
            <a:avLst/>
          </a:prstGeom>
          <a:noFill/>
          <a:ln/>
        </p:spPr>
        <p:txBody>
          <a:bodyPr wrap="square" lIns="0" tIns="0" rIns="0" bIns="0" rtlCol="0" anchor="ctr"/>
          <a:lstStyle/>
          <a:p>
            <a:pPr algn="ctr" indent="0" marL="0">
              <a:buNone/>
            </a:pPr>
            <a:r>
              <a:rPr lang="tr-TR" sz="1200" b="1" dirty="0">
                <a:solidFill>
                  <a:srgbClr val="36454F"/>
                </a:solidFill>
                <a:latin typeface="Calibri" pitchFamily="34" charset="0"/>
                <a:ea typeface="Calibri" pitchFamily="34" charset="-122"/>
                <a:cs typeface="Calibri" pitchFamily="34" charset="-120"/>
              </a:rPr>
              <a:t>bekler (hazır)</a:t>
            </a:r>
            <a:endParaRPr lang="tr-TR" sz="1200" dirty="0"/>
          </a:p>
        </p:txBody>
      </p:sp>
      <p:sp>
        <p:nvSpPr>
          <p:cNvPr id="13" name="Shape 11"/>
          <p:cNvSpPr/>
          <p:nvPr/>
        </p:nvSpPr>
        <p:spPr>
          <a:xfrm>
            <a:off x="2651760" y="4572000"/>
            <a:ext cx="1371600" cy="502920"/>
          </a:xfrm>
          <a:prstGeom prst="rect">
            <a:avLst/>
          </a:prstGeom>
          <a:solidFill>
            <a:srgbClr val="02C39A"/>
          </a:solidFill>
          <a:ln w="19050">
            <a:solidFill>
              <a:srgbClr val="FFFFFF"/>
            </a:solidFill>
            <a:prstDash val="solid"/>
          </a:ln>
        </p:spPr>
      </p:sp>
      <p:sp>
        <p:nvSpPr>
          <p:cNvPr id="14" name="Text 12"/>
          <p:cNvSpPr txBox="1"/>
          <p:nvPr/>
        </p:nvSpPr>
        <p:spPr>
          <a:xfrm>
            <a:off x="2651760" y="4572000"/>
            <a:ext cx="1371600" cy="502920"/>
          </a:xfrm>
          <a:prstGeom prst="rect">
            <a:avLst/>
          </a:prstGeom>
          <a:noFill/>
          <a:ln/>
        </p:spPr>
        <p:txBody>
          <a:bodyPr wrap="square" lIns="0" tIns="0" rIns="0" bIns="0" rtlCol="0" anchor="ctr"/>
          <a:lstStyle/>
          <a:p>
            <a:pPr algn="ctr" indent="0" marL="0">
              <a:buNone/>
            </a:pPr>
            <a:r>
              <a:rPr lang="tr-TR" sz="1200" b="1" dirty="0">
                <a:solidFill>
                  <a:srgbClr val="36454F"/>
                </a:solidFill>
                <a:latin typeface="Calibri" pitchFamily="34" charset="0"/>
                <a:ea typeface="Calibri" pitchFamily="34" charset="-122"/>
                <a:cs typeface="Calibri" pitchFamily="34" charset="-120"/>
              </a:rPr>
              <a:t>çalışır</a:t>
            </a:r>
            <a:endParaRPr lang="tr-TR" sz="1200" dirty="0"/>
          </a:p>
        </p:txBody>
      </p:sp>
      <p:sp>
        <p:nvSpPr>
          <p:cNvPr id="15" name="Shape 13"/>
          <p:cNvSpPr/>
          <p:nvPr/>
        </p:nvSpPr>
        <p:spPr>
          <a:xfrm>
            <a:off x="4023360" y="4572000"/>
            <a:ext cx="914400" cy="502920"/>
          </a:xfrm>
          <a:prstGeom prst="rect">
            <a:avLst/>
          </a:prstGeom>
          <a:solidFill>
            <a:srgbClr val="F2F2F2"/>
          </a:solidFill>
          <a:ln w="19050">
            <a:solidFill>
              <a:srgbClr val="FFFFFF"/>
            </a:solidFill>
            <a:prstDash val="solid"/>
          </a:ln>
        </p:spPr>
      </p:sp>
      <p:sp>
        <p:nvSpPr>
          <p:cNvPr id="16" name="Text 14"/>
          <p:cNvSpPr txBox="1"/>
          <p:nvPr/>
        </p:nvSpPr>
        <p:spPr>
          <a:xfrm>
            <a:off x="4023360" y="4572000"/>
            <a:ext cx="914400" cy="502920"/>
          </a:xfrm>
          <a:prstGeom prst="rect">
            <a:avLst/>
          </a:prstGeom>
          <a:noFill/>
          <a:ln/>
        </p:spPr>
        <p:txBody>
          <a:bodyPr wrap="square" lIns="0" tIns="0" rIns="0" bIns="0" rtlCol="0" anchor="ctr"/>
          <a:lstStyle/>
          <a:p>
            <a:pPr algn="ctr" indent="0" marL="0">
              <a:buNone/>
            </a:pPr>
            <a:r>
              <a:rPr lang="tr-TR" sz="1200" b="1" dirty="0">
                <a:solidFill>
                  <a:srgbClr val="36454F"/>
                </a:solidFill>
                <a:latin typeface="Calibri" pitchFamily="34" charset="0"/>
                <a:ea typeface="Calibri" pitchFamily="34" charset="-122"/>
                <a:cs typeface="Calibri" pitchFamily="34" charset="-120"/>
              </a:rPr>
              <a:t>bekler</a:t>
            </a:r>
            <a:endParaRPr lang="tr-TR" sz="1200" dirty="0"/>
          </a:p>
        </p:txBody>
      </p:sp>
      <p:sp>
        <p:nvSpPr>
          <p:cNvPr id="17" name="Shape 15"/>
          <p:cNvSpPr/>
          <p:nvPr/>
        </p:nvSpPr>
        <p:spPr>
          <a:xfrm>
            <a:off x="4937760" y="4572000"/>
            <a:ext cx="914400" cy="502920"/>
          </a:xfrm>
          <a:prstGeom prst="rect">
            <a:avLst/>
          </a:prstGeom>
          <a:solidFill>
            <a:srgbClr val="02C39A"/>
          </a:solidFill>
          <a:ln w="19050">
            <a:solidFill>
              <a:srgbClr val="FFFFFF"/>
            </a:solidFill>
            <a:prstDash val="solid"/>
          </a:ln>
        </p:spPr>
      </p:sp>
      <p:sp>
        <p:nvSpPr>
          <p:cNvPr id="18" name="Text 16"/>
          <p:cNvSpPr txBox="1"/>
          <p:nvPr/>
        </p:nvSpPr>
        <p:spPr>
          <a:xfrm>
            <a:off x="4937760" y="4572000"/>
            <a:ext cx="914400" cy="502920"/>
          </a:xfrm>
          <a:prstGeom prst="rect">
            <a:avLst/>
          </a:prstGeom>
          <a:noFill/>
          <a:ln/>
        </p:spPr>
        <p:txBody>
          <a:bodyPr wrap="square" lIns="0" tIns="0" rIns="0" bIns="0" rtlCol="0" anchor="ctr"/>
          <a:lstStyle/>
          <a:p>
            <a:pPr algn="ctr" indent="0" marL="0">
              <a:buNone/>
            </a:pPr>
            <a:r>
              <a:rPr lang="tr-TR" sz="1200" b="1" dirty="0">
                <a:solidFill>
                  <a:srgbClr val="36454F"/>
                </a:solidFill>
                <a:latin typeface="Calibri" pitchFamily="34" charset="0"/>
                <a:ea typeface="Calibri" pitchFamily="34" charset="-122"/>
                <a:cs typeface="Calibri" pitchFamily="34" charset="-120"/>
              </a:rPr>
              <a:t>çalışır</a:t>
            </a:r>
            <a:endParaRPr lang="tr-TR" sz="1200" dirty="0"/>
          </a:p>
        </p:txBody>
      </p:sp>
      <p:sp>
        <p:nvSpPr>
          <p:cNvPr id="19" name="Shape 17"/>
          <p:cNvSpPr/>
          <p:nvPr/>
        </p:nvSpPr>
        <p:spPr>
          <a:xfrm>
            <a:off x="822960" y="4297680"/>
            <a:ext cx="91" cy="1051560"/>
          </a:xfrm>
          <a:prstGeom prst="line">
            <a:avLst/>
          </a:prstGeom>
          <a:noFill/>
          <a:ln w="19050">
            <a:solidFill>
              <a:srgbClr val="B5453A"/>
            </a:solidFill>
            <a:prstDash val="dash"/>
          </a:ln>
        </p:spPr>
      </p:sp>
      <p:sp>
        <p:nvSpPr>
          <p:cNvPr id="20" name="Text 18"/>
          <p:cNvSpPr txBox="1"/>
          <p:nvPr/>
        </p:nvSpPr>
        <p:spPr>
          <a:xfrm>
            <a:off x="137160" y="5394960"/>
            <a:ext cx="1371600" cy="274320"/>
          </a:xfrm>
          <a:prstGeom prst="rect">
            <a:avLst/>
          </a:prstGeom>
          <a:noFill/>
          <a:ln/>
        </p:spPr>
        <p:txBody>
          <a:bodyPr wrap="square" lIns="0" tIns="0" rIns="0" bIns="0" rtlCol="0" anchor="t"/>
          <a:lstStyle/>
          <a:p>
            <a:pPr algn="ctr" indent="0" marL="0">
              <a:buNone/>
            </a:pPr>
            <a:r>
              <a:rPr lang="tr-TR" sz="1100" b="1" dirty="0">
                <a:solidFill>
                  <a:srgbClr val="B5453A"/>
                </a:solidFill>
                <a:latin typeface="Calibri" pitchFamily="34" charset="0"/>
                <a:ea typeface="Calibri" pitchFamily="34" charset="-122"/>
                <a:cs typeface="Calibri" pitchFamily="34" charset="-120"/>
              </a:rPr>
              <a:t>geliş</a:t>
            </a:r>
            <a:endParaRPr lang="tr-TR" sz="1100" dirty="0"/>
          </a:p>
        </p:txBody>
      </p:sp>
      <p:sp>
        <p:nvSpPr>
          <p:cNvPr id="21" name="Shape 19"/>
          <p:cNvSpPr/>
          <p:nvPr/>
        </p:nvSpPr>
        <p:spPr>
          <a:xfrm>
            <a:off x="2651760" y="4297680"/>
            <a:ext cx="91" cy="1051560"/>
          </a:xfrm>
          <a:prstGeom prst="line">
            <a:avLst/>
          </a:prstGeom>
          <a:noFill/>
          <a:ln w="19050">
            <a:solidFill>
              <a:srgbClr val="B5453A"/>
            </a:solidFill>
            <a:prstDash val="dash"/>
          </a:ln>
        </p:spPr>
      </p:sp>
      <p:sp>
        <p:nvSpPr>
          <p:cNvPr id="22" name="Text 20"/>
          <p:cNvSpPr txBox="1"/>
          <p:nvPr/>
        </p:nvSpPr>
        <p:spPr>
          <a:xfrm>
            <a:off x="1965960" y="5394960"/>
            <a:ext cx="1371600" cy="274320"/>
          </a:xfrm>
          <a:prstGeom prst="rect">
            <a:avLst/>
          </a:prstGeom>
          <a:noFill/>
          <a:ln/>
        </p:spPr>
        <p:txBody>
          <a:bodyPr wrap="square" lIns="0" tIns="0" rIns="0" bIns="0" rtlCol="0" anchor="t"/>
          <a:lstStyle/>
          <a:p>
            <a:pPr algn="ctr" indent="0" marL="0">
              <a:buNone/>
            </a:pPr>
            <a:r>
              <a:rPr lang="tr-TR" sz="1100" b="1" dirty="0">
                <a:solidFill>
                  <a:srgbClr val="B5453A"/>
                </a:solidFill>
                <a:latin typeface="Calibri" pitchFamily="34" charset="0"/>
                <a:ea typeface="Calibri" pitchFamily="34" charset="-122"/>
                <a:cs typeface="Calibri" pitchFamily="34" charset="-120"/>
              </a:rPr>
              <a:t>ilk çalışma</a:t>
            </a:r>
            <a:endParaRPr lang="tr-TR" sz="1100" dirty="0"/>
          </a:p>
        </p:txBody>
      </p:sp>
      <p:sp>
        <p:nvSpPr>
          <p:cNvPr id="23" name="Shape 21"/>
          <p:cNvSpPr/>
          <p:nvPr/>
        </p:nvSpPr>
        <p:spPr>
          <a:xfrm>
            <a:off x="5852160" y="4297680"/>
            <a:ext cx="91" cy="1051560"/>
          </a:xfrm>
          <a:prstGeom prst="line">
            <a:avLst/>
          </a:prstGeom>
          <a:noFill/>
          <a:ln w="19050">
            <a:solidFill>
              <a:srgbClr val="B5453A"/>
            </a:solidFill>
            <a:prstDash val="dash"/>
          </a:ln>
        </p:spPr>
      </p:sp>
      <p:sp>
        <p:nvSpPr>
          <p:cNvPr id="24" name="Text 22"/>
          <p:cNvSpPr txBox="1"/>
          <p:nvPr/>
        </p:nvSpPr>
        <p:spPr>
          <a:xfrm>
            <a:off x="5166360" y="5394960"/>
            <a:ext cx="1371600" cy="274320"/>
          </a:xfrm>
          <a:prstGeom prst="rect">
            <a:avLst/>
          </a:prstGeom>
          <a:noFill/>
          <a:ln/>
        </p:spPr>
        <p:txBody>
          <a:bodyPr wrap="square" lIns="0" tIns="0" rIns="0" bIns="0" rtlCol="0" anchor="t"/>
          <a:lstStyle/>
          <a:p>
            <a:pPr algn="ctr" indent="0" marL="0">
              <a:buNone/>
            </a:pPr>
            <a:r>
              <a:rPr lang="tr-TR" sz="1100" b="1" dirty="0">
                <a:solidFill>
                  <a:srgbClr val="B5453A"/>
                </a:solidFill>
                <a:latin typeface="Calibri" pitchFamily="34" charset="0"/>
                <a:ea typeface="Calibri" pitchFamily="34" charset="-122"/>
                <a:cs typeface="Calibri" pitchFamily="34" charset="-120"/>
              </a:rPr>
              <a:t>tamamlanma</a:t>
            </a:r>
            <a:endParaRPr lang="tr-TR" sz="1100" dirty="0"/>
          </a:p>
        </p:txBody>
      </p:sp>
      <p:sp>
        <p:nvSpPr>
          <p:cNvPr id="25" name="Text 23"/>
          <p:cNvSpPr txBox="1"/>
          <p:nvPr/>
        </p:nvSpPr>
        <p:spPr>
          <a:xfrm>
            <a:off x="822960" y="4005072"/>
            <a:ext cx="5669280" cy="274320"/>
          </a:xfrm>
          <a:prstGeom prst="rect">
            <a:avLst/>
          </a:prstGeom>
          <a:noFill/>
          <a:ln/>
        </p:spPr>
        <p:txBody>
          <a:bodyPr wrap="square" lIns="0" tIns="0" rIns="0" bIns="0" rtlCol="0" anchor="t"/>
          <a:lstStyle/>
          <a:p>
            <a:pPr indent="0" marL="0">
              <a:buNone/>
            </a:pPr>
            <a:r>
              <a:rPr lang="tr-TR" sz="1200" i="1" dirty="0">
                <a:solidFill>
                  <a:srgbClr val="6B7679"/>
                </a:solidFill>
                <a:latin typeface="Calibri" pitchFamily="34" charset="0"/>
                <a:ea typeface="Calibri" pitchFamily="34" charset="-122"/>
                <a:cs typeface="Calibri" pitchFamily="34" charset="-120"/>
              </a:rPr>
              <a:t>patlama = 3 + 2 = 5,   bekleme = 4 + 2 = 6,   dönüş = 11</a:t>
            </a:r>
            <a:endParaRPr lang="tr-TR" sz="1200" dirty="0"/>
          </a:p>
        </p:txBody>
      </p:sp>
      <p:sp>
        <p:nvSpPr>
          <p:cNvPr id="26" name="Shape 24"/>
          <p:cNvSpPr/>
          <p:nvPr/>
        </p:nvSpPr>
        <p:spPr>
          <a:xfrm>
            <a:off x="6858000" y="2103120"/>
            <a:ext cx="4800600" cy="4160520"/>
          </a:xfrm>
          <a:prstGeom prst="roundRect">
            <a:avLst>
              <a:gd name="adj" fmla="val 1319"/>
            </a:avLst>
          </a:prstGeom>
          <a:solidFill>
            <a:srgbClr val="F2F2F2"/>
          </a:solidFill>
          <a:ln/>
          <a:effectLst>
            <a:outerShdw sx="100000" sy="100000" kx="0" ky="0" algn="bl" rotWithShape="0" blurRad="101600" dist="25400" dir="5400000">
              <a:srgbClr val="000000">
                <a:alpha val="12000"/>
              </a:srgbClr>
            </a:outerShdw>
          </a:effectLst>
        </p:spPr>
      </p:sp>
      <p:sp>
        <p:nvSpPr>
          <p:cNvPr id="27" name="Text 25"/>
          <p:cNvSpPr txBox="1"/>
          <p:nvPr/>
        </p:nvSpPr>
        <p:spPr>
          <a:xfrm>
            <a:off x="7086600" y="2286000"/>
            <a:ext cx="434340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Şekille sağlayalım</a:t>
            </a:r>
            <a:endParaRPr lang="tr-TR" sz="1500" dirty="0"/>
          </a:p>
        </p:txBody>
      </p:sp>
      <p:sp>
        <p:nvSpPr>
          <p:cNvPr id="28" name="Text 26"/>
          <p:cNvSpPr txBox="1"/>
          <p:nvPr/>
        </p:nvSpPr>
        <p:spPr>
          <a:xfrm>
            <a:off x="7086600" y="2743200"/>
            <a:ext cx="4343400" cy="3383280"/>
          </a:xfrm>
          <a:prstGeom prst="rect">
            <a:avLst/>
          </a:prstGeom>
          <a:noFill/>
          <a:ln/>
        </p:spPr>
        <p:txBody>
          <a:bodyPr wrap="square" lIns="0" tIns="0" rIns="0" bIns="0" rtlCol="0" anchor="t"/>
          <a:lstStyle/>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Dönüş = 11 − 0 = 11.</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Bekleme = 11 − 5 = 6  (= hazır kuyruğunda 4 + 2).</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Yanıt = 4 − 0 = 4.</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G/Ç patlamaları varsa bekleme süresi yalnızca HAZIR kuyruğundaki süredir; G/Ç süresini de çıkarın.</a:t>
            </a:r>
            <a:endParaRPr lang="tr-TR"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ÇÖZÜMLÜ ÖRNEK</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Alıştırma: Geliş Sırasına Göre Dört Süreç (FCFS)</a:t>
            </a:r>
            <a:endParaRPr lang="tr-TR"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tr-TR" sz="1500" dirty="0">
                <a:solidFill>
                  <a:srgbClr val="3A464C"/>
                </a:solidFill>
                <a:latin typeface="Calibri" pitchFamily="34" charset="0"/>
                <a:ea typeface="Calibri" pitchFamily="34" charset="-122"/>
                <a:cs typeface="Calibri" pitchFamily="34" charset="-120"/>
              </a:rPr>
              <a:t>"Akla ilk gelen" sıra — ilk gelen ilk hizmet alır (first come, first served) — tek işlemci, kesinti yok. Süreler ms.</a:t>
            </a:r>
            <a:endParaRPr lang="tr-TR"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4  ·  35</a:t>
            </a:r>
            <a:endParaRPr lang="tr-TR" sz="9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48640" y="2148840"/>
          <a:ext cx="3840480" cy="914400"/>
        </p:xfrm>
        <a:graphic>
          <a:graphicData uri="http://schemas.openxmlformats.org/drawingml/2006/table">
            <a:tbl>
              <a:tblPr/>
              <a:tblGrid>
                <a:gridCol w="1280160"/>
                <a:gridCol w="1280160"/>
                <a:gridCol w="1280160"/>
              </a:tblGrid>
              <a:tr h="0">
                <a:tc>
                  <a:txBody>
                    <a:bodyPr/>
                    <a:lstStyle/>
                    <a:p>
                      <a:pPr algn="ctr" indent="0" marL="0">
                        <a:buNone/>
                      </a:pPr>
                      <a:r>
                        <a:rPr lang="tr-TR" sz="1500" b="1" dirty="0">
                          <a:solidFill>
                            <a:srgbClr val="FFFFFF"/>
                          </a:solidFill>
                          <a:latin typeface="Cambria" pitchFamily="34" charset="0"/>
                          <a:ea typeface="Cambria" pitchFamily="34" charset="-122"/>
                          <a:cs typeface="Cambria" pitchFamily="34" charset="-120"/>
                        </a:rPr>
                        <a:t>Süreç</a:t>
                      </a:r>
                      <a:endParaRPr lang="tr-TR" sz="1500" dirty="0">
                        <a:latin typeface="Cambria" charset="0"/>
                        <a:ea typeface="Cambria" charset="0"/>
                        <a:cs typeface="Cambria" charset="0"/>
                      </a:endParaRPr>
                    </a:p>
                  </a:txBody>
                  <a:tcPr marL="101600" marR="101600" marT="76200" marB="762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tr-TR" sz="1500" b="1" dirty="0">
                          <a:solidFill>
                            <a:srgbClr val="FFFFFF"/>
                          </a:solidFill>
                          <a:latin typeface="Cambria" pitchFamily="34" charset="0"/>
                          <a:ea typeface="Cambria" pitchFamily="34" charset="-122"/>
                          <a:cs typeface="Cambria" pitchFamily="34" charset="-120"/>
                        </a:rPr>
                        <a:t>Geliş</a:t>
                      </a:r>
                      <a:endParaRPr lang="tr-TR" sz="1500" dirty="0">
                        <a:latin typeface="Cambria" charset="0"/>
                        <a:ea typeface="Cambria" charset="0"/>
                        <a:cs typeface="Cambria" charset="0"/>
                      </a:endParaRPr>
                    </a:p>
                  </a:txBody>
                  <a:tcPr marL="101600" marR="101600" marT="76200" marB="762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tr-TR" sz="1500" b="1" dirty="0">
                          <a:solidFill>
                            <a:srgbClr val="FFFFFF"/>
                          </a:solidFill>
                          <a:latin typeface="Cambria" pitchFamily="34" charset="0"/>
                          <a:ea typeface="Cambria" pitchFamily="34" charset="-122"/>
                          <a:cs typeface="Cambria" pitchFamily="34" charset="-120"/>
                        </a:rPr>
                        <a:t>Patlama</a:t>
                      </a:r>
                      <a:endParaRPr lang="tr-TR" sz="1500" dirty="0">
                        <a:latin typeface="Cambria" charset="0"/>
                        <a:ea typeface="Cambria" charset="0"/>
                        <a:cs typeface="Cambria" charset="0"/>
                      </a:endParaRPr>
                    </a:p>
                  </a:txBody>
                  <a:tcPr marL="101600" marR="101600" marT="76200" marB="762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algn="ctr" indent="0" marL="0">
                        <a:buNone/>
                      </a:pPr>
                      <a:r>
                        <a:rPr lang="tr-TR" sz="1500" b="1" dirty="0">
                          <a:solidFill>
                            <a:srgbClr val="3A464C"/>
                          </a:solidFill>
                          <a:latin typeface="Calibri" pitchFamily="34" charset="0"/>
                          <a:ea typeface="Calibri" pitchFamily="34" charset="-122"/>
                          <a:cs typeface="Calibri" pitchFamily="34" charset="-120"/>
                        </a:rPr>
                        <a:t>P1</a:t>
                      </a:r>
                      <a:endParaRPr lang="tr-TR" sz="1500" dirty="0">
                        <a:latin typeface="Calibri" charset="0"/>
                        <a:ea typeface="Calibri" charset="0"/>
                        <a:cs typeface="Calibri" charset="0"/>
                      </a:endParaRPr>
                    </a:p>
                  </a:txBody>
                  <a:tcPr marL="101600" marR="101600" marT="76200" marB="762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500" dirty="0">
                          <a:solidFill>
                            <a:srgbClr val="3A464C"/>
                          </a:solidFill>
                          <a:latin typeface="Calibri" pitchFamily="34" charset="0"/>
                          <a:ea typeface="Calibri" pitchFamily="34" charset="-122"/>
                          <a:cs typeface="Calibri" pitchFamily="34" charset="-120"/>
                        </a:rPr>
                        <a:t>0</a:t>
                      </a:r>
                      <a:endParaRPr lang="tr-TR" sz="1500" dirty="0">
                        <a:latin typeface="Calibri" charset="0"/>
                        <a:ea typeface="Calibri" charset="0"/>
                        <a:cs typeface="Calibri" charset="0"/>
                      </a:endParaRPr>
                    </a:p>
                  </a:txBody>
                  <a:tcPr marL="101600" marR="101600" marT="76200" marB="762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500" dirty="0">
                          <a:solidFill>
                            <a:srgbClr val="3A464C"/>
                          </a:solidFill>
                          <a:latin typeface="Calibri" pitchFamily="34" charset="0"/>
                          <a:ea typeface="Calibri" pitchFamily="34" charset="-122"/>
                          <a:cs typeface="Calibri" pitchFamily="34" charset="-120"/>
                        </a:rPr>
                        <a:t>5</a:t>
                      </a:r>
                      <a:endParaRPr lang="tr-TR" sz="1500" dirty="0">
                        <a:latin typeface="Calibri" charset="0"/>
                        <a:ea typeface="Calibri" charset="0"/>
                        <a:cs typeface="Calibri" charset="0"/>
                      </a:endParaRPr>
                    </a:p>
                  </a:txBody>
                  <a:tcPr marL="101600" marR="101600" marT="76200" marB="762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algn="ctr" indent="0" marL="0">
                        <a:buNone/>
                      </a:pPr>
                      <a:r>
                        <a:rPr lang="tr-TR" sz="1500" b="1" dirty="0">
                          <a:solidFill>
                            <a:srgbClr val="3A464C"/>
                          </a:solidFill>
                          <a:latin typeface="Calibri" pitchFamily="34" charset="0"/>
                          <a:ea typeface="Calibri" pitchFamily="34" charset="-122"/>
                          <a:cs typeface="Calibri" pitchFamily="34" charset="-120"/>
                        </a:rPr>
                        <a:t>P2</a:t>
                      </a:r>
                      <a:endParaRPr lang="tr-TR" sz="1500" dirty="0">
                        <a:latin typeface="Calibri" charset="0"/>
                        <a:ea typeface="Calibri" charset="0"/>
                        <a:cs typeface="Calibri" charset="0"/>
                      </a:endParaRPr>
                    </a:p>
                  </a:txBody>
                  <a:tcPr marL="101600" marR="101600" marT="76200" marB="762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500" dirty="0">
                          <a:solidFill>
                            <a:srgbClr val="3A464C"/>
                          </a:solidFill>
                          <a:latin typeface="Calibri" pitchFamily="34" charset="0"/>
                          <a:ea typeface="Calibri" pitchFamily="34" charset="-122"/>
                          <a:cs typeface="Calibri" pitchFamily="34" charset="-120"/>
                        </a:rPr>
                        <a:t>1</a:t>
                      </a:r>
                      <a:endParaRPr lang="tr-TR" sz="1500" dirty="0">
                        <a:latin typeface="Calibri" charset="0"/>
                        <a:ea typeface="Calibri" charset="0"/>
                        <a:cs typeface="Calibri" charset="0"/>
                      </a:endParaRPr>
                    </a:p>
                  </a:txBody>
                  <a:tcPr marL="101600" marR="101600" marT="76200" marB="762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500" dirty="0">
                          <a:solidFill>
                            <a:srgbClr val="3A464C"/>
                          </a:solidFill>
                          <a:latin typeface="Calibri" pitchFamily="34" charset="0"/>
                          <a:ea typeface="Calibri" pitchFamily="34" charset="-122"/>
                          <a:cs typeface="Calibri" pitchFamily="34" charset="-120"/>
                        </a:rPr>
                        <a:t>3</a:t>
                      </a:r>
                      <a:endParaRPr lang="tr-TR" sz="1500" dirty="0">
                        <a:latin typeface="Calibri" charset="0"/>
                        <a:ea typeface="Calibri" charset="0"/>
                        <a:cs typeface="Calibri" charset="0"/>
                      </a:endParaRPr>
                    </a:p>
                  </a:txBody>
                  <a:tcPr marL="101600" marR="101600" marT="76200" marB="762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algn="ctr" indent="0" marL="0">
                        <a:buNone/>
                      </a:pPr>
                      <a:r>
                        <a:rPr lang="tr-TR" sz="1500" b="1" dirty="0">
                          <a:solidFill>
                            <a:srgbClr val="3A464C"/>
                          </a:solidFill>
                          <a:latin typeface="Calibri" pitchFamily="34" charset="0"/>
                          <a:ea typeface="Calibri" pitchFamily="34" charset="-122"/>
                          <a:cs typeface="Calibri" pitchFamily="34" charset="-120"/>
                        </a:rPr>
                        <a:t>P3</a:t>
                      </a:r>
                      <a:endParaRPr lang="tr-TR" sz="1500" dirty="0">
                        <a:latin typeface="Calibri" charset="0"/>
                        <a:ea typeface="Calibri" charset="0"/>
                        <a:cs typeface="Calibri" charset="0"/>
                      </a:endParaRPr>
                    </a:p>
                  </a:txBody>
                  <a:tcPr marL="101600" marR="101600" marT="76200" marB="762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500" dirty="0">
                          <a:solidFill>
                            <a:srgbClr val="3A464C"/>
                          </a:solidFill>
                          <a:latin typeface="Calibri" pitchFamily="34" charset="0"/>
                          <a:ea typeface="Calibri" pitchFamily="34" charset="-122"/>
                          <a:cs typeface="Calibri" pitchFamily="34" charset="-120"/>
                        </a:rPr>
                        <a:t>2</a:t>
                      </a:r>
                      <a:endParaRPr lang="tr-TR" sz="1500" dirty="0">
                        <a:latin typeface="Calibri" charset="0"/>
                        <a:ea typeface="Calibri" charset="0"/>
                        <a:cs typeface="Calibri" charset="0"/>
                      </a:endParaRPr>
                    </a:p>
                  </a:txBody>
                  <a:tcPr marL="101600" marR="101600" marT="76200" marB="762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500" dirty="0">
                          <a:solidFill>
                            <a:srgbClr val="3A464C"/>
                          </a:solidFill>
                          <a:latin typeface="Calibri" pitchFamily="34" charset="0"/>
                          <a:ea typeface="Calibri" pitchFamily="34" charset="-122"/>
                          <a:cs typeface="Calibri" pitchFamily="34" charset="-120"/>
                        </a:rPr>
                        <a:t>6</a:t>
                      </a:r>
                      <a:endParaRPr lang="tr-TR" sz="1500" dirty="0">
                        <a:latin typeface="Calibri" charset="0"/>
                        <a:ea typeface="Calibri" charset="0"/>
                        <a:cs typeface="Calibri" charset="0"/>
                      </a:endParaRPr>
                    </a:p>
                  </a:txBody>
                  <a:tcPr marL="101600" marR="101600" marT="76200" marB="762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algn="ctr" indent="0" marL="0">
                        <a:buNone/>
                      </a:pPr>
                      <a:r>
                        <a:rPr lang="tr-TR" sz="1500" b="1" dirty="0">
                          <a:solidFill>
                            <a:srgbClr val="3A464C"/>
                          </a:solidFill>
                          <a:latin typeface="Calibri" pitchFamily="34" charset="0"/>
                          <a:ea typeface="Calibri" pitchFamily="34" charset="-122"/>
                          <a:cs typeface="Calibri" pitchFamily="34" charset="-120"/>
                        </a:rPr>
                        <a:t>P4</a:t>
                      </a:r>
                      <a:endParaRPr lang="tr-TR" sz="1500" dirty="0">
                        <a:latin typeface="Calibri" charset="0"/>
                        <a:ea typeface="Calibri" charset="0"/>
                        <a:cs typeface="Calibri" charset="0"/>
                      </a:endParaRPr>
                    </a:p>
                  </a:txBody>
                  <a:tcPr marL="101600" marR="101600" marT="76200" marB="762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500" dirty="0">
                          <a:solidFill>
                            <a:srgbClr val="3A464C"/>
                          </a:solidFill>
                          <a:latin typeface="Calibri" pitchFamily="34" charset="0"/>
                          <a:ea typeface="Calibri" pitchFamily="34" charset="-122"/>
                          <a:cs typeface="Calibri" pitchFamily="34" charset="-120"/>
                        </a:rPr>
                        <a:t>16</a:t>
                      </a:r>
                      <a:endParaRPr lang="tr-TR" sz="1500" dirty="0">
                        <a:latin typeface="Calibri" charset="0"/>
                        <a:ea typeface="Calibri" charset="0"/>
                        <a:cs typeface="Calibri" charset="0"/>
                      </a:endParaRPr>
                    </a:p>
                  </a:txBody>
                  <a:tcPr marL="101600" marR="101600" marT="76200" marB="762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500" dirty="0">
                          <a:solidFill>
                            <a:srgbClr val="3A464C"/>
                          </a:solidFill>
                          <a:latin typeface="Calibri" pitchFamily="34" charset="0"/>
                          <a:ea typeface="Calibri" pitchFamily="34" charset="-122"/>
                          <a:cs typeface="Calibri" pitchFamily="34" charset="-120"/>
                        </a:rPr>
                        <a:t>2</a:t>
                      </a:r>
                      <a:endParaRPr lang="tr-TR" sz="1500" dirty="0">
                        <a:latin typeface="Calibri" charset="0"/>
                        <a:ea typeface="Calibri" charset="0"/>
                        <a:cs typeface="Calibri" charset="0"/>
                      </a:endParaRPr>
                    </a:p>
                  </a:txBody>
                  <a:tcPr marL="101600" marR="101600" marT="76200" marB="762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bl>
          </a:graphicData>
        </a:graphic>
      </p:graphicFrame>
      <p:sp>
        <p:nvSpPr>
          <p:cNvPr id="8" name="Text 5"/>
          <p:cNvSpPr txBox="1"/>
          <p:nvPr/>
        </p:nvSpPr>
        <p:spPr>
          <a:xfrm>
            <a:off x="4937760" y="2057400"/>
            <a:ext cx="2743200" cy="274320"/>
          </a:xfrm>
          <a:prstGeom prst="rect">
            <a:avLst/>
          </a:prstGeom>
          <a:noFill/>
          <a:ln/>
        </p:spPr>
        <p:txBody>
          <a:bodyPr wrap="square" lIns="0" tIns="0" rIns="0" bIns="0" rtlCol="0" anchor="t"/>
          <a:lstStyle/>
          <a:p>
            <a:pPr indent="0" marL="0">
              <a:buNone/>
            </a:pPr>
            <a:r>
              <a:rPr lang="tr-TR" sz="1300" b="1" dirty="0">
                <a:solidFill>
                  <a:srgbClr val="36454F"/>
                </a:solidFill>
                <a:latin typeface="Calibri" pitchFamily="34" charset="0"/>
                <a:ea typeface="Calibri" pitchFamily="34" charset="-122"/>
                <a:cs typeface="Calibri" pitchFamily="34" charset="-120"/>
              </a:rPr>
              <a:t>Gantt şeması</a:t>
            </a:r>
            <a:endParaRPr lang="tr-TR" sz="1300" dirty="0"/>
          </a:p>
        </p:txBody>
      </p:sp>
      <p:sp>
        <p:nvSpPr>
          <p:cNvPr id="9" name="Shape 6"/>
          <p:cNvSpPr/>
          <p:nvPr/>
        </p:nvSpPr>
        <p:spPr>
          <a:xfrm>
            <a:off x="4937760" y="2423160"/>
            <a:ext cx="1783080" cy="685800"/>
          </a:xfrm>
          <a:prstGeom prst="rect">
            <a:avLst/>
          </a:prstGeom>
          <a:solidFill>
            <a:srgbClr val="02C39A"/>
          </a:solidFill>
          <a:ln w="19050">
            <a:solidFill>
              <a:srgbClr val="FFFFFF"/>
            </a:solidFill>
            <a:prstDash val="solid"/>
          </a:ln>
        </p:spPr>
      </p:sp>
      <p:sp>
        <p:nvSpPr>
          <p:cNvPr id="10" name="Text 7"/>
          <p:cNvSpPr txBox="1"/>
          <p:nvPr/>
        </p:nvSpPr>
        <p:spPr>
          <a:xfrm>
            <a:off x="4937760" y="2423160"/>
            <a:ext cx="1783080" cy="685800"/>
          </a:xfrm>
          <a:prstGeom prst="rect">
            <a:avLst/>
          </a:prstGeom>
          <a:noFill/>
          <a:ln/>
        </p:spPr>
        <p:txBody>
          <a:bodyPr wrap="square" lIns="0" tIns="0" rIns="0" bIns="0" rtlCol="0" anchor="ctr"/>
          <a:lstStyle/>
          <a:p>
            <a:pPr algn="ctr" indent="0" marL="0">
              <a:buNone/>
            </a:pPr>
            <a:r>
              <a:rPr lang="tr-TR" sz="1400" b="1" dirty="0">
                <a:solidFill>
                  <a:srgbClr val="36454F"/>
                </a:solidFill>
                <a:latin typeface="Calibri" pitchFamily="34" charset="0"/>
                <a:ea typeface="Calibri" pitchFamily="34" charset="-122"/>
                <a:cs typeface="Calibri" pitchFamily="34" charset="-120"/>
              </a:rPr>
              <a:t>P1</a:t>
            </a:r>
            <a:endParaRPr lang="tr-TR" sz="1400" dirty="0"/>
          </a:p>
        </p:txBody>
      </p:sp>
      <p:sp>
        <p:nvSpPr>
          <p:cNvPr id="11" name="Shape 8"/>
          <p:cNvSpPr/>
          <p:nvPr/>
        </p:nvSpPr>
        <p:spPr>
          <a:xfrm>
            <a:off x="6720840" y="2423160"/>
            <a:ext cx="1069848" cy="685800"/>
          </a:xfrm>
          <a:prstGeom prst="rect">
            <a:avLst/>
          </a:prstGeom>
          <a:solidFill>
            <a:srgbClr val="36454F"/>
          </a:solidFill>
          <a:ln w="19050">
            <a:solidFill>
              <a:srgbClr val="FFFFFF"/>
            </a:solidFill>
            <a:prstDash val="solid"/>
          </a:ln>
        </p:spPr>
      </p:sp>
      <p:sp>
        <p:nvSpPr>
          <p:cNvPr id="12" name="Text 9"/>
          <p:cNvSpPr txBox="1"/>
          <p:nvPr/>
        </p:nvSpPr>
        <p:spPr>
          <a:xfrm>
            <a:off x="6720840" y="2423160"/>
            <a:ext cx="1069848" cy="685800"/>
          </a:xfrm>
          <a:prstGeom prst="rect">
            <a:avLst/>
          </a:prstGeom>
          <a:noFill/>
          <a:ln/>
        </p:spPr>
        <p:txBody>
          <a:bodyPr wrap="square" lIns="0" tIns="0" rIns="0" bIns="0" rtlCol="0" anchor="ctr"/>
          <a:lstStyle/>
          <a:p>
            <a:pPr algn="ctr" indent="0" marL="0">
              <a:buNone/>
            </a:pPr>
            <a:r>
              <a:rPr lang="tr-TR" sz="1400" b="1" dirty="0">
                <a:solidFill>
                  <a:srgbClr val="FFFFFF"/>
                </a:solidFill>
                <a:latin typeface="Calibri" pitchFamily="34" charset="0"/>
                <a:ea typeface="Calibri" pitchFamily="34" charset="-122"/>
                <a:cs typeface="Calibri" pitchFamily="34" charset="-120"/>
              </a:rPr>
              <a:t>P2</a:t>
            </a:r>
            <a:endParaRPr lang="tr-TR" sz="1400" dirty="0"/>
          </a:p>
        </p:txBody>
      </p:sp>
      <p:sp>
        <p:nvSpPr>
          <p:cNvPr id="13" name="Shape 10"/>
          <p:cNvSpPr/>
          <p:nvPr/>
        </p:nvSpPr>
        <p:spPr>
          <a:xfrm>
            <a:off x="7790688" y="2423160"/>
            <a:ext cx="2139696" cy="685800"/>
          </a:xfrm>
          <a:prstGeom prst="rect">
            <a:avLst/>
          </a:prstGeom>
          <a:solidFill>
            <a:srgbClr val="50808E"/>
          </a:solidFill>
          <a:ln w="19050">
            <a:solidFill>
              <a:srgbClr val="FFFFFF"/>
            </a:solidFill>
            <a:prstDash val="solid"/>
          </a:ln>
        </p:spPr>
      </p:sp>
      <p:sp>
        <p:nvSpPr>
          <p:cNvPr id="14" name="Text 11"/>
          <p:cNvSpPr txBox="1"/>
          <p:nvPr/>
        </p:nvSpPr>
        <p:spPr>
          <a:xfrm>
            <a:off x="7790688" y="2423160"/>
            <a:ext cx="2139696" cy="685800"/>
          </a:xfrm>
          <a:prstGeom prst="rect">
            <a:avLst/>
          </a:prstGeom>
          <a:noFill/>
          <a:ln/>
        </p:spPr>
        <p:txBody>
          <a:bodyPr wrap="square" lIns="0" tIns="0" rIns="0" bIns="0" rtlCol="0" anchor="ctr"/>
          <a:lstStyle/>
          <a:p>
            <a:pPr algn="ctr" indent="0" marL="0">
              <a:buNone/>
            </a:pPr>
            <a:r>
              <a:rPr lang="tr-TR" sz="1400" b="1" dirty="0">
                <a:solidFill>
                  <a:srgbClr val="FFFFFF"/>
                </a:solidFill>
                <a:latin typeface="Calibri" pitchFamily="34" charset="0"/>
                <a:ea typeface="Calibri" pitchFamily="34" charset="-122"/>
                <a:cs typeface="Calibri" pitchFamily="34" charset="-120"/>
              </a:rPr>
              <a:t>P3</a:t>
            </a:r>
            <a:endParaRPr lang="tr-TR" sz="1400" dirty="0"/>
          </a:p>
        </p:txBody>
      </p:sp>
      <p:sp>
        <p:nvSpPr>
          <p:cNvPr id="15" name="Shape 12"/>
          <p:cNvSpPr/>
          <p:nvPr/>
        </p:nvSpPr>
        <p:spPr>
          <a:xfrm>
            <a:off x="9930384" y="2423160"/>
            <a:ext cx="713232" cy="685800"/>
          </a:xfrm>
          <a:prstGeom prst="rect">
            <a:avLst/>
          </a:prstGeom>
          <a:solidFill>
            <a:srgbClr val="FFFFFF"/>
          </a:solidFill>
          <a:ln w="19050">
            <a:solidFill>
              <a:srgbClr val="FFFFFF"/>
            </a:solidFill>
            <a:prstDash val="solid"/>
          </a:ln>
        </p:spPr>
      </p:sp>
      <p:sp>
        <p:nvSpPr>
          <p:cNvPr id="16" name="Text 13"/>
          <p:cNvSpPr txBox="1"/>
          <p:nvPr/>
        </p:nvSpPr>
        <p:spPr>
          <a:xfrm>
            <a:off x="9930384" y="2423160"/>
            <a:ext cx="713232" cy="685800"/>
          </a:xfrm>
          <a:prstGeom prst="rect">
            <a:avLst/>
          </a:prstGeom>
          <a:noFill/>
          <a:ln/>
        </p:spPr>
        <p:txBody>
          <a:bodyPr wrap="square" lIns="0" tIns="0" rIns="0" bIns="0" rtlCol="0" anchor="ctr"/>
          <a:lstStyle/>
          <a:p>
            <a:pPr algn="ctr" indent="0" marL="0">
              <a:buNone/>
            </a:pPr>
            <a:r>
              <a:rPr lang="tr-TR" sz="1400" b="1" dirty="0">
                <a:solidFill>
                  <a:srgbClr val="6B7679"/>
                </a:solidFill>
                <a:latin typeface="Calibri" pitchFamily="34" charset="0"/>
                <a:ea typeface="Calibri" pitchFamily="34" charset="-122"/>
                <a:cs typeface="Calibri" pitchFamily="34" charset="-120"/>
              </a:rPr>
              <a:t>boş</a:t>
            </a:r>
            <a:endParaRPr lang="tr-TR" sz="1400" dirty="0"/>
          </a:p>
        </p:txBody>
      </p:sp>
      <p:sp>
        <p:nvSpPr>
          <p:cNvPr id="17" name="Shape 14"/>
          <p:cNvSpPr/>
          <p:nvPr/>
        </p:nvSpPr>
        <p:spPr>
          <a:xfrm>
            <a:off x="10643616" y="2423160"/>
            <a:ext cx="713232" cy="685800"/>
          </a:xfrm>
          <a:prstGeom prst="rect">
            <a:avLst/>
          </a:prstGeom>
          <a:solidFill>
            <a:srgbClr val="D7E9E6"/>
          </a:solidFill>
          <a:ln w="19050">
            <a:solidFill>
              <a:srgbClr val="FFFFFF"/>
            </a:solidFill>
            <a:prstDash val="solid"/>
          </a:ln>
        </p:spPr>
      </p:sp>
      <p:sp>
        <p:nvSpPr>
          <p:cNvPr id="18" name="Text 15"/>
          <p:cNvSpPr txBox="1"/>
          <p:nvPr/>
        </p:nvSpPr>
        <p:spPr>
          <a:xfrm>
            <a:off x="10643616" y="2423160"/>
            <a:ext cx="713232" cy="685800"/>
          </a:xfrm>
          <a:prstGeom prst="rect">
            <a:avLst/>
          </a:prstGeom>
          <a:noFill/>
          <a:ln/>
        </p:spPr>
        <p:txBody>
          <a:bodyPr wrap="square" lIns="0" tIns="0" rIns="0" bIns="0" rtlCol="0" anchor="ctr"/>
          <a:lstStyle/>
          <a:p>
            <a:pPr algn="ctr" indent="0" marL="0">
              <a:buNone/>
            </a:pPr>
            <a:r>
              <a:rPr lang="tr-TR" sz="1400" b="1" dirty="0">
                <a:solidFill>
                  <a:srgbClr val="36454F"/>
                </a:solidFill>
                <a:latin typeface="Calibri" pitchFamily="34" charset="0"/>
                <a:ea typeface="Calibri" pitchFamily="34" charset="-122"/>
                <a:cs typeface="Calibri" pitchFamily="34" charset="-120"/>
              </a:rPr>
              <a:t>P4</a:t>
            </a:r>
            <a:endParaRPr lang="tr-TR" sz="1400" dirty="0"/>
          </a:p>
        </p:txBody>
      </p:sp>
      <p:sp>
        <p:nvSpPr>
          <p:cNvPr id="19" name="Text 16"/>
          <p:cNvSpPr txBox="1"/>
          <p:nvPr/>
        </p:nvSpPr>
        <p:spPr>
          <a:xfrm>
            <a:off x="4663440" y="3145536"/>
            <a:ext cx="548640" cy="256032"/>
          </a:xfrm>
          <a:prstGeom prst="rect">
            <a:avLst/>
          </a:prstGeom>
          <a:noFill/>
          <a:ln/>
        </p:spPr>
        <p:txBody>
          <a:bodyPr wrap="square" lIns="0" tIns="0" rIns="0" bIns="0" rtlCol="0" anchor="t"/>
          <a:lstStyle/>
          <a:p>
            <a:pPr algn="ctr" indent="0" marL="0">
              <a:buNone/>
            </a:pPr>
            <a:r>
              <a:rPr lang="tr-TR" sz="1200" dirty="0">
                <a:solidFill>
                  <a:srgbClr val="6B7679"/>
                </a:solidFill>
                <a:latin typeface="Calibri" pitchFamily="34" charset="0"/>
                <a:ea typeface="Calibri" pitchFamily="34" charset="-122"/>
                <a:cs typeface="Calibri" pitchFamily="34" charset="-120"/>
              </a:rPr>
              <a:t>0</a:t>
            </a:r>
            <a:endParaRPr lang="tr-TR" sz="1200" dirty="0"/>
          </a:p>
        </p:txBody>
      </p:sp>
      <p:sp>
        <p:nvSpPr>
          <p:cNvPr id="20" name="Text 17"/>
          <p:cNvSpPr txBox="1"/>
          <p:nvPr/>
        </p:nvSpPr>
        <p:spPr>
          <a:xfrm>
            <a:off x="6446520" y="3145536"/>
            <a:ext cx="548640" cy="256032"/>
          </a:xfrm>
          <a:prstGeom prst="rect">
            <a:avLst/>
          </a:prstGeom>
          <a:noFill/>
          <a:ln/>
        </p:spPr>
        <p:txBody>
          <a:bodyPr wrap="square" lIns="0" tIns="0" rIns="0" bIns="0" rtlCol="0" anchor="t"/>
          <a:lstStyle/>
          <a:p>
            <a:pPr algn="ctr" indent="0" marL="0">
              <a:buNone/>
            </a:pPr>
            <a:r>
              <a:rPr lang="tr-TR" sz="1200" dirty="0">
                <a:solidFill>
                  <a:srgbClr val="6B7679"/>
                </a:solidFill>
                <a:latin typeface="Calibri" pitchFamily="34" charset="0"/>
                <a:ea typeface="Calibri" pitchFamily="34" charset="-122"/>
                <a:cs typeface="Calibri" pitchFamily="34" charset="-120"/>
              </a:rPr>
              <a:t>5</a:t>
            </a:r>
            <a:endParaRPr lang="tr-TR" sz="1200" dirty="0"/>
          </a:p>
        </p:txBody>
      </p:sp>
      <p:sp>
        <p:nvSpPr>
          <p:cNvPr id="21" name="Text 18"/>
          <p:cNvSpPr txBox="1"/>
          <p:nvPr/>
        </p:nvSpPr>
        <p:spPr>
          <a:xfrm>
            <a:off x="7516368" y="3145536"/>
            <a:ext cx="548640" cy="256032"/>
          </a:xfrm>
          <a:prstGeom prst="rect">
            <a:avLst/>
          </a:prstGeom>
          <a:noFill/>
          <a:ln/>
        </p:spPr>
        <p:txBody>
          <a:bodyPr wrap="square" lIns="0" tIns="0" rIns="0" bIns="0" rtlCol="0" anchor="t"/>
          <a:lstStyle/>
          <a:p>
            <a:pPr algn="ctr" indent="0" marL="0">
              <a:buNone/>
            </a:pPr>
            <a:r>
              <a:rPr lang="tr-TR" sz="1200" dirty="0">
                <a:solidFill>
                  <a:srgbClr val="6B7679"/>
                </a:solidFill>
                <a:latin typeface="Calibri" pitchFamily="34" charset="0"/>
                <a:ea typeface="Calibri" pitchFamily="34" charset="-122"/>
                <a:cs typeface="Calibri" pitchFamily="34" charset="-120"/>
              </a:rPr>
              <a:t>8</a:t>
            </a:r>
            <a:endParaRPr lang="tr-TR" sz="1200" dirty="0"/>
          </a:p>
        </p:txBody>
      </p:sp>
      <p:sp>
        <p:nvSpPr>
          <p:cNvPr id="22" name="Text 19"/>
          <p:cNvSpPr txBox="1"/>
          <p:nvPr/>
        </p:nvSpPr>
        <p:spPr>
          <a:xfrm>
            <a:off x="9656064" y="3145536"/>
            <a:ext cx="548640" cy="256032"/>
          </a:xfrm>
          <a:prstGeom prst="rect">
            <a:avLst/>
          </a:prstGeom>
          <a:noFill/>
          <a:ln/>
        </p:spPr>
        <p:txBody>
          <a:bodyPr wrap="square" lIns="0" tIns="0" rIns="0" bIns="0" rtlCol="0" anchor="t"/>
          <a:lstStyle/>
          <a:p>
            <a:pPr algn="ctr" indent="0" marL="0">
              <a:buNone/>
            </a:pPr>
            <a:r>
              <a:rPr lang="tr-TR" sz="1200" dirty="0">
                <a:solidFill>
                  <a:srgbClr val="6B7679"/>
                </a:solidFill>
                <a:latin typeface="Calibri" pitchFamily="34" charset="0"/>
                <a:ea typeface="Calibri" pitchFamily="34" charset="-122"/>
                <a:cs typeface="Calibri" pitchFamily="34" charset="-120"/>
              </a:rPr>
              <a:t>14</a:t>
            </a:r>
            <a:endParaRPr lang="tr-TR" sz="1200" dirty="0"/>
          </a:p>
        </p:txBody>
      </p:sp>
      <p:sp>
        <p:nvSpPr>
          <p:cNvPr id="23" name="Text 20"/>
          <p:cNvSpPr txBox="1"/>
          <p:nvPr/>
        </p:nvSpPr>
        <p:spPr>
          <a:xfrm>
            <a:off x="10369296" y="3145536"/>
            <a:ext cx="548640" cy="256032"/>
          </a:xfrm>
          <a:prstGeom prst="rect">
            <a:avLst/>
          </a:prstGeom>
          <a:noFill/>
          <a:ln/>
        </p:spPr>
        <p:txBody>
          <a:bodyPr wrap="square" lIns="0" tIns="0" rIns="0" bIns="0" rtlCol="0" anchor="t"/>
          <a:lstStyle/>
          <a:p>
            <a:pPr algn="ctr" indent="0" marL="0">
              <a:buNone/>
            </a:pPr>
            <a:r>
              <a:rPr lang="tr-TR" sz="1200" dirty="0">
                <a:solidFill>
                  <a:srgbClr val="6B7679"/>
                </a:solidFill>
                <a:latin typeface="Calibri" pitchFamily="34" charset="0"/>
                <a:ea typeface="Calibri" pitchFamily="34" charset="-122"/>
                <a:cs typeface="Calibri" pitchFamily="34" charset="-120"/>
              </a:rPr>
              <a:t>16</a:t>
            </a:r>
            <a:endParaRPr lang="tr-TR" sz="1200" dirty="0"/>
          </a:p>
        </p:txBody>
      </p:sp>
      <p:sp>
        <p:nvSpPr>
          <p:cNvPr id="24" name="Text 21"/>
          <p:cNvSpPr txBox="1"/>
          <p:nvPr/>
        </p:nvSpPr>
        <p:spPr>
          <a:xfrm>
            <a:off x="11082528" y="3145536"/>
            <a:ext cx="548640" cy="256032"/>
          </a:xfrm>
          <a:prstGeom prst="rect">
            <a:avLst/>
          </a:prstGeom>
          <a:noFill/>
          <a:ln/>
        </p:spPr>
        <p:txBody>
          <a:bodyPr wrap="square" lIns="0" tIns="0" rIns="0" bIns="0" rtlCol="0" anchor="t"/>
          <a:lstStyle/>
          <a:p>
            <a:pPr algn="ctr" indent="0" marL="0">
              <a:buNone/>
            </a:pPr>
            <a:r>
              <a:rPr lang="tr-TR" sz="1200" dirty="0">
                <a:solidFill>
                  <a:srgbClr val="6B7679"/>
                </a:solidFill>
                <a:latin typeface="Calibri" pitchFamily="34" charset="0"/>
                <a:ea typeface="Calibri" pitchFamily="34" charset="-122"/>
                <a:cs typeface="Calibri" pitchFamily="34" charset="-120"/>
              </a:rPr>
              <a:t>18</a:t>
            </a:r>
            <a:endParaRPr lang="tr-TR" sz="1200" dirty="0"/>
          </a:p>
        </p:txBody>
      </p:sp>
      <p:sp>
        <p:nvSpPr>
          <p:cNvPr id="25" name="Shape 22"/>
          <p:cNvSpPr/>
          <p:nvPr/>
        </p:nvSpPr>
        <p:spPr>
          <a:xfrm>
            <a:off x="9930384" y="2423160"/>
            <a:ext cx="713232" cy="685800"/>
          </a:xfrm>
          <a:prstGeom prst="rect">
            <a:avLst/>
          </a:prstGeom>
          <a:ln w="12700">
            <a:solidFill>
              <a:srgbClr val="50808E"/>
            </a:solidFill>
            <a:prstDash val="dash"/>
          </a:ln>
        </p:spPr>
      </p:sp>
      <p:sp>
        <p:nvSpPr>
          <p:cNvPr id="26" name="Shape 23"/>
          <p:cNvSpPr/>
          <p:nvPr/>
        </p:nvSpPr>
        <p:spPr>
          <a:xfrm>
            <a:off x="4937760" y="3657600"/>
            <a:ext cx="6720840" cy="2606040"/>
          </a:xfrm>
          <a:prstGeom prst="roundRect">
            <a:avLst>
              <a:gd name="adj" fmla="val 2105"/>
            </a:avLst>
          </a:prstGeom>
          <a:solidFill>
            <a:srgbClr val="F2F2F2"/>
          </a:solidFill>
          <a:ln/>
          <a:effectLst>
            <a:outerShdw sx="100000" sy="100000" kx="0" ky="0" algn="bl" rotWithShape="0" blurRad="101600" dist="25400" dir="5400000">
              <a:srgbClr val="000000">
                <a:alpha val="12000"/>
              </a:srgbClr>
            </a:outerShdw>
          </a:effectLst>
        </p:spPr>
      </p:sp>
      <p:sp>
        <p:nvSpPr>
          <p:cNvPr id="27" name="Text 24"/>
          <p:cNvSpPr txBox="1"/>
          <p:nvPr/>
        </p:nvSpPr>
        <p:spPr>
          <a:xfrm>
            <a:off x="5166360" y="3840480"/>
            <a:ext cx="626364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Nasıl okunur?</a:t>
            </a:r>
            <a:endParaRPr lang="tr-TR" sz="1500" dirty="0"/>
          </a:p>
        </p:txBody>
      </p:sp>
      <p:sp>
        <p:nvSpPr>
          <p:cNvPr id="28" name="Text 25"/>
          <p:cNvSpPr txBox="1"/>
          <p:nvPr/>
        </p:nvSpPr>
        <p:spPr>
          <a:xfrm>
            <a:off x="5166360" y="4297680"/>
            <a:ext cx="6263640" cy="1828800"/>
          </a:xfrm>
          <a:prstGeom prst="rect">
            <a:avLst/>
          </a:prstGeom>
          <a:noFill/>
          <a:ln/>
        </p:spPr>
        <p:txBody>
          <a:bodyPr wrap="square" lIns="0" tIns="0" rIns="0" bIns="0" rtlCol="0" anchor="t"/>
          <a:lstStyle/>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P1 0'da gelir ve hemen çalışır. P2 ile P3, P1 çalışırken gelir: hazır kuyruğunda beklerler.</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14'te hazır kuyruğu boştur: P4 16'da gelene kadar işlemci boşta kalır.</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Sonraki slayt: bu şemadan her ölçütü hesaplayacağız.</a:t>
            </a:r>
            <a:endParaRPr lang="tr-TR" sz="1400" dirty="0"/>
          </a:p>
        </p:txBody>
      </p:sp>
      <p:sp>
        <p:nvSpPr>
          <p:cNvPr id="29" name="Shape 26"/>
          <p:cNvSpPr/>
          <p:nvPr/>
        </p:nvSpPr>
        <p:spPr>
          <a:xfrm>
            <a:off x="548640" y="4343400"/>
            <a:ext cx="3840480" cy="1920240"/>
          </a:xfrm>
          <a:prstGeom prst="roundRect">
            <a:avLst>
              <a:gd name="adj" fmla="val 2857"/>
            </a:avLst>
          </a:prstGeom>
          <a:solidFill>
            <a:srgbClr val="36454F"/>
          </a:solidFill>
          <a:ln/>
          <a:effectLst>
            <a:outerShdw sx="100000" sy="100000" kx="0" ky="0" algn="bl" rotWithShape="0" blurRad="101600" dist="25400" dir="5400000">
              <a:srgbClr val="000000">
                <a:alpha val="12000"/>
              </a:srgbClr>
            </a:outerShdw>
          </a:effectLst>
        </p:spPr>
      </p:sp>
      <p:sp>
        <p:nvSpPr>
          <p:cNvPr id="30" name="Text 27"/>
          <p:cNvSpPr txBox="1"/>
          <p:nvPr/>
        </p:nvSpPr>
        <p:spPr>
          <a:xfrm>
            <a:off x="777240" y="4343400"/>
            <a:ext cx="3383280" cy="1920240"/>
          </a:xfrm>
          <a:prstGeom prst="rect">
            <a:avLst/>
          </a:prstGeom>
          <a:noFill/>
          <a:ln/>
        </p:spPr>
        <p:txBody>
          <a:bodyPr wrap="square" lIns="0" tIns="0" rIns="0" bIns="0" rtlCol="0" anchor="ctr"/>
          <a:lstStyle/>
          <a:p>
            <a:pPr indent="0" marL="0">
              <a:buNone/>
            </a:pPr>
            <a:r>
              <a:rPr lang="tr-TR" sz="1350" dirty="0">
                <a:solidFill>
                  <a:srgbClr val="F2F2F2"/>
                </a:solidFill>
                <a:latin typeface="Calibri" pitchFamily="34" charset="0"/>
                <a:ea typeface="Calibri" pitchFamily="34" charset="-122"/>
                <a:cs typeface="Calibri" pitchFamily="34" charset="-120"/>
              </a:rPr>
              <a:t>Asıl soruyu 5. hafta soracak: geliş sırası iyi bir sıra mı? (P2 ile P3'ün yerini değiştirip karşılaştırın.)</a:t>
            </a:r>
            <a:endParaRPr lang="tr-TR" sz="13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ÇÖZÜMLÜ ÖRNEK</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Alıştırma: Ölçütleri Hesaplamak</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4  ·  36</a:t>
            </a:r>
            <a:endParaRPr lang="tr-TR" sz="9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109960" cy="914400"/>
        </p:xfrm>
        <a:graphic>
          <a:graphicData uri="http://schemas.openxmlformats.org/drawingml/2006/table">
            <a:tbl>
              <a:tblPr/>
              <a:tblGrid>
                <a:gridCol w="1188720"/>
                <a:gridCol w="1097280"/>
                <a:gridCol w="1188720"/>
                <a:gridCol w="1600200"/>
                <a:gridCol w="2148840"/>
                <a:gridCol w="2240280"/>
                <a:gridCol w="1645920"/>
              </a:tblGrid>
              <a:tr h="0">
                <a:tc>
                  <a:txBody>
                    <a:bodyPr/>
                    <a:lstStyle/>
                    <a:p>
                      <a:pPr indent="0" marL="0">
                        <a:buNone/>
                      </a:pPr>
                      <a:r>
                        <a:rPr lang="tr-TR" sz="1600" b="1" dirty="0">
                          <a:solidFill>
                            <a:srgbClr val="FFFFFF"/>
                          </a:solidFill>
                          <a:latin typeface="Cambria" pitchFamily="34" charset="0"/>
                          <a:ea typeface="Cambria" pitchFamily="34" charset="-122"/>
                          <a:cs typeface="Cambria" pitchFamily="34" charset="-120"/>
                        </a:rPr>
                        <a:t>Süreç</a:t>
                      </a:r>
                      <a:endParaRPr lang="tr-TR" sz="16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600" b="1" dirty="0">
                          <a:solidFill>
                            <a:srgbClr val="FFFFFF"/>
                          </a:solidFill>
                          <a:latin typeface="Cambria" pitchFamily="34" charset="0"/>
                          <a:ea typeface="Cambria" pitchFamily="34" charset="-122"/>
                          <a:cs typeface="Cambria" pitchFamily="34" charset="-120"/>
                        </a:rPr>
                        <a:t>Geliş</a:t>
                      </a:r>
                      <a:endParaRPr lang="tr-TR" sz="16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600" b="1" dirty="0">
                          <a:solidFill>
                            <a:srgbClr val="FFFFFF"/>
                          </a:solidFill>
                          <a:latin typeface="Cambria" pitchFamily="34" charset="0"/>
                          <a:ea typeface="Cambria" pitchFamily="34" charset="-122"/>
                          <a:cs typeface="Cambria" pitchFamily="34" charset="-120"/>
                        </a:rPr>
                        <a:t>Patlama</a:t>
                      </a:r>
                      <a:endParaRPr lang="tr-TR" sz="16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600" b="1" dirty="0">
                          <a:solidFill>
                            <a:srgbClr val="FFFFFF"/>
                          </a:solidFill>
                          <a:latin typeface="Cambria" pitchFamily="34" charset="0"/>
                          <a:ea typeface="Cambria" pitchFamily="34" charset="-122"/>
                          <a:cs typeface="Cambria" pitchFamily="34" charset="-120"/>
                        </a:rPr>
                        <a:t>Tamamlanma</a:t>
                      </a:r>
                      <a:endParaRPr lang="tr-TR" sz="16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600" b="1" dirty="0">
                          <a:solidFill>
                            <a:srgbClr val="FFFFFF"/>
                          </a:solidFill>
                          <a:latin typeface="Cambria" pitchFamily="34" charset="0"/>
                          <a:ea typeface="Cambria" pitchFamily="34" charset="-122"/>
                          <a:cs typeface="Cambria" pitchFamily="34" charset="-120"/>
                        </a:rPr>
                        <a:t>Dönüş = Tam. − Gel.</a:t>
                      </a:r>
                      <a:endParaRPr lang="tr-TR" sz="16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600" b="1" dirty="0">
                          <a:solidFill>
                            <a:srgbClr val="FFFFFF"/>
                          </a:solidFill>
                          <a:latin typeface="Cambria" pitchFamily="34" charset="0"/>
                          <a:ea typeface="Cambria" pitchFamily="34" charset="-122"/>
                          <a:cs typeface="Cambria" pitchFamily="34" charset="-120"/>
                        </a:rPr>
                        <a:t>Bekleme = Dön. − Pat.</a:t>
                      </a:r>
                      <a:endParaRPr lang="tr-TR" sz="16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600" b="1" dirty="0">
                          <a:solidFill>
                            <a:srgbClr val="FFFFFF"/>
                          </a:solidFill>
                          <a:latin typeface="Cambria" pitchFamily="34" charset="0"/>
                          <a:ea typeface="Cambria" pitchFamily="34" charset="-122"/>
                          <a:cs typeface="Cambria" pitchFamily="34" charset="-120"/>
                        </a:rPr>
                        <a:t>Yanıt</a:t>
                      </a:r>
                      <a:endParaRPr lang="tr-TR" sz="16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tr-TR" sz="1500" b="1" dirty="0">
                          <a:solidFill>
                            <a:srgbClr val="3A464C"/>
                          </a:solidFill>
                          <a:latin typeface="Calibri" pitchFamily="34" charset="0"/>
                          <a:ea typeface="Calibri" pitchFamily="34" charset="-122"/>
                          <a:cs typeface="Calibri" pitchFamily="34" charset="-120"/>
                        </a:rPr>
                        <a:t>P1</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0</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5</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5</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5 − 0 = 5</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5 − 5 = 0</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0</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500" b="1" dirty="0">
                          <a:solidFill>
                            <a:srgbClr val="3A464C"/>
                          </a:solidFill>
                          <a:latin typeface="Calibri" pitchFamily="34" charset="0"/>
                          <a:ea typeface="Calibri" pitchFamily="34" charset="-122"/>
                          <a:cs typeface="Calibri" pitchFamily="34" charset="-120"/>
                        </a:rPr>
                        <a:t>P2</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1</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3</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8</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8 − 1 = 7</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7 − 3 = 4</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4</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500" b="1" dirty="0">
                          <a:solidFill>
                            <a:srgbClr val="3A464C"/>
                          </a:solidFill>
                          <a:latin typeface="Calibri" pitchFamily="34" charset="0"/>
                          <a:ea typeface="Calibri" pitchFamily="34" charset="-122"/>
                          <a:cs typeface="Calibri" pitchFamily="34" charset="-120"/>
                        </a:rPr>
                        <a:t>P3</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2</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6</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14</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14 − 2 = 12</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12 − 6 = 6</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6</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500" b="1" dirty="0">
                          <a:solidFill>
                            <a:srgbClr val="3A464C"/>
                          </a:solidFill>
                          <a:latin typeface="Calibri" pitchFamily="34" charset="0"/>
                          <a:ea typeface="Calibri" pitchFamily="34" charset="-122"/>
                          <a:cs typeface="Calibri" pitchFamily="34" charset="-120"/>
                        </a:rPr>
                        <a:t>P4</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16</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2</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18</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18 − 16 = 2</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2 − 2 = 0</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0</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500" b="1" dirty="0">
                          <a:solidFill>
                            <a:srgbClr val="3A464C"/>
                          </a:solidFill>
                          <a:latin typeface="Calibri" pitchFamily="34" charset="0"/>
                          <a:ea typeface="Calibri" pitchFamily="34" charset="-122"/>
                          <a:cs typeface="Calibri" pitchFamily="34" charset="-120"/>
                        </a:rPr>
                        <a:t>Ortalama</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26 / 4 = 6,5 ms</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10 / 4 = 2,5 ms</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2,5 ms</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bl>
          </a:graphicData>
        </a:graphic>
      </p:graphicFrame>
      <p:sp>
        <p:nvSpPr>
          <p:cNvPr id="7" name="Shape 4"/>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sp>
      <p:sp>
        <p:nvSpPr>
          <p:cNvPr id="8" name="Text 5"/>
          <p:cNvSpPr txBox="1"/>
          <p:nvPr/>
        </p:nvSpPr>
        <p:spPr>
          <a:xfrm>
            <a:off x="777240" y="5486400"/>
            <a:ext cx="10652760" cy="777240"/>
          </a:xfrm>
          <a:prstGeom prst="rect">
            <a:avLst/>
          </a:prstGeom>
          <a:noFill/>
          <a:ln/>
        </p:spPr>
        <p:txBody>
          <a:bodyPr wrap="square" lIns="0" tIns="0" rIns="0" bIns="0" rtlCol="0" anchor="ctr"/>
          <a:lstStyle/>
          <a:p>
            <a:pPr indent="0" marL="0">
              <a:buNone/>
            </a:pPr>
            <a:r>
              <a:rPr lang="tr-TR" sz="1400" dirty="0">
                <a:solidFill>
                  <a:srgbClr val="F2F2F2"/>
                </a:solidFill>
                <a:latin typeface="Calibri" pitchFamily="34" charset="0"/>
                <a:ea typeface="Calibri" pitchFamily="34" charset="-122"/>
                <a:cs typeface="Calibri" pitchFamily="34" charset="-120"/>
              </a:rPr>
              <a:t>İşlemci kullanımı = 16 ms meşgul / 18 ms = %88,9.   Üretilen iş = 4 süreç / 18 ms ≈ ms başına 0,22 (saniyede 222).</a:t>
            </a:r>
            <a:endParaRPr lang="tr-TR"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İYİLEŞTİRME HEDEFLERİ</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Hangi Ölçüt Daha Önemli? Duruma Bağlı</a:t>
            </a:r>
            <a:endParaRPr lang="tr-TR"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tr-TR" sz="1500" dirty="0">
                <a:solidFill>
                  <a:srgbClr val="3A464C"/>
                </a:solidFill>
                <a:latin typeface="Calibri" pitchFamily="34" charset="0"/>
                <a:ea typeface="Calibri" pitchFamily="34" charset="-122"/>
                <a:cs typeface="Calibri" pitchFamily="34" charset="-120"/>
              </a:rPr>
              <a:t>İşlemci kullanımını ve üretilen işi en büyük; dönüş, bekleme ve yanıt süresini en küçük yap. Bu hedefler çatışır.</a:t>
            </a:r>
            <a:endParaRPr lang="tr-TR"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4  ·  37</a:t>
            </a:r>
            <a:endParaRPr lang="tr-TR" sz="900" dirty="0"/>
          </a:p>
        </p:txBody>
      </p:sp>
      <p:sp>
        <p:nvSpPr>
          <p:cNvPr id="7" name="Shape 5"/>
          <p:cNvSpPr/>
          <p:nvPr/>
        </p:nvSpPr>
        <p:spPr>
          <a:xfrm>
            <a:off x="548640" y="2103120"/>
            <a:ext cx="3550920" cy="3154680"/>
          </a:xfrm>
          <a:prstGeom prst="roundRect">
            <a:avLst>
              <a:gd name="adj" fmla="val 1739"/>
            </a:avLst>
          </a:prstGeom>
          <a:solidFill>
            <a:srgbClr val="F2F2F2"/>
          </a:solidFill>
          <a:ln/>
          <a:effectLst>
            <a:outerShdw sx="100000" sy="100000" kx="0" ky="0" algn="bl" rotWithShape="0" blurRad="101600" dist="25400" dir="5400000">
              <a:srgbClr val="000000">
                <a:alpha val="12000"/>
              </a:srgbClr>
            </a:outerShdw>
          </a:effectLst>
        </p:spPr>
      </p:sp>
      <p:sp>
        <p:nvSpPr>
          <p:cNvPr id="8" name="Text 6"/>
          <p:cNvSpPr txBox="1"/>
          <p:nvPr/>
        </p:nvSpPr>
        <p:spPr>
          <a:xfrm>
            <a:off x="777240" y="2286000"/>
            <a:ext cx="309372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Toplu iş / sunucular</a:t>
            </a:r>
            <a:endParaRPr lang="tr-TR" sz="1600" dirty="0"/>
          </a:p>
        </p:txBody>
      </p:sp>
      <p:sp>
        <p:nvSpPr>
          <p:cNvPr id="9" name="Text 7"/>
          <p:cNvSpPr txBox="1"/>
          <p:nvPr/>
        </p:nvSpPr>
        <p:spPr>
          <a:xfrm>
            <a:off x="777240" y="2743200"/>
            <a:ext cx="3093720" cy="2377440"/>
          </a:xfrm>
          <a:prstGeom prst="rect">
            <a:avLst/>
          </a:prstGeom>
          <a:noFill/>
          <a:ln/>
        </p:spPr>
        <p:txBody>
          <a:bodyPr wrap="square" lIns="0" tIns="0" rIns="0" bIns="0" rtlCol="0" anchor="t"/>
          <a:lstStyle/>
          <a:p>
            <a:pPr marL="228600" indent="-228600">
              <a:spcAft>
                <a:spcPts val="400"/>
              </a:spcAft>
              <a:buSzPct val="100000"/>
              <a:buChar char="•"/>
            </a:pPr>
            <a:r>
              <a:rPr lang="tr-TR" sz="1600" dirty="0">
                <a:solidFill>
                  <a:srgbClr val="3A464C"/>
                </a:solidFill>
                <a:latin typeface="Calibri" pitchFamily="34" charset="0"/>
                <a:ea typeface="Calibri" pitchFamily="34" charset="-122"/>
                <a:cs typeface="Calibri" pitchFamily="34" charset="-120"/>
              </a:rPr>
              <a:t>Üretilen iş ve işlemci kullanımı.</a:t>
            </a:r>
            <a:endParaRPr lang="tr-TR" sz="1600" dirty="0"/>
          </a:p>
          <a:p>
            <a:pPr marL="228600" indent="-228600">
              <a:spcAft>
                <a:spcPts val="400"/>
              </a:spcAft>
              <a:buSzPct val="100000"/>
              <a:buChar char="•"/>
            </a:pPr>
            <a:r>
              <a:rPr lang="tr-TR" sz="1600" dirty="0">
                <a:solidFill>
                  <a:srgbClr val="3A464C"/>
                </a:solidFill>
                <a:latin typeface="Calibri" pitchFamily="34" charset="0"/>
                <a:ea typeface="Calibri" pitchFamily="34" charset="-122"/>
                <a:cs typeface="Calibri" pitchFamily="34" charset="-120"/>
              </a:rPr>
              <a:t>Saatte yapılan toplam iş yüksek olduğu sürece uzun işler sorun değildir.</a:t>
            </a:r>
            <a:endParaRPr lang="tr-TR" sz="1600" dirty="0"/>
          </a:p>
        </p:txBody>
      </p:sp>
      <p:sp>
        <p:nvSpPr>
          <p:cNvPr id="10" name="Shape 8"/>
          <p:cNvSpPr/>
          <p:nvPr/>
        </p:nvSpPr>
        <p:spPr>
          <a:xfrm>
            <a:off x="4328160" y="2103120"/>
            <a:ext cx="3550920" cy="3154680"/>
          </a:xfrm>
          <a:prstGeom prst="roundRect">
            <a:avLst>
              <a:gd name="adj" fmla="val 1739"/>
            </a:avLst>
          </a:prstGeom>
          <a:solidFill>
            <a:srgbClr val="F2F2F2"/>
          </a:solidFill>
          <a:ln/>
          <a:effectLst>
            <a:outerShdw sx="100000" sy="100000" kx="0" ky="0" algn="bl" rotWithShape="0" blurRad="101600" dist="25400" dir="5400000">
              <a:srgbClr val="000000">
                <a:alpha val="12000"/>
              </a:srgbClr>
            </a:outerShdw>
          </a:effectLst>
        </p:spPr>
      </p:sp>
      <p:sp>
        <p:nvSpPr>
          <p:cNvPr id="11" name="Text 9"/>
          <p:cNvSpPr txBox="1"/>
          <p:nvPr/>
        </p:nvSpPr>
        <p:spPr>
          <a:xfrm>
            <a:off x="4556760" y="2286000"/>
            <a:ext cx="309372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Masaüstü / telefon</a:t>
            </a:r>
            <a:endParaRPr lang="tr-TR" sz="1600" dirty="0"/>
          </a:p>
        </p:txBody>
      </p:sp>
      <p:sp>
        <p:nvSpPr>
          <p:cNvPr id="12" name="Text 10"/>
          <p:cNvSpPr txBox="1"/>
          <p:nvPr/>
        </p:nvSpPr>
        <p:spPr>
          <a:xfrm>
            <a:off x="4556760" y="2743200"/>
            <a:ext cx="3093720" cy="2377440"/>
          </a:xfrm>
          <a:prstGeom prst="rect">
            <a:avLst/>
          </a:prstGeom>
          <a:noFill/>
          <a:ln/>
        </p:spPr>
        <p:txBody>
          <a:bodyPr wrap="square" lIns="0" tIns="0" rIns="0" bIns="0" rtlCol="0" anchor="t"/>
          <a:lstStyle/>
          <a:p>
            <a:pPr marL="228600" indent="-228600">
              <a:spcAft>
                <a:spcPts val="400"/>
              </a:spcAft>
              <a:buSzPct val="100000"/>
              <a:buChar char="•"/>
            </a:pPr>
            <a:r>
              <a:rPr lang="tr-TR" sz="1600" dirty="0">
                <a:solidFill>
                  <a:srgbClr val="3A464C"/>
                </a:solidFill>
                <a:latin typeface="Calibri" pitchFamily="34" charset="0"/>
                <a:ea typeface="Calibri" pitchFamily="34" charset="-122"/>
                <a:cs typeface="Calibri" pitchFamily="34" charset="-120"/>
              </a:rPr>
              <a:t>Yanıt süresi: kullanıcı tepkiyi hemen görmeli.</a:t>
            </a:r>
            <a:endParaRPr lang="tr-TR" sz="1600" dirty="0"/>
          </a:p>
          <a:p>
            <a:pPr marL="228600" indent="-228600">
              <a:spcAft>
                <a:spcPts val="400"/>
              </a:spcAft>
              <a:buSzPct val="100000"/>
              <a:buChar char="•"/>
            </a:pPr>
            <a:r>
              <a:rPr lang="tr-TR" sz="1600" dirty="0">
                <a:solidFill>
                  <a:srgbClr val="3A464C"/>
                </a:solidFill>
                <a:latin typeface="Calibri" pitchFamily="34" charset="0"/>
                <a:ea typeface="Calibri" pitchFamily="34" charset="-122"/>
                <a:cs typeface="Calibri" pitchFamily="34" charset="-120"/>
              </a:rPr>
              <a:t>Öngörülebilirlik: hep 50 ms, bazen 2 s'ye çıkan 5 ms'den daha iyi hissettirir.</a:t>
            </a:r>
            <a:endParaRPr lang="tr-TR" sz="1600" dirty="0"/>
          </a:p>
        </p:txBody>
      </p:sp>
      <p:sp>
        <p:nvSpPr>
          <p:cNvPr id="13" name="Shape 11"/>
          <p:cNvSpPr/>
          <p:nvPr/>
        </p:nvSpPr>
        <p:spPr>
          <a:xfrm>
            <a:off x="8107680" y="2103120"/>
            <a:ext cx="3550920" cy="3154680"/>
          </a:xfrm>
          <a:prstGeom prst="roundRect">
            <a:avLst>
              <a:gd name="adj" fmla="val 1739"/>
            </a:avLst>
          </a:prstGeom>
          <a:solidFill>
            <a:srgbClr val="F2F2F2"/>
          </a:solidFill>
          <a:ln/>
          <a:effectLst>
            <a:outerShdw sx="100000" sy="100000" kx="0" ky="0" algn="bl" rotWithShape="0" blurRad="101600" dist="25400" dir="5400000">
              <a:srgbClr val="000000">
                <a:alpha val="12000"/>
              </a:srgbClr>
            </a:outerShdw>
          </a:effectLst>
        </p:spPr>
      </p:sp>
      <p:sp>
        <p:nvSpPr>
          <p:cNvPr id="14" name="Text 12"/>
          <p:cNvSpPr txBox="1"/>
          <p:nvPr/>
        </p:nvSpPr>
        <p:spPr>
          <a:xfrm>
            <a:off x="8336280" y="2286000"/>
            <a:ext cx="309372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Gerçek zamanlı</a:t>
            </a:r>
            <a:endParaRPr lang="tr-TR" sz="1600" dirty="0"/>
          </a:p>
        </p:txBody>
      </p:sp>
      <p:sp>
        <p:nvSpPr>
          <p:cNvPr id="15" name="Text 13"/>
          <p:cNvSpPr txBox="1"/>
          <p:nvPr/>
        </p:nvSpPr>
        <p:spPr>
          <a:xfrm>
            <a:off x="8336280" y="2743200"/>
            <a:ext cx="3093720" cy="2377440"/>
          </a:xfrm>
          <a:prstGeom prst="rect">
            <a:avLst/>
          </a:prstGeom>
          <a:noFill/>
          <a:ln/>
        </p:spPr>
        <p:txBody>
          <a:bodyPr wrap="square" lIns="0" tIns="0" rIns="0" bIns="0" rtlCol="0" anchor="t"/>
          <a:lstStyle/>
          <a:p>
            <a:pPr marL="228600" indent="-228600">
              <a:spcAft>
                <a:spcPts val="400"/>
              </a:spcAft>
              <a:buSzPct val="100000"/>
              <a:buChar char="•"/>
            </a:pPr>
            <a:r>
              <a:rPr lang="tr-TR" sz="1600" dirty="0">
                <a:solidFill>
                  <a:srgbClr val="3A464C"/>
                </a:solidFill>
                <a:latin typeface="Calibri" pitchFamily="34" charset="0"/>
                <a:ea typeface="Calibri" pitchFamily="34" charset="-122"/>
                <a:cs typeface="Calibri" pitchFamily="34" charset="-120"/>
              </a:rPr>
              <a:t>Son tarihlere uymak her ortalamadan önemlidir.</a:t>
            </a:r>
            <a:endParaRPr lang="tr-TR" sz="1600" dirty="0"/>
          </a:p>
          <a:p>
            <a:pPr marL="228600" indent="-228600">
              <a:spcAft>
                <a:spcPts val="400"/>
              </a:spcAft>
              <a:buSzPct val="100000"/>
              <a:buChar char="•"/>
            </a:pPr>
            <a:r>
              <a:rPr lang="tr-TR" sz="1600" dirty="0">
                <a:solidFill>
                  <a:srgbClr val="3A464C"/>
                </a:solidFill>
                <a:latin typeface="Calibri" pitchFamily="34" charset="0"/>
                <a:ea typeface="Calibri" pitchFamily="34" charset="-122"/>
                <a:cs typeface="Calibri" pitchFamily="34" charset="-120"/>
              </a:rPr>
              <a:t>Geç = yanlış (frenler, insansız hava araçları, tıbbi cihazlar).</a:t>
            </a:r>
            <a:endParaRPr lang="tr-TR" sz="1600" dirty="0"/>
          </a:p>
        </p:txBody>
      </p:sp>
      <p:sp>
        <p:nvSpPr>
          <p:cNvPr id="16" name="Shape 14"/>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sp>
      <p:sp>
        <p:nvSpPr>
          <p:cNvPr id="17" name="Text 15"/>
          <p:cNvSpPr txBox="1"/>
          <p:nvPr/>
        </p:nvSpPr>
        <p:spPr>
          <a:xfrm>
            <a:off x="777240" y="5486400"/>
            <a:ext cx="10652760" cy="777240"/>
          </a:xfrm>
          <a:prstGeom prst="rect">
            <a:avLst/>
          </a:prstGeom>
          <a:noFill/>
          <a:ln/>
        </p:spPr>
        <p:txBody>
          <a:bodyPr wrap="square" lIns="0" tIns="0" rIns="0" bIns="0" rtlCol="0" anchor="ctr"/>
          <a:lstStyle/>
          <a:p>
            <a:pPr indent="0" marL="0">
              <a:buNone/>
            </a:pPr>
            <a:r>
              <a:rPr lang="tr-TR" sz="1400" dirty="0">
                <a:solidFill>
                  <a:srgbClr val="F2F2F2"/>
                </a:solidFill>
                <a:latin typeface="Calibri" pitchFamily="34" charset="0"/>
                <a:ea typeface="Calibri" pitchFamily="34" charset="-122"/>
                <a:cs typeface="Calibri" pitchFamily="34" charset="-120"/>
              </a:rPr>
              <a:t>Ödünleşim örneği: çok sık geçiş yapmak yanıt süresini iyileştirir ama dağıtım ek yükünü artırır ve üretilen işi düşürür.</a:t>
            </a:r>
            <a:endParaRPr lang="tr-TR"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KENDİNİZ DENEYİN</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Kendi Makinenizde İş Parçacıkları ve Zamanlama</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4  ·  38</a:t>
            </a:r>
            <a:endParaRPr lang="tr-TR" sz="900" dirty="0"/>
          </a:p>
        </p:txBody>
      </p:sp>
      <p:sp>
        <p:nvSpPr>
          <p:cNvPr id="6" name="Shape 4"/>
          <p:cNvSpPr/>
          <p:nvPr/>
        </p:nvSpPr>
        <p:spPr>
          <a:xfrm>
            <a:off x="548640" y="1508760"/>
            <a:ext cx="6035040" cy="4754880"/>
          </a:xfrm>
          <a:prstGeom prst="roundRect">
            <a:avLst>
              <a:gd name="adj" fmla="val 962"/>
            </a:avLst>
          </a:prstGeom>
          <a:solidFill>
            <a:srgbClr val="212121"/>
          </a:solidFill>
          <a:ln/>
        </p:spPr>
      </p:sp>
      <p:sp>
        <p:nvSpPr>
          <p:cNvPr id="7" name="Text 5"/>
          <p:cNvSpPr txBox="1"/>
          <p:nvPr/>
        </p:nvSpPr>
        <p:spPr>
          <a:xfrm>
            <a:off x="731520" y="1618488"/>
            <a:ext cx="5669280" cy="4535424"/>
          </a:xfrm>
          <a:prstGeom prst="rect">
            <a:avLst/>
          </a:prstGeom>
          <a:noFill/>
          <a:ln/>
        </p:spPr>
        <p:txBody>
          <a:bodyPr wrap="square" lIns="0" tIns="0" rIns="0" bIns="0" rtlCol="0" anchor="t"/>
          <a:lstStyle/>
          <a:p>
            <a:pPr indent="0" marL="0">
              <a:lnSpc>
                <a:spcPct val="105000"/>
              </a:lnSpc>
              <a:buNone/>
            </a:pPr>
            <a:r>
              <a:rPr lang="tr-TR" sz="1350" dirty="0">
                <a:solidFill>
                  <a:srgbClr val="8A9AA0"/>
                </a:solidFill>
                <a:latin typeface="Consolas" pitchFamily="34" charset="0"/>
                <a:ea typeface="Consolas" pitchFamily="34" charset="-122"/>
                <a:cs typeface="Consolas" pitchFamily="34" charset="-120"/>
              </a:rPr>
              <a:t># Linux (laboratuvar, WSL ya da sanal makine)</a:t>
            </a:r>
            <a:endParaRPr lang="tr-TR" sz="1350" dirty="0"/>
          </a:p>
          <a:p>
            <a:pPr indent="0" marL="0">
              <a:lnSpc>
                <a:spcPct val="105000"/>
              </a:lnSpc>
              <a:buNone/>
            </a:pPr>
            <a:r>
              <a:rPr lang="tr-TR" sz="1350" dirty="0">
                <a:solidFill>
                  <a:srgbClr val="02C39A"/>
                </a:solidFill>
                <a:latin typeface="Consolas" pitchFamily="34" charset="0"/>
                <a:ea typeface="Consolas" pitchFamily="34" charset="-122"/>
                <a:cs typeface="Consolas" pitchFamily="34" charset="-120"/>
              </a:rPr>
              <a:t>$ nproc                    # kaç çekirdek?</a:t>
            </a:r>
            <a:endParaRPr lang="tr-TR" sz="1350" dirty="0"/>
          </a:p>
          <a:p>
            <a:pPr indent="0" marL="0">
              <a:lnSpc>
                <a:spcPct val="105000"/>
              </a:lnSpc>
              <a:buNone/>
            </a:pPr>
            <a:r>
              <a:rPr lang="tr-TR" sz="1350" dirty="0">
                <a:solidFill>
                  <a:srgbClr val="02C39A"/>
                </a:solidFill>
                <a:latin typeface="Consolas" pitchFamily="34" charset="0"/>
                <a:ea typeface="Consolas" pitchFamily="34" charset="-122"/>
                <a:cs typeface="Consolas" pitchFamily="34" charset="-120"/>
              </a:rPr>
              <a:t>$ make                     # code/ klasöründe</a:t>
            </a:r>
            <a:endParaRPr lang="tr-TR" sz="1350" dirty="0"/>
          </a:p>
          <a:p>
            <a:pPr indent="0" marL="0">
              <a:lnSpc>
                <a:spcPct val="105000"/>
              </a:lnSpc>
              <a:buNone/>
            </a:pPr>
            <a:r>
              <a:rPr lang="tr-TR" sz="1350" dirty="0">
                <a:solidFill>
                  <a:srgbClr val="02C39A"/>
                </a:solidFill>
                <a:latin typeface="Consolas" pitchFamily="34" charset="0"/>
                <a:ea typeface="Consolas" pitchFamily="34" charset="-122"/>
                <a:cs typeface="Consolas" pitchFamily="34" charset="-120"/>
              </a:rPr>
              <a:t>$ ./array_sum 1; ./array_sum 2; ./array_sum 4</a:t>
            </a:r>
            <a:endParaRPr lang="tr-TR" sz="1350" dirty="0"/>
          </a:p>
          <a:p>
            <a:pPr indent="0" marL="0">
              <a:lnSpc>
                <a:spcPct val="105000"/>
              </a:lnSpc>
              <a:buNone/>
            </a:pPr>
            <a:r>
              <a:rPr lang="tr-TR" sz="1350" dirty="0">
                <a:solidFill>
                  <a:srgbClr val="02C39A"/>
                </a:solidFill>
                <a:latin typeface="Consolas" pitchFamily="34" charset="0"/>
                <a:ea typeface="Consolas" pitchFamily="34" charset="-122"/>
                <a:cs typeface="Consolas" pitchFamily="34" charset="-120"/>
              </a:rPr>
              <a:t>$ ./thread_hello &amp; ps -eLf | grep thread_hello</a:t>
            </a:r>
            <a:endParaRPr lang="tr-TR" sz="1350" dirty="0"/>
          </a:p>
          <a:p>
            <a:pPr indent="0" marL="0">
              <a:lnSpc>
                <a:spcPct val="105000"/>
              </a:lnSpc>
              <a:buNone/>
            </a:pPr>
            <a:r>
              <a:rPr lang="tr-TR" sz="1350" dirty="0">
                <a:solidFill>
                  <a:srgbClr val="02C39A"/>
                </a:solidFill>
                <a:latin typeface="Consolas" pitchFamily="34" charset="0"/>
                <a:ea typeface="Consolas" pitchFamily="34" charset="-122"/>
                <a:cs typeface="Consolas" pitchFamily="34" charset="-120"/>
              </a:rPr>
              <a:t>$ time ./burst cpu ; time ./burst io</a:t>
            </a:r>
            <a:endParaRPr lang="tr-TR" sz="1350" dirty="0"/>
          </a:p>
          <a:p>
            <a:pPr indent="0" marL="0">
              <a:lnSpc>
                <a:spcPct val="105000"/>
              </a:lnSpc>
              <a:buNone/>
            </a:pPr>
            <a:r>
              <a:rPr lang="tr-TR" sz="1350" dirty="0">
                <a:solidFill>
                  <a:srgbClr val="02C39A"/>
                </a:solidFill>
                <a:latin typeface="Consolas" pitchFamily="34" charset="0"/>
                <a:ea typeface="Consolas" pitchFamily="34" charset="-122"/>
                <a:cs typeface="Consolas" pitchFamily="34" charset="-120"/>
              </a:rPr>
              <a:t>$ vmstat 1 5               # cs = geçiş/s</a:t>
            </a:r>
            <a:endParaRPr lang="tr-TR" sz="1350" dirty="0"/>
          </a:p>
          <a:p>
            <a:pPr indent="0" marL="0">
              <a:lnSpc>
                <a:spcPct val="105000"/>
              </a:lnSpc>
              <a:buNone/>
            </a:pPr>
            <a:r>
              <a:rPr lang="tr-TR" sz="1350" dirty="0">
                <a:solidFill>
                  <a:srgbClr val="F2F2F2"/>
                </a:solidFill>
                <a:latin typeface="Consolas" pitchFamily="34" charset="0"/>
                <a:ea typeface="Consolas" pitchFamily="34" charset="-122"/>
                <a:cs typeface="Consolas" pitchFamily="34" charset="-120"/>
              </a:rPr>
              <a:t> </a:t>
            </a:r>
            <a:endParaRPr lang="tr-TR" sz="1350" dirty="0"/>
          </a:p>
          <a:p>
            <a:pPr indent="0" marL="0">
              <a:lnSpc>
                <a:spcPct val="105000"/>
              </a:lnSpc>
              <a:buNone/>
            </a:pPr>
            <a:r>
              <a:rPr lang="tr-TR" sz="1350" dirty="0">
                <a:solidFill>
                  <a:srgbClr val="8A9AA0"/>
                </a:solidFill>
                <a:latin typeface="Consolas" pitchFamily="34" charset="0"/>
                <a:ea typeface="Consolas" pitchFamily="34" charset="-122"/>
                <a:cs typeface="Consolas" pitchFamily="34" charset="-120"/>
              </a:rPr>
              <a:t># Windows</a:t>
            </a:r>
            <a:endParaRPr lang="tr-TR" sz="1350" dirty="0"/>
          </a:p>
          <a:p>
            <a:pPr indent="0" marL="0">
              <a:lnSpc>
                <a:spcPct val="105000"/>
              </a:lnSpc>
              <a:buNone/>
            </a:pPr>
            <a:r>
              <a:rPr lang="tr-TR" sz="1350" dirty="0">
                <a:solidFill>
                  <a:srgbClr val="8A9AA0"/>
                </a:solidFill>
                <a:latin typeface="Consolas" pitchFamily="34" charset="0"/>
                <a:ea typeface="Consolas" pitchFamily="34" charset="-122"/>
                <a:cs typeface="Consolas" pitchFamily="34" charset="-120"/>
              </a:rPr>
              <a:t># Görev Yöneticisi &gt; Ayrıntılar &gt; "İş parçacıkları"</a:t>
            </a:r>
            <a:endParaRPr lang="tr-TR" sz="1350" dirty="0"/>
          </a:p>
          <a:p>
            <a:pPr indent="0" marL="0">
              <a:lnSpc>
                <a:spcPct val="105000"/>
              </a:lnSpc>
              <a:buNone/>
            </a:pPr>
            <a:r>
              <a:rPr lang="tr-TR" sz="1350" dirty="0">
                <a:solidFill>
                  <a:srgbClr val="8A9AA0"/>
                </a:solidFill>
                <a:latin typeface="Consolas" pitchFamily="34" charset="0"/>
                <a:ea typeface="Consolas" pitchFamily="34" charset="-122"/>
                <a:cs typeface="Consolas" pitchFamily="34" charset="-120"/>
              </a:rPr>
              <a:t># Görev Yöneticisi &gt; Performans &gt; CPU</a:t>
            </a:r>
            <a:endParaRPr lang="tr-TR" sz="1350" dirty="0"/>
          </a:p>
        </p:txBody>
      </p:sp>
      <p:sp>
        <p:nvSpPr>
          <p:cNvPr id="8" name="Shape 6"/>
          <p:cNvSpPr/>
          <p:nvPr/>
        </p:nvSpPr>
        <p:spPr>
          <a:xfrm>
            <a:off x="6858000" y="1508760"/>
            <a:ext cx="4800600" cy="4754880"/>
          </a:xfrm>
          <a:prstGeom prst="roundRect">
            <a:avLst>
              <a:gd name="adj" fmla="val 1154"/>
            </a:avLst>
          </a:prstGeom>
          <a:solidFill>
            <a:srgbClr val="F2F2F2"/>
          </a:solidFill>
          <a:ln/>
          <a:effectLst>
            <a:outerShdw sx="100000" sy="100000" kx="0" ky="0" algn="bl" rotWithShape="0" blurRad="101600" dist="25400" dir="5400000">
              <a:srgbClr val="000000">
                <a:alpha val="12000"/>
              </a:srgbClr>
            </a:outerShdw>
          </a:effectLst>
        </p:spPr>
      </p:sp>
      <p:sp>
        <p:nvSpPr>
          <p:cNvPr id="9" name="Text 7"/>
          <p:cNvSpPr txBox="1"/>
          <p:nvPr/>
        </p:nvSpPr>
        <p:spPr>
          <a:xfrm>
            <a:off x="7086600" y="1691640"/>
            <a:ext cx="434340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Yanıtlanacak sorular</a:t>
            </a:r>
            <a:endParaRPr lang="tr-TR" sz="1500" dirty="0"/>
          </a:p>
        </p:txBody>
      </p:sp>
      <p:sp>
        <p:nvSpPr>
          <p:cNvPr id="10" name="Text 8"/>
          <p:cNvSpPr txBox="1"/>
          <p:nvPr/>
        </p:nvSpPr>
        <p:spPr>
          <a:xfrm>
            <a:off x="7086600" y="2148840"/>
            <a:ext cx="4343400" cy="3977640"/>
          </a:xfrm>
          <a:prstGeom prst="rect">
            <a:avLst/>
          </a:prstGeom>
          <a:noFill/>
          <a:ln/>
        </p:spPr>
        <p:txBody>
          <a:bodyPr wrap="square" lIns="0" tIns="0" rIns="0" bIns="0" rtlCol="0" anchor="t"/>
          <a:lstStyle/>
          <a:p>
            <a:pPr marL="228600" indent="-228600">
              <a:spcAft>
                <a:spcPts val="400"/>
              </a:spcAft>
              <a:buSzPct val="100000"/>
              <a:buChar char="•"/>
            </a:pPr>
            <a:r>
              <a:rPr lang="tr-TR" sz="1500" dirty="0">
                <a:solidFill>
                  <a:srgbClr val="3A464C"/>
                </a:solidFill>
                <a:latin typeface="Calibri" pitchFamily="34" charset="0"/>
                <a:ea typeface="Calibri" pitchFamily="34" charset="-122"/>
                <a:cs typeface="Calibri" pitchFamily="34" charset="-120"/>
              </a:rPr>
              <a:t>Makinenizde kaç çekirdek var? 2, 4 ve 8 iş parçacığıyla hangi hızlanmayı elde ediyorsunuz?</a:t>
            </a:r>
            <a:endParaRPr lang="tr-TR" sz="1500" dirty="0"/>
          </a:p>
          <a:p>
            <a:pPr marL="228600" indent="-228600">
              <a:spcAft>
                <a:spcPts val="400"/>
              </a:spcAft>
              <a:buSzPct val="100000"/>
              <a:buChar char="•"/>
            </a:pPr>
            <a:r>
              <a:rPr lang="tr-TR" sz="1500" dirty="0">
                <a:solidFill>
                  <a:srgbClr val="3A464C"/>
                </a:solidFill>
                <a:latin typeface="Calibri" pitchFamily="34" charset="0"/>
                <a:ea typeface="Calibri" pitchFamily="34" charset="-122"/>
                <a:cs typeface="Calibri" pitchFamily="34" charset="-120"/>
              </a:rPr>
              <a:t>2 iş parçacığıyla elde ettiğiniz hızlanmadan Amdahl yasasıyla S'yi tahmin edin.</a:t>
            </a:r>
            <a:endParaRPr lang="tr-TR" sz="1500" dirty="0"/>
          </a:p>
          <a:p>
            <a:pPr marL="228600" indent="-228600">
              <a:spcAft>
                <a:spcPts val="400"/>
              </a:spcAft>
              <a:buSzPct val="100000"/>
              <a:buChar char="•"/>
            </a:pPr>
            <a:r>
              <a:rPr lang="tr-TR" sz="1500" dirty="0">
                <a:solidFill>
                  <a:srgbClr val="3A464C"/>
                </a:solidFill>
                <a:latin typeface="Calibri" pitchFamily="34" charset="0"/>
                <a:ea typeface="Calibri" pitchFamily="34" charset="-122"/>
                <a:cs typeface="Calibri" pitchFamily="34" charset="-120"/>
              </a:rPr>
              <a:t>Bilgisayarınızda en çok iş parçacığına sahip program hangisi?</a:t>
            </a:r>
            <a:endParaRPr lang="tr-TR" sz="1500" dirty="0"/>
          </a:p>
          <a:p>
            <a:pPr marL="228600" indent="-228600">
              <a:spcAft>
                <a:spcPts val="400"/>
              </a:spcAft>
              <a:buSzPct val="100000"/>
              <a:buChar char="•"/>
            </a:pPr>
            <a:r>
              <a:rPr lang="tr-TR" sz="1500" dirty="0">
                <a:solidFill>
                  <a:srgbClr val="3A464C"/>
                </a:solidFill>
                <a:latin typeface="Calibri" pitchFamily="34" charset="0"/>
                <a:ea typeface="Calibri" pitchFamily="34" charset="-122"/>
                <a:cs typeface="Calibri" pitchFamily="34" charset="-120"/>
              </a:rPr>
              <a:t>Bir sayfayı okurken tarayıcınız işlemci yoğun mu, G/Ç yoğun mu? Ya video oynatırken?</a:t>
            </a:r>
            <a:endParaRPr lang="tr-TR" sz="15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ÖZET</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4. Hafta — Temel Çıkarımlar</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4  ·  39</a:t>
            </a:r>
            <a:endParaRPr lang="tr-TR" sz="900" dirty="0"/>
          </a:p>
        </p:txBody>
      </p:sp>
      <p:sp>
        <p:nvSpPr>
          <p:cNvPr id="6" name="Text 4"/>
          <p:cNvSpPr txBox="1"/>
          <p:nvPr/>
        </p:nvSpPr>
        <p:spPr>
          <a:xfrm>
            <a:off x="548640" y="1600200"/>
            <a:ext cx="11064240" cy="4663440"/>
          </a:xfrm>
          <a:prstGeom prst="rect">
            <a:avLst/>
          </a:prstGeom>
          <a:noFill/>
          <a:ln/>
        </p:spPr>
        <p:txBody>
          <a:bodyPr wrap="square" lIns="0" tIns="0" rIns="0" bIns="0" rtlCol="0" anchor="t"/>
          <a:lstStyle/>
          <a:p>
            <a:pPr marL="228600" indent="-228600">
              <a:spcAft>
                <a:spcPts val="2000"/>
              </a:spcAft>
              <a:buSzPct val="100000"/>
              <a:buChar char="•"/>
            </a:pPr>
            <a:r>
              <a:rPr lang="tr-TR" sz="1900" b="1" dirty="0">
                <a:solidFill>
                  <a:srgbClr val="3A464C"/>
                </a:solidFill>
                <a:latin typeface="Calibri" pitchFamily="34" charset="0"/>
                <a:ea typeface="Calibri" pitchFamily="34" charset="-122"/>
                <a:cs typeface="Calibri" pitchFamily="34" charset="-120"/>
              </a:rPr>
              <a:t>İş parçacığı:</a:t>
            </a:r>
            <a:r>
              <a:rPr lang="tr-TR" sz="1900" dirty="0">
                <a:solidFill>
                  <a:srgbClr val="3A464C"/>
                </a:solidFill>
                <a:latin typeface="Calibri" pitchFamily="34" charset="0"/>
                <a:ea typeface="Calibri" pitchFamily="34" charset="-122"/>
                <a:cs typeface="Calibri" pitchFamily="34" charset="-120"/>
              </a:rPr>
              <a:t> kendi PC'si, yazmaçları ve yığıtı olan bir yürütme birimi; bir sürecin iş parçacıkları kodu, veriyi, öbeği ve dosyaları paylaşır.</a:t>
            </a:r>
            <a:endParaRPr lang="tr-TR" sz="1900" dirty="0"/>
          </a:p>
          <a:p>
            <a:pPr marL="228600" indent="-228600">
              <a:spcAft>
                <a:spcPts val="2000"/>
              </a:spcAft>
              <a:buSzPct val="100000"/>
              <a:buChar char="•"/>
            </a:pPr>
            <a:r>
              <a:rPr lang="tr-TR" sz="1900" b="1" dirty="0">
                <a:solidFill>
                  <a:srgbClr val="3A464C"/>
                </a:solidFill>
                <a:latin typeface="Calibri" pitchFamily="34" charset="0"/>
                <a:ea typeface="Calibri" pitchFamily="34" charset="-122"/>
                <a:cs typeface="Calibri" pitchFamily="34" charset="-120"/>
              </a:rPr>
              <a:t>Yararlar:</a:t>
            </a:r>
            <a:r>
              <a:rPr lang="tr-TR" sz="1900" dirty="0">
                <a:solidFill>
                  <a:srgbClr val="3A464C"/>
                </a:solidFill>
                <a:latin typeface="Calibri" pitchFamily="34" charset="0"/>
                <a:ea typeface="Calibri" pitchFamily="34" charset="-122"/>
                <a:cs typeface="Calibri" pitchFamily="34" charset="-120"/>
              </a:rPr>
              <a:t> yanıt verebilirlik, kaynak paylaşımı, ekonomi (burada yaratması ≈ 4× ucuz), çok çekirdekte ölçeklenebilirlik.</a:t>
            </a:r>
            <a:endParaRPr lang="tr-TR" sz="1900" dirty="0"/>
          </a:p>
          <a:p>
            <a:pPr marL="228600" indent="-228600">
              <a:spcAft>
                <a:spcPts val="2000"/>
              </a:spcAft>
              <a:buSzPct val="100000"/>
              <a:buChar char="•"/>
            </a:pPr>
            <a:r>
              <a:rPr lang="tr-TR" sz="1900" b="1" dirty="0">
                <a:solidFill>
                  <a:srgbClr val="3A464C"/>
                </a:solidFill>
                <a:latin typeface="Calibri" pitchFamily="34" charset="0"/>
                <a:ea typeface="Calibri" pitchFamily="34" charset="-122"/>
                <a:cs typeface="Calibri" pitchFamily="34" charset="-120"/>
              </a:rPr>
              <a:t>Amdahl yasası:</a:t>
            </a:r>
            <a:r>
              <a:rPr lang="tr-TR" sz="1900" dirty="0">
                <a:solidFill>
                  <a:srgbClr val="3A464C"/>
                </a:solidFill>
                <a:latin typeface="Calibri" pitchFamily="34" charset="0"/>
                <a:ea typeface="Calibri" pitchFamily="34" charset="-122"/>
                <a:cs typeface="Calibri" pitchFamily="34" charset="-120"/>
              </a:rPr>
              <a:t> hızlanma ≤ 1 / (S + (1 − S)/N); seri kısım S, 1/S sınırını koyar.</a:t>
            </a:r>
            <a:endParaRPr lang="tr-TR" sz="1900" dirty="0"/>
          </a:p>
          <a:p>
            <a:pPr marL="228600" indent="-228600">
              <a:spcAft>
                <a:spcPts val="2000"/>
              </a:spcAft>
              <a:buSzPct val="100000"/>
              <a:buChar char="•"/>
            </a:pPr>
            <a:r>
              <a:rPr lang="tr-TR" sz="1900" b="1" dirty="0">
                <a:solidFill>
                  <a:srgbClr val="3A464C"/>
                </a:solidFill>
                <a:latin typeface="Calibri" pitchFamily="34" charset="0"/>
                <a:ea typeface="Calibri" pitchFamily="34" charset="-122"/>
                <a:cs typeface="Calibri" pitchFamily="34" charset="-120"/>
              </a:rPr>
              <a:t>Modeller:</a:t>
            </a:r>
            <a:r>
              <a:rPr lang="tr-TR" sz="1900" dirty="0">
                <a:solidFill>
                  <a:srgbClr val="3A464C"/>
                </a:solidFill>
                <a:latin typeface="Calibri" pitchFamily="34" charset="0"/>
                <a:ea typeface="Calibri" pitchFamily="34" charset="-122"/>
                <a:cs typeface="Calibri" pitchFamily="34" charset="-120"/>
              </a:rPr>
              <a:t> çoktan bire, birebir (Linux, Windows), çoktan çoğa; Pthreads: pthread_create / pthread_join.</a:t>
            </a:r>
            <a:endParaRPr lang="tr-TR" sz="1900" dirty="0"/>
          </a:p>
          <a:p>
            <a:pPr marL="228600" indent="-228600">
              <a:spcAft>
                <a:spcPts val="2000"/>
              </a:spcAft>
              <a:buSzPct val="100000"/>
              <a:buChar char="•"/>
            </a:pPr>
            <a:r>
              <a:rPr lang="tr-TR" sz="1900" b="1" dirty="0">
                <a:solidFill>
                  <a:srgbClr val="3A464C"/>
                </a:solidFill>
                <a:latin typeface="Calibri" pitchFamily="34" charset="0"/>
                <a:ea typeface="Calibri" pitchFamily="34" charset="-122"/>
                <a:cs typeface="Calibri" pitchFamily="34" charset="-120"/>
              </a:rPr>
              <a:t>Zamanlamanın temelleri:</a:t>
            </a:r>
            <a:r>
              <a:rPr lang="tr-TR" sz="1900" dirty="0">
                <a:solidFill>
                  <a:srgbClr val="3A464C"/>
                </a:solidFill>
                <a:latin typeface="Calibri" pitchFamily="34" charset="0"/>
                <a:ea typeface="Calibri" pitchFamily="34" charset="-122"/>
                <a:cs typeface="Calibri" pitchFamily="34" charset="-120"/>
              </a:rPr>
              <a:t> işlemci–G/Ç patlamaları, hazır kuyruğu, dört karar noktası, kesintili ve kesintisiz zamanlama, dağıtım gecikmesi.</a:t>
            </a:r>
            <a:endParaRPr lang="tr-TR" sz="1900" dirty="0"/>
          </a:p>
          <a:p>
            <a:pPr marL="228600" indent="-228600">
              <a:spcAft>
                <a:spcPts val="2000"/>
              </a:spcAft>
              <a:buSzPct val="100000"/>
              <a:buChar char="•"/>
            </a:pPr>
            <a:r>
              <a:rPr lang="tr-TR" sz="1900" b="1" dirty="0">
                <a:solidFill>
                  <a:srgbClr val="3A464C"/>
                </a:solidFill>
                <a:latin typeface="Calibri" pitchFamily="34" charset="0"/>
                <a:ea typeface="Calibri" pitchFamily="34" charset="-122"/>
                <a:cs typeface="Calibri" pitchFamily="34" charset="-120"/>
              </a:rPr>
              <a:t>Ölçütler:</a:t>
            </a:r>
            <a:r>
              <a:rPr lang="tr-TR" sz="1900" dirty="0">
                <a:solidFill>
                  <a:srgbClr val="3A464C"/>
                </a:solidFill>
                <a:latin typeface="Calibri" pitchFamily="34" charset="0"/>
                <a:ea typeface="Calibri" pitchFamily="34" charset="-122"/>
                <a:cs typeface="Calibri" pitchFamily="34" charset="-120"/>
              </a:rPr>
              <a:t> kullanım ve üretilen işi en büyük; dönüş (tamamlanma − geliş), bekleme (dönüş − patlama) ve yanıt süresini en küçük yap.</a:t>
            </a:r>
            <a:endParaRPr lang="tr-TR" sz="1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KISA SINAV</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Kendinizi Sınayın</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4  ·  40</a:t>
            </a:r>
            <a:endParaRPr lang="tr-TR" sz="900" dirty="0"/>
          </a:p>
        </p:txBody>
      </p:sp>
      <p:sp>
        <p:nvSpPr>
          <p:cNvPr id="6" name="Shape 4"/>
          <p:cNvSpPr/>
          <p:nvPr/>
        </p:nvSpPr>
        <p:spPr>
          <a:xfrm>
            <a:off x="548640" y="1508760"/>
            <a:ext cx="11109960" cy="1037844"/>
          </a:xfrm>
          <a:prstGeom prst="roundRect">
            <a:avLst>
              <a:gd name="adj" fmla="val 5286"/>
            </a:avLst>
          </a:prstGeom>
          <a:solidFill>
            <a:srgbClr val="F2F2F2"/>
          </a:solidFill>
          <a:ln/>
          <a:effectLst>
            <a:outerShdw sx="100000" sy="100000" kx="0" ky="0" algn="bl" rotWithShape="0" blurRad="101600" dist="25400" dir="5400000">
              <a:srgbClr val="000000">
                <a:alpha val="12000"/>
              </a:srgbClr>
            </a:outerShdw>
          </a:effectLst>
        </p:spPr>
      </p:sp>
      <p:sp>
        <p:nvSpPr>
          <p:cNvPr id="7" name="Shape 5"/>
          <p:cNvSpPr/>
          <p:nvPr/>
        </p:nvSpPr>
        <p:spPr>
          <a:xfrm>
            <a:off x="777240" y="1780794"/>
            <a:ext cx="493776" cy="493776"/>
          </a:xfrm>
          <a:prstGeom prst="ellipse">
            <a:avLst/>
          </a:prstGeom>
          <a:solidFill>
            <a:srgbClr val="02C39A"/>
          </a:solidFill>
          <a:ln/>
        </p:spPr>
      </p:sp>
      <p:sp>
        <p:nvSpPr>
          <p:cNvPr id="8" name="Text 6"/>
          <p:cNvSpPr txBox="1"/>
          <p:nvPr/>
        </p:nvSpPr>
        <p:spPr>
          <a:xfrm>
            <a:off x="777240" y="1780794"/>
            <a:ext cx="493776" cy="493776"/>
          </a:xfrm>
          <a:prstGeom prst="rect">
            <a:avLst/>
          </a:prstGeom>
          <a:noFill/>
          <a:ln/>
        </p:spPr>
        <p:txBody>
          <a:bodyPr wrap="square" lIns="0" tIns="0" rIns="0" bIns="0" rtlCol="0" anchor="ctr"/>
          <a:lstStyle/>
          <a:p>
            <a:pPr algn="ctr" indent="0" marL="0">
              <a:buNone/>
            </a:pPr>
            <a:r>
              <a:rPr lang="tr-TR" sz="1600" b="1" dirty="0">
                <a:solidFill>
                  <a:srgbClr val="FFFFFF"/>
                </a:solidFill>
                <a:latin typeface="Cambria" pitchFamily="34" charset="0"/>
                <a:ea typeface="Cambria" pitchFamily="34" charset="-122"/>
                <a:cs typeface="Cambria" pitchFamily="34" charset="-120"/>
              </a:rPr>
              <a:t>1</a:t>
            </a:r>
            <a:endParaRPr lang="tr-TR" sz="1600" dirty="0"/>
          </a:p>
        </p:txBody>
      </p:sp>
      <p:sp>
        <p:nvSpPr>
          <p:cNvPr id="9" name="Text 7"/>
          <p:cNvSpPr txBox="1"/>
          <p:nvPr/>
        </p:nvSpPr>
        <p:spPr>
          <a:xfrm>
            <a:off x="1508760" y="1508760"/>
            <a:ext cx="9921240" cy="1037844"/>
          </a:xfrm>
          <a:prstGeom prst="rect">
            <a:avLst/>
          </a:prstGeom>
          <a:noFill/>
          <a:ln/>
        </p:spPr>
        <p:txBody>
          <a:bodyPr wrap="square" lIns="0" tIns="0" rIns="0" bIns="0" rtlCol="0" anchor="ctr"/>
          <a:lstStyle/>
          <a:p>
            <a:pPr indent="0" marL="0">
              <a:buNone/>
            </a:pPr>
            <a:r>
              <a:rPr lang="tr-TR" sz="1600" dirty="0">
                <a:solidFill>
                  <a:srgbClr val="3A464C"/>
                </a:solidFill>
                <a:latin typeface="Calibri" pitchFamily="34" charset="0"/>
                <a:ea typeface="Calibri" pitchFamily="34" charset="-122"/>
                <a:cs typeface="Calibri" pitchFamily="34" charset="-120"/>
              </a:rPr>
              <a:t>Aynı sürecin iki iş parçacığı: paylaştıkları iki şeyi ve her birinin kendine özel iki şeyini sayın.</a:t>
            </a:r>
            <a:endParaRPr lang="tr-TR" sz="1600" dirty="0"/>
          </a:p>
        </p:txBody>
      </p:sp>
      <p:sp>
        <p:nvSpPr>
          <p:cNvPr id="10" name="Shape 8"/>
          <p:cNvSpPr/>
          <p:nvPr/>
        </p:nvSpPr>
        <p:spPr>
          <a:xfrm>
            <a:off x="548640" y="2747772"/>
            <a:ext cx="11109960" cy="1037844"/>
          </a:xfrm>
          <a:prstGeom prst="roundRect">
            <a:avLst>
              <a:gd name="adj" fmla="val 5286"/>
            </a:avLst>
          </a:prstGeom>
          <a:solidFill>
            <a:srgbClr val="F2F2F2"/>
          </a:solidFill>
          <a:ln/>
          <a:effectLst>
            <a:outerShdw sx="100000" sy="100000" kx="0" ky="0" algn="bl" rotWithShape="0" blurRad="101600" dist="25400" dir="5400000">
              <a:srgbClr val="000000">
                <a:alpha val="12000"/>
              </a:srgbClr>
            </a:outerShdw>
          </a:effectLst>
        </p:spPr>
      </p:sp>
      <p:sp>
        <p:nvSpPr>
          <p:cNvPr id="11" name="Shape 9"/>
          <p:cNvSpPr/>
          <p:nvPr/>
        </p:nvSpPr>
        <p:spPr>
          <a:xfrm>
            <a:off x="777240" y="3019806"/>
            <a:ext cx="493776" cy="493776"/>
          </a:xfrm>
          <a:prstGeom prst="ellipse">
            <a:avLst/>
          </a:prstGeom>
          <a:solidFill>
            <a:srgbClr val="02C39A"/>
          </a:solidFill>
          <a:ln/>
        </p:spPr>
      </p:sp>
      <p:sp>
        <p:nvSpPr>
          <p:cNvPr id="12" name="Text 10"/>
          <p:cNvSpPr txBox="1"/>
          <p:nvPr/>
        </p:nvSpPr>
        <p:spPr>
          <a:xfrm>
            <a:off x="777240" y="3019806"/>
            <a:ext cx="493776" cy="493776"/>
          </a:xfrm>
          <a:prstGeom prst="rect">
            <a:avLst/>
          </a:prstGeom>
          <a:noFill/>
          <a:ln/>
        </p:spPr>
        <p:txBody>
          <a:bodyPr wrap="square" lIns="0" tIns="0" rIns="0" bIns="0" rtlCol="0" anchor="ctr"/>
          <a:lstStyle/>
          <a:p>
            <a:pPr algn="ctr" indent="0" marL="0">
              <a:buNone/>
            </a:pPr>
            <a:r>
              <a:rPr lang="tr-TR" sz="1600" b="1" dirty="0">
                <a:solidFill>
                  <a:srgbClr val="FFFFFF"/>
                </a:solidFill>
                <a:latin typeface="Cambria" pitchFamily="34" charset="0"/>
                <a:ea typeface="Cambria" pitchFamily="34" charset="-122"/>
                <a:cs typeface="Cambria" pitchFamily="34" charset="-120"/>
              </a:rPr>
              <a:t>2</a:t>
            </a:r>
            <a:endParaRPr lang="tr-TR" sz="1600" dirty="0"/>
          </a:p>
        </p:txBody>
      </p:sp>
      <p:sp>
        <p:nvSpPr>
          <p:cNvPr id="13" name="Text 11"/>
          <p:cNvSpPr txBox="1"/>
          <p:nvPr/>
        </p:nvSpPr>
        <p:spPr>
          <a:xfrm>
            <a:off x="1508760" y="2747772"/>
            <a:ext cx="9921240" cy="1037844"/>
          </a:xfrm>
          <a:prstGeom prst="rect">
            <a:avLst/>
          </a:prstGeom>
          <a:noFill/>
          <a:ln/>
        </p:spPr>
        <p:txBody>
          <a:bodyPr wrap="square" lIns="0" tIns="0" rIns="0" bIns="0" rtlCol="0" anchor="ctr"/>
          <a:lstStyle/>
          <a:p>
            <a:pPr indent="0" marL="0">
              <a:buNone/>
            </a:pPr>
            <a:r>
              <a:rPr lang="tr-TR" sz="1600" dirty="0">
                <a:solidFill>
                  <a:srgbClr val="3A464C"/>
                </a:solidFill>
                <a:latin typeface="Calibri" pitchFamily="34" charset="0"/>
                <a:ea typeface="Calibri" pitchFamily="34" charset="-122"/>
                <a:cs typeface="Calibri" pitchFamily="34" charset="-120"/>
              </a:rPr>
              <a:t>Bir program %90 paraleldir. 4 çekirdekte en büyük hızlanma nedir? Sonsuz sayıda çekirdekte?</a:t>
            </a:r>
            <a:endParaRPr lang="tr-TR" sz="1600" dirty="0"/>
          </a:p>
        </p:txBody>
      </p:sp>
      <p:sp>
        <p:nvSpPr>
          <p:cNvPr id="14" name="Shape 12"/>
          <p:cNvSpPr/>
          <p:nvPr/>
        </p:nvSpPr>
        <p:spPr>
          <a:xfrm>
            <a:off x="548640" y="3986784"/>
            <a:ext cx="11109960" cy="1037844"/>
          </a:xfrm>
          <a:prstGeom prst="roundRect">
            <a:avLst>
              <a:gd name="adj" fmla="val 5286"/>
            </a:avLst>
          </a:prstGeom>
          <a:solidFill>
            <a:srgbClr val="F2F2F2"/>
          </a:solidFill>
          <a:ln/>
          <a:effectLst>
            <a:outerShdw sx="100000" sy="100000" kx="0" ky="0" algn="bl" rotWithShape="0" blurRad="101600" dist="25400" dir="5400000">
              <a:srgbClr val="000000">
                <a:alpha val="12000"/>
              </a:srgbClr>
            </a:outerShdw>
          </a:effectLst>
        </p:spPr>
      </p:sp>
      <p:sp>
        <p:nvSpPr>
          <p:cNvPr id="15" name="Shape 13"/>
          <p:cNvSpPr/>
          <p:nvPr/>
        </p:nvSpPr>
        <p:spPr>
          <a:xfrm>
            <a:off x="777240" y="4258818"/>
            <a:ext cx="493776" cy="493776"/>
          </a:xfrm>
          <a:prstGeom prst="ellipse">
            <a:avLst/>
          </a:prstGeom>
          <a:solidFill>
            <a:srgbClr val="02C39A"/>
          </a:solidFill>
          <a:ln/>
        </p:spPr>
      </p:sp>
      <p:sp>
        <p:nvSpPr>
          <p:cNvPr id="16" name="Text 14"/>
          <p:cNvSpPr txBox="1"/>
          <p:nvPr/>
        </p:nvSpPr>
        <p:spPr>
          <a:xfrm>
            <a:off x="777240" y="4258818"/>
            <a:ext cx="493776" cy="493776"/>
          </a:xfrm>
          <a:prstGeom prst="rect">
            <a:avLst/>
          </a:prstGeom>
          <a:noFill/>
          <a:ln/>
        </p:spPr>
        <p:txBody>
          <a:bodyPr wrap="square" lIns="0" tIns="0" rIns="0" bIns="0" rtlCol="0" anchor="ctr"/>
          <a:lstStyle/>
          <a:p>
            <a:pPr algn="ctr" indent="0" marL="0">
              <a:buNone/>
            </a:pPr>
            <a:r>
              <a:rPr lang="tr-TR" sz="1600" b="1" dirty="0">
                <a:solidFill>
                  <a:srgbClr val="FFFFFF"/>
                </a:solidFill>
                <a:latin typeface="Cambria" pitchFamily="34" charset="0"/>
                <a:ea typeface="Cambria" pitchFamily="34" charset="-122"/>
                <a:cs typeface="Cambria" pitchFamily="34" charset="-120"/>
              </a:rPr>
              <a:t>3</a:t>
            </a:r>
            <a:endParaRPr lang="tr-TR" sz="1600" dirty="0"/>
          </a:p>
        </p:txBody>
      </p:sp>
      <p:sp>
        <p:nvSpPr>
          <p:cNvPr id="17" name="Text 15"/>
          <p:cNvSpPr txBox="1"/>
          <p:nvPr/>
        </p:nvSpPr>
        <p:spPr>
          <a:xfrm>
            <a:off x="1508760" y="3986784"/>
            <a:ext cx="9921240" cy="1037844"/>
          </a:xfrm>
          <a:prstGeom prst="rect">
            <a:avLst/>
          </a:prstGeom>
          <a:noFill/>
          <a:ln/>
        </p:spPr>
        <p:txBody>
          <a:bodyPr wrap="square" lIns="0" tIns="0" rIns="0" bIns="0" rtlCol="0" anchor="ctr"/>
          <a:lstStyle/>
          <a:p>
            <a:pPr indent="0" marL="0">
              <a:buNone/>
            </a:pPr>
            <a:r>
              <a:rPr lang="tr-TR" sz="1600" dirty="0">
                <a:solidFill>
                  <a:srgbClr val="3A464C"/>
                </a:solidFill>
                <a:latin typeface="Calibri" pitchFamily="34" charset="0"/>
                <a:ea typeface="Calibri" pitchFamily="34" charset="-122"/>
                <a:cs typeface="Calibri" pitchFamily="34" charset="-120"/>
              </a:rPr>
              <a:t>Çoktan bire bir iş parçacığı kütüphanesi neden ikinci bir işlemci çekirdeğini kullanamaz?</a:t>
            </a:r>
            <a:endParaRPr lang="tr-TR" sz="1600" dirty="0"/>
          </a:p>
        </p:txBody>
      </p:sp>
      <p:sp>
        <p:nvSpPr>
          <p:cNvPr id="18" name="Shape 16"/>
          <p:cNvSpPr/>
          <p:nvPr/>
        </p:nvSpPr>
        <p:spPr>
          <a:xfrm>
            <a:off x="548640" y="5225796"/>
            <a:ext cx="11109960" cy="1037844"/>
          </a:xfrm>
          <a:prstGeom prst="roundRect">
            <a:avLst>
              <a:gd name="adj" fmla="val 5286"/>
            </a:avLst>
          </a:prstGeom>
          <a:solidFill>
            <a:srgbClr val="F2F2F2"/>
          </a:solidFill>
          <a:ln/>
          <a:effectLst>
            <a:outerShdw sx="100000" sy="100000" kx="0" ky="0" algn="bl" rotWithShape="0" blurRad="101600" dist="25400" dir="5400000">
              <a:srgbClr val="000000">
                <a:alpha val="12000"/>
              </a:srgbClr>
            </a:outerShdw>
          </a:effectLst>
        </p:spPr>
      </p:sp>
      <p:sp>
        <p:nvSpPr>
          <p:cNvPr id="19" name="Shape 17"/>
          <p:cNvSpPr/>
          <p:nvPr/>
        </p:nvSpPr>
        <p:spPr>
          <a:xfrm>
            <a:off x="777240" y="5497830"/>
            <a:ext cx="493776" cy="493776"/>
          </a:xfrm>
          <a:prstGeom prst="ellipse">
            <a:avLst/>
          </a:prstGeom>
          <a:solidFill>
            <a:srgbClr val="02C39A"/>
          </a:solidFill>
          <a:ln/>
        </p:spPr>
      </p:sp>
      <p:sp>
        <p:nvSpPr>
          <p:cNvPr id="20" name="Text 18"/>
          <p:cNvSpPr txBox="1"/>
          <p:nvPr/>
        </p:nvSpPr>
        <p:spPr>
          <a:xfrm>
            <a:off x="777240" y="5497830"/>
            <a:ext cx="493776" cy="493776"/>
          </a:xfrm>
          <a:prstGeom prst="rect">
            <a:avLst/>
          </a:prstGeom>
          <a:noFill/>
          <a:ln/>
        </p:spPr>
        <p:txBody>
          <a:bodyPr wrap="square" lIns="0" tIns="0" rIns="0" bIns="0" rtlCol="0" anchor="ctr"/>
          <a:lstStyle/>
          <a:p>
            <a:pPr algn="ctr" indent="0" marL="0">
              <a:buNone/>
            </a:pPr>
            <a:r>
              <a:rPr lang="tr-TR" sz="1600" b="1" dirty="0">
                <a:solidFill>
                  <a:srgbClr val="FFFFFF"/>
                </a:solidFill>
                <a:latin typeface="Cambria" pitchFamily="34" charset="0"/>
                <a:ea typeface="Cambria" pitchFamily="34" charset="-122"/>
                <a:cs typeface="Cambria" pitchFamily="34" charset="-120"/>
              </a:rPr>
              <a:t>4</a:t>
            </a:r>
            <a:endParaRPr lang="tr-TR" sz="1600" dirty="0"/>
          </a:p>
        </p:txBody>
      </p:sp>
      <p:sp>
        <p:nvSpPr>
          <p:cNvPr id="21" name="Text 19"/>
          <p:cNvSpPr txBox="1"/>
          <p:nvPr/>
        </p:nvSpPr>
        <p:spPr>
          <a:xfrm>
            <a:off x="1508760" y="5225796"/>
            <a:ext cx="9921240" cy="1037844"/>
          </a:xfrm>
          <a:prstGeom prst="rect">
            <a:avLst/>
          </a:prstGeom>
          <a:noFill/>
          <a:ln/>
        </p:spPr>
        <p:txBody>
          <a:bodyPr wrap="square" lIns="0" tIns="0" rIns="0" bIns="0" rtlCol="0" anchor="ctr"/>
          <a:lstStyle/>
          <a:p>
            <a:pPr indent="0" marL="0">
              <a:buNone/>
            </a:pPr>
            <a:r>
              <a:rPr lang="tr-TR" sz="1600" dirty="0">
                <a:solidFill>
                  <a:srgbClr val="3A464C"/>
                </a:solidFill>
                <a:latin typeface="Calibri" pitchFamily="34" charset="0"/>
                <a:ea typeface="Calibri" pitchFamily="34" charset="-122"/>
                <a:cs typeface="Calibri" pitchFamily="34" charset="-120"/>
              </a:rPr>
              <a:t>P1 (geliş 0, patlama 4) ve P2 (geliş 1, patlama 2) FCFS ile çalışıyor. Her birinin dönüş ve bekleme süresini bulun.</a:t>
            </a:r>
            <a:endParaRPr lang="tr-TR" sz="16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1417320"/>
            <a:ext cx="9144000" cy="320040"/>
          </a:xfrm>
          <a:prstGeom prst="rect">
            <a:avLst/>
          </a:prstGeom>
          <a:noFill/>
          <a:ln/>
        </p:spPr>
        <p:txBody>
          <a:bodyPr wrap="square" lIns="0" tIns="0" rIns="0" bIns="0" rtlCol="0" anchor="ctr"/>
          <a:lstStyle/>
          <a:p>
            <a:pPr indent="0" marL="0">
              <a:buNone/>
            </a:pPr>
            <a:r>
              <a:rPr lang="tr-TR" sz="1300" b="1" spc="300" kern="0" dirty="0">
                <a:solidFill>
                  <a:srgbClr val="02C39A"/>
                </a:solidFill>
                <a:latin typeface="Calibri" pitchFamily="34" charset="0"/>
                <a:ea typeface="Calibri" pitchFamily="34" charset="-122"/>
                <a:cs typeface="Calibri" pitchFamily="34" charset="-120"/>
              </a:rPr>
              <a:t>GELECEK HAFTA</a:t>
            </a:r>
            <a:endParaRPr lang="tr-TR" sz="1300" dirty="0"/>
          </a:p>
        </p:txBody>
      </p:sp>
      <p:sp>
        <p:nvSpPr>
          <p:cNvPr id="3" name="Text 1"/>
          <p:cNvSpPr txBox="1"/>
          <p:nvPr/>
        </p:nvSpPr>
        <p:spPr>
          <a:xfrm>
            <a:off x="548640" y="1783080"/>
            <a:ext cx="10972800" cy="777240"/>
          </a:xfrm>
          <a:prstGeom prst="rect">
            <a:avLst/>
          </a:prstGeom>
          <a:noFill/>
          <a:ln/>
        </p:spPr>
        <p:txBody>
          <a:bodyPr wrap="square" lIns="0" tIns="0" rIns="0" bIns="0" rtlCol="0" anchor="ctr"/>
          <a:lstStyle/>
          <a:p>
            <a:pPr indent="0" marL="0">
              <a:buNone/>
            </a:pPr>
            <a:r>
              <a:rPr lang="tr-TR" sz="3400" b="1" dirty="0">
                <a:solidFill>
                  <a:srgbClr val="FFFFFF"/>
                </a:solidFill>
                <a:latin typeface="Cambria" pitchFamily="34" charset="0"/>
                <a:ea typeface="Cambria" pitchFamily="34" charset="-122"/>
                <a:cs typeface="Cambria" pitchFamily="34" charset="-120"/>
              </a:rPr>
              <a:t>Zamanlama Algoritmaları ve Eşzamanlama</a:t>
            </a:r>
            <a:endParaRPr lang="tr-TR" sz="3400" dirty="0"/>
          </a:p>
        </p:txBody>
      </p:sp>
      <p:sp>
        <p:nvSpPr>
          <p:cNvPr id="4" name="Shape 2"/>
          <p:cNvSpPr/>
          <p:nvPr/>
        </p:nvSpPr>
        <p:spPr>
          <a:xfrm>
            <a:off x="548640" y="2834640"/>
            <a:ext cx="7680960" cy="2926080"/>
          </a:xfrm>
          <a:prstGeom prst="roundRect">
            <a:avLst>
              <a:gd name="adj" fmla="val 1875"/>
            </a:avLst>
          </a:prstGeom>
          <a:solidFill>
            <a:srgbClr val="36454F"/>
          </a:solidFill>
          <a:ln/>
        </p:spPr>
      </p:sp>
      <p:sp>
        <p:nvSpPr>
          <p:cNvPr id="5" name="Text 3"/>
          <p:cNvSpPr txBox="1"/>
          <p:nvPr/>
        </p:nvSpPr>
        <p:spPr>
          <a:xfrm>
            <a:off x="868680" y="3017520"/>
            <a:ext cx="7132320" cy="365760"/>
          </a:xfrm>
          <a:prstGeom prst="rect">
            <a:avLst/>
          </a:prstGeom>
          <a:noFill/>
          <a:ln/>
        </p:spPr>
        <p:txBody>
          <a:bodyPr wrap="square" lIns="0" tIns="0" rIns="0" bIns="0" rtlCol="0" anchor="ctr"/>
          <a:lstStyle/>
          <a:p>
            <a:pPr indent="0" marL="0">
              <a:buNone/>
            </a:pPr>
            <a:r>
              <a:rPr lang="tr-TR" sz="1400" b="1" dirty="0">
                <a:solidFill>
                  <a:srgbClr val="02C39A"/>
                </a:solidFill>
                <a:latin typeface="Calibri" pitchFamily="34" charset="0"/>
                <a:ea typeface="Calibri" pitchFamily="34" charset="-122"/>
                <a:cs typeface="Calibri" pitchFamily="34" charset="-120"/>
              </a:rPr>
              <a:t>5. haftanın konuları:</a:t>
            </a:r>
            <a:endParaRPr lang="tr-TR" sz="1400" dirty="0"/>
          </a:p>
        </p:txBody>
      </p:sp>
      <p:sp>
        <p:nvSpPr>
          <p:cNvPr id="6" name="Text 4"/>
          <p:cNvSpPr txBox="1"/>
          <p:nvPr/>
        </p:nvSpPr>
        <p:spPr>
          <a:xfrm>
            <a:off x="868680" y="3474720"/>
            <a:ext cx="7132320" cy="2148840"/>
          </a:xfrm>
          <a:prstGeom prst="rect">
            <a:avLst/>
          </a:prstGeom>
          <a:noFill/>
          <a:ln/>
        </p:spPr>
        <p:txBody>
          <a:bodyPr wrap="square" lIns="0" tIns="0" rIns="0" bIns="0" rtlCol="0" anchor="t"/>
          <a:lstStyle/>
          <a:p>
            <a:pPr marL="228600" indent="-228600">
              <a:spcAft>
                <a:spcPts val="600"/>
              </a:spcAft>
              <a:buSzPct val="100000"/>
              <a:buChar char="•"/>
            </a:pPr>
            <a:r>
              <a:rPr lang="tr-TR" sz="1500" dirty="0">
                <a:solidFill>
                  <a:srgbClr val="F2F2F2"/>
                </a:solidFill>
                <a:latin typeface="Calibri" pitchFamily="34" charset="0"/>
                <a:ea typeface="Calibri" pitchFamily="34" charset="-122"/>
                <a:cs typeface="Calibri" pitchFamily="34" charset="-120"/>
              </a:rPr>
              <a:t>Zamanlama algoritmaları: FCFS, SJF / SRTF, Öncelik, Round Robin</a:t>
            </a:r>
            <a:endParaRPr lang="tr-TR" sz="1500" dirty="0"/>
          </a:p>
          <a:p>
            <a:pPr marL="228600" indent="-228600">
              <a:spcAft>
                <a:spcPts val="600"/>
              </a:spcAft>
              <a:buSzPct val="100000"/>
              <a:buChar char="•"/>
            </a:pPr>
            <a:r>
              <a:rPr lang="tr-TR" sz="1500" dirty="0">
                <a:solidFill>
                  <a:srgbClr val="F2F2F2"/>
                </a:solidFill>
                <a:latin typeface="Calibri" pitchFamily="34" charset="0"/>
                <a:ea typeface="Calibri" pitchFamily="34" charset="-122"/>
                <a:cs typeface="Calibri" pitchFamily="34" charset="-120"/>
              </a:rPr>
              <a:t>Her algoritma için Gantt şemaları ve ortalama bekleme süreleri</a:t>
            </a:r>
            <a:endParaRPr lang="tr-TR" sz="1500" dirty="0"/>
          </a:p>
          <a:p>
            <a:pPr marL="228600" indent="-228600">
              <a:spcAft>
                <a:spcPts val="600"/>
              </a:spcAft>
              <a:buSzPct val="100000"/>
              <a:buChar char="•"/>
            </a:pPr>
            <a:r>
              <a:rPr lang="tr-TR" sz="1500" dirty="0">
                <a:solidFill>
                  <a:srgbClr val="F2F2F2"/>
                </a:solidFill>
                <a:latin typeface="Calibri" pitchFamily="34" charset="0"/>
                <a:ea typeface="Calibri" pitchFamily="34" charset="-122"/>
                <a:cs typeface="Calibri" pitchFamily="34" charset="-120"/>
              </a:rPr>
              <a:t>Yarış durumları ve kritik bölge problemi</a:t>
            </a:r>
            <a:endParaRPr lang="tr-TR" sz="1500" dirty="0"/>
          </a:p>
          <a:p>
            <a:pPr marL="228600" indent="-228600">
              <a:spcAft>
                <a:spcPts val="600"/>
              </a:spcAft>
              <a:buSzPct val="100000"/>
              <a:buChar char="•"/>
            </a:pPr>
            <a:r>
              <a:rPr lang="tr-TR" sz="1500" dirty="0">
                <a:solidFill>
                  <a:srgbClr val="F2F2F2"/>
                </a:solidFill>
                <a:latin typeface="Calibri" pitchFamily="34" charset="0"/>
                <a:ea typeface="Calibri" pitchFamily="34" charset="-122"/>
                <a:cs typeface="Calibri" pitchFamily="34" charset="-120"/>
              </a:rPr>
              <a:t>Muteks kilitleri ve semaforlar</a:t>
            </a:r>
            <a:endParaRPr lang="tr-TR" sz="1500" dirty="0"/>
          </a:p>
        </p:txBody>
      </p:sp>
      <p:sp>
        <p:nvSpPr>
          <p:cNvPr id="7" name="Text 5"/>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8A9AA0"/>
                </a:solidFill>
                <a:latin typeface="Calibri" pitchFamily="34" charset="0"/>
                <a:ea typeface="Calibri" pitchFamily="34" charset="-122"/>
                <a:cs typeface="Calibri" pitchFamily="34" charset="-120"/>
              </a:rPr>
              <a:t>MBLP131 — İşletim Sistemleri Temelleri</a:t>
            </a:r>
            <a:endParaRPr lang="tr-TR" sz="900" dirty="0"/>
          </a:p>
        </p:txBody>
      </p:sp>
      <p:sp>
        <p:nvSpPr>
          <p:cNvPr id="8" name="Text 6"/>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8A9AA0"/>
                </a:solidFill>
                <a:latin typeface="Calibri" pitchFamily="34" charset="0"/>
                <a:ea typeface="Calibri" pitchFamily="34" charset="-122"/>
                <a:cs typeface="Calibri" pitchFamily="34" charset="-120"/>
              </a:rPr>
              <a:t>Hafta 4  ·  41</a:t>
            </a:r>
            <a:endParaRPr lang="tr-TR"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1417320"/>
            <a:ext cx="9144000" cy="320040"/>
          </a:xfrm>
          <a:prstGeom prst="rect">
            <a:avLst/>
          </a:prstGeom>
          <a:noFill/>
          <a:ln/>
        </p:spPr>
        <p:txBody>
          <a:bodyPr wrap="square" lIns="0" tIns="0" rIns="0" bIns="0" rtlCol="0" anchor="ctr"/>
          <a:lstStyle/>
          <a:p>
            <a:pPr indent="0" marL="0">
              <a:buNone/>
            </a:pPr>
            <a:r>
              <a:rPr lang="tr-TR" sz="1300" b="1" spc="300" kern="0" dirty="0">
                <a:solidFill>
                  <a:srgbClr val="02C39A"/>
                </a:solidFill>
                <a:latin typeface="Calibri" pitchFamily="34" charset="0"/>
                <a:ea typeface="Calibri" pitchFamily="34" charset="-122"/>
                <a:cs typeface="Calibri" pitchFamily="34" charset="-120"/>
              </a:rPr>
              <a:t>SORULAR?</a:t>
            </a:r>
            <a:endParaRPr lang="tr-TR" sz="1300" dirty="0"/>
          </a:p>
        </p:txBody>
      </p:sp>
      <p:sp>
        <p:nvSpPr>
          <p:cNvPr id="3" name="Text 1"/>
          <p:cNvSpPr txBox="1"/>
          <p:nvPr/>
        </p:nvSpPr>
        <p:spPr>
          <a:xfrm>
            <a:off x="548640" y="1783080"/>
            <a:ext cx="9144000" cy="777240"/>
          </a:xfrm>
          <a:prstGeom prst="rect">
            <a:avLst/>
          </a:prstGeom>
          <a:noFill/>
          <a:ln/>
        </p:spPr>
        <p:txBody>
          <a:bodyPr wrap="square" lIns="0" tIns="0" rIns="0" bIns="0" rtlCol="0" anchor="ctr"/>
          <a:lstStyle/>
          <a:p>
            <a:pPr indent="0" marL="0">
              <a:buNone/>
            </a:pPr>
            <a:r>
              <a:rPr lang="tr-TR" sz="3800" b="1" dirty="0">
                <a:solidFill>
                  <a:srgbClr val="FFFFFF"/>
                </a:solidFill>
                <a:latin typeface="Cambria" pitchFamily="34" charset="0"/>
                <a:ea typeface="Cambria" pitchFamily="34" charset="-122"/>
                <a:cs typeface="Cambria" pitchFamily="34" charset="-120"/>
              </a:rPr>
              <a:t>Tartışma</a:t>
            </a:r>
            <a:endParaRPr lang="tr-TR" sz="3800" dirty="0"/>
          </a:p>
        </p:txBody>
      </p:sp>
      <p:sp>
        <p:nvSpPr>
          <p:cNvPr id="4" name="Text 2"/>
          <p:cNvSpPr txBox="1"/>
          <p:nvPr/>
        </p:nvSpPr>
        <p:spPr>
          <a:xfrm>
            <a:off x="548640" y="2697480"/>
            <a:ext cx="6858000" cy="640080"/>
          </a:xfrm>
          <a:prstGeom prst="rect">
            <a:avLst/>
          </a:prstGeom>
          <a:noFill/>
          <a:ln/>
        </p:spPr>
        <p:txBody>
          <a:bodyPr wrap="square" lIns="0" tIns="0" rIns="0" bIns="0" rtlCol="0" anchor="ctr"/>
          <a:lstStyle/>
          <a:p>
            <a:pPr indent="0" marL="0">
              <a:buNone/>
            </a:pPr>
            <a:r>
              <a:rPr lang="tr-TR" sz="1400" i="1" dirty="0">
                <a:solidFill>
                  <a:srgbClr val="F2F2F2"/>
                </a:solidFill>
                <a:latin typeface="Calibri" pitchFamily="34" charset="0"/>
                <a:ea typeface="Calibri" pitchFamily="34" charset="-122"/>
                <a:cs typeface="Calibri" pitchFamily="34" charset="-120"/>
              </a:rPr>
              <a:t>Dersten sonra sorularınız olursa dersin Telegram kanalında sorun — yanıttan herkes yararlanır.</a:t>
            </a:r>
            <a:endParaRPr lang="tr-TR" sz="1400" dirty="0"/>
          </a:p>
        </p:txBody>
      </p:sp>
      <p:sp>
        <p:nvSpPr>
          <p:cNvPr id="7" name="Text 4"/>
          <p:cNvSpPr txBox="1"/>
          <p:nvPr/>
        </p:nvSpPr>
        <p:spPr>
          <a:xfrm>
            <a:off x="3108960" y="3703320"/>
            <a:ext cx="5486400" cy="1463040"/>
          </a:xfrm>
          <a:prstGeom prst="rect">
            <a:avLst/>
          </a:prstGeom>
          <a:noFill/>
          <a:ln/>
        </p:spPr>
        <p:txBody>
          <a:bodyPr wrap="square" lIns="0" tIns="0" rIns="0" bIns="0" rtlCol="0" anchor="t"/>
          <a:lstStyle/>
          <a:p>
            <a:pPr indent="0" marL="0">
              <a:spcAft>
                <a:spcPts val="400"/>
              </a:spcAft>
              <a:buNone/>
            </a:pPr>
            <a:r>
              <a:rPr lang="tr-TR" sz="1400" b="1" dirty="0">
                <a:solidFill>
                  <a:srgbClr val="F2F2F2"/>
                </a:solidFill>
                <a:latin typeface="Calibri" pitchFamily="34" charset="0"/>
                <a:ea typeface="Calibri" pitchFamily="34" charset="-122"/>
                <a:cs typeface="Calibri" pitchFamily="34" charset="-120"/>
              </a:rPr>
              <a:t>Dr. Öğr. Üyesi Hasan Oğuz</a:t>
            </a:r>
            <a:endParaRPr lang="tr-TR" sz="1400" dirty="0"/>
          </a:p>
        </p:txBody>
      </p:sp>
      <p:sp>
        <p:nvSpPr>
          <p:cNvPr id="8" name="Text 5"/>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8A9AA0"/>
                </a:solidFill>
                <a:latin typeface="Calibri" pitchFamily="34" charset="0"/>
                <a:ea typeface="Calibri" pitchFamily="34" charset="-122"/>
                <a:cs typeface="Calibri" pitchFamily="34" charset="-120"/>
              </a:rPr>
              <a:t>MBLP131 — İşletim Sistemleri Temelleri</a:t>
            </a:r>
            <a:endParaRPr lang="tr-TR" sz="900" dirty="0"/>
          </a:p>
        </p:txBody>
      </p:sp>
      <p:sp>
        <p:nvSpPr>
          <p:cNvPr id="9" name="Text 6"/>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8A9AA0"/>
                </a:solidFill>
                <a:latin typeface="Calibri" pitchFamily="34" charset="0"/>
                <a:ea typeface="Calibri" pitchFamily="34" charset="-122"/>
                <a:cs typeface="Calibri" pitchFamily="34" charset="-120"/>
              </a:rPr>
              <a:t>Hafta 4  ·  42</a:t>
            </a:r>
            <a:endParaRPr lang="tr-TR"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42</Slides>
  <Notes>42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42</vt:i4>
      </vt:variant>
    </vt:vector>
  </HeadingPairs>
  <TitlesOfParts>
    <vt:vector size="4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MBLP131 Hafta 4</dc:title>
  <dc:subject>PptxGenJS Presentation</dc:subject>
  <dc:creator>PptxGenJS</dc:creator>
  <cp:lastModifiedBy>PptxGenJS</cp:lastModifiedBy>
  <cp:revision>1</cp:revision>
  <dcterms:created xsi:type="dcterms:W3CDTF">2026-10-08T13:04:51Z</dcterms:created>
  <dcterms:modified xsi:type="dcterms:W3CDTF">2026-10-08T13:04:51Z</dcterms:modified>
</cp:coreProperties>
</file>