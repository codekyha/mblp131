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haftaya hoş geldiniz. 4. ve 5. haftalar işlemcinin zaman içinde paylaşılmasıyla ilgiliydi. Bugün ana belleğin alan olarak paylaşılmasını konuşuyoruz. İlk saat: temel donanım (taban ve sınır yazmaçları, bellek yönetim birimi MMU), takas ve bitişik bellek tahsisi ile onun parçalanma sorunu. İkinci saat: sayfalama, TLB ve bölütleme; ardından bir Linux makinesinde gerçek adreslere bakacağız.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 tekrar, iki dakika. Bir öğrenciden ortalama bekleme süresi fikrini, bir başkasından yarış durumunun ne olduğunu isteyin. 2. haftaya bağlayın: zaman çoğullama (işlemci) ve alan çoğullama (bellek). Bugünkü konu alan çoğullama.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Molanın öncesinde 1. ve 2. bölüm, sonrasında sayfalama ve bölütleme, en sonda canlı gösterim. Bugün anlatılan her şey donanım ile işletim sisteminin birlikte yaptığı işlerdir; gelecek haftanın konusu olan sanal bellek doğrudan sayfalamanın üzerine kurulur.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bölüm: sorun ve en basit donanım çözümü.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Bellek hiyerarşisinden (2. hafta): işlemci yazmaçlara ve RAM'e doğrudan erişir; disklere ise yalnızca G/Ç yoluyla. Bu yüzden bir programın çalışabilmesi için RAM'de olması gerekir. Üç gereksinim var: RAM'i birçok süreç arasında paylaştırmak, süreçleri birbirinden korumak ve programların herhangi bir yere yüklenebilmesine izin vermek. Sorun: korumanın olmadığı MS-DOS'ta (2. hafta) ne olur? Tek bir hatalı işaretçi makineyi çökertir.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C kaynağındaki 'count' bir addır. Derleyici onu 'veri bölümümde 14. konum' biçimine çevirebilir (yer değiştirebilir kod). Program 74000 adresine yüklenirse yükleyici bunu 74014 yapabilir (yükleme zamanında bağlama). Yürütme zamanında bağlamada ise program 14'ü kullanmaya devam eder ve donanım her erişimde başlangıç adresini ekler. Bu sonuncusu özel bir donanım gerektirir: MMU, sonraki slaytlar.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Haftanın en önemli ayrımı. Kullanıcı programı fiziksel adresleri hiçbir zaman görmez. Uygulama bölümünde iki süreç, farklı veriler için aynı mantıksal adresi yazdıracak: bu ancak mantıksal adres fiziksel adres olmadığı için mümkündür.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Adım adım anlatın: işlemci '346 adresinden oku' komutunu yürütür. MMU, her bir bellek erişiminde, donanımda, anında 14000 ekler; yazılım ek yükü yoktur. Bu, yürütme zamanında bağlamadır. Sayılar Silberschatz'ın klasik örneğinden.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donanımda denetim ve toplama paralel olarak, her erişimde yapılır. Denetim başarısız olursa işlemci bir tuzak (trap) üretir (2. hafta: tuzak, yazılım kaynaklı bir kesmedir) ve işletim sistemi genellikle süreci sonlandırır. Linux'taki ünlü 'Segmentation fault (core dumped)' iletisi tam olarak bu türden bir tuzaktır; bugün bir sınır yazmacı yerine sayfalama donanımı tarafından üretilir.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Onaltılık satırı tahtada yapın: tabanın alt basamakları sıfır olduğu için 0x4000 + 0x02A4 = 0x42A4; yani ofseti alt basamaklara yazmanız yeterli. Onluk tabanda kontrol: 16384 + 676 = 17060. Sorun: onaltılık tabanda son geçerli mantıksal adres nedir? 0x0FFF; fiziksel karşılığı 0x4FFF.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Takas süresine aktarım süresi hâkimdir ve taşınan bellek miktarıyla orantılıdır. 50 MB/s hızla 100 MB, her yön için 2 s sürer. 10-100 ms'lik bir zaman dilimiyle (5. hafta) karşılaştırıldığında bu çok büyüktür. Bütün süreçlerin standart takası bugün yalnızca acil durumlarda kullanılır; Linux, Windows ve macOS sayfaları takas eder (sayfalama, 3. bölüm ve 7. hafta). Mobil işletim sistemleri (iOS, Android) genellikle hiç takas yapmaz; bunun yerine arka plandaki uygulamaları sonlandırır. 4096 B / 50e6 B/s = 82 µs.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bizim sürekli kullanacağımız örneğimiz; aynı bellek sonraki üç slaytta da görünüyor. Bellek 2800 KB (sayılar okunaklı kalsın diye oyuncak bir boyut). En altta işletim sistemi (İS), beş süreç P1..P5 ve beş delik var. İşletim sistemi bir delik listesi tutar. Soru şu: yeni gelen süreç hangi deliği almalı?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isteğini tahtada birlikte yapın: ilk uyan düşük adreslerden başlar: 150 küçük, 450 sığıyor -&gt; 600'deki delik. En iyi uyan: sığan delikler 450, 350, 550; en küçüğü 350 -&gt; 1600'deki delik. En kötü uyan: en büyüğü, 550 -&gt; 2100'deki delik. Sonra sonraki slaydı göstermeden önce öğrencilere B, C ve D'yi ikişerli gruplarda 3 dakikada yaptırın. Sonuçlar code/fit.py ile doğrulandı.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Çubukları okuyun. İlk uyan: A-&gt;600, B-&gt;2100, C-&gt;300; toplam 950 KB boş olmasına rağmen D yerleştirilemiyor, en büyük delik 350. En iyi uyan: A-&gt;1600 (350), B-&gt;600 (450), C 1820'deki 130 KB'lık artığa tam sığıyor, D-&gt;2100: hepsi sığıyor. En kötü uyan: A-&gt;2100, B-&gt;600, C-&gt;1600, D bekliyor (en büyük delik 330). Uyarın: bu tek bir örnek; en iyi uyan her zaman en iyisi değildir. İşe yaramayan çok küçük delikler oluşturma eğilimindedir (burada 50 KB).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kuralı istatistiksel bir sonuçtur (Knuth'un çözümlemesi, Silberschatz'ın aktardığı biçimiyle): N blok tahsis edilmişse N/2 blok daha parçalanmaya gider. Kaybedilen oran = 0,5N / (N + 0,5N) = 1/3. İç parçalanma örneği: 2 baytlık bir deliği listede tutmanın maliyeti deliğin kendisinden fazladır, bu yüzden tahsis edici yukarı yuvarlar.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Sıkıştırmadan sonra boş bellek tek parça hâlinde 2800 - 1850 = 950 KB'tır; D 430 KB alır, 520 KB kalır. Sıkıştırma bir diski birleştirmeye (defrag) benzer: doğru ama yavaş. Daha iyi çözüm, bir sürecin belleğinin bitişik olmamasına izin vermektir. Molanın ardından gelen konu: sayfalama.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dakika. Moladan önce öğrencilerden şunu düşünmelerini isteyin: bir sürecin tek parça olması gerekmeseydi ne olurdu?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bölüm: tüm modern genel amaçlı işletim sistemlerinin kullandığı yöntem olan sayfalama.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sayfa tablosu (0-&gt;5, 1-&gt;9, 2-&gt;1, 3-&gt;7, 4-&gt;12) sonraki slaytlarda ve page_split.c'de kullanılan tablodur. Dikkat çekin: 1, 5, 7, 9, 12 numaralı çerçeveler dağınık ve sırasız, yine de süreç 0..20479 arasında bitişik bir mantıksal bellek görür. 'başka' ile işaretli çerçeveler başka süreçlere aittir.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Neden 2'nin kuvvetleri? Çünkü bölme işlemi gerekmez: donanım yalnızca ilgili telleri alır. n bit sağa kaydırmak 2^n'e bölmek, 2^n - 1 ile VE işlemi kalanı almak demektir. Bugünün sonunda öğrenciler onaltılık bölmeyi akıldan yapabilmeli.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kez yapın: bir kez onaltılık tabanda (ilk basamak 3'ü 7 ile değiştirin: 0x3A7F -&gt; 0x7A7F), bir kez de herkes ikna olsun diye onluk tabanda. Sorun: mantıksal 0x1234'ün fiziksel adresi nedir? Sayfa 1 -&gt; çerçeve 9 -&gt; 0x9234 = 37428. Ya mantıksal 0x5000? Sayfa 5 tabloda yok: tuzak (geçerli bitiyle buna geri döneceğiz). Uygulama bölümündeki page_split.c programı tam olarak bu satırları yazdırır.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10000 / 4096 = 2, kalan 1808. Sürecin 3 çerçeveye ihtiyacı var ve üçüncü çerçevenin 4096 - 1808 = 2288 baytı boşa gidiyor. Süreç boyları rastgeleyse son sayfa ortalama yarı doludur; bu yüzden beklenen israf süreç başına yarım sayfadır. Linux'ta getconf PAGESIZE 4096 yazdırır; /proc/meminfo ise Hugepagesize: 2048 kB gösterir (test makinemizde gördük).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2^32 / 2^12 = 2^20 girdi, 4 baytla çarpınca 2^22 bayt = 4 MB. Her süreç için! 64 bit için durum daha kötü: 48 bitlik adresler ve 8 baytlık girdilerle düz bir tablo 2^36 x 8 B = 512 GB olurdu. Çözüm (bugün yalnızca kısaca): sayfa numarasını birkaç parçaya bölüp sayfa tablosunun kendisini sayfalamak; böylece iç tablolar yalnızca adres uzayının kullanılan kısımları için var olur. Öğrencilerin ayrıntıyı değil, yalnızca fikri bilmesi yeterli.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Diyagramı okuyun: sayfa numarası TLB'de aranır, tüm girdilerde aynı anda. İsabet (hit): çerçeve numarası hemen çıkar. Iska (miss): MMU (bazı işlemcilerde işletim sistemi) RAM'deki sayfa tablosunu okur, sonra girdiyi bir dahaki sefer için TLB'ye yazar. Programlar belleğe yerellikle (locality: döngüler, diziler, yığıt) eriştiği için %99 ve üzeri isabet oranları olağandır. Bağlam değişiminde TLB boşaltılmalı ya da girdiler bir adres uzayı kimliğiyle (ASID) etiketlenmelidir.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Formülü tahtaya yazın ve her terimi açıklayın: α olasılıkla bir TLB araması artı bir bellek erişimi öderiz; 1 - α olasılıkla bir arama artı iki bellek erişimi. t_TLB + (2 - α) t_m biçimine sadeleştirin: 20 + 1,2 x 100 = 140. Sınavda hangi uzlaşımı kullandığınızı mutlaka belirtin; ders kitapları farklıdır. code/verify.py ile doğrulandı.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sınır yazmacının sayfalamadaki karşılığıdır. Gelecek hafta geçerli bitinin ikinci bir anlamı olacak: 'geçerli ama şu an RAM'de değil' -&gt; sayfa hatası (page fault), isteğe bağlı sayfalama. Şimdilik: geçersiz, yasak demektir. NX (no-execute, yürütme yok) biti x86-64'te yaklaşık 2004'ten beri vardır.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sürecin kendi sayfa tablosu vardır, ama kütüphane sayfalarının girdileri aynı 3, 4 ve 6 numaralı çerçeveleri gösterir. Yalnızca özel veri sayfası farklıdır (8, 11, 14 numaralı çerçeveler). Paylaşılan kütüphanelerin (Linux'ta .so, Windows'ta .dll) bu kadar bellek kazandırmasının nedeni budur; /proc/self/maps her süreçte libc.so.6'yı listeler. Paylaşılan kod yeniden girilebilir (reentrant) olmalıdır: kendini asla değiştirmez.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bölüm: diğer klasik yöntem. Daha kısa tutun: bölütleme bugün daha çok tarihsel ve kavramsal açıdan önemlidir.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Yükseklikler bölüt boylarıyla orantılı (sınır değerleri bir sonraki slaytta). Sayfaların aksine bölütler farklı boylardadır ve programın anlamlı parçalarına karşılık gelir; bu yüzden koruma anlamlı birim başına ayarlanabilir (kod salt okunur, yığıt okunur-yazılır). Bedeli: bölütler yine değişken boylu, bitişik bloklardır -&gt; dış parçalanma geri gelir.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Dört örneği birlikte çözün. Öğrencilerden 1. bölütteki en büyük geçerli ofseti bulmalarını isteyin: 299; fiziksel 6799, yani son bayt. 0. bölütteki 1222 ofseti 1200 sınırını aşıyor: donanım tuzak üretir. 'Segmentation fault' (bölütleme hatası) adı bu tür bir denetimden gelir. Sayılar code/verify.py ile doğrulandı.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Özetleyin: sayfalama dış parçalanmayı çözer ve tahsisi önemsizleştirir (herhangi bir boş çerçeve). Bölütleme programcının bakışına uyar ve doğal koruma birimleri verir. Tarihsel olarak sistemler ikisini birleştirdi (sayfalardan oluşan bölütler, ör. Intel 80386 / Multics). Bugün sayfalama kazandı; bölüt fikri /proc/self/maps'teki 'bölgeler' (VMA) olarak yaşıyor.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 bir genel bakış; ayrıntıları sınav konusu değil. 64 bit kipte işlemci CS, DS, ES ve SS'nin taban ve sınırını yok sayar. ARM64'te (telefonlar, Apple M serisi) bölütleme hiç yoktur. Linux'ta bugün 'segmentation fault', bir erişim sayfa tablosu/bölge kurallarını ihlal ettiğinde bildirilir: ad, donanımdan daha uzun yaşadı. CR3, en üst düzey sayfa tablosunun fiziksel adresini tutar.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Canlı çalıştırın: make; ./mem_layout. text, mem_layout'un r-xp bölgesinde (yürütülebilir, yazılamaz); data ve bss rw-p bölgesinde; öbek [heap] içinde; yerel değişken [stack] içinde. İki kez çalıştırın: adresler her seferinde değişir; bunun nedeni bir güvenlik özelliği olan ASLR'dir (address-space layout randomisation, adres uzayı düzeninin rastgeleleştirilmesi). Bunlar mantıksal (sanal) adreslerdir; fiziksel adresleri hiçbir zaman görmeyiz.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Linux test ortamımızda yakalanmış gerçek çıktı (son sütundaki boşluklar kısaltıldı). /proc/self her zaman 'onu okuyan süreç' demektir; burada head'in kendisi. Öğrencilerden öbek bölgesinin boyunu hesaplamalarını isteyin: 0x559970e18000 - 0x559970df7000 = 0x21000 = 135168 bayt = 33 sayfa. Her başlangıç ve bitiş adresi üç onaltılık sıfırla biter: bölgeler tam 4 KB'lık sayfalardan oluşur.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Günün en ikna edici gösterimi. İki satır da aynı adresi gösteriyor ama iki farklı değer: &amp;x fiziksel bir adres olsaydı bu imkânsız olurdu. Teknik olarak, fork()'tan sonra iki sayfa tablosu da önce salt okunur işaretlenmiş aynı çerçeveyi gösterir; çocuk yazınca çekirdek sayfayı kopyalar ve çocuğun sayfa tablosu girdisini değiştirir (yazınca kopyala, copy-on-write, 7. hafta). ASLR adresi çalıştırmadan çalıştırmaya değiştirir, ama ebeveyn ve çocuk her zaman aynı adresi görür.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MMU tam olarak bunu donanımda, bir nanosaniyenin kesrinde yapar. Öğrenciler herhangi bir adresi deneyebilir: ./page_split 0x0 0xFFF 0x1000 ile sayfa sınırını görürler. Tablomuzda sayfa 5 geçersiz olduğu için 0x5000 tuzağa düşer.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Ödev tarzı bir keşif; yanıtlar makineden makineye değişir. Apple silicon Mac'ler 16 KB'lık sayfa kullanır (getconf PAGESIZE 16384 yazdırır); çoğu x86 bilgisayar 4 KB kullanır. Türkçe Windows'ta Görev Yöneticisi alanlarının adları sürüme göre biraz farklı olabilir.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Yanıtlar: (1) 0x07FF &lt; 0x0800, dolayısıyla fiziksel 0x2000 + 0x07FF = 0x27FF; 0x0800 sınırdan küçük değil -&gt; tuzak. (2) p = 0x5 = 5, d = 0xC21 = 3105. (3) EAT = 0,9 x 120 + 0,1 x 220 = 108 + 22 = 130 ns (= 20 + 1,1 x 100). (4) Her boş çerçeve her sayfaya uyar, bu yüzden boş bellek hiçbir zaman kullanılamayacak kadar parçalanmaz; ama bellek tam sayfalar hâlinde verildiği için bir sürecin son sayfası kısmen boştur.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Akılda tutulacak altı cümle. Gelecek haftanın konusu sanal bellek, sayfalamanın üzerine tek bir fikir ekler: bir sayfanın RAM'de olması hiç gerekmez.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hafta bellek hikâyesini tamamlıyor: bir sayfa geçerli ama RAM'de değilse ne olur? Ayrıca dosya sistemlerine başlıyoruz. Öğrencilere hatırlatın: 7. hafta, 1-7. haftaları kapsayan 8. hafta ara sınavından önceki son derstir.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Soruları alın. Ders sonrası sorular için dersin Telegram kanalını ve daha fazla çözümlü örnek ile yanıtlı tekrar soruları içeren 6. hafta ders notlarını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737360"/>
            <a:ext cx="73152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MBLP131  ·  HAFTA 6</a:t>
            </a:r>
            <a:endParaRPr lang="tr-TR" sz="1300" dirty="0"/>
          </a:p>
        </p:txBody>
      </p:sp>
      <p:sp>
        <p:nvSpPr>
          <p:cNvPr id="3" name="Text 1"/>
          <p:cNvSpPr txBox="1"/>
          <p:nvPr/>
        </p:nvSpPr>
        <p:spPr>
          <a:xfrm>
            <a:off x="548640" y="2148840"/>
            <a:ext cx="8229600" cy="1463040"/>
          </a:xfrm>
          <a:prstGeom prst="rect">
            <a:avLst/>
          </a:prstGeom>
          <a:noFill/>
          <a:ln/>
        </p:spPr>
        <p:txBody>
          <a:bodyPr wrap="square" lIns="0" tIns="0" rIns="0" bIns="0" rtlCol="0" anchor="t"/>
          <a:lstStyle/>
          <a:p>
            <a:pPr indent="0" marL="0">
              <a:buNone/>
            </a:pPr>
            <a:r>
              <a:rPr lang="tr-TR" sz="4000" b="1" dirty="0">
                <a:solidFill>
                  <a:srgbClr val="FFFFFF"/>
                </a:solidFill>
                <a:latin typeface="Cambria" pitchFamily="34" charset="0"/>
                <a:ea typeface="Cambria" pitchFamily="34" charset="-122"/>
                <a:cs typeface="Cambria" pitchFamily="34" charset="-120"/>
              </a:rPr>
              <a:t>İşletim Sistemleri</a:t>
            </a:r>
            <a:endParaRPr lang="tr-TR" sz="4000" dirty="0"/>
          </a:p>
          <a:p>
            <a:pPr indent="0" marL="0">
              <a:buNone/>
            </a:pPr>
            <a:r>
              <a:rPr lang="tr-TR" sz="4000" b="1" dirty="0">
                <a:solidFill>
                  <a:srgbClr val="FFFFFF"/>
                </a:solidFill>
                <a:latin typeface="Cambria" pitchFamily="34" charset="0"/>
                <a:ea typeface="Cambria" pitchFamily="34" charset="-122"/>
                <a:cs typeface="Cambria" pitchFamily="34" charset="-120"/>
              </a:rPr>
              <a:t>Temelleri</a:t>
            </a:r>
            <a:endParaRPr lang="tr-TR" sz="4000" dirty="0"/>
          </a:p>
        </p:txBody>
      </p:sp>
      <p:sp>
        <p:nvSpPr>
          <p:cNvPr id="4" name="Text 2"/>
          <p:cNvSpPr txBox="1"/>
          <p:nvPr/>
        </p:nvSpPr>
        <p:spPr>
          <a:xfrm>
            <a:off x="548640" y="3703320"/>
            <a:ext cx="10058400" cy="457200"/>
          </a:xfrm>
          <a:prstGeom prst="rect">
            <a:avLst/>
          </a:prstGeom>
          <a:noFill/>
          <a:ln/>
        </p:spPr>
        <p:txBody>
          <a:bodyPr wrap="square" lIns="0" tIns="0" rIns="0" bIns="0" rtlCol="0" anchor="ctr"/>
          <a:lstStyle/>
          <a:p>
            <a:pPr indent="0" marL="0">
              <a:buNone/>
            </a:pPr>
            <a:r>
              <a:rPr lang="tr-TR" sz="2000" dirty="0">
                <a:solidFill>
                  <a:srgbClr val="F2F2F2"/>
                </a:solidFill>
                <a:latin typeface="Calibri" pitchFamily="34" charset="0"/>
                <a:ea typeface="Calibri" pitchFamily="34" charset="-122"/>
                <a:cs typeface="Calibri" pitchFamily="34" charset="-120"/>
              </a:rPr>
              <a:t>Hafta 6  ·  Bellek Yönetimi: Bitişik Tahsis, Sayfalama ve Bölütleme</a:t>
            </a:r>
            <a:endParaRPr lang="tr-TR" sz="2000" dirty="0"/>
          </a:p>
        </p:txBody>
      </p:sp>
      <p:sp>
        <p:nvSpPr>
          <p:cNvPr id="5" name="Text 3"/>
          <p:cNvSpPr txBox="1"/>
          <p:nvPr/>
        </p:nvSpPr>
        <p:spPr>
          <a:xfrm>
            <a:off x="548640" y="4160520"/>
            <a:ext cx="10058400" cy="365760"/>
          </a:xfrm>
          <a:prstGeom prst="rect">
            <a:avLst/>
          </a:prstGeom>
          <a:noFill/>
          <a:ln/>
        </p:spPr>
        <p:txBody>
          <a:bodyPr wrap="square" lIns="0" tIns="0" rIns="0" bIns="0" rtlCol="0" anchor="ctr"/>
          <a:lstStyle/>
          <a:p>
            <a:pPr indent="0" marL="0">
              <a:buNone/>
            </a:pPr>
            <a:r>
              <a:rPr lang="tr-TR" sz="1400" i="1" dirty="0">
                <a:solidFill>
                  <a:srgbClr val="8A9AA0"/>
                </a:solidFill>
                <a:latin typeface="Calibri" pitchFamily="34" charset="0"/>
                <a:ea typeface="Calibri" pitchFamily="34" charset="-122"/>
                <a:cs typeface="Calibri" pitchFamily="34" charset="-120"/>
              </a:rPr>
              <a:t>Birçok program, tek bir RAM: her süreç kendine ait, korunmuş bir bellek parçasını nasıl alır?</a:t>
            </a:r>
            <a:endParaRPr lang="tr-TR" sz="1400" dirty="0"/>
          </a:p>
        </p:txBody>
      </p:sp>
      <p:sp>
        <p:nvSpPr>
          <p:cNvPr id="6" name="Text 4"/>
          <p:cNvSpPr txBox="1"/>
          <p:nvPr/>
        </p:nvSpPr>
        <p:spPr>
          <a:xfrm>
            <a:off x="548640" y="6217920"/>
            <a:ext cx="10058400" cy="274320"/>
          </a:xfrm>
          <a:prstGeom prst="rect">
            <a:avLst/>
          </a:prstGeom>
          <a:noFill/>
          <a:ln/>
        </p:spPr>
        <p:txBody>
          <a:bodyPr wrap="square" lIns="0" tIns="0" rIns="0" bIns="0" rtlCol="0" anchor="ctr"/>
          <a:lstStyle/>
          <a:p>
            <a:pPr indent="0" marL="0">
              <a:buNone/>
            </a:pPr>
            <a:r>
              <a:rPr lang="tr-TR" sz="1000" dirty="0">
                <a:solidFill>
                  <a:srgbClr val="8A9AA0"/>
                </a:solidFill>
                <a:latin typeface="Calibri" pitchFamily="34" charset="0"/>
                <a:ea typeface="Calibri" pitchFamily="34" charset="-122"/>
                <a:cs typeface="Calibri" pitchFamily="34" charset="-120"/>
              </a:rPr>
              <a:t>Elektronik Haberleşme Teknolojisi Programı  ·  Meslek Yüksekokulu  ·  İstanbul Okan Üniversitesi</a:t>
            </a:r>
            <a:endParaRPr lang="tr-TR"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GEÇEN HAFTA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Dört Fikirde 5. Hafta</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6  ·  2</a:t>
            </a:r>
            <a:endParaRPr lang="tr-TR" sz="900" dirty="0"/>
          </a:p>
        </p:txBody>
      </p:sp>
      <p:sp>
        <p:nvSpPr>
          <p:cNvPr id="6" name="Shape 4"/>
          <p:cNvSpPr/>
          <p:nvPr/>
        </p:nvSpPr>
        <p:spPr>
          <a:xfrm>
            <a:off x="54864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Zamanlama algoritmaları</a:t>
            </a:r>
            <a:endParaRPr lang="tr-TR" sz="1600" dirty="0"/>
          </a:p>
        </p:txBody>
      </p:sp>
      <p:sp>
        <p:nvSpPr>
          <p:cNvPr id="8" name="Text 6"/>
          <p:cNvSpPr txBox="1"/>
          <p:nvPr/>
        </p:nvSpPr>
        <p:spPr>
          <a:xfrm>
            <a:off x="777240" y="2148840"/>
            <a:ext cx="2148840" cy="2971800"/>
          </a:xfrm>
          <a:prstGeom prst="rect">
            <a:avLst/>
          </a:prstGeom>
          <a:noFill/>
          <a:ln/>
        </p:spPr>
        <p:txBody>
          <a:bodyPr wrap="square" lIns="0" tIns="0" rIns="0" bIns="0" rtlCol="0" anchor="t"/>
          <a:lstStyle/>
          <a:p>
            <a:pPr indent="0" marL="0">
              <a:spcAft>
                <a:spcPts val="400"/>
              </a:spcAft>
              <a:buNone/>
            </a:pPr>
            <a:r>
              <a:rPr lang="tr-TR" sz="1550" dirty="0">
                <a:solidFill>
                  <a:srgbClr val="3A464C"/>
                </a:solidFill>
                <a:latin typeface="Calibri" pitchFamily="34" charset="0"/>
                <a:ea typeface="Calibri" pitchFamily="34" charset="-122"/>
                <a:cs typeface="Calibri" pitchFamily="34" charset="-120"/>
              </a:rPr>
              <a:t>FCFS, SJF/SRTF, Öncelik ve Round Robin; Gantt şemaları ve ortalama bekleme süresiyle karşılaştırıldı.</a:t>
            </a:r>
            <a:endParaRPr lang="tr-TR" sz="1550" dirty="0"/>
          </a:p>
        </p:txBody>
      </p:sp>
      <p:sp>
        <p:nvSpPr>
          <p:cNvPr id="9" name="Shape 7"/>
          <p:cNvSpPr/>
          <p:nvPr/>
        </p:nvSpPr>
        <p:spPr>
          <a:xfrm>
            <a:off x="338328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361188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Zaman dilimi</a:t>
            </a:r>
            <a:endParaRPr lang="tr-TR" sz="1600" dirty="0"/>
          </a:p>
        </p:txBody>
      </p:sp>
      <p:sp>
        <p:nvSpPr>
          <p:cNvPr id="11" name="Text 9"/>
          <p:cNvSpPr txBox="1"/>
          <p:nvPr/>
        </p:nvSpPr>
        <p:spPr>
          <a:xfrm>
            <a:off x="3611880" y="2148840"/>
            <a:ext cx="2148840" cy="2971800"/>
          </a:xfrm>
          <a:prstGeom prst="rect">
            <a:avLst/>
          </a:prstGeom>
          <a:noFill/>
          <a:ln/>
        </p:spPr>
        <p:txBody>
          <a:bodyPr wrap="square" lIns="0" tIns="0" rIns="0" bIns="0" rtlCol="0" anchor="t"/>
          <a:lstStyle/>
          <a:p>
            <a:pPr indent="0" marL="0">
              <a:spcAft>
                <a:spcPts val="400"/>
              </a:spcAft>
              <a:buNone/>
            </a:pPr>
            <a:r>
              <a:rPr lang="tr-TR" sz="1550" dirty="0">
                <a:solidFill>
                  <a:srgbClr val="3A464C"/>
                </a:solidFill>
                <a:latin typeface="Calibri" pitchFamily="34" charset="0"/>
                <a:ea typeface="Calibri" pitchFamily="34" charset="-122"/>
                <a:cs typeface="Calibri" pitchFamily="34" charset="-120"/>
              </a:rPr>
              <a:t>Çok küçük dilimli Round Robin zamanı bağlam değişimlerine harcar; çok büyük dilim FCFS'ye dönüşür.</a:t>
            </a:r>
            <a:endParaRPr lang="tr-TR" sz="1550" dirty="0"/>
          </a:p>
        </p:txBody>
      </p:sp>
      <p:sp>
        <p:nvSpPr>
          <p:cNvPr id="12" name="Shape 10"/>
          <p:cNvSpPr/>
          <p:nvPr/>
        </p:nvSpPr>
        <p:spPr>
          <a:xfrm>
            <a:off x="621792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644652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Yarış durumları</a:t>
            </a:r>
            <a:endParaRPr lang="tr-TR" sz="1600" dirty="0"/>
          </a:p>
        </p:txBody>
      </p:sp>
      <p:sp>
        <p:nvSpPr>
          <p:cNvPr id="14" name="Text 12"/>
          <p:cNvSpPr txBox="1"/>
          <p:nvPr/>
        </p:nvSpPr>
        <p:spPr>
          <a:xfrm>
            <a:off x="6446520" y="2148840"/>
            <a:ext cx="2148840" cy="2971800"/>
          </a:xfrm>
          <a:prstGeom prst="rect">
            <a:avLst/>
          </a:prstGeom>
          <a:noFill/>
          <a:ln/>
        </p:spPr>
        <p:txBody>
          <a:bodyPr wrap="square" lIns="0" tIns="0" rIns="0" bIns="0" rtlCol="0" anchor="t"/>
          <a:lstStyle/>
          <a:p>
            <a:pPr indent="0" marL="0">
              <a:spcAft>
                <a:spcPts val="400"/>
              </a:spcAft>
              <a:buNone/>
            </a:pPr>
            <a:r>
              <a:rPr lang="tr-TR" sz="1550" dirty="0">
                <a:solidFill>
                  <a:srgbClr val="3A464C"/>
                </a:solidFill>
                <a:latin typeface="Calibri" pitchFamily="34" charset="0"/>
                <a:ea typeface="Calibri" pitchFamily="34" charset="-122"/>
                <a:cs typeface="Calibri" pitchFamily="34" charset="-120"/>
              </a:rPr>
              <a:t>İş parçacıkları ortak veriyi eşgüdümsüz güncellerse sonuç zamanlamaya bağlı olur. Kritik bölge korunmalıdır.</a:t>
            </a:r>
            <a:endParaRPr lang="tr-TR" sz="1550" dirty="0"/>
          </a:p>
        </p:txBody>
      </p:sp>
      <p:sp>
        <p:nvSpPr>
          <p:cNvPr id="15" name="Shape 13"/>
          <p:cNvSpPr/>
          <p:nvPr/>
        </p:nvSpPr>
        <p:spPr>
          <a:xfrm>
            <a:off x="905256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sp>
      <p:sp>
        <p:nvSpPr>
          <p:cNvPr id="16" name="Text 14"/>
          <p:cNvSpPr txBox="1"/>
          <p:nvPr/>
        </p:nvSpPr>
        <p:spPr>
          <a:xfrm>
            <a:off x="928116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Mutex ve semafor</a:t>
            </a:r>
            <a:endParaRPr lang="tr-TR" sz="1600" dirty="0"/>
          </a:p>
        </p:txBody>
      </p:sp>
      <p:sp>
        <p:nvSpPr>
          <p:cNvPr id="17" name="Text 15"/>
          <p:cNvSpPr txBox="1"/>
          <p:nvPr/>
        </p:nvSpPr>
        <p:spPr>
          <a:xfrm>
            <a:off x="9281160" y="2148840"/>
            <a:ext cx="2148840" cy="2971800"/>
          </a:xfrm>
          <a:prstGeom prst="rect">
            <a:avLst/>
          </a:prstGeom>
          <a:noFill/>
          <a:ln/>
        </p:spPr>
        <p:txBody>
          <a:bodyPr wrap="square" lIns="0" tIns="0" rIns="0" bIns="0" rtlCol="0" anchor="t"/>
          <a:lstStyle/>
          <a:p>
            <a:pPr indent="0" marL="0">
              <a:spcAft>
                <a:spcPts val="400"/>
              </a:spcAft>
              <a:buNone/>
            </a:pPr>
            <a:r>
              <a:rPr lang="tr-TR" sz="1550" dirty="0">
                <a:solidFill>
                  <a:srgbClr val="3A464C"/>
                </a:solidFill>
                <a:latin typeface="Calibri" pitchFamily="34" charset="0"/>
                <a:ea typeface="Calibri" pitchFamily="34" charset="-122"/>
                <a:cs typeface="Calibri" pitchFamily="34" charset="-120"/>
              </a:rPr>
              <a:t>lock()/unlock() ve wait()/signal() karşılıklı dışlama sağlar; iş parçacıkları işlemciyi boşa yakmadan bekler.</a:t>
            </a:r>
            <a:endParaRPr lang="tr-TR" sz="1550" dirty="0"/>
          </a:p>
        </p:txBody>
      </p:sp>
      <p:sp>
        <p:nvSpPr>
          <p:cNvPr id="18" name="Shape 16"/>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19" name="Text 17"/>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5. hafta işlemciyi zaman içinde paylaştırdı. Bugün ana belleği alan olarak paylaştırıyoruz: RAM'de aynı anda birçok süreç, her biri diğerlerinden korunmuş.</a:t>
            </a:r>
            <a:endParaRPr lang="tr-TR"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HAFTA 6</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Bugünün Gündemi</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6  ·  3</a:t>
            </a:r>
            <a:endParaRPr lang="tr-TR" sz="900" dirty="0"/>
          </a:p>
        </p:txBody>
      </p:sp>
      <p:sp>
        <p:nvSpPr>
          <p:cNvPr id="6" name="Shape 4"/>
          <p:cNvSpPr/>
          <p:nvPr/>
        </p:nvSpPr>
        <p:spPr>
          <a:xfrm>
            <a:off x="548640" y="1554480"/>
            <a:ext cx="731520" cy="731520"/>
          </a:xfrm>
          <a:prstGeom prst="roundRect">
            <a:avLst>
              <a:gd name="adj" fmla="val 6250"/>
            </a:avLst>
          </a:prstGeom>
          <a:solidFill>
            <a:srgbClr val="02C39A"/>
          </a:solidFill>
          <a:ln/>
        </p:spPr>
      </p:sp>
      <p:sp>
        <p:nvSpPr>
          <p:cNvPr id="7" name="Text 5"/>
          <p:cNvSpPr txBox="1"/>
          <p:nvPr/>
        </p:nvSpPr>
        <p:spPr>
          <a:xfrm>
            <a:off x="548640" y="1554480"/>
            <a:ext cx="731520" cy="731520"/>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1</a:t>
            </a:r>
            <a:endParaRPr lang="tr-TR" sz="2000" dirty="0"/>
          </a:p>
        </p:txBody>
      </p:sp>
      <p:sp>
        <p:nvSpPr>
          <p:cNvPr id="8" name="Shape 6"/>
          <p:cNvSpPr/>
          <p:nvPr/>
        </p:nvSpPr>
        <p:spPr>
          <a:xfrm>
            <a:off x="1463040" y="1554480"/>
            <a:ext cx="10195560" cy="731520"/>
          </a:xfrm>
          <a:prstGeom prst="roundRect">
            <a:avLst>
              <a:gd name="adj" fmla="val 6250"/>
            </a:avLst>
          </a:prstGeom>
          <a:solidFill>
            <a:srgbClr val="F2F2F2"/>
          </a:solidFill>
          <a:ln/>
        </p:spPr>
      </p:sp>
      <p:sp>
        <p:nvSpPr>
          <p:cNvPr id="9" name="Text 7"/>
          <p:cNvSpPr txBox="1"/>
          <p:nvPr/>
        </p:nvSpPr>
        <p:spPr>
          <a:xfrm>
            <a:off x="1737360" y="1554480"/>
            <a:ext cx="9784080" cy="731520"/>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Temeller   </a:t>
            </a:r>
            <a:r>
              <a:rPr lang="tr-TR" sz="1500" dirty="0">
                <a:solidFill>
                  <a:srgbClr val="3A464C"/>
                </a:solidFill>
                <a:latin typeface="Calibri" pitchFamily="34" charset="0"/>
                <a:ea typeface="Calibri" pitchFamily="34" charset="-122"/>
                <a:cs typeface="Calibri" pitchFamily="34" charset="-120"/>
              </a:rPr>
              <a:t>Adres bağlama, mantıksal ve fiziksel adres, MMU, taban ve sınır yazmaçları, takas.</a:t>
            </a:r>
            <a:endParaRPr lang="tr-TR" sz="1400" dirty="0"/>
          </a:p>
        </p:txBody>
      </p:sp>
      <p:sp>
        <p:nvSpPr>
          <p:cNvPr id="10" name="Shape 8"/>
          <p:cNvSpPr/>
          <p:nvPr/>
        </p:nvSpPr>
        <p:spPr>
          <a:xfrm>
            <a:off x="548640" y="2468880"/>
            <a:ext cx="731520" cy="731520"/>
          </a:xfrm>
          <a:prstGeom prst="roundRect">
            <a:avLst>
              <a:gd name="adj" fmla="val 6250"/>
            </a:avLst>
          </a:prstGeom>
          <a:solidFill>
            <a:srgbClr val="02C39A"/>
          </a:solidFill>
          <a:ln/>
        </p:spPr>
      </p:sp>
      <p:sp>
        <p:nvSpPr>
          <p:cNvPr id="11" name="Text 9"/>
          <p:cNvSpPr txBox="1"/>
          <p:nvPr/>
        </p:nvSpPr>
        <p:spPr>
          <a:xfrm>
            <a:off x="548640" y="2468880"/>
            <a:ext cx="731520" cy="731520"/>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2</a:t>
            </a:r>
            <a:endParaRPr lang="tr-TR" sz="2000" dirty="0"/>
          </a:p>
        </p:txBody>
      </p:sp>
      <p:sp>
        <p:nvSpPr>
          <p:cNvPr id="12" name="Shape 10"/>
          <p:cNvSpPr/>
          <p:nvPr/>
        </p:nvSpPr>
        <p:spPr>
          <a:xfrm>
            <a:off x="1463040" y="2468880"/>
            <a:ext cx="10195560" cy="731520"/>
          </a:xfrm>
          <a:prstGeom prst="roundRect">
            <a:avLst>
              <a:gd name="adj" fmla="val 6250"/>
            </a:avLst>
          </a:prstGeom>
          <a:solidFill>
            <a:srgbClr val="F2F2F2"/>
          </a:solidFill>
          <a:ln/>
        </p:spPr>
      </p:sp>
      <p:sp>
        <p:nvSpPr>
          <p:cNvPr id="13" name="Text 11"/>
          <p:cNvSpPr txBox="1"/>
          <p:nvPr/>
        </p:nvSpPr>
        <p:spPr>
          <a:xfrm>
            <a:off x="1737360" y="2468880"/>
            <a:ext cx="9784080" cy="731520"/>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Bitişik tahsis   </a:t>
            </a:r>
            <a:r>
              <a:rPr lang="tr-TR" sz="1500" dirty="0">
                <a:solidFill>
                  <a:srgbClr val="3A464C"/>
                </a:solidFill>
                <a:latin typeface="Calibri" pitchFamily="34" charset="0"/>
                <a:ea typeface="Calibri" pitchFamily="34" charset="-122"/>
                <a:cs typeface="Calibri" pitchFamily="34" charset="-120"/>
              </a:rPr>
              <a:t>Delikler, ilk uyan / en iyi uyan / en kötü uyan, parçalanma, sıkıştırma.</a:t>
            </a:r>
            <a:endParaRPr lang="tr-TR" sz="1400" dirty="0"/>
          </a:p>
        </p:txBody>
      </p:sp>
      <p:sp>
        <p:nvSpPr>
          <p:cNvPr id="14" name="Shape 12"/>
          <p:cNvSpPr/>
          <p:nvPr/>
        </p:nvSpPr>
        <p:spPr>
          <a:xfrm>
            <a:off x="548640" y="3383280"/>
            <a:ext cx="731520" cy="731520"/>
          </a:xfrm>
          <a:prstGeom prst="roundRect">
            <a:avLst>
              <a:gd name="adj" fmla="val 6250"/>
            </a:avLst>
          </a:prstGeom>
          <a:solidFill>
            <a:srgbClr val="02C39A"/>
          </a:solidFill>
          <a:ln/>
        </p:spPr>
      </p:sp>
      <p:sp>
        <p:nvSpPr>
          <p:cNvPr id="15" name="Text 13"/>
          <p:cNvSpPr txBox="1"/>
          <p:nvPr/>
        </p:nvSpPr>
        <p:spPr>
          <a:xfrm>
            <a:off x="548640" y="3383280"/>
            <a:ext cx="731520" cy="731520"/>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3</a:t>
            </a:r>
            <a:endParaRPr lang="tr-TR" sz="2000" dirty="0"/>
          </a:p>
        </p:txBody>
      </p:sp>
      <p:sp>
        <p:nvSpPr>
          <p:cNvPr id="16" name="Shape 14"/>
          <p:cNvSpPr/>
          <p:nvPr/>
        </p:nvSpPr>
        <p:spPr>
          <a:xfrm>
            <a:off x="1463040" y="3383280"/>
            <a:ext cx="10195560" cy="731520"/>
          </a:xfrm>
          <a:prstGeom prst="roundRect">
            <a:avLst>
              <a:gd name="adj" fmla="val 6250"/>
            </a:avLst>
          </a:prstGeom>
          <a:solidFill>
            <a:srgbClr val="F2F2F2"/>
          </a:solidFill>
          <a:ln/>
        </p:spPr>
      </p:sp>
      <p:sp>
        <p:nvSpPr>
          <p:cNvPr id="17" name="Text 15"/>
          <p:cNvSpPr txBox="1"/>
          <p:nvPr/>
        </p:nvSpPr>
        <p:spPr>
          <a:xfrm>
            <a:off x="1737360" y="3383280"/>
            <a:ext cx="9784080" cy="731520"/>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Sayfalama   </a:t>
            </a:r>
            <a:r>
              <a:rPr lang="tr-TR" sz="1500" dirty="0">
                <a:solidFill>
                  <a:srgbClr val="3A464C"/>
                </a:solidFill>
                <a:latin typeface="Calibri" pitchFamily="34" charset="0"/>
                <a:ea typeface="Calibri" pitchFamily="34" charset="-122"/>
                <a:cs typeface="Calibri" pitchFamily="34" charset="-120"/>
              </a:rPr>
              <a:t>Sayfa ve çerçeve, sayfa tablosu, adres çevirisi, TLB, etkin erişim süresi.</a:t>
            </a:r>
            <a:endParaRPr lang="tr-TR" sz="1400" dirty="0"/>
          </a:p>
        </p:txBody>
      </p:sp>
      <p:sp>
        <p:nvSpPr>
          <p:cNvPr id="18" name="Shape 16"/>
          <p:cNvSpPr/>
          <p:nvPr/>
        </p:nvSpPr>
        <p:spPr>
          <a:xfrm>
            <a:off x="548640" y="4297680"/>
            <a:ext cx="731520" cy="731520"/>
          </a:xfrm>
          <a:prstGeom prst="roundRect">
            <a:avLst>
              <a:gd name="adj" fmla="val 6250"/>
            </a:avLst>
          </a:prstGeom>
          <a:solidFill>
            <a:srgbClr val="02C39A"/>
          </a:solidFill>
          <a:ln/>
        </p:spPr>
      </p:sp>
      <p:sp>
        <p:nvSpPr>
          <p:cNvPr id="19" name="Text 17"/>
          <p:cNvSpPr txBox="1"/>
          <p:nvPr/>
        </p:nvSpPr>
        <p:spPr>
          <a:xfrm>
            <a:off x="548640" y="4297680"/>
            <a:ext cx="731520" cy="731520"/>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4</a:t>
            </a:r>
            <a:endParaRPr lang="tr-TR" sz="2000" dirty="0"/>
          </a:p>
        </p:txBody>
      </p:sp>
      <p:sp>
        <p:nvSpPr>
          <p:cNvPr id="20" name="Shape 18"/>
          <p:cNvSpPr/>
          <p:nvPr/>
        </p:nvSpPr>
        <p:spPr>
          <a:xfrm>
            <a:off x="1463040" y="4297680"/>
            <a:ext cx="10195560" cy="731520"/>
          </a:xfrm>
          <a:prstGeom prst="roundRect">
            <a:avLst>
              <a:gd name="adj" fmla="val 6250"/>
            </a:avLst>
          </a:prstGeom>
          <a:solidFill>
            <a:srgbClr val="F2F2F2"/>
          </a:solidFill>
          <a:ln/>
        </p:spPr>
      </p:sp>
      <p:sp>
        <p:nvSpPr>
          <p:cNvPr id="21" name="Text 19"/>
          <p:cNvSpPr txBox="1"/>
          <p:nvPr/>
        </p:nvSpPr>
        <p:spPr>
          <a:xfrm>
            <a:off x="1737360" y="4297680"/>
            <a:ext cx="9784080" cy="731520"/>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Bölütleme   </a:t>
            </a:r>
            <a:r>
              <a:rPr lang="tr-TR" sz="1500" dirty="0">
                <a:solidFill>
                  <a:srgbClr val="3A464C"/>
                </a:solidFill>
                <a:latin typeface="Calibri" pitchFamily="34" charset="0"/>
                <a:ea typeface="Calibri" pitchFamily="34" charset="-122"/>
                <a:cs typeface="Calibri" pitchFamily="34" charset="-120"/>
              </a:rPr>
              <a:t>Belleğe programcının gözüyle bakış, bölüt tablosu ve x86-64 Linux'un gerçekte yaptığı.</a:t>
            </a:r>
            <a:endParaRPr lang="tr-TR" sz="1400" dirty="0"/>
          </a:p>
        </p:txBody>
      </p:sp>
      <p:sp>
        <p:nvSpPr>
          <p:cNvPr id="22" name="Shape 20"/>
          <p:cNvSpPr/>
          <p:nvPr/>
        </p:nvSpPr>
        <p:spPr>
          <a:xfrm>
            <a:off x="548640" y="5212080"/>
            <a:ext cx="731520" cy="731520"/>
          </a:xfrm>
          <a:prstGeom prst="roundRect">
            <a:avLst>
              <a:gd name="adj" fmla="val 6250"/>
            </a:avLst>
          </a:prstGeom>
          <a:solidFill>
            <a:srgbClr val="02C39A"/>
          </a:solidFill>
          <a:ln/>
        </p:spPr>
      </p:sp>
      <p:sp>
        <p:nvSpPr>
          <p:cNvPr id="23" name="Text 21"/>
          <p:cNvSpPr txBox="1"/>
          <p:nvPr/>
        </p:nvSpPr>
        <p:spPr>
          <a:xfrm>
            <a:off x="548640" y="5212080"/>
            <a:ext cx="731520" cy="731520"/>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5</a:t>
            </a:r>
            <a:endParaRPr lang="tr-TR" sz="2000" dirty="0"/>
          </a:p>
        </p:txBody>
      </p:sp>
      <p:sp>
        <p:nvSpPr>
          <p:cNvPr id="24" name="Shape 22"/>
          <p:cNvSpPr/>
          <p:nvPr/>
        </p:nvSpPr>
        <p:spPr>
          <a:xfrm>
            <a:off x="1463040" y="5212080"/>
            <a:ext cx="10195560" cy="731520"/>
          </a:xfrm>
          <a:prstGeom prst="roundRect">
            <a:avLst>
              <a:gd name="adj" fmla="val 6250"/>
            </a:avLst>
          </a:prstGeom>
          <a:solidFill>
            <a:srgbClr val="F2F2F2"/>
          </a:solidFill>
          <a:ln/>
        </p:spPr>
      </p:sp>
      <p:sp>
        <p:nvSpPr>
          <p:cNvPr id="25" name="Text 23"/>
          <p:cNvSpPr txBox="1"/>
          <p:nvPr/>
        </p:nvSpPr>
        <p:spPr>
          <a:xfrm>
            <a:off x="1737360" y="5212080"/>
            <a:ext cx="9784080" cy="731520"/>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Uygulama   </a:t>
            </a:r>
            <a:r>
              <a:rPr lang="tr-TR" sz="1500" dirty="0">
                <a:solidFill>
                  <a:srgbClr val="3A464C"/>
                </a:solidFill>
                <a:latin typeface="Calibri" pitchFamily="34" charset="0"/>
                <a:ea typeface="Calibri" pitchFamily="34" charset="-122"/>
                <a:cs typeface="Calibri" pitchFamily="34" charset="-120"/>
              </a:rPr>
              <a:t>Linux'ta gerçek adresler: /proc/self/maps, fork() ve iki kez aynı adres.</a:t>
            </a:r>
            <a:endParaRPr lang="tr-TR"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BÖLÜM 1</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Bellek Yönetiminin Temelleri</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Tek bir RAM'de birçok süreç ve hiçbiri bir başkasının belleğine dokunamaz.</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6  ·  4</a:t>
            </a:r>
            <a:endParaRPr lang="tr-TR"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MOTİVASYON</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Bellek Neden Yönetilmeli?</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İşlemci yalnızca ana bellekteki komutları yürütebilir ve verileri okuyabilir (yazmaçlar ve önbellek, RAM'in kopyalarıdır).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6  ·  5</a:t>
            </a:r>
            <a:endParaRPr lang="tr-TR" sz="900" dirty="0"/>
          </a:p>
        </p:txBody>
      </p:sp>
      <p:sp>
        <p:nvSpPr>
          <p:cNvPr id="7" name="Shape 5"/>
          <p:cNvSpPr/>
          <p:nvPr/>
        </p:nvSpPr>
        <p:spPr>
          <a:xfrm>
            <a:off x="548640" y="2103120"/>
            <a:ext cx="355092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sp>
      <p:sp>
        <p:nvSpPr>
          <p:cNvPr id="8" name="Text 6"/>
          <p:cNvSpPr txBox="1"/>
          <p:nvPr/>
        </p:nvSpPr>
        <p:spPr>
          <a:xfrm>
            <a:off x="777240" y="228600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Aynı anda birçok süreç</a:t>
            </a:r>
            <a:endParaRPr lang="tr-TR" sz="1600" dirty="0"/>
          </a:p>
        </p:txBody>
      </p:sp>
      <p:sp>
        <p:nvSpPr>
          <p:cNvPr id="9" name="Text 7"/>
          <p:cNvSpPr txBox="1"/>
          <p:nvPr/>
        </p:nvSpPr>
        <p:spPr>
          <a:xfrm>
            <a:off x="777240" y="2743200"/>
            <a:ext cx="3093720" cy="2377440"/>
          </a:xfrm>
          <a:prstGeom prst="rect">
            <a:avLst/>
          </a:prstGeom>
          <a:noFill/>
          <a:ln/>
        </p:spPr>
        <p:txBody>
          <a:bodyPr wrap="square" lIns="0" tIns="0" rIns="0" bIns="0" rtlCol="0" anchor="t"/>
          <a:lstStyle/>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Çoklu programlama (1. hafta), işlemci boş kalmasın diye RAM'de birkaç süreç tutar.</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RAM'in hangi kısmı kime verilecek?</a:t>
            </a:r>
            <a:endParaRPr lang="tr-TR" sz="1550" dirty="0"/>
          </a:p>
        </p:txBody>
      </p:sp>
      <p:sp>
        <p:nvSpPr>
          <p:cNvPr id="10" name="Shape 8"/>
          <p:cNvSpPr/>
          <p:nvPr/>
        </p:nvSpPr>
        <p:spPr>
          <a:xfrm>
            <a:off x="4328160" y="2103120"/>
            <a:ext cx="355092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sp>
      <p:sp>
        <p:nvSpPr>
          <p:cNvPr id="11" name="Text 9"/>
          <p:cNvSpPr txBox="1"/>
          <p:nvPr/>
        </p:nvSpPr>
        <p:spPr>
          <a:xfrm>
            <a:off x="4556760" y="228600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Koruma</a:t>
            </a:r>
            <a:endParaRPr lang="tr-TR" sz="1600" dirty="0"/>
          </a:p>
        </p:txBody>
      </p:sp>
      <p:sp>
        <p:nvSpPr>
          <p:cNvPr id="12" name="Text 10"/>
          <p:cNvSpPr txBox="1"/>
          <p:nvPr/>
        </p:nvSpPr>
        <p:spPr>
          <a:xfrm>
            <a:off x="4556760" y="2743200"/>
            <a:ext cx="3093720" cy="2377440"/>
          </a:xfrm>
          <a:prstGeom prst="rect">
            <a:avLst/>
          </a:prstGeom>
          <a:noFill/>
          <a:ln/>
        </p:spPr>
        <p:txBody>
          <a:bodyPr wrap="square" lIns="0" tIns="0" rIns="0" bIns="0" rtlCol="0" anchor="t"/>
          <a:lstStyle/>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Bir süreç başka bir sürecin ya da çekirdeğin belleğini okuyamamalı, üzerine yazamamalı.</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Her erişimi yazılımla denetlemek çok yavaştır: bunu donanım yapmalıdır.</a:t>
            </a:r>
            <a:endParaRPr lang="tr-TR" sz="1550" dirty="0"/>
          </a:p>
        </p:txBody>
      </p:sp>
      <p:sp>
        <p:nvSpPr>
          <p:cNvPr id="13" name="Shape 11"/>
          <p:cNvSpPr/>
          <p:nvPr/>
        </p:nvSpPr>
        <p:spPr>
          <a:xfrm>
            <a:off x="8107680" y="2103120"/>
            <a:ext cx="355092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sp>
      <p:sp>
        <p:nvSpPr>
          <p:cNvPr id="14" name="Text 12"/>
          <p:cNvSpPr txBox="1"/>
          <p:nvPr/>
        </p:nvSpPr>
        <p:spPr>
          <a:xfrm>
            <a:off x="8336280" y="228600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Yer değiştirme</a:t>
            </a:r>
            <a:endParaRPr lang="tr-TR" sz="1600" dirty="0"/>
          </a:p>
        </p:txBody>
      </p:sp>
      <p:sp>
        <p:nvSpPr>
          <p:cNvPr id="15" name="Text 13"/>
          <p:cNvSpPr txBox="1"/>
          <p:nvPr/>
        </p:nvSpPr>
        <p:spPr>
          <a:xfrm>
            <a:off x="8336280" y="2743200"/>
            <a:ext cx="3093720" cy="2377440"/>
          </a:xfrm>
          <a:prstGeom prst="rect">
            <a:avLst/>
          </a:prstGeom>
          <a:noFill/>
          <a:ln/>
        </p:spPr>
        <p:txBody>
          <a:bodyPr wrap="square" lIns="0" tIns="0" rIns="0" bIns="0" rtlCol="0" anchor="t"/>
          <a:lstStyle/>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Program RAM'in neresine yükleneceğini önceden bilmez.</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Hatta çalışırken başka bir yere taşınabilir.</a:t>
            </a:r>
            <a:endParaRPr lang="tr-TR" sz="1550" dirty="0"/>
          </a:p>
        </p:txBody>
      </p:sp>
      <p:sp>
        <p:nvSpPr>
          <p:cNvPr id="16" name="Shape 1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17" name="Text 15"/>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Hatırlatma: her sürecin düzeni metin · veri · öbek (heap) · yığıt (stack) şeklindedir (3. hafta). Bugünkü soru: bu baytlar RAM'de gerçekte nerede durur?</a:t>
            </a:r>
            <a:endParaRPr lang="tr-TR"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ADRES BAĞLAMA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Bir Ad Ne Zaman Adrese Dönüşür?</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Program değişkenlere adlarıyla başvurur; donanım ise sayılara ihtiyaç duyar. Bağlama üç farklı zamanda yapılabilir.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6  ·  6</a:t>
            </a:r>
            <a:endParaRPr lang="tr-TR" sz="900" dirty="0"/>
          </a:p>
        </p:txBody>
      </p:sp>
      <p:sp>
        <p:nvSpPr>
          <p:cNvPr id="7" name="Shape 5"/>
          <p:cNvSpPr/>
          <p:nvPr/>
        </p:nvSpPr>
        <p:spPr>
          <a:xfrm>
            <a:off x="548640" y="2194560"/>
            <a:ext cx="1874520" cy="868680"/>
          </a:xfrm>
          <a:prstGeom prst="roundRect">
            <a:avLst>
              <a:gd name="adj" fmla="val 5263"/>
            </a:avLst>
          </a:prstGeom>
          <a:solidFill>
            <a:srgbClr val="F2F2F2"/>
          </a:solidFill>
          <a:ln/>
        </p:spPr>
      </p:sp>
      <p:sp>
        <p:nvSpPr>
          <p:cNvPr id="8" name="Text 6"/>
          <p:cNvSpPr txBox="1"/>
          <p:nvPr/>
        </p:nvSpPr>
        <p:spPr>
          <a:xfrm>
            <a:off x="548640" y="2194560"/>
            <a:ext cx="1874520" cy="868680"/>
          </a:xfrm>
          <a:prstGeom prst="rect">
            <a:avLst/>
          </a:prstGeom>
          <a:noFill/>
          <a:ln/>
        </p:spPr>
        <p:txBody>
          <a:bodyPr wrap="square" lIns="38100" tIns="38100" rIns="38100" bIns="38100" rtlCol="0" anchor="ctr"/>
          <a:lstStyle/>
          <a:p>
            <a:pPr algn="ctr" indent="0" marL="0">
              <a:buNone/>
            </a:pPr>
            <a:r>
              <a:rPr lang="tr-TR" sz="1350" b="1" dirty="0">
                <a:solidFill>
                  <a:srgbClr val="212121"/>
                </a:solidFill>
                <a:latin typeface="Calibri" pitchFamily="34" charset="0"/>
                <a:ea typeface="Calibri" pitchFamily="34" charset="-122"/>
                <a:cs typeface="Calibri" pitchFamily="34" charset="-120"/>
              </a:rPr>
              <a:t>Kaynak program</a:t>
            </a:r>
            <a:endParaRPr lang="tr-TR" sz="1350" dirty="0"/>
          </a:p>
          <a:p>
            <a:pPr algn="ctr" indent="0" marL="0">
              <a:buNone/>
            </a:pPr>
            <a:r>
              <a:rPr lang="tr-TR" sz="1100" dirty="0">
                <a:solidFill>
                  <a:srgbClr val="212121"/>
                </a:solidFill>
                <a:latin typeface="Calibri" pitchFamily="34" charset="0"/>
                <a:ea typeface="Calibri" pitchFamily="34" charset="-122"/>
                <a:cs typeface="Calibri" pitchFamily="34" charset="-120"/>
              </a:rPr>
              <a:t>count.c</a:t>
            </a:r>
            <a:endParaRPr lang="tr-TR" sz="1350" dirty="0"/>
          </a:p>
        </p:txBody>
      </p:sp>
      <p:sp>
        <p:nvSpPr>
          <p:cNvPr id="9" name="Shape 7"/>
          <p:cNvSpPr/>
          <p:nvPr/>
        </p:nvSpPr>
        <p:spPr>
          <a:xfrm>
            <a:off x="2459736" y="2633472"/>
            <a:ext cx="813816" cy="91"/>
          </a:xfrm>
          <a:prstGeom prst="line">
            <a:avLst/>
          </a:prstGeom>
          <a:noFill/>
          <a:ln w="22225">
            <a:solidFill>
              <a:srgbClr val="50808E"/>
            </a:solidFill>
            <a:prstDash val="solid"/>
            <a:tailEnd type="triangle"/>
          </a:ln>
        </p:spPr>
      </p:sp>
      <p:sp>
        <p:nvSpPr>
          <p:cNvPr id="10" name="Text 8"/>
          <p:cNvSpPr txBox="1"/>
          <p:nvPr/>
        </p:nvSpPr>
        <p:spPr>
          <a:xfrm>
            <a:off x="2423160" y="2240280"/>
            <a:ext cx="886968" cy="274320"/>
          </a:xfrm>
          <a:prstGeom prst="rect">
            <a:avLst/>
          </a:prstGeom>
          <a:noFill/>
          <a:ln/>
        </p:spPr>
        <p:txBody>
          <a:bodyPr wrap="square" lIns="0" tIns="0" rIns="0" bIns="0" rtlCol="0" anchor="t"/>
          <a:lstStyle/>
          <a:p>
            <a:pPr algn="ctr" indent="0" marL="0">
              <a:buNone/>
            </a:pPr>
            <a:r>
              <a:rPr lang="tr-TR" sz="1100" i="1" dirty="0">
                <a:solidFill>
                  <a:srgbClr val="50808E"/>
                </a:solidFill>
                <a:latin typeface="Calibri" pitchFamily="34" charset="0"/>
                <a:ea typeface="Calibri" pitchFamily="34" charset="-122"/>
                <a:cs typeface="Calibri" pitchFamily="34" charset="-120"/>
              </a:rPr>
              <a:t>derleyici</a:t>
            </a:r>
            <a:endParaRPr lang="tr-TR" sz="1100" dirty="0"/>
          </a:p>
        </p:txBody>
      </p:sp>
      <p:sp>
        <p:nvSpPr>
          <p:cNvPr id="11" name="Shape 9"/>
          <p:cNvSpPr/>
          <p:nvPr/>
        </p:nvSpPr>
        <p:spPr>
          <a:xfrm>
            <a:off x="3310128" y="2194560"/>
            <a:ext cx="1874520" cy="868680"/>
          </a:xfrm>
          <a:prstGeom prst="roundRect">
            <a:avLst>
              <a:gd name="adj" fmla="val 5263"/>
            </a:avLst>
          </a:prstGeom>
          <a:solidFill>
            <a:srgbClr val="D7E9E6"/>
          </a:solidFill>
          <a:ln/>
        </p:spPr>
      </p:sp>
      <p:sp>
        <p:nvSpPr>
          <p:cNvPr id="12" name="Text 10"/>
          <p:cNvSpPr txBox="1"/>
          <p:nvPr/>
        </p:nvSpPr>
        <p:spPr>
          <a:xfrm>
            <a:off x="3310128" y="2194560"/>
            <a:ext cx="1874520" cy="868680"/>
          </a:xfrm>
          <a:prstGeom prst="rect">
            <a:avLst/>
          </a:prstGeom>
          <a:noFill/>
          <a:ln/>
        </p:spPr>
        <p:txBody>
          <a:bodyPr wrap="square" lIns="38100" tIns="38100" rIns="38100" bIns="38100" rtlCol="0" anchor="ctr"/>
          <a:lstStyle/>
          <a:p>
            <a:pPr algn="ctr" indent="0" marL="0">
              <a:buNone/>
            </a:pPr>
            <a:r>
              <a:rPr lang="tr-TR" sz="1350" b="1" dirty="0">
                <a:solidFill>
                  <a:srgbClr val="212121"/>
                </a:solidFill>
                <a:latin typeface="Calibri" pitchFamily="34" charset="0"/>
                <a:ea typeface="Calibri" pitchFamily="34" charset="-122"/>
                <a:cs typeface="Calibri" pitchFamily="34" charset="-120"/>
              </a:rPr>
              <a:t>Nesne modülü</a:t>
            </a:r>
            <a:endParaRPr lang="tr-TR" sz="1350" dirty="0"/>
          </a:p>
          <a:p>
            <a:pPr algn="ctr" indent="0" marL="0">
              <a:buNone/>
            </a:pPr>
            <a:r>
              <a:rPr lang="tr-TR" sz="1100" dirty="0">
                <a:solidFill>
                  <a:srgbClr val="212121"/>
                </a:solidFill>
                <a:latin typeface="Calibri" pitchFamily="34" charset="0"/>
                <a:ea typeface="Calibri" pitchFamily="34" charset="-122"/>
                <a:cs typeface="Calibri" pitchFamily="34" charset="-120"/>
              </a:rPr>
              <a:t>count.o</a:t>
            </a:r>
            <a:endParaRPr lang="tr-TR" sz="1350" dirty="0"/>
          </a:p>
        </p:txBody>
      </p:sp>
      <p:sp>
        <p:nvSpPr>
          <p:cNvPr id="13" name="Shape 11"/>
          <p:cNvSpPr/>
          <p:nvPr/>
        </p:nvSpPr>
        <p:spPr>
          <a:xfrm>
            <a:off x="5221224" y="2633472"/>
            <a:ext cx="813816" cy="91"/>
          </a:xfrm>
          <a:prstGeom prst="line">
            <a:avLst/>
          </a:prstGeom>
          <a:noFill/>
          <a:ln w="22225">
            <a:solidFill>
              <a:srgbClr val="50808E"/>
            </a:solidFill>
            <a:prstDash val="solid"/>
            <a:tailEnd type="triangle"/>
          </a:ln>
        </p:spPr>
      </p:sp>
      <p:sp>
        <p:nvSpPr>
          <p:cNvPr id="14" name="Text 12"/>
          <p:cNvSpPr txBox="1"/>
          <p:nvPr/>
        </p:nvSpPr>
        <p:spPr>
          <a:xfrm>
            <a:off x="5184648" y="2240280"/>
            <a:ext cx="886968" cy="274320"/>
          </a:xfrm>
          <a:prstGeom prst="rect">
            <a:avLst/>
          </a:prstGeom>
          <a:noFill/>
          <a:ln/>
        </p:spPr>
        <p:txBody>
          <a:bodyPr wrap="square" lIns="0" tIns="0" rIns="0" bIns="0" rtlCol="0" anchor="t"/>
          <a:lstStyle/>
          <a:p>
            <a:pPr algn="ctr" indent="0" marL="0">
              <a:buNone/>
            </a:pPr>
            <a:r>
              <a:rPr lang="tr-TR" sz="1100" i="1" dirty="0">
                <a:solidFill>
                  <a:srgbClr val="50808E"/>
                </a:solidFill>
                <a:latin typeface="Calibri" pitchFamily="34" charset="0"/>
                <a:ea typeface="Calibri" pitchFamily="34" charset="-122"/>
                <a:cs typeface="Calibri" pitchFamily="34" charset="-120"/>
              </a:rPr>
              <a:t>bağlayıcı</a:t>
            </a:r>
            <a:endParaRPr lang="tr-TR" sz="1100" dirty="0"/>
          </a:p>
        </p:txBody>
      </p:sp>
      <p:sp>
        <p:nvSpPr>
          <p:cNvPr id="15" name="Shape 13"/>
          <p:cNvSpPr/>
          <p:nvPr/>
        </p:nvSpPr>
        <p:spPr>
          <a:xfrm>
            <a:off x="6071616" y="2194560"/>
            <a:ext cx="1874520" cy="868680"/>
          </a:xfrm>
          <a:prstGeom prst="roundRect">
            <a:avLst>
              <a:gd name="adj" fmla="val 5263"/>
            </a:avLst>
          </a:prstGeom>
          <a:solidFill>
            <a:srgbClr val="D7E9E6"/>
          </a:solidFill>
          <a:ln/>
        </p:spPr>
      </p:sp>
      <p:sp>
        <p:nvSpPr>
          <p:cNvPr id="16" name="Text 14"/>
          <p:cNvSpPr txBox="1"/>
          <p:nvPr/>
        </p:nvSpPr>
        <p:spPr>
          <a:xfrm>
            <a:off x="6071616" y="2194560"/>
            <a:ext cx="1874520" cy="868680"/>
          </a:xfrm>
          <a:prstGeom prst="rect">
            <a:avLst/>
          </a:prstGeom>
          <a:noFill/>
          <a:ln/>
        </p:spPr>
        <p:txBody>
          <a:bodyPr wrap="square" lIns="38100" tIns="38100" rIns="38100" bIns="38100" rtlCol="0" anchor="ctr"/>
          <a:lstStyle/>
          <a:p>
            <a:pPr algn="ctr" indent="0" marL="0">
              <a:buNone/>
            </a:pPr>
            <a:r>
              <a:rPr lang="tr-TR" sz="1350" b="1" dirty="0">
                <a:solidFill>
                  <a:srgbClr val="212121"/>
                </a:solidFill>
                <a:latin typeface="Calibri" pitchFamily="34" charset="0"/>
                <a:ea typeface="Calibri" pitchFamily="34" charset="-122"/>
                <a:cs typeface="Calibri" pitchFamily="34" charset="-120"/>
              </a:rPr>
              <a:t>Yürütülebilir dosya</a:t>
            </a:r>
            <a:endParaRPr lang="tr-TR" sz="1350" dirty="0"/>
          </a:p>
          <a:p>
            <a:pPr algn="ctr" indent="0" marL="0">
              <a:buNone/>
            </a:pPr>
            <a:r>
              <a:rPr lang="tr-TR" sz="1100" dirty="0">
                <a:solidFill>
                  <a:srgbClr val="212121"/>
                </a:solidFill>
                <a:latin typeface="Calibri" pitchFamily="34" charset="0"/>
                <a:ea typeface="Calibri" pitchFamily="34" charset="-122"/>
                <a:cs typeface="Calibri" pitchFamily="34" charset="-120"/>
              </a:rPr>
              <a:t>count (diskte)</a:t>
            </a:r>
            <a:endParaRPr lang="tr-TR" sz="1350" dirty="0"/>
          </a:p>
        </p:txBody>
      </p:sp>
      <p:sp>
        <p:nvSpPr>
          <p:cNvPr id="17" name="Shape 15"/>
          <p:cNvSpPr/>
          <p:nvPr/>
        </p:nvSpPr>
        <p:spPr>
          <a:xfrm>
            <a:off x="7982712" y="2633472"/>
            <a:ext cx="813816" cy="91"/>
          </a:xfrm>
          <a:prstGeom prst="line">
            <a:avLst/>
          </a:prstGeom>
          <a:noFill/>
          <a:ln w="22225">
            <a:solidFill>
              <a:srgbClr val="50808E"/>
            </a:solidFill>
            <a:prstDash val="solid"/>
            <a:tailEnd type="triangle"/>
          </a:ln>
        </p:spPr>
      </p:sp>
      <p:sp>
        <p:nvSpPr>
          <p:cNvPr id="18" name="Text 16"/>
          <p:cNvSpPr txBox="1"/>
          <p:nvPr/>
        </p:nvSpPr>
        <p:spPr>
          <a:xfrm>
            <a:off x="7946136" y="2240280"/>
            <a:ext cx="886968" cy="274320"/>
          </a:xfrm>
          <a:prstGeom prst="rect">
            <a:avLst/>
          </a:prstGeom>
          <a:noFill/>
          <a:ln/>
        </p:spPr>
        <p:txBody>
          <a:bodyPr wrap="square" lIns="0" tIns="0" rIns="0" bIns="0" rtlCol="0" anchor="t"/>
          <a:lstStyle/>
          <a:p>
            <a:pPr algn="ctr" indent="0" marL="0">
              <a:buNone/>
            </a:pPr>
            <a:r>
              <a:rPr lang="tr-TR" sz="1100" i="1" dirty="0">
                <a:solidFill>
                  <a:srgbClr val="50808E"/>
                </a:solidFill>
                <a:latin typeface="Calibri" pitchFamily="34" charset="0"/>
                <a:ea typeface="Calibri" pitchFamily="34" charset="-122"/>
                <a:cs typeface="Calibri" pitchFamily="34" charset="-120"/>
              </a:rPr>
              <a:t>yükleyici</a:t>
            </a:r>
            <a:endParaRPr lang="tr-TR" sz="1100" dirty="0"/>
          </a:p>
        </p:txBody>
      </p:sp>
      <p:sp>
        <p:nvSpPr>
          <p:cNvPr id="19" name="Shape 17"/>
          <p:cNvSpPr/>
          <p:nvPr/>
        </p:nvSpPr>
        <p:spPr>
          <a:xfrm>
            <a:off x="8833104" y="2194560"/>
            <a:ext cx="1874520" cy="868680"/>
          </a:xfrm>
          <a:prstGeom prst="roundRect">
            <a:avLst>
              <a:gd name="adj" fmla="val 5263"/>
            </a:avLst>
          </a:prstGeom>
          <a:solidFill>
            <a:srgbClr val="02C39A"/>
          </a:solidFill>
          <a:ln/>
        </p:spPr>
      </p:sp>
      <p:sp>
        <p:nvSpPr>
          <p:cNvPr id="20" name="Text 18"/>
          <p:cNvSpPr txBox="1"/>
          <p:nvPr/>
        </p:nvSpPr>
        <p:spPr>
          <a:xfrm>
            <a:off x="8833104" y="2194560"/>
            <a:ext cx="1874520" cy="868680"/>
          </a:xfrm>
          <a:prstGeom prst="rect">
            <a:avLst/>
          </a:prstGeom>
          <a:noFill/>
          <a:ln/>
        </p:spPr>
        <p:txBody>
          <a:bodyPr wrap="square" lIns="38100" tIns="38100" rIns="38100" bIns="38100" rtlCol="0" anchor="ctr"/>
          <a:lstStyle/>
          <a:p>
            <a:pPr algn="ctr" indent="0" marL="0">
              <a:buNone/>
            </a:pPr>
            <a:r>
              <a:rPr lang="tr-TR" sz="1350" b="1" dirty="0">
                <a:solidFill>
                  <a:srgbClr val="212121"/>
                </a:solidFill>
                <a:latin typeface="Calibri" pitchFamily="34" charset="0"/>
                <a:ea typeface="Calibri" pitchFamily="34" charset="-122"/>
                <a:cs typeface="Calibri" pitchFamily="34" charset="-120"/>
              </a:rPr>
              <a:t>Bellekteki süreç</a:t>
            </a:r>
            <a:endParaRPr lang="tr-TR" sz="1350" dirty="0"/>
          </a:p>
          <a:p>
            <a:pPr algn="ctr" indent="0" marL="0">
              <a:buNone/>
            </a:pPr>
            <a:r>
              <a:rPr lang="tr-TR" sz="1100" dirty="0">
                <a:solidFill>
                  <a:srgbClr val="212121"/>
                </a:solidFill>
                <a:latin typeface="Calibri" pitchFamily="34" charset="0"/>
                <a:ea typeface="Calibri" pitchFamily="34" charset="-122"/>
                <a:cs typeface="Calibri" pitchFamily="34" charset="-120"/>
              </a:rPr>
              <a:t>çalışıyor</a:t>
            </a:r>
            <a:endParaRPr lang="tr-TR" sz="1350" dirty="0"/>
          </a:p>
        </p:txBody>
      </p:sp>
      <p:sp>
        <p:nvSpPr>
          <p:cNvPr id="21" name="Shape 19"/>
          <p:cNvSpPr/>
          <p:nvPr/>
        </p:nvSpPr>
        <p:spPr>
          <a:xfrm>
            <a:off x="548640" y="3429000"/>
            <a:ext cx="3566160" cy="2834640"/>
          </a:xfrm>
          <a:prstGeom prst="roundRect">
            <a:avLst>
              <a:gd name="adj" fmla="val 1935"/>
            </a:avLst>
          </a:prstGeom>
          <a:solidFill>
            <a:srgbClr val="F2F2F2"/>
          </a:solidFill>
          <a:ln/>
          <a:effectLst>
            <a:outerShdw sx="100000" sy="100000" kx="0" ky="0" algn="bl" rotWithShape="0" blurRad="101600" dist="25400" dir="5400000">
              <a:srgbClr val="000000">
                <a:alpha val="12000"/>
              </a:srgbClr>
            </a:outerShdw>
          </a:effectLst>
        </p:spPr>
      </p:sp>
      <p:sp>
        <p:nvSpPr>
          <p:cNvPr id="22" name="Text 20"/>
          <p:cNvSpPr txBox="1"/>
          <p:nvPr/>
        </p:nvSpPr>
        <p:spPr>
          <a:xfrm>
            <a:off x="777240" y="3611880"/>
            <a:ext cx="3108960" cy="384048"/>
          </a:xfrm>
          <a:prstGeom prst="rect">
            <a:avLst/>
          </a:prstGeom>
          <a:noFill/>
          <a:ln/>
        </p:spPr>
        <p:txBody>
          <a:bodyPr wrap="square" lIns="0" tIns="0" rIns="0" bIns="0" rtlCol="0" anchor="ctr"/>
          <a:lstStyle/>
          <a:p>
            <a:pPr indent="0" marL="0">
              <a:buNone/>
            </a:pPr>
            <a:r>
              <a:rPr lang="tr-TR" sz="1500" b="1" dirty="0">
                <a:solidFill>
                  <a:srgbClr val="50808E"/>
                </a:solidFill>
                <a:latin typeface="Cambria" pitchFamily="34" charset="0"/>
                <a:ea typeface="Cambria" pitchFamily="34" charset="-122"/>
                <a:cs typeface="Cambria" pitchFamily="34" charset="-120"/>
              </a:rPr>
              <a:t>Derleme zamanı</a:t>
            </a:r>
            <a:endParaRPr lang="tr-TR" sz="1500" dirty="0"/>
          </a:p>
        </p:txBody>
      </p:sp>
      <p:sp>
        <p:nvSpPr>
          <p:cNvPr id="23" name="Text 21"/>
          <p:cNvSpPr txBox="1"/>
          <p:nvPr/>
        </p:nvSpPr>
        <p:spPr>
          <a:xfrm>
            <a:off x="777240" y="4069080"/>
            <a:ext cx="3108960" cy="2057400"/>
          </a:xfrm>
          <a:prstGeom prst="rect">
            <a:avLst/>
          </a:prstGeom>
          <a:noFill/>
          <a:ln/>
        </p:spPr>
        <p:txBody>
          <a:bodyPr wrap="square" lIns="0" tIns="0" rIns="0" bIns="0" rtlCol="0" anchor="t"/>
          <a:lstStyle/>
          <a:p>
            <a:pPr indent="0" marL="0">
              <a:spcAft>
                <a:spcPts val="400"/>
              </a:spcAft>
              <a:buNone/>
            </a:pPr>
            <a:r>
              <a:rPr lang="tr-TR" sz="1500" dirty="0">
                <a:solidFill>
                  <a:srgbClr val="3A464C"/>
                </a:solidFill>
                <a:latin typeface="Calibri" pitchFamily="34" charset="0"/>
                <a:ea typeface="Calibri" pitchFamily="34" charset="-122"/>
                <a:cs typeface="Calibri" pitchFamily="34" charset="-120"/>
              </a:rPr>
              <a:t>Son konum biliniyorsa derleyici mutlak adresler üretebilir. Programı taşımak yeniden derlemek demektir. (MS-DOS .COM dosyaları)</a:t>
            </a:r>
            <a:endParaRPr lang="tr-TR" sz="1500" dirty="0"/>
          </a:p>
        </p:txBody>
      </p:sp>
      <p:sp>
        <p:nvSpPr>
          <p:cNvPr id="24" name="Shape 22"/>
          <p:cNvSpPr/>
          <p:nvPr/>
        </p:nvSpPr>
        <p:spPr>
          <a:xfrm>
            <a:off x="4315968" y="3429000"/>
            <a:ext cx="3566160" cy="2834640"/>
          </a:xfrm>
          <a:prstGeom prst="roundRect">
            <a:avLst>
              <a:gd name="adj" fmla="val 1935"/>
            </a:avLst>
          </a:prstGeom>
          <a:solidFill>
            <a:srgbClr val="F2F2F2"/>
          </a:solidFill>
          <a:ln/>
          <a:effectLst>
            <a:outerShdw sx="100000" sy="100000" kx="0" ky="0" algn="bl" rotWithShape="0" blurRad="101600" dist="25400" dir="5400000">
              <a:srgbClr val="000000">
                <a:alpha val="12000"/>
              </a:srgbClr>
            </a:outerShdw>
          </a:effectLst>
        </p:spPr>
      </p:sp>
      <p:sp>
        <p:nvSpPr>
          <p:cNvPr id="25" name="Text 23"/>
          <p:cNvSpPr txBox="1"/>
          <p:nvPr/>
        </p:nvSpPr>
        <p:spPr>
          <a:xfrm>
            <a:off x="4544568" y="3611880"/>
            <a:ext cx="3108960" cy="384048"/>
          </a:xfrm>
          <a:prstGeom prst="rect">
            <a:avLst/>
          </a:prstGeom>
          <a:noFill/>
          <a:ln/>
        </p:spPr>
        <p:txBody>
          <a:bodyPr wrap="square" lIns="0" tIns="0" rIns="0" bIns="0" rtlCol="0" anchor="ctr"/>
          <a:lstStyle/>
          <a:p>
            <a:pPr indent="0" marL="0">
              <a:buNone/>
            </a:pPr>
            <a:r>
              <a:rPr lang="tr-TR" sz="1500" b="1" dirty="0">
                <a:solidFill>
                  <a:srgbClr val="50808E"/>
                </a:solidFill>
                <a:latin typeface="Cambria" pitchFamily="34" charset="0"/>
                <a:ea typeface="Cambria" pitchFamily="34" charset="-122"/>
                <a:cs typeface="Cambria" pitchFamily="34" charset="-120"/>
              </a:rPr>
              <a:t>Yükleme zamanı</a:t>
            </a:r>
            <a:endParaRPr lang="tr-TR" sz="1500" dirty="0"/>
          </a:p>
        </p:txBody>
      </p:sp>
      <p:sp>
        <p:nvSpPr>
          <p:cNvPr id="26" name="Text 24"/>
          <p:cNvSpPr txBox="1"/>
          <p:nvPr/>
        </p:nvSpPr>
        <p:spPr>
          <a:xfrm>
            <a:off x="4544568" y="4069080"/>
            <a:ext cx="3108960" cy="2057400"/>
          </a:xfrm>
          <a:prstGeom prst="rect">
            <a:avLst/>
          </a:prstGeom>
          <a:noFill/>
          <a:ln/>
        </p:spPr>
        <p:txBody>
          <a:bodyPr wrap="square" lIns="0" tIns="0" rIns="0" bIns="0" rtlCol="0" anchor="t"/>
          <a:lstStyle/>
          <a:p>
            <a:pPr indent="0" marL="0">
              <a:spcAft>
                <a:spcPts val="400"/>
              </a:spcAft>
              <a:buNone/>
            </a:pPr>
            <a:r>
              <a:rPr lang="tr-TR" sz="1500" dirty="0">
                <a:solidFill>
                  <a:srgbClr val="3A464C"/>
                </a:solidFill>
                <a:latin typeface="Calibri" pitchFamily="34" charset="0"/>
                <a:ea typeface="Calibri" pitchFamily="34" charset="-122"/>
                <a:cs typeface="Calibri" pitchFamily="34" charset="-120"/>
              </a:rPr>
              <a:t>Derleyici yer değiştirebilir kod üretir ("başlangıçtan 14 bayt ötede"); adresleri yükleyici düzeltir. Yüklendikten sonra program taşınamaz.</a:t>
            </a:r>
            <a:endParaRPr lang="tr-TR" sz="1500" dirty="0"/>
          </a:p>
        </p:txBody>
      </p:sp>
      <p:sp>
        <p:nvSpPr>
          <p:cNvPr id="27" name="Shape 25"/>
          <p:cNvSpPr/>
          <p:nvPr/>
        </p:nvSpPr>
        <p:spPr>
          <a:xfrm>
            <a:off x="8083296" y="3429000"/>
            <a:ext cx="3566160" cy="2834640"/>
          </a:xfrm>
          <a:prstGeom prst="roundRect">
            <a:avLst>
              <a:gd name="adj" fmla="val 1935"/>
            </a:avLst>
          </a:prstGeom>
          <a:solidFill>
            <a:srgbClr val="F2F2F2"/>
          </a:solidFill>
          <a:ln/>
          <a:effectLst>
            <a:outerShdw sx="100000" sy="100000" kx="0" ky="0" algn="bl" rotWithShape="0" blurRad="101600" dist="25400" dir="5400000">
              <a:srgbClr val="000000">
                <a:alpha val="12000"/>
              </a:srgbClr>
            </a:outerShdw>
          </a:effectLst>
        </p:spPr>
      </p:sp>
      <p:sp>
        <p:nvSpPr>
          <p:cNvPr id="28" name="Text 26"/>
          <p:cNvSpPr txBox="1"/>
          <p:nvPr/>
        </p:nvSpPr>
        <p:spPr>
          <a:xfrm>
            <a:off x="8311896" y="3611880"/>
            <a:ext cx="31089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Yürütme zamanı</a:t>
            </a:r>
            <a:endParaRPr lang="tr-TR" sz="1500" dirty="0"/>
          </a:p>
        </p:txBody>
      </p:sp>
      <p:sp>
        <p:nvSpPr>
          <p:cNvPr id="29" name="Text 27"/>
          <p:cNvSpPr txBox="1"/>
          <p:nvPr/>
        </p:nvSpPr>
        <p:spPr>
          <a:xfrm>
            <a:off x="8311896" y="4069080"/>
            <a:ext cx="3108960" cy="2057400"/>
          </a:xfrm>
          <a:prstGeom prst="rect">
            <a:avLst/>
          </a:prstGeom>
          <a:noFill/>
          <a:ln/>
        </p:spPr>
        <p:txBody>
          <a:bodyPr wrap="square" lIns="0" tIns="0" rIns="0" bIns="0" rtlCol="0" anchor="t"/>
          <a:lstStyle/>
          <a:p>
            <a:pPr indent="0" marL="0">
              <a:spcAft>
                <a:spcPts val="400"/>
              </a:spcAft>
              <a:buNone/>
            </a:pPr>
            <a:r>
              <a:rPr lang="tr-TR" sz="1500" dirty="0">
                <a:solidFill>
                  <a:srgbClr val="3A464C"/>
                </a:solidFill>
                <a:latin typeface="Calibri" pitchFamily="34" charset="0"/>
                <a:ea typeface="Calibri" pitchFamily="34" charset="-122"/>
                <a:cs typeface="Calibri" pitchFamily="34" charset="-120"/>
              </a:rPr>
              <a:t>Adresler her erişimde donanım tarafından çevrilir; süreç çalışırken taşınabilir. Tüm modern işletim sistemleri bunu kullanır.</a:t>
            </a:r>
            <a:endParaRPr lang="tr-TR"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İKİ TÜR ADRES</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Mantıksal ve Fiziksel Adres</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6  ·  7</a:t>
            </a:r>
            <a:endParaRPr lang="tr-TR" sz="900" dirty="0"/>
          </a:p>
        </p:txBody>
      </p:sp>
      <p:sp>
        <p:nvSpPr>
          <p:cNvPr id="6" name="Shape 4"/>
          <p:cNvSpPr/>
          <p:nvPr/>
        </p:nvSpPr>
        <p:spPr>
          <a:xfrm>
            <a:off x="548640" y="1508760"/>
            <a:ext cx="5440680" cy="3749040"/>
          </a:xfrm>
          <a:prstGeom prst="roundRect">
            <a:avLst>
              <a:gd name="adj" fmla="val 1463"/>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4983480" cy="384048"/>
          </a:xfrm>
          <a:prstGeom prst="rect">
            <a:avLst/>
          </a:prstGeom>
          <a:noFill/>
          <a:ln/>
        </p:spPr>
        <p:txBody>
          <a:bodyPr wrap="square" lIns="0" tIns="0" rIns="0" bIns="0" rtlCol="0" anchor="ctr"/>
          <a:lstStyle/>
          <a:p>
            <a:pPr indent="0" marL="0">
              <a:buNone/>
            </a:pPr>
            <a:r>
              <a:rPr lang="tr-TR" sz="1700" b="1" dirty="0">
                <a:solidFill>
                  <a:srgbClr val="028090"/>
                </a:solidFill>
                <a:latin typeface="Cambria" pitchFamily="34" charset="0"/>
                <a:ea typeface="Cambria" pitchFamily="34" charset="-122"/>
                <a:cs typeface="Cambria" pitchFamily="34" charset="-120"/>
              </a:rPr>
              <a:t>Mantıksal (sanal) adres</a:t>
            </a:r>
            <a:endParaRPr lang="tr-TR" sz="1700" dirty="0"/>
          </a:p>
        </p:txBody>
      </p:sp>
      <p:sp>
        <p:nvSpPr>
          <p:cNvPr id="8" name="Text 6"/>
          <p:cNvSpPr txBox="1"/>
          <p:nvPr/>
        </p:nvSpPr>
        <p:spPr>
          <a:xfrm>
            <a:off x="777240" y="2148840"/>
            <a:ext cx="4983480" cy="2971800"/>
          </a:xfrm>
          <a:prstGeom prst="rect">
            <a:avLst/>
          </a:prstGeom>
          <a:noFill/>
          <a:ln/>
        </p:spPr>
        <p:txBody>
          <a:bodyPr wrap="square" lIns="0" tIns="0" rIns="0" bIns="0" rtlCol="0" anchor="t"/>
          <a:lstStyle/>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Program çalışırken işlemcinin ürettiği adres.</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Programın (ve printf("%p") ile sizin) gördüğü adres.</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Her süreç 0 adresinden başlayabilir.</a:t>
            </a:r>
            <a:endParaRPr lang="tr-TR" sz="1550" dirty="0"/>
          </a:p>
          <a:p>
            <a:pPr marL="228600" indent="-228600">
              <a:spcAft>
                <a:spcPts val="400"/>
              </a:spcAft>
              <a:buSzPct val="100000"/>
              <a:buChar char="•"/>
            </a:pPr>
            <a:r>
              <a:rPr lang="tr-TR" sz="1550" b="1" dirty="0">
                <a:solidFill>
                  <a:srgbClr val="3A464C"/>
                </a:solidFill>
                <a:latin typeface="Calibri" pitchFamily="34" charset="0"/>
                <a:ea typeface="Calibri" pitchFamily="34" charset="-122"/>
                <a:cs typeface="Calibri" pitchFamily="34" charset="-120"/>
              </a:rPr>
              <a:t>Mantıksal adres uzayı:</a:t>
            </a:r>
            <a:r>
              <a:rPr lang="tr-TR" sz="1550" dirty="0">
                <a:solidFill>
                  <a:srgbClr val="3A464C"/>
                </a:solidFill>
                <a:latin typeface="Calibri" pitchFamily="34" charset="0"/>
                <a:ea typeface="Calibri" pitchFamily="34" charset="-122"/>
                <a:cs typeface="Calibri" pitchFamily="34" charset="-120"/>
              </a:rPr>
              <a:t> bir sürecin tüm mantıksal adreslerinin kümesi.</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Örnek: sonraki slayttaki MMU örneğinde 346; C programımızın yazdırdığı 0x55f2….</a:t>
            </a:r>
            <a:endParaRPr lang="tr-TR" sz="1550" dirty="0"/>
          </a:p>
        </p:txBody>
      </p:sp>
      <p:sp>
        <p:nvSpPr>
          <p:cNvPr id="9" name="Shape 7"/>
          <p:cNvSpPr/>
          <p:nvPr/>
        </p:nvSpPr>
        <p:spPr>
          <a:xfrm>
            <a:off x="6217920" y="1508760"/>
            <a:ext cx="5440680" cy="3749040"/>
          </a:xfrm>
          <a:prstGeom prst="roundRect">
            <a:avLst>
              <a:gd name="adj" fmla="val 1463"/>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6446520" y="1691640"/>
            <a:ext cx="4983480" cy="384048"/>
          </a:xfrm>
          <a:prstGeom prst="rect">
            <a:avLst/>
          </a:prstGeom>
          <a:noFill/>
          <a:ln/>
        </p:spPr>
        <p:txBody>
          <a:bodyPr wrap="square" lIns="0" tIns="0" rIns="0" bIns="0" rtlCol="0" anchor="ctr"/>
          <a:lstStyle/>
          <a:p>
            <a:pPr indent="0" marL="0">
              <a:buNone/>
            </a:pPr>
            <a:r>
              <a:rPr lang="tr-TR" sz="1700" b="1" dirty="0">
                <a:solidFill>
                  <a:srgbClr val="50808E"/>
                </a:solidFill>
                <a:latin typeface="Cambria" pitchFamily="34" charset="0"/>
                <a:ea typeface="Cambria" pitchFamily="34" charset="-122"/>
                <a:cs typeface="Cambria" pitchFamily="34" charset="-120"/>
              </a:rPr>
              <a:t>Fiziksel adres</a:t>
            </a:r>
            <a:endParaRPr lang="tr-TR" sz="1700" dirty="0"/>
          </a:p>
        </p:txBody>
      </p:sp>
      <p:sp>
        <p:nvSpPr>
          <p:cNvPr id="11" name="Text 9"/>
          <p:cNvSpPr txBox="1"/>
          <p:nvPr/>
        </p:nvSpPr>
        <p:spPr>
          <a:xfrm>
            <a:off x="6446520" y="2148840"/>
            <a:ext cx="4983480" cy="2971800"/>
          </a:xfrm>
          <a:prstGeom prst="rect">
            <a:avLst/>
          </a:prstGeom>
          <a:noFill/>
          <a:ln/>
        </p:spPr>
        <p:txBody>
          <a:bodyPr wrap="square" lIns="0" tIns="0" rIns="0" bIns="0" rtlCol="0" anchor="t"/>
          <a:lstStyle/>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Bellek yoluna (bus) gerçekten konan adres.</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Yalnızca bellek donanımı görür.</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RAM'in her baytının tek bir fiziksel adresi vardır.</a:t>
            </a:r>
            <a:endParaRPr lang="tr-TR" sz="1550" dirty="0"/>
          </a:p>
          <a:p>
            <a:pPr marL="228600" indent="-228600">
              <a:spcAft>
                <a:spcPts val="400"/>
              </a:spcAft>
              <a:buSzPct val="100000"/>
              <a:buChar char="•"/>
            </a:pPr>
            <a:r>
              <a:rPr lang="tr-TR" sz="1550" b="1" dirty="0">
                <a:solidFill>
                  <a:srgbClr val="3A464C"/>
                </a:solidFill>
                <a:latin typeface="Calibri" pitchFamily="34" charset="0"/>
                <a:ea typeface="Calibri" pitchFamily="34" charset="-122"/>
                <a:cs typeface="Calibri" pitchFamily="34" charset="-120"/>
              </a:rPr>
              <a:t>Fiziksel adres uzayı:</a:t>
            </a:r>
            <a:r>
              <a:rPr lang="tr-TR" sz="1550" dirty="0">
                <a:solidFill>
                  <a:srgbClr val="3A464C"/>
                </a:solidFill>
                <a:latin typeface="Calibri" pitchFamily="34" charset="0"/>
                <a:ea typeface="Calibri" pitchFamily="34" charset="-122"/>
                <a:cs typeface="Calibri" pitchFamily="34" charset="-120"/>
              </a:rPr>
              <a:t> bunlara karşılık gelen fiziksel adreslerin kümesi.</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Örnek: 14346, yani mantıksal 346'nın RAM'de gerçekte vardığı yer.</a:t>
            </a:r>
            <a:endParaRPr lang="tr-TR" sz="1550" dirty="0"/>
          </a:p>
        </p:txBody>
      </p:sp>
      <p:sp>
        <p:nvSpPr>
          <p:cNvPr id="12" name="Shape 10"/>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300" dirty="0">
                <a:solidFill>
                  <a:srgbClr val="F2F2F2"/>
                </a:solidFill>
                <a:latin typeface="Calibri" pitchFamily="34" charset="0"/>
                <a:ea typeface="Calibri" pitchFamily="34" charset="-122"/>
                <a:cs typeface="Calibri" pitchFamily="34" charset="-120"/>
              </a:rPr>
              <a:t>Derleme ya da yükleme zamanında bağlamada ikisi aynıdır. Yürütme zamanında bağlamada farklıdır ve birini diğerine bir donanım birimi, bellek yönetim birimi (memory-management unit, MMU) çevirir.</a:t>
            </a:r>
            <a:endParaRPr lang="tr-TR"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DONANIM</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Yer Değiştirme Yazmaçlı MMU</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En basit MMU, işlemcinin ürettiği her adrese bir yer değiştirme (taban) yazmacının değerini ekler.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6  ·  8</a:t>
            </a:r>
            <a:endParaRPr lang="tr-TR" sz="900" dirty="0"/>
          </a:p>
        </p:txBody>
      </p:sp>
      <p:sp>
        <p:nvSpPr>
          <p:cNvPr id="7" name="Shape 5"/>
          <p:cNvSpPr/>
          <p:nvPr/>
        </p:nvSpPr>
        <p:spPr>
          <a:xfrm>
            <a:off x="548640" y="3291840"/>
            <a:ext cx="1463040" cy="1097280"/>
          </a:xfrm>
          <a:prstGeom prst="roundRect">
            <a:avLst>
              <a:gd name="adj" fmla="val 4167"/>
            </a:avLst>
          </a:prstGeom>
          <a:solidFill>
            <a:srgbClr val="36454F"/>
          </a:solidFill>
          <a:ln/>
        </p:spPr>
      </p:sp>
      <p:sp>
        <p:nvSpPr>
          <p:cNvPr id="8" name="Text 6"/>
          <p:cNvSpPr txBox="1"/>
          <p:nvPr/>
        </p:nvSpPr>
        <p:spPr>
          <a:xfrm>
            <a:off x="548640" y="3291840"/>
            <a:ext cx="1463040" cy="1097280"/>
          </a:xfrm>
          <a:prstGeom prst="rect">
            <a:avLst/>
          </a:prstGeom>
          <a:noFill/>
          <a:ln/>
        </p:spPr>
        <p:txBody>
          <a:bodyPr wrap="square" lIns="38100" tIns="38100" rIns="38100" bIns="38100" rtlCol="0" anchor="ctr"/>
          <a:lstStyle/>
          <a:p>
            <a:pPr algn="ctr" indent="0" marL="0">
              <a:buNone/>
            </a:pPr>
            <a:r>
              <a:rPr lang="tr-TR" sz="1700" b="1" dirty="0">
                <a:solidFill>
                  <a:srgbClr val="FFFFFF"/>
                </a:solidFill>
                <a:latin typeface="Calibri" pitchFamily="34" charset="0"/>
                <a:ea typeface="Calibri" pitchFamily="34" charset="-122"/>
                <a:cs typeface="Calibri" pitchFamily="34" charset="-120"/>
              </a:rPr>
              <a:t>İşlemci</a:t>
            </a:r>
            <a:endParaRPr lang="tr-TR" sz="1700" dirty="0"/>
          </a:p>
        </p:txBody>
      </p:sp>
      <p:sp>
        <p:nvSpPr>
          <p:cNvPr id="9" name="Shape 7"/>
          <p:cNvSpPr/>
          <p:nvPr/>
        </p:nvSpPr>
        <p:spPr>
          <a:xfrm>
            <a:off x="2788920" y="2148840"/>
            <a:ext cx="3017520" cy="2971800"/>
          </a:xfrm>
          <a:prstGeom prst="roundRect">
            <a:avLst>
              <a:gd name="adj" fmla="val 1846"/>
            </a:avLst>
          </a:prstGeom>
          <a:ln w="15875">
            <a:solidFill>
              <a:srgbClr val="50808E"/>
            </a:solidFill>
            <a:prstDash val="dash"/>
          </a:ln>
        </p:spPr>
      </p:sp>
      <p:sp>
        <p:nvSpPr>
          <p:cNvPr id="10" name="Text 8"/>
          <p:cNvSpPr txBox="1"/>
          <p:nvPr/>
        </p:nvSpPr>
        <p:spPr>
          <a:xfrm>
            <a:off x="2926080" y="4754880"/>
            <a:ext cx="914400" cy="274320"/>
          </a:xfrm>
          <a:prstGeom prst="rect">
            <a:avLst/>
          </a:prstGeom>
          <a:noFill/>
          <a:ln/>
        </p:spPr>
        <p:txBody>
          <a:bodyPr wrap="square" lIns="0" tIns="0" rIns="0" bIns="0" rtlCol="0" anchor="t"/>
          <a:lstStyle/>
          <a:p>
            <a:pPr indent="0" marL="0">
              <a:buNone/>
            </a:pPr>
            <a:r>
              <a:rPr lang="tr-TR" sz="1200" b="1" dirty="0">
                <a:solidFill>
                  <a:srgbClr val="50808E"/>
                </a:solidFill>
                <a:latin typeface="Calibri" pitchFamily="34" charset="0"/>
                <a:ea typeface="Calibri" pitchFamily="34" charset="-122"/>
                <a:cs typeface="Calibri" pitchFamily="34" charset="-120"/>
              </a:rPr>
              <a:t>MMU</a:t>
            </a:r>
            <a:endParaRPr lang="tr-TR" sz="1200" dirty="0"/>
          </a:p>
        </p:txBody>
      </p:sp>
      <p:sp>
        <p:nvSpPr>
          <p:cNvPr id="11" name="Shape 9"/>
          <p:cNvSpPr/>
          <p:nvPr/>
        </p:nvSpPr>
        <p:spPr>
          <a:xfrm>
            <a:off x="3017520" y="2286000"/>
            <a:ext cx="2560320" cy="777240"/>
          </a:xfrm>
          <a:prstGeom prst="roundRect">
            <a:avLst>
              <a:gd name="adj" fmla="val 5882"/>
            </a:avLst>
          </a:prstGeom>
          <a:solidFill>
            <a:srgbClr val="D7E9E6"/>
          </a:solidFill>
          <a:ln/>
        </p:spPr>
      </p:sp>
      <p:sp>
        <p:nvSpPr>
          <p:cNvPr id="12" name="Text 10"/>
          <p:cNvSpPr txBox="1"/>
          <p:nvPr/>
        </p:nvSpPr>
        <p:spPr>
          <a:xfrm>
            <a:off x="3017520" y="2286000"/>
            <a:ext cx="2560320" cy="777240"/>
          </a:xfrm>
          <a:prstGeom prst="rect">
            <a:avLst/>
          </a:prstGeom>
          <a:noFill/>
          <a:ln/>
        </p:spPr>
        <p:txBody>
          <a:bodyPr wrap="square" lIns="38100" tIns="38100" rIns="38100" bIns="38100" rtlCol="0" anchor="ctr"/>
          <a:lstStyle/>
          <a:p>
            <a:pPr algn="ctr" indent="0" marL="0">
              <a:buNone/>
            </a:pPr>
            <a:r>
              <a:rPr lang="tr-TR" sz="1700" b="1" dirty="0">
                <a:solidFill>
                  <a:srgbClr val="212121"/>
                </a:solidFill>
                <a:latin typeface="Calibri" pitchFamily="34" charset="0"/>
                <a:ea typeface="Calibri" pitchFamily="34" charset="-122"/>
                <a:cs typeface="Calibri" pitchFamily="34" charset="-120"/>
              </a:rPr>
              <a:t>14000</a:t>
            </a:r>
            <a:endParaRPr lang="tr-TR" sz="1700" dirty="0"/>
          </a:p>
          <a:p>
            <a:pPr algn="ctr" indent="0" marL="0">
              <a:buNone/>
            </a:pPr>
            <a:r>
              <a:rPr lang="tr-TR" sz="1100" dirty="0">
                <a:solidFill>
                  <a:srgbClr val="212121"/>
                </a:solidFill>
                <a:latin typeface="Calibri" pitchFamily="34" charset="0"/>
                <a:ea typeface="Calibri" pitchFamily="34" charset="-122"/>
                <a:cs typeface="Calibri" pitchFamily="34" charset="-120"/>
              </a:rPr>
              <a:t>yer değiştirme yazmacı</a:t>
            </a:r>
            <a:endParaRPr lang="tr-TR" sz="1700" dirty="0"/>
          </a:p>
        </p:txBody>
      </p:sp>
      <p:sp>
        <p:nvSpPr>
          <p:cNvPr id="13" name="Shape 11"/>
          <p:cNvSpPr/>
          <p:nvPr/>
        </p:nvSpPr>
        <p:spPr>
          <a:xfrm>
            <a:off x="3931920" y="3474720"/>
            <a:ext cx="731520" cy="731520"/>
          </a:xfrm>
          <a:prstGeom prst="ellipse">
            <a:avLst/>
          </a:prstGeom>
          <a:solidFill>
            <a:srgbClr val="02C39A"/>
          </a:solidFill>
          <a:ln/>
        </p:spPr>
      </p:sp>
      <p:sp>
        <p:nvSpPr>
          <p:cNvPr id="14" name="Text 12"/>
          <p:cNvSpPr txBox="1"/>
          <p:nvPr/>
        </p:nvSpPr>
        <p:spPr>
          <a:xfrm>
            <a:off x="3931920" y="3474720"/>
            <a:ext cx="731520" cy="731520"/>
          </a:xfrm>
          <a:prstGeom prst="rect">
            <a:avLst/>
          </a:prstGeom>
          <a:noFill/>
          <a:ln/>
        </p:spPr>
        <p:txBody>
          <a:bodyPr wrap="square" lIns="0" tIns="0" rIns="0" bIns="0" rtlCol="0" anchor="ctr"/>
          <a:lstStyle/>
          <a:p>
            <a:pPr algn="ctr" indent="0" marL="0">
              <a:buNone/>
            </a:pPr>
            <a:r>
              <a:rPr lang="tr-TR" sz="2000" b="1" dirty="0">
                <a:solidFill>
                  <a:srgbClr val="212121"/>
                </a:solidFill>
                <a:latin typeface="Cambria" pitchFamily="34" charset="0"/>
                <a:ea typeface="Cambria" pitchFamily="34" charset="-122"/>
                <a:cs typeface="Cambria" pitchFamily="34" charset="-120"/>
              </a:rPr>
              <a:t>+</a:t>
            </a:r>
            <a:endParaRPr lang="tr-TR" sz="2000" dirty="0"/>
          </a:p>
        </p:txBody>
      </p:sp>
      <p:sp>
        <p:nvSpPr>
          <p:cNvPr id="15" name="Shape 13"/>
          <p:cNvSpPr/>
          <p:nvPr/>
        </p:nvSpPr>
        <p:spPr>
          <a:xfrm>
            <a:off x="4297680" y="3081528"/>
            <a:ext cx="91" cy="374904"/>
          </a:xfrm>
          <a:prstGeom prst="line">
            <a:avLst/>
          </a:prstGeom>
          <a:noFill/>
          <a:ln w="22225">
            <a:solidFill>
              <a:srgbClr val="50808E"/>
            </a:solidFill>
            <a:prstDash val="solid"/>
            <a:tailEnd type="triangle"/>
          </a:ln>
        </p:spPr>
      </p:sp>
      <p:sp>
        <p:nvSpPr>
          <p:cNvPr id="16" name="Shape 14"/>
          <p:cNvSpPr/>
          <p:nvPr/>
        </p:nvSpPr>
        <p:spPr>
          <a:xfrm>
            <a:off x="2029968" y="3840480"/>
            <a:ext cx="1883664" cy="91"/>
          </a:xfrm>
          <a:prstGeom prst="line">
            <a:avLst/>
          </a:prstGeom>
          <a:noFill/>
          <a:ln w="22225">
            <a:solidFill>
              <a:srgbClr val="50808E"/>
            </a:solidFill>
            <a:prstDash val="solid"/>
            <a:tailEnd type="triangle"/>
          </a:ln>
        </p:spPr>
      </p:sp>
      <p:sp>
        <p:nvSpPr>
          <p:cNvPr id="17" name="Text 15"/>
          <p:cNvSpPr txBox="1"/>
          <p:nvPr/>
        </p:nvSpPr>
        <p:spPr>
          <a:xfrm>
            <a:off x="2103120" y="3950208"/>
            <a:ext cx="1463040" cy="548640"/>
          </a:xfrm>
          <a:prstGeom prst="rect">
            <a:avLst/>
          </a:prstGeom>
          <a:noFill/>
          <a:ln/>
        </p:spPr>
        <p:txBody>
          <a:bodyPr wrap="square" lIns="0" tIns="0" rIns="0" bIns="0" rtlCol="0" anchor="t"/>
          <a:lstStyle/>
          <a:p>
            <a:pPr indent="0" marL="0">
              <a:buNone/>
            </a:pPr>
            <a:r>
              <a:rPr lang="tr-TR" sz="1200" b="1" dirty="0">
                <a:solidFill>
                  <a:srgbClr val="028090"/>
                </a:solidFill>
                <a:latin typeface="Calibri" pitchFamily="34" charset="0"/>
                <a:ea typeface="Calibri" pitchFamily="34" charset="-122"/>
                <a:cs typeface="Calibri" pitchFamily="34" charset="-120"/>
              </a:rPr>
              <a:t>mantıksal</a:t>
            </a:r>
            <a:endParaRPr lang="tr-TR" sz="1200" dirty="0"/>
          </a:p>
          <a:p>
            <a:pPr indent="0" marL="0">
              <a:buNone/>
            </a:pPr>
            <a:r>
              <a:rPr lang="tr-TR" sz="1200" b="1" dirty="0">
                <a:solidFill>
                  <a:srgbClr val="028090"/>
                </a:solidFill>
                <a:latin typeface="Calibri" pitchFamily="34" charset="0"/>
                <a:ea typeface="Calibri" pitchFamily="34" charset="-122"/>
                <a:cs typeface="Calibri" pitchFamily="34" charset="-120"/>
              </a:rPr>
              <a:t>adres  346</a:t>
            </a:r>
            <a:endParaRPr lang="tr-TR" sz="1200" dirty="0"/>
          </a:p>
        </p:txBody>
      </p:sp>
      <p:sp>
        <p:nvSpPr>
          <p:cNvPr id="18" name="Shape 16"/>
          <p:cNvSpPr/>
          <p:nvPr/>
        </p:nvSpPr>
        <p:spPr>
          <a:xfrm>
            <a:off x="4681728" y="3840480"/>
            <a:ext cx="1673352" cy="91"/>
          </a:xfrm>
          <a:prstGeom prst="line">
            <a:avLst/>
          </a:prstGeom>
          <a:noFill/>
          <a:ln w="22225">
            <a:solidFill>
              <a:srgbClr val="50808E"/>
            </a:solidFill>
            <a:prstDash val="solid"/>
            <a:tailEnd type="triangle"/>
          </a:ln>
        </p:spPr>
      </p:sp>
      <p:sp>
        <p:nvSpPr>
          <p:cNvPr id="19" name="Text 17"/>
          <p:cNvSpPr txBox="1"/>
          <p:nvPr/>
        </p:nvSpPr>
        <p:spPr>
          <a:xfrm>
            <a:off x="4709160" y="3950208"/>
            <a:ext cx="1645920" cy="548640"/>
          </a:xfrm>
          <a:prstGeom prst="rect">
            <a:avLst/>
          </a:prstGeom>
          <a:noFill/>
          <a:ln/>
        </p:spPr>
        <p:txBody>
          <a:bodyPr wrap="square" lIns="0" tIns="0" rIns="0" bIns="0" rtlCol="0" anchor="t"/>
          <a:lstStyle/>
          <a:p>
            <a:pPr indent="0" marL="0">
              <a:buNone/>
            </a:pPr>
            <a:r>
              <a:rPr lang="tr-TR" sz="1200" b="1" dirty="0">
                <a:solidFill>
                  <a:srgbClr val="028090"/>
                </a:solidFill>
                <a:latin typeface="Calibri" pitchFamily="34" charset="0"/>
                <a:ea typeface="Calibri" pitchFamily="34" charset="-122"/>
                <a:cs typeface="Calibri" pitchFamily="34" charset="-120"/>
              </a:rPr>
              <a:t>fiziksel</a:t>
            </a:r>
            <a:endParaRPr lang="tr-TR" sz="1200" dirty="0"/>
          </a:p>
          <a:p>
            <a:pPr indent="0" marL="0">
              <a:buNone/>
            </a:pPr>
            <a:r>
              <a:rPr lang="tr-TR" sz="1200" b="1" dirty="0">
                <a:solidFill>
                  <a:srgbClr val="028090"/>
                </a:solidFill>
                <a:latin typeface="Calibri" pitchFamily="34" charset="0"/>
                <a:ea typeface="Calibri" pitchFamily="34" charset="-122"/>
                <a:cs typeface="Calibri" pitchFamily="34" charset="-120"/>
              </a:rPr>
              <a:t>adres  14346</a:t>
            </a:r>
            <a:endParaRPr lang="tr-TR" sz="1200" dirty="0"/>
          </a:p>
        </p:txBody>
      </p:sp>
      <p:sp>
        <p:nvSpPr>
          <p:cNvPr id="20" name="Shape 18"/>
          <p:cNvSpPr/>
          <p:nvPr/>
        </p:nvSpPr>
        <p:spPr>
          <a:xfrm>
            <a:off x="6400800" y="2148840"/>
            <a:ext cx="1097280" cy="3657600"/>
          </a:xfrm>
          <a:prstGeom prst="roundRect">
            <a:avLst>
              <a:gd name="adj" fmla="val 4167"/>
            </a:avLst>
          </a:prstGeom>
          <a:solidFill>
            <a:srgbClr val="F2F2F2"/>
          </a:solidFill>
          <a:ln/>
        </p:spPr>
      </p:sp>
      <p:sp>
        <p:nvSpPr>
          <p:cNvPr id="21" name="Text 19"/>
          <p:cNvSpPr txBox="1"/>
          <p:nvPr/>
        </p:nvSpPr>
        <p:spPr>
          <a:xfrm>
            <a:off x="6400800" y="2148840"/>
            <a:ext cx="1097280" cy="3657600"/>
          </a:xfrm>
          <a:prstGeom prst="rect">
            <a:avLst/>
          </a:prstGeom>
          <a:noFill/>
          <a:ln/>
        </p:spPr>
        <p:txBody>
          <a:bodyPr wrap="square" lIns="38100" tIns="38100" rIns="38100" bIns="38100" rtlCol="0" anchor="ctr"/>
          <a:lstStyle/>
          <a:p>
            <a:pPr algn="ctr" indent="0" marL="0">
              <a:buNone/>
            </a:pPr>
            <a:r>
              <a:rPr lang="tr-TR" sz="1400" b="1" dirty="0">
                <a:solidFill>
                  <a:srgbClr val="36454F"/>
                </a:solidFill>
                <a:latin typeface="Calibri" pitchFamily="34" charset="0"/>
                <a:ea typeface="Calibri" pitchFamily="34" charset="-122"/>
                <a:cs typeface="Calibri" pitchFamily="34" charset="-120"/>
              </a:rPr>
              <a:t>Bellek</a:t>
            </a:r>
            <a:endParaRPr lang="tr-TR" sz="1400" dirty="0"/>
          </a:p>
        </p:txBody>
      </p:sp>
      <p:sp>
        <p:nvSpPr>
          <p:cNvPr id="22" name="Shape 20"/>
          <p:cNvSpPr/>
          <p:nvPr/>
        </p:nvSpPr>
        <p:spPr>
          <a:xfrm>
            <a:off x="7818120" y="2148840"/>
            <a:ext cx="3840480" cy="4114800"/>
          </a:xfrm>
          <a:prstGeom prst="roundRect">
            <a:avLst>
              <a:gd name="adj" fmla="val 1429"/>
            </a:avLst>
          </a:prstGeom>
          <a:solidFill>
            <a:srgbClr val="F2F2F2"/>
          </a:solidFill>
          <a:ln/>
          <a:effectLst>
            <a:outerShdw sx="100000" sy="100000" kx="0" ky="0" algn="bl" rotWithShape="0" blurRad="101600" dist="25400" dir="5400000">
              <a:srgbClr val="000000">
                <a:alpha val="12000"/>
              </a:srgbClr>
            </a:outerShdw>
          </a:effectLst>
        </p:spPr>
      </p:sp>
      <p:sp>
        <p:nvSpPr>
          <p:cNvPr id="23" name="Text 21"/>
          <p:cNvSpPr txBox="1"/>
          <p:nvPr/>
        </p:nvSpPr>
        <p:spPr>
          <a:xfrm>
            <a:off x="8046720" y="2331720"/>
            <a:ext cx="33832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Bunun anlamı</a:t>
            </a:r>
            <a:endParaRPr lang="tr-TR" sz="1500" dirty="0"/>
          </a:p>
        </p:txBody>
      </p:sp>
      <p:sp>
        <p:nvSpPr>
          <p:cNvPr id="24" name="Text 22"/>
          <p:cNvSpPr txBox="1"/>
          <p:nvPr/>
        </p:nvSpPr>
        <p:spPr>
          <a:xfrm>
            <a:off x="8046720" y="2788920"/>
            <a:ext cx="3383280" cy="333756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Program 0 … 2999 adreslerinde çalıştığını sanır.</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İşletim sistemi onu 14000'e yükledi ve yer değiştirme yazmacına 14000 yazdı.</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Süreci taşımak için işletim sistemi onu kopyalar ve tek bir yazmacı değiştirir.</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Bu yazmacı yüklemek ayrıcalıklı bir komuttur: yalnızca çekirdek yapabilir (2. hafta).</a:t>
            </a:r>
            <a:endParaRPr lang="tr-TR"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KORUMA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Taban ve Sınır Yazmaçları: Koruma Denetimi</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İkinci bir yazmaç, sınır (limit), sürecin boyunu tutar. Her erişim, yer değiştirmeden önce denetlenir.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6  ·  9</a:t>
            </a:r>
            <a:endParaRPr lang="tr-TR" sz="900" dirty="0"/>
          </a:p>
        </p:txBody>
      </p:sp>
      <p:sp>
        <p:nvSpPr>
          <p:cNvPr id="7" name="Shape 5"/>
          <p:cNvSpPr/>
          <p:nvPr/>
        </p:nvSpPr>
        <p:spPr>
          <a:xfrm>
            <a:off x="548640" y="3429000"/>
            <a:ext cx="1280160" cy="1005840"/>
          </a:xfrm>
          <a:prstGeom prst="roundRect">
            <a:avLst>
              <a:gd name="adj" fmla="val 4545"/>
            </a:avLst>
          </a:prstGeom>
          <a:solidFill>
            <a:srgbClr val="36454F"/>
          </a:solidFill>
          <a:ln/>
        </p:spPr>
      </p:sp>
      <p:sp>
        <p:nvSpPr>
          <p:cNvPr id="8" name="Text 6"/>
          <p:cNvSpPr txBox="1"/>
          <p:nvPr/>
        </p:nvSpPr>
        <p:spPr>
          <a:xfrm>
            <a:off x="548640" y="3429000"/>
            <a:ext cx="1280160" cy="1005840"/>
          </a:xfrm>
          <a:prstGeom prst="rect">
            <a:avLst/>
          </a:prstGeom>
          <a:noFill/>
          <a:ln/>
        </p:spPr>
        <p:txBody>
          <a:bodyPr wrap="square" lIns="38100" tIns="38100" rIns="38100" bIns="38100" rtlCol="0" anchor="ctr"/>
          <a:lstStyle/>
          <a:p>
            <a:pPr algn="ctr" indent="0" marL="0">
              <a:buNone/>
            </a:pPr>
            <a:r>
              <a:rPr lang="tr-TR" sz="1500" b="1" dirty="0">
                <a:solidFill>
                  <a:srgbClr val="FFFFFF"/>
                </a:solidFill>
                <a:latin typeface="Calibri" pitchFamily="34" charset="0"/>
                <a:ea typeface="Calibri" pitchFamily="34" charset="-122"/>
                <a:cs typeface="Calibri" pitchFamily="34" charset="-120"/>
              </a:rPr>
              <a:t>İşlemci</a:t>
            </a:r>
            <a:endParaRPr lang="tr-TR" sz="1500" dirty="0"/>
          </a:p>
        </p:txBody>
      </p:sp>
      <p:sp>
        <p:nvSpPr>
          <p:cNvPr id="9" name="Shape 7"/>
          <p:cNvSpPr/>
          <p:nvPr/>
        </p:nvSpPr>
        <p:spPr>
          <a:xfrm>
            <a:off x="2514600" y="2148840"/>
            <a:ext cx="2011680" cy="731520"/>
          </a:xfrm>
          <a:prstGeom prst="roundRect">
            <a:avLst>
              <a:gd name="adj" fmla="val 6250"/>
            </a:avLst>
          </a:prstGeom>
          <a:solidFill>
            <a:srgbClr val="D7E9E6"/>
          </a:solidFill>
          <a:ln/>
        </p:spPr>
      </p:sp>
      <p:sp>
        <p:nvSpPr>
          <p:cNvPr id="10" name="Text 8"/>
          <p:cNvSpPr txBox="1"/>
          <p:nvPr/>
        </p:nvSpPr>
        <p:spPr>
          <a:xfrm>
            <a:off x="2514600" y="2148840"/>
            <a:ext cx="2011680" cy="73152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sınır (limit)</a:t>
            </a:r>
            <a:endParaRPr lang="tr-TR" sz="1400" dirty="0"/>
          </a:p>
          <a:p>
            <a:pPr algn="ctr" indent="0" marL="0">
              <a:buNone/>
            </a:pPr>
            <a:r>
              <a:rPr lang="tr-TR" sz="1300" dirty="0">
                <a:solidFill>
                  <a:srgbClr val="212121"/>
                </a:solidFill>
                <a:latin typeface="Calibri" pitchFamily="34" charset="0"/>
                <a:ea typeface="Calibri" pitchFamily="34" charset="-122"/>
                <a:cs typeface="Calibri" pitchFamily="34" charset="-120"/>
              </a:rPr>
              <a:t>3000</a:t>
            </a:r>
            <a:endParaRPr lang="tr-TR" sz="1400" dirty="0"/>
          </a:p>
        </p:txBody>
      </p:sp>
      <p:sp>
        <p:nvSpPr>
          <p:cNvPr id="11" name="Shape 9"/>
          <p:cNvSpPr/>
          <p:nvPr/>
        </p:nvSpPr>
        <p:spPr>
          <a:xfrm>
            <a:off x="5532120" y="2148840"/>
            <a:ext cx="2011680" cy="731520"/>
          </a:xfrm>
          <a:prstGeom prst="roundRect">
            <a:avLst>
              <a:gd name="adj" fmla="val 6250"/>
            </a:avLst>
          </a:prstGeom>
          <a:solidFill>
            <a:srgbClr val="D7E9E6"/>
          </a:solidFill>
          <a:ln/>
        </p:spPr>
      </p:sp>
      <p:sp>
        <p:nvSpPr>
          <p:cNvPr id="12" name="Text 10"/>
          <p:cNvSpPr txBox="1"/>
          <p:nvPr/>
        </p:nvSpPr>
        <p:spPr>
          <a:xfrm>
            <a:off x="5532120" y="2148840"/>
            <a:ext cx="2011680" cy="73152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taban (base)</a:t>
            </a:r>
            <a:endParaRPr lang="tr-TR" sz="1400" dirty="0"/>
          </a:p>
          <a:p>
            <a:pPr algn="ctr" indent="0" marL="0">
              <a:buNone/>
            </a:pPr>
            <a:r>
              <a:rPr lang="tr-TR" sz="1300" dirty="0">
                <a:solidFill>
                  <a:srgbClr val="212121"/>
                </a:solidFill>
                <a:latin typeface="Calibri" pitchFamily="34" charset="0"/>
                <a:ea typeface="Calibri" pitchFamily="34" charset="-122"/>
                <a:cs typeface="Calibri" pitchFamily="34" charset="-120"/>
              </a:rPr>
              <a:t>14000</a:t>
            </a:r>
            <a:endParaRPr lang="tr-TR" sz="1400" dirty="0"/>
          </a:p>
        </p:txBody>
      </p:sp>
      <p:sp>
        <p:nvSpPr>
          <p:cNvPr id="13" name="Shape 11"/>
          <p:cNvSpPr/>
          <p:nvPr/>
        </p:nvSpPr>
        <p:spPr>
          <a:xfrm>
            <a:off x="2514600" y="3246120"/>
            <a:ext cx="2011680" cy="1371600"/>
          </a:xfrm>
          <a:prstGeom prst="diamond">
            <a:avLst/>
          </a:prstGeom>
          <a:solidFill>
            <a:srgbClr val="02C39A"/>
          </a:solidFill>
          <a:ln/>
        </p:spPr>
      </p:sp>
      <p:sp>
        <p:nvSpPr>
          <p:cNvPr id="14" name="Text 12"/>
          <p:cNvSpPr txBox="1"/>
          <p:nvPr/>
        </p:nvSpPr>
        <p:spPr>
          <a:xfrm>
            <a:off x="2514600" y="3246120"/>
            <a:ext cx="2011680" cy="1371600"/>
          </a:xfrm>
          <a:prstGeom prst="rect">
            <a:avLst/>
          </a:prstGeom>
          <a:noFill/>
          <a:ln/>
        </p:spPr>
        <p:txBody>
          <a:bodyPr wrap="square" lIns="0" tIns="0" rIns="0" bIns="0" rtlCol="0" anchor="ctr"/>
          <a:lstStyle/>
          <a:p>
            <a:pPr algn="ctr" indent="0" marL="0">
              <a:buNone/>
            </a:pPr>
            <a:r>
              <a:rPr lang="tr-TR" sz="1250" b="1" dirty="0">
                <a:solidFill>
                  <a:srgbClr val="212121"/>
                </a:solidFill>
                <a:latin typeface="Calibri" pitchFamily="34" charset="0"/>
                <a:ea typeface="Calibri" pitchFamily="34" charset="-122"/>
                <a:cs typeface="Calibri" pitchFamily="34" charset="-120"/>
              </a:rPr>
              <a:t>mantıksal</a:t>
            </a:r>
            <a:endParaRPr lang="tr-TR" sz="1250" dirty="0"/>
          </a:p>
          <a:p>
            <a:pPr algn="ctr" indent="0" marL="0">
              <a:buNone/>
            </a:pPr>
            <a:r>
              <a:rPr lang="tr-TR" sz="1250" b="1" dirty="0">
                <a:solidFill>
                  <a:srgbClr val="212121"/>
                </a:solidFill>
                <a:latin typeface="Calibri" pitchFamily="34" charset="0"/>
                <a:ea typeface="Calibri" pitchFamily="34" charset="-122"/>
                <a:cs typeface="Calibri" pitchFamily="34" charset="-120"/>
              </a:rPr>
              <a:t>&lt; sınır ?</a:t>
            </a:r>
            <a:endParaRPr lang="tr-TR" sz="1250" dirty="0"/>
          </a:p>
        </p:txBody>
      </p:sp>
      <p:sp>
        <p:nvSpPr>
          <p:cNvPr id="15" name="Shape 13"/>
          <p:cNvSpPr/>
          <p:nvPr/>
        </p:nvSpPr>
        <p:spPr>
          <a:xfrm>
            <a:off x="3520440" y="2898648"/>
            <a:ext cx="91" cy="329184"/>
          </a:xfrm>
          <a:prstGeom prst="line">
            <a:avLst/>
          </a:prstGeom>
          <a:noFill/>
          <a:ln w="19050">
            <a:solidFill>
              <a:srgbClr val="50808E"/>
            </a:solidFill>
            <a:prstDash val="solid"/>
            <a:tailEnd type="triangle"/>
          </a:ln>
        </p:spPr>
      </p:sp>
      <p:sp>
        <p:nvSpPr>
          <p:cNvPr id="16" name="Shape 14"/>
          <p:cNvSpPr/>
          <p:nvPr/>
        </p:nvSpPr>
        <p:spPr>
          <a:xfrm>
            <a:off x="1847088" y="3931920"/>
            <a:ext cx="649224" cy="91"/>
          </a:xfrm>
          <a:prstGeom prst="line">
            <a:avLst/>
          </a:prstGeom>
          <a:noFill/>
          <a:ln w="22225">
            <a:solidFill>
              <a:srgbClr val="50808E"/>
            </a:solidFill>
            <a:prstDash val="solid"/>
            <a:tailEnd type="triangle"/>
          </a:ln>
        </p:spPr>
      </p:sp>
      <p:sp>
        <p:nvSpPr>
          <p:cNvPr id="17" name="Text 15"/>
          <p:cNvSpPr txBox="1"/>
          <p:nvPr/>
        </p:nvSpPr>
        <p:spPr>
          <a:xfrm>
            <a:off x="1847088" y="3977640"/>
            <a:ext cx="1188720" cy="274320"/>
          </a:xfrm>
          <a:prstGeom prst="rect">
            <a:avLst/>
          </a:prstGeom>
          <a:noFill/>
          <a:ln/>
        </p:spPr>
        <p:txBody>
          <a:bodyPr wrap="square" lIns="0" tIns="0" rIns="0" bIns="0" rtlCol="0" anchor="t"/>
          <a:lstStyle/>
          <a:p>
            <a:pPr indent="0" marL="0">
              <a:buNone/>
            </a:pPr>
            <a:r>
              <a:rPr lang="tr-TR" sz="1100" b="1" dirty="0">
                <a:solidFill>
                  <a:srgbClr val="028090"/>
                </a:solidFill>
                <a:latin typeface="Calibri" pitchFamily="34" charset="0"/>
                <a:ea typeface="Calibri" pitchFamily="34" charset="-122"/>
                <a:cs typeface="Calibri" pitchFamily="34" charset="-120"/>
              </a:rPr>
              <a:t>mantıksal</a:t>
            </a:r>
            <a:endParaRPr lang="tr-TR" sz="1100" dirty="0"/>
          </a:p>
        </p:txBody>
      </p:sp>
      <p:sp>
        <p:nvSpPr>
          <p:cNvPr id="18" name="Shape 16"/>
          <p:cNvSpPr/>
          <p:nvPr/>
        </p:nvSpPr>
        <p:spPr>
          <a:xfrm>
            <a:off x="6172200" y="3566160"/>
            <a:ext cx="731520" cy="731520"/>
          </a:xfrm>
          <a:prstGeom prst="ellipse">
            <a:avLst/>
          </a:prstGeom>
          <a:solidFill>
            <a:srgbClr val="02C39A"/>
          </a:solidFill>
          <a:ln/>
        </p:spPr>
      </p:sp>
      <p:sp>
        <p:nvSpPr>
          <p:cNvPr id="19" name="Text 17"/>
          <p:cNvSpPr txBox="1"/>
          <p:nvPr/>
        </p:nvSpPr>
        <p:spPr>
          <a:xfrm>
            <a:off x="6172200" y="3566160"/>
            <a:ext cx="731520" cy="731520"/>
          </a:xfrm>
          <a:prstGeom prst="rect">
            <a:avLst/>
          </a:prstGeom>
          <a:noFill/>
          <a:ln/>
        </p:spPr>
        <p:txBody>
          <a:bodyPr wrap="square" lIns="0" tIns="0" rIns="0" bIns="0" rtlCol="0" anchor="ctr"/>
          <a:lstStyle/>
          <a:p>
            <a:pPr algn="ctr" indent="0" marL="0">
              <a:buNone/>
            </a:pPr>
            <a:r>
              <a:rPr lang="tr-TR" sz="2000" b="1" dirty="0">
                <a:solidFill>
                  <a:srgbClr val="212121"/>
                </a:solidFill>
                <a:latin typeface="Cambria" pitchFamily="34" charset="0"/>
                <a:ea typeface="Cambria" pitchFamily="34" charset="-122"/>
                <a:cs typeface="Cambria" pitchFamily="34" charset="-120"/>
              </a:rPr>
              <a:t>+</a:t>
            </a:r>
            <a:endParaRPr lang="tr-TR" sz="2000" dirty="0"/>
          </a:p>
        </p:txBody>
      </p:sp>
      <p:sp>
        <p:nvSpPr>
          <p:cNvPr id="20" name="Shape 18"/>
          <p:cNvSpPr/>
          <p:nvPr/>
        </p:nvSpPr>
        <p:spPr>
          <a:xfrm>
            <a:off x="6537960" y="2898648"/>
            <a:ext cx="91" cy="649224"/>
          </a:xfrm>
          <a:prstGeom prst="line">
            <a:avLst/>
          </a:prstGeom>
          <a:noFill/>
          <a:ln w="19050">
            <a:solidFill>
              <a:srgbClr val="50808E"/>
            </a:solidFill>
            <a:prstDash val="solid"/>
            <a:tailEnd type="triangle"/>
          </a:ln>
        </p:spPr>
      </p:sp>
      <p:sp>
        <p:nvSpPr>
          <p:cNvPr id="21" name="Shape 19"/>
          <p:cNvSpPr/>
          <p:nvPr/>
        </p:nvSpPr>
        <p:spPr>
          <a:xfrm>
            <a:off x="4544568" y="3931920"/>
            <a:ext cx="1609344" cy="91"/>
          </a:xfrm>
          <a:prstGeom prst="line">
            <a:avLst/>
          </a:prstGeom>
          <a:noFill/>
          <a:ln w="22225">
            <a:solidFill>
              <a:srgbClr val="50808E"/>
            </a:solidFill>
            <a:prstDash val="solid"/>
            <a:tailEnd type="triangle"/>
          </a:ln>
        </p:spPr>
      </p:sp>
      <p:sp>
        <p:nvSpPr>
          <p:cNvPr id="22" name="Text 20"/>
          <p:cNvSpPr txBox="1"/>
          <p:nvPr/>
        </p:nvSpPr>
        <p:spPr>
          <a:xfrm>
            <a:off x="4846320" y="3566160"/>
            <a:ext cx="731520" cy="274320"/>
          </a:xfrm>
          <a:prstGeom prst="rect">
            <a:avLst/>
          </a:prstGeom>
          <a:noFill/>
          <a:ln/>
        </p:spPr>
        <p:txBody>
          <a:bodyPr wrap="square" lIns="0" tIns="0" rIns="0" bIns="0" rtlCol="0" anchor="t"/>
          <a:lstStyle/>
          <a:p>
            <a:pPr indent="0" marL="0">
              <a:buNone/>
            </a:pPr>
            <a:r>
              <a:rPr lang="tr-TR" sz="1200" b="1" dirty="0">
                <a:solidFill>
                  <a:srgbClr val="028090"/>
                </a:solidFill>
                <a:latin typeface="Calibri" pitchFamily="34" charset="0"/>
                <a:ea typeface="Calibri" pitchFamily="34" charset="-122"/>
                <a:cs typeface="Calibri" pitchFamily="34" charset="-120"/>
              </a:rPr>
              <a:t>evet</a:t>
            </a:r>
            <a:endParaRPr lang="tr-TR" sz="1200" dirty="0"/>
          </a:p>
        </p:txBody>
      </p:sp>
      <p:sp>
        <p:nvSpPr>
          <p:cNvPr id="23" name="Shape 21"/>
          <p:cNvSpPr/>
          <p:nvPr/>
        </p:nvSpPr>
        <p:spPr>
          <a:xfrm>
            <a:off x="6922008" y="3931920"/>
            <a:ext cx="941832" cy="91"/>
          </a:xfrm>
          <a:prstGeom prst="line">
            <a:avLst/>
          </a:prstGeom>
          <a:noFill/>
          <a:ln w="22225">
            <a:solidFill>
              <a:srgbClr val="50808E"/>
            </a:solidFill>
            <a:prstDash val="solid"/>
            <a:tailEnd type="triangle"/>
          </a:ln>
        </p:spPr>
      </p:sp>
      <p:sp>
        <p:nvSpPr>
          <p:cNvPr id="24" name="Text 22"/>
          <p:cNvSpPr txBox="1"/>
          <p:nvPr/>
        </p:nvSpPr>
        <p:spPr>
          <a:xfrm>
            <a:off x="6903720" y="3977640"/>
            <a:ext cx="1005840" cy="274320"/>
          </a:xfrm>
          <a:prstGeom prst="rect">
            <a:avLst/>
          </a:prstGeom>
          <a:noFill/>
          <a:ln/>
        </p:spPr>
        <p:txBody>
          <a:bodyPr wrap="square" lIns="0" tIns="0" rIns="0" bIns="0" rtlCol="0" anchor="t"/>
          <a:lstStyle/>
          <a:p>
            <a:pPr indent="0" marL="0">
              <a:buNone/>
            </a:pPr>
            <a:r>
              <a:rPr lang="tr-TR" sz="1200" b="1" dirty="0">
                <a:solidFill>
                  <a:srgbClr val="028090"/>
                </a:solidFill>
                <a:latin typeface="Calibri" pitchFamily="34" charset="0"/>
                <a:ea typeface="Calibri" pitchFamily="34" charset="-122"/>
                <a:cs typeface="Calibri" pitchFamily="34" charset="-120"/>
              </a:rPr>
              <a:t>fiziksel</a:t>
            </a:r>
            <a:endParaRPr lang="tr-TR" sz="1200" dirty="0"/>
          </a:p>
        </p:txBody>
      </p:sp>
      <p:sp>
        <p:nvSpPr>
          <p:cNvPr id="25" name="Shape 23"/>
          <p:cNvSpPr/>
          <p:nvPr/>
        </p:nvSpPr>
        <p:spPr>
          <a:xfrm>
            <a:off x="7909560" y="2148840"/>
            <a:ext cx="914400" cy="4114800"/>
          </a:xfrm>
          <a:prstGeom prst="roundRect">
            <a:avLst>
              <a:gd name="adj" fmla="val 5000"/>
            </a:avLst>
          </a:prstGeom>
          <a:solidFill>
            <a:srgbClr val="F2F2F2"/>
          </a:solidFill>
          <a:ln/>
        </p:spPr>
      </p:sp>
      <p:sp>
        <p:nvSpPr>
          <p:cNvPr id="26" name="Text 24"/>
          <p:cNvSpPr txBox="1"/>
          <p:nvPr/>
        </p:nvSpPr>
        <p:spPr>
          <a:xfrm>
            <a:off x="7909560" y="2148840"/>
            <a:ext cx="914400" cy="4114800"/>
          </a:xfrm>
          <a:prstGeom prst="rect">
            <a:avLst/>
          </a:prstGeom>
          <a:noFill/>
          <a:ln/>
        </p:spPr>
        <p:txBody>
          <a:bodyPr wrap="square" lIns="38100" tIns="38100" rIns="38100" bIns="3810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Bellek</a:t>
            </a:r>
            <a:endParaRPr lang="tr-TR" sz="1200" dirty="0"/>
          </a:p>
        </p:txBody>
      </p:sp>
      <p:sp>
        <p:nvSpPr>
          <p:cNvPr id="27" name="Shape 25"/>
          <p:cNvSpPr/>
          <p:nvPr/>
        </p:nvSpPr>
        <p:spPr>
          <a:xfrm>
            <a:off x="3520440" y="4636008"/>
            <a:ext cx="91" cy="850392"/>
          </a:xfrm>
          <a:prstGeom prst="line">
            <a:avLst/>
          </a:prstGeom>
          <a:noFill/>
          <a:ln w="22225">
            <a:solidFill>
              <a:srgbClr val="B5453A"/>
            </a:solidFill>
            <a:prstDash val="solid"/>
            <a:tailEnd type="triangle"/>
          </a:ln>
        </p:spPr>
      </p:sp>
      <p:sp>
        <p:nvSpPr>
          <p:cNvPr id="28" name="Text 26"/>
          <p:cNvSpPr txBox="1"/>
          <p:nvPr/>
        </p:nvSpPr>
        <p:spPr>
          <a:xfrm>
            <a:off x="3657600" y="4709160"/>
            <a:ext cx="731520" cy="274320"/>
          </a:xfrm>
          <a:prstGeom prst="rect">
            <a:avLst/>
          </a:prstGeom>
          <a:noFill/>
          <a:ln/>
        </p:spPr>
        <p:txBody>
          <a:bodyPr wrap="square" lIns="0" tIns="0" rIns="0" bIns="0" rtlCol="0" anchor="t"/>
          <a:lstStyle/>
          <a:p>
            <a:pPr indent="0" marL="0">
              <a:buNone/>
            </a:pPr>
            <a:r>
              <a:rPr lang="tr-TR" sz="1200" b="1" dirty="0">
                <a:solidFill>
                  <a:srgbClr val="B5453A"/>
                </a:solidFill>
                <a:latin typeface="Calibri" pitchFamily="34" charset="0"/>
                <a:ea typeface="Calibri" pitchFamily="34" charset="-122"/>
                <a:cs typeface="Calibri" pitchFamily="34" charset="-120"/>
              </a:rPr>
              <a:t>hayır</a:t>
            </a:r>
            <a:endParaRPr lang="tr-TR" sz="1200" dirty="0"/>
          </a:p>
        </p:txBody>
      </p:sp>
      <p:sp>
        <p:nvSpPr>
          <p:cNvPr id="29" name="Shape 27"/>
          <p:cNvSpPr/>
          <p:nvPr/>
        </p:nvSpPr>
        <p:spPr>
          <a:xfrm>
            <a:off x="2148840" y="5504688"/>
            <a:ext cx="3474720" cy="731520"/>
          </a:xfrm>
          <a:prstGeom prst="roundRect">
            <a:avLst>
              <a:gd name="adj" fmla="val 6250"/>
            </a:avLst>
          </a:prstGeom>
          <a:solidFill>
            <a:srgbClr val="B5453A"/>
          </a:solidFill>
          <a:ln/>
        </p:spPr>
      </p:sp>
      <p:sp>
        <p:nvSpPr>
          <p:cNvPr id="30" name="Text 28"/>
          <p:cNvSpPr txBox="1"/>
          <p:nvPr/>
        </p:nvSpPr>
        <p:spPr>
          <a:xfrm>
            <a:off x="2148840" y="5504688"/>
            <a:ext cx="3474720" cy="731520"/>
          </a:xfrm>
          <a:prstGeom prst="rect">
            <a:avLst/>
          </a:prstGeom>
          <a:noFill/>
          <a:ln/>
        </p:spPr>
        <p:txBody>
          <a:bodyPr wrap="square" lIns="38100" tIns="38100" rIns="38100" bIns="38100" rtlCol="0" anchor="ctr"/>
          <a:lstStyle/>
          <a:p>
            <a:pPr algn="ctr" indent="0" marL="0">
              <a:buNone/>
            </a:pPr>
            <a:r>
              <a:rPr lang="tr-TR" sz="1250" b="1" dirty="0">
                <a:solidFill>
                  <a:srgbClr val="FFFFFF"/>
                </a:solidFill>
                <a:latin typeface="Calibri" pitchFamily="34" charset="0"/>
                <a:ea typeface="Calibri" pitchFamily="34" charset="-122"/>
                <a:cs typeface="Calibri" pitchFamily="34" charset="-120"/>
              </a:rPr>
              <a:t>İşletim sistemine TUZAK (trap)</a:t>
            </a:r>
            <a:endParaRPr lang="tr-TR" sz="1250" dirty="0"/>
          </a:p>
          <a:p>
            <a:pPr algn="ctr" indent="0" marL="0">
              <a:buNone/>
            </a:pPr>
            <a:r>
              <a:rPr lang="tr-TR" sz="1100" dirty="0">
                <a:solidFill>
                  <a:srgbClr val="FFFFFF"/>
                </a:solidFill>
                <a:latin typeface="Calibri" pitchFamily="34" charset="0"/>
                <a:ea typeface="Calibri" pitchFamily="34" charset="-122"/>
                <a:cs typeface="Calibri" pitchFamily="34" charset="-120"/>
              </a:rPr>
              <a:t>adresleme hatası → süreç sonlandırılır</a:t>
            </a:r>
            <a:endParaRPr lang="tr-TR" sz="1250" dirty="0"/>
          </a:p>
        </p:txBody>
      </p:sp>
      <p:sp>
        <p:nvSpPr>
          <p:cNvPr id="31" name="Shape 29"/>
          <p:cNvSpPr/>
          <p:nvPr/>
        </p:nvSpPr>
        <p:spPr>
          <a:xfrm>
            <a:off x="9098280" y="2148840"/>
            <a:ext cx="2560320" cy="4114800"/>
          </a:xfrm>
          <a:prstGeom prst="roundRect">
            <a:avLst>
              <a:gd name="adj" fmla="val 2143"/>
            </a:avLst>
          </a:prstGeom>
          <a:solidFill>
            <a:srgbClr val="F2F2F2"/>
          </a:solidFill>
          <a:ln/>
          <a:effectLst>
            <a:outerShdw sx="100000" sy="100000" kx="0" ky="0" algn="bl" rotWithShape="0" blurRad="101600" dist="25400" dir="5400000">
              <a:srgbClr val="000000">
                <a:alpha val="12000"/>
              </a:srgbClr>
            </a:outerShdw>
          </a:effectLst>
        </p:spPr>
      </p:sp>
      <p:sp>
        <p:nvSpPr>
          <p:cNvPr id="32" name="Text 30"/>
          <p:cNvSpPr txBox="1"/>
          <p:nvPr/>
        </p:nvSpPr>
        <p:spPr>
          <a:xfrm>
            <a:off x="9326880" y="2331720"/>
            <a:ext cx="210312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Kurallar</a:t>
            </a:r>
            <a:endParaRPr lang="tr-TR" sz="1500" dirty="0"/>
          </a:p>
        </p:txBody>
      </p:sp>
      <p:sp>
        <p:nvSpPr>
          <p:cNvPr id="33" name="Text 31"/>
          <p:cNvSpPr txBox="1"/>
          <p:nvPr/>
        </p:nvSpPr>
        <p:spPr>
          <a:xfrm>
            <a:off x="9326880" y="2788920"/>
            <a:ext cx="2103120" cy="333756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Geçerli: 0 ≤ mantıksal &lt; sınır.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Fiziksel = taban + mantıksal.</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Bu yazmaçları yalnızca çekirdek yükleyebilir.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Linux'ta tuzak "Segmentation fault" olarak görünür.</a:t>
            </a:r>
            <a:endParaRPr lang="tr-TR"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ÇÖZÜMLÜ ÖRNEK</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Onluk ve Onaltılık Tabanda Taban ve Sınır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6  ·  10</a:t>
            </a:r>
            <a:endParaRPr lang="tr-TR"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1737360"/>
                <a:gridCol w="1554480"/>
                <a:gridCol w="2103120"/>
                <a:gridCol w="2880360"/>
                <a:gridCol w="2834640"/>
              </a:tblGrid>
              <a:tr h="0">
                <a:tc>
                  <a:txBody>
                    <a:bodyPr/>
                    <a:lstStyle/>
                    <a:p>
                      <a:pPr indent="0" marL="0">
                        <a:buNone/>
                      </a:pPr>
                      <a:r>
                        <a:rPr lang="tr-TR" sz="1550" b="1" dirty="0">
                          <a:solidFill>
                            <a:srgbClr val="FFFFFF"/>
                          </a:solidFill>
                          <a:latin typeface="Cambria" pitchFamily="34" charset="0"/>
                          <a:ea typeface="Cambria" pitchFamily="34" charset="-122"/>
                          <a:cs typeface="Cambria" pitchFamily="34" charset="-120"/>
                        </a:rPr>
                        <a:t>Taban</a:t>
                      </a:r>
                      <a:endParaRPr lang="tr-TR" sz="15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550" b="1" dirty="0">
                          <a:solidFill>
                            <a:srgbClr val="FFFFFF"/>
                          </a:solidFill>
                          <a:latin typeface="Cambria" pitchFamily="34" charset="0"/>
                          <a:ea typeface="Cambria" pitchFamily="34" charset="-122"/>
                          <a:cs typeface="Cambria" pitchFamily="34" charset="-120"/>
                        </a:rPr>
                        <a:t>Sınır</a:t>
                      </a:r>
                      <a:endParaRPr lang="tr-TR" sz="15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550" b="1" dirty="0">
                          <a:solidFill>
                            <a:srgbClr val="FFFFFF"/>
                          </a:solidFill>
                          <a:latin typeface="Cambria" pitchFamily="34" charset="0"/>
                          <a:ea typeface="Cambria" pitchFamily="34" charset="-122"/>
                          <a:cs typeface="Cambria" pitchFamily="34" charset="-120"/>
                        </a:rPr>
                        <a:t>Mantıksal adres</a:t>
                      </a:r>
                      <a:endParaRPr lang="tr-TR" sz="15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550" b="1" dirty="0">
                          <a:solidFill>
                            <a:srgbClr val="FFFFFF"/>
                          </a:solidFill>
                          <a:latin typeface="Cambria" pitchFamily="34" charset="0"/>
                          <a:ea typeface="Cambria" pitchFamily="34" charset="-122"/>
                          <a:cs typeface="Cambria" pitchFamily="34" charset="-120"/>
                        </a:rPr>
                        <a:t>Denetim: mantıksal &lt; sınır?</a:t>
                      </a:r>
                      <a:endParaRPr lang="tr-TR" sz="15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550" b="1" dirty="0">
                          <a:solidFill>
                            <a:srgbClr val="FFFFFF"/>
                          </a:solidFill>
                          <a:latin typeface="Cambria" pitchFamily="34" charset="0"/>
                          <a:ea typeface="Cambria" pitchFamily="34" charset="-122"/>
                          <a:cs typeface="Cambria" pitchFamily="34" charset="-120"/>
                        </a:rPr>
                        <a:t>Sonuç</a:t>
                      </a:r>
                      <a:endParaRPr lang="tr-TR" sz="15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14000</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3000</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346</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346 &lt; 3000  ✓</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fiziksel 14346</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14000</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3000</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2999</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2999 &lt; 3000  ✓</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fiziksel 16999 (son geçerli bayt)</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14000</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3000</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3500</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3500 &lt; 3000  ✗</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TUZAK: adresleme hatası</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0x4000</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0x1000</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0x02A4</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0x02A4 &lt; 0x1000  ✓</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fiziksel 0x42A4  (= 17060)</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0x4000</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0x1000</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0x1200</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0x1200 &lt; 0x1000  ✗</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TUZAK: adresleme hatası</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Süreç tam olarak [taban, taban + sınır) fiziksel aralığına sahiptir: onluk tabanda 14000 … 16999, onaltılıkta 0x4000 … 0x4FFF (0x4000 = 16384, 0x1000 = 4096).</a:t>
            </a:r>
            <a:endParaRPr lang="tr-TR" sz="1400" dirty="0"/>
          </a:p>
        </p:txBody>
      </p:sp>
      <p:sp>
        <p:nvSpPr>
          <p:cNvPr id="9" name="Text 6"/>
          <p:cNvSpPr txBox="1"/>
          <p:nvPr/>
        </p:nvSpPr>
        <p:spPr>
          <a:xfrm>
            <a:off x="548640" y="3858768"/>
            <a:ext cx="8229600" cy="274320"/>
          </a:xfrm>
          <a:prstGeom prst="rect">
            <a:avLst/>
          </a:prstGeom>
          <a:noFill/>
          <a:ln/>
        </p:spPr>
        <p:txBody>
          <a:bodyPr wrap="square" lIns="0" tIns="0" rIns="0" bIns="0" rtlCol="0" anchor="t"/>
          <a:lstStyle/>
          <a:p>
            <a:pPr indent="0" marL="0">
              <a:buNone/>
            </a:pPr>
            <a:r>
              <a:rPr lang="tr-TR" sz="1200" i="1" dirty="0">
                <a:solidFill>
                  <a:srgbClr val="6B7679"/>
                </a:solidFill>
                <a:latin typeface="Calibri" pitchFamily="34" charset="0"/>
                <a:ea typeface="Calibri" pitchFamily="34" charset="-122"/>
                <a:cs typeface="Calibri" pitchFamily="34" charset="-120"/>
              </a:rPr>
              <a:t>fiziksel bellek (onluk satır): süreç yalnızca nane yeşili aralığa dokunabilir</a:t>
            </a:r>
            <a:endParaRPr lang="tr-TR" sz="1200" dirty="0"/>
          </a:p>
        </p:txBody>
      </p:sp>
      <p:sp>
        <p:nvSpPr>
          <p:cNvPr id="10" name="Shape 7"/>
          <p:cNvSpPr/>
          <p:nvPr/>
        </p:nvSpPr>
        <p:spPr>
          <a:xfrm>
            <a:off x="548640" y="4206240"/>
            <a:ext cx="7776972" cy="640080"/>
          </a:xfrm>
          <a:prstGeom prst="rect">
            <a:avLst/>
          </a:prstGeom>
          <a:solidFill>
            <a:srgbClr val="C9D3D6"/>
          </a:solidFill>
          <a:ln w="12700">
            <a:solidFill>
              <a:srgbClr val="FFFFFF"/>
            </a:solidFill>
            <a:prstDash val="solid"/>
          </a:ln>
        </p:spPr>
      </p:sp>
      <p:sp>
        <p:nvSpPr>
          <p:cNvPr id="11" name="Text 8"/>
          <p:cNvSpPr txBox="1"/>
          <p:nvPr/>
        </p:nvSpPr>
        <p:spPr>
          <a:xfrm>
            <a:off x="548640" y="4206240"/>
            <a:ext cx="7776972" cy="640080"/>
          </a:xfrm>
          <a:prstGeom prst="rect">
            <a:avLst/>
          </a:prstGeom>
          <a:noFill/>
          <a:ln/>
        </p:spPr>
        <p:txBody>
          <a:bodyPr wrap="square" lIns="0" tIns="0" rIns="0" bIns="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diğer süreçler / işletim sistemi</a:t>
            </a:r>
            <a:endParaRPr lang="tr-TR" sz="1300" dirty="0"/>
          </a:p>
        </p:txBody>
      </p:sp>
      <p:sp>
        <p:nvSpPr>
          <p:cNvPr id="12" name="Shape 9"/>
          <p:cNvSpPr/>
          <p:nvPr/>
        </p:nvSpPr>
        <p:spPr>
          <a:xfrm>
            <a:off x="8325612" y="4206240"/>
            <a:ext cx="1666494" cy="640080"/>
          </a:xfrm>
          <a:prstGeom prst="rect">
            <a:avLst/>
          </a:prstGeom>
          <a:solidFill>
            <a:srgbClr val="02C39A"/>
          </a:solidFill>
          <a:ln w="12700">
            <a:solidFill>
              <a:srgbClr val="FFFFFF"/>
            </a:solidFill>
            <a:prstDash val="solid"/>
          </a:ln>
        </p:spPr>
      </p:sp>
      <p:sp>
        <p:nvSpPr>
          <p:cNvPr id="13" name="Text 10"/>
          <p:cNvSpPr txBox="1"/>
          <p:nvPr/>
        </p:nvSpPr>
        <p:spPr>
          <a:xfrm>
            <a:off x="8325612" y="4206240"/>
            <a:ext cx="1666494" cy="640080"/>
          </a:xfrm>
          <a:prstGeom prst="rect">
            <a:avLst/>
          </a:prstGeom>
          <a:noFill/>
          <a:ln/>
        </p:spPr>
        <p:txBody>
          <a:bodyPr wrap="square" lIns="0" tIns="0" rIns="0" bIns="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14000 … 16999</a:t>
            </a:r>
            <a:endParaRPr lang="tr-TR" sz="1300" dirty="0"/>
          </a:p>
        </p:txBody>
      </p:sp>
      <p:sp>
        <p:nvSpPr>
          <p:cNvPr id="14" name="Shape 11"/>
          <p:cNvSpPr/>
          <p:nvPr/>
        </p:nvSpPr>
        <p:spPr>
          <a:xfrm>
            <a:off x="9992106" y="4206240"/>
            <a:ext cx="1666494" cy="640080"/>
          </a:xfrm>
          <a:prstGeom prst="rect">
            <a:avLst/>
          </a:prstGeom>
          <a:solidFill>
            <a:srgbClr val="F3DAD7"/>
          </a:solidFill>
          <a:ln w="12700">
            <a:solidFill>
              <a:srgbClr val="FFFFFF"/>
            </a:solidFill>
            <a:prstDash val="solid"/>
          </a:ln>
        </p:spPr>
      </p:sp>
      <p:sp>
        <p:nvSpPr>
          <p:cNvPr id="15" name="Text 12"/>
          <p:cNvSpPr txBox="1"/>
          <p:nvPr/>
        </p:nvSpPr>
        <p:spPr>
          <a:xfrm>
            <a:off x="9992106" y="4206240"/>
            <a:ext cx="1666494" cy="640080"/>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TUZAK</a:t>
            </a:r>
            <a:endParaRPr lang="tr-TR" sz="1300" dirty="0"/>
          </a:p>
        </p:txBody>
      </p:sp>
      <p:sp>
        <p:nvSpPr>
          <p:cNvPr id="16" name="Text 13"/>
          <p:cNvSpPr txBox="1"/>
          <p:nvPr/>
        </p:nvSpPr>
        <p:spPr>
          <a:xfrm>
            <a:off x="7228332" y="4882896"/>
            <a:ext cx="2194560" cy="274320"/>
          </a:xfrm>
          <a:prstGeom prst="rect">
            <a:avLst/>
          </a:prstGeom>
          <a:noFill/>
          <a:ln/>
        </p:spPr>
        <p:txBody>
          <a:bodyPr wrap="square" lIns="0" tIns="0" rIns="0" bIns="0" rtlCol="0" anchor="t"/>
          <a:lstStyle/>
          <a:p>
            <a:pPr algn="ctr" indent="0" marL="0">
              <a:buNone/>
            </a:pPr>
            <a:r>
              <a:rPr lang="tr-TR" sz="1100" dirty="0">
                <a:solidFill>
                  <a:srgbClr val="50808E"/>
                </a:solidFill>
                <a:latin typeface="Calibri" pitchFamily="34" charset="0"/>
                <a:ea typeface="Calibri" pitchFamily="34" charset="-122"/>
                <a:cs typeface="Calibri" pitchFamily="34" charset="-120"/>
              </a:rPr>
              <a:t>taban = 14000</a:t>
            </a:r>
            <a:endParaRPr lang="tr-TR" sz="1100" dirty="0"/>
          </a:p>
        </p:txBody>
      </p:sp>
      <p:sp>
        <p:nvSpPr>
          <p:cNvPr id="17" name="Text 14"/>
          <p:cNvSpPr txBox="1"/>
          <p:nvPr/>
        </p:nvSpPr>
        <p:spPr>
          <a:xfrm>
            <a:off x="8894826" y="4882896"/>
            <a:ext cx="2194560" cy="274320"/>
          </a:xfrm>
          <a:prstGeom prst="rect">
            <a:avLst/>
          </a:prstGeom>
          <a:noFill/>
          <a:ln/>
        </p:spPr>
        <p:txBody>
          <a:bodyPr wrap="square" lIns="0" tIns="0" rIns="0" bIns="0" rtlCol="0" anchor="t"/>
          <a:lstStyle/>
          <a:p>
            <a:pPr algn="ctr" indent="0" marL="0">
              <a:buNone/>
            </a:pPr>
            <a:r>
              <a:rPr lang="tr-TR" sz="1100" dirty="0">
                <a:solidFill>
                  <a:srgbClr val="50808E"/>
                </a:solidFill>
                <a:latin typeface="Calibri" pitchFamily="34" charset="0"/>
                <a:ea typeface="Calibri" pitchFamily="34" charset="-122"/>
                <a:cs typeface="Calibri" pitchFamily="34" charset="-120"/>
              </a:rPr>
              <a:t>taban + sınır = 17000</a:t>
            </a:r>
            <a:endParaRPr lang="tr-TR"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TAKAS</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Takas (Swapping): Bütün Süreci Diske Taşımak</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RAM dolarsa işletim sistemi bir süreci yardımcı belleğe (backing store, disk) kopyalayıp daha sonra geri getirebilir.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6  ·  11</a:t>
            </a:r>
            <a:endParaRPr lang="tr-TR" sz="900" dirty="0"/>
          </a:p>
        </p:txBody>
      </p:sp>
      <p:sp>
        <p:nvSpPr>
          <p:cNvPr id="7" name="Shape 5"/>
          <p:cNvSpPr/>
          <p:nvPr/>
        </p:nvSpPr>
        <p:spPr>
          <a:xfrm>
            <a:off x="548640" y="2240280"/>
            <a:ext cx="2377440" cy="3977640"/>
          </a:xfrm>
          <a:prstGeom prst="roundRect">
            <a:avLst>
              <a:gd name="adj" fmla="val 1923"/>
            </a:avLst>
          </a:prstGeom>
          <a:solidFill>
            <a:srgbClr val="F2F2F2"/>
          </a:solidFill>
          <a:ln/>
        </p:spPr>
      </p:sp>
      <p:sp>
        <p:nvSpPr>
          <p:cNvPr id="8" name="Text 6"/>
          <p:cNvSpPr txBox="1"/>
          <p:nvPr/>
        </p:nvSpPr>
        <p:spPr>
          <a:xfrm>
            <a:off x="548640" y="2313432"/>
            <a:ext cx="2377440" cy="274320"/>
          </a:xfrm>
          <a:prstGeom prst="rect">
            <a:avLst/>
          </a:prstGeom>
          <a:noFill/>
          <a:ln/>
        </p:spPr>
        <p:txBody>
          <a:bodyPr wrap="square" lIns="0" tIns="0" rIns="0" bIns="0" rtlCol="0" anchor="t"/>
          <a:lstStyle/>
          <a:p>
            <a:pPr algn="ctr" indent="0" marL="0">
              <a:buNone/>
            </a:pPr>
            <a:r>
              <a:rPr lang="tr-TR" sz="1200" b="1" dirty="0">
                <a:solidFill>
                  <a:srgbClr val="36454F"/>
                </a:solidFill>
                <a:latin typeface="Calibri" pitchFamily="34" charset="0"/>
                <a:ea typeface="Calibri" pitchFamily="34" charset="-122"/>
                <a:cs typeface="Calibri" pitchFamily="34" charset="-120"/>
              </a:rPr>
              <a:t>ana bellek</a:t>
            </a:r>
            <a:endParaRPr lang="tr-TR" sz="1200" dirty="0"/>
          </a:p>
        </p:txBody>
      </p:sp>
      <p:sp>
        <p:nvSpPr>
          <p:cNvPr id="9" name="Shape 7"/>
          <p:cNvSpPr/>
          <p:nvPr/>
        </p:nvSpPr>
        <p:spPr>
          <a:xfrm>
            <a:off x="731520" y="2651760"/>
            <a:ext cx="2011680" cy="731520"/>
          </a:xfrm>
          <a:prstGeom prst="roundRect">
            <a:avLst>
              <a:gd name="adj" fmla="val 6250"/>
            </a:avLst>
          </a:prstGeom>
          <a:solidFill>
            <a:srgbClr val="36454F"/>
          </a:solidFill>
          <a:ln/>
        </p:spPr>
      </p:sp>
      <p:sp>
        <p:nvSpPr>
          <p:cNvPr id="10" name="Text 8"/>
          <p:cNvSpPr txBox="1"/>
          <p:nvPr/>
        </p:nvSpPr>
        <p:spPr>
          <a:xfrm>
            <a:off x="731520" y="2651760"/>
            <a:ext cx="2011680" cy="731520"/>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İS</a:t>
            </a:r>
            <a:endParaRPr lang="tr-TR" sz="1400" dirty="0"/>
          </a:p>
        </p:txBody>
      </p:sp>
      <p:sp>
        <p:nvSpPr>
          <p:cNvPr id="11" name="Shape 9"/>
          <p:cNvSpPr/>
          <p:nvPr/>
        </p:nvSpPr>
        <p:spPr>
          <a:xfrm>
            <a:off x="731520" y="3566160"/>
            <a:ext cx="2011680" cy="914400"/>
          </a:xfrm>
          <a:prstGeom prst="roundRect">
            <a:avLst>
              <a:gd name="adj" fmla="val 5000"/>
            </a:avLst>
          </a:prstGeom>
          <a:solidFill>
            <a:srgbClr val="02C39A"/>
          </a:solidFill>
          <a:ln/>
        </p:spPr>
      </p:sp>
      <p:sp>
        <p:nvSpPr>
          <p:cNvPr id="12" name="Text 10"/>
          <p:cNvSpPr txBox="1"/>
          <p:nvPr/>
        </p:nvSpPr>
        <p:spPr>
          <a:xfrm>
            <a:off x="731520" y="3566160"/>
            <a:ext cx="2011680" cy="914400"/>
          </a:xfrm>
          <a:prstGeom prst="rect">
            <a:avLst/>
          </a:prstGeom>
          <a:noFill/>
          <a:ln/>
        </p:spPr>
        <p:txBody>
          <a:bodyPr wrap="square" lIns="38100" tIns="38100" rIns="38100" bIns="38100" rtlCol="0" anchor="ctr"/>
          <a:lstStyle/>
          <a:p>
            <a:pPr algn="ctr" indent="0" marL="0">
              <a:buNone/>
            </a:pPr>
            <a:r>
              <a:rPr lang="tr-TR" sz="1500" b="1" dirty="0">
                <a:solidFill>
                  <a:srgbClr val="212121"/>
                </a:solidFill>
                <a:latin typeface="Calibri" pitchFamily="34" charset="0"/>
                <a:ea typeface="Calibri" pitchFamily="34" charset="-122"/>
                <a:cs typeface="Calibri" pitchFamily="34" charset="-120"/>
              </a:rPr>
              <a:t>P1</a:t>
            </a:r>
            <a:endParaRPr lang="tr-TR" sz="1500" dirty="0"/>
          </a:p>
        </p:txBody>
      </p:sp>
      <p:sp>
        <p:nvSpPr>
          <p:cNvPr id="13" name="Shape 11"/>
          <p:cNvSpPr/>
          <p:nvPr/>
        </p:nvSpPr>
        <p:spPr>
          <a:xfrm>
            <a:off x="731520" y="4663440"/>
            <a:ext cx="2011680" cy="1280160"/>
          </a:xfrm>
          <a:prstGeom prst="roundRect">
            <a:avLst>
              <a:gd name="adj" fmla="val 3571"/>
            </a:avLst>
          </a:prstGeom>
          <a:solidFill>
            <a:srgbClr val="FFFFFF"/>
          </a:solidFill>
          <a:ln/>
        </p:spPr>
      </p:sp>
      <p:sp>
        <p:nvSpPr>
          <p:cNvPr id="14" name="Text 12"/>
          <p:cNvSpPr txBox="1"/>
          <p:nvPr/>
        </p:nvSpPr>
        <p:spPr>
          <a:xfrm>
            <a:off x="731520" y="4663440"/>
            <a:ext cx="2011680" cy="1280160"/>
          </a:xfrm>
          <a:prstGeom prst="rect">
            <a:avLst/>
          </a:prstGeom>
          <a:noFill/>
          <a:ln/>
        </p:spPr>
        <p:txBody>
          <a:bodyPr wrap="square" lIns="38100" tIns="38100" rIns="38100" bIns="38100" rtlCol="0" anchor="ctr"/>
          <a:lstStyle/>
          <a:p>
            <a:pPr algn="ctr" indent="0" marL="0">
              <a:buNone/>
            </a:pPr>
            <a:r>
              <a:rPr lang="tr-TR" sz="1200" dirty="0">
                <a:solidFill>
                  <a:srgbClr val="50808E"/>
                </a:solidFill>
                <a:latin typeface="Calibri" pitchFamily="34" charset="0"/>
                <a:ea typeface="Calibri" pitchFamily="34" charset="-122"/>
                <a:cs typeface="Calibri" pitchFamily="34" charset="-120"/>
              </a:rPr>
              <a:t>kullanıcı alanı</a:t>
            </a:r>
            <a:endParaRPr lang="tr-TR" sz="1200" dirty="0"/>
          </a:p>
        </p:txBody>
      </p:sp>
      <p:sp>
        <p:nvSpPr>
          <p:cNvPr id="15" name="Shape 13"/>
          <p:cNvSpPr/>
          <p:nvPr/>
        </p:nvSpPr>
        <p:spPr>
          <a:xfrm>
            <a:off x="4526280" y="3017520"/>
            <a:ext cx="2011680" cy="2651760"/>
          </a:xfrm>
          <a:prstGeom prst="can">
            <a:avLst/>
          </a:prstGeom>
          <a:solidFill>
            <a:srgbClr val="36454F"/>
          </a:solidFill>
          <a:ln/>
        </p:spPr>
      </p:sp>
      <p:sp>
        <p:nvSpPr>
          <p:cNvPr id="16" name="Text 14"/>
          <p:cNvSpPr txBox="1"/>
          <p:nvPr/>
        </p:nvSpPr>
        <p:spPr>
          <a:xfrm>
            <a:off x="4526280" y="3154680"/>
            <a:ext cx="2011680" cy="640080"/>
          </a:xfrm>
          <a:prstGeom prst="rect">
            <a:avLst/>
          </a:prstGeom>
          <a:noFill/>
          <a:ln/>
        </p:spPr>
        <p:txBody>
          <a:bodyPr wrap="square" lIns="0" tIns="0" rIns="0" bIns="0" rtlCol="0" anchor="t"/>
          <a:lstStyle/>
          <a:p>
            <a:pPr algn="ctr" indent="0" marL="0">
              <a:buNone/>
            </a:pPr>
            <a:r>
              <a:rPr lang="tr-TR" sz="1200" b="1" dirty="0">
                <a:solidFill>
                  <a:srgbClr val="FFFFFF"/>
                </a:solidFill>
                <a:latin typeface="Calibri" pitchFamily="34" charset="0"/>
                <a:ea typeface="Calibri" pitchFamily="34" charset="-122"/>
                <a:cs typeface="Calibri" pitchFamily="34" charset="-120"/>
              </a:rPr>
              <a:t>yardımcı bellek</a:t>
            </a:r>
            <a:endParaRPr lang="tr-TR" sz="1200" dirty="0"/>
          </a:p>
          <a:p>
            <a:pPr algn="ctr" indent="0" marL="0">
              <a:buNone/>
            </a:pPr>
            <a:r>
              <a:rPr lang="tr-TR" sz="1200" b="1" dirty="0">
                <a:solidFill>
                  <a:srgbClr val="FFFFFF"/>
                </a:solidFill>
                <a:latin typeface="Calibri" pitchFamily="34" charset="0"/>
                <a:ea typeface="Calibri" pitchFamily="34" charset="-122"/>
                <a:cs typeface="Calibri" pitchFamily="34" charset="-120"/>
              </a:rPr>
              <a:t>(disk)</a:t>
            </a:r>
            <a:endParaRPr lang="tr-TR" sz="1200" dirty="0"/>
          </a:p>
        </p:txBody>
      </p:sp>
      <p:sp>
        <p:nvSpPr>
          <p:cNvPr id="17" name="Shape 15"/>
          <p:cNvSpPr/>
          <p:nvPr/>
        </p:nvSpPr>
        <p:spPr>
          <a:xfrm>
            <a:off x="4754880" y="3931920"/>
            <a:ext cx="1554480" cy="548640"/>
          </a:xfrm>
          <a:prstGeom prst="roundRect">
            <a:avLst>
              <a:gd name="adj" fmla="val 8333"/>
            </a:avLst>
          </a:prstGeom>
          <a:solidFill>
            <a:srgbClr val="D7E9E6"/>
          </a:solidFill>
          <a:ln/>
        </p:spPr>
      </p:sp>
      <p:sp>
        <p:nvSpPr>
          <p:cNvPr id="18" name="Text 16"/>
          <p:cNvSpPr txBox="1"/>
          <p:nvPr/>
        </p:nvSpPr>
        <p:spPr>
          <a:xfrm>
            <a:off x="4754880" y="3931920"/>
            <a:ext cx="1554480" cy="54864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P2</a:t>
            </a:r>
            <a:endParaRPr lang="tr-TR" sz="1400" dirty="0"/>
          </a:p>
        </p:txBody>
      </p:sp>
      <p:sp>
        <p:nvSpPr>
          <p:cNvPr id="19" name="Shape 17"/>
          <p:cNvSpPr/>
          <p:nvPr/>
        </p:nvSpPr>
        <p:spPr>
          <a:xfrm>
            <a:off x="2971800" y="3794760"/>
            <a:ext cx="1737360" cy="182880"/>
          </a:xfrm>
          <a:prstGeom prst="line">
            <a:avLst/>
          </a:prstGeom>
          <a:noFill/>
          <a:ln w="25400">
            <a:solidFill>
              <a:srgbClr val="028090"/>
            </a:solidFill>
            <a:prstDash val="solid"/>
            <a:tailEnd type="triangle"/>
          </a:ln>
        </p:spPr>
      </p:sp>
      <p:sp>
        <p:nvSpPr>
          <p:cNvPr id="20" name="Text 18"/>
          <p:cNvSpPr txBox="1"/>
          <p:nvPr/>
        </p:nvSpPr>
        <p:spPr>
          <a:xfrm>
            <a:off x="3063240" y="3337560"/>
            <a:ext cx="1554480" cy="274320"/>
          </a:xfrm>
          <a:prstGeom prst="rect">
            <a:avLst/>
          </a:prstGeom>
          <a:noFill/>
          <a:ln/>
        </p:spPr>
        <p:txBody>
          <a:bodyPr wrap="square" lIns="0" tIns="0" rIns="0" bIns="0" rtlCol="0" anchor="t"/>
          <a:lstStyle/>
          <a:p>
            <a:pPr indent="0" marL="0">
              <a:buNone/>
            </a:pPr>
            <a:r>
              <a:rPr lang="tr-TR" sz="1200" b="1" dirty="0">
                <a:solidFill>
                  <a:srgbClr val="028090"/>
                </a:solidFill>
                <a:latin typeface="Calibri" pitchFamily="34" charset="0"/>
                <a:ea typeface="Calibri" pitchFamily="34" charset="-122"/>
                <a:cs typeface="Calibri" pitchFamily="34" charset="-120"/>
              </a:rPr>
              <a:t>① P1 dışarı</a:t>
            </a:r>
            <a:endParaRPr lang="tr-TR" sz="1200" dirty="0"/>
          </a:p>
        </p:txBody>
      </p:sp>
      <p:sp>
        <p:nvSpPr>
          <p:cNvPr id="21" name="Shape 19"/>
          <p:cNvSpPr/>
          <p:nvPr/>
        </p:nvSpPr>
        <p:spPr>
          <a:xfrm flipH="1">
            <a:off x="2971800" y="4389120"/>
            <a:ext cx="1737360" cy="777240"/>
          </a:xfrm>
          <a:prstGeom prst="line">
            <a:avLst/>
          </a:prstGeom>
          <a:noFill/>
          <a:ln w="25400">
            <a:solidFill>
              <a:srgbClr val="028090"/>
            </a:solidFill>
            <a:prstDash val="solid"/>
            <a:tailEnd type="triangle"/>
          </a:ln>
        </p:spPr>
      </p:sp>
      <p:sp>
        <p:nvSpPr>
          <p:cNvPr id="22" name="Text 20"/>
          <p:cNvSpPr txBox="1"/>
          <p:nvPr/>
        </p:nvSpPr>
        <p:spPr>
          <a:xfrm>
            <a:off x="3063240" y="5120640"/>
            <a:ext cx="1554480" cy="274320"/>
          </a:xfrm>
          <a:prstGeom prst="rect">
            <a:avLst/>
          </a:prstGeom>
          <a:noFill/>
          <a:ln/>
        </p:spPr>
        <p:txBody>
          <a:bodyPr wrap="square" lIns="0" tIns="0" rIns="0" bIns="0" rtlCol="0" anchor="t"/>
          <a:lstStyle/>
          <a:p>
            <a:pPr indent="0" marL="0">
              <a:buNone/>
            </a:pPr>
            <a:r>
              <a:rPr lang="tr-TR" sz="1200" b="1" dirty="0">
                <a:solidFill>
                  <a:srgbClr val="028090"/>
                </a:solidFill>
                <a:latin typeface="Calibri" pitchFamily="34" charset="0"/>
                <a:ea typeface="Calibri" pitchFamily="34" charset="-122"/>
                <a:cs typeface="Calibri" pitchFamily="34" charset="-120"/>
              </a:rPr>
              <a:t>② P2 içeri</a:t>
            </a:r>
            <a:endParaRPr lang="tr-TR" sz="1200" dirty="0"/>
          </a:p>
        </p:txBody>
      </p:sp>
      <p:sp>
        <p:nvSpPr>
          <p:cNvPr id="23" name="Shape 21"/>
          <p:cNvSpPr/>
          <p:nvPr/>
        </p:nvSpPr>
        <p:spPr>
          <a:xfrm>
            <a:off x="6812280" y="2240280"/>
            <a:ext cx="4846320" cy="2011680"/>
          </a:xfrm>
          <a:prstGeom prst="roundRect">
            <a:avLst>
              <a:gd name="adj" fmla="val 2273"/>
            </a:avLst>
          </a:prstGeom>
          <a:solidFill>
            <a:srgbClr val="212121"/>
          </a:solidFill>
          <a:ln/>
        </p:spPr>
      </p:sp>
      <p:sp>
        <p:nvSpPr>
          <p:cNvPr id="24" name="Text 22"/>
          <p:cNvSpPr txBox="1"/>
          <p:nvPr/>
        </p:nvSpPr>
        <p:spPr>
          <a:xfrm>
            <a:off x="6995160" y="2350008"/>
            <a:ext cx="4480560" cy="1792224"/>
          </a:xfrm>
          <a:prstGeom prst="rect">
            <a:avLst/>
          </a:prstGeom>
          <a:noFill/>
          <a:ln/>
        </p:spPr>
        <p:txBody>
          <a:bodyPr wrap="square" lIns="0" tIns="0" rIns="0" bIns="0" rtlCol="0" anchor="t"/>
          <a:lstStyle/>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Süreç boyu        100 MB</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Disk aktarımı      50 MB/s</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 </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dışarı: 100 / 50 = 2 s</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içeri : 100 / 50 = 2 s</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toplam ≈ 4 s   (+ disk gecikmesi)</a:t>
            </a:r>
            <a:endParaRPr lang="tr-TR" sz="1350" dirty="0"/>
          </a:p>
        </p:txBody>
      </p:sp>
      <p:sp>
        <p:nvSpPr>
          <p:cNvPr id="25" name="Shape 23"/>
          <p:cNvSpPr/>
          <p:nvPr/>
        </p:nvSpPr>
        <p:spPr>
          <a:xfrm>
            <a:off x="6812280" y="4434840"/>
            <a:ext cx="4846320" cy="1783080"/>
          </a:xfrm>
          <a:prstGeom prst="roundRect">
            <a:avLst>
              <a:gd name="adj" fmla="val 3077"/>
            </a:avLst>
          </a:prstGeom>
          <a:solidFill>
            <a:srgbClr val="36454F"/>
          </a:solidFill>
          <a:ln/>
          <a:effectLst>
            <a:outerShdw sx="100000" sy="100000" kx="0" ky="0" algn="bl" rotWithShape="0" blurRad="101600" dist="25400" dir="5400000">
              <a:srgbClr val="000000">
                <a:alpha val="12000"/>
              </a:srgbClr>
            </a:outerShdw>
          </a:effectLst>
        </p:spPr>
      </p:sp>
      <p:sp>
        <p:nvSpPr>
          <p:cNvPr id="26" name="Text 24"/>
          <p:cNvSpPr txBox="1"/>
          <p:nvPr/>
        </p:nvSpPr>
        <p:spPr>
          <a:xfrm>
            <a:off x="7040880" y="4434840"/>
            <a:ext cx="4389120" cy="1783080"/>
          </a:xfrm>
          <a:prstGeom prst="rect">
            <a:avLst/>
          </a:prstGeom>
          <a:noFill/>
          <a:ln/>
        </p:spPr>
        <p:txBody>
          <a:bodyPr wrap="square" lIns="0" tIns="0" rIns="0" bIns="0" rtlCol="0" anchor="ctr"/>
          <a:lstStyle/>
          <a:p>
            <a:pPr indent="0" marL="0">
              <a:buNone/>
            </a:pPr>
            <a:r>
              <a:rPr lang="tr-TR" sz="1350" dirty="0">
                <a:solidFill>
                  <a:srgbClr val="F2F2F2"/>
                </a:solidFill>
                <a:latin typeface="Calibri" pitchFamily="34" charset="0"/>
                <a:ea typeface="Calibri" pitchFamily="34" charset="-122"/>
                <a:cs typeface="Calibri" pitchFamily="34" charset="-120"/>
              </a:rPr>
              <a:t>4 s, 10 ms'lik 400 Round Robin dilimi demektir! Bu yüzden modern sistemler bütün süreçleri değil, tek tek sayfaları takas eder (50 MB/s'de 4 KB ≈ 80 µs), bkz. 7. hafta.</a:t>
            </a:r>
            <a:endParaRPr lang="tr-TR"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BİTİŞİK TAHSİS</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Değişken Bölümler ve Delik Listesi</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Her süreç tam ihtiyacı kadar, bitişik tek bir blok alır. Süreçler arasındaki boş bloklara delik (hole) denir.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6  ·  12</a:t>
            </a:r>
            <a:endParaRPr lang="tr-TR" sz="900" dirty="0"/>
          </a:p>
        </p:txBody>
      </p:sp>
      <p:sp>
        <p:nvSpPr>
          <p:cNvPr id="7" name="Shape 5"/>
          <p:cNvSpPr/>
          <p:nvPr/>
        </p:nvSpPr>
        <p:spPr>
          <a:xfrm>
            <a:off x="548640" y="2331720"/>
            <a:ext cx="1190353" cy="868680"/>
          </a:xfrm>
          <a:prstGeom prst="rect">
            <a:avLst/>
          </a:prstGeom>
          <a:solidFill>
            <a:srgbClr val="36454F"/>
          </a:solidFill>
          <a:ln w="9525">
            <a:solidFill>
              <a:srgbClr val="FFFFFF"/>
            </a:solidFill>
            <a:prstDash val="solid"/>
          </a:ln>
        </p:spPr>
      </p:sp>
      <p:sp>
        <p:nvSpPr>
          <p:cNvPr id="8" name="Text 6"/>
          <p:cNvSpPr txBox="1"/>
          <p:nvPr/>
        </p:nvSpPr>
        <p:spPr>
          <a:xfrm>
            <a:off x="548640" y="2331720"/>
            <a:ext cx="1190353" cy="868680"/>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İS</a:t>
            </a:r>
            <a:endParaRPr lang="tr-TR" sz="1200" dirty="0"/>
          </a:p>
        </p:txBody>
      </p:sp>
      <p:sp>
        <p:nvSpPr>
          <p:cNvPr id="9" name="Shape 7"/>
          <p:cNvSpPr/>
          <p:nvPr/>
        </p:nvSpPr>
        <p:spPr>
          <a:xfrm>
            <a:off x="2334169" y="2331720"/>
            <a:ext cx="595176" cy="868680"/>
          </a:xfrm>
          <a:prstGeom prst="rect">
            <a:avLst/>
          </a:prstGeom>
          <a:solidFill>
            <a:srgbClr val="C9D3D6"/>
          </a:solidFill>
          <a:ln w="9525">
            <a:solidFill>
              <a:srgbClr val="FFFFFF"/>
            </a:solidFill>
            <a:prstDash val="solid"/>
          </a:ln>
        </p:spPr>
      </p:sp>
      <p:sp>
        <p:nvSpPr>
          <p:cNvPr id="10" name="Text 8"/>
          <p:cNvSpPr txBox="1"/>
          <p:nvPr/>
        </p:nvSpPr>
        <p:spPr>
          <a:xfrm>
            <a:off x="2334169" y="2331720"/>
            <a:ext cx="595176" cy="868680"/>
          </a:xfrm>
          <a:prstGeom prst="rect">
            <a:avLst/>
          </a:prstGeom>
          <a:noFill/>
          <a:ln/>
        </p:spPr>
        <p:txBody>
          <a:bodyPr wrap="square" lIns="0" tIns="0" rIns="0" bIns="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P1</a:t>
            </a:r>
            <a:endParaRPr lang="tr-TR" sz="1200" dirty="0"/>
          </a:p>
        </p:txBody>
      </p:sp>
      <p:sp>
        <p:nvSpPr>
          <p:cNvPr id="11" name="Shape 9"/>
          <p:cNvSpPr/>
          <p:nvPr/>
        </p:nvSpPr>
        <p:spPr>
          <a:xfrm>
            <a:off x="4714875" y="2331720"/>
            <a:ext cx="595176" cy="868680"/>
          </a:xfrm>
          <a:prstGeom prst="rect">
            <a:avLst/>
          </a:prstGeom>
          <a:solidFill>
            <a:srgbClr val="C9D3D6"/>
          </a:solidFill>
          <a:ln w="9525">
            <a:solidFill>
              <a:srgbClr val="FFFFFF"/>
            </a:solidFill>
            <a:prstDash val="solid"/>
          </a:ln>
        </p:spPr>
      </p:sp>
      <p:sp>
        <p:nvSpPr>
          <p:cNvPr id="12" name="Text 10"/>
          <p:cNvSpPr txBox="1"/>
          <p:nvPr/>
        </p:nvSpPr>
        <p:spPr>
          <a:xfrm>
            <a:off x="4714875" y="2331720"/>
            <a:ext cx="595176" cy="868680"/>
          </a:xfrm>
          <a:prstGeom prst="rect">
            <a:avLst/>
          </a:prstGeom>
          <a:noFill/>
          <a:ln/>
        </p:spPr>
        <p:txBody>
          <a:bodyPr wrap="square" lIns="0" tIns="0" rIns="0" bIns="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P2</a:t>
            </a:r>
            <a:endParaRPr lang="tr-TR" sz="1200" dirty="0"/>
          </a:p>
        </p:txBody>
      </p:sp>
      <p:sp>
        <p:nvSpPr>
          <p:cNvPr id="13" name="Shape 11"/>
          <p:cNvSpPr/>
          <p:nvPr/>
        </p:nvSpPr>
        <p:spPr>
          <a:xfrm>
            <a:off x="6103620" y="2331720"/>
            <a:ext cx="793569" cy="868680"/>
          </a:xfrm>
          <a:prstGeom prst="rect">
            <a:avLst/>
          </a:prstGeom>
          <a:solidFill>
            <a:srgbClr val="C9D3D6"/>
          </a:solidFill>
          <a:ln w="9525">
            <a:solidFill>
              <a:srgbClr val="FFFFFF"/>
            </a:solidFill>
            <a:prstDash val="solid"/>
          </a:ln>
        </p:spPr>
      </p:sp>
      <p:sp>
        <p:nvSpPr>
          <p:cNvPr id="14" name="Text 12"/>
          <p:cNvSpPr txBox="1"/>
          <p:nvPr/>
        </p:nvSpPr>
        <p:spPr>
          <a:xfrm>
            <a:off x="6103620" y="2331720"/>
            <a:ext cx="793569" cy="868680"/>
          </a:xfrm>
          <a:prstGeom prst="rect">
            <a:avLst/>
          </a:prstGeom>
          <a:noFill/>
          <a:ln/>
        </p:spPr>
        <p:txBody>
          <a:bodyPr wrap="square" lIns="0" tIns="0" rIns="0" bIns="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P3</a:t>
            </a:r>
            <a:endParaRPr lang="tr-TR" sz="1200" dirty="0"/>
          </a:p>
        </p:txBody>
      </p:sp>
      <p:sp>
        <p:nvSpPr>
          <p:cNvPr id="15" name="Shape 13"/>
          <p:cNvSpPr/>
          <p:nvPr/>
        </p:nvSpPr>
        <p:spPr>
          <a:xfrm>
            <a:off x="8285934" y="2331720"/>
            <a:ext cx="595176" cy="868680"/>
          </a:xfrm>
          <a:prstGeom prst="rect">
            <a:avLst/>
          </a:prstGeom>
          <a:solidFill>
            <a:srgbClr val="C9D3D6"/>
          </a:solidFill>
          <a:ln w="9525">
            <a:solidFill>
              <a:srgbClr val="FFFFFF"/>
            </a:solidFill>
            <a:prstDash val="solid"/>
          </a:ln>
        </p:spPr>
      </p:sp>
      <p:sp>
        <p:nvSpPr>
          <p:cNvPr id="16" name="Text 14"/>
          <p:cNvSpPr txBox="1"/>
          <p:nvPr/>
        </p:nvSpPr>
        <p:spPr>
          <a:xfrm>
            <a:off x="8285934" y="2331720"/>
            <a:ext cx="595176" cy="868680"/>
          </a:xfrm>
          <a:prstGeom prst="rect">
            <a:avLst/>
          </a:prstGeom>
          <a:noFill/>
          <a:ln/>
        </p:spPr>
        <p:txBody>
          <a:bodyPr wrap="square" lIns="0" tIns="0" rIns="0" bIns="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P4</a:t>
            </a:r>
            <a:endParaRPr lang="tr-TR" sz="1200" dirty="0"/>
          </a:p>
        </p:txBody>
      </p:sp>
      <p:sp>
        <p:nvSpPr>
          <p:cNvPr id="17" name="Shape 15"/>
          <p:cNvSpPr/>
          <p:nvPr/>
        </p:nvSpPr>
        <p:spPr>
          <a:xfrm>
            <a:off x="11063424" y="2331720"/>
            <a:ext cx="595176" cy="868680"/>
          </a:xfrm>
          <a:prstGeom prst="rect">
            <a:avLst/>
          </a:prstGeom>
          <a:solidFill>
            <a:srgbClr val="C9D3D6"/>
          </a:solidFill>
          <a:ln w="9525">
            <a:solidFill>
              <a:srgbClr val="FFFFFF"/>
            </a:solidFill>
            <a:prstDash val="solid"/>
          </a:ln>
        </p:spPr>
      </p:sp>
      <p:sp>
        <p:nvSpPr>
          <p:cNvPr id="18" name="Text 16"/>
          <p:cNvSpPr txBox="1"/>
          <p:nvPr/>
        </p:nvSpPr>
        <p:spPr>
          <a:xfrm>
            <a:off x="11063424" y="2331720"/>
            <a:ext cx="595176" cy="868680"/>
          </a:xfrm>
          <a:prstGeom prst="rect">
            <a:avLst/>
          </a:prstGeom>
          <a:noFill/>
          <a:ln/>
        </p:spPr>
        <p:txBody>
          <a:bodyPr wrap="square" lIns="0" tIns="0" rIns="0" bIns="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P5</a:t>
            </a:r>
            <a:endParaRPr lang="tr-TR" sz="1200" dirty="0"/>
          </a:p>
        </p:txBody>
      </p:sp>
      <p:sp>
        <p:nvSpPr>
          <p:cNvPr id="19" name="Shape 17"/>
          <p:cNvSpPr/>
          <p:nvPr/>
        </p:nvSpPr>
        <p:spPr>
          <a:xfrm>
            <a:off x="1738993" y="2331720"/>
            <a:ext cx="595176" cy="868680"/>
          </a:xfrm>
          <a:prstGeom prst="rect">
            <a:avLst/>
          </a:prstGeom>
          <a:solidFill>
            <a:srgbClr val="FFFFFF"/>
          </a:solidFill>
          <a:ln w="12700">
            <a:solidFill>
              <a:srgbClr val="50808E"/>
            </a:solidFill>
            <a:prstDash val="dash"/>
          </a:ln>
        </p:spPr>
      </p:sp>
      <p:sp>
        <p:nvSpPr>
          <p:cNvPr id="20" name="Text 18"/>
          <p:cNvSpPr txBox="1"/>
          <p:nvPr/>
        </p:nvSpPr>
        <p:spPr>
          <a:xfrm>
            <a:off x="1738993" y="2331720"/>
            <a:ext cx="595176" cy="868680"/>
          </a:xfrm>
          <a:prstGeom prst="rect">
            <a:avLst/>
          </a:prstGeom>
          <a:noFill/>
          <a:ln/>
        </p:spPr>
        <p:txBody>
          <a:bodyPr wrap="square" lIns="0" tIns="0" rIns="0" bIns="0" rtlCol="0" anchor="ctr"/>
          <a:lstStyle/>
          <a:p>
            <a:pPr algn="ctr" indent="0" marL="0">
              <a:buNone/>
            </a:pPr>
            <a:r>
              <a:rPr lang="tr-TR" sz="1200" dirty="0">
                <a:solidFill>
                  <a:srgbClr val="50808E"/>
                </a:solidFill>
                <a:latin typeface="Calibri" pitchFamily="34" charset="0"/>
                <a:ea typeface="Calibri" pitchFamily="34" charset="-122"/>
                <a:cs typeface="Calibri" pitchFamily="34" charset="-120"/>
              </a:rPr>
              <a:t>150 KB</a:t>
            </a:r>
            <a:endParaRPr lang="tr-TR" sz="1200" dirty="0"/>
          </a:p>
        </p:txBody>
      </p:sp>
      <p:sp>
        <p:nvSpPr>
          <p:cNvPr id="21" name="Shape 19"/>
          <p:cNvSpPr/>
          <p:nvPr/>
        </p:nvSpPr>
        <p:spPr>
          <a:xfrm>
            <a:off x="2929346" y="2331720"/>
            <a:ext cx="1785529" cy="868680"/>
          </a:xfrm>
          <a:prstGeom prst="rect">
            <a:avLst/>
          </a:prstGeom>
          <a:solidFill>
            <a:srgbClr val="FFFFFF"/>
          </a:solidFill>
          <a:ln w="12700">
            <a:solidFill>
              <a:srgbClr val="50808E"/>
            </a:solidFill>
            <a:prstDash val="dash"/>
          </a:ln>
        </p:spPr>
      </p:sp>
      <p:sp>
        <p:nvSpPr>
          <p:cNvPr id="22" name="Text 20"/>
          <p:cNvSpPr txBox="1"/>
          <p:nvPr/>
        </p:nvSpPr>
        <p:spPr>
          <a:xfrm>
            <a:off x="2929346" y="2331720"/>
            <a:ext cx="1785529" cy="868680"/>
          </a:xfrm>
          <a:prstGeom prst="rect">
            <a:avLst/>
          </a:prstGeom>
          <a:noFill/>
          <a:ln/>
        </p:spPr>
        <p:txBody>
          <a:bodyPr wrap="square" lIns="0" tIns="0" rIns="0" bIns="0" rtlCol="0" anchor="ctr"/>
          <a:lstStyle/>
          <a:p>
            <a:pPr algn="ctr" indent="0" marL="0">
              <a:buNone/>
            </a:pPr>
            <a:r>
              <a:rPr lang="tr-TR" sz="1200" dirty="0">
                <a:solidFill>
                  <a:srgbClr val="50808E"/>
                </a:solidFill>
                <a:latin typeface="Calibri" pitchFamily="34" charset="0"/>
                <a:ea typeface="Calibri" pitchFamily="34" charset="-122"/>
                <a:cs typeface="Calibri" pitchFamily="34" charset="-120"/>
              </a:rPr>
              <a:t>450 KB</a:t>
            </a:r>
            <a:endParaRPr lang="tr-TR" sz="1200" dirty="0"/>
          </a:p>
        </p:txBody>
      </p:sp>
      <p:sp>
        <p:nvSpPr>
          <p:cNvPr id="23" name="Shape 21"/>
          <p:cNvSpPr/>
          <p:nvPr/>
        </p:nvSpPr>
        <p:spPr>
          <a:xfrm>
            <a:off x="5310051" y="2331720"/>
            <a:ext cx="793569" cy="868680"/>
          </a:xfrm>
          <a:prstGeom prst="rect">
            <a:avLst/>
          </a:prstGeom>
          <a:solidFill>
            <a:srgbClr val="FFFFFF"/>
          </a:solidFill>
          <a:ln w="12700">
            <a:solidFill>
              <a:srgbClr val="50808E"/>
            </a:solidFill>
            <a:prstDash val="dash"/>
          </a:ln>
        </p:spPr>
      </p:sp>
      <p:sp>
        <p:nvSpPr>
          <p:cNvPr id="24" name="Text 22"/>
          <p:cNvSpPr txBox="1"/>
          <p:nvPr/>
        </p:nvSpPr>
        <p:spPr>
          <a:xfrm>
            <a:off x="5310051" y="2331720"/>
            <a:ext cx="793569" cy="868680"/>
          </a:xfrm>
          <a:prstGeom prst="rect">
            <a:avLst/>
          </a:prstGeom>
          <a:noFill/>
          <a:ln/>
        </p:spPr>
        <p:txBody>
          <a:bodyPr wrap="square" lIns="0" tIns="0" rIns="0" bIns="0" rtlCol="0" anchor="ctr"/>
          <a:lstStyle/>
          <a:p>
            <a:pPr algn="ctr" indent="0" marL="0">
              <a:buNone/>
            </a:pPr>
            <a:r>
              <a:rPr lang="tr-TR" sz="1200" dirty="0">
                <a:solidFill>
                  <a:srgbClr val="50808E"/>
                </a:solidFill>
                <a:latin typeface="Calibri" pitchFamily="34" charset="0"/>
                <a:ea typeface="Calibri" pitchFamily="34" charset="-122"/>
                <a:cs typeface="Calibri" pitchFamily="34" charset="-120"/>
              </a:rPr>
              <a:t>200 KB</a:t>
            </a:r>
            <a:endParaRPr lang="tr-TR" sz="1200" dirty="0"/>
          </a:p>
        </p:txBody>
      </p:sp>
      <p:sp>
        <p:nvSpPr>
          <p:cNvPr id="25" name="Shape 23"/>
          <p:cNvSpPr/>
          <p:nvPr/>
        </p:nvSpPr>
        <p:spPr>
          <a:xfrm>
            <a:off x="6897189" y="2331720"/>
            <a:ext cx="1388745" cy="868680"/>
          </a:xfrm>
          <a:prstGeom prst="rect">
            <a:avLst/>
          </a:prstGeom>
          <a:solidFill>
            <a:srgbClr val="FFFFFF"/>
          </a:solidFill>
          <a:ln w="12700">
            <a:solidFill>
              <a:srgbClr val="50808E"/>
            </a:solidFill>
            <a:prstDash val="dash"/>
          </a:ln>
        </p:spPr>
      </p:sp>
      <p:sp>
        <p:nvSpPr>
          <p:cNvPr id="26" name="Text 24"/>
          <p:cNvSpPr txBox="1"/>
          <p:nvPr/>
        </p:nvSpPr>
        <p:spPr>
          <a:xfrm>
            <a:off x="6897189" y="2331720"/>
            <a:ext cx="1388745" cy="868680"/>
          </a:xfrm>
          <a:prstGeom prst="rect">
            <a:avLst/>
          </a:prstGeom>
          <a:noFill/>
          <a:ln/>
        </p:spPr>
        <p:txBody>
          <a:bodyPr wrap="square" lIns="0" tIns="0" rIns="0" bIns="0" rtlCol="0" anchor="ctr"/>
          <a:lstStyle/>
          <a:p>
            <a:pPr algn="ctr" indent="0" marL="0">
              <a:buNone/>
            </a:pPr>
            <a:r>
              <a:rPr lang="tr-TR" sz="1200" dirty="0">
                <a:solidFill>
                  <a:srgbClr val="50808E"/>
                </a:solidFill>
                <a:latin typeface="Calibri" pitchFamily="34" charset="0"/>
                <a:ea typeface="Calibri" pitchFamily="34" charset="-122"/>
                <a:cs typeface="Calibri" pitchFamily="34" charset="-120"/>
              </a:rPr>
              <a:t>350 KB</a:t>
            </a:r>
            <a:endParaRPr lang="tr-TR" sz="1200" dirty="0"/>
          </a:p>
        </p:txBody>
      </p:sp>
      <p:sp>
        <p:nvSpPr>
          <p:cNvPr id="27" name="Shape 25"/>
          <p:cNvSpPr/>
          <p:nvPr/>
        </p:nvSpPr>
        <p:spPr>
          <a:xfrm>
            <a:off x="8881110" y="2331720"/>
            <a:ext cx="2182314" cy="868680"/>
          </a:xfrm>
          <a:prstGeom prst="rect">
            <a:avLst/>
          </a:prstGeom>
          <a:solidFill>
            <a:srgbClr val="FFFFFF"/>
          </a:solidFill>
          <a:ln w="12700">
            <a:solidFill>
              <a:srgbClr val="50808E"/>
            </a:solidFill>
            <a:prstDash val="dash"/>
          </a:ln>
        </p:spPr>
      </p:sp>
      <p:sp>
        <p:nvSpPr>
          <p:cNvPr id="28" name="Text 26"/>
          <p:cNvSpPr txBox="1"/>
          <p:nvPr/>
        </p:nvSpPr>
        <p:spPr>
          <a:xfrm>
            <a:off x="8881110" y="2331720"/>
            <a:ext cx="2182314" cy="868680"/>
          </a:xfrm>
          <a:prstGeom prst="rect">
            <a:avLst/>
          </a:prstGeom>
          <a:noFill/>
          <a:ln/>
        </p:spPr>
        <p:txBody>
          <a:bodyPr wrap="square" lIns="0" tIns="0" rIns="0" bIns="0" rtlCol="0" anchor="ctr"/>
          <a:lstStyle/>
          <a:p>
            <a:pPr algn="ctr" indent="0" marL="0">
              <a:buNone/>
            </a:pPr>
            <a:r>
              <a:rPr lang="tr-TR" sz="1200" dirty="0">
                <a:solidFill>
                  <a:srgbClr val="50808E"/>
                </a:solidFill>
                <a:latin typeface="Calibri" pitchFamily="34" charset="0"/>
                <a:ea typeface="Calibri" pitchFamily="34" charset="-122"/>
                <a:cs typeface="Calibri" pitchFamily="34" charset="-120"/>
              </a:rPr>
              <a:t>550 KB</a:t>
            </a:r>
            <a:endParaRPr lang="tr-TR" sz="1200" dirty="0"/>
          </a:p>
        </p:txBody>
      </p:sp>
      <p:sp>
        <p:nvSpPr>
          <p:cNvPr id="29" name="Text 27"/>
          <p:cNvSpPr txBox="1"/>
          <p:nvPr/>
        </p:nvSpPr>
        <p:spPr>
          <a:xfrm>
            <a:off x="182880" y="3227832"/>
            <a:ext cx="731520" cy="228600"/>
          </a:xfrm>
          <a:prstGeom prst="rect">
            <a:avLst/>
          </a:prstGeom>
          <a:noFill/>
          <a:ln/>
        </p:spPr>
        <p:txBody>
          <a:bodyPr wrap="square" lIns="0" tIns="0" rIns="0" bIns="0" rtlCol="0" anchor="t"/>
          <a:lstStyle/>
          <a:p>
            <a:pPr algn="ctr" indent="0" marL="0">
              <a:buNone/>
            </a:pPr>
            <a:r>
              <a:rPr lang="tr-TR" sz="1000" dirty="0">
                <a:solidFill>
                  <a:srgbClr val="6B7679"/>
                </a:solidFill>
                <a:latin typeface="Calibri" pitchFamily="34" charset="0"/>
                <a:ea typeface="Calibri" pitchFamily="34" charset="-122"/>
                <a:cs typeface="Calibri" pitchFamily="34" charset="-120"/>
              </a:rPr>
              <a:t>0</a:t>
            </a:r>
            <a:endParaRPr lang="tr-TR" sz="1000" dirty="0"/>
          </a:p>
        </p:txBody>
      </p:sp>
      <p:sp>
        <p:nvSpPr>
          <p:cNvPr id="30" name="Text 28"/>
          <p:cNvSpPr txBox="1"/>
          <p:nvPr/>
        </p:nvSpPr>
        <p:spPr>
          <a:xfrm>
            <a:off x="1373233" y="3227832"/>
            <a:ext cx="731520" cy="228600"/>
          </a:xfrm>
          <a:prstGeom prst="rect">
            <a:avLst/>
          </a:prstGeom>
          <a:noFill/>
          <a:ln/>
        </p:spPr>
        <p:txBody>
          <a:bodyPr wrap="square" lIns="0" tIns="0" rIns="0" bIns="0" rtlCol="0" anchor="t"/>
          <a:lstStyle/>
          <a:p>
            <a:pPr algn="ctr" indent="0" marL="0">
              <a:buNone/>
            </a:pPr>
            <a:r>
              <a:rPr lang="tr-TR" sz="1000" dirty="0">
                <a:solidFill>
                  <a:srgbClr val="6B7679"/>
                </a:solidFill>
                <a:latin typeface="Calibri" pitchFamily="34" charset="0"/>
                <a:ea typeface="Calibri" pitchFamily="34" charset="-122"/>
                <a:cs typeface="Calibri" pitchFamily="34" charset="-120"/>
              </a:rPr>
              <a:t>300</a:t>
            </a:r>
            <a:endParaRPr lang="tr-TR" sz="1000" dirty="0"/>
          </a:p>
        </p:txBody>
      </p:sp>
      <p:sp>
        <p:nvSpPr>
          <p:cNvPr id="31" name="Text 29"/>
          <p:cNvSpPr txBox="1"/>
          <p:nvPr/>
        </p:nvSpPr>
        <p:spPr>
          <a:xfrm>
            <a:off x="2563586" y="3227832"/>
            <a:ext cx="731520" cy="228600"/>
          </a:xfrm>
          <a:prstGeom prst="rect">
            <a:avLst/>
          </a:prstGeom>
          <a:noFill/>
          <a:ln/>
        </p:spPr>
        <p:txBody>
          <a:bodyPr wrap="square" lIns="0" tIns="0" rIns="0" bIns="0" rtlCol="0" anchor="t"/>
          <a:lstStyle/>
          <a:p>
            <a:pPr algn="ctr" indent="0" marL="0">
              <a:buNone/>
            </a:pPr>
            <a:r>
              <a:rPr lang="tr-TR" sz="1000" dirty="0">
                <a:solidFill>
                  <a:srgbClr val="6B7679"/>
                </a:solidFill>
                <a:latin typeface="Calibri" pitchFamily="34" charset="0"/>
                <a:ea typeface="Calibri" pitchFamily="34" charset="-122"/>
                <a:cs typeface="Calibri" pitchFamily="34" charset="-120"/>
              </a:rPr>
              <a:t>600</a:t>
            </a:r>
            <a:endParaRPr lang="tr-TR" sz="1000" dirty="0"/>
          </a:p>
        </p:txBody>
      </p:sp>
      <p:sp>
        <p:nvSpPr>
          <p:cNvPr id="32" name="Text 30"/>
          <p:cNvSpPr txBox="1"/>
          <p:nvPr/>
        </p:nvSpPr>
        <p:spPr>
          <a:xfrm>
            <a:off x="4349115" y="3227832"/>
            <a:ext cx="731520" cy="228600"/>
          </a:xfrm>
          <a:prstGeom prst="rect">
            <a:avLst/>
          </a:prstGeom>
          <a:noFill/>
          <a:ln/>
        </p:spPr>
        <p:txBody>
          <a:bodyPr wrap="square" lIns="0" tIns="0" rIns="0" bIns="0" rtlCol="0" anchor="t"/>
          <a:lstStyle/>
          <a:p>
            <a:pPr algn="ctr" indent="0" marL="0">
              <a:buNone/>
            </a:pPr>
            <a:r>
              <a:rPr lang="tr-TR" sz="1000" dirty="0">
                <a:solidFill>
                  <a:srgbClr val="6B7679"/>
                </a:solidFill>
                <a:latin typeface="Calibri" pitchFamily="34" charset="0"/>
                <a:ea typeface="Calibri" pitchFamily="34" charset="-122"/>
                <a:cs typeface="Calibri" pitchFamily="34" charset="-120"/>
              </a:rPr>
              <a:t>1050</a:t>
            </a:r>
            <a:endParaRPr lang="tr-TR" sz="1000" dirty="0"/>
          </a:p>
        </p:txBody>
      </p:sp>
      <p:sp>
        <p:nvSpPr>
          <p:cNvPr id="33" name="Text 31"/>
          <p:cNvSpPr txBox="1"/>
          <p:nvPr/>
        </p:nvSpPr>
        <p:spPr>
          <a:xfrm>
            <a:off x="4944291" y="3227832"/>
            <a:ext cx="731520" cy="228600"/>
          </a:xfrm>
          <a:prstGeom prst="rect">
            <a:avLst/>
          </a:prstGeom>
          <a:noFill/>
          <a:ln/>
        </p:spPr>
        <p:txBody>
          <a:bodyPr wrap="square" lIns="0" tIns="0" rIns="0" bIns="0" rtlCol="0" anchor="t"/>
          <a:lstStyle/>
          <a:p>
            <a:pPr algn="ctr" indent="0" marL="0">
              <a:buNone/>
            </a:pPr>
            <a:r>
              <a:rPr lang="tr-TR" sz="1000" dirty="0">
                <a:solidFill>
                  <a:srgbClr val="6B7679"/>
                </a:solidFill>
                <a:latin typeface="Calibri" pitchFamily="34" charset="0"/>
                <a:ea typeface="Calibri" pitchFamily="34" charset="-122"/>
                <a:cs typeface="Calibri" pitchFamily="34" charset="-120"/>
              </a:rPr>
              <a:t>1200</a:t>
            </a:r>
            <a:endParaRPr lang="tr-TR" sz="1000" dirty="0"/>
          </a:p>
        </p:txBody>
      </p:sp>
      <p:sp>
        <p:nvSpPr>
          <p:cNvPr id="34" name="Text 32"/>
          <p:cNvSpPr txBox="1"/>
          <p:nvPr/>
        </p:nvSpPr>
        <p:spPr>
          <a:xfrm>
            <a:off x="6531429" y="3227832"/>
            <a:ext cx="731520" cy="228600"/>
          </a:xfrm>
          <a:prstGeom prst="rect">
            <a:avLst/>
          </a:prstGeom>
          <a:noFill/>
          <a:ln/>
        </p:spPr>
        <p:txBody>
          <a:bodyPr wrap="square" lIns="0" tIns="0" rIns="0" bIns="0" rtlCol="0" anchor="t"/>
          <a:lstStyle/>
          <a:p>
            <a:pPr algn="ctr" indent="0" marL="0">
              <a:buNone/>
            </a:pPr>
            <a:r>
              <a:rPr lang="tr-TR" sz="1000" dirty="0">
                <a:solidFill>
                  <a:srgbClr val="6B7679"/>
                </a:solidFill>
                <a:latin typeface="Calibri" pitchFamily="34" charset="0"/>
                <a:ea typeface="Calibri" pitchFamily="34" charset="-122"/>
                <a:cs typeface="Calibri" pitchFamily="34" charset="-120"/>
              </a:rPr>
              <a:t>1600</a:t>
            </a:r>
            <a:endParaRPr lang="tr-TR" sz="1000" dirty="0"/>
          </a:p>
        </p:txBody>
      </p:sp>
      <p:sp>
        <p:nvSpPr>
          <p:cNvPr id="35" name="Text 33"/>
          <p:cNvSpPr txBox="1"/>
          <p:nvPr/>
        </p:nvSpPr>
        <p:spPr>
          <a:xfrm>
            <a:off x="8515350" y="3227832"/>
            <a:ext cx="731520" cy="228600"/>
          </a:xfrm>
          <a:prstGeom prst="rect">
            <a:avLst/>
          </a:prstGeom>
          <a:noFill/>
          <a:ln/>
        </p:spPr>
        <p:txBody>
          <a:bodyPr wrap="square" lIns="0" tIns="0" rIns="0" bIns="0" rtlCol="0" anchor="t"/>
          <a:lstStyle/>
          <a:p>
            <a:pPr algn="ctr" indent="0" marL="0">
              <a:buNone/>
            </a:pPr>
            <a:r>
              <a:rPr lang="tr-TR" sz="1000" dirty="0">
                <a:solidFill>
                  <a:srgbClr val="6B7679"/>
                </a:solidFill>
                <a:latin typeface="Calibri" pitchFamily="34" charset="0"/>
                <a:ea typeface="Calibri" pitchFamily="34" charset="-122"/>
                <a:cs typeface="Calibri" pitchFamily="34" charset="-120"/>
              </a:rPr>
              <a:t>2100</a:t>
            </a:r>
            <a:endParaRPr lang="tr-TR" sz="1000" dirty="0"/>
          </a:p>
        </p:txBody>
      </p:sp>
      <p:sp>
        <p:nvSpPr>
          <p:cNvPr id="36" name="Text 34"/>
          <p:cNvSpPr txBox="1"/>
          <p:nvPr/>
        </p:nvSpPr>
        <p:spPr>
          <a:xfrm>
            <a:off x="11292840" y="3227832"/>
            <a:ext cx="731520" cy="228600"/>
          </a:xfrm>
          <a:prstGeom prst="rect">
            <a:avLst/>
          </a:prstGeom>
          <a:noFill/>
          <a:ln/>
        </p:spPr>
        <p:txBody>
          <a:bodyPr wrap="square" lIns="0" tIns="0" rIns="0" bIns="0" rtlCol="0" anchor="t"/>
          <a:lstStyle/>
          <a:p>
            <a:pPr algn="ctr" indent="0" marL="0">
              <a:buNone/>
            </a:pPr>
            <a:r>
              <a:rPr lang="tr-TR" sz="1000" dirty="0">
                <a:solidFill>
                  <a:srgbClr val="6B7679"/>
                </a:solidFill>
                <a:latin typeface="Calibri" pitchFamily="34" charset="0"/>
                <a:ea typeface="Calibri" pitchFamily="34" charset="-122"/>
                <a:cs typeface="Calibri" pitchFamily="34" charset="-120"/>
              </a:rPr>
              <a:t>2800</a:t>
            </a:r>
            <a:endParaRPr lang="tr-TR" sz="1000" dirty="0"/>
          </a:p>
        </p:txBody>
      </p:sp>
      <p:sp>
        <p:nvSpPr>
          <p:cNvPr id="37" name="Text 35"/>
          <p:cNvSpPr txBox="1"/>
          <p:nvPr/>
        </p:nvSpPr>
        <p:spPr>
          <a:xfrm>
            <a:off x="10287000" y="2011680"/>
            <a:ext cx="1371600" cy="274320"/>
          </a:xfrm>
          <a:prstGeom prst="rect">
            <a:avLst/>
          </a:prstGeom>
          <a:noFill/>
          <a:ln/>
        </p:spPr>
        <p:txBody>
          <a:bodyPr wrap="square" lIns="0" tIns="0" rIns="0" bIns="0" rtlCol="0" anchor="t"/>
          <a:lstStyle/>
          <a:p>
            <a:pPr algn="r" indent="0" marL="0">
              <a:buNone/>
            </a:pPr>
            <a:r>
              <a:rPr lang="tr-TR" sz="1000" i="1" dirty="0">
                <a:solidFill>
                  <a:srgbClr val="6B7679"/>
                </a:solidFill>
                <a:latin typeface="Calibri" pitchFamily="34" charset="0"/>
                <a:ea typeface="Calibri" pitchFamily="34" charset="-122"/>
                <a:cs typeface="Calibri" pitchFamily="34" charset="-120"/>
              </a:rPr>
              <a:t>adres (KB)</a:t>
            </a:r>
            <a:endParaRPr lang="tr-TR" sz="1000" dirty="0"/>
          </a:p>
        </p:txBody>
      </p:sp>
      <p:sp>
        <p:nvSpPr>
          <p:cNvPr id="38" name="Shape 36"/>
          <p:cNvSpPr/>
          <p:nvPr/>
        </p:nvSpPr>
        <p:spPr>
          <a:xfrm>
            <a:off x="548640" y="3703320"/>
            <a:ext cx="5440680" cy="2560320"/>
          </a:xfrm>
          <a:prstGeom prst="roundRect">
            <a:avLst>
              <a:gd name="adj" fmla="val 2143"/>
            </a:avLst>
          </a:prstGeom>
          <a:solidFill>
            <a:srgbClr val="F2F2F2"/>
          </a:solidFill>
          <a:ln/>
          <a:effectLst>
            <a:outerShdw sx="100000" sy="100000" kx="0" ky="0" algn="bl" rotWithShape="0" blurRad="101600" dist="25400" dir="5400000">
              <a:srgbClr val="000000">
                <a:alpha val="12000"/>
              </a:srgbClr>
            </a:outerShdw>
          </a:effectLst>
        </p:spPr>
      </p:sp>
      <p:sp>
        <p:nvSpPr>
          <p:cNvPr id="39" name="Text 37"/>
          <p:cNvSpPr txBox="1"/>
          <p:nvPr/>
        </p:nvSpPr>
        <p:spPr>
          <a:xfrm>
            <a:off x="777240" y="3886200"/>
            <a:ext cx="4983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İşletim sisteminin tuttuğu delik listesi</a:t>
            </a:r>
            <a:endParaRPr lang="tr-TR" sz="1500" dirty="0"/>
          </a:p>
        </p:txBody>
      </p:sp>
      <p:sp>
        <p:nvSpPr>
          <p:cNvPr id="40" name="Text 38"/>
          <p:cNvSpPr txBox="1"/>
          <p:nvPr/>
        </p:nvSpPr>
        <p:spPr>
          <a:xfrm>
            <a:off x="777240" y="4343400"/>
            <a:ext cx="4983480" cy="178308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Her deliğin (başlangıç, boy) çifti, burada adres sırasıyla:</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(300, 150) · (600, 450) · (1200, 200) · (1600, 350) · (2100, 550)</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Toplam boş: 1700 KB, 5 parça hâlinde.</a:t>
            </a:r>
            <a:endParaRPr lang="tr-TR" sz="1400" dirty="0"/>
          </a:p>
        </p:txBody>
      </p:sp>
      <p:sp>
        <p:nvSpPr>
          <p:cNvPr id="41" name="Shape 39"/>
          <p:cNvSpPr/>
          <p:nvPr/>
        </p:nvSpPr>
        <p:spPr>
          <a:xfrm>
            <a:off x="6217920" y="3703320"/>
            <a:ext cx="5440680" cy="2560320"/>
          </a:xfrm>
          <a:prstGeom prst="roundRect">
            <a:avLst>
              <a:gd name="adj" fmla="val 2143"/>
            </a:avLst>
          </a:prstGeom>
          <a:solidFill>
            <a:srgbClr val="F2F2F2"/>
          </a:solidFill>
          <a:ln/>
          <a:effectLst>
            <a:outerShdw sx="100000" sy="100000" kx="0" ky="0" algn="bl" rotWithShape="0" blurRad="101600" dist="25400" dir="5400000">
              <a:srgbClr val="000000">
                <a:alpha val="12000"/>
              </a:srgbClr>
            </a:outerShdw>
          </a:effectLst>
        </p:spPr>
      </p:sp>
      <p:sp>
        <p:nvSpPr>
          <p:cNvPr id="42" name="Text 40"/>
          <p:cNvSpPr txBox="1"/>
          <p:nvPr/>
        </p:nvSpPr>
        <p:spPr>
          <a:xfrm>
            <a:off x="6446520" y="3886200"/>
            <a:ext cx="4983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İşletim sistemi ne yapar?</a:t>
            </a:r>
            <a:endParaRPr lang="tr-TR" sz="1500" dirty="0"/>
          </a:p>
        </p:txBody>
      </p:sp>
      <p:sp>
        <p:nvSpPr>
          <p:cNvPr id="43" name="Text 41"/>
          <p:cNvSpPr txBox="1"/>
          <p:nvPr/>
        </p:nvSpPr>
        <p:spPr>
          <a:xfrm>
            <a:off x="6446520" y="4343400"/>
            <a:ext cx="4983480" cy="1783080"/>
          </a:xfrm>
          <a:prstGeom prst="rect">
            <a:avLst/>
          </a:prstGeom>
          <a:noFill/>
          <a:ln/>
        </p:spPr>
        <p:txBody>
          <a:bodyPr wrap="square" lIns="0" tIns="0" rIns="0" bIns="0" rtlCol="0" anchor="t"/>
          <a:lstStyle/>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Süreç gelince:</a:t>
            </a:r>
            <a:r>
              <a:rPr lang="tr-TR" sz="1400" dirty="0">
                <a:solidFill>
                  <a:srgbClr val="3A464C"/>
                </a:solidFill>
                <a:latin typeface="Calibri" pitchFamily="34" charset="0"/>
                <a:ea typeface="Calibri" pitchFamily="34" charset="-122"/>
                <a:cs typeface="Calibri" pitchFamily="34" charset="-120"/>
              </a:rPr>
              <a:t> yeterince büyük bir delik bulur, gerekeni alır, kalanı daha küçük bir delik olarak bırakır.</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Süreç bitince:</a:t>
            </a:r>
            <a:r>
              <a:rPr lang="tr-TR" sz="1400" dirty="0">
                <a:solidFill>
                  <a:srgbClr val="3A464C"/>
                </a:solidFill>
                <a:latin typeface="Calibri" pitchFamily="34" charset="0"/>
                <a:ea typeface="Calibri" pitchFamily="34" charset="-122"/>
                <a:cs typeface="Calibri" pitchFamily="34" charset="-120"/>
              </a:rPr>
              <a:t> bloğu deliğe dönüşür; komşu deliklerle birleştirilir.</a:t>
            </a:r>
            <a:endParaRPr lang="tr-TR"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YERLEŞTİRME</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İlk Uyan, En İyi Uyan, En Kötü Uyan</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Dört süreç bu sırayla geliyor: A = 220 KB, B = 400 KB, C = 130 KB, D = 430 KB. Her biri hangi deliği alır?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6  ·  13</a:t>
            </a:r>
            <a:endParaRPr lang="tr-TR" sz="900" dirty="0"/>
          </a:p>
        </p:txBody>
      </p:sp>
      <p:sp>
        <p:nvSpPr>
          <p:cNvPr id="7" name="Shape 5"/>
          <p:cNvSpPr/>
          <p:nvPr/>
        </p:nvSpPr>
        <p:spPr>
          <a:xfrm>
            <a:off x="548640" y="2194560"/>
            <a:ext cx="3566160" cy="2331720"/>
          </a:xfrm>
          <a:prstGeom prst="roundRect">
            <a:avLst>
              <a:gd name="adj" fmla="val 2353"/>
            </a:avLst>
          </a:prstGeom>
          <a:solidFill>
            <a:srgbClr val="F2F2F2"/>
          </a:solidFill>
          <a:ln/>
          <a:effectLst>
            <a:outerShdw sx="100000" sy="100000" kx="0" ky="0" algn="bl" rotWithShape="0" blurRad="101600" dist="25400" dir="5400000">
              <a:srgbClr val="000000">
                <a:alpha val="12000"/>
              </a:srgbClr>
            </a:outerShdw>
          </a:effectLst>
        </p:spPr>
      </p:sp>
      <p:sp>
        <p:nvSpPr>
          <p:cNvPr id="8" name="Text 6"/>
          <p:cNvSpPr txBox="1"/>
          <p:nvPr/>
        </p:nvSpPr>
        <p:spPr>
          <a:xfrm>
            <a:off x="777240" y="2377440"/>
            <a:ext cx="3108960" cy="384048"/>
          </a:xfrm>
          <a:prstGeom prst="rect">
            <a:avLst/>
          </a:prstGeom>
          <a:noFill/>
          <a:ln/>
        </p:spPr>
        <p:txBody>
          <a:bodyPr wrap="square" lIns="0" tIns="0" rIns="0" bIns="0" rtlCol="0" anchor="ctr"/>
          <a:lstStyle/>
          <a:p>
            <a:pPr indent="0" marL="0">
              <a:buNone/>
            </a:pPr>
            <a:r>
              <a:rPr lang="tr-TR" sz="1550" b="1" dirty="0">
                <a:solidFill>
                  <a:srgbClr val="028090"/>
                </a:solidFill>
                <a:latin typeface="Cambria" pitchFamily="34" charset="0"/>
                <a:ea typeface="Cambria" pitchFamily="34" charset="-122"/>
                <a:cs typeface="Cambria" pitchFamily="34" charset="-120"/>
              </a:rPr>
              <a:t>İlk uyan (first-fit)</a:t>
            </a:r>
            <a:endParaRPr lang="tr-TR" sz="1550" dirty="0"/>
          </a:p>
        </p:txBody>
      </p:sp>
      <p:sp>
        <p:nvSpPr>
          <p:cNvPr id="9" name="Text 7"/>
          <p:cNvSpPr txBox="1"/>
          <p:nvPr/>
        </p:nvSpPr>
        <p:spPr>
          <a:xfrm>
            <a:off x="777240" y="2834640"/>
            <a:ext cx="3108960" cy="155448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Yeterince büyük ilk deliği (en düşük adresli) al.</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Hızlı: arama erken durabilir.</a:t>
            </a:r>
            <a:endParaRPr lang="tr-TR" sz="1350" dirty="0"/>
          </a:p>
        </p:txBody>
      </p:sp>
      <p:sp>
        <p:nvSpPr>
          <p:cNvPr id="10" name="Shape 8"/>
          <p:cNvSpPr/>
          <p:nvPr/>
        </p:nvSpPr>
        <p:spPr>
          <a:xfrm>
            <a:off x="4315968" y="2194560"/>
            <a:ext cx="3566160" cy="2331720"/>
          </a:xfrm>
          <a:prstGeom prst="roundRect">
            <a:avLst>
              <a:gd name="adj" fmla="val 2353"/>
            </a:avLst>
          </a:prstGeom>
          <a:solidFill>
            <a:srgbClr val="F2F2F2"/>
          </a:solidFill>
          <a:ln/>
          <a:effectLst>
            <a:outerShdw sx="100000" sy="100000" kx="0" ky="0" algn="bl" rotWithShape="0" blurRad="101600" dist="25400" dir="5400000">
              <a:srgbClr val="000000">
                <a:alpha val="12000"/>
              </a:srgbClr>
            </a:outerShdw>
          </a:effectLst>
        </p:spPr>
      </p:sp>
      <p:sp>
        <p:nvSpPr>
          <p:cNvPr id="11" name="Text 9"/>
          <p:cNvSpPr txBox="1"/>
          <p:nvPr/>
        </p:nvSpPr>
        <p:spPr>
          <a:xfrm>
            <a:off x="4544568" y="2377440"/>
            <a:ext cx="3108960" cy="384048"/>
          </a:xfrm>
          <a:prstGeom prst="rect">
            <a:avLst/>
          </a:prstGeom>
          <a:noFill/>
          <a:ln/>
        </p:spPr>
        <p:txBody>
          <a:bodyPr wrap="square" lIns="0" tIns="0" rIns="0" bIns="0" rtlCol="0" anchor="ctr"/>
          <a:lstStyle/>
          <a:p>
            <a:pPr indent="0" marL="0">
              <a:buNone/>
            </a:pPr>
            <a:r>
              <a:rPr lang="tr-TR" sz="1550" b="1" dirty="0">
                <a:solidFill>
                  <a:srgbClr val="028090"/>
                </a:solidFill>
                <a:latin typeface="Cambria" pitchFamily="34" charset="0"/>
                <a:ea typeface="Cambria" pitchFamily="34" charset="-122"/>
                <a:cs typeface="Cambria" pitchFamily="34" charset="-120"/>
              </a:rPr>
              <a:t>En iyi uyan (best-fit)</a:t>
            </a:r>
            <a:endParaRPr lang="tr-TR" sz="1550" dirty="0"/>
          </a:p>
        </p:txBody>
      </p:sp>
      <p:sp>
        <p:nvSpPr>
          <p:cNvPr id="12" name="Text 10"/>
          <p:cNvSpPr txBox="1"/>
          <p:nvPr/>
        </p:nvSpPr>
        <p:spPr>
          <a:xfrm>
            <a:off x="4544568" y="2834640"/>
            <a:ext cx="3108960" cy="155448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Yeterince büyük en küçük deliği al.</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En küçük artığı bırakır; tüm listeyi taramalı (ya da listeyi boya göre sıralı tutmalı).</a:t>
            </a:r>
            <a:endParaRPr lang="tr-TR" sz="1350" dirty="0"/>
          </a:p>
        </p:txBody>
      </p:sp>
      <p:sp>
        <p:nvSpPr>
          <p:cNvPr id="13" name="Shape 11"/>
          <p:cNvSpPr/>
          <p:nvPr/>
        </p:nvSpPr>
        <p:spPr>
          <a:xfrm>
            <a:off x="8083296" y="2194560"/>
            <a:ext cx="3566160" cy="2331720"/>
          </a:xfrm>
          <a:prstGeom prst="roundRect">
            <a:avLst>
              <a:gd name="adj" fmla="val 2353"/>
            </a:avLst>
          </a:prstGeom>
          <a:solidFill>
            <a:srgbClr val="F2F2F2"/>
          </a:solidFill>
          <a:ln/>
          <a:effectLst>
            <a:outerShdw sx="100000" sy="100000" kx="0" ky="0" algn="bl" rotWithShape="0" blurRad="101600" dist="25400" dir="5400000">
              <a:srgbClr val="000000">
                <a:alpha val="12000"/>
              </a:srgbClr>
            </a:outerShdw>
          </a:effectLst>
        </p:spPr>
      </p:sp>
      <p:sp>
        <p:nvSpPr>
          <p:cNvPr id="14" name="Text 12"/>
          <p:cNvSpPr txBox="1"/>
          <p:nvPr/>
        </p:nvSpPr>
        <p:spPr>
          <a:xfrm>
            <a:off x="8311896" y="2377440"/>
            <a:ext cx="3108960" cy="384048"/>
          </a:xfrm>
          <a:prstGeom prst="rect">
            <a:avLst/>
          </a:prstGeom>
          <a:noFill/>
          <a:ln/>
        </p:spPr>
        <p:txBody>
          <a:bodyPr wrap="square" lIns="0" tIns="0" rIns="0" bIns="0" rtlCol="0" anchor="ctr"/>
          <a:lstStyle/>
          <a:p>
            <a:pPr indent="0" marL="0">
              <a:buNone/>
            </a:pPr>
            <a:r>
              <a:rPr lang="tr-TR" sz="1550" b="1" dirty="0">
                <a:solidFill>
                  <a:srgbClr val="028090"/>
                </a:solidFill>
                <a:latin typeface="Cambria" pitchFamily="34" charset="0"/>
                <a:ea typeface="Cambria" pitchFamily="34" charset="-122"/>
                <a:cs typeface="Cambria" pitchFamily="34" charset="-120"/>
              </a:rPr>
              <a:t>En kötü uyan (worst-fit)</a:t>
            </a:r>
            <a:endParaRPr lang="tr-TR" sz="1550" dirty="0"/>
          </a:p>
        </p:txBody>
      </p:sp>
      <p:sp>
        <p:nvSpPr>
          <p:cNvPr id="15" name="Text 13"/>
          <p:cNvSpPr txBox="1"/>
          <p:nvPr/>
        </p:nvSpPr>
        <p:spPr>
          <a:xfrm>
            <a:off x="8311896" y="2834640"/>
            <a:ext cx="3108960" cy="155448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En büyük deliği al.</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Fikir: artık işe yarayacak kadar büyük kalır. O da her şeyi taramalı.</a:t>
            </a:r>
            <a:endParaRPr lang="tr-TR" sz="1350" dirty="0"/>
          </a:p>
        </p:txBody>
      </p:sp>
      <p:sp>
        <p:nvSpPr>
          <p:cNvPr id="16" name="Shape 14"/>
          <p:cNvSpPr/>
          <p:nvPr/>
        </p:nvSpPr>
        <p:spPr>
          <a:xfrm>
            <a:off x="548640" y="4754880"/>
            <a:ext cx="5852160" cy="1508760"/>
          </a:xfrm>
          <a:prstGeom prst="roundRect">
            <a:avLst>
              <a:gd name="adj" fmla="val 3030"/>
            </a:avLst>
          </a:prstGeom>
          <a:solidFill>
            <a:srgbClr val="212121"/>
          </a:solidFill>
          <a:ln/>
        </p:spPr>
      </p:sp>
      <p:sp>
        <p:nvSpPr>
          <p:cNvPr id="17" name="Text 15"/>
          <p:cNvSpPr txBox="1"/>
          <p:nvPr/>
        </p:nvSpPr>
        <p:spPr>
          <a:xfrm>
            <a:off x="731520" y="4864608"/>
            <a:ext cx="5486400" cy="1289304"/>
          </a:xfrm>
          <a:prstGeom prst="rect">
            <a:avLst/>
          </a:prstGeom>
          <a:noFill/>
          <a:ln/>
        </p:spPr>
        <p:txBody>
          <a:bodyPr wrap="square" lIns="0" tIns="0" rIns="0" bIns="0" rtlCol="0" anchor="t"/>
          <a:lstStyle/>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delikler (boy@başlangıç, KB):</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150@300  450@600  200@1200  350@1600  550@2100</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A = 220:  ilk → 450@600   en iyi → 350@1600</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en kötü → 550@2100</a:t>
            </a:r>
            <a:endParaRPr lang="tr-TR" sz="1250" dirty="0"/>
          </a:p>
        </p:txBody>
      </p:sp>
      <p:sp>
        <p:nvSpPr>
          <p:cNvPr id="18" name="Shape 16"/>
          <p:cNvSpPr/>
          <p:nvPr/>
        </p:nvSpPr>
        <p:spPr>
          <a:xfrm>
            <a:off x="6629400" y="4754880"/>
            <a:ext cx="5029200" cy="1508760"/>
          </a:xfrm>
          <a:prstGeom prst="roundRect">
            <a:avLst>
              <a:gd name="adj" fmla="val 3636"/>
            </a:avLst>
          </a:prstGeom>
          <a:solidFill>
            <a:srgbClr val="36454F"/>
          </a:solidFill>
          <a:ln/>
          <a:effectLst>
            <a:outerShdw sx="100000" sy="100000" kx="0" ky="0" algn="bl" rotWithShape="0" blurRad="101600" dist="25400" dir="5400000">
              <a:srgbClr val="000000">
                <a:alpha val="12000"/>
              </a:srgbClr>
            </a:outerShdw>
          </a:effectLst>
        </p:spPr>
      </p:sp>
      <p:sp>
        <p:nvSpPr>
          <p:cNvPr id="19" name="Text 17"/>
          <p:cNvSpPr txBox="1"/>
          <p:nvPr/>
        </p:nvSpPr>
        <p:spPr>
          <a:xfrm>
            <a:off x="6858000" y="4754880"/>
            <a:ext cx="4572000" cy="1508760"/>
          </a:xfrm>
          <a:prstGeom prst="rect">
            <a:avLst/>
          </a:prstGeom>
          <a:noFill/>
          <a:ln/>
        </p:spPr>
        <p:txBody>
          <a:bodyPr wrap="square" lIns="0" tIns="0" rIns="0" bIns="0" rtlCol="0" anchor="ctr"/>
          <a:lstStyle/>
          <a:p>
            <a:pPr indent="0" marL="0">
              <a:buNone/>
            </a:pPr>
            <a:r>
              <a:rPr lang="tr-TR" sz="1350" dirty="0">
                <a:solidFill>
                  <a:srgbClr val="F2F2F2"/>
                </a:solidFill>
                <a:latin typeface="Calibri" pitchFamily="34" charset="0"/>
                <a:ea typeface="Calibri" pitchFamily="34" charset="-122"/>
                <a:cs typeface="Calibri" pitchFamily="34" charset="-120"/>
              </a:rPr>
              <a:t>Benzetimler (Silberschatz): ilk uyan ve en iyi uyan, hem zaman hem bellek kullanımında en kötü uyandan iyidir; ilk uyan genellikle daha hızlıdır.</a:t>
            </a:r>
            <a:endParaRPr lang="tr-TR"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YERLEŞTİRME: SONUÇ</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Aynı İstekler, Üç Farklı Sonuç</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6  ·  14</a:t>
            </a:r>
            <a:endParaRPr lang="tr-TR" sz="900" dirty="0"/>
          </a:p>
        </p:txBody>
      </p:sp>
      <p:sp>
        <p:nvSpPr>
          <p:cNvPr id="6" name="Text 4"/>
          <p:cNvSpPr txBox="1"/>
          <p:nvPr/>
        </p:nvSpPr>
        <p:spPr>
          <a:xfrm>
            <a:off x="548640" y="1600200"/>
            <a:ext cx="1508760" cy="731520"/>
          </a:xfrm>
          <a:prstGeom prst="rect">
            <a:avLst/>
          </a:prstGeom>
          <a:noFill/>
          <a:ln/>
        </p:spPr>
        <p:txBody>
          <a:bodyPr wrap="square" lIns="0" tIns="0" rIns="0" bIns="0" rtlCol="0" anchor="ctr"/>
          <a:lstStyle/>
          <a:p>
            <a:pPr indent="0" marL="0">
              <a:buNone/>
            </a:pPr>
            <a:r>
              <a:rPr lang="tr-TR" sz="1450" b="1" dirty="0">
                <a:solidFill>
                  <a:srgbClr val="36454F"/>
                </a:solidFill>
                <a:latin typeface="Cambria" pitchFamily="34" charset="0"/>
                <a:ea typeface="Cambria" pitchFamily="34" charset="-122"/>
                <a:cs typeface="Cambria" pitchFamily="34" charset="-120"/>
              </a:rPr>
              <a:t>İlk uyan</a:t>
            </a:r>
            <a:endParaRPr lang="tr-TR" sz="1450" dirty="0"/>
          </a:p>
        </p:txBody>
      </p:sp>
      <p:sp>
        <p:nvSpPr>
          <p:cNvPr id="7" name="Shape 5"/>
          <p:cNvSpPr/>
          <p:nvPr/>
        </p:nvSpPr>
        <p:spPr>
          <a:xfrm>
            <a:off x="2103120" y="1600200"/>
            <a:ext cx="685800" cy="731520"/>
          </a:xfrm>
          <a:prstGeom prst="rect">
            <a:avLst/>
          </a:prstGeom>
          <a:solidFill>
            <a:srgbClr val="36454F"/>
          </a:solidFill>
          <a:ln w="9525">
            <a:solidFill>
              <a:srgbClr val="FFFFFF"/>
            </a:solidFill>
            <a:prstDash val="solid"/>
          </a:ln>
        </p:spPr>
      </p:sp>
      <p:sp>
        <p:nvSpPr>
          <p:cNvPr id="8" name="Text 6"/>
          <p:cNvSpPr txBox="1"/>
          <p:nvPr/>
        </p:nvSpPr>
        <p:spPr>
          <a:xfrm>
            <a:off x="2103120" y="1600200"/>
            <a:ext cx="685800" cy="731520"/>
          </a:xfrm>
          <a:prstGeom prst="rect">
            <a:avLst/>
          </a:prstGeom>
          <a:noFill/>
          <a:ln/>
        </p:spPr>
        <p:txBody>
          <a:bodyPr wrap="square" lIns="0" tIns="0" rIns="0" bIns="0" rtlCol="0" anchor="ctr"/>
          <a:lstStyle/>
          <a:p>
            <a:pPr algn="ctr" indent="0" marL="0">
              <a:buNone/>
            </a:pPr>
            <a:r>
              <a:rPr lang="tr-TR" sz="1050" b="1" dirty="0">
                <a:solidFill>
                  <a:srgbClr val="FFFFFF"/>
                </a:solidFill>
                <a:latin typeface="Calibri" pitchFamily="34" charset="0"/>
                <a:ea typeface="Calibri" pitchFamily="34" charset="-122"/>
                <a:cs typeface="Calibri" pitchFamily="34" charset="-120"/>
              </a:rPr>
              <a:t>İS</a:t>
            </a:r>
            <a:endParaRPr lang="tr-TR" sz="1050" dirty="0"/>
          </a:p>
        </p:txBody>
      </p:sp>
      <p:sp>
        <p:nvSpPr>
          <p:cNvPr id="9" name="Shape 7"/>
          <p:cNvSpPr/>
          <p:nvPr/>
        </p:nvSpPr>
        <p:spPr>
          <a:xfrm>
            <a:off x="3131820" y="1600200"/>
            <a:ext cx="342900" cy="731520"/>
          </a:xfrm>
          <a:prstGeom prst="rect">
            <a:avLst/>
          </a:prstGeom>
          <a:solidFill>
            <a:srgbClr val="C9D3D6"/>
          </a:solidFill>
          <a:ln w="9525">
            <a:solidFill>
              <a:srgbClr val="FFFFFF"/>
            </a:solidFill>
            <a:prstDash val="solid"/>
          </a:ln>
        </p:spPr>
      </p:sp>
      <p:sp>
        <p:nvSpPr>
          <p:cNvPr id="10" name="Text 8"/>
          <p:cNvSpPr txBox="1"/>
          <p:nvPr/>
        </p:nvSpPr>
        <p:spPr>
          <a:xfrm>
            <a:off x="3131820" y="1600200"/>
            <a:ext cx="342900" cy="731520"/>
          </a:xfrm>
          <a:prstGeom prst="rect">
            <a:avLst/>
          </a:prstGeom>
          <a:noFill/>
          <a:ln/>
        </p:spPr>
        <p:txBody>
          <a:bodyPr wrap="square" lIns="0" tIns="0" rIns="0" bIns="0" rtlCol="0" anchor="ctr"/>
          <a:lstStyle/>
          <a:p>
            <a:pPr algn="ctr" indent="0" marL="0">
              <a:buNone/>
            </a:pPr>
            <a:r>
              <a:rPr lang="tr-TR" sz="1050" b="1" dirty="0">
                <a:solidFill>
                  <a:srgbClr val="212121"/>
                </a:solidFill>
                <a:latin typeface="Calibri" pitchFamily="34" charset="0"/>
                <a:ea typeface="Calibri" pitchFamily="34" charset="-122"/>
                <a:cs typeface="Calibri" pitchFamily="34" charset="-120"/>
              </a:rPr>
              <a:t>P1</a:t>
            </a:r>
            <a:endParaRPr lang="tr-TR" sz="1050" dirty="0"/>
          </a:p>
        </p:txBody>
      </p:sp>
      <p:sp>
        <p:nvSpPr>
          <p:cNvPr id="11" name="Shape 9"/>
          <p:cNvSpPr/>
          <p:nvPr/>
        </p:nvSpPr>
        <p:spPr>
          <a:xfrm>
            <a:off x="4503420" y="1600200"/>
            <a:ext cx="342900" cy="731520"/>
          </a:xfrm>
          <a:prstGeom prst="rect">
            <a:avLst/>
          </a:prstGeom>
          <a:solidFill>
            <a:srgbClr val="C9D3D6"/>
          </a:solidFill>
          <a:ln w="9525">
            <a:solidFill>
              <a:srgbClr val="FFFFFF"/>
            </a:solidFill>
            <a:prstDash val="solid"/>
          </a:ln>
        </p:spPr>
      </p:sp>
      <p:sp>
        <p:nvSpPr>
          <p:cNvPr id="12" name="Text 10"/>
          <p:cNvSpPr txBox="1"/>
          <p:nvPr/>
        </p:nvSpPr>
        <p:spPr>
          <a:xfrm>
            <a:off x="4503420" y="1600200"/>
            <a:ext cx="342900" cy="731520"/>
          </a:xfrm>
          <a:prstGeom prst="rect">
            <a:avLst/>
          </a:prstGeom>
          <a:noFill/>
          <a:ln/>
        </p:spPr>
        <p:txBody>
          <a:bodyPr wrap="square" lIns="0" tIns="0" rIns="0" bIns="0" rtlCol="0" anchor="ctr"/>
          <a:lstStyle/>
          <a:p>
            <a:pPr algn="ctr" indent="0" marL="0">
              <a:buNone/>
            </a:pPr>
            <a:r>
              <a:rPr lang="tr-TR" sz="1050" b="1" dirty="0">
                <a:solidFill>
                  <a:srgbClr val="212121"/>
                </a:solidFill>
                <a:latin typeface="Calibri" pitchFamily="34" charset="0"/>
                <a:ea typeface="Calibri" pitchFamily="34" charset="-122"/>
                <a:cs typeface="Calibri" pitchFamily="34" charset="-120"/>
              </a:rPr>
              <a:t>P2</a:t>
            </a:r>
            <a:endParaRPr lang="tr-TR" sz="1050" dirty="0"/>
          </a:p>
        </p:txBody>
      </p:sp>
      <p:sp>
        <p:nvSpPr>
          <p:cNvPr id="13" name="Shape 11"/>
          <p:cNvSpPr/>
          <p:nvPr/>
        </p:nvSpPr>
        <p:spPr>
          <a:xfrm>
            <a:off x="5303520" y="1600200"/>
            <a:ext cx="457200" cy="731520"/>
          </a:xfrm>
          <a:prstGeom prst="rect">
            <a:avLst/>
          </a:prstGeom>
          <a:solidFill>
            <a:srgbClr val="C9D3D6"/>
          </a:solidFill>
          <a:ln w="9525">
            <a:solidFill>
              <a:srgbClr val="FFFFFF"/>
            </a:solidFill>
            <a:prstDash val="solid"/>
          </a:ln>
        </p:spPr>
      </p:sp>
      <p:sp>
        <p:nvSpPr>
          <p:cNvPr id="14" name="Text 12"/>
          <p:cNvSpPr txBox="1"/>
          <p:nvPr/>
        </p:nvSpPr>
        <p:spPr>
          <a:xfrm>
            <a:off x="5303520" y="1600200"/>
            <a:ext cx="457200" cy="731520"/>
          </a:xfrm>
          <a:prstGeom prst="rect">
            <a:avLst/>
          </a:prstGeom>
          <a:noFill/>
          <a:ln/>
        </p:spPr>
        <p:txBody>
          <a:bodyPr wrap="square" lIns="0" tIns="0" rIns="0" bIns="0" rtlCol="0" anchor="ctr"/>
          <a:lstStyle/>
          <a:p>
            <a:pPr algn="ctr" indent="0" marL="0">
              <a:buNone/>
            </a:pPr>
            <a:r>
              <a:rPr lang="tr-TR" sz="1050" b="1" dirty="0">
                <a:solidFill>
                  <a:srgbClr val="212121"/>
                </a:solidFill>
                <a:latin typeface="Calibri" pitchFamily="34" charset="0"/>
                <a:ea typeface="Calibri" pitchFamily="34" charset="-122"/>
                <a:cs typeface="Calibri" pitchFamily="34" charset="-120"/>
              </a:rPr>
              <a:t>P3</a:t>
            </a:r>
            <a:endParaRPr lang="tr-TR" sz="1050" dirty="0"/>
          </a:p>
        </p:txBody>
      </p:sp>
      <p:sp>
        <p:nvSpPr>
          <p:cNvPr id="15" name="Shape 13"/>
          <p:cNvSpPr/>
          <p:nvPr/>
        </p:nvSpPr>
        <p:spPr>
          <a:xfrm>
            <a:off x="6560820" y="1600200"/>
            <a:ext cx="342900" cy="731520"/>
          </a:xfrm>
          <a:prstGeom prst="rect">
            <a:avLst/>
          </a:prstGeom>
          <a:solidFill>
            <a:srgbClr val="C9D3D6"/>
          </a:solidFill>
          <a:ln w="9525">
            <a:solidFill>
              <a:srgbClr val="FFFFFF"/>
            </a:solidFill>
            <a:prstDash val="solid"/>
          </a:ln>
        </p:spPr>
      </p:sp>
      <p:sp>
        <p:nvSpPr>
          <p:cNvPr id="16" name="Text 14"/>
          <p:cNvSpPr txBox="1"/>
          <p:nvPr/>
        </p:nvSpPr>
        <p:spPr>
          <a:xfrm>
            <a:off x="6560820" y="1600200"/>
            <a:ext cx="342900" cy="731520"/>
          </a:xfrm>
          <a:prstGeom prst="rect">
            <a:avLst/>
          </a:prstGeom>
          <a:noFill/>
          <a:ln/>
        </p:spPr>
        <p:txBody>
          <a:bodyPr wrap="square" lIns="0" tIns="0" rIns="0" bIns="0" rtlCol="0" anchor="ctr"/>
          <a:lstStyle/>
          <a:p>
            <a:pPr algn="ctr" indent="0" marL="0">
              <a:buNone/>
            </a:pPr>
            <a:r>
              <a:rPr lang="tr-TR" sz="1050" b="1" dirty="0">
                <a:solidFill>
                  <a:srgbClr val="212121"/>
                </a:solidFill>
                <a:latin typeface="Calibri" pitchFamily="34" charset="0"/>
                <a:ea typeface="Calibri" pitchFamily="34" charset="-122"/>
                <a:cs typeface="Calibri" pitchFamily="34" charset="-120"/>
              </a:rPr>
              <a:t>P4</a:t>
            </a:r>
            <a:endParaRPr lang="tr-TR" sz="1050" dirty="0"/>
          </a:p>
        </p:txBody>
      </p:sp>
      <p:sp>
        <p:nvSpPr>
          <p:cNvPr id="17" name="Shape 15"/>
          <p:cNvSpPr/>
          <p:nvPr/>
        </p:nvSpPr>
        <p:spPr>
          <a:xfrm>
            <a:off x="8161020" y="1600200"/>
            <a:ext cx="342900" cy="731520"/>
          </a:xfrm>
          <a:prstGeom prst="rect">
            <a:avLst/>
          </a:prstGeom>
          <a:solidFill>
            <a:srgbClr val="C9D3D6"/>
          </a:solidFill>
          <a:ln w="9525">
            <a:solidFill>
              <a:srgbClr val="FFFFFF"/>
            </a:solidFill>
            <a:prstDash val="solid"/>
          </a:ln>
        </p:spPr>
      </p:sp>
      <p:sp>
        <p:nvSpPr>
          <p:cNvPr id="18" name="Text 16"/>
          <p:cNvSpPr txBox="1"/>
          <p:nvPr/>
        </p:nvSpPr>
        <p:spPr>
          <a:xfrm>
            <a:off x="8161020" y="1600200"/>
            <a:ext cx="342900" cy="731520"/>
          </a:xfrm>
          <a:prstGeom prst="rect">
            <a:avLst/>
          </a:prstGeom>
          <a:noFill/>
          <a:ln/>
        </p:spPr>
        <p:txBody>
          <a:bodyPr wrap="square" lIns="0" tIns="0" rIns="0" bIns="0" rtlCol="0" anchor="ctr"/>
          <a:lstStyle/>
          <a:p>
            <a:pPr algn="ctr" indent="0" marL="0">
              <a:buNone/>
            </a:pPr>
            <a:r>
              <a:rPr lang="tr-TR" sz="1050" b="1" dirty="0">
                <a:solidFill>
                  <a:srgbClr val="212121"/>
                </a:solidFill>
                <a:latin typeface="Calibri" pitchFamily="34" charset="0"/>
                <a:ea typeface="Calibri" pitchFamily="34" charset="-122"/>
                <a:cs typeface="Calibri" pitchFamily="34" charset="-120"/>
              </a:rPr>
              <a:t>P5</a:t>
            </a:r>
            <a:endParaRPr lang="tr-TR" sz="1050" dirty="0"/>
          </a:p>
        </p:txBody>
      </p:sp>
      <p:sp>
        <p:nvSpPr>
          <p:cNvPr id="19" name="Shape 17"/>
          <p:cNvSpPr/>
          <p:nvPr/>
        </p:nvSpPr>
        <p:spPr>
          <a:xfrm>
            <a:off x="3474720" y="1600200"/>
            <a:ext cx="502920" cy="731520"/>
          </a:xfrm>
          <a:prstGeom prst="rect">
            <a:avLst/>
          </a:prstGeom>
          <a:solidFill>
            <a:srgbClr val="02C39A"/>
          </a:solidFill>
          <a:ln w="9525">
            <a:solidFill>
              <a:srgbClr val="FFFFFF"/>
            </a:solidFill>
            <a:prstDash val="solid"/>
          </a:ln>
        </p:spPr>
      </p:sp>
      <p:sp>
        <p:nvSpPr>
          <p:cNvPr id="20" name="Text 18"/>
          <p:cNvSpPr txBox="1"/>
          <p:nvPr/>
        </p:nvSpPr>
        <p:spPr>
          <a:xfrm>
            <a:off x="3474720" y="1600200"/>
            <a:ext cx="502920" cy="731520"/>
          </a:xfrm>
          <a:prstGeom prst="rect">
            <a:avLst/>
          </a:prstGeom>
          <a:noFill/>
          <a:ln/>
        </p:spPr>
        <p:txBody>
          <a:bodyPr wrap="square" lIns="0" tIns="0" rIns="0" bIns="0" rtlCol="0" anchor="ctr"/>
          <a:lstStyle/>
          <a:p>
            <a:pPr algn="ctr" indent="0" marL="0">
              <a:buNone/>
            </a:pPr>
            <a:r>
              <a:rPr lang="tr-TR" sz="1050" b="1" dirty="0">
                <a:solidFill>
                  <a:srgbClr val="212121"/>
                </a:solidFill>
                <a:latin typeface="Calibri" pitchFamily="34" charset="0"/>
                <a:ea typeface="Calibri" pitchFamily="34" charset="-122"/>
                <a:cs typeface="Calibri" pitchFamily="34" charset="-120"/>
              </a:rPr>
              <a:t>A</a:t>
            </a:r>
            <a:endParaRPr lang="tr-TR" sz="1050" dirty="0"/>
          </a:p>
        </p:txBody>
      </p:sp>
      <p:sp>
        <p:nvSpPr>
          <p:cNvPr id="21" name="Shape 19"/>
          <p:cNvSpPr/>
          <p:nvPr/>
        </p:nvSpPr>
        <p:spPr>
          <a:xfrm>
            <a:off x="6903720" y="1600200"/>
            <a:ext cx="914400" cy="731520"/>
          </a:xfrm>
          <a:prstGeom prst="rect">
            <a:avLst/>
          </a:prstGeom>
          <a:solidFill>
            <a:srgbClr val="02C39A"/>
          </a:solidFill>
          <a:ln w="9525">
            <a:solidFill>
              <a:srgbClr val="FFFFFF"/>
            </a:solidFill>
            <a:prstDash val="solid"/>
          </a:ln>
        </p:spPr>
      </p:sp>
      <p:sp>
        <p:nvSpPr>
          <p:cNvPr id="22" name="Text 20"/>
          <p:cNvSpPr txBox="1"/>
          <p:nvPr/>
        </p:nvSpPr>
        <p:spPr>
          <a:xfrm>
            <a:off x="6903720" y="1600200"/>
            <a:ext cx="914400" cy="731520"/>
          </a:xfrm>
          <a:prstGeom prst="rect">
            <a:avLst/>
          </a:prstGeom>
          <a:noFill/>
          <a:ln/>
        </p:spPr>
        <p:txBody>
          <a:bodyPr wrap="square" lIns="0" tIns="0" rIns="0" bIns="0" rtlCol="0" anchor="ctr"/>
          <a:lstStyle/>
          <a:p>
            <a:pPr algn="ctr" indent="0" marL="0">
              <a:buNone/>
            </a:pPr>
            <a:r>
              <a:rPr lang="tr-TR" sz="1050" b="1" dirty="0">
                <a:solidFill>
                  <a:srgbClr val="212121"/>
                </a:solidFill>
                <a:latin typeface="Calibri" pitchFamily="34" charset="0"/>
                <a:ea typeface="Calibri" pitchFamily="34" charset="-122"/>
                <a:cs typeface="Calibri" pitchFamily="34" charset="-120"/>
              </a:rPr>
              <a:t>B</a:t>
            </a:r>
            <a:endParaRPr lang="tr-TR" sz="1050" dirty="0"/>
          </a:p>
        </p:txBody>
      </p:sp>
      <p:sp>
        <p:nvSpPr>
          <p:cNvPr id="23" name="Shape 21"/>
          <p:cNvSpPr/>
          <p:nvPr/>
        </p:nvSpPr>
        <p:spPr>
          <a:xfrm>
            <a:off x="2788920" y="1600200"/>
            <a:ext cx="297180" cy="731520"/>
          </a:xfrm>
          <a:prstGeom prst="rect">
            <a:avLst/>
          </a:prstGeom>
          <a:solidFill>
            <a:srgbClr val="02C39A"/>
          </a:solidFill>
          <a:ln w="9525">
            <a:solidFill>
              <a:srgbClr val="FFFFFF"/>
            </a:solidFill>
            <a:prstDash val="solid"/>
          </a:ln>
        </p:spPr>
      </p:sp>
      <p:sp>
        <p:nvSpPr>
          <p:cNvPr id="24" name="Text 22"/>
          <p:cNvSpPr txBox="1"/>
          <p:nvPr/>
        </p:nvSpPr>
        <p:spPr>
          <a:xfrm>
            <a:off x="2788920" y="1600200"/>
            <a:ext cx="297180" cy="731520"/>
          </a:xfrm>
          <a:prstGeom prst="rect">
            <a:avLst/>
          </a:prstGeom>
          <a:noFill/>
          <a:ln/>
        </p:spPr>
        <p:txBody>
          <a:bodyPr wrap="square" lIns="0" tIns="0" rIns="0" bIns="0" rtlCol="0" anchor="ctr"/>
          <a:lstStyle/>
          <a:p>
            <a:pPr algn="ctr" indent="0" marL="0">
              <a:buNone/>
            </a:pPr>
            <a:r>
              <a:rPr lang="tr-TR" sz="1050" b="1" dirty="0">
                <a:solidFill>
                  <a:srgbClr val="212121"/>
                </a:solidFill>
                <a:latin typeface="Calibri" pitchFamily="34" charset="0"/>
                <a:ea typeface="Calibri" pitchFamily="34" charset="-122"/>
                <a:cs typeface="Calibri" pitchFamily="34" charset="-120"/>
              </a:rPr>
              <a:t>C</a:t>
            </a:r>
            <a:endParaRPr lang="tr-TR" sz="1050" dirty="0"/>
          </a:p>
        </p:txBody>
      </p:sp>
      <p:sp>
        <p:nvSpPr>
          <p:cNvPr id="25" name="Shape 23"/>
          <p:cNvSpPr/>
          <p:nvPr/>
        </p:nvSpPr>
        <p:spPr>
          <a:xfrm>
            <a:off x="3086100" y="1600200"/>
            <a:ext cx="45720" cy="731520"/>
          </a:xfrm>
          <a:prstGeom prst="rect">
            <a:avLst/>
          </a:prstGeom>
          <a:solidFill>
            <a:srgbClr val="FFFFFF"/>
          </a:solidFill>
          <a:ln w="12700">
            <a:solidFill>
              <a:srgbClr val="50808E"/>
            </a:solidFill>
            <a:prstDash val="dash"/>
          </a:ln>
        </p:spPr>
      </p:sp>
      <p:sp>
        <p:nvSpPr>
          <p:cNvPr id="26" name="Text 24"/>
          <p:cNvSpPr txBox="1"/>
          <p:nvPr/>
        </p:nvSpPr>
        <p:spPr>
          <a:xfrm>
            <a:off x="2811780" y="2350008"/>
            <a:ext cx="594360" cy="228600"/>
          </a:xfrm>
          <a:prstGeom prst="rect">
            <a:avLst/>
          </a:prstGeom>
          <a:noFill/>
          <a:ln/>
        </p:spPr>
        <p:txBody>
          <a:bodyPr wrap="square" lIns="0" tIns="0" rIns="0" bIns="0" rtlCol="0" anchor="t"/>
          <a:lstStyle/>
          <a:p>
            <a:pPr algn="ctr" indent="0" marL="0">
              <a:buNone/>
            </a:pPr>
            <a:r>
              <a:rPr lang="tr-TR" sz="1000" dirty="0">
                <a:solidFill>
                  <a:srgbClr val="50808E"/>
                </a:solidFill>
                <a:latin typeface="Calibri" pitchFamily="34" charset="0"/>
                <a:ea typeface="Calibri" pitchFamily="34" charset="-122"/>
                <a:cs typeface="Calibri" pitchFamily="34" charset="-120"/>
              </a:rPr>
              <a:t>20</a:t>
            </a:r>
            <a:endParaRPr lang="tr-TR" sz="1000" dirty="0"/>
          </a:p>
        </p:txBody>
      </p:sp>
      <p:sp>
        <p:nvSpPr>
          <p:cNvPr id="27" name="Shape 25"/>
          <p:cNvSpPr/>
          <p:nvPr/>
        </p:nvSpPr>
        <p:spPr>
          <a:xfrm>
            <a:off x="3977640" y="1600200"/>
            <a:ext cx="525780" cy="731520"/>
          </a:xfrm>
          <a:prstGeom prst="rect">
            <a:avLst/>
          </a:prstGeom>
          <a:solidFill>
            <a:srgbClr val="FFFFFF"/>
          </a:solidFill>
          <a:ln w="12700">
            <a:solidFill>
              <a:srgbClr val="50808E"/>
            </a:solidFill>
            <a:prstDash val="dash"/>
          </a:ln>
        </p:spPr>
      </p:sp>
      <p:sp>
        <p:nvSpPr>
          <p:cNvPr id="28" name="Text 26"/>
          <p:cNvSpPr txBox="1"/>
          <p:nvPr/>
        </p:nvSpPr>
        <p:spPr>
          <a:xfrm>
            <a:off x="3977640" y="1600200"/>
            <a:ext cx="525780" cy="731520"/>
          </a:xfrm>
          <a:prstGeom prst="rect">
            <a:avLst/>
          </a:prstGeom>
          <a:noFill/>
          <a:ln/>
        </p:spPr>
        <p:txBody>
          <a:bodyPr wrap="square" lIns="0" tIns="0" rIns="0" bIns="0" rtlCol="0" anchor="ctr"/>
          <a:lstStyle/>
          <a:p>
            <a:pPr algn="ctr" indent="0" marL="0">
              <a:buNone/>
            </a:pPr>
            <a:r>
              <a:rPr lang="tr-TR" sz="1050" dirty="0">
                <a:solidFill>
                  <a:srgbClr val="50808E"/>
                </a:solidFill>
                <a:latin typeface="Calibri" pitchFamily="34" charset="0"/>
                <a:ea typeface="Calibri" pitchFamily="34" charset="-122"/>
                <a:cs typeface="Calibri" pitchFamily="34" charset="-120"/>
              </a:rPr>
              <a:t>230</a:t>
            </a:r>
            <a:endParaRPr lang="tr-TR" sz="1050" dirty="0"/>
          </a:p>
        </p:txBody>
      </p:sp>
      <p:sp>
        <p:nvSpPr>
          <p:cNvPr id="29" name="Shape 27"/>
          <p:cNvSpPr/>
          <p:nvPr/>
        </p:nvSpPr>
        <p:spPr>
          <a:xfrm>
            <a:off x="4846320" y="1600200"/>
            <a:ext cx="457200" cy="731520"/>
          </a:xfrm>
          <a:prstGeom prst="rect">
            <a:avLst/>
          </a:prstGeom>
          <a:solidFill>
            <a:srgbClr val="FFFFFF"/>
          </a:solidFill>
          <a:ln w="12700">
            <a:solidFill>
              <a:srgbClr val="50808E"/>
            </a:solidFill>
            <a:prstDash val="dash"/>
          </a:ln>
        </p:spPr>
      </p:sp>
      <p:sp>
        <p:nvSpPr>
          <p:cNvPr id="30" name="Text 28"/>
          <p:cNvSpPr txBox="1"/>
          <p:nvPr/>
        </p:nvSpPr>
        <p:spPr>
          <a:xfrm>
            <a:off x="4846320" y="1600200"/>
            <a:ext cx="457200" cy="731520"/>
          </a:xfrm>
          <a:prstGeom prst="rect">
            <a:avLst/>
          </a:prstGeom>
          <a:noFill/>
          <a:ln/>
        </p:spPr>
        <p:txBody>
          <a:bodyPr wrap="square" lIns="0" tIns="0" rIns="0" bIns="0" rtlCol="0" anchor="ctr"/>
          <a:lstStyle/>
          <a:p>
            <a:pPr algn="ctr" indent="0" marL="0">
              <a:buNone/>
            </a:pPr>
            <a:r>
              <a:rPr lang="tr-TR" sz="1050" dirty="0">
                <a:solidFill>
                  <a:srgbClr val="50808E"/>
                </a:solidFill>
                <a:latin typeface="Calibri" pitchFamily="34" charset="0"/>
                <a:ea typeface="Calibri" pitchFamily="34" charset="-122"/>
                <a:cs typeface="Calibri" pitchFamily="34" charset="-120"/>
              </a:rPr>
              <a:t>200</a:t>
            </a:r>
            <a:endParaRPr lang="tr-TR" sz="1050" dirty="0"/>
          </a:p>
        </p:txBody>
      </p:sp>
      <p:sp>
        <p:nvSpPr>
          <p:cNvPr id="31" name="Shape 29"/>
          <p:cNvSpPr/>
          <p:nvPr/>
        </p:nvSpPr>
        <p:spPr>
          <a:xfrm>
            <a:off x="5760720" y="1600200"/>
            <a:ext cx="800100" cy="731520"/>
          </a:xfrm>
          <a:prstGeom prst="rect">
            <a:avLst/>
          </a:prstGeom>
          <a:solidFill>
            <a:srgbClr val="FFFFFF"/>
          </a:solidFill>
          <a:ln w="12700">
            <a:solidFill>
              <a:srgbClr val="50808E"/>
            </a:solidFill>
            <a:prstDash val="dash"/>
          </a:ln>
        </p:spPr>
      </p:sp>
      <p:sp>
        <p:nvSpPr>
          <p:cNvPr id="32" name="Text 30"/>
          <p:cNvSpPr txBox="1"/>
          <p:nvPr/>
        </p:nvSpPr>
        <p:spPr>
          <a:xfrm>
            <a:off x="5760720" y="1600200"/>
            <a:ext cx="800100" cy="731520"/>
          </a:xfrm>
          <a:prstGeom prst="rect">
            <a:avLst/>
          </a:prstGeom>
          <a:noFill/>
          <a:ln/>
        </p:spPr>
        <p:txBody>
          <a:bodyPr wrap="square" lIns="0" tIns="0" rIns="0" bIns="0" rtlCol="0" anchor="ctr"/>
          <a:lstStyle/>
          <a:p>
            <a:pPr algn="ctr" indent="0" marL="0">
              <a:buNone/>
            </a:pPr>
            <a:r>
              <a:rPr lang="tr-TR" sz="1050" dirty="0">
                <a:solidFill>
                  <a:srgbClr val="50808E"/>
                </a:solidFill>
                <a:latin typeface="Calibri" pitchFamily="34" charset="0"/>
                <a:ea typeface="Calibri" pitchFamily="34" charset="-122"/>
                <a:cs typeface="Calibri" pitchFamily="34" charset="-120"/>
              </a:rPr>
              <a:t>350</a:t>
            </a:r>
            <a:endParaRPr lang="tr-TR" sz="1050" dirty="0"/>
          </a:p>
        </p:txBody>
      </p:sp>
      <p:sp>
        <p:nvSpPr>
          <p:cNvPr id="33" name="Shape 31"/>
          <p:cNvSpPr/>
          <p:nvPr/>
        </p:nvSpPr>
        <p:spPr>
          <a:xfrm>
            <a:off x="7818120" y="1600200"/>
            <a:ext cx="342900" cy="731520"/>
          </a:xfrm>
          <a:prstGeom prst="rect">
            <a:avLst/>
          </a:prstGeom>
          <a:solidFill>
            <a:srgbClr val="FFFFFF"/>
          </a:solidFill>
          <a:ln w="12700">
            <a:solidFill>
              <a:srgbClr val="50808E"/>
            </a:solidFill>
            <a:prstDash val="dash"/>
          </a:ln>
        </p:spPr>
      </p:sp>
      <p:sp>
        <p:nvSpPr>
          <p:cNvPr id="34" name="Text 32"/>
          <p:cNvSpPr txBox="1"/>
          <p:nvPr/>
        </p:nvSpPr>
        <p:spPr>
          <a:xfrm>
            <a:off x="7543800" y="2350008"/>
            <a:ext cx="891540" cy="228600"/>
          </a:xfrm>
          <a:prstGeom prst="rect">
            <a:avLst/>
          </a:prstGeom>
          <a:noFill/>
          <a:ln/>
        </p:spPr>
        <p:txBody>
          <a:bodyPr wrap="square" lIns="0" tIns="0" rIns="0" bIns="0" rtlCol="0" anchor="t"/>
          <a:lstStyle/>
          <a:p>
            <a:pPr algn="ctr" indent="0" marL="0">
              <a:buNone/>
            </a:pPr>
            <a:r>
              <a:rPr lang="tr-TR" sz="1000" dirty="0">
                <a:solidFill>
                  <a:srgbClr val="50808E"/>
                </a:solidFill>
                <a:latin typeface="Calibri" pitchFamily="34" charset="0"/>
                <a:ea typeface="Calibri" pitchFamily="34" charset="-122"/>
                <a:cs typeface="Calibri" pitchFamily="34" charset="-120"/>
              </a:rPr>
              <a:t>150</a:t>
            </a:r>
            <a:endParaRPr lang="tr-TR" sz="1000" dirty="0"/>
          </a:p>
        </p:txBody>
      </p:sp>
      <p:sp>
        <p:nvSpPr>
          <p:cNvPr id="35" name="Text 33"/>
          <p:cNvSpPr txBox="1"/>
          <p:nvPr/>
        </p:nvSpPr>
        <p:spPr>
          <a:xfrm>
            <a:off x="8732520" y="1600200"/>
            <a:ext cx="2926080" cy="731520"/>
          </a:xfrm>
          <a:prstGeom prst="rect">
            <a:avLst/>
          </a:prstGeom>
          <a:noFill/>
          <a:ln/>
        </p:spPr>
        <p:txBody>
          <a:bodyPr wrap="square" lIns="0" tIns="0" rIns="0" bIns="0" rtlCol="0" anchor="ctr"/>
          <a:lstStyle/>
          <a:p>
            <a:pPr indent="0" marL="0">
              <a:buNone/>
            </a:pPr>
            <a:r>
              <a:rPr lang="tr-TR" sz="1300" b="1" dirty="0">
                <a:solidFill>
                  <a:srgbClr val="B5453A"/>
                </a:solidFill>
                <a:latin typeface="Calibri" pitchFamily="34" charset="0"/>
                <a:ea typeface="Calibri" pitchFamily="34" charset="-122"/>
                <a:cs typeface="Calibri" pitchFamily="34" charset="-120"/>
              </a:rPr>
              <a:t>D beklemek zorunda: 950 KB boş, ama ≥ 430 KB delik yok.</a:t>
            </a:r>
            <a:endParaRPr lang="tr-TR" sz="1300" dirty="0"/>
          </a:p>
        </p:txBody>
      </p:sp>
      <p:sp>
        <p:nvSpPr>
          <p:cNvPr id="36" name="Text 34"/>
          <p:cNvSpPr txBox="1"/>
          <p:nvPr/>
        </p:nvSpPr>
        <p:spPr>
          <a:xfrm>
            <a:off x="548640" y="2971800"/>
            <a:ext cx="1508760" cy="731520"/>
          </a:xfrm>
          <a:prstGeom prst="rect">
            <a:avLst/>
          </a:prstGeom>
          <a:noFill/>
          <a:ln/>
        </p:spPr>
        <p:txBody>
          <a:bodyPr wrap="square" lIns="0" tIns="0" rIns="0" bIns="0" rtlCol="0" anchor="ctr"/>
          <a:lstStyle/>
          <a:p>
            <a:pPr indent="0" marL="0">
              <a:buNone/>
            </a:pPr>
            <a:r>
              <a:rPr lang="tr-TR" sz="1450" b="1" dirty="0">
                <a:solidFill>
                  <a:srgbClr val="36454F"/>
                </a:solidFill>
                <a:latin typeface="Cambria" pitchFamily="34" charset="0"/>
                <a:ea typeface="Cambria" pitchFamily="34" charset="-122"/>
                <a:cs typeface="Cambria" pitchFamily="34" charset="-120"/>
              </a:rPr>
              <a:t>En iyi uyan</a:t>
            </a:r>
            <a:endParaRPr lang="tr-TR" sz="1450" dirty="0"/>
          </a:p>
        </p:txBody>
      </p:sp>
      <p:sp>
        <p:nvSpPr>
          <p:cNvPr id="37" name="Shape 35"/>
          <p:cNvSpPr/>
          <p:nvPr/>
        </p:nvSpPr>
        <p:spPr>
          <a:xfrm>
            <a:off x="2103120" y="2971800"/>
            <a:ext cx="685800" cy="731520"/>
          </a:xfrm>
          <a:prstGeom prst="rect">
            <a:avLst/>
          </a:prstGeom>
          <a:solidFill>
            <a:srgbClr val="36454F"/>
          </a:solidFill>
          <a:ln w="9525">
            <a:solidFill>
              <a:srgbClr val="FFFFFF"/>
            </a:solidFill>
            <a:prstDash val="solid"/>
          </a:ln>
        </p:spPr>
      </p:sp>
      <p:sp>
        <p:nvSpPr>
          <p:cNvPr id="38" name="Text 36"/>
          <p:cNvSpPr txBox="1"/>
          <p:nvPr/>
        </p:nvSpPr>
        <p:spPr>
          <a:xfrm>
            <a:off x="2103120" y="2971800"/>
            <a:ext cx="685800" cy="731520"/>
          </a:xfrm>
          <a:prstGeom prst="rect">
            <a:avLst/>
          </a:prstGeom>
          <a:noFill/>
          <a:ln/>
        </p:spPr>
        <p:txBody>
          <a:bodyPr wrap="square" lIns="0" tIns="0" rIns="0" bIns="0" rtlCol="0" anchor="ctr"/>
          <a:lstStyle/>
          <a:p>
            <a:pPr algn="ctr" indent="0" marL="0">
              <a:buNone/>
            </a:pPr>
            <a:r>
              <a:rPr lang="tr-TR" sz="1050" b="1" dirty="0">
                <a:solidFill>
                  <a:srgbClr val="FFFFFF"/>
                </a:solidFill>
                <a:latin typeface="Calibri" pitchFamily="34" charset="0"/>
                <a:ea typeface="Calibri" pitchFamily="34" charset="-122"/>
                <a:cs typeface="Calibri" pitchFamily="34" charset="-120"/>
              </a:rPr>
              <a:t>İS</a:t>
            </a:r>
            <a:endParaRPr lang="tr-TR" sz="1050" dirty="0"/>
          </a:p>
        </p:txBody>
      </p:sp>
      <p:sp>
        <p:nvSpPr>
          <p:cNvPr id="39" name="Shape 37"/>
          <p:cNvSpPr/>
          <p:nvPr/>
        </p:nvSpPr>
        <p:spPr>
          <a:xfrm>
            <a:off x="3131820" y="2971800"/>
            <a:ext cx="342900" cy="731520"/>
          </a:xfrm>
          <a:prstGeom prst="rect">
            <a:avLst/>
          </a:prstGeom>
          <a:solidFill>
            <a:srgbClr val="C9D3D6"/>
          </a:solidFill>
          <a:ln w="9525">
            <a:solidFill>
              <a:srgbClr val="FFFFFF"/>
            </a:solidFill>
            <a:prstDash val="solid"/>
          </a:ln>
        </p:spPr>
      </p:sp>
      <p:sp>
        <p:nvSpPr>
          <p:cNvPr id="40" name="Text 38"/>
          <p:cNvSpPr txBox="1"/>
          <p:nvPr/>
        </p:nvSpPr>
        <p:spPr>
          <a:xfrm>
            <a:off x="3131820" y="2971800"/>
            <a:ext cx="342900" cy="731520"/>
          </a:xfrm>
          <a:prstGeom prst="rect">
            <a:avLst/>
          </a:prstGeom>
          <a:noFill/>
          <a:ln/>
        </p:spPr>
        <p:txBody>
          <a:bodyPr wrap="square" lIns="0" tIns="0" rIns="0" bIns="0" rtlCol="0" anchor="ctr"/>
          <a:lstStyle/>
          <a:p>
            <a:pPr algn="ctr" indent="0" marL="0">
              <a:buNone/>
            </a:pPr>
            <a:r>
              <a:rPr lang="tr-TR" sz="1050" b="1" dirty="0">
                <a:solidFill>
                  <a:srgbClr val="212121"/>
                </a:solidFill>
                <a:latin typeface="Calibri" pitchFamily="34" charset="0"/>
                <a:ea typeface="Calibri" pitchFamily="34" charset="-122"/>
                <a:cs typeface="Calibri" pitchFamily="34" charset="-120"/>
              </a:rPr>
              <a:t>P1</a:t>
            </a:r>
            <a:endParaRPr lang="tr-TR" sz="1050" dirty="0"/>
          </a:p>
        </p:txBody>
      </p:sp>
      <p:sp>
        <p:nvSpPr>
          <p:cNvPr id="41" name="Shape 39"/>
          <p:cNvSpPr/>
          <p:nvPr/>
        </p:nvSpPr>
        <p:spPr>
          <a:xfrm>
            <a:off x="4503420" y="2971800"/>
            <a:ext cx="342900" cy="731520"/>
          </a:xfrm>
          <a:prstGeom prst="rect">
            <a:avLst/>
          </a:prstGeom>
          <a:solidFill>
            <a:srgbClr val="C9D3D6"/>
          </a:solidFill>
          <a:ln w="9525">
            <a:solidFill>
              <a:srgbClr val="FFFFFF"/>
            </a:solidFill>
            <a:prstDash val="solid"/>
          </a:ln>
        </p:spPr>
      </p:sp>
      <p:sp>
        <p:nvSpPr>
          <p:cNvPr id="42" name="Text 40"/>
          <p:cNvSpPr txBox="1"/>
          <p:nvPr/>
        </p:nvSpPr>
        <p:spPr>
          <a:xfrm>
            <a:off x="4503420" y="2971800"/>
            <a:ext cx="342900" cy="731520"/>
          </a:xfrm>
          <a:prstGeom prst="rect">
            <a:avLst/>
          </a:prstGeom>
          <a:noFill/>
          <a:ln/>
        </p:spPr>
        <p:txBody>
          <a:bodyPr wrap="square" lIns="0" tIns="0" rIns="0" bIns="0" rtlCol="0" anchor="ctr"/>
          <a:lstStyle/>
          <a:p>
            <a:pPr algn="ctr" indent="0" marL="0">
              <a:buNone/>
            </a:pPr>
            <a:r>
              <a:rPr lang="tr-TR" sz="1050" b="1" dirty="0">
                <a:solidFill>
                  <a:srgbClr val="212121"/>
                </a:solidFill>
                <a:latin typeface="Calibri" pitchFamily="34" charset="0"/>
                <a:ea typeface="Calibri" pitchFamily="34" charset="-122"/>
                <a:cs typeface="Calibri" pitchFamily="34" charset="-120"/>
              </a:rPr>
              <a:t>P2</a:t>
            </a:r>
            <a:endParaRPr lang="tr-TR" sz="1050" dirty="0"/>
          </a:p>
        </p:txBody>
      </p:sp>
      <p:sp>
        <p:nvSpPr>
          <p:cNvPr id="43" name="Shape 41"/>
          <p:cNvSpPr/>
          <p:nvPr/>
        </p:nvSpPr>
        <p:spPr>
          <a:xfrm>
            <a:off x="5303520" y="2971800"/>
            <a:ext cx="457200" cy="731520"/>
          </a:xfrm>
          <a:prstGeom prst="rect">
            <a:avLst/>
          </a:prstGeom>
          <a:solidFill>
            <a:srgbClr val="C9D3D6"/>
          </a:solidFill>
          <a:ln w="9525">
            <a:solidFill>
              <a:srgbClr val="FFFFFF"/>
            </a:solidFill>
            <a:prstDash val="solid"/>
          </a:ln>
        </p:spPr>
      </p:sp>
      <p:sp>
        <p:nvSpPr>
          <p:cNvPr id="44" name="Text 42"/>
          <p:cNvSpPr txBox="1"/>
          <p:nvPr/>
        </p:nvSpPr>
        <p:spPr>
          <a:xfrm>
            <a:off x="5303520" y="2971800"/>
            <a:ext cx="457200" cy="731520"/>
          </a:xfrm>
          <a:prstGeom prst="rect">
            <a:avLst/>
          </a:prstGeom>
          <a:noFill/>
          <a:ln/>
        </p:spPr>
        <p:txBody>
          <a:bodyPr wrap="square" lIns="0" tIns="0" rIns="0" bIns="0" rtlCol="0" anchor="ctr"/>
          <a:lstStyle/>
          <a:p>
            <a:pPr algn="ctr" indent="0" marL="0">
              <a:buNone/>
            </a:pPr>
            <a:r>
              <a:rPr lang="tr-TR" sz="1050" b="1" dirty="0">
                <a:solidFill>
                  <a:srgbClr val="212121"/>
                </a:solidFill>
                <a:latin typeface="Calibri" pitchFamily="34" charset="0"/>
                <a:ea typeface="Calibri" pitchFamily="34" charset="-122"/>
                <a:cs typeface="Calibri" pitchFamily="34" charset="-120"/>
              </a:rPr>
              <a:t>P3</a:t>
            </a:r>
            <a:endParaRPr lang="tr-TR" sz="1050" dirty="0"/>
          </a:p>
        </p:txBody>
      </p:sp>
      <p:sp>
        <p:nvSpPr>
          <p:cNvPr id="45" name="Shape 43"/>
          <p:cNvSpPr/>
          <p:nvPr/>
        </p:nvSpPr>
        <p:spPr>
          <a:xfrm>
            <a:off x="6560820" y="2971800"/>
            <a:ext cx="342900" cy="731520"/>
          </a:xfrm>
          <a:prstGeom prst="rect">
            <a:avLst/>
          </a:prstGeom>
          <a:solidFill>
            <a:srgbClr val="C9D3D6"/>
          </a:solidFill>
          <a:ln w="9525">
            <a:solidFill>
              <a:srgbClr val="FFFFFF"/>
            </a:solidFill>
            <a:prstDash val="solid"/>
          </a:ln>
        </p:spPr>
      </p:sp>
      <p:sp>
        <p:nvSpPr>
          <p:cNvPr id="46" name="Text 44"/>
          <p:cNvSpPr txBox="1"/>
          <p:nvPr/>
        </p:nvSpPr>
        <p:spPr>
          <a:xfrm>
            <a:off x="6560820" y="2971800"/>
            <a:ext cx="342900" cy="731520"/>
          </a:xfrm>
          <a:prstGeom prst="rect">
            <a:avLst/>
          </a:prstGeom>
          <a:noFill/>
          <a:ln/>
        </p:spPr>
        <p:txBody>
          <a:bodyPr wrap="square" lIns="0" tIns="0" rIns="0" bIns="0" rtlCol="0" anchor="ctr"/>
          <a:lstStyle/>
          <a:p>
            <a:pPr algn="ctr" indent="0" marL="0">
              <a:buNone/>
            </a:pPr>
            <a:r>
              <a:rPr lang="tr-TR" sz="1050" b="1" dirty="0">
                <a:solidFill>
                  <a:srgbClr val="212121"/>
                </a:solidFill>
                <a:latin typeface="Calibri" pitchFamily="34" charset="0"/>
                <a:ea typeface="Calibri" pitchFamily="34" charset="-122"/>
                <a:cs typeface="Calibri" pitchFamily="34" charset="-120"/>
              </a:rPr>
              <a:t>P4</a:t>
            </a:r>
            <a:endParaRPr lang="tr-TR" sz="1050" dirty="0"/>
          </a:p>
        </p:txBody>
      </p:sp>
      <p:sp>
        <p:nvSpPr>
          <p:cNvPr id="47" name="Shape 45"/>
          <p:cNvSpPr/>
          <p:nvPr/>
        </p:nvSpPr>
        <p:spPr>
          <a:xfrm>
            <a:off x="8161020" y="2971800"/>
            <a:ext cx="342900" cy="731520"/>
          </a:xfrm>
          <a:prstGeom prst="rect">
            <a:avLst/>
          </a:prstGeom>
          <a:solidFill>
            <a:srgbClr val="C9D3D6"/>
          </a:solidFill>
          <a:ln w="9525">
            <a:solidFill>
              <a:srgbClr val="FFFFFF"/>
            </a:solidFill>
            <a:prstDash val="solid"/>
          </a:ln>
        </p:spPr>
      </p:sp>
      <p:sp>
        <p:nvSpPr>
          <p:cNvPr id="48" name="Text 46"/>
          <p:cNvSpPr txBox="1"/>
          <p:nvPr/>
        </p:nvSpPr>
        <p:spPr>
          <a:xfrm>
            <a:off x="8161020" y="2971800"/>
            <a:ext cx="342900" cy="731520"/>
          </a:xfrm>
          <a:prstGeom prst="rect">
            <a:avLst/>
          </a:prstGeom>
          <a:noFill/>
          <a:ln/>
        </p:spPr>
        <p:txBody>
          <a:bodyPr wrap="square" lIns="0" tIns="0" rIns="0" bIns="0" rtlCol="0" anchor="ctr"/>
          <a:lstStyle/>
          <a:p>
            <a:pPr algn="ctr" indent="0" marL="0">
              <a:buNone/>
            </a:pPr>
            <a:r>
              <a:rPr lang="tr-TR" sz="1050" b="1" dirty="0">
                <a:solidFill>
                  <a:srgbClr val="212121"/>
                </a:solidFill>
                <a:latin typeface="Calibri" pitchFamily="34" charset="0"/>
                <a:ea typeface="Calibri" pitchFamily="34" charset="-122"/>
                <a:cs typeface="Calibri" pitchFamily="34" charset="-120"/>
              </a:rPr>
              <a:t>P5</a:t>
            </a:r>
            <a:endParaRPr lang="tr-TR" sz="1050" dirty="0"/>
          </a:p>
        </p:txBody>
      </p:sp>
      <p:sp>
        <p:nvSpPr>
          <p:cNvPr id="49" name="Shape 47"/>
          <p:cNvSpPr/>
          <p:nvPr/>
        </p:nvSpPr>
        <p:spPr>
          <a:xfrm>
            <a:off x="5760720" y="2971800"/>
            <a:ext cx="502920" cy="731520"/>
          </a:xfrm>
          <a:prstGeom prst="rect">
            <a:avLst/>
          </a:prstGeom>
          <a:solidFill>
            <a:srgbClr val="02C39A"/>
          </a:solidFill>
          <a:ln w="9525">
            <a:solidFill>
              <a:srgbClr val="FFFFFF"/>
            </a:solidFill>
            <a:prstDash val="solid"/>
          </a:ln>
        </p:spPr>
      </p:sp>
      <p:sp>
        <p:nvSpPr>
          <p:cNvPr id="50" name="Text 48"/>
          <p:cNvSpPr txBox="1"/>
          <p:nvPr/>
        </p:nvSpPr>
        <p:spPr>
          <a:xfrm>
            <a:off x="5760720" y="2971800"/>
            <a:ext cx="502920" cy="731520"/>
          </a:xfrm>
          <a:prstGeom prst="rect">
            <a:avLst/>
          </a:prstGeom>
          <a:noFill/>
          <a:ln/>
        </p:spPr>
        <p:txBody>
          <a:bodyPr wrap="square" lIns="0" tIns="0" rIns="0" bIns="0" rtlCol="0" anchor="ctr"/>
          <a:lstStyle/>
          <a:p>
            <a:pPr algn="ctr" indent="0" marL="0">
              <a:buNone/>
            </a:pPr>
            <a:r>
              <a:rPr lang="tr-TR" sz="1050" b="1" dirty="0">
                <a:solidFill>
                  <a:srgbClr val="212121"/>
                </a:solidFill>
                <a:latin typeface="Calibri" pitchFamily="34" charset="0"/>
                <a:ea typeface="Calibri" pitchFamily="34" charset="-122"/>
                <a:cs typeface="Calibri" pitchFamily="34" charset="-120"/>
              </a:rPr>
              <a:t>A</a:t>
            </a:r>
            <a:endParaRPr lang="tr-TR" sz="1050" dirty="0"/>
          </a:p>
        </p:txBody>
      </p:sp>
      <p:sp>
        <p:nvSpPr>
          <p:cNvPr id="51" name="Shape 49"/>
          <p:cNvSpPr/>
          <p:nvPr/>
        </p:nvSpPr>
        <p:spPr>
          <a:xfrm>
            <a:off x="3474720" y="2971800"/>
            <a:ext cx="914400" cy="731520"/>
          </a:xfrm>
          <a:prstGeom prst="rect">
            <a:avLst/>
          </a:prstGeom>
          <a:solidFill>
            <a:srgbClr val="02C39A"/>
          </a:solidFill>
          <a:ln w="9525">
            <a:solidFill>
              <a:srgbClr val="FFFFFF"/>
            </a:solidFill>
            <a:prstDash val="solid"/>
          </a:ln>
        </p:spPr>
      </p:sp>
      <p:sp>
        <p:nvSpPr>
          <p:cNvPr id="52" name="Text 50"/>
          <p:cNvSpPr txBox="1"/>
          <p:nvPr/>
        </p:nvSpPr>
        <p:spPr>
          <a:xfrm>
            <a:off x="3474720" y="2971800"/>
            <a:ext cx="914400" cy="731520"/>
          </a:xfrm>
          <a:prstGeom prst="rect">
            <a:avLst/>
          </a:prstGeom>
          <a:noFill/>
          <a:ln/>
        </p:spPr>
        <p:txBody>
          <a:bodyPr wrap="square" lIns="0" tIns="0" rIns="0" bIns="0" rtlCol="0" anchor="ctr"/>
          <a:lstStyle/>
          <a:p>
            <a:pPr algn="ctr" indent="0" marL="0">
              <a:buNone/>
            </a:pPr>
            <a:r>
              <a:rPr lang="tr-TR" sz="1050" b="1" dirty="0">
                <a:solidFill>
                  <a:srgbClr val="212121"/>
                </a:solidFill>
                <a:latin typeface="Calibri" pitchFamily="34" charset="0"/>
                <a:ea typeface="Calibri" pitchFamily="34" charset="-122"/>
                <a:cs typeface="Calibri" pitchFamily="34" charset="-120"/>
              </a:rPr>
              <a:t>B</a:t>
            </a:r>
            <a:endParaRPr lang="tr-TR" sz="1050" dirty="0"/>
          </a:p>
        </p:txBody>
      </p:sp>
      <p:sp>
        <p:nvSpPr>
          <p:cNvPr id="53" name="Shape 51"/>
          <p:cNvSpPr/>
          <p:nvPr/>
        </p:nvSpPr>
        <p:spPr>
          <a:xfrm>
            <a:off x="6263640" y="2971800"/>
            <a:ext cx="297180" cy="731520"/>
          </a:xfrm>
          <a:prstGeom prst="rect">
            <a:avLst/>
          </a:prstGeom>
          <a:solidFill>
            <a:srgbClr val="02C39A"/>
          </a:solidFill>
          <a:ln w="9525">
            <a:solidFill>
              <a:srgbClr val="FFFFFF"/>
            </a:solidFill>
            <a:prstDash val="solid"/>
          </a:ln>
        </p:spPr>
      </p:sp>
      <p:sp>
        <p:nvSpPr>
          <p:cNvPr id="54" name="Text 52"/>
          <p:cNvSpPr txBox="1"/>
          <p:nvPr/>
        </p:nvSpPr>
        <p:spPr>
          <a:xfrm>
            <a:off x="6263640" y="2971800"/>
            <a:ext cx="297180" cy="731520"/>
          </a:xfrm>
          <a:prstGeom prst="rect">
            <a:avLst/>
          </a:prstGeom>
          <a:noFill/>
          <a:ln/>
        </p:spPr>
        <p:txBody>
          <a:bodyPr wrap="square" lIns="0" tIns="0" rIns="0" bIns="0" rtlCol="0" anchor="ctr"/>
          <a:lstStyle/>
          <a:p>
            <a:pPr algn="ctr" indent="0" marL="0">
              <a:buNone/>
            </a:pPr>
            <a:r>
              <a:rPr lang="tr-TR" sz="1050" b="1" dirty="0">
                <a:solidFill>
                  <a:srgbClr val="212121"/>
                </a:solidFill>
                <a:latin typeface="Calibri" pitchFamily="34" charset="0"/>
                <a:ea typeface="Calibri" pitchFamily="34" charset="-122"/>
                <a:cs typeface="Calibri" pitchFamily="34" charset="-120"/>
              </a:rPr>
              <a:t>C</a:t>
            </a:r>
            <a:endParaRPr lang="tr-TR" sz="1050" dirty="0"/>
          </a:p>
        </p:txBody>
      </p:sp>
      <p:sp>
        <p:nvSpPr>
          <p:cNvPr id="55" name="Shape 53"/>
          <p:cNvSpPr/>
          <p:nvPr/>
        </p:nvSpPr>
        <p:spPr>
          <a:xfrm>
            <a:off x="6903720" y="2971800"/>
            <a:ext cx="982980" cy="731520"/>
          </a:xfrm>
          <a:prstGeom prst="rect">
            <a:avLst/>
          </a:prstGeom>
          <a:solidFill>
            <a:srgbClr val="02C39A"/>
          </a:solidFill>
          <a:ln w="9525">
            <a:solidFill>
              <a:srgbClr val="FFFFFF"/>
            </a:solidFill>
            <a:prstDash val="solid"/>
          </a:ln>
        </p:spPr>
      </p:sp>
      <p:sp>
        <p:nvSpPr>
          <p:cNvPr id="56" name="Text 54"/>
          <p:cNvSpPr txBox="1"/>
          <p:nvPr/>
        </p:nvSpPr>
        <p:spPr>
          <a:xfrm>
            <a:off x="6903720" y="2971800"/>
            <a:ext cx="982980" cy="731520"/>
          </a:xfrm>
          <a:prstGeom prst="rect">
            <a:avLst/>
          </a:prstGeom>
          <a:noFill/>
          <a:ln/>
        </p:spPr>
        <p:txBody>
          <a:bodyPr wrap="square" lIns="0" tIns="0" rIns="0" bIns="0" rtlCol="0" anchor="ctr"/>
          <a:lstStyle/>
          <a:p>
            <a:pPr algn="ctr" indent="0" marL="0">
              <a:buNone/>
            </a:pPr>
            <a:r>
              <a:rPr lang="tr-TR" sz="1050" b="1" dirty="0">
                <a:solidFill>
                  <a:srgbClr val="212121"/>
                </a:solidFill>
                <a:latin typeface="Calibri" pitchFamily="34" charset="0"/>
                <a:ea typeface="Calibri" pitchFamily="34" charset="-122"/>
                <a:cs typeface="Calibri" pitchFamily="34" charset="-120"/>
              </a:rPr>
              <a:t>D</a:t>
            </a:r>
            <a:endParaRPr lang="tr-TR" sz="1050" dirty="0"/>
          </a:p>
        </p:txBody>
      </p:sp>
      <p:sp>
        <p:nvSpPr>
          <p:cNvPr id="57" name="Shape 55"/>
          <p:cNvSpPr/>
          <p:nvPr/>
        </p:nvSpPr>
        <p:spPr>
          <a:xfrm>
            <a:off x="2788920" y="2971800"/>
            <a:ext cx="342900" cy="731520"/>
          </a:xfrm>
          <a:prstGeom prst="rect">
            <a:avLst/>
          </a:prstGeom>
          <a:solidFill>
            <a:srgbClr val="FFFFFF"/>
          </a:solidFill>
          <a:ln w="12700">
            <a:solidFill>
              <a:srgbClr val="50808E"/>
            </a:solidFill>
            <a:prstDash val="dash"/>
          </a:ln>
        </p:spPr>
      </p:sp>
      <p:sp>
        <p:nvSpPr>
          <p:cNvPr id="58" name="Text 56"/>
          <p:cNvSpPr txBox="1"/>
          <p:nvPr/>
        </p:nvSpPr>
        <p:spPr>
          <a:xfrm>
            <a:off x="2514600" y="3721608"/>
            <a:ext cx="891540" cy="228600"/>
          </a:xfrm>
          <a:prstGeom prst="rect">
            <a:avLst/>
          </a:prstGeom>
          <a:noFill/>
          <a:ln/>
        </p:spPr>
        <p:txBody>
          <a:bodyPr wrap="square" lIns="0" tIns="0" rIns="0" bIns="0" rtlCol="0" anchor="t"/>
          <a:lstStyle/>
          <a:p>
            <a:pPr algn="ctr" indent="0" marL="0">
              <a:buNone/>
            </a:pPr>
            <a:r>
              <a:rPr lang="tr-TR" sz="1000" dirty="0">
                <a:solidFill>
                  <a:srgbClr val="50808E"/>
                </a:solidFill>
                <a:latin typeface="Calibri" pitchFamily="34" charset="0"/>
                <a:ea typeface="Calibri" pitchFamily="34" charset="-122"/>
                <a:cs typeface="Calibri" pitchFamily="34" charset="-120"/>
              </a:rPr>
              <a:t>150</a:t>
            </a:r>
            <a:endParaRPr lang="tr-TR" sz="1000" dirty="0"/>
          </a:p>
        </p:txBody>
      </p:sp>
      <p:sp>
        <p:nvSpPr>
          <p:cNvPr id="59" name="Shape 57"/>
          <p:cNvSpPr/>
          <p:nvPr/>
        </p:nvSpPr>
        <p:spPr>
          <a:xfrm>
            <a:off x="4389120" y="2971800"/>
            <a:ext cx="114300" cy="731520"/>
          </a:xfrm>
          <a:prstGeom prst="rect">
            <a:avLst/>
          </a:prstGeom>
          <a:solidFill>
            <a:srgbClr val="FFFFFF"/>
          </a:solidFill>
          <a:ln w="12700">
            <a:solidFill>
              <a:srgbClr val="50808E"/>
            </a:solidFill>
            <a:prstDash val="dash"/>
          </a:ln>
        </p:spPr>
      </p:sp>
      <p:sp>
        <p:nvSpPr>
          <p:cNvPr id="60" name="Text 58"/>
          <p:cNvSpPr txBox="1"/>
          <p:nvPr/>
        </p:nvSpPr>
        <p:spPr>
          <a:xfrm>
            <a:off x="4114800" y="3721608"/>
            <a:ext cx="662940" cy="228600"/>
          </a:xfrm>
          <a:prstGeom prst="rect">
            <a:avLst/>
          </a:prstGeom>
          <a:noFill/>
          <a:ln/>
        </p:spPr>
        <p:txBody>
          <a:bodyPr wrap="square" lIns="0" tIns="0" rIns="0" bIns="0" rtlCol="0" anchor="t"/>
          <a:lstStyle/>
          <a:p>
            <a:pPr algn="ctr" indent="0" marL="0">
              <a:buNone/>
            </a:pPr>
            <a:r>
              <a:rPr lang="tr-TR" sz="1000" dirty="0">
                <a:solidFill>
                  <a:srgbClr val="50808E"/>
                </a:solidFill>
                <a:latin typeface="Calibri" pitchFamily="34" charset="0"/>
                <a:ea typeface="Calibri" pitchFamily="34" charset="-122"/>
                <a:cs typeface="Calibri" pitchFamily="34" charset="-120"/>
              </a:rPr>
              <a:t>50</a:t>
            </a:r>
            <a:endParaRPr lang="tr-TR" sz="1000" dirty="0"/>
          </a:p>
        </p:txBody>
      </p:sp>
      <p:sp>
        <p:nvSpPr>
          <p:cNvPr id="61" name="Shape 59"/>
          <p:cNvSpPr/>
          <p:nvPr/>
        </p:nvSpPr>
        <p:spPr>
          <a:xfrm>
            <a:off x="4846320" y="2971800"/>
            <a:ext cx="457200" cy="731520"/>
          </a:xfrm>
          <a:prstGeom prst="rect">
            <a:avLst/>
          </a:prstGeom>
          <a:solidFill>
            <a:srgbClr val="FFFFFF"/>
          </a:solidFill>
          <a:ln w="12700">
            <a:solidFill>
              <a:srgbClr val="50808E"/>
            </a:solidFill>
            <a:prstDash val="dash"/>
          </a:ln>
        </p:spPr>
      </p:sp>
      <p:sp>
        <p:nvSpPr>
          <p:cNvPr id="62" name="Text 60"/>
          <p:cNvSpPr txBox="1"/>
          <p:nvPr/>
        </p:nvSpPr>
        <p:spPr>
          <a:xfrm>
            <a:off x="4846320" y="2971800"/>
            <a:ext cx="457200" cy="731520"/>
          </a:xfrm>
          <a:prstGeom prst="rect">
            <a:avLst/>
          </a:prstGeom>
          <a:noFill/>
          <a:ln/>
        </p:spPr>
        <p:txBody>
          <a:bodyPr wrap="square" lIns="0" tIns="0" rIns="0" bIns="0" rtlCol="0" anchor="ctr"/>
          <a:lstStyle/>
          <a:p>
            <a:pPr algn="ctr" indent="0" marL="0">
              <a:buNone/>
            </a:pPr>
            <a:r>
              <a:rPr lang="tr-TR" sz="1050" dirty="0">
                <a:solidFill>
                  <a:srgbClr val="50808E"/>
                </a:solidFill>
                <a:latin typeface="Calibri" pitchFamily="34" charset="0"/>
                <a:ea typeface="Calibri" pitchFamily="34" charset="-122"/>
                <a:cs typeface="Calibri" pitchFamily="34" charset="-120"/>
              </a:rPr>
              <a:t>200</a:t>
            </a:r>
            <a:endParaRPr lang="tr-TR" sz="1050" dirty="0"/>
          </a:p>
        </p:txBody>
      </p:sp>
      <p:sp>
        <p:nvSpPr>
          <p:cNvPr id="63" name="Shape 61"/>
          <p:cNvSpPr/>
          <p:nvPr/>
        </p:nvSpPr>
        <p:spPr>
          <a:xfrm>
            <a:off x="7886700" y="2971800"/>
            <a:ext cx="274320" cy="731520"/>
          </a:xfrm>
          <a:prstGeom prst="rect">
            <a:avLst/>
          </a:prstGeom>
          <a:solidFill>
            <a:srgbClr val="FFFFFF"/>
          </a:solidFill>
          <a:ln w="12700">
            <a:solidFill>
              <a:srgbClr val="50808E"/>
            </a:solidFill>
            <a:prstDash val="dash"/>
          </a:ln>
        </p:spPr>
      </p:sp>
      <p:sp>
        <p:nvSpPr>
          <p:cNvPr id="64" name="Text 62"/>
          <p:cNvSpPr txBox="1"/>
          <p:nvPr/>
        </p:nvSpPr>
        <p:spPr>
          <a:xfrm>
            <a:off x="7612380" y="3721608"/>
            <a:ext cx="822960" cy="228600"/>
          </a:xfrm>
          <a:prstGeom prst="rect">
            <a:avLst/>
          </a:prstGeom>
          <a:noFill/>
          <a:ln/>
        </p:spPr>
        <p:txBody>
          <a:bodyPr wrap="square" lIns="0" tIns="0" rIns="0" bIns="0" rtlCol="0" anchor="t"/>
          <a:lstStyle/>
          <a:p>
            <a:pPr algn="ctr" indent="0" marL="0">
              <a:buNone/>
            </a:pPr>
            <a:r>
              <a:rPr lang="tr-TR" sz="1000" dirty="0">
                <a:solidFill>
                  <a:srgbClr val="50808E"/>
                </a:solidFill>
                <a:latin typeface="Calibri" pitchFamily="34" charset="0"/>
                <a:ea typeface="Calibri" pitchFamily="34" charset="-122"/>
                <a:cs typeface="Calibri" pitchFamily="34" charset="-120"/>
              </a:rPr>
              <a:t>120</a:t>
            </a:r>
            <a:endParaRPr lang="tr-TR" sz="1000" dirty="0"/>
          </a:p>
        </p:txBody>
      </p:sp>
      <p:sp>
        <p:nvSpPr>
          <p:cNvPr id="65" name="Text 63"/>
          <p:cNvSpPr txBox="1"/>
          <p:nvPr/>
        </p:nvSpPr>
        <p:spPr>
          <a:xfrm>
            <a:off x="8732520" y="2971800"/>
            <a:ext cx="2926080" cy="731520"/>
          </a:xfrm>
          <a:prstGeom prst="rect">
            <a:avLst/>
          </a:prstGeom>
          <a:noFill/>
          <a:ln/>
        </p:spPr>
        <p:txBody>
          <a:bodyPr wrap="square" lIns="0" tIns="0" rIns="0" bIns="0" rtlCol="0" anchor="ctr"/>
          <a:lstStyle/>
          <a:p>
            <a:pPr indent="0" marL="0">
              <a:buNone/>
            </a:pPr>
            <a:r>
              <a:rPr lang="tr-TR" sz="1300" b="1" dirty="0">
                <a:solidFill>
                  <a:srgbClr val="028090"/>
                </a:solidFill>
                <a:latin typeface="Calibri" pitchFamily="34" charset="0"/>
                <a:ea typeface="Calibri" pitchFamily="34" charset="-122"/>
                <a:cs typeface="Calibri" pitchFamily="34" charset="-120"/>
              </a:rPr>
              <a:t>Dördü de yerleşti.</a:t>
            </a:r>
            <a:endParaRPr lang="tr-TR" sz="1300" dirty="0"/>
          </a:p>
        </p:txBody>
      </p:sp>
      <p:sp>
        <p:nvSpPr>
          <p:cNvPr id="66" name="Text 64"/>
          <p:cNvSpPr txBox="1"/>
          <p:nvPr/>
        </p:nvSpPr>
        <p:spPr>
          <a:xfrm>
            <a:off x="548640" y="4343400"/>
            <a:ext cx="1508760" cy="731520"/>
          </a:xfrm>
          <a:prstGeom prst="rect">
            <a:avLst/>
          </a:prstGeom>
          <a:noFill/>
          <a:ln/>
        </p:spPr>
        <p:txBody>
          <a:bodyPr wrap="square" lIns="0" tIns="0" rIns="0" bIns="0" rtlCol="0" anchor="ctr"/>
          <a:lstStyle/>
          <a:p>
            <a:pPr indent="0" marL="0">
              <a:buNone/>
            </a:pPr>
            <a:r>
              <a:rPr lang="tr-TR" sz="1450" b="1" dirty="0">
                <a:solidFill>
                  <a:srgbClr val="36454F"/>
                </a:solidFill>
                <a:latin typeface="Cambria" pitchFamily="34" charset="0"/>
                <a:ea typeface="Cambria" pitchFamily="34" charset="-122"/>
                <a:cs typeface="Cambria" pitchFamily="34" charset="-120"/>
              </a:rPr>
              <a:t>En kötü uyan</a:t>
            </a:r>
            <a:endParaRPr lang="tr-TR" sz="1450" dirty="0"/>
          </a:p>
        </p:txBody>
      </p:sp>
      <p:sp>
        <p:nvSpPr>
          <p:cNvPr id="67" name="Shape 65"/>
          <p:cNvSpPr/>
          <p:nvPr/>
        </p:nvSpPr>
        <p:spPr>
          <a:xfrm>
            <a:off x="2103120" y="4343400"/>
            <a:ext cx="685800" cy="731520"/>
          </a:xfrm>
          <a:prstGeom prst="rect">
            <a:avLst/>
          </a:prstGeom>
          <a:solidFill>
            <a:srgbClr val="36454F"/>
          </a:solidFill>
          <a:ln w="9525">
            <a:solidFill>
              <a:srgbClr val="FFFFFF"/>
            </a:solidFill>
            <a:prstDash val="solid"/>
          </a:ln>
        </p:spPr>
      </p:sp>
      <p:sp>
        <p:nvSpPr>
          <p:cNvPr id="68" name="Text 66"/>
          <p:cNvSpPr txBox="1"/>
          <p:nvPr/>
        </p:nvSpPr>
        <p:spPr>
          <a:xfrm>
            <a:off x="2103120" y="4343400"/>
            <a:ext cx="685800" cy="731520"/>
          </a:xfrm>
          <a:prstGeom prst="rect">
            <a:avLst/>
          </a:prstGeom>
          <a:noFill/>
          <a:ln/>
        </p:spPr>
        <p:txBody>
          <a:bodyPr wrap="square" lIns="0" tIns="0" rIns="0" bIns="0" rtlCol="0" anchor="ctr"/>
          <a:lstStyle/>
          <a:p>
            <a:pPr algn="ctr" indent="0" marL="0">
              <a:buNone/>
            </a:pPr>
            <a:r>
              <a:rPr lang="tr-TR" sz="1050" b="1" dirty="0">
                <a:solidFill>
                  <a:srgbClr val="FFFFFF"/>
                </a:solidFill>
                <a:latin typeface="Calibri" pitchFamily="34" charset="0"/>
                <a:ea typeface="Calibri" pitchFamily="34" charset="-122"/>
                <a:cs typeface="Calibri" pitchFamily="34" charset="-120"/>
              </a:rPr>
              <a:t>İS</a:t>
            </a:r>
            <a:endParaRPr lang="tr-TR" sz="1050" dirty="0"/>
          </a:p>
        </p:txBody>
      </p:sp>
      <p:sp>
        <p:nvSpPr>
          <p:cNvPr id="69" name="Shape 67"/>
          <p:cNvSpPr/>
          <p:nvPr/>
        </p:nvSpPr>
        <p:spPr>
          <a:xfrm>
            <a:off x="3131820" y="4343400"/>
            <a:ext cx="342900" cy="731520"/>
          </a:xfrm>
          <a:prstGeom prst="rect">
            <a:avLst/>
          </a:prstGeom>
          <a:solidFill>
            <a:srgbClr val="C9D3D6"/>
          </a:solidFill>
          <a:ln w="9525">
            <a:solidFill>
              <a:srgbClr val="FFFFFF"/>
            </a:solidFill>
            <a:prstDash val="solid"/>
          </a:ln>
        </p:spPr>
      </p:sp>
      <p:sp>
        <p:nvSpPr>
          <p:cNvPr id="70" name="Text 68"/>
          <p:cNvSpPr txBox="1"/>
          <p:nvPr/>
        </p:nvSpPr>
        <p:spPr>
          <a:xfrm>
            <a:off x="3131820" y="4343400"/>
            <a:ext cx="342900" cy="731520"/>
          </a:xfrm>
          <a:prstGeom prst="rect">
            <a:avLst/>
          </a:prstGeom>
          <a:noFill/>
          <a:ln/>
        </p:spPr>
        <p:txBody>
          <a:bodyPr wrap="square" lIns="0" tIns="0" rIns="0" bIns="0" rtlCol="0" anchor="ctr"/>
          <a:lstStyle/>
          <a:p>
            <a:pPr algn="ctr" indent="0" marL="0">
              <a:buNone/>
            </a:pPr>
            <a:r>
              <a:rPr lang="tr-TR" sz="1050" b="1" dirty="0">
                <a:solidFill>
                  <a:srgbClr val="212121"/>
                </a:solidFill>
                <a:latin typeface="Calibri" pitchFamily="34" charset="0"/>
                <a:ea typeface="Calibri" pitchFamily="34" charset="-122"/>
                <a:cs typeface="Calibri" pitchFamily="34" charset="-120"/>
              </a:rPr>
              <a:t>P1</a:t>
            </a:r>
            <a:endParaRPr lang="tr-TR" sz="1050" dirty="0"/>
          </a:p>
        </p:txBody>
      </p:sp>
      <p:sp>
        <p:nvSpPr>
          <p:cNvPr id="71" name="Shape 69"/>
          <p:cNvSpPr/>
          <p:nvPr/>
        </p:nvSpPr>
        <p:spPr>
          <a:xfrm>
            <a:off x="4503420" y="4343400"/>
            <a:ext cx="342900" cy="731520"/>
          </a:xfrm>
          <a:prstGeom prst="rect">
            <a:avLst/>
          </a:prstGeom>
          <a:solidFill>
            <a:srgbClr val="C9D3D6"/>
          </a:solidFill>
          <a:ln w="9525">
            <a:solidFill>
              <a:srgbClr val="FFFFFF"/>
            </a:solidFill>
            <a:prstDash val="solid"/>
          </a:ln>
        </p:spPr>
      </p:sp>
      <p:sp>
        <p:nvSpPr>
          <p:cNvPr id="72" name="Text 70"/>
          <p:cNvSpPr txBox="1"/>
          <p:nvPr/>
        </p:nvSpPr>
        <p:spPr>
          <a:xfrm>
            <a:off x="4503420" y="4343400"/>
            <a:ext cx="342900" cy="731520"/>
          </a:xfrm>
          <a:prstGeom prst="rect">
            <a:avLst/>
          </a:prstGeom>
          <a:noFill/>
          <a:ln/>
        </p:spPr>
        <p:txBody>
          <a:bodyPr wrap="square" lIns="0" tIns="0" rIns="0" bIns="0" rtlCol="0" anchor="ctr"/>
          <a:lstStyle/>
          <a:p>
            <a:pPr algn="ctr" indent="0" marL="0">
              <a:buNone/>
            </a:pPr>
            <a:r>
              <a:rPr lang="tr-TR" sz="1050" b="1" dirty="0">
                <a:solidFill>
                  <a:srgbClr val="212121"/>
                </a:solidFill>
                <a:latin typeface="Calibri" pitchFamily="34" charset="0"/>
                <a:ea typeface="Calibri" pitchFamily="34" charset="-122"/>
                <a:cs typeface="Calibri" pitchFamily="34" charset="-120"/>
              </a:rPr>
              <a:t>P2</a:t>
            </a:r>
            <a:endParaRPr lang="tr-TR" sz="1050" dirty="0"/>
          </a:p>
        </p:txBody>
      </p:sp>
      <p:sp>
        <p:nvSpPr>
          <p:cNvPr id="73" name="Shape 71"/>
          <p:cNvSpPr/>
          <p:nvPr/>
        </p:nvSpPr>
        <p:spPr>
          <a:xfrm>
            <a:off x="5303520" y="4343400"/>
            <a:ext cx="457200" cy="731520"/>
          </a:xfrm>
          <a:prstGeom prst="rect">
            <a:avLst/>
          </a:prstGeom>
          <a:solidFill>
            <a:srgbClr val="C9D3D6"/>
          </a:solidFill>
          <a:ln w="9525">
            <a:solidFill>
              <a:srgbClr val="FFFFFF"/>
            </a:solidFill>
            <a:prstDash val="solid"/>
          </a:ln>
        </p:spPr>
      </p:sp>
      <p:sp>
        <p:nvSpPr>
          <p:cNvPr id="74" name="Text 72"/>
          <p:cNvSpPr txBox="1"/>
          <p:nvPr/>
        </p:nvSpPr>
        <p:spPr>
          <a:xfrm>
            <a:off x="5303520" y="4343400"/>
            <a:ext cx="457200" cy="731520"/>
          </a:xfrm>
          <a:prstGeom prst="rect">
            <a:avLst/>
          </a:prstGeom>
          <a:noFill/>
          <a:ln/>
        </p:spPr>
        <p:txBody>
          <a:bodyPr wrap="square" lIns="0" tIns="0" rIns="0" bIns="0" rtlCol="0" anchor="ctr"/>
          <a:lstStyle/>
          <a:p>
            <a:pPr algn="ctr" indent="0" marL="0">
              <a:buNone/>
            </a:pPr>
            <a:r>
              <a:rPr lang="tr-TR" sz="1050" b="1" dirty="0">
                <a:solidFill>
                  <a:srgbClr val="212121"/>
                </a:solidFill>
                <a:latin typeface="Calibri" pitchFamily="34" charset="0"/>
                <a:ea typeface="Calibri" pitchFamily="34" charset="-122"/>
                <a:cs typeface="Calibri" pitchFamily="34" charset="-120"/>
              </a:rPr>
              <a:t>P3</a:t>
            </a:r>
            <a:endParaRPr lang="tr-TR" sz="1050" dirty="0"/>
          </a:p>
        </p:txBody>
      </p:sp>
      <p:sp>
        <p:nvSpPr>
          <p:cNvPr id="75" name="Shape 73"/>
          <p:cNvSpPr/>
          <p:nvPr/>
        </p:nvSpPr>
        <p:spPr>
          <a:xfrm>
            <a:off x="6560820" y="4343400"/>
            <a:ext cx="342900" cy="731520"/>
          </a:xfrm>
          <a:prstGeom prst="rect">
            <a:avLst/>
          </a:prstGeom>
          <a:solidFill>
            <a:srgbClr val="C9D3D6"/>
          </a:solidFill>
          <a:ln w="9525">
            <a:solidFill>
              <a:srgbClr val="FFFFFF"/>
            </a:solidFill>
            <a:prstDash val="solid"/>
          </a:ln>
        </p:spPr>
      </p:sp>
      <p:sp>
        <p:nvSpPr>
          <p:cNvPr id="76" name="Text 74"/>
          <p:cNvSpPr txBox="1"/>
          <p:nvPr/>
        </p:nvSpPr>
        <p:spPr>
          <a:xfrm>
            <a:off x="6560820" y="4343400"/>
            <a:ext cx="342900" cy="731520"/>
          </a:xfrm>
          <a:prstGeom prst="rect">
            <a:avLst/>
          </a:prstGeom>
          <a:noFill/>
          <a:ln/>
        </p:spPr>
        <p:txBody>
          <a:bodyPr wrap="square" lIns="0" tIns="0" rIns="0" bIns="0" rtlCol="0" anchor="ctr"/>
          <a:lstStyle/>
          <a:p>
            <a:pPr algn="ctr" indent="0" marL="0">
              <a:buNone/>
            </a:pPr>
            <a:r>
              <a:rPr lang="tr-TR" sz="1050" b="1" dirty="0">
                <a:solidFill>
                  <a:srgbClr val="212121"/>
                </a:solidFill>
                <a:latin typeface="Calibri" pitchFamily="34" charset="0"/>
                <a:ea typeface="Calibri" pitchFamily="34" charset="-122"/>
                <a:cs typeface="Calibri" pitchFamily="34" charset="-120"/>
              </a:rPr>
              <a:t>P4</a:t>
            </a:r>
            <a:endParaRPr lang="tr-TR" sz="1050" dirty="0"/>
          </a:p>
        </p:txBody>
      </p:sp>
      <p:sp>
        <p:nvSpPr>
          <p:cNvPr id="77" name="Shape 75"/>
          <p:cNvSpPr/>
          <p:nvPr/>
        </p:nvSpPr>
        <p:spPr>
          <a:xfrm>
            <a:off x="8161020" y="4343400"/>
            <a:ext cx="342900" cy="731520"/>
          </a:xfrm>
          <a:prstGeom prst="rect">
            <a:avLst/>
          </a:prstGeom>
          <a:solidFill>
            <a:srgbClr val="C9D3D6"/>
          </a:solidFill>
          <a:ln w="9525">
            <a:solidFill>
              <a:srgbClr val="FFFFFF"/>
            </a:solidFill>
            <a:prstDash val="solid"/>
          </a:ln>
        </p:spPr>
      </p:sp>
      <p:sp>
        <p:nvSpPr>
          <p:cNvPr id="78" name="Text 76"/>
          <p:cNvSpPr txBox="1"/>
          <p:nvPr/>
        </p:nvSpPr>
        <p:spPr>
          <a:xfrm>
            <a:off x="8161020" y="4343400"/>
            <a:ext cx="342900" cy="731520"/>
          </a:xfrm>
          <a:prstGeom prst="rect">
            <a:avLst/>
          </a:prstGeom>
          <a:noFill/>
          <a:ln/>
        </p:spPr>
        <p:txBody>
          <a:bodyPr wrap="square" lIns="0" tIns="0" rIns="0" bIns="0" rtlCol="0" anchor="ctr"/>
          <a:lstStyle/>
          <a:p>
            <a:pPr algn="ctr" indent="0" marL="0">
              <a:buNone/>
            </a:pPr>
            <a:r>
              <a:rPr lang="tr-TR" sz="1050" b="1" dirty="0">
                <a:solidFill>
                  <a:srgbClr val="212121"/>
                </a:solidFill>
                <a:latin typeface="Calibri" pitchFamily="34" charset="0"/>
                <a:ea typeface="Calibri" pitchFamily="34" charset="-122"/>
                <a:cs typeface="Calibri" pitchFamily="34" charset="-120"/>
              </a:rPr>
              <a:t>P5</a:t>
            </a:r>
            <a:endParaRPr lang="tr-TR" sz="1050" dirty="0"/>
          </a:p>
        </p:txBody>
      </p:sp>
      <p:sp>
        <p:nvSpPr>
          <p:cNvPr id="79" name="Shape 77"/>
          <p:cNvSpPr/>
          <p:nvPr/>
        </p:nvSpPr>
        <p:spPr>
          <a:xfrm>
            <a:off x="6903720" y="4343400"/>
            <a:ext cx="502920" cy="731520"/>
          </a:xfrm>
          <a:prstGeom prst="rect">
            <a:avLst/>
          </a:prstGeom>
          <a:solidFill>
            <a:srgbClr val="02C39A"/>
          </a:solidFill>
          <a:ln w="9525">
            <a:solidFill>
              <a:srgbClr val="FFFFFF"/>
            </a:solidFill>
            <a:prstDash val="solid"/>
          </a:ln>
        </p:spPr>
      </p:sp>
      <p:sp>
        <p:nvSpPr>
          <p:cNvPr id="80" name="Text 78"/>
          <p:cNvSpPr txBox="1"/>
          <p:nvPr/>
        </p:nvSpPr>
        <p:spPr>
          <a:xfrm>
            <a:off x="6903720" y="4343400"/>
            <a:ext cx="502920" cy="731520"/>
          </a:xfrm>
          <a:prstGeom prst="rect">
            <a:avLst/>
          </a:prstGeom>
          <a:noFill/>
          <a:ln/>
        </p:spPr>
        <p:txBody>
          <a:bodyPr wrap="square" lIns="0" tIns="0" rIns="0" bIns="0" rtlCol="0" anchor="ctr"/>
          <a:lstStyle/>
          <a:p>
            <a:pPr algn="ctr" indent="0" marL="0">
              <a:buNone/>
            </a:pPr>
            <a:r>
              <a:rPr lang="tr-TR" sz="1050" b="1" dirty="0">
                <a:solidFill>
                  <a:srgbClr val="212121"/>
                </a:solidFill>
                <a:latin typeface="Calibri" pitchFamily="34" charset="0"/>
                <a:ea typeface="Calibri" pitchFamily="34" charset="-122"/>
                <a:cs typeface="Calibri" pitchFamily="34" charset="-120"/>
              </a:rPr>
              <a:t>A</a:t>
            </a:r>
            <a:endParaRPr lang="tr-TR" sz="1050" dirty="0"/>
          </a:p>
        </p:txBody>
      </p:sp>
      <p:sp>
        <p:nvSpPr>
          <p:cNvPr id="81" name="Shape 79"/>
          <p:cNvSpPr/>
          <p:nvPr/>
        </p:nvSpPr>
        <p:spPr>
          <a:xfrm>
            <a:off x="3474720" y="4343400"/>
            <a:ext cx="914400" cy="731520"/>
          </a:xfrm>
          <a:prstGeom prst="rect">
            <a:avLst/>
          </a:prstGeom>
          <a:solidFill>
            <a:srgbClr val="02C39A"/>
          </a:solidFill>
          <a:ln w="9525">
            <a:solidFill>
              <a:srgbClr val="FFFFFF"/>
            </a:solidFill>
            <a:prstDash val="solid"/>
          </a:ln>
        </p:spPr>
      </p:sp>
      <p:sp>
        <p:nvSpPr>
          <p:cNvPr id="82" name="Text 80"/>
          <p:cNvSpPr txBox="1"/>
          <p:nvPr/>
        </p:nvSpPr>
        <p:spPr>
          <a:xfrm>
            <a:off x="3474720" y="4343400"/>
            <a:ext cx="914400" cy="731520"/>
          </a:xfrm>
          <a:prstGeom prst="rect">
            <a:avLst/>
          </a:prstGeom>
          <a:noFill/>
          <a:ln/>
        </p:spPr>
        <p:txBody>
          <a:bodyPr wrap="square" lIns="0" tIns="0" rIns="0" bIns="0" rtlCol="0" anchor="ctr"/>
          <a:lstStyle/>
          <a:p>
            <a:pPr algn="ctr" indent="0" marL="0">
              <a:buNone/>
            </a:pPr>
            <a:r>
              <a:rPr lang="tr-TR" sz="1050" b="1" dirty="0">
                <a:solidFill>
                  <a:srgbClr val="212121"/>
                </a:solidFill>
                <a:latin typeface="Calibri" pitchFamily="34" charset="0"/>
                <a:ea typeface="Calibri" pitchFamily="34" charset="-122"/>
                <a:cs typeface="Calibri" pitchFamily="34" charset="-120"/>
              </a:rPr>
              <a:t>B</a:t>
            </a:r>
            <a:endParaRPr lang="tr-TR" sz="1050" dirty="0"/>
          </a:p>
        </p:txBody>
      </p:sp>
      <p:sp>
        <p:nvSpPr>
          <p:cNvPr id="83" name="Shape 81"/>
          <p:cNvSpPr/>
          <p:nvPr/>
        </p:nvSpPr>
        <p:spPr>
          <a:xfrm>
            <a:off x="5760720" y="4343400"/>
            <a:ext cx="297180" cy="731520"/>
          </a:xfrm>
          <a:prstGeom prst="rect">
            <a:avLst/>
          </a:prstGeom>
          <a:solidFill>
            <a:srgbClr val="02C39A"/>
          </a:solidFill>
          <a:ln w="9525">
            <a:solidFill>
              <a:srgbClr val="FFFFFF"/>
            </a:solidFill>
            <a:prstDash val="solid"/>
          </a:ln>
        </p:spPr>
      </p:sp>
      <p:sp>
        <p:nvSpPr>
          <p:cNvPr id="84" name="Text 82"/>
          <p:cNvSpPr txBox="1"/>
          <p:nvPr/>
        </p:nvSpPr>
        <p:spPr>
          <a:xfrm>
            <a:off x="5760720" y="4343400"/>
            <a:ext cx="297180" cy="731520"/>
          </a:xfrm>
          <a:prstGeom prst="rect">
            <a:avLst/>
          </a:prstGeom>
          <a:noFill/>
          <a:ln/>
        </p:spPr>
        <p:txBody>
          <a:bodyPr wrap="square" lIns="0" tIns="0" rIns="0" bIns="0" rtlCol="0" anchor="ctr"/>
          <a:lstStyle/>
          <a:p>
            <a:pPr algn="ctr" indent="0" marL="0">
              <a:buNone/>
            </a:pPr>
            <a:r>
              <a:rPr lang="tr-TR" sz="1050" b="1" dirty="0">
                <a:solidFill>
                  <a:srgbClr val="212121"/>
                </a:solidFill>
                <a:latin typeface="Calibri" pitchFamily="34" charset="0"/>
                <a:ea typeface="Calibri" pitchFamily="34" charset="-122"/>
                <a:cs typeface="Calibri" pitchFamily="34" charset="-120"/>
              </a:rPr>
              <a:t>C</a:t>
            </a:r>
            <a:endParaRPr lang="tr-TR" sz="1050" dirty="0"/>
          </a:p>
        </p:txBody>
      </p:sp>
      <p:sp>
        <p:nvSpPr>
          <p:cNvPr id="85" name="Shape 83"/>
          <p:cNvSpPr/>
          <p:nvPr/>
        </p:nvSpPr>
        <p:spPr>
          <a:xfrm>
            <a:off x="2788920" y="4343400"/>
            <a:ext cx="342900" cy="731520"/>
          </a:xfrm>
          <a:prstGeom prst="rect">
            <a:avLst/>
          </a:prstGeom>
          <a:solidFill>
            <a:srgbClr val="FFFFFF"/>
          </a:solidFill>
          <a:ln w="12700">
            <a:solidFill>
              <a:srgbClr val="50808E"/>
            </a:solidFill>
            <a:prstDash val="dash"/>
          </a:ln>
        </p:spPr>
      </p:sp>
      <p:sp>
        <p:nvSpPr>
          <p:cNvPr id="86" name="Text 84"/>
          <p:cNvSpPr txBox="1"/>
          <p:nvPr/>
        </p:nvSpPr>
        <p:spPr>
          <a:xfrm>
            <a:off x="2514600" y="5093208"/>
            <a:ext cx="891540" cy="228600"/>
          </a:xfrm>
          <a:prstGeom prst="rect">
            <a:avLst/>
          </a:prstGeom>
          <a:noFill/>
          <a:ln/>
        </p:spPr>
        <p:txBody>
          <a:bodyPr wrap="square" lIns="0" tIns="0" rIns="0" bIns="0" rtlCol="0" anchor="t"/>
          <a:lstStyle/>
          <a:p>
            <a:pPr algn="ctr" indent="0" marL="0">
              <a:buNone/>
            </a:pPr>
            <a:r>
              <a:rPr lang="tr-TR" sz="1000" dirty="0">
                <a:solidFill>
                  <a:srgbClr val="50808E"/>
                </a:solidFill>
                <a:latin typeface="Calibri" pitchFamily="34" charset="0"/>
                <a:ea typeface="Calibri" pitchFamily="34" charset="-122"/>
                <a:cs typeface="Calibri" pitchFamily="34" charset="-120"/>
              </a:rPr>
              <a:t>150</a:t>
            </a:r>
            <a:endParaRPr lang="tr-TR" sz="1000" dirty="0"/>
          </a:p>
        </p:txBody>
      </p:sp>
      <p:sp>
        <p:nvSpPr>
          <p:cNvPr id="87" name="Shape 85"/>
          <p:cNvSpPr/>
          <p:nvPr/>
        </p:nvSpPr>
        <p:spPr>
          <a:xfrm>
            <a:off x="4389120" y="4343400"/>
            <a:ext cx="114300" cy="731520"/>
          </a:xfrm>
          <a:prstGeom prst="rect">
            <a:avLst/>
          </a:prstGeom>
          <a:solidFill>
            <a:srgbClr val="FFFFFF"/>
          </a:solidFill>
          <a:ln w="12700">
            <a:solidFill>
              <a:srgbClr val="50808E"/>
            </a:solidFill>
            <a:prstDash val="dash"/>
          </a:ln>
        </p:spPr>
      </p:sp>
      <p:sp>
        <p:nvSpPr>
          <p:cNvPr id="88" name="Text 86"/>
          <p:cNvSpPr txBox="1"/>
          <p:nvPr/>
        </p:nvSpPr>
        <p:spPr>
          <a:xfrm>
            <a:off x="4114800" y="5093208"/>
            <a:ext cx="662940" cy="228600"/>
          </a:xfrm>
          <a:prstGeom prst="rect">
            <a:avLst/>
          </a:prstGeom>
          <a:noFill/>
          <a:ln/>
        </p:spPr>
        <p:txBody>
          <a:bodyPr wrap="square" lIns="0" tIns="0" rIns="0" bIns="0" rtlCol="0" anchor="t"/>
          <a:lstStyle/>
          <a:p>
            <a:pPr algn="ctr" indent="0" marL="0">
              <a:buNone/>
            </a:pPr>
            <a:r>
              <a:rPr lang="tr-TR" sz="1000" dirty="0">
                <a:solidFill>
                  <a:srgbClr val="50808E"/>
                </a:solidFill>
                <a:latin typeface="Calibri" pitchFamily="34" charset="0"/>
                <a:ea typeface="Calibri" pitchFamily="34" charset="-122"/>
                <a:cs typeface="Calibri" pitchFamily="34" charset="-120"/>
              </a:rPr>
              <a:t>50</a:t>
            </a:r>
            <a:endParaRPr lang="tr-TR" sz="1000" dirty="0"/>
          </a:p>
        </p:txBody>
      </p:sp>
      <p:sp>
        <p:nvSpPr>
          <p:cNvPr id="89" name="Shape 87"/>
          <p:cNvSpPr/>
          <p:nvPr/>
        </p:nvSpPr>
        <p:spPr>
          <a:xfrm>
            <a:off x="4846320" y="4343400"/>
            <a:ext cx="457200" cy="731520"/>
          </a:xfrm>
          <a:prstGeom prst="rect">
            <a:avLst/>
          </a:prstGeom>
          <a:solidFill>
            <a:srgbClr val="FFFFFF"/>
          </a:solidFill>
          <a:ln w="12700">
            <a:solidFill>
              <a:srgbClr val="50808E"/>
            </a:solidFill>
            <a:prstDash val="dash"/>
          </a:ln>
        </p:spPr>
      </p:sp>
      <p:sp>
        <p:nvSpPr>
          <p:cNvPr id="90" name="Text 88"/>
          <p:cNvSpPr txBox="1"/>
          <p:nvPr/>
        </p:nvSpPr>
        <p:spPr>
          <a:xfrm>
            <a:off x="4846320" y="4343400"/>
            <a:ext cx="457200" cy="731520"/>
          </a:xfrm>
          <a:prstGeom prst="rect">
            <a:avLst/>
          </a:prstGeom>
          <a:noFill/>
          <a:ln/>
        </p:spPr>
        <p:txBody>
          <a:bodyPr wrap="square" lIns="0" tIns="0" rIns="0" bIns="0" rtlCol="0" anchor="ctr"/>
          <a:lstStyle/>
          <a:p>
            <a:pPr algn="ctr" indent="0" marL="0">
              <a:buNone/>
            </a:pPr>
            <a:r>
              <a:rPr lang="tr-TR" sz="1050" dirty="0">
                <a:solidFill>
                  <a:srgbClr val="50808E"/>
                </a:solidFill>
                <a:latin typeface="Calibri" pitchFamily="34" charset="0"/>
                <a:ea typeface="Calibri" pitchFamily="34" charset="-122"/>
                <a:cs typeface="Calibri" pitchFamily="34" charset="-120"/>
              </a:rPr>
              <a:t>200</a:t>
            </a:r>
            <a:endParaRPr lang="tr-TR" sz="1050" dirty="0"/>
          </a:p>
        </p:txBody>
      </p:sp>
      <p:sp>
        <p:nvSpPr>
          <p:cNvPr id="91" name="Shape 89"/>
          <p:cNvSpPr/>
          <p:nvPr/>
        </p:nvSpPr>
        <p:spPr>
          <a:xfrm>
            <a:off x="6057900" y="4343400"/>
            <a:ext cx="502920" cy="731520"/>
          </a:xfrm>
          <a:prstGeom prst="rect">
            <a:avLst/>
          </a:prstGeom>
          <a:solidFill>
            <a:srgbClr val="FFFFFF"/>
          </a:solidFill>
          <a:ln w="12700">
            <a:solidFill>
              <a:srgbClr val="50808E"/>
            </a:solidFill>
            <a:prstDash val="dash"/>
          </a:ln>
        </p:spPr>
      </p:sp>
      <p:sp>
        <p:nvSpPr>
          <p:cNvPr id="92" name="Text 90"/>
          <p:cNvSpPr txBox="1"/>
          <p:nvPr/>
        </p:nvSpPr>
        <p:spPr>
          <a:xfrm>
            <a:off x="6057900" y="4343400"/>
            <a:ext cx="502920" cy="731520"/>
          </a:xfrm>
          <a:prstGeom prst="rect">
            <a:avLst/>
          </a:prstGeom>
          <a:noFill/>
          <a:ln/>
        </p:spPr>
        <p:txBody>
          <a:bodyPr wrap="square" lIns="0" tIns="0" rIns="0" bIns="0" rtlCol="0" anchor="ctr"/>
          <a:lstStyle/>
          <a:p>
            <a:pPr algn="ctr" indent="0" marL="0">
              <a:buNone/>
            </a:pPr>
            <a:r>
              <a:rPr lang="tr-TR" sz="1050" dirty="0">
                <a:solidFill>
                  <a:srgbClr val="50808E"/>
                </a:solidFill>
                <a:latin typeface="Calibri" pitchFamily="34" charset="0"/>
                <a:ea typeface="Calibri" pitchFamily="34" charset="-122"/>
                <a:cs typeface="Calibri" pitchFamily="34" charset="-120"/>
              </a:rPr>
              <a:t>220</a:t>
            </a:r>
            <a:endParaRPr lang="tr-TR" sz="1050" dirty="0"/>
          </a:p>
        </p:txBody>
      </p:sp>
      <p:sp>
        <p:nvSpPr>
          <p:cNvPr id="93" name="Shape 91"/>
          <p:cNvSpPr/>
          <p:nvPr/>
        </p:nvSpPr>
        <p:spPr>
          <a:xfrm>
            <a:off x="7406640" y="4343400"/>
            <a:ext cx="754380" cy="731520"/>
          </a:xfrm>
          <a:prstGeom prst="rect">
            <a:avLst/>
          </a:prstGeom>
          <a:solidFill>
            <a:srgbClr val="FFFFFF"/>
          </a:solidFill>
          <a:ln w="12700">
            <a:solidFill>
              <a:srgbClr val="50808E"/>
            </a:solidFill>
            <a:prstDash val="dash"/>
          </a:ln>
        </p:spPr>
      </p:sp>
      <p:sp>
        <p:nvSpPr>
          <p:cNvPr id="94" name="Text 92"/>
          <p:cNvSpPr txBox="1"/>
          <p:nvPr/>
        </p:nvSpPr>
        <p:spPr>
          <a:xfrm>
            <a:off x="7406640" y="4343400"/>
            <a:ext cx="754380" cy="731520"/>
          </a:xfrm>
          <a:prstGeom prst="rect">
            <a:avLst/>
          </a:prstGeom>
          <a:noFill/>
          <a:ln/>
        </p:spPr>
        <p:txBody>
          <a:bodyPr wrap="square" lIns="0" tIns="0" rIns="0" bIns="0" rtlCol="0" anchor="ctr"/>
          <a:lstStyle/>
          <a:p>
            <a:pPr algn="ctr" indent="0" marL="0">
              <a:buNone/>
            </a:pPr>
            <a:r>
              <a:rPr lang="tr-TR" sz="1050" dirty="0">
                <a:solidFill>
                  <a:srgbClr val="50808E"/>
                </a:solidFill>
                <a:latin typeface="Calibri" pitchFamily="34" charset="0"/>
                <a:ea typeface="Calibri" pitchFamily="34" charset="-122"/>
                <a:cs typeface="Calibri" pitchFamily="34" charset="-120"/>
              </a:rPr>
              <a:t>330</a:t>
            </a:r>
            <a:endParaRPr lang="tr-TR" sz="1050" dirty="0"/>
          </a:p>
        </p:txBody>
      </p:sp>
      <p:sp>
        <p:nvSpPr>
          <p:cNvPr id="95" name="Text 93"/>
          <p:cNvSpPr txBox="1"/>
          <p:nvPr/>
        </p:nvSpPr>
        <p:spPr>
          <a:xfrm>
            <a:off x="8732520" y="4343400"/>
            <a:ext cx="2926080" cy="731520"/>
          </a:xfrm>
          <a:prstGeom prst="rect">
            <a:avLst/>
          </a:prstGeom>
          <a:noFill/>
          <a:ln/>
        </p:spPr>
        <p:txBody>
          <a:bodyPr wrap="square" lIns="0" tIns="0" rIns="0" bIns="0" rtlCol="0" anchor="ctr"/>
          <a:lstStyle/>
          <a:p>
            <a:pPr indent="0" marL="0">
              <a:buNone/>
            </a:pPr>
            <a:r>
              <a:rPr lang="tr-TR" sz="1300" b="1" dirty="0">
                <a:solidFill>
                  <a:srgbClr val="B5453A"/>
                </a:solidFill>
                <a:latin typeface="Calibri" pitchFamily="34" charset="0"/>
                <a:ea typeface="Calibri" pitchFamily="34" charset="-122"/>
                <a:cs typeface="Calibri" pitchFamily="34" charset="-120"/>
              </a:rPr>
              <a:t>D beklemek zorunda: 950 KB boş, ama ≥ 430 KB delik yok.</a:t>
            </a:r>
            <a:endParaRPr lang="tr-TR" sz="1300" dirty="0"/>
          </a:p>
        </p:txBody>
      </p:sp>
      <p:sp>
        <p:nvSpPr>
          <p:cNvPr id="96" name="Text 94"/>
          <p:cNvSpPr txBox="1"/>
          <p:nvPr/>
        </p:nvSpPr>
        <p:spPr>
          <a:xfrm>
            <a:off x="2103120" y="5623560"/>
            <a:ext cx="6949440" cy="320040"/>
          </a:xfrm>
          <a:prstGeom prst="rect">
            <a:avLst/>
          </a:prstGeom>
          <a:noFill/>
          <a:ln/>
        </p:spPr>
        <p:txBody>
          <a:bodyPr wrap="square" lIns="0" tIns="0" rIns="0" bIns="0" rtlCol="0" anchor="t"/>
          <a:lstStyle/>
          <a:p>
            <a:pPr indent="0" marL="0">
              <a:buNone/>
            </a:pPr>
            <a:r>
              <a:rPr lang="tr-TR" sz="1200" dirty="0">
                <a:solidFill>
                  <a:srgbClr val="02C39A"/>
                </a:solidFill>
                <a:latin typeface="Calibri" pitchFamily="34" charset="0"/>
                <a:ea typeface="Calibri" pitchFamily="34" charset="-122"/>
                <a:cs typeface="Calibri" pitchFamily="34" charset="-120"/>
              </a:rPr>
              <a:t>■ </a:t>
            </a:r>
            <a:r>
              <a:rPr lang="tr-TR" sz="1200" dirty="0">
                <a:solidFill>
                  <a:srgbClr val="6B7679"/>
                </a:solidFill>
                <a:latin typeface="Calibri" pitchFamily="34" charset="0"/>
                <a:ea typeface="Calibri" pitchFamily="34" charset="-122"/>
                <a:cs typeface="Calibri" pitchFamily="34" charset="-120"/>
              </a:rPr>
              <a:t>yeni süreç   </a:t>
            </a:r>
            <a:r>
              <a:rPr lang="tr-TR" sz="1200" dirty="0">
                <a:solidFill>
                  <a:srgbClr val="C9D3D6"/>
                </a:solidFill>
                <a:latin typeface="Calibri" pitchFamily="34" charset="0"/>
                <a:ea typeface="Calibri" pitchFamily="34" charset="-122"/>
                <a:cs typeface="Calibri" pitchFamily="34" charset="-120"/>
              </a:rPr>
              <a:t>■ </a:t>
            </a:r>
            <a:r>
              <a:rPr lang="tr-TR" sz="1200" dirty="0">
                <a:solidFill>
                  <a:srgbClr val="6B7679"/>
                </a:solidFill>
                <a:latin typeface="Calibri" pitchFamily="34" charset="0"/>
                <a:ea typeface="Calibri" pitchFamily="34" charset="-122"/>
                <a:cs typeface="Calibri" pitchFamily="34" charset="-120"/>
              </a:rPr>
              <a:t>mevcut süreç   </a:t>
            </a:r>
            <a:r>
              <a:rPr lang="tr-TR" sz="1200" dirty="0">
                <a:solidFill>
                  <a:srgbClr val="50808E"/>
                </a:solidFill>
                <a:latin typeface="Calibri" pitchFamily="34" charset="0"/>
                <a:ea typeface="Calibri" pitchFamily="34" charset="-122"/>
                <a:cs typeface="Calibri" pitchFamily="34" charset="-120"/>
              </a:rPr>
              <a:t>□ </a:t>
            </a:r>
            <a:r>
              <a:rPr lang="tr-TR" sz="1200" dirty="0">
                <a:solidFill>
                  <a:srgbClr val="6B7679"/>
                </a:solidFill>
                <a:latin typeface="Calibri" pitchFamily="34" charset="0"/>
                <a:ea typeface="Calibri" pitchFamily="34" charset="-122"/>
                <a:cs typeface="Calibri" pitchFamily="34" charset="-120"/>
              </a:rPr>
              <a:t>delik (boyu KB)</a:t>
            </a:r>
            <a:endParaRPr lang="tr-TR" sz="1200" dirty="0"/>
          </a:p>
        </p:txBody>
      </p:sp>
      <p:sp>
        <p:nvSpPr>
          <p:cNvPr id="97" name="Text 95"/>
          <p:cNvSpPr txBox="1"/>
          <p:nvPr/>
        </p:nvSpPr>
        <p:spPr>
          <a:xfrm>
            <a:off x="2103120" y="5943600"/>
            <a:ext cx="6949440" cy="274320"/>
          </a:xfrm>
          <a:prstGeom prst="rect">
            <a:avLst/>
          </a:prstGeom>
          <a:noFill/>
          <a:ln/>
        </p:spPr>
        <p:txBody>
          <a:bodyPr wrap="square" lIns="0" tIns="0" rIns="0" bIns="0" rtlCol="0" anchor="t"/>
          <a:lstStyle/>
          <a:p>
            <a:pPr indent="0" marL="0">
              <a:buNone/>
            </a:pPr>
            <a:r>
              <a:rPr lang="tr-TR" sz="1100" i="1" dirty="0">
                <a:solidFill>
                  <a:srgbClr val="6B7679"/>
                </a:solidFill>
                <a:latin typeface="Calibri" pitchFamily="34" charset="0"/>
                <a:ea typeface="Calibri" pitchFamily="34" charset="-122"/>
                <a:cs typeface="Calibri" pitchFamily="34" charset="-120"/>
              </a:rPr>
              <a:t>Küçük deliklerin (ör. 20 KB) etiketi çubuğun altında.</a:t>
            </a:r>
            <a:endParaRPr lang="tr-TR"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PARÇALANMA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Dış ve İç Parçalanma</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6  ·  15</a:t>
            </a:r>
            <a:endParaRPr lang="tr-TR" sz="900" dirty="0"/>
          </a:p>
        </p:txBody>
      </p:sp>
      <p:sp>
        <p:nvSpPr>
          <p:cNvPr id="6" name="Shape 4"/>
          <p:cNvSpPr/>
          <p:nvPr/>
        </p:nvSpPr>
        <p:spPr>
          <a:xfrm>
            <a:off x="548640" y="1508760"/>
            <a:ext cx="5440680" cy="3749040"/>
          </a:xfrm>
          <a:prstGeom prst="roundRect">
            <a:avLst>
              <a:gd name="adj" fmla="val 1463"/>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4983480" cy="384048"/>
          </a:xfrm>
          <a:prstGeom prst="rect">
            <a:avLst/>
          </a:prstGeom>
          <a:noFill/>
          <a:ln/>
        </p:spPr>
        <p:txBody>
          <a:bodyPr wrap="square" lIns="0" tIns="0" rIns="0" bIns="0" rtlCol="0" anchor="ctr"/>
          <a:lstStyle/>
          <a:p>
            <a:pPr indent="0" marL="0">
              <a:buNone/>
            </a:pPr>
            <a:r>
              <a:rPr lang="tr-TR" sz="1700" b="1" dirty="0">
                <a:solidFill>
                  <a:srgbClr val="028090"/>
                </a:solidFill>
                <a:latin typeface="Cambria" pitchFamily="34" charset="0"/>
                <a:ea typeface="Cambria" pitchFamily="34" charset="-122"/>
                <a:cs typeface="Cambria" pitchFamily="34" charset="-120"/>
              </a:rPr>
              <a:t>Dış parçalanma (external fragmentation)</a:t>
            </a:r>
            <a:endParaRPr lang="tr-TR" sz="1700" dirty="0"/>
          </a:p>
        </p:txBody>
      </p:sp>
      <p:sp>
        <p:nvSpPr>
          <p:cNvPr id="8" name="Text 6"/>
          <p:cNvSpPr txBox="1"/>
          <p:nvPr/>
        </p:nvSpPr>
        <p:spPr>
          <a:xfrm>
            <a:off x="777240" y="2148840"/>
            <a:ext cx="4983480" cy="2971800"/>
          </a:xfrm>
          <a:prstGeom prst="rect">
            <a:avLst/>
          </a:prstGeom>
          <a:noFill/>
          <a:ln/>
        </p:spPr>
        <p:txBody>
          <a:bodyPr wrap="square" lIns="0" tIns="0" rIns="0" bIns="0" rtlCol="0" anchor="t"/>
          <a:lstStyle/>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Toplamda yeterince boş bellek var, ama her biri tek başına küçük deliklere bölünmüş.</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Yukarıda ilk uyan: 950 KB boş, D'nin 430 KB'a ihtiyacı var, en büyük delik 350 KB.</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Değişken bölümlerin ve bölütlemenin tipik sorunu.</a:t>
            </a:r>
            <a:endParaRPr lang="tr-TR" sz="1500" dirty="0"/>
          </a:p>
          <a:p>
            <a:pPr marL="228600" indent="-228600">
              <a:spcAft>
                <a:spcPts val="400"/>
              </a:spcAft>
              <a:buSzPct val="100000"/>
              <a:buChar char="•"/>
            </a:pPr>
            <a:r>
              <a:rPr lang="tr-TR" sz="1500" b="1" dirty="0">
                <a:solidFill>
                  <a:srgbClr val="3A464C"/>
                </a:solidFill>
                <a:latin typeface="Calibri" pitchFamily="34" charset="0"/>
                <a:ea typeface="Calibri" pitchFamily="34" charset="-122"/>
                <a:cs typeface="Calibri" pitchFamily="34" charset="-120"/>
              </a:rPr>
              <a:t>Çareler:</a:t>
            </a:r>
            <a:r>
              <a:rPr lang="tr-TR" sz="1500" dirty="0">
                <a:solidFill>
                  <a:srgbClr val="3A464C"/>
                </a:solidFill>
                <a:latin typeface="Calibri" pitchFamily="34" charset="0"/>
                <a:ea typeface="Calibri" pitchFamily="34" charset="-122"/>
                <a:cs typeface="Calibri" pitchFamily="34" charset="-120"/>
              </a:rPr>
              <a:t> sıkıştırma (sonraki slayt) ya da sürecin bitişik olmamasına izin vermek (sayfalama, 2. bölüm).</a:t>
            </a:r>
            <a:endParaRPr lang="tr-TR" sz="1500" dirty="0"/>
          </a:p>
        </p:txBody>
      </p:sp>
      <p:sp>
        <p:nvSpPr>
          <p:cNvPr id="9" name="Shape 7"/>
          <p:cNvSpPr/>
          <p:nvPr/>
        </p:nvSpPr>
        <p:spPr>
          <a:xfrm>
            <a:off x="6217920" y="1508760"/>
            <a:ext cx="5440680" cy="3749040"/>
          </a:xfrm>
          <a:prstGeom prst="roundRect">
            <a:avLst>
              <a:gd name="adj" fmla="val 1463"/>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6446520" y="1691640"/>
            <a:ext cx="4983480" cy="384048"/>
          </a:xfrm>
          <a:prstGeom prst="rect">
            <a:avLst/>
          </a:prstGeom>
          <a:noFill/>
          <a:ln/>
        </p:spPr>
        <p:txBody>
          <a:bodyPr wrap="square" lIns="0" tIns="0" rIns="0" bIns="0" rtlCol="0" anchor="ctr"/>
          <a:lstStyle/>
          <a:p>
            <a:pPr indent="0" marL="0">
              <a:buNone/>
            </a:pPr>
            <a:r>
              <a:rPr lang="tr-TR" sz="1700" b="1" dirty="0">
                <a:solidFill>
                  <a:srgbClr val="50808E"/>
                </a:solidFill>
                <a:latin typeface="Cambria" pitchFamily="34" charset="0"/>
                <a:ea typeface="Cambria" pitchFamily="34" charset="-122"/>
                <a:cs typeface="Cambria" pitchFamily="34" charset="-120"/>
              </a:rPr>
              <a:t>İç parçalanma (internal fragmentation)</a:t>
            </a:r>
            <a:endParaRPr lang="tr-TR" sz="1700" dirty="0"/>
          </a:p>
        </p:txBody>
      </p:sp>
      <p:sp>
        <p:nvSpPr>
          <p:cNvPr id="11" name="Text 9"/>
          <p:cNvSpPr txBox="1"/>
          <p:nvPr/>
        </p:nvSpPr>
        <p:spPr>
          <a:xfrm>
            <a:off x="6446520" y="2148840"/>
            <a:ext cx="4983480" cy="2971800"/>
          </a:xfrm>
          <a:prstGeom prst="rect">
            <a:avLst/>
          </a:prstGeom>
          <a:noFill/>
          <a:ln/>
        </p:spPr>
        <p:txBody>
          <a:bodyPr wrap="square" lIns="0" tIns="0" rIns="0" bIns="0" rtlCol="0" anchor="t"/>
          <a:lstStyle/>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Sürece verilmiş ama onun kullanmadığı bellek: bloğun içindeki israf.</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Bellek sabit boyutlu birimlerle dağıtılınca olur: 18.462 bayt istenir, 18.464 verilir.</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Sabit bölümlerin ve sayfalamanın tipik sorunu.</a:t>
            </a:r>
            <a:endParaRPr lang="tr-TR" sz="1500" dirty="0"/>
          </a:p>
          <a:p>
            <a:pPr marL="228600" indent="-228600">
              <a:spcAft>
                <a:spcPts val="400"/>
              </a:spcAft>
              <a:buSzPct val="100000"/>
              <a:buChar char="•"/>
            </a:pPr>
            <a:r>
              <a:rPr lang="tr-TR" sz="1500" b="1" dirty="0">
                <a:solidFill>
                  <a:srgbClr val="3A464C"/>
                </a:solidFill>
                <a:latin typeface="Calibri" pitchFamily="34" charset="0"/>
                <a:ea typeface="Calibri" pitchFamily="34" charset="-122"/>
                <a:cs typeface="Calibri" pitchFamily="34" charset="-120"/>
              </a:rPr>
              <a:t>Çare:</a:t>
            </a:r>
            <a:r>
              <a:rPr lang="tr-TR" sz="1500" dirty="0">
                <a:solidFill>
                  <a:srgbClr val="3A464C"/>
                </a:solidFill>
                <a:latin typeface="Calibri" pitchFamily="34" charset="0"/>
                <a:ea typeface="Calibri" pitchFamily="34" charset="-122"/>
                <a:cs typeface="Calibri" pitchFamily="34" charset="-120"/>
              </a:rPr>
              <a:t> daha küçük tahsis birimleri; bedeli daha fazla kayıt tutma (daha büyük tablolar).</a:t>
            </a:r>
            <a:endParaRPr lang="tr-TR" sz="1500" dirty="0"/>
          </a:p>
        </p:txBody>
      </p:sp>
      <p:sp>
        <p:nvSpPr>
          <p:cNvPr id="12" name="Shape 10"/>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300" dirty="0">
                <a:solidFill>
                  <a:srgbClr val="F2F2F2"/>
                </a:solidFill>
                <a:latin typeface="Calibri" pitchFamily="34" charset="0"/>
                <a:ea typeface="Calibri" pitchFamily="34" charset="-122"/>
                <a:cs typeface="Calibri" pitchFamily="34" charset="-120"/>
              </a:rPr>
              <a:t>%50 kuralı (Silberschatz): ilk uyanda, tahsis edilmiş N blok için yaklaşık 0,5 N blok daha parçalanmaya gider; belleğin üçte birine kadarı kullanılamaz hâle gelebilir.</a:t>
            </a:r>
            <a:endParaRPr lang="tr-TR"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PARÇALANMA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Sıkıştırma (Compaction): Belleği Bir Araya Toplamak</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Tüm süreçleri bir uca taşıyın; böylece bütün delikler tek bir büyük delikte birleşir.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6  ·  16</a:t>
            </a:r>
            <a:endParaRPr lang="tr-TR" sz="900" dirty="0"/>
          </a:p>
        </p:txBody>
      </p:sp>
      <p:sp>
        <p:nvSpPr>
          <p:cNvPr id="7" name="Text 5"/>
          <p:cNvSpPr txBox="1"/>
          <p:nvPr/>
        </p:nvSpPr>
        <p:spPr>
          <a:xfrm>
            <a:off x="548640" y="2148840"/>
            <a:ext cx="3657600" cy="274320"/>
          </a:xfrm>
          <a:prstGeom prst="rect">
            <a:avLst/>
          </a:prstGeom>
          <a:noFill/>
          <a:ln/>
        </p:spPr>
        <p:txBody>
          <a:bodyPr wrap="square" lIns="0" tIns="0" rIns="0" bIns="0" rtlCol="0" anchor="t"/>
          <a:lstStyle/>
          <a:p>
            <a:pPr indent="0" marL="0">
              <a:buNone/>
            </a:pPr>
            <a:r>
              <a:rPr lang="tr-TR" sz="1300" b="1" dirty="0">
                <a:solidFill>
                  <a:srgbClr val="36454F"/>
                </a:solidFill>
                <a:latin typeface="Calibri" pitchFamily="34" charset="0"/>
                <a:ea typeface="Calibri" pitchFamily="34" charset="-122"/>
                <a:cs typeface="Calibri" pitchFamily="34" charset="-120"/>
              </a:rPr>
              <a:t>Önce (ilk uyan sonucu)</a:t>
            </a:r>
            <a:endParaRPr lang="tr-TR" sz="1300" dirty="0"/>
          </a:p>
        </p:txBody>
      </p:sp>
      <p:sp>
        <p:nvSpPr>
          <p:cNvPr id="8" name="Shape 6"/>
          <p:cNvSpPr/>
          <p:nvPr/>
        </p:nvSpPr>
        <p:spPr>
          <a:xfrm>
            <a:off x="548640" y="2468880"/>
            <a:ext cx="1190353" cy="731520"/>
          </a:xfrm>
          <a:prstGeom prst="rect">
            <a:avLst/>
          </a:prstGeom>
          <a:solidFill>
            <a:srgbClr val="36454F"/>
          </a:solidFill>
          <a:ln w="9525">
            <a:solidFill>
              <a:srgbClr val="FFFFFF"/>
            </a:solidFill>
            <a:prstDash val="solid"/>
          </a:ln>
        </p:spPr>
      </p:sp>
      <p:sp>
        <p:nvSpPr>
          <p:cNvPr id="9" name="Text 7"/>
          <p:cNvSpPr txBox="1"/>
          <p:nvPr/>
        </p:nvSpPr>
        <p:spPr>
          <a:xfrm>
            <a:off x="548640" y="2468880"/>
            <a:ext cx="1190353" cy="731520"/>
          </a:xfrm>
          <a:prstGeom prst="rect">
            <a:avLst/>
          </a:prstGeom>
          <a:noFill/>
          <a:ln/>
        </p:spPr>
        <p:txBody>
          <a:bodyPr wrap="square" lIns="0" tIns="0" rIns="0" bIns="0" rtlCol="0" anchor="ctr"/>
          <a:lstStyle/>
          <a:p>
            <a:pPr algn="ctr" indent="0" marL="0">
              <a:buNone/>
            </a:pPr>
            <a:r>
              <a:rPr lang="tr-TR" sz="1100" b="1" dirty="0">
                <a:solidFill>
                  <a:srgbClr val="FFFFFF"/>
                </a:solidFill>
                <a:latin typeface="Calibri" pitchFamily="34" charset="0"/>
                <a:ea typeface="Calibri" pitchFamily="34" charset="-122"/>
                <a:cs typeface="Calibri" pitchFamily="34" charset="-120"/>
              </a:rPr>
              <a:t>İS</a:t>
            </a:r>
            <a:endParaRPr lang="tr-TR" sz="1100" dirty="0"/>
          </a:p>
        </p:txBody>
      </p:sp>
      <p:sp>
        <p:nvSpPr>
          <p:cNvPr id="10" name="Shape 8"/>
          <p:cNvSpPr/>
          <p:nvPr/>
        </p:nvSpPr>
        <p:spPr>
          <a:xfrm>
            <a:off x="2334169" y="2468880"/>
            <a:ext cx="595176" cy="731520"/>
          </a:xfrm>
          <a:prstGeom prst="rect">
            <a:avLst/>
          </a:prstGeom>
          <a:solidFill>
            <a:srgbClr val="C9D3D6"/>
          </a:solidFill>
          <a:ln w="9525">
            <a:solidFill>
              <a:srgbClr val="FFFFFF"/>
            </a:solidFill>
            <a:prstDash val="solid"/>
          </a:ln>
        </p:spPr>
      </p:sp>
      <p:sp>
        <p:nvSpPr>
          <p:cNvPr id="11" name="Text 9"/>
          <p:cNvSpPr txBox="1"/>
          <p:nvPr/>
        </p:nvSpPr>
        <p:spPr>
          <a:xfrm>
            <a:off x="2334169" y="2468880"/>
            <a:ext cx="595176" cy="731520"/>
          </a:xfrm>
          <a:prstGeom prst="rect">
            <a:avLst/>
          </a:prstGeom>
          <a:noFill/>
          <a:ln/>
        </p:spPr>
        <p:txBody>
          <a:bodyPr wrap="square" lIns="0" tIns="0" rIns="0" bIns="0" rtlCol="0" anchor="ctr"/>
          <a:lstStyle/>
          <a:p>
            <a:pPr algn="ctr" indent="0" marL="0">
              <a:buNone/>
            </a:pPr>
            <a:r>
              <a:rPr lang="tr-TR" sz="1100" b="1" dirty="0">
                <a:solidFill>
                  <a:srgbClr val="212121"/>
                </a:solidFill>
                <a:latin typeface="Calibri" pitchFamily="34" charset="0"/>
                <a:ea typeface="Calibri" pitchFamily="34" charset="-122"/>
                <a:cs typeface="Calibri" pitchFamily="34" charset="-120"/>
              </a:rPr>
              <a:t>P1</a:t>
            </a:r>
            <a:endParaRPr lang="tr-TR" sz="1100" dirty="0"/>
          </a:p>
        </p:txBody>
      </p:sp>
      <p:sp>
        <p:nvSpPr>
          <p:cNvPr id="12" name="Shape 10"/>
          <p:cNvSpPr/>
          <p:nvPr/>
        </p:nvSpPr>
        <p:spPr>
          <a:xfrm>
            <a:off x="4714875" y="2468880"/>
            <a:ext cx="595176" cy="731520"/>
          </a:xfrm>
          <a:prstGeom prst="rect">
            <a:avLst/>
          </a:prstGeom>
          <a:solidFill>
            <a:srgbClr val="C9D3D6"/>
          </a:solidFill>
          <a:ln w="9525">
            <a:solidFill>
              <a:srgbClr val="FFFFFF"/>
            </a:solidFill>
            <a:prstDash val="solid"/>
          </a:ln>
        </p:spPr>
      </p:sp>
      <p:sp>
        <p:nvSpPr>
          <p:cNvPr id="13" name="Text 11"/>
          <p:cNvSpPr txBox="1"/>
          <p:nvPr/>
        </p:nvSpPr>
        <p:spPr>
          <a:xfrm>
            <a:off x="4714875" y="2468880"/>
            <a:ext cx="595176" cy="731520"/>
          </a:xfrm>
          <a:prstGeom prst="rect">
            <a:avLst/>
          </a:prstGeom>
          <a:noFill/>
          <a:ln/>
        </p:spPr>
        <p:txBody>
          <a:bodyPr wrap="square" lIns="0" tIns="0" rIns="0" bIns="0" rtlCol="0" anchor="ctr"/>
          <a:lstStyle/>
          <a:p>
            <a:pPr algn="ctr" indent="0" marL="0">
              <a:buNone/>
            </a:pPr>
            <a:r>
              <a:rPr lang="tr-TR" sz="1100" b="1" dirty="0">
                <a:solidFill>
                  <a:srgbClr val="212121"/>
                </a:solidFill>
                <a:latin typeface="Calibri" pitchFamily="34" charset="0"/>
                <a:ea typeface="Calibri" pitchFamily="34" charset="-122"/>
                <a:cs typeface="Calibri" pitchFamily="34" charset="-120"/>
              </a:rPr>
              <a:t>P2</a:t>
            </a:r>
            <a:endParaRPr lang="tr-TR" sz="1100" dirty="0"/>
          </a:p>
        </p:txBody>
      </p:sp>
      <p:sp>
        <p:nvSpPr>
          <p:cNvPr id="14" name="Shape 12"/>
          <p:cNvSpPr/>
          <p:nvPr/>
        </p:nvSpPr>
        <p:spPr>
          <a:xfrm>
            <a:off x="6103620" y="2468880"/>
            <a:ext cx="793569" cy="731520"/>
          </a:xfrm>
          <a:prstGeom prst="rect">
            <a:avLst/>
          </a:prstGeom>
          <a:solidFill>
            <a:srgbClr val="C9D3D6"/>
          </a:solidFill>
          <a:ln w="9525">
            <a:solidFill>
              <a:srgbClr val="FFFFFF"/>
            </a:solidFill>
            <a:prstDash val="solid"/>
          </a:ln>
        </p:spPr>
      </p:sp>
      <p:sp>
        <p:nvSpPr>
          <p:cNvPr id="15" name="Text 13"/>
          <p:cNvSpPr txBox="1"/>
          <p:nvPr/>
        </p:nvSpPr>
        <p:spPr>
          <a:xfrm>
            <a:off x="6103620" y="2468880"/>
            <a:ext cx="793569" cy="731520"/>
          </a:xfrm>
          <a:prstGeom prst="rect">
            <a:avLst/>
          </a:prstGeom>
          <a:noFill/>
          <a:ln/>
        </p:spPr>
        <p:txBody>
          <a:bodyPr wrap="square" lIns="0" tIns="0" rIns="0" bIns="0" rtlCol="0" anchor="ctr"/>
          <a:lstStyle/>
          <a:p>
            <a:pPr algn="ctr" indent="0" marL="0">
              <a:buNone/>
            </a:pPr>
            <a:r>
              <a:rPr lang="tr-TR" sz="1100" b="1" dirty="0">
                <a:solidFill>
                  <a:srgbClr val="212121"/>
                </a:solidFill>
                <a:latin typeface="Calibri" pitchFamily="34" charset="0"/>
                <a:ea typeface="Calibri" pitchFamily="34" charset="-122"/>
                <a:cs typeface="Calibri" pitchFamily="34" charset="-120"/>
              </a:rPr>
              <a:t>P3</a:t>
            </a:r>
            <a:endParaRPr lang="tr-TR" sz="1100" dirty="0"/>
          </a:p>
        </p:txBody>
      </p:sp>
      <p:sp>
        <p:nvSpPr>
          <p:cNvPr id="16" name="Shape 14"/>
          <p:cNvSpPr/>
          <p:nvPr/>
        </p:nvSpPr>
        <p:spPr>
          <a:xfrm>
            <a:off x="8285934" y="2468880"/>
            <a:ext cx="595176" cy="731520"/>
          </a:xfrm>
          <a:prstGeom prst="rect">
            <a:avLst/>
          </a:prstGeom>
          <a:solidFill>
            <a:srgbClr val="C9D3D6"/>
          </a:solidFill>
          <a:ln w="9525">
            <a:solidFill>
              <a:srgbClr val="FFFFFF"/>
            </a:solidFill>
            <a:prstDash val="solid"/>
          </a:ln>
        </p:spPr>
      </p:sp>
      <p:sp>
        <p:nvSpPr>
          <p:cNvPr id="17" name="Text 15"/>
          <p:cNvSpPr txBox="1"/>
          <p:nvPr/>
        </p:nvSpPr>
        <p:spPr>
          <a:xfrm>
            <a:off x="8285934" y="2468880"/>
            <a:ext cx="595176" cy="731520"/>
          </a:xfrm>
          <a:prstGeom prst="rect">
            <a:avLst/>
          </a:prstGeom>
          <a:noFill/>
          <a:ln/>
        </p:spPr>
        <p:txBody>
          <a:bodyPr wrap="square" lIns="0" tIns="0" rIns="0" bIns="0" rtlCol="0" anchor="ctr"/>
          <a:lstStyle/>
          <a:p>
            <a:pPr algn="ctr" indent="0" marL="0">
              <a:buNone/>
            </a:pPr>
            <a:r>
              <a:rPr lang="tr-TR" sz="1100" b="1" dirty="0">
                <a:solidFill>
                  <a:srgbClr val="212121"/>
                </a:solidFill>
                <a:latin typeface="Calibri" pitchFamily="34" charset="0"/>
                <a:ea typeface="Calibri" pitchFamily="34" charset="-122"/>
                <a:cs typeface="Calibri" pitchFamily="34" charset="-120"/>
              </a:rPr>
              <a:t>P4</a:t>
            </a:r>
            <a:endParaRPr lang="tr-TR" sz="1100" dirty="0"/>
          </a:p>
        </p:txBody>
      </p:sp>
      <p:sp>
        <p:nvSpPr>
          <p:cNvPr id="18" name="Shape 16"/>
          <p:cNvSpPr/>
          <p:nvPr/>
        </p:nvSpPr>
        <p:spPr>
          <a:xfrm>
            <a:off x="11063424" y="2468880"/>
            <a:ext cx="595176" cy="731520"/>
          </a:xfrm>
          <a:prstGeom prst="rect">
            <a:avLst/>
          </a:prstGeom>
          <a:solidFill>
            <a:srgbClr val="C9D3D6"/>
          </a:solidFill>
          <a:ln w="9525">
            <a:solidFill>
              <a:srgbClr val="FFFFFF"/>
            </a:solidFill>
            <a:prstDash val="solid"/>
          </a:ln>
        </p:spPr>
      </p:sp>
      <p:sp>
        <p:nvSpPr>
          <p:cNvPr id="19" name="Text 17"/>
          <p:cNvSpPr txBox="1"/>
          <p:nvPr/>
        </p:nvSpPr>
        <p:spPr>
          <a:xfrm>
            <a:off x="11063424" y="2468880"/>
            <a:ext cx="595176" cy="731520"/>
          </a:xfrm>
          <a:prstGeom prst="rect">
            <a:avLst/>
          </a:prstGeom>
          <a:noFill/>
          <a:ln/>
        </p:spPr>
        <p:txBody>
          <a:bodyPr wrap="square" lIns="0" tIns="0" rIns="0" bIns="0" rtlCol="0" anchor="ctr"/>
          <a:lstStyle/>
          <a:p>
            <a:pPr algn="ctr" indent="0" marL="0">
              <a:buNone/>
            </a:pPr>
            <a:r>
              <a:rPr lang="tr-TR" sz="1100" b="1" dirty="0">
                <a:solidFill>
                  <a:srgbClr val="212121"/>
                </a:solidFill>
                <a:latin typeface="Calibri" pitchFamily="34" charset="0"/>
                <a:ea typeface="Calibri" pitchFamily="34" charset="-122"/>
                <a:cs typeface="Calibri" pitchFamily="34" charset="-120"/>
              </a:rPr>
              <a:t>P5</a:t>
            </a:r>
            <a:endParaRPr lang="tr-TR" sz="1100" dirty="0"/>
          </a:p>
        </p:txBody>
      </p:sp>
      <p:sp>
        <p:nvSpPr>
          <p:cNvPr id="20" name="Shape 18"/>
          <p:cNvSpPr/>
          <p:nvPr/>
        </p:nvSpPr>
        <p:spPr>
          <a:xfrm>
            <a:off x="2929346" y="2468880"/>
            <a:ext cx="872925" cy="731520"/>
          </a:xfrm>
          <a:prstGeom prst="rect">
            <a:avLst/>
          </a:prstGeom>
          <a:solidFill>
            <a:srgbClr val="02C39A"/>
          </a:solidFill>
          <a:ln w="9525">
            <a:solidFill>
              <a:srgbClr val="FFFFFF"/>
            </a:solidFill>
            <a:prstDash val="solid"/>
          </a:ln>
        </p:spPr>
      </p:sp>
      <p:sp>
        <p:nvSpPr>
          <p:cNvPr id="21" name="Text 19"/>
          <p:cNvSpPr txBox="1"/>
          <p:nvPr/>
        </p:nvSpPr>
        <p:spPr>
          <a:xfrm>
            <a:off x="2929346" y="2468880"/>
            <a:ext cx="872925" cy="731520"/>
          </a:xfrm>
          <a:prstGeom prst="rect">
            <a:avLst/>
          </a:prstGeom>
          <a:noFill/>
          <a:ln/>
        </p:spPr>
        <p:txBody>
          <a:bodyPr wrap="square" lIns="0" tIns="0" rIns="0" bIns="0" rtlCol="0" anchor="ctr"/>
          <a:lstStyle/>
          <a:p>
            <a:pPr algn="ctr" indent="0" marL="0">
              <a:buNone/>
            </a:pPr>
            <a:r>
              <a:rPr lang="tr-TR" sz="1100" b="1" dirty="0">
                <a:solidFill>
                  <a:srgbClr val="212121"/>
                </a:solidFill>
                <a:latin typeface="Calibri" pitchFamily="34" charset="0"/>
                <a:ea typeface="Calibri" pitchFamily="34" charset="-122"/>
                <a:cs typeface="Calibri" pitchFamily="34" charset="-120"/>
              </a:rPr>
              <a:t>A</a:t>
            </a:r>
            <a:endParaRPr lang="tr-TR" sz="1100" dirty="0"/>
          </a:p>
        </p:txBody>
      </p:sp>
      <p:sp>
        <p:nvSpPr>
          <p:cNvPr id="22" name="Shape 20"/>
          <p:cNvSpPr/>
          <p:nvPr/>
        </p:nvSpPr>
        <p:spPr>
          <a:xfrm>
            <a:off x="8881110" y="2468880"/>
            <a:ext cx="1587137" cy="731520"/>
          </a:xfrm>
          <a:prstGeom prst="rect">
            <a:avLst/>
          </a:prstGeom>
          <a:solidFill>
            <a:srgbClr val="02C39A"/>
          </a:solidFill>
          <a:ln w="9525">
            <a:solidFill>
              <a:srgbClr val="FFFFFF"/>
            </a:solidFill>
            <a:prstDash val="solid"/>
          </a:ln>
        </p:spPr>
      </p:sp>
      <p:sp>
        <p:nvSpPr>
          <p:cNvPr id="23" name="Text 21"/>
          <p:cNvSpPr txBox="1"/>
          <p:nvPr/>
        </p:nvSpPr>
        <p:spPr>
          <a:xfrm>
            <a:off x="8881110" y="2468880"/>
            <a:ext cx="1587137" cy="731520"/>
          </a:xfrm>
          <a:prstGeom prst="rect">
            <a:avLst/>
          </a:prstGeom>
          <a:noFill/>
          <a:ln/>
        </p:spPr>
        <p:txBody>
          <a:bodyPr wrap="square" lIns="0" tIns="0" rIns="0" bIns="0" rtlCol="0" anchor="ctr"/>
          <a:lstStyle/>
          <a:p>
            <a:pPr algn="ctr" indent="0" marL="0">
              <a:buNone/>
            </a:pPr>
            <a:r>
              <a:rPr lang="tr-TR" sz="1100" b="1" dirty="0">
                <a:solidFill>
                  <a:srgbClr val="212121"/>
                </a:solidFill>
                <a:latin typeface="Calibri" pitchFamily="34" charset="0"/>
                <a:ea typeface="Calibri" pitchFamily="34" charset="-122"/>
                <a:cs typeface="Calibri" pitchFamily="34" charset="-120"/>
              </a:rPr>
              <a:t>B</a:t>
            </a:r>
            <a:endParaRPr lang="tr-TR" sz="1100" dirty="0"/>
          </a:p>
        </p:txBody>
      </p:sp>
      <p:sp>
        <p:nvSpPr>
          <p:cNvPr id="24" name="Shape 22"/>
          <p:cNvSpPr/>
          <p:nvPr/>
        </p:nvSpPr>
        <p:spPr>
          <a:xfrm>
            <a:off x="1738993" y="2468880"/>
            <a:ext cx="515820" cy="731520"/>
          </a:xfrm>
          <a:prstGeom prst="rect">
            <a:avLst/>
          </a:prstGeom>
          <a:solidFill>
            <a:srgbClr val="02C39A"/>
          </a:solidFill>
          <a:ln w="9525">
            <a:solidFill>
              <a:srgbClr val="FFFFFF"/>
            </a:solidFill>
            <a:prstDash val="solid"/>
          </a:ln>
        </p:spPr>
      </p:sp>
      <p:sp>
        <p:nvSpPr>
          <p:cNvPr id="25" name="Text 23"/>
          <p:cNvSpPr txBox="1"/>
          <p:nvPr/>
        </p:nvSpPr>
        <p:spPr>
          <a:xfrm>
            <a:off x="1738993" y="2468880"/>
            <a:ext cx="515820" cy="731520"/>
          </a:xfrm>
          <a:prstGeom prst="rect">
            <a:avLst/>
          </a:prstGeom>
          <a:noFill/>
          <a:ln/>
        </p:spPr>
        <p:txBody>
          <a:bodyPr wrap="square" lIns="0" tIns="0" rIns="0" bIns="0" rtlCol="0" anchor="ctr"/>
          <a:lstStyle/>
          <a:p>
            <a:pPr algn="ctr" indent="0" marL="0">
              <a:buNone/>
            </a:pPr>
            <a:r>
              <a:rPr lang="tr-TR" sz="1100" b="1" dirty="0">
                <a:solidFill>
                  <a:srgbClr val="212121"/>
                </a:solidFill>
                <a:latin typeface="Calibri" pitchFamily="34" charset="0"/>
                <a:ea typeface="Calibri" pitchFamily="34" charset="-122"/>
                <a:cs typeface="Calibri" pitchFamily="34" charset="-120"/>
              </a:rPr>
              <a:t>C</a:t>
            </a:r>
            <a:endParaRPr lang="tr-TR" sz="1100" dirty="0"/>
          </a:p>
        </p:txBody>
      </p:sp>
      <p:sp>
        <p:nvSpPr>
          <p:cNvPr id="26" name="Shape 24"/>
          <p:cNvSpPr/>
          <p:nvPr/>
        </p:nvSpPr>
        <p:spPr>
          <a:xfrm>
            <a:off x="2254812" y="2468880"/>
            <a:ext cx="79357" cy="731520"/>
          </a:xfrm>
          <a:prstGeom prst="rect">
            <a:avLst/>
          </a:prstGeom>
          <a:solidFill>
            <a:srgbClr val="FFFFFF"/>
          </a:solidFill>
          <a:ln w="12700">
            <a:solidFill>
              <a:srgbClr val="50808E"/>
            </a:solidFill>
            <a:prstDash val="dash"/>
          </a:ln>
        </p:spPr>
      </p:sp>
      <p:sp>
        <p:nvSpPr>
          <p:cNvPr id="27" name="Text 25"/>
          <p:cNvSpPr txBox="1"/>
          <p:nvPr/>
        </p:nvSpPr>
        <p:spPr>
          <a:xfrm>
            <a:off x="1980492" y="3218688"/>
            <a:ext cx="627997" cy="228600"/>
          </a:xfrm>
          <a:prstGeom prst="rect">
            <a:avLst/>
          </a:prstGeom>
          <a:noFill/>
          <a:ln/>
        </p:spPr>
        <p:txBody>
          <a:bodyPr wrap="square" lIns="0" tIns="0" rIns="0" bIns="0" rtlCol="0" anchor="t"/>
          <a:lstStyle/>
          <a:p>
            <a:pPr algn="ctr" indent="0" marL="0">
              <a:buNone/>
            </a:pPr>
            <a:r>
              <a:rPr lang="tr-TR" sz="1000" dirty="0">
                <a:solidFill>
                  <a:srgbClr val="50808E"/>
                </a:solidFill>
                <a:latin typeface="Calibri" pitchFamily="34" charset="0"/>
                <a:ea typeface="Calibri" pitchFamily="34" charset="-122"/>
                <a:cs typeface="Calibri" pitchFamily="34" charset="-120"/>
              </a:rPr>
              <a:t>20</a:t>
            </a:r>
            <a:endParaRPr lang="tr-TR" sz="1000" dirty="0"/>
          </a:p>
        </p:txBody>
      </p:sp>
      <p:sp>
        <p:nvSpPr>
          <p:cNvPr id="28" name="Shape 26"/>
          <p:cNvSpPr/>
          <p:nvPr/>
        </p:nvSpPr>
        <p:spPr>
          <a:xfrm>
            <a:off x="3802271" y="2468880"/>
            <a:ext cx="912604" cy="731520"/>
          </a:xfrm>
          <a:prstGeom prst="rect">
            <a:avLst/>
          </a:prstGeom>
          <a:solidFill>
            <a:srgbClr val="FFFFFF"/>
          </a:solidFill>
          <a:ln w="12700">
            <a:solidFill>
              <a:srgbClr val="50808E"/>
            </a:solidFill>
            <a:prstDash val="dash"/>
          </a:ln>
        </p:spPr>
      </p:sp>
      <p:sp>
        <p:nvSpPr>
          <p:cNvPr id="29" name="Text 27"/>
          <p:cNvSpPr txBox="1"/>
          <p:nvPr/>
        </p:nvSpPr>
        <p:spPr>
          <a:xfrm>
            <a:off x="3802271" y="2468880"/>
            <a:ext cx="912604" cy="731520"/>
          </a:xfrm>
          <a:prstGeom prst="rect">
            <a:avLst/>
          </a:prstGeom>
          <a:noFill/>
          <a:ln/>
        </p:spPr>
        <p:txBody>
          <a:bodyPr wrap="square" lIns="0" tIns="0" rIns="0" bIns="0" rtlCol="0" anchor="ctr"/>
          <a:lstStyle/>
          <a:p>
            <a:pPr algn="ctr" indent="0" marL="0">
              <a:buNone/>
            </a:pPr>
            <a:r>
              <a:rPr lang="tr-TR" sz="1100" dirty="0">
                <a:solidFill>
                  <a:srgbClr val="50808E"/>
                </a:solidFill>
                <a:latin typeface="Calibri" pitchFamily="34" charset="0"/>
                <a:ea typeface="Calibri" pitchFamily="34" charset="-122"/>
                <a:cs typeface="Calibri" pitchFamily="34" charset="-120"/>
              </a:rPr>
              <a:t>230</a:t>
            </a:r>
            <a:endParaRPr lang="tr-TR" sz="1100" dirty="0"/>
          </a:p>
        </p:txBody>
      </p:sp>
      <p:sp>
        <p:nvSpPr>
          <p:cNvPr id="30" name="Shape 28"/>
          <p:cNvSpPr/>
          <p:nvPr/>
        </p:nvSpPr>
        <p:spPr>
          <a:xfrm>
            <a:off x="5310051" y="2468880"/>
            <a:ext cx="793569" cy="731520"/>
          </a:xfrm>
          <a:prstGeom prst="rect">
            <a:avLst/>
          </a:prstGeom>
          <a:solidFill>
            <a:srgbClr val="FFFFFF"/>
          </a:solidFill>
          <a:ln w="12700">
            <a:solidFill>
              <a:srgbClr val="50808E"/>
            </a:solidFill>
            <a:prstDash val="dash"/>
          </a:ln>
        </p:spPr>
      </p:sp>
      <p:sp>
        <p:nvSpPr>
          <p:cNvPr id="31" name="Text 29"/>
          <p:cNvSpPr txBox="1"/>
          <p:nvPr/>
        </p:nvSpPr>
        <p:spPr>
          <a:xfrm>
            <a:off x="5310051" y="2468880"/>
            <a:ext cx="793569" cy="731520"/>
          </a:xfrm>
          <a:prstGeom prst="rect">
            <a:avLst/>
          </a:prstGeom>
          <a:noFill/>
          <a:ln/>
        </p:spPr>
        <p:txBody>
          <a:bodyPr wrap="square" lIns="0" tIns="0" rIns="0" bIns="0" rtlCol="0" anchor="ctr"/>
          <a:lstStyle/>
          <a:p>
            <a:pPr algn="ctr" indent="0" marL="0">
              <a:buNone/>
            </a:pPr>
            <a:r>
              <a:rPr lang="tr-TR" sz="1100" dirty="0">
                <a:solidFill>
                  <a:srgbClr val="50808E"/>
                </a:solidFill>
                <a:latin typeface="Calibri" pitchFamily="34" charset="0"/>
                <a:ea typeface="Calibri" pitchFamily="34" charset="-122"/>
                <a:cs typeface="Calibri" pitchFamily="34" charset="-120"/>
              </a:rPr>
              <a:t>200</a:t>
            </a:r>
            <a:endParaRPr lang="tr-TR" sz="1100" dirty="0"/>
          </a:p>
        </p:txBody>
      </p:sp>
      <p:sp>
        <p:nvSpPr>
          <p:cNvPr id="32" name="Shape 30"/>
          <p:cNvSpPr/>
          <p:nvPr/>
        </p:nvSpPr>
        <p:spPr>
          <a:xfrm>
            <a:off x="6897189" y="2468880"/>
            <a:ext cx="1388745" cy="731520"/>
          </a:xfrm>
          <a:prstGeom prst="rect">
            <a:avLst/>
          </a:prstGeom>
          <a:solidFill>
            <a:srgbClr val="FFFFFF"/>
          </a:solidFill>
          <a:ln w="12700">
            <a:solidFill>
              <a:srgbClr val="50808E"/>
            </a:solidFill>
            <a:prstDash val="dash"/>
          </a:ln>
        </p:spPr>
      </p:sp>
      <p:sp>
        <p:nvSpPr>
          <p:cNvPr id="33" name="Text 31"/>
          <p:cNvSpPr txBox="1"/>
          <p:nvPr/>
        </p:nvSpPr>
        <p:spPr>
          <a:xfrm>
            <a:off x="6897189" y="2468880"/>
            <a:ext cx="1388745" cy="731520"/>
          </a:xfrm>
          <a:prstGeom prst="rect">
            <a:avLst/>
          </a:prstGeom>
          <a:noFill/>
          <a:ln/>
        </p:spPr>
        <p:txBody>
          <a:bodyPr wrap="square" lIns="0" tIns="0" rIns="0" bIns="0" rtlCol="0" anchor="ctr"/>
          <a:lstStyle/>
          <a:p>
            <a:pPr algn="ctr" indent="0" marL="0">
              <a:buNone/>
            </a:pPr>
            <a:r>
              <a:rPr lang="tr-TR" sz="1100" dirty="0">
                <a:solidFill>
                  <a:srgbClr val="50808E"/>
                </a:solidFill>
                <a:latin typeface="Calibri" pitchFamily="34" charset="0"/>
                <a:ea typeface="Calibri" pitchFamily="34" charset="-122"/>
                <a:cs typeface="Calibri" pitchFamily="34" charset="-120"/>
              </a:rPr>
              <a:t>350</a:t>
            </a:r>
            <a:endParaRPr lang="tr-TR" sz="1100" dirty="0"/>
          </a:p>
        </p:txBody>
      </p:sp>
      <p:sp>
        <p:nvSpPr>
          <p:cNvPr id="34" name="Shape 32"/>
          <p:cNvSpPr/>
          <p:nvPr/>
        </p:nvSpPr>
        <p:spPr>
          <a:xfrm>
            <a:off x="10468247" y="2468880"/>
            <a:ext cx="595176" cy="731520"/>
          </a:xfrm>
          <a:prstGeom prst="rect">
            <a:avLst/>
          </a:prstGeom>
          <a:solidFill>
            <a:srgbClr val="FFFFFF"/>
          </a:solidFill>
          <a:ln w="12700">
            <a:solidFill>
              <a:srgbClr val="50808E"/>
            </a:solidFill>
            <a:prstDash val="dash"/>
          </a:ln>
        </p:spPr>
      </p:sp>
      <p:sp>
        <p:nvSpPr>
          <p:cNvPr id="35" name="Text 33"/>
          <p:cNvSpPr txBox="1"/>
          <p:nvPr/>
        </p:nvSpPr>
        <p:spPr>
          <a:xfrm>
            <a:off x="10468247" y="2468880"/>
            <a:ext cx="595176" cy="731520"/>
          </a:xfrm>
          <a:prstGeom prst="rect">
            <a:avLst/>
          </a:prstGeom>
          <a:noFill/>
          <a:ln/>
        </p:spPr>
        <p:txBody>
          <a:bodyPr wrap="square" lIns="0" tIns="0" rIns="0" bIns="0" rtlCol="0" anchor="ctr"/>
          <a:lstStyle/>
          <a:p>
            <a:pPr algn="ctr" indent="0" marL="0">
              <a:buNone/>
            </a:pPr>
            <a:r>
              <a:rPr lang="tr-TR" sz="1100" dirty="0">
                <a:solidFill>
                  <a:srgbClr val="50808E"/>
                </a:solidFill>
                <a:latin typeface="Calibri" pitchFamily="34" charset="0"/>
                <a:ea typeface="Calibri" pitchFamily="34" charset="-122"/>
                <a:cs typeface="Calibri" pitchFamily="34" charset="-120"/>
              </a:rPr>
              <a:t>150</a:t>
            </a:r>
            <a:endParaRPr lang="tr-TR" sz="1100" dirty="0"/>
          </a:p>
        </p:txBody>
      </p:sp>
      <p:sp>
        <p:nvSpPr>
          <p:cNvPr id="36" name="Text 34"/>
          <p:cNvSpPr txBox="1"/>
          <p:nvPr/>
        </p:nvSpPr>
        <p:spPr>
          <a:xfrm>
            <a:off x="548640" y="3520440"/>
            <a:ext cx="7315200" cy="274320"/>
          </a:xfrm>
          <a:prstGeom prst="rect">
            <a:avLst/>
          </a:prstGeom>
          <a:noFill/>
          <a:ln/>
        </p:spPr>
        <p:txBody>
          <a:bodyPr wrap="square" lIns="0" tIns="0" rIns="0" bIns="0" rtlCol="0" anchor="t"/>
          <a:lstStyle/>
          <a:p>
            <a:pPr indent="0" marL="0">
              <a:buNone/>
            </a:pPr>
            <a:r>
              <a:rPr lang="tr-TR" sz="1300" b="1" dirty="0">
                <a:solidFill>
                  <a:srgbClr val="36454F"/>
                </a:solidFill>
                <a:latin typeface="Calibri" pitchFamily="34" charset="0"/>
                <a:ea typeface="Calibri" pitchFamily="34" charset="-122"/>
                <a:cs typeface="Calibri" pitchFamily="34" charset="-120"/>
              </a:rPr>
              <a:t>Sıkıştırmadan sonra: 950 KB'lık tek delik → D (430 KB) sığar</a:t>
            </a:r>
            <a:endParaRPr lang="tr-TR" sz="1300" dirty="0"/>
          </a:p>
        </p:txBody>
      </p:sp>
      <p:sp>
        <p:nvSpPr>
          <p:cNvPr id="37" name="Shape 35"/>
          <p:cNvSpPr/>
          <p:nvPr/>
        </p:nvSpPr>
        <p:spPr>
          <a:xfrm>
            <a:off x="548640" y="3840480"/>
            <a:ext cx="1190353" cy="731520"/>
          </a:xfrm>
          <a:prstGeom prst="rect">
            <a:avLst/>
          </a:prstGeom>
          <a:solidFill>
            <a:srgbClr val="36454F"/>
          </a:solidFill>
          <a:ln w="9525">
            <a:solidFill>
              <a:srgbClr val="FFFFFF"/>
            </a:solidFill>
            <a:prstDash val="solid"/>
          </a:ln>
        </p:spPr>
      </p:sp>
      <p:sp>
        <p:nvSpPr>
          <p:cNvPr id="38" name="Text 36"/>
          <p:cNvSpPr txBox="1"/>
          <p:nvPr/>
        </p:nvSpPr>
        <p:spPr>
          <a:xfrm>
            <a:off x="548640" y="3840480"/>
            <a:ext cx="1190353" cy="731520"/>
          </a:xfrm>
          <a:prstGeom prst="rect">
            <a:avLst/>
          </a:prstGeom>
          <a:noFill/>
          <a:ln/>
        </p:spPr>
        <p:txBody>
          <a:bodyPr wrap="square" lIns="0" tIns="0" rIns="0" bIns="0" rtlCol="0" anchor="ctr"/>
          <a:lstStyle/>
          <a:p>
            <a:pPr algn="ctr" indent="0" marL="0">
              <a:buNone/>
            </a:pPr>
            <a:r>
              <a:rPr lang="tr-TR" sz="1100" b="1" dirty="0">
                <a:solidFill>
                  <a:srgbClr val="FFFFFF"/>
                </a:solidFill>
                <a:latin typeface="Calibri" pitchFamily="34" charset="0"/>
                <a:ea typeface="Calibri" pitchFamily="34" charset="-122"/>
                <a:cs typeface="Calibri" pitchFamily="34" charset="-120"/>
              </a:rPr>
              <a:t>İS</a:t>
            </a:r>
            <a:endParaRPr lang="tr-TR" sz="1100" dirty="0"/>
          </a:p>
        </p:txBody>
      </p:sp>
      <p:sp>
        <p:nvSpPr>
          <p:cNvPr id="39" name="Shape 37"/>
          <p:cNvSpPr/>
          <p:nvPr/>
        </p:nvSpPr>
        <p:spPr>
          <a:xfrm>
            <a:off x="1738993" y="3840480"/>
            <a:ext cx="515820" cy="731520"/>
          </a:xfrm>
          <a:prstGeom prst="rect">
            <a:avLst/>
          </a:prstGeom>
          <a:solidFill>
            <a:srgbClr val="02C39A"/>
          </a:solidFill>
          <a:ln w="9525">
            <a:solidFill>
              <a:srgbClr val="FFFFFF"/>
            </a:solidFill>
            <a:prstDash val="solid"/>
          </a:ln>
        </p:spPr>
      </p:sp>
      <p:sp>
        <p:nvSpPr>
          <p:cNvPr id="40" name="Text 38"/>
          <p:cNvSpPr txBox="1"/>
          <p:nvPr/>
        </p:nvSpPr>
        <p:spPr>
          <a:xfrm>
            <a:off x="1738993" y="3840480"/>
            <a:ext cx="515820" cy="731520"/>
          </a:xfrm>
          <a:prstGeom prst="rect">
            <a:avLst/>
          </a:prstGeom>
          <a:noFill/>
          <a:ln/>
        </p:spPr>
        <p:txBody>
          <a:bodyPr wrap="square" lIns="0" tIns="0" rIns="0" bIns="0" rtlCol="0" anchor="ctr"/>
          <a:lstStyle/>
          <a:p>
            <a:pPr algn="ctr" indent="0" marL="0">
              <a:buNone/>
            </a:pPr>
            <a:r>
              <a:rPr lang="tr-TR" sz="1100" b="1" dirty="0">
                <a:solidFill>
                  <a:srgbClr val="212121"/>
                </a:solidFill>
                <a:latin typeface="Calibri" pitchFamily="34" charset="0"/>
                <a:ea typeface="Calibri" pitchFamily="34" charset="-122"/>
                <a:cs typeface="Calibri" pitchFamily="34" charset="-120"/>
              </a:rPr>
              <a:t>C</a:t>
            </a:r>
            <a:endParaRPr lang="tr-TR" sz="1100" dirty="0"/>
          </a:p>
        </p:txBody>
      </p:sp>
      <p:sp>
        <p:nvSpPr>
          <p:cNvPr id="41" name="Shape 39"/>
          <p:cNvSpPr/>
          <p:nvPr/>
        </p:nvSpPr>
        <p:spPr>
          <a:xfrm>
            <a:off x="2254812" y="3840480"/>
            <a:ext cx="595176" cy="731520"/>
          </a:xfrm>
          <a:prstGeom prst="rect">
            <a:avLst/>
          </a:prstGeom>
          <a:solidFill>
            <a:srgbClr val="C9D3D6"/>
          </a:solidFill>
          <a:ln w="9525">
            <a:solidFill>
              <a:srgbClr val="FFFFFF"/>
            </a:solidFill>
            <a:prstDash val="solid"/>
          </a:ln>
        </p:spPr>
      </p:sp>
      <p:sp>
        <p:nvSpPr>
          <p:cNvPr id="42" name="Text 40"/>
          <p:cNvSpPr txBox="1"/>
          <p:nvPr/>
        </p:nvSpPr>
        <p:spPr>
          <a:xfrm>
            <a:off x="2254812" y="3840480"/>
            <a:ext cx="595176" cy="731520"/>
          </a:xfrm>
          <a:prstGeom prst="rect">
            <a:avLst/>
          </a:prstGeom>
          <a:noFill/>
          <a:ln/>
        </p:spPr>
        <p:txBody>
          <a:bodyPr wrap="square" lIns="0" tIns="0" rIns="0" bIns="0" rtlCol="0" anchor="ctr"/>
          <a:lstStyle/>
          <a:p>
            <a:pPr algn="ctr" indent="0" marL="0">
              <a:buNone/>
            </a:pPr>
            <a:r>
              <a:rPr lang="tr-TR" sz="1100" b="1" dirty="0">
                <a:solidFill>
                  <a:srgbClr val="212121"/>
                </a:solidFill>
                <a:latin typeface="Calibri" pitchFamily="34" charset="0"/>
                <a:ea typeface="Calibri" pitchFamily="34" charset="-122"/>
                <a:cs typeface="Calibri" pitchFamily="34" charset="-120"/>
              </a:rPr>
              <a:t>P1</a:t>
            </a:r>
            <a:endParaRPr lang="tr-TR" sz="1100" dirty="0"/>
          </a:p>
        </p:txBody>
      </p:sp>
      <p:sp>
        <p:nvSpPr>
          <p:cNvPr id="43" name="Shape 41"/>
          <p:cNvSpPr/>
          <p:nvPr/>
        </p:nvSpPr>
        <p:spPr>
          <a:xfrm>
            <a:off x="2849989" y="3840480"/>
            <a:ext cx="872925" cy="731520"/>
          </a:xfrm>
          <a:prstGeom prst="rect">
            <a:avLst/>
          </a:prstGeom>
          <a:solidFill>
            <a:srgbClr val="02C39A"/>
          </a:solidFill>
          <a:ln w="9525">
            <a:solidFill>
              <a:srgbClr val="FFFFFF"/>
            </a:solidFill>
            <a:prstDash val="solid"/>
          </a:ln>
        </p:spPr>
      </p:sp>
      <p:sp>
        <p:nvSpPr>
          <p:cNvPr id="44" name="Text 42"/>
          <p:cNvSpPr txBox="1"/>
          <p:nvPr/>
        </p:nvSpPr>
        <p:spPr>
          <a:xfrm>
            <a:off x="2849989" y="3840480"/>
            <a:ext cx="872925" cy="731520"/>
          </a:xfrm>
          <a:prstGeom prst="rect">
            <a:avLst/>
          </a:prstGeom>
          <a:noFill/>
          <a:ln/>
        </p:spPr>
        <p:txBody>
          <a:bodyPr wrap="square" lIns="0" tIns="0" rIns="0" bIns="0" rtlCol="0" anchor="ctr"/>
          <a:lstStyle/>
          <a:p>
            <a:pPr algn="ctr" indent="0" marL="0">
              <a:buNone/>
            </a:pPr>
            <a:r>
              <a:rPr lang="tr-TR" sz="1100" b="1" dirty="0">
                <a:solidFill>
                  <a:srgbClr val="212121"/>
                </a:solidFill>
                <a:latin typeface="Calibri" pitchFamily="34" charset="0"/>
                <a:ea typeface="Calibri" pitchFamily="34" charset="-122"/>
                <a:cs typeface="Calibri" pitchFamily="34" charset="-120"/>
              </a:rPr>
              <a:t>A</a:t>
            </a:r>
            <a:endParaRPr lang="tr-TR" sz="1100" dirty="0"/>
          </a:p>
        </p:txBody>
      </p:sp>
      <p:sp>
        <p:nvSpPr>
          <p:cNvPr id="45" name="Shape 43"/>
          <p:cNvSpPr/>
          <p:nvPr/>
        </p:nvSpPr>
        <p:spPr>
          <a:xfrm>
            <a:off x="3722914" y="3840480"/>
            <a:ext cx="595176" cy="731520"/>
          </a:xfrm>
          <a:prstGeom prst="rect">
            <a:avLst/>
          </a:prstGeom>
          <a:solidFill>
            <a:srgbClr val="C9D3D6"/>
          </a:solidFill>
          <a:ln w="9525">
            <a:solidFill>
              <a:srgbClr val="FFFFFF"/>
            </a:solidFill>
            <a:prstDash val="solid"/>
          </a:ln>
        </p:spPr>
      </p:sp>
      <p:sp>
        <p:nvSpPr>
          <p:cNvPr id="46" name="Text 44"/>
          <p:cNvSpPr txBox="1"/>
          <p:nvPr/>
        </p:nvSpPr>
        <p:spPr>
          <a:xfrm>
            <a:off x="3722914" y="3840480"/>
            <a:ext cx="595176" cy="731520"/>
          </a:xfrm>
          <a:prstGeom prst="rect">
            <a:avLst/>
          </a:prstGeom>
          <a:noFill/>
          <a:ln/>
        </p:spPr>
        <p:txBody>
          <a:bodyPr wrap="square" lIns="0" tIns="0" rIns="0" bIns="0" rtlCol="0" anchor="ctr"/>
          <a:lstStyle/>
          <a:p>
            <a:pPr algn="ctr" indent="0" marL="0">
              <a:buNone/>
            </a:pPr>
            <a:r>
              <a:rPr lang="tr-TR" sz="1100" b="1" dirty="0">
                <a:solidFill>
                  <a:srgbClr val="212121"/>
                </a:solidFill>
                <a:latin typeface="Calibri" pitchFamily="34" charset="0"/>
                <a:ea typeface="Calibri" pitchFamily="34" charset="-122"/>
                <a:cs typeface="Calibri" pitchFamily="34" charset="-120"/>
              </a:rPr>
              <a:t>P2</a:t>
            </a:r>
            <a:endParaRPr lang="tr-TR" sz="1100" dirty="0"/>
          </a:p>
        </p:txBody>
      </p:sp>
      <p:sp>
        <p:nvSpPr>
          <p:cNvPr id="47" name="Shape 45"/>
          <p:cNvSpPr/>
          <p:nvPr/>
        </p:nvSpPr>
        <p:spPr>
          <a:xfrm>
            <a:off x="4318091" y="3840480"/>
            <a:ext cx="793569" cy="731520"/>
          </a:xfrm>
          <a:prstGeom prst="rect">
            <a:avLst/>
          </a:prstGeom>
          <a:solidFill>
            <a:srgbClr val="C9D3D6"/>
          </a:solidFill>
          <a:ln w="9525">
            <a:solidFill>
              <a:srgbClr val="FFFFFF"/>
            </a:solidFill>
            <a:prstDash val="solid"/>
          </a:ln>
        </p:spPr>
      </p:sp>
      <p:sp>
        <p:nvSpPr>
          <p:cNvPr id="48" name="Text 46"/>
          <p:cNvSpPr txBox="1"/>
          <p:nvPr/>
        </p:nvSpPr>
        <p:spPr>
          <a:xfrm>
            <a:off x="4318091" y="3840480"/>
            <a:ext cx="793569" cy="731520"/>
          </a:xfrm>
          <a:prstGeom prst="rect">
            <a:avLst/>
          </a:prstGeom>
          <a:noFill/>
          <a:ln/>
        </p:spPr>
        <p:txBody>
          <a:bodyPr wrap="square" lIns="0" tIns="0" rIns="0" bIns="0" rtlCol="0" anchor="ctr"/>
          <a:lstStyle/>
          <a:p>
            <a:pPr algn="ctr" indent="0" marL="0">
              <a:buNone/>
            </a:pPr>
            <a:r>
              <a:rPr lang="tr-TR" sz="1100" b="1" dirty="0">
                <a:solidFill>
                  <a:srgbClr val="212121"/>
                </a:solidFill>
                <a:latin typeface="Calibri" pitchFamily="34" charset="0"/>
                <a:ea typeface="Calibri" pitchFamily="34" charset="-122"/>
                <a:cs typeface="Calibri" pitchFamily="34" charset="-120"/>
              </a:rPr>
              <a:t>P3</a:t>
            </a:r>
            <a:endParaRPr lang="tr-TR" sz="1100" dirty="0"/>
          </a:p>
        </p:txBody>
      </p:sp>
      <p:sp>
        <p:nvSpPr>
          <p:cNvPr id="49" name="Shape 47"/>
          <p:cNvSpPr/>
          <p:nvPr/>
        </p:nvSpPr>
        <p:spPr>
          <a:xfrm>
            <a:off x="5111659" y="3840480"/>
            <a:ext cx="595176" cy="731520"/>
          </a:xfrm>
          <a:prstGeom prst="rect">
            <a:avLst/>
          </a:prstGeom>
          <a:solidFill>
            <a:srgbClr val="C9D3D6"/>
          </a:solidFill>
          <a:ln w="9525">
            <a:solidFill>
              <a:srgbClr val="FFFFFF"/>
            </a:solidFill>
            <a:prstDash val="solid"/>
          </a:ln>
        </p:spPr>
      </p:sp>
      <p:sp>
        <p:nvSpPr>
          <p:cNvPr id="50" name="Text 48"/>
          <p:cNvSpPr txBox="1"/>
          <p:nvPr/>
        </p:nvSpPr>
        <p:spPr>
          <a:xfrm>
            <a:off x="5111659" y="3840480"/>
            <a:ext cx="595176" cy="731520"/>
          </a:xfrm>
          <a:prstGeom prst="rect">
            <a:avLst/>
          </a:prstGeom>
          <a:noFill/>
          <a:ln/>
        </p:spPr>
        <p:txBody>
          <a:bodyPr wrap="square" lIns="0" tIns="0" rIns="0" bIns="0" rtlCol="0" anchor="ctr"/>
          <a:lstStyle/>
          <a:p>
            <a:pPr algn="ctr" indent="0" marL="0">
              <a:buNone/>
            </a:pPr>
            <a:r>
              <a:rPr lang="tr-TR" sz="1100" b="1" dirty="0">
                <a:solidFill>
                  <a:srgbClr val="212121"/>
                </a:solidFill>
                <a:latin typeface="Calibri" pitchFamily="34" charset="0"/>
                <a:ea typeface="Calibri" pitchFamily="34" charset="-122"/>
                <a:cs typeface="Calibri" pitchFamily="34" charset="-120"/>
              </a:rPr>
              <a:t>P4</a:t>
            </a:r>
            <a:endParaRPr lang="tr-TR" sz="1100" dirty="0"/>
          </a:p>
        </p:txBody>
      </p:sp>
      <p:sp>
        <p:nvSpPr>
          <p:cNvPr id="51" name="Shape 49"/>
          <p:cNvSpPr/>
          <p:nvPr/>
        </p:nvSpPr>
        <p:spPr>
          <a:xfrm>
            <a:off x="5706836" y="3840480"/>
            <a:ext cx="1587137" cy="731520"/>
          </a:xfrm>
          <a:prstGeom prst="rect">
            <a:avLst/>
          </a:prstGeom>
          <a:solidFill>
            <a:srgbClr val="02C39A"/>
          </a:solidFill>
          <a:ln w="9525">
            <a:solidFill>
              <a:srgbClr val="FFFFFF"/>
            </a:solidFill>
            <a:prstDash val="solid"/>
          </a:ln>
        </p:spPr>
      </p:sp>
      <p:sp>
        <p:nvSpPr>
          <p:cNvPr id="52" name="Text 50"/>
          <p:cNvSpPr txBox="1"/>
          <p:nvPr/>
        </p:nvSpPr>
        <p:spPr>
          <a:xfrm>
            <a:off x="5706836" y="3840480"/>
            <a:ext cx="1587137" cy="731520"/>
          </a:xfrm>
          <a:prstGeom prst="rect">
            <a:avLst/>
          </a:prstGeom>
          <a:noFill/>
          <a:ln/>
        </p:spPr>
        <p:txBody>
          <a:bodyPr wrap="square" lIns="0" tIns="0" rIns="0" bIns="0" rtlCol="0" anchor="ctr"/>
          <a:lstStyle/>
          <a:p>
            <a:pPr algn="ctr" indent="0" marL="0">
              <a:buNone/>
            </a:pPr>
            <a:r>
              <a:rPr lang="tr-TR" sz="1100" b="1" dirty="0">
                <a:solidFill>
                  <a:srgbClr val="212121"/>
                </a:solidFill>
                <a:latin typeface="Calibri" pitchFamily="34" charset="0"/>
                <a:ea typeface="Calibri" pitchFamily="34" charset="-122"/>
                <a:cs typeface="Calibri" pitchFamily="34" charset="-120"/>
              </a:rPr>
              <a:t>B</a:t>
            </a:r>
            <a:endParaRPr lang="tr-TR" sz="1100" dirty="0"/>
          </a:p>
        </p:txBody>
      </p:sp>
      <p:sp>
        <p:nvSpPr>
          <p:cNvPr id="53" name="Shape 51"/>
          <p:cNvSpPr/>
          <p:nvPr/>
        </p:nvSpPr>
        <p:spPr>
          <a:xfrm>
            <a:off x="7293973" y="3840480"/>
            <a:ext cx="595176" cy="731520"/>
          </a:xfrm>
          <a:prstGeom prst="rect">
            <a:avLst/>
          </a:prstGeom>
          <a:solidFill>
            <a:srgbClr val="C9D3D6"/>
          </a:solidFill>
          <a:ln w="9525">
            <a:solidFill>
              <a:srgbClr val="FFFFFF"/>
            </a:solidFill>
            <a:prstDash val="solid"/>
          </a:ln>
        </p:spPr>
      </p:sp>
      <p:sp>
        <p:nvSpPr>
          <p:cNvPr id="54" name="Text 52"/>
          <p:cNvSpPr txBox="1"/>
          <p:nvPr/>
        </p:nvSpPr>
        <p:spPr>
          <a:xfrm>
            <a:off x="7293973" y="3840480"/>
            <a:ext cx="595176" cy="731520"/>
          </a:xfrm>
          <a:prstGeom prst="rect">
            <a:avLst/>
          </a:prstGeom>
          <a:noFill/>
          <a:ln/>
        </p:spPr>
        <p:txBody>
          <a:bodyPr wrap="square" lIns="0" tIns="0" rIns="0" bIns="0" rtlCol="0" anchor="ctr"/>
          <a:lstStyle/>
          <a:p>
            <a:pPr algn="ctr" indent="0" marL="0">
              <a:buNone/>
            </a:pPr>
            <a:r>
              <a:rPr lang="tr-TR" sz="1100" b="1" dirty="0">
                <a:solidFill>
                  <a:srgbClr val="212121"/>
                </a:solidFill>
                <a:latin typeface="Calibri" pitchFamily="34" charset="0"/>
                <a:ea typeface="Calibri" pitchFamily="34" charset="-122"/>
                <a:cs typeface="Calibri" pitchFamily="34" charset="-120"/>
              </a:rPr>
              <a:t>P5</a:t>
            </a:r>
            <a:endParaRPr lang="tr-TR" sz="1100" dirty="0"/>
          </a:p>
        </p:txBody>
      </p:sp>
      <p:sp>
        <p:nvSpPr>
          <p:cNvPr id="55" name="Shape 53"/>
          <p:cNvSpPr/>
          <p:nvPr/>
        </p:nvSpPr>
        <p:spPr>
          <a:xfrm>
            <a:off x="7889149" y="3840480"/>
            <a:ext cx="1706172" cy="731520"/>
          </a:xfrm>
          <a:prstGeom prst="rect">
            <a:avLst/>
          </a:prstGeom>
          <a:solidFill>
            <a:srgbClr val="02C39A"/>
          </a:solidFill>
          <a:ln w="9525">
            <a:solidFill>
              <a:srgbClr val="FFFFFF"/>
            </a:solidFill>
            <a:prstDash val="solid"/>
          </a:ln>
        </p:spPr>
      </p:sp>
      <p:sp>
        <p:nvSpPr>
          <p:cNvPr id="56" name="Text 54"/>
          <p:cNvSpPr txBox="1"/>
          <p:nvPr/>
        </p:nvSpPr>
        <p:spPr>
          <a:xfrm>
            <a:off x="7889149" y="3840480"/>
            <a:ext cx="1706172" cy="731520"/>
          </a:xfrm>
          <a:prstGeom prst="rect">
            <a:avLst/>
          </a:prstGeom>
          <a:noFill/>
          <a:ln/>
        </p:spPr>
        <p:txBody>
          <a:bodyPr wrap="square" lIns="0" tIns="0" rIns="0" bIns="0" rtlCol="0" anchor="ctr"/>
          <a:lstStyle/>
          <a:p>
            <a:pPr algn="ctr" indent="0" marL="0">
              <a:buNone/>
            </a:pPr>
            <a:r>
              <a:rPr lang="tr-TR" sz="1100" b="1" dirty="0">
                <a:solidFill>
                  <a:srgbClr val="212121"/>
                </a:solidFill>
                <a:latin typeface="Calibri" pitchFamily="34" charset="0"/>
                <a:ea typeface="Calibri" pitchFamily="34" charset="-122"/>
                <a:cs typeface="Calibri" pitchFamily="34" charset="-120"/>
              </a:rPr>
              <a:t>D</a:t>
            </a:r>
            <a:endParaRPr lang="tr-TR" sz="1100" dirty="0"/>
          </a:p>
        </p:txBody>
      </p:sp>
      <p:sp>
        <p:nvSpPr>
          <p:cNvPr id="57" name="Shape 55"/>
          <p:cNvSpPr/>
          <p:nvPr/>
        </p:nvSpPr>
        <p:spPr>
          <a:xfrm>
            <a:off x="9595322" y="3840480"/>
            <a:ext cx="2063278" cy="731520"/>
          </a:xfrm>
          <a:prstGeom prst="rect">
            <a:avLst/>
          </a:prstGeom>
          <a:solidFill>
            <a:srgbClr val="FFFFFF"/>
          </a:solidFill>
          <a:ln w="12700">
            <a:solidFill>
              <a:srgbClr val="50808E"/>
            </a:solidFill>
            <a:prstDash val="dash"/>
          </a:ln>
        </p:spPr>
      </p:sp>
      <p:sp>
        <p:nvSpPr>
          <p:cNvPr id="58" name="Text 56"/>
          <p:cNvSpPr txBox="1"/>
          <p:nvPr/>
        </p:nvSpPr>
        <p:spPr>
          <a:xfrm>
            <a:off x="9595322" y="3840480"/>
            <a:ext cx="2063278" cy="731520"/>
          </a:xfrm>
          <a:prstGeom prst="rect">
            <a:avLst/>
          </a:prstGeom>
          <a:noFill/>
          <a:ln/>
        </p:spPr>
        <p:txBody>
          <a:bodyPr wrap="square" lIns="0" tIns="0" rIns="0" bIns="0" rtlCol="0" anchor="ctr"/>
          <a:lstStyle/>
          <a:p>
            <a:pPr algn="ctr" indent="0" marL="0">
              <a:buNone/>
            </a:pPr>
            <a:r>
              <a:rPr lang="tr-TR" sz="1100" dirty="0">
                <a:solidFill>
                  <a:srgbClr val="50808E"/>
                </a:solidFill>
                <a:latin typeface="Calibri" pitchFamily="34" charset="0"/>
                <a:ea typeface="Calibri" pitchFamily="34" charset="-122"/>
                <a:cs typeface="Calibri" pitchFamily="34" charset="-120"/>
              </a:rPr>
              <a:t>520</a:t>
            </a:r>
            <a:endParaRPr lang="tr-TR" sz="1100" dirty="0"/>
          </a:p>
        </p:txBody>
      </p:sp>
      <p:sp>
        <p:nvSpPr>
          <p:cNvPr id="59" name="Shape 57"/>
          <p:cNvSpPr/>
          <p:nvPr/>
        </p:nvSpPr>
        <p:spPr>
          <a:xfrm>
            <a:off x="548640" y="4892040"/>
            <a:ext cx="5440680" cy="1371600"/>
          </a:xfrm>
          <a:prstGeom prst="roundRect">
            <a:avLst>
              <a:gd name="adj" fmla="val 4000"/>
            </a:avLst>
          </a:prstGeom>
          <a:solidFill>
            <a:srgbClr val="F2F2F2"/>
          </a:solidFill>
          <a:ln/>
          <a:effectLst>
            <a:outerShdw sx="100000" sy="100000" kx="0" ky="0" algn="bl" rotWithShape="0" blurRad="101600" dist="25400" dir="5400000">
              <a:srgbClr val="000000">
                <a:alpha val="12000"/>
              </a:srgbClr>
            </a:outerShdw>
          </a:effectLst>
        </p:spPr>
      </p:sp>
      <p:sp>
        <p:nvSpPr>
          <p:cNvPr id="60" name="Text 58"/>
          <p:cNvSpPr txBox="1"/>
          <p:nvPr/>
        </p:nvSpPr>
        <p:spPr>
          <a:xfrm>
            <a:off x="777240" y="5074920"/>
            <a:ext cx="4983480" cy="1051560"/>
          </a:xfrm>
          <a:prstGeom prst="rect">
            <a:avLst/>
          </a:prstGeom>
          <a:noFill/>
          <a:ln/>
        </p:spPr>
        <p:txBody>
          <a:bodyPr wrap="square" lIns="0" tIns="0" rIns="0" bIns="0" rtlCol="0" anchor="t"/>
          <a:lstStyle/>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Yalnızca</a:t>
            </a:r>
            <a:r>
              <a:rPr lang="tr-TR" sz="1400" dirty="0">
                <a:solidFill>
                  <a:srgbClr val="3A464C"/>
                </a:solidFill>
                <a:latin typeface="Calibri" pitchFamily="34" charset="0"/>
                <a:ea typeface="Calibri" pitchFamily="34" charset="-122"/>
                <a:cs typeface="Calibri" pitchFamily="34" charset="-120"/>
              </a:rPr>
              <a:t> yürütme zamanında bağlamada mümkün: taşıdıktan sonra yer değiştirme yazmacı güncellenir.</a:t>
            </a:r>
            <a:endParaRPr lang="tr-TR" sz="1400" dirty="0"/>
          </a:p>
        </p:txBody>
      </p:sp>
      <p:sp>
        <p:nvSpPr>
          <p:cNvPr id="61" name="Shape 59"/>
          <p:cNvSpPr/>
          <p:nvPr/>
        </p:nvSpPr>
        <p:spPr>
          <a:xfrm>
            <a:off x="6217920" y="4892040"/>
            <a:ext cx="5440680" cy="1371600"/>
          </a:xfrm>
          <a:prstGeom prst="roundRect">
            <a:avLst>
              <a:gd name="adj" fmla="val 4000"/>
            </a:avLst>
          </a:prstGeom>
          <a:solidFill>
            <a:srgbClr val="F2F2F2"/>
          </a:solidFill>
          <a:ln/>
          <a:effectLst>
            <a:outerShdw sx="100000" sy="100000" kx="0" ky="0" algn="bl" rotWithShape="0" blurRad="101600" dist="25400" dir="5400000">
              <a:srgbClr val="000000">
                <a:alpha val="12000"/>
              </a:srgbClr>
            </a:outerShdw>
          </a:effectLst>
        </p:spPr>
      </p:sp>
      <p:sp>
        <p:nvSpPr>
          <p:cNvPr id="62" name="Text 60"/>
          <p:cNvSpPr txBox="1"/>
          <p:nvPr/>
        </p:nvSpPr>
        <p:spPr>
          <a:xfrm>
            <a:off x="6446520" y="5074920"/>
            <a:ext cx="4983480" cy="1051560"/>
          </a:xfrm>
          <a:prstGeom prst="rect">
            <a:avLst/>
          </a:prstGeom>
          <a:noFill/>
          <a:ln/>
        </p:spPr>
        <p:txBody>
          <a:bodyPr wrap="square" lIns="0" tIns="0" rIns="0" bIns="0" rtlCol="0" anchor="t"/>
          <a:lstStyle/>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Pahalı:</a:t>
            </a:r>
            <a:r>
              <a:rPr lang="tr-TR" sz="1400" dirty="0">
                <a:solidFill>
                  <a:srgbClr val="3A464C"/>
                </a:solidFill>
                <a:latin typeface="Calibri" pitchFamily="34" charset="0"/>
                <a:ea typeface="Calibri" pitchFamily="34" charset="-122"/>
                <a:cs typeface="Calibri" pitchFamily="34" charset="-120"/>
              </a:rPr>
              <a:t> RAM'in tamamına kadarını kopyalar; süreçler durmalıdır ve taşınan bir tampona G/Ç yapılması sorun yaratır.</a:t>
            </a:r>
            <a:endParaRPr lang="tr-TR"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ARA</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10 Dakika Mola</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Sırada: dış parçalanmayı ortadan kaldıran fikir, sayfalama.</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6  ·  17</a:t>
            </a:r>
            <a:endParaRPr lang="tr-TR"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BÖLÜM 2</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Sayfalama (Paging)</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Belleği eşit parçalara bölün ve sürecin parçalarını RAM'in her yerine dağıtın.</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6  ·  18</a:t>
            </a:r>
            <a:endParaRPr lang="tr-TR"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SAYFALAMA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Sayfalar, Çerçeveler ve Sayfa Tablosu</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Mantıksal bellek sayfalara (page), fiziksel bellek aynı boyda çerçevelere (frame) bölünür (burada 4 KB). Her sayfa her boş çerçeveye konabilir.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6  ·  19</a:t>
            </a:r>
            <a:endParaRPr lang="tr-TR" sz="900" dirty="0"/>
          </a:p>
        </p:txBody>
      </p:sp>
      <p:sp>
        <p:nvSpPr>
          <p:cNvPr id="7" name="Text 5"/>
          <p:cNvSpPr txBox="1"/>
          <p:nvPr/>
        </p:nvSpPr>
        <p:spPr>
          <a:xfrm>
            <a:off x="548640" y="2148840"/>
            <a:ext cx="2011680" cy="502920"/>
          </a:xfrm>
          <a:prstGeom prst="rect">
            <a:avLst/>
          </a:prstGeom>
          <a:noFill/>
          <a:ln/>
        </p:spPr>
        <p:txBody>
          <a:bodyPr wrap="square" lIns="0" tIns="0" rIns="0" bIns="0" rtlCol="0" anchor="t"/>
          <a:lstStyle/>
          <a:p>
            <a:pPr algn="ctr" indent="0" marL="0">
              <a:buNone/>
            </a:pPr>
            <a:r>
              <a:rPr lang="tr-TR" sz="1200" b="1" dirty="0">
                <a:solidFill>
                  <a:srgbClr val="36454F"/>
                </a:solidFill>
                <a:latin typeface="Calibri" pitchFamily="34" charset="0"/>
                <a:ea typeface="Calibri" pitchFamily="34" charset="-122"/>
                <a:cs typeface="Calibri" pitchFamily="34" charset="-120"/>
              </a:rPr>
              <a:t>mantıksal bellek</a:t>
            </a:r>
            <a:endParaRPr lang="tr-TR" sz="1200" dirty="0"/>
          </a:p>
          <a:p>
            <a:pPr algn="ctr" indent="0" marL="0">
              <a:buNone/>
            </a:pPr>
            <a:r>
              <a:rPr lang="tr-TR" sz="1200" b="1" dirty="0">
                <a:solidFill>
                  <a:srgbClr val="36454F"/>
                </a:solidFill>
                <a:latin typeface="Calibri" pitchFamily="34" charset="0"/>
                <a:ea typeface="Calibri" pitchFamily="34" charset="-122"/>
                <a:cs typeface="Calibri" pitchFamily="34" charset="-120"/>
              </a:rPr>
              <a:t>(süreç, 5 sayfa)</a:t>
            </a:r>
            <a:endParaRPr lang="tr-TR" sz="1200" dirty="0"/>
          </a:p>
        </p:txBody>
      </p:sp>
      <p:sp>
        <p:nvSpPr>
          <p:cNvPr id="8" name="Shape 6"/>
          <p:cNvSpPr/>
          <p:nvPr/>
        </p:nvSpPr>
        <p:spPr>
          <a:xfrm>
            <a:off x="731520" y="2788920"/>
            <a:ext cx="1645920" cy="512064"/>
          </a:xfrm>
          <a:prstGeom prst="roundRect">
            <a:avLst>
              <a:gd name="adj" fmla="val 8929"/>
            </a:avLst>
          </a:prstGeom>
          <a:solidFill>
            <a:srgbClr val="02C39A"/>
          </a:solidFill>
          <a:ln/>
        </p:spPr>
      </p:sp>
      <p:sp>
        <p:nvSpPr>
          <p:cNvPr id="9" name="Text 7"/>
          <p:cNvSpPr txBox="1"/>
          <p:nvPr/>
        </p:nvSpPr>
        <p:spPr>
          <a:xfrm>
            <a:off x="731520" y="2788920"/>
            <a:ext cx="1645920" cy="512064"/>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sayfa 0</a:t>
            </a:r>
            <a:endParaRPr lang="tr-TR" sz="1300" dirty="0"/>
          </a:p>
        </p:txBody>
      </p:sp>
      <p:sp>
        <p:nvSpPr>
          <p:cNvPr id="10" name="Shape 8"/>
          <p:cNvSpPr/>
          <p:nvPr/>
        </p:nvSpPr>
        <p:spPr>
          <a:xfrm>
            <a:off x="731520" y="3355848"/>
            <a:ext cx="1645920" cy="512064"/>
          </a:xfrm>
          <a:prstGeom prst="roundRect">
            <a:avLst>
              <a:gd name="adj" fmla="val 8929"/>
            </a:avLst>
          </a:prstGeom>
          <a:solidFill>
            <a:srgbClr val="02C39A"/>
          </a:solidFill>
          <a:ln/>
        </p:spPr>
      </p:sp>
      <p:sp>
        <p:nvSpPr>
          <p:cNvPr id="11" name="Text 9"/>
          <p:cNvSpPr txBox="1"/>
          <p:nvPr/>
        </p:nvSpPr>
        <p:spPr>
          <a:xfrm>
            <a:off x="731520" y="3355848"/>
            <a:ext cx="1645920" cy="512064"/>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sayfa 1</a:t>
            </a:r>
            <a:endParaRPr lang="tr-TR" sz="1300" dirty="0"/>
          </a:p>
        </p:txBody>
      </p:sp>
      <p:sp>
        <p:nvSpPr>
          <p:cNvPr id="12" name="Shape 10"/>
          <p:cNvSpPr/>
          <p:nvPr/>
        </p:nvSpPr>
        <p:spPr>
          <a:xfrm>
            <a:off x="731520" y="3922776"/>
            <a:ext cx="1645920" cy="512064"/>
          </a:xfrm>
          <a:prstGeom prst="roundRect">
            <a:avLst>
              <a:gd name="adj" fmla="val 8929"/>
            </a:avLst>
          </a:prstGeom>
          <a:solidFill>
            <a:srgbClr val="02C39A"/>
          </a:solidFill>
          <a:ln/>
        </p:spPr>
      </p:sp>
      <p:sp>
        <p:nvSpPr>
          <p:cNvPr id="13" name="Text 11"/>
          <p:cNvSpPr txBox="1"/>
          <p:nvPr/>
        </p:nvSpPr>
        <p:spPr>
          <a:xfrm>
            <a:off x="731520" y="3922776"/>
            <a:ext cx="1645920" cy="512064"/>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sayfa 2</a:t>
            </a:r>
            <a:endParaRPr lang="tr-TR" sz="1300" dirty="0"/>
          </a:p>
        </p:txBody>
      </p:sp>
      <p:sp>
        <p:nvSpPr>
          <p:cNvPr id="14" name="Shape 12"/>
          <p:cNvSpPr/>
          <p:nvPr/>
        </p:nvSpPr>
        <p:spPr>
          <a:xfrm>
            <a:off x="731520" y="4489704"/>
            <a:ext cx="1645920" cy="512064"/>
          </a:xfrm>
          <a:prstGeom prst="roundRect">
            <a:avLst>
              <a:gd name="adj" fmla="val 8929"/>
            </a:avLst>
          </a:prstGeom>
          <a:solidFill>
            <a:srgbClr val="02C39A"/>
          </a:solidFill>
          <a:ln/>
        </p:spPr>
      </p:sp>
      <p:sp>
        <p:nvSpPr>
          <p:cNvPr id="15" name="Text 13"/>
          <p:cNvSpPr txBox="1"/>
          <p:nvPr/>
        </p:nvSpPr>
        <p:spPr>
          <a:xfrm>
            <a:off x="731520" y="4489704"/>
            <a:ext cx="1645920" cy="512064"/>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sayfa 3</a:t>
            </a:r>
            <a:endParaRPr lang="tr-TR" sz="1300" dirty="0"/>
          </a:p>
        </p:txBody>
      </p:sp>
      <p:sp>
        <p:nvSpPr>
          <p:cNvPr id="16" name="Shape 14"/>
          <p:cNvSpPr/>
          <p:nvPr/>
        </p:nvSpPr>
        <p:spPr>
          <a:xfrm>
            <a:off x="731520" y="5056632"/>
            <a:ext cx="1645920" cy="512064"/>
          </a:xfrm>
          <a:prstGeom prst="roundRect">
            <a:avLst>
              <a:gd name="adj" fmla="val 8929"/>
            </a:avLst>
          </a:prstGeom>
          <a:solidFill>
            <a:srgbClr val="02C39A"/>
          </a:solidFill>
          <a:ln/>
        </p:spPr>
      </p:sp>
      <p:sp>
        <p:nvSpPr>
          <p:cNvPr id="17" name="Text 15"/>
          <p:cNvSpPr txBox="1"/>
          <p:nvPr/>
        </p:nvSpPr>
        <p:spPr>
          <a:xfrm>
            <a:off x="731520" y="5056632"/>
            <a:ext cx="1645920" cy="512064"/>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sayfa 4</a:t>
            </a:r>
            <a:endParaRPr lang="tr-TR" sz="1300" dirty="0"/>
          </a:p>
        </p:txBody>
      </p:sp>
      <p:sp>
        <p:nvSpPr>
          <p:cNvPr id="18" name="Text 16"/>
          <p:cNvSpPr txBox="1"/>
          <p:nvPr/>
        </p:nvSpPr>
        <p:spPr>
          <a:xfrm>
            <a:off x="3017520" y="2148840"/>
            <a:ext cx="1920240" cy="502920"/>
          </a:xfrm>
          <a:prstGeom prst="rect">
            <a:avLst/>
          </a:prstGeom>
          <a:noFill/>
          <a:ln/>
        </p:spPr>
        <p:txBody>
          <a:bodyPr wrap="square" lIns="0" tIns="0" rIns="0" bIns="0" rtlCol="0" anchor="b"/>
          <a:lstStyle/>
          <a:p>
            <a:pPr algn="ctr" indent="0" marL="0">
              <a:buNone/>
            </a:pPr>
            <a:r>
              <a:rPr lang="tr-TR" sz="1200" b="1" dirty="0">
                <a:solidFill>
                  <a:srgbClr val="36454F"/>
                </a:solidFill>
                <a:latin typeface="Calibri" pitchFamily="34" charset="0"/>
                <a:ea typeface="Calibri" pitchFamily="34" charset="-122"/>
                <a:cs typeface="Calibri" pitchFamily="34" charset="-120"/>
              </a:rPr>
              <a:t>sayfa tablosu</a:t>
            </a:r>
            <a:endParaRPr lang="tr-TR" sz="1200" dirty="0"/>
          </a:p>
        </p:txBody>
      </p:sp>
      <p:sp>
        <p:nvSpPr>
          <p:cNvPr id="19" name="Shape 17"/>
          <p:cNvSpPr/>
          <p:nvPr/>
        </p:nvSpPr>
        <p:spPr>
          <a:xfrm>
            <a:off x="3154680" y="2788920"/>
            <a:ext cx="548640" cy="512064"/>
          </a:xfrm>
          <a:prstGeom prst="roundRect">
            <a:avLst>
              <a:gd name="adj" fmla="val 8929"/>
            </a:avLst>
          </a:prstGeom>
          <a:solidFill>
            <a:srgbClr val="F2F2F2"/>
          </a:solidFill>
          <a:ln/>
        </p:spPr>
      </p:sp>
      <p:sp>
        <p:nvSpPr>
          <p:cNvPr id="20" name="Text 18"/>
          <p:cNvSpPr txBox="1"/>
          <p:nvPr/>
        </p:nvSpPr>
        <p:spPr>
          <a:xfrm>
            <a:off x="3154680" y="2788920"/>
            <a:ext cx="548640" cy="512064"/>
          </a:xfrm>
          <a:prstGeom prst="rect">
            <a:avLst/>
          </a:prstGeom>
          <a:noFill/>
          <a:ln/>
        </p:spPr>
        <p:txBody>
          <a:bodyPr wrap="square" lIns="38100" tIns="38100" rIns="38100" bIns="38100" rtlCol="0" anchor="ctr"/>
          <a:lstStyle/>
          <a:p>
            <a:pPr algn="ctr" indent="0" marL="0">
              <a:buNone/>
            </a:pPr>
            <a:r>
              <a:rPr lang="tr-TR" sz="1200" dirty="0">
                <a:solidFill>
                  <a:srgbClr val="6B7679"/>
                </a:solidFill>
                <a:latin typeface="Calibri" pitchFamily="34" charset="0"/>
                <a:ea typeface="Calibri" pitchFamily="34" charset="-122"/>
                <a:cs typeface="Calibri" pitchFamily="34" charset="-120"/>
              </a:rPr>
              <a:t>0</a:t>
            </a:r>
            <a:endParaRPr lang="tr-TR" sz="1200" dirty="0"/>
          </a:p>
        </p:txBody>
      </p:sp>
      <p:sp>
        <p:nvSpPr>
          <p:cNvPr id="21" name="Shape 19"/>
          <p:cNvSpPr/>
          <p:nvPr/>
        </p:nvSpPr>
        <p:spPr>
          <a:xfrm>
            <a:off x="3749040" y="2788920"/>
            <a:ext cx="1005840" cy="512064"/>
          </a:xfrm>
          <a:prstGeom prst="roundRect">
            <a:avLst>
              <a:gd name="adj" fmla="val 8929"/>
            </a:avLst>
          </a:prstGeom>
          <a:solidFill>
            <a:srgbClr val="D7E9E6"/>
          </a:solidFill>
          <a:ln/>
        </p:spPr>
      </p:sp>
      <p:sp>
        <p:nvSpPr>
          <p:cNvPr id="22" name="Text 20"/>
          <p:cNvSpPr txBox="1"/>
          <p:nvPr/>
        </p:nvSpPr>
        <p:spPr>
          <a:xfrm>
            <a:off x="3749040" y="2788920"/>
            <a:ext cx="1005840" cy="512064"/>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5</a:t>
            </a:r>
            <a:endParaRPr lang="tr-TR" sz="1400" dirty="0"/>
          </a:p>
        </p:txBody>
      </p:sp>
      <p:sp>
        <p:nvSpPr>
          <p:cNvPr id="23" name="Shape 21"/>
          <p:cNvSpPr/>
          <p:nvPr/>
        </p:nvSpPr>
        <p:spPr>
          <a:xfrm>
            <a:off x="2212848" y="3044952"/>
            <a:ext cx="923544" cy="91"/>
          </a:xfrm>
          <a:prstGeom prst="line">
            <a:avLst/>
          </a:prstGeom>
          <a:noFill/>
          <a:ln w="15875">
            <a:solidFill>
              <a:srgbClr val="50808E"/>
            </a:solidFill>
            <a:prstDash val="solid"/>
            <a:tailEnd type="triangle"/>
          </a:ln>
        </p:spPr>
      </p:sp>
      <p:sp>
        <p:nvSpPr>
          <p:cNvPr id="24" name="Shape 22"/>
          <p:cNvSpPr/>
          <p:nvPr/>
        </p:nvSpPr>
        <p:spPr>
          <a:xfrm>
            <a:off x="3154680" y="3355848"/>
            <a:ext cx="548640" cy="512064"/>
          </a:xfrm>
          <a:prstGeom prst="roundRect">
            <a:avLst>
              <a:gd name="adj" fmla="val 8929"/>
            </a:avLst>
          </a:prstGeom>
          <a:solidFill>
            <a:srgbClr val="F2F2F2"/>
          </a:solidFill>
          <a:ln/>
        </p:spPr>
      </p:sp>
      <p:sp>
        <p:nvSpPr>
          <p:cNvPr id="25" name="Text 23"/>
          <p:cNvSpPr txBox="1"/>
          <p:nvPr/>
        </p:nvSpPr>
        <p:spPr>
          <a:xfrm>
            <a:off x="3154680" y="3355848"/>
            <a:ext cx="548640" cy="512064"/>
          </a:xfrm>
          <a:prstGeom prst="rect">
            <a:avLst/>
          </a:prstGeom>
          <a:noFill/>
          <a:ln/>
        </p:spPr>
        <p:txBody>
          <a:bodyPr wrap="square" lIns="38100" tIns="38100" rIns="38100" bIns="38100" rtlCol="0" anchor="ctr"/>
          <a:lstStyle/>
          <a:p>
            <a:pPr algn="ctr" indent="0" marL="0">
              <a:buNone/>
            </a:pPr>
            <a:r>
              <a:rPr lang="tr-TR" sz="1200" dirty="0">
                <a:solidFill>
                  <a:srgbClr val="6B7679"/>
                </a:solidFill>
                <a:latin typeface="Calibri" pitchFamily="34" charset="0"/>
                <a:ea typeface="Calibri" pitchFamily="34" charset="-122"/>
                <a:cs typeface="Calibri" pitchFamily="34" charset="-120"/>
              </a:rPr>
              <a:t>1</a:t>
            </a:r>
            <a:endParaRPr lang="tr-TR" sz="1200" dirty="0"/>
          </a:p>
        </p:txBody>
      </p:sp>
      <p:sp>
        <p:nvSpPr>
          <p:cNvPr id="26" name="Shape 24"/>
          <p:cNvSpPr/>
          <p:nvPr/>
        </p:nvSpPr>
        <p:spPr>
          <a:xfrm>
            <a:off x="3749040" y="3355848"/>
            <a:ext cx="1005840" cy="512064"/>
          </a:xfrm>
          <a:prstGeom prst="roundRect">
            <a:avLst>
              <a:gd name="adj" fmla="val 8929"/>
            </a:avLst>
          </a:prstGeom>
          <a:solidFill>
            <a:srgbClr val="D7E9E6"/>
          </a:solidFill>
          <a:ln/>
        </p:spPr>
      </p:sp>
      <p:sp>
        <p:nvSpPr>
          <p:cNvPr id="27" name="Text 25"/>
          <p:cNvSpPr txBox="1"/>
          <p:nvPr/>
        </p:nvSpPr>
        <p:spPr>
          <a:xfrm>
            <a:off x="3749040" y="3355848"/>
            <a:ext cx="1005840" cy="512064"/>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9</a:t>
            </a:r>
            <a:endParaRPr lang="tr-TR" sz="1400" dirty="0"/>
          </a:p>
        </p:txBody>
      </p:sp>
      <p:sp>
        <p:nvSpPr>
          <p:cNvPr id="28" name="Shape 26"/>
          <p:cNvSpPr/>
          <p:nvPr/>
        </p:nvSpPr>
        <p:spPr>
          <a:xfrm>
            <a:off x="2212848" y="3611880"/>
            <a:ext cx="923544" cy="91"/>
          </a:xfrm>
          <a:prstGeom prst="line">
            <a:avLst/>
          </a:prstGeom>
          <a:noFill/>
          <a:ln w="15875">
            <a:solidFill>
              <a:srgbClr val="50808E"/>
            </a:solidFill>
            <a:prstDash val="solid"/>
            <a:tailEnd type="triangle"/>
          </a:ln>
        </p:spPr>
      </p:sp>
      <p:sp>
        <p:nvSpPr>
          <p:cNvPr id="29" name="Shape 27"/>
          <p:cNvSpPr/>
          <p:nvPr/>
        </p:nvSpPr>
        <p:spPr>
          <a:xfrm>
            <a:off x="3154680" y="3922776"/>
            <a:ext cx="548640" cy="512064"/>
          </a:xfrm>
          <a:prstGeom prst="roundRect">
            <a:avLst>
              <a:gd name="adj" fmla="val 8929"/>
            </a:avLst>
          </a:prstGeom>
          <a:solidFill>
            <a:srgbClr val="F2F2F2"/>
          </a:solidFill>
          <a:ln/>
        </p:spPr>
      </p:sp>
      <p:sp>
        <p:nvSpPr>
          <p:cNvPr id="30" name="Text 28"/>
          <p:cNvSpPr txBox="1"/>
          <p:nvPr/>
        </p:nvSpPr>
        <p:spPr>
          <a:xfrm>
            <a:off x="3154680" y="3922776"/>
            <a:ext cx="548640" cy="512064"/>
          </a:xfrm>
          <a:prstGeom prst="rect">
            <a:avLst/>
          </a:prstGeom>
          <a:noFill/>
          <a:ln/>
        </p:spPr>
        <p:txBody>
          <a:bodyPr wrap="square" lIns="38100" tIns="38100" rIns="38100" bIns="38100" rtlCol="0" anchor="ctr"/>
          <a:lstStyle/>
          <a:p>
            <a:pPr algn="ctr" indent="0" marL="0">
              <a:buNone/>
            </a:pPr>
            <a:r>
              <a:rPr lang="tr-TR" sz="1200" dirty="0">
                <a:solidFill>
                  <a:srgbClr val="6B7679"/>
                </a:solidFill>
                <a:latin typeface="Calibri" pitchFamily="34" charset="0"/>
                <a:ea typeface="Calibri" pitchFamily="34" charset="-122"/>
                <a:cs typeface="Calibri" pitchFamily="34" charset="-120"/>
              </a:rPr>
              <a:t>2</a:t>
            </a:r>
            <a:endParaRPr lang="tr-TR" sz="1200" dirty="0"/>
          </a:p>
        </p:txBody>
      </p:sp>
      <p:sp>
        <p:nvSpPr>
          <p:cNvPr id="31" name="Shape 29"/>
          <p:cNvSpPr/>
          <p:nvPr/>
        </p:nvSpPr>
        <p:spPr>
          <a:xfrm>
            <a:off x="3749040" y="3922776"/>
            <a:ext cx="1005840" cy="512064"/>
          </a:xfrm>
          <a:prstGeom prst="roundRect">
            <a:avLst>
              <a:gd name="adj" fmla="val 8929"/>
            </a:avLst>
          </a:prstGeom>
          <a:solidFill>
            <a:srgbClr val="D7E9E6"/>
          </a:solidFill>
          <a:ln/>
        </p:spPr>
      </p:sp>
      <p:sp>
        <p:nvSpPr>
          <p:cNvPr id="32" name="Text 30"/>
          <p:cNvSpPr txBox="1"/>
          <p:nvPr/>
        </p:nvSpPr>
        <p:spPr>
          <a:xfrm>
            <a:off x="3749040" y="3922776"/>
            <a:ext cx="1005840" cy="512064"/>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1</a:t>
            </a:r>
            <a:endParaRPr lang="tr-TR" sz="1400" dirty="0"/>
          </a:p>
        </p:txBody>
      </p:sp>
      <p:sp>
        <p:nvSpPr>
          <p:cNvPr id="33" name="Shape 31"/>
          <p:cNvSpPr/>
          <p:nvPr/>
        </p:nvSpPr>
        <p:spPr>
          <a:xfrm>
            <a:off x="2212848" y="4178808"/>
            <a:ext cx="923544" cy="91"/>
          </a:xfrm>
          <a:prstGeom prst="line">
            <a:avLst/>
          </a:prstGeom>
          <a:noFill/>
          <a:ln w="15875">
            <a:solidFill>
              <a:srgbClr val="50808E"/>
            </a:solidFill>
            <a:prstDash val="solid"/>
            <a:tailEnd type="triangle"/>
          </a:ln>
        </p:spPr>
      </p:sp>
      <p:sp>
        <p:nvSpPr>
          <p:cNvPr id="34" name="Shape 32"/>
          <p:cNvSpPr/>
          <p:nvPr/>
        </p:nvSpPr>
        <p:spPr>
          <a:xfrm>
            <a:off x="3154680" y="4489704"/>
            <a:ext cx="548640" cy="512064"/>
          </a:xfrm>
          <a:prstGeom prst="roundRect">
            <a:avLst>
              <a:gd name="adj" fmla="val 8929"/>
            </a:avLst>
          </a:prstGeom>
          <a:solidFill>
            <a:srgbClr val="F2F2F2"/>
          </a:solidFill>
          <a:ln/>
        </p:spPr>
      </p:sp>
      <p:sp>
        <p:nvSpPr>
          <p:cNvPr id="35" name="Text 33"/>
          <p:cNvSpPr txBox="1"/>
          <p:nvPr/>
        </p:nvSpPr>
        <p:spPr>
          <a:xfrm>
            <a:off x="3154680" y="4489704"/>
            <a:ext cx="548640" cy="512064"/>
          </a:xfrm>
          <a:prstGeom prst="rect">
            <a:avLst/>
          </a:prstGeom>
          <a:noFill/>
          <a:ln/>
        </p:spPr>
        <p:txBody>
          <a:bodyPr wrap="square" lIns="38100" tIns="38100" rIns="38100" bIns="38100" rtlCol="0" anchor="ctr"/>
          <a:lstStyle/>
          <a:p>
            <a:pPr algn="ctr" indent="0" marL="0">
              <a:buNone/>
            </a:pPr>
            <a:r>
              <a:rPr lang="tr-TR" sz="1200" dirty="0">
                <a:solidFill>
                  <a:srgbClr val="6B7679"/>
                </a:solidFill>
                <a:latin typeface="Calibri" pitchFamily="34" charset="0"/>
                <a:ea typeface="Calibri" pitchFamily="34" charset="-122"/>
                <a:cs typeface="Calibri" pitchFamily="34" charset="-120"/>
              </a:rPr>
              <a:t>3</a:t>
            </a:r>
            <a:endParaRPr lang="tr-TR" sz="1200" dirty="0"/>
          </a:p>
        </p:txBody>
      </p:sp>
      <p:sp>
        <p:nvSpPr>
          <p:cNvPr id="36" name="Shape 34"/>
          <p:cNvSpPr/>
          <p:nvPr/>
        </p:nvSpPr>
        <p:spPr>
          <a:xfrm>
            <a:off x="3749040" y="4489704"/>
            <a:ext cx="1005840" cy="512064"/>
          </a:xfrm>
          <a:prstGeom prst="roundRect">
            <a:avLst>
              <a:gd name="adj" fmla="val 8929"/>
            </a:avLst>
          </a:prstGeom>
          <a:solidFill>
            <a:srgbClr val="D7E9E6"/>
          </a:solidFill>
          <a:ln/>
        </p:spPr>
      </p:sp>
      <p:sp>
        <p:nvSpPr>
          <p:cNvPr id="37" name="Text 35"/>
          <p:cNvSpPr txBox="1"/>
          <p:nvPr/>
        </p:nvSpPr>
        <p:spPr>
          <a:xfrm>
            <a:off x="3749040" y="4489704"/>
            <a:ext cx="1005840" cy="512064"/>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7</a:t>
            </a:r>
            <a:endParaRPr lang="tr-TR" sz="1400" dirty="0"/>
          </a:p>
        </p:txBody>
      </p:sp>
      <p:sp>
        <p:nvSpPr>
          <p:cNvPr id="38" name="Shape 36"/>
          <p:cNvSpPr/>
          <p:nvPr/>
        </p:nvSpPr>
        <p:spPr>
          <a:xfrm>
            <a:off x="2212848" y="4745736"/>
            <a:ext cx="923544" cy="91"/>
          </a:xfrm>
          <a:prstGeom prst="line">
            <a:avLst/>
          </a:prstGeom>
          <a:noFill/>
          <a:ln w="15875">
            <a:solidFill>
              <a:srgbClr val="50808E"/>
            </a:solidFill>
            <a:prstDash val="solid"/>
            <a:tailEnd type="triangle"/>
          </a:ln>
        </p:spPr>
      </p:sp>
      <p:sp>
        <p:nvSpPr>
          <p:cNvPr id="39" name="Shape 37"/>
          <p:cNvSpPr/>
          <p:nvPr/>
        </p:nvSpPr>
        <p:spPr>
          <a:xfrm>
            <a:off x="3154680" y="5056632"/>
            <a:ext cx="548640" cy="512064"/>
          </a:xfrm>
          <a:prstGeom prst="roundRect">
            <a:avLst>
              <a:gd name="adj" fmla="val 8929"/>
            </a:avLst>
          </a:prstGeom>
          <a:solidFill>
            <a:srgbClr val="F2F2F2"/>
          </a:solidFill>
          <a:ln/>
        </p:spPr>
      </p:sp>
      <p:sp>
        <p:nvSpPr>
          <p:cNvPr id="40" name="Text 38"/>
          <p:cNvSpPr txBox="1"/>
          <p:nvPr/>
        </p:nvSpPr>
        <p:spPr>
          <a:xfrm>
            <a:off x="3154680" y="5056632"/>
            <a:ext cx="548640" cy="512064"/>
          </a:xfrm>
          <a:prstGeom prst="rect">
            <a:avLst/>
          </a:prstGeom>
          <a:noFill/>
          <a:ln/>
        </p:spPr>
        <p:txBody>
          <a:bodyPr wrap="square" lIns="38100" tIns="38100" rIns="38100" bIns="38100" rtlCol="0" anchor="ctr"/>
          <a:lstStyle/>
          <a:p>
            <a:pPr algn="ctr" indent="0" marL="0">
              <a:buNone/>
            </a:pPr>
            <a:r>
              <a:rPr lang="tr-TR" sz="1200" dirty="0">
                <a:solidFill>
                  <a:srgbClr val="6B7679"/>
                </a:solidFill>
                <a:latin typeface="Calibri" pitchFamily="34" charset="0"/>
                <a:ea typeface="Calibri" pitchFamily="34" charset="-122"/>
                <a:cs typeface="Calibri" pitchFamily="34" charset="-120"/>
              </a:rPr>
              <a:t>4</a:t>
            </a:r>
            <a:endParaRPr lang="tr-TR" sz="1200" dirty="0"/>
          </a:p>
        </p:txBody>
      </p:sp>
      <p:sp>
        <p:nvSpPr>
          <p:cNvPr id="41" name="Shape 39"/>
          <p:cNvSpPr/>
          <p:nvPr/>
        </p:nvSpPr>
        <p:spPr>
          <a:xfrm>
            <a:off x="3749040" y="5056632"/>
            <a:ext cx="1005840" cy="512064"/>
          </a:xfrm>
          <a:prstGeom prst="roundRect">
            <a:avLst>
              <a:gd name="adj" fmla="val 8929"/>
            </a:avLst>
          </a:prstGeom>
          <a:solidFill>
            <a:srgbClr val="D7E9E6"/>
          </a:solidFill>
          <a:ln/>
        </p:spPr>
      </p:sp>
      <p:sp>
        <p:nvSpPr>
          <p:cNvPr id="42" name="Text 40"/>
          <p:cNvSpPr txBox="1"/>
          <p:nvPr/>
        </p:nvSpPr>
        <p:spPr>
          <a:xfrm>
            <a:off x="3749040" y="5056632"/>
            <a:ext cx="1005840" cy="512064"/>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12</a:t>
            </a:r>
            <a:endParaRPr lang="tr-TR" sz="1400" dirty="0"/>
          </a:p>
        </p:txBody>
      </p:sp>
      <p:sp>
        <p:nvSpPr>
          <p:cNvPr id="43" name="Shape 41"/>
          <p:cNvSpPr/>
          <p:nvPr/>
        </p:nvSpPr>
        <p:spPr>
          <a:xfrm>
            <a:off x="2212848" y="5312664"/>
            <a:ext cx="923544" cy="91"/>
          </a:xfrm>
          <a:prstGeom prst="line">
            <a:avLst/>
          </a:prstGeom>
          <a:noFill/>
          <a:ln w="15875">
            <a:solidFill>
              <a:srgbClr val="50808E"/>
            </a:solidFill>
            <a:prstDash val="solid"/>
            <a:tailEnd type="triangle"/>
          </a:ln>
        </p:spPr>
      </p:sp>
      <p:sp>
        <p:nvSpPr>
          <p:cNvPr id="44" name="Text 42"/>
          <p:cNvSpPr txBox="1"/>
          <p:nvPr/>
        </p:nvSpPr>
        <p:spPr>
          <a:xfrm>
            <a:off x="3108960" y="5669280"/>
            <a:ext cx="1828800" cy="274320"/>
          </a:xfrm>
          <a:prstGeom prst="rect">
            <a:avLst/>
          </a:prstGeom>
          <a:noFill/>
          <a:ln/>
        </p:spPr>
        <p:txBody>
          <a:bodyPr wrap="square" lIns="0" tIns="0" rIns="0" bIns="0" rtlCol="0" anchor="t"/>
          <a:lstStyle/>
          <a:p>
            <a:pPr indent="0" marL="0">
              <a:buNone/>
            </a:pPr>
            <a:r>
              <a:rPr lang="tr-TR" sz="1050" i="1" dirty="0">
                <a:solidFill>
                  <a:srgbClr val="6B7679"/>
                </a:solidFill>
                <a:latin typeface="Calibri" pitchFamily="34" charset="0"/>
                <a:ea typeface="Calibri" pitchFamily="34" charset="-122"/>
                <a:cs typeface="Calibri" pitchFamily="34" charset="-120"/>
              </a:rPr>
              <a:t>sayfa  çerçeve</a:t>
            </a:r>
            <a:endParaRPr lang="tr-TR" sz="1050" dirty="0"/>
          </a:p>
        </p:txBody>
      </p:sp>
      <p:sp>
        <p:nvSpPr>
          <p:cNvPr id="45" name="Text 43"/>
          <p:cNvSpPr txBox="1"/>
          <p:nvPr/>
        </p:nvSpPr>
        <p:spPr>
          <a:xfrm>
            <a:off x="5303520" y="2011680"/>
            <a:ext cx="2560320" cy="274320"/>
          </a:xfrm>
          <a:prstGeom prst="rect">
            <a:avLst/>
          </a:prstGeom>
          <a:noFill/>
          <a:ln/>
        </p:spPr>
        <p:txBody>
          <a:bodyPr wrap="square" lIns="0" tIns="0" rIns="0" bIns="0" rtlCol="0" anchor="t"/>
          <a:lstStyle/>
          <a:p>
            <a:pPr algn="ctr" indent="0" marL="0">
              <a:buNone/>
            </a:pPr>
            <a:r>
              <a:rPr lang="tr-TR" sz="1200" b="1" dirty="0">
                <a:solidFill>
                  <a:srgbClr val="36454F"/>
                </a:solidFill>
                <a:latin typeface="Calibri" pitchFamily="34" charset="0"/>
                <a:ea typeface="Calibri" pitchFamily="34" charset="-122"/>
                <a:cs typeface="Calibri" pitchFamily="34" charset="-120"/>
              </a:rPr>
              <a:t>fiziksel bellek (16 çerçeve)</a:t>
            </a:r>
            <a:endParaRPr lang="tr-TR" sz="1200" dirty="0"/>
          </a:p>
        </p:txBody>
      </p:sp>
      <p:sp>
        <p:nvSpPr>
          <p:cNvPr id="46" name="Shape 44"/>
          <p:cNvSpPr/>
          <p:nvPr/>
        </p:nvSpPr>
        <p:spPr>
          <a:xfrm>
            <a:off x="5897880" y="2331720"/>
            <a:ext cx="1828800" cy="245059"/>
          </a:xfrm>
          <a:prstGeom prst="rect">
            <a:avLst/>
          </a:prstGeom>
          <a:solidFill>
            <a:srgbClr val="C9D3D6"/>
          </a:solidFill>
          <a:ln w="6350">
            <a:solidFill>
              <a:srgbClr val="AAB4B8"/>
            </a:solidFill>
            <a:prstDash val="solid"/>
          </a:ln>
        </p:spPr>
      </p:sp>
      <p:sp>
        <p:nvSpPr>
          <p:cNvPr id="47" name="Text 45"/>
          <p:cNvSpPr txBox="1"/>
          <p:nvPr/>
        </p:nvSpPr>
        <p:spPr>
          <a:xfrm>
            <a:off x="5897880" y="2331720"/>
            <a:ext cx="1828800" cy="245059"/>
          </a:xfrm>
          <a:prstGeom prst="rect">
            <a:avLst/>
          </a:prstGeom>
          <a:noFill/>
          <a:ln/>
        </p:spPr>
        <p:txBody>
          <a:bodyPr wrap="square" lIns="0" tIns="0" rIns="0" bIns="0" rtlCol="0" anchor="ctr"/>
          <a:lstStyle/>
          <a:p>
            <a:pPr algn="ctr" indent="0" marL="0">
              <a:buNone/>
            </a:pPr>
            <a:r>
              <a:rPr lang="tr-TR" sz="1000" dirty="0">
                <a:solidFill>
                  <a:srgbClr val="212121"/>
                </a:solidFill>
                <a:latin typeface="Calibri" pitchFamily="34" charset="0"/>
                <a:ea typeface="Calibri" pitchFamily="34" charset="-122"/>
                <a:cs typeface="Calibri" pitchFamily="34" charset="-120"/>
              </a:rPr>
              <a:t>başka</a:t>
            </a:r>
            <a:endParaRPr lang="tr-TR" sz="1000" dirty="0"/>
          </a:p>
        </p:txBody>
      </p:sp>
      <p:sp>
        <p:nvSpPr>
          <p:cNvPr id="48" name="Text 46"/>
          <p:cNvSpPr txBox="1"/>
          <p:nvPr/>
        </p:nvSpPr>
        <p:spPr>
          <a:xfrm>
            <a:off x="5440680" y="2331720"/>
            <a:ext cx="384048" cy="245059"/>
          </a:xfrm>
          <a:prstGeom prst="rect">
            <a:avLst/>
          </a:prstGeom>
          <a:noFill/>
          <a:ln/>
        </p:spPr>
        <p:txBody>
          <a:bodyPr wrap="square" lIns="0" tIns="0" rIns="0" bIns="0" rtlCol="0" anchor="ctr"/>
          <a:lstStyle/>
          <a:p>
            <a:pPr algn="r" indent="0" marL="0">
              <a:buNone/>
            </a:pPr>
            <a:r>
              <a:rPr lang="tr-TR" sz="1000" dirty="0">
                <a:solidFill>
                  <a:srgbClr val="6B7679"/>
                </a:solidFill>
                <a:latin typeface="Calibri" pitchFamily="34" charset="0"/>
                <a:ea typeface="Calibri" pitchFamily="34" charset="-122"/>
                <a:cs typeface="Calibri" pitchFamily="34" charset="-120"/>
              </a:rPr>
              <a:t>0</a:t>
            </a:r>
            <a:endParaRPr lang="tr-TR" sz="1000" dirty="0"/>
          </a:p>
        </p:txBody>
      </p:sp>
      <p:sp>
        <p:nvSpPr>
          <p:cNvPr id="49" name="Shape 47"/>
          <p:cNvSpPr/>
          <p:nvPr/>
        </p:nvSpPr>
        <p:spPr>
          <a:xfrm>
            <a:off x="5897880" y="2576779"/>
            <a:ext cx="1828800" cy="245059"/>
          </a:xfrm>
          <a:prstGeom prst="rect">
            <a:avLst/>
          </a:prstGeom>
          <a:solidFill>
            <a:srgbClr val="02C39A"/>
          </a:solidFill>
          <a:ln w="6350">
            <a:solidFill>
              <a:srgbClr val="AAB4B8"/>
            </a:solidFill>
            <a:prstDash val="solid"/>
          </a:ln>
        </p:spPr>
      </p:sp>
      <p:sp>
        <p:nvSpPr>
          <p:cNvPr id="50" name="Text 48"/>
          <p:cNvSpPr txBox="1"/>
          <p:nvPr/>
        </p:nvSpPr>
        <p:spPr>
          <a:xfrm>
            <a:off x="5897880" y="2576779"/>
            <a:ext cx="1828800" cy="245059"/>
          </a:xfrm>
          <a:prstGeom prst="rect">
            <a:avLst/>
          </a:prstGeom>
          <a:noFill/>
          <a:ln/>
        </p:spPr>
        <p:txBody>
          <a:bodyPr wrap="square" lIns="0" tIns="0" rIns="0" bIns="0" rtlCol="0" anchor="ctr"/>
          <a:lstStyle/>
          <a:p>
            <a:pPr algn="ctr" indent="0" marL="0">
              <a:buNone/>
            </a:pPr>
            <a:r>
              <a:rPr lang="tr-TR" sz="1000" b="1" dirty="0">
                <a:solidFill>
                  <a:srgbClr val="212121"/>
                </a:solidFill>
                <a:latin typeface="Calibri" pitchFamily="34" charset="0"/>
                <a:ea typeface="Calibri" pitchFamily="34" charset="-122"/>
                <a:cs typeface="Calibri" pitchFamily="34" charset="-120"/>
              </a:rPr>
              <a:t>sayfa 2</a:t>
            </a:r>
            <a:endParaRPr lang="tr-TR" sz="1000" dirty="0"/>
          </a:p>
        </p:txBody>
      </p:sp>
      <p:sp>
        <p:nvSpPr>
          <p:cNvPr id="51" name="Text 49"/>
          <p:cNvSpPr txBox="1"/>
          <p:nvPr/>
        </p:nvSpPr>
        <p:spPr>
          <a:xfrm>
            <a:off x="5440680" y="2576779"/>
            <a:ext cx="384048" cy="245059"/>
          </a:xfrm>
          <a:prstGeom prst="rect">
            <a:avLst/>
          </a:prstGeom>
          <a:noFill/>
          <a:ln/>
        </p:spPr>
        <p:txBody>
          <a:bodyPr wrap="square" lIns="0" tIns="0" rIns="0" bIns="0" rtlCol="0" anchor="ctr"/>
          <a:lstStyle/>
          <a:p>
            <a:pPr algn="r" indent="0" marL="0">
              <a:buNone/>
            </a:pPr>
            <a:r>
              <a:rPr lang="tr-TR" sz="1000" dirty="0">
                <a:solidFill>
                  <a:srgbClr val="6B7679"/>
                </a:solidFill>
                <a:latin typeface="Calibri" pitchFamily="34" charset="0"/>
                <a:ea typeface="Calibri" pitchFamily="34" charset="-122"/>
                <a:cs typeface="Calibri" pitchFamily="34" charset="-120"/>
              </a:rPr>
              <a:t>1</a:t>
            </a:r>
            <a:endParaRPr lang="tr-TR" sz="1000" dirty="0"/>
          </a:p>
        </p:txBody>
      </p:sp>
      <p:sp>
        <p:nvSpPr>
          <p:cNvPr id="52" name="Shape 50"/>
          <p:cNvSpPr/>
          <p:nvPr/>
        </p:nvSpPr>
        <p:spPr>
          <a:xfrm>
            <a:off x="5897880" y="2821838"/>
            <a:ext cx="1828800" cy="245059"/>
          </a:xfrm>
          <a:prstGeom prst="rect">
            <a:avLst/>
          </a:prstGeom>
          <a:solidFill>
            <a:srgbClr val="FFFFFF"/>
          </a:solidFill>
          <a:ln w="6350">
            <a:solidFill>
              <a:srgbClr val="AAB4B8"/>
            </a:solidFill>
            <a:prstDash val="solid"/>
          </a:ln>
        </p:spPr>
      </p:sp>
      <p:sp>
        <p:nvSpPr>
          <p:cNvPr id="53" name="Text 51"/>
          <p:cNvSpPr txBox="1"/>
          <p:nvPr/>
        </p:nvSpPr>
        <p:spPr>
          <a:xfrm>
            <a:off x="5897880" y="2821838"/>
            <a:ext cx="1828800" cy="245059"/>
          </a:xfrm>
          <a:prstGeom prst="rect">
            <a:avLst/>
          </a:prstGeom>
          <a:noFill/>
          <a:ln/>
        </p:spPr>
        <p:txBody>
          <a:bodyPr wrap="square" lIns="0" tIns="0" rIns="0" bIns="0" rtlCol="0" anchor="ctr"/>
          <a:lstStyle/>
          <a:p>
            <a:pPr algn="ctr" indent="0" marL="0">
              <a:buNone/>
            </a:pPr>
            <a:endParaRPr lang="tr-TR" sz="1000" dirty="0"/>
          </a:p>
        </p:txBody>
      </p:sp>
      <p:sp>
        <p:nvSpPr>
          <p:cNvPr id="54" name="Text 52"/>
          <p:cNvSpPr txBox="1"/>
          <p:nvPr/>
        </p:nvSpPr>
        <p:spPr>
          <a:xfrm>
            <a:off x="5440680" y="2821838"/>
            <a:ext cx="384048" cy="245059"/>
          </a:xfrm>
          <a:prstGeom prst="rect">
            <a:avLst/>
          </a:prstGeom>
          <a:noFill/>
          <a:ln/>
        </p:spPr>
        <p:txBody>
          <a:bodyPr wrap="square" lIns="0" tIns="0" rIns="0" bIns="0" rtlCol="0" anchor="ctr"/>
          <a:lstStyle/>
          <a:p>
            <a:pPr algn="r" indent="0" marL="0">
              <a:buNone/>
            </a:pPr>
            <a:r>
              <a:rPr lang="tr-TR" sz="1000" dirty="0">
                <a:solidFill>
                  <a:srgbClr val="6B7679"/>
                </a:solidFill>
                <a:latin typeface="Calibri" pitchFamily="34" charset="0"/>
                <a:ea typeface="Calibri" pitchFamily="34" charset="-122"/>
                <a:cs typeface="Calibri" pitchFamily="34" charset="-120"/>
              </a:rPr>
              <a:t>2</a:t>
            </a:r>
            <a:endParaRPr lang="tr-TR" sz="1000" dirty="0"/>
          </a:p>
        </p:txBody>
      </p:sp>
      <p:sp>
        <p:nvSpPr>
          <p:cNvPr id="55" name="Shape 53"/>
          <p:cNvSpPr/>
          <p:nvPr/>
        </p:nvSpPr>
        <p:spPr>
          <a:xfrm>
            <a:off x="5897880" y="3066898"/>
            <a:ext cx="1828800" cy="245059"/>
          </a:xfrm>
          <a:prstGeom prst="rect">
            <a:avLst/>
          </a:prstGeom>
          <a:solidFill>
            <a:srgbClr val="C9D3D6"/>
          </a:solidFill>
          <a:ln w="6350">
            <a:solidFill>
              <a:srgbClr val="AAB4B8"/>
            </a:solidFill>
            <a:prstDash val="solid"/>
          </a:ln>
        </p:spPr>
      </p:sp>
      <p:sp>
        <p:nvSpPr>
          <p:cNvPr id="56" name="Text 54"/>
          <p:cNvSpPr txBox="1"/>
          <p:nvPr/>
        </p:nvSpPr>
        <p:spPr>
          <a:xfrm>
            <a:off x="5897880" y="3066898"/>
            <a:ext cx="1828800" cy="245059"/>
          </a:xfrm>
          <a:prstGeom prst="rect">
            <a:avLst/>
          </a:prstGeom>
          <a:noFill/>
          <a:ln/>
        </p:spPr>
        <p:txBody>
          <a:bodyPr wrap="square" lIns="0" tIns="0" rIns="0" bIns="0" rtlCol="0" anchor="ctr"/>
          <a:lstStyle/>
          <a:p>
            <a:pPr algn="ctr" indent="0" marL="0">
              <a:buNone/>
            </a:pPr>
            <a:r>
              <a:rPr lang="tr-TR" sz="1000" dirty="0">
                <a:solidFill>
                  <a:srgbClr val="212121"/>
                </a:solidFill>
                <a:latin typeface="Calibri" pitchFamily="34" charset="0"/>
                <a:ea typeface="Calibri" pitchFamily="34" charset="-122"/>
                <a:cs typeface="Calibri" pitchFamily="34" charset="-120"/>
              </a:rPr>
              <a:t>başka</a:t>
            </a:r>
            <a:endParaRPr lang="tr-TR" sz="1000" dirty="0"/>
          </a:p>
        </p:txBody>
      </p:sp>
      <p:sp>
        <p:nvSpPr>
          <p:cNvPr id="57" name="Text 55"/>
          <p:cNvSpPr txBox="1"/>
          <p:nvPr/>
        </p:nvSpPr>
        <p:spPr>
          <a:xfrm>
            <a:off x="5440680" y="3066898"/>
            <a:ext cx="384048" cy="245059"/>
          </a:xfrm>
          <a:prstGeom prst="rect">
            <a:avLst/>
          </a:prstGeom>
          <a:noFill/>
          <a:ln/>
        </p:spPr>
        <p:txBody>
          <a:bodyPr wrap="square" lIns="0" tIns="0" rIns="0" bIns="0" rtlCol="0" anchor="ctr"/>
          <a:lstStyle/>
          <a:p>
            <a:pPr algn="r" indent="0" marL="0">
              <a:buNone/>
            </a:pPr>
            <a:r>
              <a:rPr lang="tr-TR" sz="1000" dirty="0">
                <a:solidFill>
                  <a:srgbClr val="6B7679"/>
                </a:solidFill>
                <a:latin typeface="Calibri" pitchFamily="34" charset="0"/>
                <a:ea typeface="Calibri" pitchFamily="34" charset="-122"/>
                <a:cs typeface="Calibri" pitchFamily="34" charset="-120"/>
              </a:rPr>
              <a:t>3</a:t>
            </a:r>
            <a:endParaRPr lang="tr-TR" sz="1000" dirty="0"/>
          </a:p>
        </p:txBody>
      </p:sp>
      <p:sp>
        <p:nvSpPr>
          <p:cNvPr id="58" name="Shape 56"/>
          <p:cNvSpPr/>
          <p:nvPr/>
        </p:nvSpPr>
        <p:spPr>
          <a:xfrm>
            <a:off x="5897880" y="3311957"/>
            <a:ext cx="1828800" cy="245059"/>
          </a:xfrm>
          <a:prstGeom prst="rect">
            <a:avLst/>
          </a:prstGeom>
          <a:solidFill>
            <a:srgbClr val="FFFFFF"/>
          </a:solidFill>
          <a:ln w="6350">
            <a:solidFill>
              <a:srgbClr val="AAB4B8"/>
            </a:solidFill>
            <a:prstDash val="solid"/>
          </a:ln>
        </p:spPr>
      </p:sp>
      <p:sp>
        <p:nvSpPr>
          <p:cNvPr id="59" name="Text 57"/>
          <p:cNvSpPr txBox="1"/>
          <p:nvPr/>
        </p:nvSpPr>
        <p:spPr>
          <a:xfrm>
            <a:off x="5897880" y="3311957"/>
            <a:ext cx="1828800" cy="245059"/>
          </a:xfrm>
          <a:prstGeom prst="rect">
            <a:avLst/>
          </a:prstGeom>
          <a:noFill/>
          <a:ln/>
        </p:spPr>
        <p:txBody>
          <a:bodyPr wrap="square" lIns="0" tIns="0" rIns="0" bIns="0" rtlCol="0" anchor="ctr"/>
          <a:lstStyle/>
          <a:p>
            <a:pPr algn="ctr" indent="0" marL="0">
              <a:buNone/>
            </a:pPr>
            <a:endParaRPr lang="tr-TR" sz="1000" dirty="0"/>
          </a:p>
        </p:txBody>
      </p:sp>
      <p:sp>
        <p:nvSpPr>
          <p:cNvPr id="60" name="Text 58"/>
          <p:cNvSpPr txBox="1"/>
          <p:nvPr/>
        </p:nvSpPr>
        <p:spPr>
          <a:xfrm>
            <a:off x="5440680" y="3311957"/>
            <a:ext cx="384048" cy="245059"/>
          </a:xfrm>
          <a:prstGeom prst="rect">
            <a:avLst/>
          </a:prstGeom>
          <a:noFill/>
          <a:ln/>
        </p:spPr>
        <p:txBody>
          <a:bodyPr wrap="square" lIns="0" tIns="0" rIns="0" bIns="0" rtlCol="0" anchor="ctr"/>
          <a:lstStyle/>
          <a:p>
            <a:pPr algn="r" indent="0" marL="0">
              <a:buNone/>
            </a:pPr>
            <a:r>
              <a:rPr lang="tr-TR" sz="1000" dirty="0">
                <a:solidFill>
                  <a:srgbClr val="6B7679"/>
                </a:solidFill>
                <a:latin typeface="Calibri" pitchFamily="34" charset="0"/>
                <a:ea typeface="Calibri" pitchFamily="34" charset="-122"/>
                <a:cs typeface="Calibri" pitchFamily="34" charset="-120"/>
              </a:rPr>
              <a:t>4</a:t>
            </a:r>
            <a:endParaRPr lang="tr-TR" sz="1000" dirty="0"/>
          </a:p>
        </p:txBody>
      </p:sp>
      <p:sp>
        <p:nvSpPr>
          <p:cNvPr id="61" name="Shape 59"/>
          <p:cNvSpPr/>
          <p:nvPr/>
        </p:nvSpPr>
        <p:spPr>
          <a:xfrm>
            <a:off x="5897880" y="3557016"/>
            <a:ext cx="1828800" cy="245059"/>
          </a:xfrm>
          <a:prstGeom prst="rect">
            <a:avLst/>
          </a:prstGeom>
          <a:solidFill>
            <a:srgbClr val="02C39A"/>
          </a:solidFill>
          <a:ln w="6350">
            <a:solidFill>
              <a:srgbClr val="AAB4B8"/>
            </a:solidFill>
            <a:prstDash val="solid"/>
          </a:ln>
        </p:spPr>
      </p:sp>
      <p:sp>
        <p:nvSpPr>
          <p:cNvPr id="62" name="Text 60"/>
          <p:cNvSpPr txBox="1"/>
          <p:nvPr/>
        </p:nvSpPr>
        <p:spPr>
          <a:xfrm>
            <a:off x="5897880" y="3557016"/>
            <a:ext cx="1828800" cy="245059"/>
          </a:xfrm>
          <a:prstGeom prst="rect">
            <a:avLst/>
          </a:prstGeom>
          <a:noFill/>
          <a:ln/>
        </p:spPr>
        <p:txBody>
          <a:bodyPr wrap="square" lIns="0" tIns="0" rIns="0" bIns="0" rtlCol="0" anchor="ctr"/>
          <a:lstStyle/>
          <a:p>
            <a:pPr algn="ctr" indent="0" marL="0">
              <a:buNone/>
            </a:pPr>
            <a:r>
              <a:rPr lang="tr-TR" sz="1000" b="1" dirty="0">
                <a:solidFill>
                  <a:srgbClr val="212121"/>
                </a:solidFill>
                <a:latin typeface="Calibri" pitchFamily="34" charset="0"/>
                <a:ea typeface="Calibri" pitchFamily="34" charset="-122"/>
                <a:cs typeface="Calibri" pitchFamily="34" charset="-120"/>
              </a:rPr>
              <a:t>sayfa 0</a:t>
            </a:r>
            <a:endParaRPr lang="tr-TR" sz="1000" dirty="0"/>
          </a:p>
        </p:txBody>
      </p:sp>
      <p:sp>
        <p:nvSpPr>
          <p:cNvPr id="63" name="Text 61"/>
          <p:cNvSpPr txBox="1"/>
          <p:nvPr/>
        </p:nvSpPr>
        <p:spPr>
          <a:xfrm>
            <a:off x="5440680" y="3557016"/>
            <a:ext cx="384048" cy="245059"/>
          </a:xfrm>
          <a:prstGeom prst="rect">
            <a:avLst/>
          </a:prstGeom>
          <a:noFill/>
          <a:ln/>
        </p:spPr>
        <p:txBody>
          <a:bodyPr wrap="square" lIns="0" tIns="0" rIns="0" bIns="0" rtlCol="0" anchor="ctr"/>
          <a:lstStyle/>
          <a:p>
            <a:pPr algn="r" indent="0" marL="0">
              <a:buNone/>
            </a:pPr>
            <a:r>
              <a:rPr lang="tr-TR" sz="1000" dirty="0">
                <a:solidFill>
                  <a:srgbClr val="6B7679"/>
                </a:solidFill>
                <a:latin typeface="Calibri" pitchFamily="34" charset="0"/>
                <a:ea typeface="Calibri" pitchFamily="34" charset="-122"/>
                <a:cs typeface="Calibri" pitchFamily="34" charset="-120"/>
              </a:rPr>
              <a:t>5</a:t>
            </a:r>
            <a:endParaRPr lang="tr-TR" sz="1000" dirty="0"/>
          </a:p>
        </p:txBody>
      </p:sp>
      <p:sp>
        <p:nvSpPr>
          <p:cNvPr id="64" name="Shape 62"/>
          <p:cNvSpPr/>
          <p:nvPr/>
        </p:nvSpPr>
        <p:spPr>
          <a:xfrm>
            <a:off x="5897880" y="3802075"/>
            <a:ext cx="1828800" cy="245059"/>
          </a:xfrm>
          <a:prstGeom prst="rect">
            <a:avLst/>
          </a:prstGeom>
          <a:solidFill>
            <a:srgbClr val="C9D3D6"/>
          </a:solidFill>
          <a:ln w="6350">
            <a:solidFill>
              <a:srgbClr val="AAB4B8"/>
            </a:solidFill>
            <a:prstDash val="solid"/>
          </a:ln>
        </p:spPr>
      </p:sp>
      <p:sp>
        <p:nvSpPr>
          <p:cNvPr id="65" name="Text 63"/>
          <p:cNvSpPr txBox="1"/>
          <p:nvPr/>
        </p:nvSpPr>
        <p:spPr>
          <a:xfrm>
            <a:off x="5897880" y="3802075"/>
            <a:ext cx="1828800" cy="245059"/>
          </a:xfrm>
          <a:prstGeom prst="rect">
            <a:avLst/>
          </a:prstGeom>
          <a:noFill/>
          <a:ln/>
        </p:spPr>
        <p:txBody>
          <a:bodyPr wrap="square" lIns="0" tIns="0" rIns="0" bIns="0" rtlCol="0" anchor="ctr"/>
          <a:lstStyle/>
          <a:p>
            <a:pPr algn="ctr" indent="0" marL="0">
              <a:buNone/>
            </a:pPr>
            <a:r>
              <a:rPr lang="tr-TR" sz="1000" dirty="0">
                <a:solidFill>
                  <a:srgbClr val="212121"/>
                </a:solidFill>
                <a:latin typeface="Calibri" pitchFamily="34" charset="0"/>
                <a:ea typeface="Calibri" pitchFamily="34" charset="-122"/>
                <a:cs typeface="Calibri" pitchFamily="34" charset="-120"/>
              </a:rPr>
              <a:t>başka</a:t>
            </a:r>
            <a:endParaRPr lang="tr-TR" sz="1000" dirty="0"/>
          </a:p>
        </p:txBody>
      </p:sp>
      <p:sp>
        <p:nvSpPr>
          <p:cNvPr id="66" name="Text 64"/>
          <p:cNvSpPr txBox="1"/>
          <p:nvPr/>
        </p:nvSpPr>
        <p:spPr>
          <a:xfrm>
            <a:off x="5440680" y="3802075"/>
            <a:ext cx="384048" cy="245059"/>
          </a:xfrm>
          <a:prstGeom prst="rect">
            <a:avLst/>
          </a:prstGeom>
          <a:noFill/>
          <a:ln/>
        </p:spPr>
        <p:txBody>
          <a:bodyPr wrap="square" lIns="0" tIns="0" rIns="0" bIns="0" rtlCol="0" anchor="ctr"/>
          <a:lstStyle/>
          <a:p>
            <a:pPr algn="r" indent="0" marL="0">
              <a:buNone/>
            </a:pPr>
            <a:r>
              <a:rPr lang="tr-TR" sz="1000" dirty="0">
                <a:solidFill>
                  <a:srgbClr val="6B7679"/>
                </a:solidFill>
                <a:latin typeface="Calibri" pitchFamily="34" charset="0"/>
                <a:ea typeface="Calibri" pitchFamily="34" charset="-122"/>
                <a:cs typeface="Calibri" pitchFamily="34" charset="-120"/>
              </a:rPr>
              <a:t>6</a:t>
            </a:r>
            <a:endParaRPr lang="tr-TR" sz="1000" dirty="0"/>
          </a:p>
        </p:txBody>
      </p:sp>
      <p:sp>
        <p:nvSpPr>
          <p:cNvPr id="67" name="Shape 65"/>
          <p:cNvSpPr/>
          <p:nvPr/>
        </p:nvSpPr>
        <p:spPr>
          <a:xfrm>
            <a:off x="5897880" y="4047134"/>
            <a:ext cx="1828800" cy="245059"/>
          </a:xfrm>
          <a:prstGeom prst="rect">
            <a:avLst/>
          </a:prstGeom>
          <a:solidFill>
            <a:srgbClr val="02C39A"/>
          </a:solidFill>
          <a:ln w="6350">
            <a:solidFill>
              <a:srgbClr val="AAB4B8"/>
            </a:solidFill>
            <a:prstDash val="solid"/>
          </a:ln>
        </p:spPr>
      </p:sp>
      <p:sp>
        <p:nvSpPr>
          <p:cNvPr id="68" name="Text 66"/>
          <p:cNvSpPr txBox="1"/>
          <p:nvPr/>
        </p:nvSpPr>
        <p:spPr>
          <a:xfrm>
            <a:off x="5897880" y="4047134"/>
            <a:ext cx="1828800" cy="245059"/>
          </a:xfrm>
          <a:prstGeom prst="rect">
            <a:avLst/>
          </a:prstGeom>
          <a:noFill/>
          <a:ln/>
        </p:spPr>
        <p:txBody>
          <a:bodyPr wrap="square" lIns="0" tIns="0" rIns="0" bIns="0" rtlCol="0" anchor="ctr"/>
          <a:lstStyle/>
          <a:p>
            <a:pPr algn="ctr" indent="0" marL="0">
              <a:buNone/>
            </a:pPr>
            <a:r>
              <a:rPr lang="tr-TR" sz="1000" b="1" dirty="0">
                <a:solidFill>
                  <a:srgbClr val="212121"/>
                </a:solidFill>
                <a:latin typeface="Calibri" pitchFamily="34" charset="0"/>
                <a:ea typeface="Calibri" pitchFamily="34" charset="-122"/>
                <a:cs typeface="Calibri" pitchFamily="34" charset="-120"/>
              </a:rPr>
              <a:t>sayfa 3</a:t>
            </a:r>
            <a:endParaRPr lang="tr-TR" sz="1000" dirty="0"/>
          </a:p>
        </p:txBody>
      </p:sp>
      <p:sp>
        <p:nvSpPr>
          <p:cNvPr id="69" name="Text 67"/>
          <p:cNvSpPr txBox="1"/>
          <p:nvPr/>
        </p:nvSpPr>
        <p:spPr>
          <a:xfrm>
            <a:off x="5440680" y="4047134"/>
            <a:ext cx="384048" cy="245059"/>
          </a:xfrm>
          <a:prstGeom prst="rect">
            <a:avLst/>
          </a:prstGeom>
          <a:noFill/>
          <a:ln/>
        </p:spPr>
        <p:txBody>
          <a:bodyPr wrap="square" lIns="0" tIns="0" rIns="0" bIns="0" rtlCol="0" anchor="ctr"/>
          <a:lstStyle/>
          <a:p>
            <a:pPr algn="r" indent="0" marL="0">
              <a:buNone/>
            </a:pPr>
            <a:r>
              <a:rPr lang="tr-TR" sz="1000" dirty="0">
                <a:solidFill>
                  <a:srgbClr val="6B7679"/>
                </a:solidFill>
                <a:latin typeface="Calibri" pitchFamily="34" charset="0"/>
                <a:ea typeface="Calibri" pitchFamily="34" charset="-122"/>
                <a:cs typeface="Calibri" pitchFamily="34" charset="-120"/>
              </a:rPr>
              <a:t>7</a:t>
            </a:r>
            <a:endParaRPr lang="tr-TR" sz="1000" dirty="0"/>
          </a:p>
        </p:txBody>
      </p:sp>
      <p:sp>
        <p:nvSpPr>
          <p:cNvPr id="70" name="Shape 68"/>
          <p:cNvSpPr/>
          <p:nvPr/>
        </p:nvSpPr>
        <p:spPr>
          <a:xfrm>
            <a:off x="5897880" y="4292194"/>
            <a:ext cx="1828800" cy="245059"/>
          </a:xfrm>
          <a:prstGeom prst="rect">
            <a:avLst/>
          </a:prstGeom>
          <a:solidFill>
            <a:srgbClr val="FFFFFF"/>
          </a:solidFill>
          <a:ln w="6350">
            <a:solidFill>
              <a:srgbClr val="AAB4B8"/>
            </a:solidFill>
            <a:prstDash val="solid"/>
          </a:ln>
        </p:spPr>
      </p:sp>
      <p:sp>
        <p:nvSpPr>
          <p:cNvPr id="71" name="Text 69"/>
          <p:cNvSpPr txBox="1"/>
          <p:nvPr/>
        </p:nvSpPr>
        <p:spPr>
          <a:xfrm>
            <a:off x="5897880" y="4292194"/>
            <a:ext cx="1828800" cy="245059"/>
          </a:xfrm>
          <a:prstGeom prst="rect">
            <a:avLst/>
          </a:prstGeom>
          <a:noFill/>
          <a:ln/>
        </p:spPr>
        <p:txBody>
          <a:bodyPr wrap="square" lIns="0" tIns="0" rIns="0" bIns="0" rtlCol="0" anchor="ctr"/>
          <a:lstStyle/>
          <a:p>
            <a:pPr algn="ctr" indent="0" marL="0">
              <a:buNone/>
            </a:pPr>
            <a:endParaRPr lang="tr-TR" sz="1000" dirty="0"/>
          </a:p>
        </p:txBody>
      </p:sp>
      <p:sp>
        <p:nvSpPr>
          <p:cNvPr id="72" name="Text 70"/>
          <p:cNvSpPr txBox="1"/>
          <p:nvPr/>
        </p:nvSpPr>
        <p:spPr>
          <a:xfrm>
            <a:off x="5440680" y="4292194"/>
            <a:ext cx="384048" cy="245059"/>
          </a:xfrm>
          <a:prstGeom prst="rect">
            <a:avLst/>
          </a:prstGeom>
          <a:noFill/>
          <a:ln/>
        </p:spPr>
        <p:txBody>
          <a:bodyPr wrap="square" lIns="0" tIns="0" rIns="0" bIns="0" rtlCol="0" anchor="ctr"/>
          <a:lstStyle/>
          <a:p>
            <a:pPr algn="r" indent="0" marL="0">
              <a:buNone/>
            </a:pPr>
            <a:r>
              <a:rPr lang="tr-TR" sz="1000" dirty="0">
                <a:solidFill>
                  <a:srgbClr val="6B7679"/>
                </a:solidFill>
                <a:latin typeface="Calibri" pitchFamily="34" charset="0"/>
                <a:ea typeface="Calibri" pitchFamily="34" charset="-122"/>
                <a:cs typeface="Calibri" pitchFamily="34" charset="-120"/>
              </a:rPr>
              <a:t>8</a:t>
            </a:r>
            <a:endParaRPr lang="tr-TR" sz="1000" dirty="0"/>
          </a:p>
        </p:txBody>
      </p:sp>
      <p:sp>
        <p:nvSpPr>
          <p:cNvPr id="73" name="Shape 71"/>
          <p:cNvSpPr/>
          <p:nvPr/>
        </p:nvSpPr>
        <p:spPr>
          <a:xfrm>
            <a:off x="5897880" y="4537253"/>
            <a:ext cx="1828800" cy="245059"/>
          </a:xfrm>
          <a:prstGeom prst="rect">
            <a:avLst/>
          </a:prstGeom>
          <a:solidFill>
            <a:srgbClr val="02C39A"/>
          </a:solidFill>
          <a:ln w="6350">
            <a:solidFill>
              <a:srgbClr val="AAB4B8"/>
            </a:solidFill>
            <a:prstDash val="solid"/>
          </a:ln>
        </p:spPr>
      </p:sp>
      <p:sp>
        <p:nvSpPr>
          <p:cNvPr id="74" name="Text 72"/>
          <p:cNvSpPr txBox="1"/>
          <p:nvPr/>
        </p:nvSpPr>
        <p:spPr>
          <a:xfrm>
            <a:off x="5897880" y="4537253"/>
            <a:ext cx="1828800" cy="245059"/>
          </a:xfrm>
          <a:prstGeom prst="rect">
            <a:avLst/>
          </a:prstGeom>
          <a:noFill/>
          <a:ln/>
        </p:spPr>
        <p:txBody>
          <a:bodyPr wrap="square" lIns="0" tIns="0" rIns="0" bIns="0" rtlCol="0" anchor="ctr"/>
          <a:lstStyle/>
          <a:p>
            <a:pPr algn="ctr" indent="0" marL="0">
              <a:buNone/>
            </a:pPr>
            <a:r>
              <a:rPr lang="tr-TR" sz="1000" b="1" dirty="0">
                <a:solidFill>
                  <a:srgbClr val="212121"/>
                </a:solidFill>
                <a:latin typeface="Calibri" pitchFamily="34" charset="0"/>
                <a:ea typeface="Calibri" pitchFamily="34" charset="-122"/>
                <a:cs typeface="Calibri" pitchFamily="34" charset="-120"/>
              </a:rPr>
              <a:t>sayfa 1</a:t>
            </a:r>
            <a:endParaRPr lang="tr-TR" sz="1000" dirty="0"/>
          </a:p>
        </p:txBody>
      </p:sp>
      <p:sp>
        <p:nvSpPr>
          <p:cNvPr id="75" name="Text 73"/>
          <p:cNvSpPr txBox="1"/>
          <p:nvPr/>
        </p:nvSpPr>
        <p:spPr>
          <a:xfrm>
            <a:off x="5440680" y="4537253"/>
            <a:ext cx="384048" cy="245059"/>
          </a:xfrm>
          <a:prstGeom prst="rect">
            <a:avLst/>
          </a:prstGeom>
          <a:noFill/>
          <a:ln/>
        </p:spPr>
        <p:txBody>
          <a:bodyPr wrap="square" lIns="0" tIns="0" rIns="0" bIns="0" rtlCol="0" anchor="ctr"/>
          <a:lstStyle/>
          <a:p>
            <a:pPr algn="r" indent="0" marL="0">
              <a:buNone/>
            </a:pPr>
            <a:r>
              <a:rPr lang="tr-TR" sz="1000" dirty="0">
                <a:solidFill>
                  <a:srgbClr val="6B7679"/>
                </a:solidFill>
                <a:latin typeface="Calibri" pitchFamily="34" charset="0"/>
                <a:ea typeface="Calibri" pitchFamily="34" charset="-122"/>
                <a:cs typeface="Calibri" pitchFamily="34" charset="-120"/>
              </a:rPr>
              <a:t>9</a:t>
            </a:r>
            <a:endParaRPr lang="tr-TR" sz="1000" dirty="0"/>
          </a:p>
        </p:txBody>
      </p:sp>
      <p:sp>
        <p:nvSpPr>
          <p:cNvPr id="76" name="Shape 74"/>
          <p:cNvSpPr/>
          <p:nvPr/>
        </p:nvSpPr>
        <p:spPr>
          <a:xfrm>
            <a:off x="5897880" y="4782312"/>
            <a:ext cx="1828800" cy="245059"/>
          </a:xfrm>
          <a:prstGeom prst="rect">
            <a:avLst/>
          </a:prstGeom>
          <a:solidFill>
            <a:srgbClr val="FFFFFF"/>
          </a:solidFill>
          <a:ln w="6350">
            <a:solidFill>
              <a:srgbClr val="AAB4B8"/>
            </a:solidFill>
            <a:prstDash val="solid"/>
          </a:ln>
        </p:spPr>
      </p:sp>
      <p:sp>
        <p:nvSpPr>
          <p:cNvPr id="77" name="Text 75"/>
          <p:cNvSpPr txBox="1"/>
          <p:nvPr/>
        </p:nvSpPr>
        <p:spPr>
          <a:xfrm>
            <a:off x="5897880" y="4782312"/>
            <a:ext cx="1828800" cy="245059"/>
          </a:xfrm>
          <a:prstGeom prst="rect">
            <a:avLst/>
          </a:prstGeom>
          <a:noFill/>
          <a:ln/>
        </p:spPr>
        <p:txBody>
          <a:bodyPr wrap="square" lIns="0" tIns="0" rIns="0" bIns="0" rtlCol="0" anchor="ctr"/>
          <a:lstStyle/>
          <a:p>
            <a:pPr algn="ctr" indent="0" marL="0">
              <a:buNone/>
            </a:pPr>
            <a:endParaRPr lang="tr-TR" sz="1000" dirty="0"/>
          </a:p>
        </p:txBody>
      </p:sp>
      <p:sp>
        <p:nvSpPr>
          <p:cNvPr id="78" name="Text 76"/>
          <p:cNvSpPr txBox="1"/>
          <p:nvPr/>
        </p:nvSpPr>
        <p:spPr>
          <a:xfrm>
            <a:off x="5440680" y="4782312"/>
            <a:ext cx="384048" cy="245059"/>
          </a:xfrm>
          <a:prstGeom prst="rect">
            <a:avLst/>
          </a:prstGeom>
          <a:noFill/>
          <a:ln/>
        </p:spPr>
        <p:txBody>
          <a:bodyPr wrap="square" lIns="0" tIns="0" rIns="0" bIns="0" rtlCol="0" anchor="ctr"/>
          <a:lstStyle/>
          <a:p>
            <a:pPr algn="r" indent="0" marL="0">
              <a:buNone/>
            </a:pPr>
            <a:r>
              <a:rPr lang="tr-TR" sz="1000" dirty="0">
                <a:solidFill>
                  <a:srgbClr val="6B7679"/>
                </a:solidFill>
                <a:latin typeface="Calibri" pitchFamily="34" charset="0"/>
                <a:ea typeface="Calibri" pitchFamily="34" charset="-122"/>
                <a:cs typeface="Calibri" pitchFamily="34" charset="-120"/>
              </a:rPr>
              <a:t>10</a:t>
            </a:r>
            <a:endParaRPr lang="tr-TR" sz="1000" dirty="0"/>
          </a:p>
        </p:txBody>
      </p:sp>
      <p:sp>
        <p:nvSpPr>
          <p:cNvPr id="79" name="Shape 77"/>
          <p:cNvSpPr/>
          <p:nvPr/>
        </p:nvSpPr>
        <p:spPr>
          <a:xfrm>
            <a:off x="5897880" y="5027371"/>
            <a:ext cx="1828800" cy="245059"/>
          </a:xfrm>
          <a:prstGeom prst="rect">
            <a:avLst/>
          </a:prstGeom>
          <a:solidFill>
            <a:srgbClr val="FFFFFF"/>
          </a:solidFill>
          <a:ln w="6350">
            <a:solidFill>
              <a:srgbClr val="AAB4B8"/>
            </a:solidFill>
            <a:prstDash val="solid"/>
          </a:ln>
        </p:spPr>
      </p:sp>
      <p:sp>
        <p:nvSpPr>
          <p:cNvPr id="80" name="Text 78"/>
          <p:cNvSpPr txBox="1"/>
          <p:nvPr/>
        </p:nvSpPr>
        <p:spPr>
          <a:xfrm>
            <a:off x="5897880" y="5027371"/>
            <a:ext cx="1828800" cy="245059"/>
          </a:xfrm>
          <a:prstGeom prst="rect">
            <a:avLst/>
          </a:prstGeom>
          <a:noFill/>
          <a:ln/>
        </p:spPr>
        <p:txBody>
          <a:bodyPr wrap="square" lIns="0" tIns="0" rIns="0" bIns="0" rtlCol="0" anchor="ctr"/>
          <a:lstStyle/>
          <a:p>
            <a:pPr algn="ctr" indent="0" marL="0">
              <a:buNone/>
            </a:pPr>
            <a:endParaRPr lang="tr-TR" sz="1000" dirty="0"/>
          </a:p>
        </p:txBody>
      </p:sp>
      <p:sp>
        <p:nvSpPr>
          <p:cNvPr id="81" name="Text 79"/>
          <p:cNvSpPr txBox="1"/>
          <p:nvPr/>
        </p:nvSpPr>
        <p:spPr>
          <a:xfrm>
            <a:off x="5440680" y="5027371"/>
            <a:ext cx="384048" cy="245059"/>
          </a:xfrm>
          <a:prstGeom prst="rect">
            <a:avLst/>
          </a:prstGeom>
          <a:noFill/>
          <a:ln/>
        </p:spPr>
        <p:txBody>
          <a:bodyPr wrap="square" lIns="0" tIns="0" rIns="0" bIns="0" rtlCol="0" anchor="ctr"/>
          <a:lstStyle/>
          <a:p>
            <a:pPr algn="r" indent="0" marL="0">
              <a:buNone/>
            </a:pPr>
            <a:r>
              <a:rPr lang="tr-TR" sz="1000" dirty="0">
                <a:solidFill>
                  <a:srgbClr val="6B7679"/>
                </a:solidFill>
                <a:latin typeface="Calibri" pitchFamily="34" charset="0"/>
                <a:ea typeface="Calibri" pitchFamily="34" charset="-122"/>
                <a:cs typeface="Calibri" pitchFamily="34" charset="-120"/>
              </a:rPr>
              <a:t>11</a:t>
            </a:r>
            <a:endParaRPr lang="tr-TR" sz="1000" dirty="0"/>
          </a:p>
        </p:txBody>
      </p:sp>
      <p:sp>
        <p:nvSpPr>
          <p:cNvPr id="82" name="Shape 80"/>
          <p:cNvSpPr/>
          <p:nvPr/>
        </p:nvSpPr>
        <p:spPr>
          <a:xfrm>
            <a:off x="5897880" y="5272430"/>
            <a:ext cx="1828800" cy="245059"/>
          </a:xfrm>
          <a:prstGeom prst="rect">
            <a:avLst/>
          </a:prstGeom>
          <a:solidFill>
            <a:srgbClr val="02C39A"/>
          </a:solidFill>
          <a:ln w="6350">
            <a:solidFill>
              <a:srgbClr val="AAB4B8"/>
            </a:solidFill>
            <a:prstDash val="solid"/>
          </a:ln>
        </p:spPr>
      </p:sp>
      <p:sp>
        <p:nvSpPr>
          <p:cNvPr id="83" name="Text 81"/>
          <p:cNvSpPr txBox="1"/>
          <p:nvPr/>
        </p:nvSpPr>
        <p:spPr>
          <a:xfrm>
            <a:off x="5897880" y="5272430"/>
            <a:ext cx="1828800" cy="245059"/>
          </a:xfrm>
          <a:prstGeom prst="rect">
            <a:avLst/>
          </a:prstGeom>
          <a:noFill/>
          <a:ln/>
        </p:spPr>
        <p:txBody>
          <a:bodyPr wrap="square" lIns="0" tIns="0" rIns="0" bIns="0" rtlCol="0" anchor="ctr"/>
          <a:lstStyle/>
          <a:p>
            <a:pPr algn="ctr" indent="0" marL="0">
              <a:buNone/>
            </a:pPr>
            <a:r>
              <a:rPr lang="tr-TR" sz="1000" b="1" dirty="0">
                <a:solidFill>
                  <a:srgbClr val="212121"/>
                </a:solidFill>
                <a:latin typeface="Calibri" pitchFamily="34" charset="0"/>
                <a:ea typeface="Calibri" pitchFamily="34" charset="-122"/>
                <a:cs typeface="Calibri" pitchFamily="34" charset="-120"/>
              </a:rPr>
              <a:t>sayfa 4</a:t>
            </a:r>
            <a:endParaRPr lang="tr-TR" sz="1000" dirty="0"/>
          </a:p>
        </p:txBody>
      </p:sp>
      <p:sp>
        <p:nvSpPr>
          <p:cNvPr id="84" name="Text 82"/>
          <p:cNvSpPr txBox="1"/>
          <p:nvPr/>
        </p:nvSpPr>
        <p:spPr>
          <a:xfrm>
            <a:off x="5440680" y="5272430"/>
            <a:ext cx="384048" cy="245059"/>
          </a:xfrm>
          <a:prstGeom prst="rect">
            <a:avLst/>
          </a:prstGeom>
          <a:noFill/>
          <a:ln/>
        </p:spPr>
        <p:txBody>
          <a:bodyPr wrap="square" lIns="0" tIns="0" rIns="0" bIns="0" rtlCol="0" anchor="ctr"/>
          <a:lstStyle/>
          <a:p>
            <a:pPr algn="r" indent="0" marL="0">
              <a:buNone/>
            </a:pPr>
            <a:r>
              <a:rPr lang="tr-TR" sz="1000" dirty="0">
                <a:solidFill>
                  <a:srgbClr val="6B7679"/>
                </a:solidFill>
                <a:latin typeface="Calibri" pitchFamily="34" charset="0"/>
                <a:ea typeface="Calibri" pitchFamily="34" charset="-122"/>
                <a:cs typeface="Calibri" pitchFamily="34" charset="-120"/>
              </a:rPr>
              <a:t>12</a:t>
            </a:r>
            <a:endParaRPr lang="tr-TR" sz="1000" dirty="0"/>
          </a:p>
        </p:txBody>
      </p:sp>
      <p:sp>
        <p:nvSpPr>
          <p:cNvPr id="85" name="Shape 83"/>
          <p:cNvSpPr/>
          <p:nvPr/>
        </p:nvSpPr>
        <p:spPr>
          <a:xfrm>
            <a:off x="5897880" y="5517490"/>
            <a:ext cx="1828800" cy="245059"/>
          </a:xfrm>
          <a:prstGeom prst="rect">
            <a:avLst/>
          </a:prstGeom>
          <a:solidFill>
            <a:srgbClr val="FFFFFF"/>
          </a:solidFill>
          <a:ln w="6350">
            <a:solidFill>
              <a:srgbClr val="AAB4B8"/>
            </a:solidFill>
            <a:prstDash val="solid"/>
          </a:ln>
        </p:spPr>
      </p:sp>
      <p:sp>
        <p:nvSpPr>
          <p:cNvPr id="86" name="Text 84"/>
          <p:cNvSpPr txBox="1"/>
          <p:nvPr/>
        </p:nvSpPr>
        <p:spPr>
          <a:xfrm>
            <a:off x="5897880" y="5517490"/>
            <a:ext cx="1828800" cy="245059"/>
          </a:xfrm>
          <a:prstGeom prst="rect">
            <a:avLst/>
          </a:prstGeom>
          <a:noFill/>
          <a:ln/>
        </p:spPr>
        <p:txBody>
          <a:bodyPr wrap="square" lIns="0" tIns="0" rIns="0" bIns="0" rtlCol="0" anchor="ctr"/>
          <a:lstStyle/>
          <a:p>
            <a:pPr algn="ctr" indent="0" marL="0">
              <a:buNone/>
            </a:pPr>
            <a:endParaRPr lang="tr-TR" sz="1000" dirty="0"/>
          </a:p>
        </p:txBody>
      </p:sp>
      <p:sp>
        <p:nvSpPr>
          <p:cNvPr id="87" name="Text 85"/>
          <p:cNvSpPr txBox="1"/>
          <p:nvPr/>
        </p:nvSpPr>
        <p:spPr>
          <a:xfrm>
            <a:off x="5440680" y="5517490"/>
            <a:ext cx="384048" cy="245059"/>
          </a:xfrm>
          <a:prstGeom prst="rect">
            <a:avLst/>
          </a:prstGeom>
          <a:noFill/>
          <a:ln/>
        </p:spPr>
        <p:txBody>
          <a:bodyPr wrap="square" lIns="0" tIns="0" rIns="0" bIns="0" rtlCol="0" anchor="ctr"/>
          <a:lstStyle/>
          <a:p>
            <a:pPr algn="r" indent="0" marL="0">
              <a:buNone/>
            </a:pPr>
            <a:r>
              <a:rPr lang="tr-TR" sz="1000" dirty="0">
                <a:solidFill>
                  <a:srgbClr val="6B7679"/>
                </a:solidFill>
                <a:latin typeface="Calibri" pitchFamily="34" charset="0"/>
                <a:ea typeface="Calibri" pitchFamily="34" charset="-122"/>
                <a:cs typeface="Calibri" pitchFamily="34" charset="-120"/>
              </a:rPr>
              <a:t>13</a:t>
            </a:r>
            <a:endParaRPr lang="tr-TR" sz="1000" dirty="0"/>
          </a:p>
        </p:txBody>
      </p:sp>
      <p:sp>
        <p:nvSpPr>
          <p:cNvPr id="88" name="Shape 86"/>
          <p:cNvSpPr/>
          <p:nvPr/>
        </p:nvSpPr>
        <p:spPr>
          <a:xfrm>
            <a:off x="5897880" y="5762549"/>
            <a:ext cx="1828800" cy="245059"/>
          </a:xfrm>
          <a:prstGeom prst="rect">
            <a:avLst/>
          </a:prstGeom>
          <a:solidFill>
            <a:srgbClr val="FFFFFF"/>
          </a:solidFill>
          <a:ln w="6350">
            <a:solidFill>
              <a:srgbClr val="AAB4B8"/>
            </a:solidFill>
            <a:prstDash val="solid"/>
          </a:ln>
        </p:spPr>
      </p:sp>
      <p:sp>
        <p:nvSpPr>
          <p:cNvPr id="89" name="Text 87"/>
          <p:cNvSpPr txBox="1"/>
          <p:nvPr/>
        </p:nvSpPr>
        <p:spPr>
          <a:xfrm>
            <a:off x="5897880" y="5762549"/>
            <a:ext cx="1828800" cy="245059"/>
          </a:xfrm>
          <a:prstGeom prst="rect">
            <a:avLst/>
          </a:prstGeom>
          <a:noFill/>
          <a:ln/>
        </p:spPr>
        <p:txBody>
          <a:bodyPr wrap="square" lIns="0" tIns="0" rIns="0" bIns="0" rtlCol="0" anchor="ctr"/>
          <a:lstStyle/>
          <a:p>
            <a:pPr algn="ctr" indent="0" marL="0">
              <a:buNone/>
            </a:pPr>
            <a:endParaRPr lang="tr-TR" sz="1000" dirty="0"/>
          </a:p>
        </p:txBody>
      </p:sp>
      <p:sp>
        <p:nvSpPr>
          <p:cNvPr id="90" name="Text 88"/>
          <p:cNvSpPr txBox="1"/>
          <p:nvPr/>
        </p:nvSpPr>
        <p:spPr>
          <a:xfrm>
            <a:off x="5440680" y="5762549"/>
            <a:ext cx="384048" cy="245059"/>
          </a:xfrm>
          <a:prstGeom prst="rect">
            <a:avLst/>
          </a:prstGeom>
          <a:noFill/>
          <a:ln/>
        </p:spPr>
        <p:txBody>
          <a:bodyPr wrap="square" lIns="0" tIns="0" rIns="0" bIns="0" rtlCol="0" anchor="ctr"/>
          <a:lstStyle/>
          <a:p>
            <a:pPr algn="r" indent="0" marL="0">
              <a:buNone/>
            </a:pPr>
            <a:r>
              <a:rPr lang="tr-TR" sz="1000" dirty="0">
                <a:solidFill>
                  <a:srgbClr val="6B7679"/>
                </a:solidFill>
                <a:latin typeface="Calibri" pitchFamily="34" charset="0"/>
                <a:ea typeface="Calibri" pitchFamily="34" charset="-122"/>
                <a:cs typeface="Calibri" pitchFamily="34" charset="-120"/>
              </a:rPr>
              <a:t>14</a:t>
            </a:r>
            <a:endParaRPr lang="tr-TR" sz="1000" dirty="0"/>
          </a:p>
        </p:txBody>
      </p:sp>
      <p:sp>
        <p:nvSpPr>
          <p:cNvPr id="91" name="Shape 89"/>
          <p:cNvSpPr/>
          <p:nvPr/>
        </p:nvSpPr>
        <p:spPr>
          <a:xfrm>
            <a:off x="5897880" y="6007608"/>
            <a:ext cx="1828800" cy="245059"/>
          </a:xfrm>
          <a:prstGeom prst="rect">
            <a:avLst/>
          </a:prstGeom>
          <a:solidFill>
            <a:srgbClr val="C9D3D6"/>
          </a:solidFill>
          <a:ln w="6350">
            <a:solidFill>
              <a:srgbClr val="AAB4B8"/>
            </a:solidFill>
            <a:prstDash val="solid"/>
          </a:ln>
        </p:spPr>
      </p:sp>
      <p:sp>
        <p:nvSpPr>
          <p:cNvPr id="92" name="Text 90"/>
          <p:cNvSpPr txBox="1"/>
          <p:nvPr/>
        </p:nvSpPr>
        <p:spPr>
          <a:xfrm>
            <a:off x="5897880" y="6007608"/>
            <a:ext cx="1828800" cy="245059"/>
          </a:xfrm>
          <a:prstGeom prst="rect">
            <a:avLst/>
          </a:prstGeom>
          <a:noFill/>
          <a:ln/>
        </p:spPr>
        <p:txBody>
          <a:bodyPr wrap="square" lIns="0" tIns="0" rIns="0" bIns="0" rtlCol="0" anchor="ctr"/>
          <a:lstStyle/>
          <a:p>
            <a:pPr algn="ctr" indent="0" marL="0">
              <a:buNone/>
            </a:pPr>
            <a:r>
              <a:rPr lang="tr-TR" sz="1000" dirty="0">
                <a:solidFill>
                  <a:srgbClr val="212121"/>
                </a:solidFill>
                <a:latin typeface="Calibri" pitchFamily="34" charset="0"/>
                <a:ea typeface="Calibri" pitchFamily="34" charset="-122"/>
                <a:cs typeface="Calibri" pitchFamily="34" charset="-120"/>
              </a:rPr>
              <a:t>başka</a:t>
            </a:r>
            <a:endParaRPr lang="tr-TR" sz="1000" dirty="0"/>
          </a:p>
        </p:txBody>
      </p:sp>
      <p:sp>
        <p:nvSpPr>
          <p:cNvPr id="93" name="Text 91"/>
          <p:cNvSpPr txBox="1"/>
          <p:nvPr/>
        </p:nvSpPr>
        <p:spPr>
          <a:xfrm>
            <a:off x="5440680" y="6007608"/>
            <a:ext cx="384048" cy="245059"/>
          </a:xfrm>
          <a:prstGeom prst="rect">
            <a:avLst/>
          </a:prstGeom>
          <a:noFill/>
          <a:ln/>
        </p:spPr>
        <p:txBody>
          <a:bodyPr wrap="square" lIns="0" tIns="0" rIns="0" bIns="0" rtlCol="0" anchor="ctr"/>
          <a:lstStyle/>
          <a:p>
            <a:pPr algn="r" indent="0" marL="0">
              <a:buNone/>
            </a:pPr>
            <a:r>
              <a:rPr lang="tr-TR" sz="1000" dirty="0">
                <a:solidFill>
                  <a:srgbClr val="6B7679"/>
                </a:solidFill>
                <a:latin typeface="Calibri" pitchFamily="34" charset="0"/>
                <a:ea typeface="Calibri" pitchFamily="34" charset="-122"/>
                <a:cs typeface="Calibri" pitchFamily="34" charset="-120"/>
              </a:rPr>
              <a:t>15</a:t>
            </a:r>
            <a:endParaRPr lang="tr-TR" sz="1000" dirty="0"/>
          </a:p>
        </p:txBody>
      </p:sp>
      <p:sp>
        <p:nvSpPr>
          <p:cNvPr id="94" name="Shape 92"/>
          <p:cNvSpPr/>
          <p:nvPr/>
        </p:nvSpPr>
        <p:spPr>
          <a:xfrm>
            <a:off x="8138160" y="2148840"/>
            <a:ext cx="3520440" cy="4114800"/>
          </a:xfrm>
          <a:prstGeom prst="roundRect">
            <a:avLst>
              <a:gd name="adj" fmla="val 1558"/>
            </a:avLst>
          </a:prstGeom>
          <a:solidFill>
            <a:srgbClr val="F2F2F2"/>
          </a:solidFill>
          <a:ln/>
          <a:effectLst>
            <a:outerShdw sx="100000" sy="100000" kx="0" ky="0" algn="bl" rotWithShape="0" blurRad="101600" dist="25400" dir="5400000">
              <a:srgbClr val="000000">
                <a:alpha val="12000"/>
              </a:srgbClr>
            </a:outerShdw>
          </a:effectLst>
        </p:spPr>
      </p:sp>
      <p:sp>
        <p:nvSpPr>
          <p:cNvPr id="95" name="Text 93"/>
          <p:cNvSpPr txBox="1"/>
          <p:nvPr/>
        </p:nvSpPr>
        <p:spPr>
          <a:xfrm>
            <a:off x="8366760" y="2331720"/>
            <a:ext cx="30632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Önemli noktalar</a:t>
            </a:r>
            <a:endParaRPr lang="tr-TR" sz="1500" dirty="0"/>
          </a:p>
        </p:txBody>
      </p:sp>
      <p:sp>
        <p:nvSpPr>
          <p:cNvPr id="96" name="Text 94"/>
          <p:cNvSpPr txBox="1"/>
          <p:nvPr/>
        </p:nvSpPr>
        <p:spPr>
          <a:xfrm>
            <a:off x="8366760" y="2788920"/>
            <a:ext cx="3063240" cy="333756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Sayfa boyu = çerçeve boyu, 2'nin bir kuvveti (Linux/x86: 4 KB).</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Bir sürecin çerçeveleri bitişik ya da sıralı olmak zorunda değildir.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Her boş çerçeve kullanılabilir → dış parçalanma yok.</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Her sürecin bir sayfa tablosu var; işletim sistemi bir boş çerçeve listesi tutar.</a:t>
            </a:r>
            <a:endParaRPr lang="tr-TR"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ADRES ÇEVİRİSİ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Adresi Sayfa Numarası ve Ofsete Bölmek</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m bitlik mantıksal adreste ve 2^n baytlık sayfada, üstteki m − n bit sayfa numarası p, alttaki n bit ofset (sayfa içi konum) d'dir.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6  ·  20</a:t>
            </a:r>
            <a:endParaRPr lang="tr-TR" sz="900" dirty="0"/>
          </a:p>
        </p:txBody>
      </p:sp>
      <p:sp>
        <p:nvSpPr>
          <p:cNvPr id="7" name="Shape 5"/>
          <p:cNvSpPr/>
          <p:nvPr/>
        </p:nvSpPr>
        <p:spPr>
          <a:xfrm>
            <a:off x="548640" y="2286000"/>
            <a:ext cx="4206240" cy="822960"/>
          </a:xfrm>
          <a:prstGeom prst="roundRect">
            <a:avLst>
              <a:gd name="adj" fmla="val 5556"/>
            </a:avLst>
          </a:prstGeom>
          <a:solidFill>
            <a:srgbClr val="02C39A"/>
          </a:solidFill>
          <a:ln/>
        </p:spPr>
      </p:sp>
      <p:sp>
        <p:nvSpPr>
          <p:cNvPr id="8" name="Text 6"/>
          <p:cNvSpPr txBox="1"/>
          <p:nvPr/>
        </p:nvSpPr>
        <p:spPr>
          <a:xfrm>
            <a:off x="548640" y="2286000"/>
            <a:ext cx="4206240" cy="822960"/>
          </a:xfrm>
          <a:prstGeom prst="rect">
            <a:avLst/>
          </a:prstGeom>
          <a:noFill/>
          <a:ln/>
        </p:spPr>
        <p:txBody>
          <a:bodyPr wrap="square" lIns="38100" tIns="38100" rIns="38100" bIns="38100" rtlCol="0" anchor="ctr"/>
          <a:lstStyle/>
          <a:p>
            <a:pPr algn="ctr" indent="0" marL="0">
              <a:buNone/>
            </a:pPr>
            <a:r>
              <a:rPr lang="tr-TR" sz="1600" b="1" dirty="0">
                <a:solidFill>
                  <a:srgbClr val="212121"/>
                </a:solidFill>
                <a:latin typeface="Calibri" pitchFamily="34" charset="0"/>
                <a:ea typeface="Calibri" pitchFamily="34" charset="-122"/>
                <a:cs typeface="Calibri" pitchFamily="34" charset="-120"/>
              </a:rPr>
              <a:t>sayfa numarası  p</a:t>
            </a:r>
            <a:endParaRPr lang="tr-TR" sz="1600" dirty="0"/>
          </a:p>
          <a:p>
            <a:pPr algn="ctr" indent="0" marL="0">
              <a:buNone/>
            </a:pPr>
            <a:r>
              <a:rPr lang="tr-TR" sz="1100" dirty="0">
                <a:solidFill>
                  <a:srgbClr val="212121"/>
                </a:solidFill>
                <a:latin typeface="Calibri" pitchFamily="34" charset="0"/>
                <a:ea typeface="Calibri" pitchFamily="34" charset="-122"/>
                <a:cs typeface="Calibri" pitchFamily="34" charset="-120"/>
              </a:rPr>
              <a:t>üstteki  m − n  bit</a:t>
            </a:r>
            <a:endParaRPr lang="tr-TR" sz="1600" dirty="0"/>
          </a:p>
        </p:txBody>
      </p:sp>
      <p:sp>
        <p:nvSpPr>
          <p:cNvPr id="9" name="Shape 7"/>
          <p:cNvSpPr/>
          <p:nvPr/>
        </p:nvSpPr>
        <p:spPr>
          <a:xfrm>
            <a:off x="4846320" y="2286000"/>
            <a:ext cx="3108960" cy="822960"/>
          </a:xfrm>
          <a:prstGeom prst="roundRect">
            <a:avLst>
              <a:gd name="adj" fmla="val 5556"/>
            </a:avLst>
          </a:prstGeom>
          <a:solidFill>
            <a:srgbClr val="36454F"/>
          </a:solidFill>
          <a:ln/>
        </p:spPr>
      </p:sp>
      <p:sp>
        <p:nvSpPr>
          <p:cNvPr id="10" name="Text 8"/>
          <p:cNvSpPr txBox="1"/>
          <p:nvPr/>
        </p:nvSpPr>
        <p:spPr>
          <a:xfrm>
            <a:off x="4846320" y="2286000"/>
            <a:ext cx="3108960" cy="822960"/>
          </a:xfrm>
          <a:prstGeom prst="rect">
            <a:avLst/>
          </a:prstGeom>
          <a:noFill/>
          <a:ln/>
        </p:spPr>
        <p:txBody>
          <a:bodyPr wrap="square" lIns="38100" tIns="38100" rIns="38100" bIns="38100" rtlCol="0" anchor="ctr"/>
          <a:lstStyle/>
          <a:p>
            <a:pPr algn="ctr" indent="0" marL="0">
              <a:buNone/>
            </a:pPr>
            <a:r>
              <a:rPr lang="tr-TR" sz="1600" b="1" dirty="0">
                <a:solidFill>
                  <a:srgbClr val="FFFFFF"/>
                </a:solidFill>
                <a:latin typeface="Calibri" pitchFamily="34" charset="0"/>
                <a:ea typeface="Calibri" pitchFamily="34" charset="-122"/>
                <a:cs typeface="Calibri" pitchFamily="34" charset="-120"/>
              </a:rPr>
              <a:t>ofset  d</a:t>
            </a:r>
            <a:endParaRPr lang="tr-TR" sz="1600" dirty="0"/>
          </a:p>
          <a:p>
            <a:pPr algn="ctr" indent="0" marL="0">
              <a:buNone/>
            </a:pPr>
            <a:r>
              <a:rPr lang="tr-TR" sz="1100" dirty="0">
                <a:solidFill>
                  <a:srgbClr val="FFFFFF"/>
                </a:solidFill>
                <a:latin typeface="Calibri" pitchFamily="34" charset="0"/>
                <a:ea typeface="Calibri" pitchFamily="34" charset="-122"/>
                <a:cs typeface="Calibri" pitchFamily="34" charset="-120"/>
              </a:rPr>
              <a:t>alttaki  n  bit</a:t>
            </a:r>
            <a:endParaRPr lang="tr-TR" sz="1600" dirty="0"/>
          </a:p>
        </p:txBody>
      </p:sp>
      <p:sp>
        <p:nvSpPr>
          <p:cNvPr id="11" name="Shape 9"/>
          <p:cNvSpPr/>
          <p:nvPr/>
        </p:nvSpPr>
        <p:spPr>
          <a:xfrm>
            <a:off x="548640" y="3383280"/>
            <a:ext cx="7406640" cy="2880360"/>
          </a:xfrm>
          <a:prstGeom prst="roundRect">
            <a:avLst>
              <a:gd name="adj" fmla="val 1587"/>
            </a:avLst>
          </a:prstGeom>
          <a:solidFill>
            <a:srgbClr val="212121"/>
          </a:solidFill>
          <a:ln/>
        </p:spPr>
      </p:sp>
      <p:sp>
        <p:nvSpPr>
          <p:cNvPr id="12" name="Text 10"/>
          <p:cNvSpPr txBox="1"/>
          <p:nvPr/>
        </p:nvSpPr>
        <p:spPr>
          <a:xfrm>
            <a:off x="731520" y="3493008"/>
            <a:ext cx="7040880" cy="2660904"/>
          </a:xfrm>
          <a:prstGeom prst="rect">
            <a:avLst/>
          </a:prstGeom>
          <a:noFill/>
          <a:ln/>
        </p:spPr>
        <p:txBody>
          <a:bodyPr wrap="square" lIns="0" tIns="0" rIns="0" bIns="0" rtlCol="0" anchor="t"/>
          <a:lstStyle/>
          <a:p>
            <a:pPr indent="0" marL="0">
              <a:lnSpc>
                <a:spcPct val="105000"/>
              </a:lnSpc>
              <a:buNone/>
            </a:pPr>
            <a:r>
              <a:rPr lang="tr-TR" sz="1450" dirty="0">
                <a:solidFill>
                  <a:srgbClr val="F2F2F2"/>
                </a:solidFill>
                <a:latin typeface="Consolas" pitchFamily="34" charset="0"/>
                <a:ea typeface="Consolas" pitchFamily="34" charset="-122"/>
                <a:cs typeface="Consolas" pitchFamily="34" charset="-120"/>
              </a:rPr>
              <a:t>p = adres div 2^n   =  adres &gt;&gt; n</a:t>
            </a:r>
            <a:endParaRPr lang="tr-TR" sz="1450" dirty="0"/>
          </a:p>
          <a:p>
            <a:pPr indent="0" marL="0">
              <a:lnSpc>
                <a:spcPct val="105000"/>
              </a:lnSpc>
              <a:buNone/>
            </a:pPr>
            <a:r>
              <a:rPr lang="tr-TR" sz="1450" dirty="0">
                <a:solidFill>
                  <a:srgbClr val="F2F2F2"/>
                </a:solidFill>
                <a:latin typeface="Consolas" pitchFamily="34" charset="0"/>
                <a:ea typeface="Consolas" pitchFamily="34" charset="-122"/>
                <a:cs typeface="Consolas" pitchFamily="34" charset="-120"/>
              </a:rPr>
              <a:t>d = adres mod 2^n   =  adres &amp; (2^n - 1)</a:t>
            </a:r>
            <a:endParaRPr lang="tr-TR" sz="1450" dirty="0"/>
          </a:p>
          <a:p>
            <a:pPr indent="0" marL="0">
              <a:lnSpc>
                <a:spcPct val="105000"/>
              </a:lnSpc>
              <a:buNone/>
            </a:pPr>
            <a:r>
              <a:rPr lang="tr-TR" sz="1450" dirty="0">
                <a:solidFill>
                  <a:srgbClr val="F2F2F2"/>
                </a:solidFill>
                <a:latin typeface="Consolas" pitchFamily="34" charset="0"/>
                <a:ea typeface="Consolas" pitchFamily="34" charset="-122"/>
                <a:cs typeface="Consolas" pitchFamily="34" charset="-120"/>
              </a:rPr>
              <a:t>fiziksel = çerçeve(p) × 2^n + d</a:t>
            </a:r>
            <a:endParaRPr lang="tr-TR" sz="1450" dirty="0"/>
          </a:p>
          <a:p>
            <a:pPr indent="0" marL="0">
              <a:lnSpc>
                <a:spcPct val="105000"/>
              </a:lnSpc>
              <a:buNone/>
            </a:pPr>
            <a:r>
              <a:rPr lang="tr-TR" sz="1450" dirty="0">
                <a:solidFill>
                  <a:srgbClr val="F2F2F2"/>
                </a:solidFill>
                <a:latin typeface="Consolas" pitchFamily="34" charset="0"/>
                <a:ea typeface="Consolas" pitchFamily="34" charset="-122"/>
                <a:cs typeface="Consolas" pitchFamily="34" charset="-120"/>
              </a:rPr>
              <a:t> </a:t>
            </a:r>
            <a:endParaRPr lang="tr-TR" sz="1450" dirty="0"/>
          </a:p>
          <a:p>
            <a:pPr indent="0" marL="0">
              <a:lnSpc>
                <a:spcPct val="105000"/>
              </a:lnSpc>
              <a:buNone/>
            </a:pPr>
            <a:r>
              <a:rPr lang="tr-TR" sz="1450" dirty="0">
                <a:solidFill>
                  <a:srgbClr val="F2F2F2"/>
                </a:solidFill>
                <a:latin typeface="Consolas" pitchFamily="34" charset="0"/>
                <a:ea typeface="Consolas" pitchFamily="34" charset="-122"/>
                <a:cs typeface="Consolas" pitchFamily="34" charset="-120"/>
              </a:rPr>
              <a:t>16 bit adres, 4 KB sayfa (n = 12):  p = 4 bit, d = 12 bit</a:t>
            </a:r>
            <a:endParaRPr lang="tr-TR" sz="1450" dirty="0"/>
          </a:p>
          <a:p>
            <a:pPr indent="0" marL="0">
              <a:lnSpc>
                <a:spcPct val="105000"/>
              </a:lnSpc>
              <a:buNone/>
            </a:pPr>
            <a:r>
              <a:rPr lang="tr-TR" sz="1450" dirty="0">
                <a:solidFill>
                  <a:srgbClr val="F2F2F2"/>
                </a:solidFill>
                <a:latin typeface="Consolas" pitchFamily="34" charset="0"/>
                <a:ea typeface="Consolas" pitchFamily="34" charset="-122"/>
                <a:cs typeface="Consolas" pitchFamily="34" charset="-120"/>
              </a:rPr>
              <a:t>32 bit adres, 4 KB sayfa (n = 12):  p = 20 bit, d = 12 bit</a:t>
            </a:r>
            <a:endParaRPr lang="tr-TR" sz="1450" dirty="0"/>
          </a:p>
          <a:p>
            <a:pPr indent="0" marL="0">
              <a:lnSpc>
                <a:spcPct val="105000"/>
              </a:lnSpc>
              <a:buNone/>
            </a:pPr>
            <a:r>
              <a:rPr lang="tr-TR" sz="1450" dirty="0">
                <a:solidFill>
                  <a:srgbClr val="F2F2F2"/>
                </a:solidFill>
                <a:latin typeface="Consolas" pitchFamily="34" charset="0"/>
                <a:ea typeface="Consolas" pitchFamily="34" charset="-122"/>
                <a:cs typeface="Consolas" pitchFamily="34" charset="-120"/>
              </a:rPr>
              <a:t> </a:t>
            </a:r>
            <a:endParaRPr lang="tr-TR" sz="1450" dirty="0"/>
          </a:p>
          <a:p>
            <a:pPr indent="0" marL="0">
              <a:lnSpc>
                <a:spcPct val="105000"/>
              </a:lnSpc>
              <a:buNone/>
            </a:pPr>
            <a:r>
              <a:rPr lang="tr-TR" sz="1450" dirty="0">
                <a:solidFill>
                  <a:srgbClr val="F2F2F2"/>
                </a:solidFill>
                <a:latin typeface="Consolas" pitchFamily="34" charset="0"/>
                <a:ea typeface="Consolas" pitchFamily="34" charset="-122"/>
                <a:cs typeface="Consolas" pitchFamily="34" charset="-120"/>
              </a:rPr>
              <a:t>0x3A7F = 0011 | 1010 0111 1111</a:t>
            </a:r>
            <a:endParaRPr lang="tr-TR" sz="1450" dirty="0"/>
          </a:p>
          <a:p>
            <a:pPr indent="0" marL="0">
              <a:lnSpc>
                <a:spcPct val="105000"/>
              </a:lnSpc>
              <a:buNone/>
            </a:pPr>
            <a:r>
              <a:rPr lang="tr-TR" sz="1450" dirty="0">
                <a:solidFill>
                  <a:srgbClr val="F2F2F2"/>
                </a:solidFill>
                <a:latin typeface="Consolas" pitchFamily="34" charset="0"/>
                <a:ea typeface="Consolas" pitchFamily="34" charset="-122"/>
                <a:cs typeface="Consolas" pitchFamily="34" charset="-120"/>
              </a:rPr>
              <a:t>         p = 3   d = 0xA7F</a:t>
            </a:r>
            <a:endParaRPr lang="tr-TR" sz="1450" dirty="0"/>
          </a:p>
        </p:txBody>
      </p:sp>
      <p:sp>
        <p:nvSpPr>
          <p:cNvPr id="13" name="Shape 11"/>
          <p:cNvSpPr/>
          <p:nvPr/>
        </p:nvSpPr>
        <p:spPr>
          <a:xfrm>
            <a:off x="8229600" y="2286000"/>
            <a:ext cx="3429000" cy="3977640"/>
          </a:xfrm>
          <a:prstGeom prst="roundRect">
            <a:avLst>
              <a:gd name="adj" fmla="val 1600"/>
            </a:avLst>
          </a:prstGeom>
          <a:solidFill>
            <a:srgbClr val="F2F2F2"/>
          </a:solidFill>
          <a:ln/>
          <a:effectLst>
            <a:outerShdw sx="100000" sy="100000" kx="0" ky="0" algn="bl" rotWithShape="0" blurRad="101600" dist="25400" dir="5400000">
              <a:srgbClr val="000000">
                <a:alpha val="12000"/>
              </a:srgbClr>
            </a:outerShdw>
          </a:effectLst>
        </p:spPr>
      </p:sp>
      <p:sp>
        <p:nvSpPr>
          <p:cNvPr id="14" name="Text 12"/>
          <p:cNvSpPr txBox="1"/>
          <p:nvPr/>
        </p:nvSpPr>
        <p:spPr>
          <a:xfrm>
            <a:off x="8458200" y="2468880"/>
            <a:ext cx="29718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Onaltılık kısayol</a:t>
            </a:r>
            <a:endParaRPr lang="tr-TR" sz="1500" dirty="0"/>
          </a:p>
        </p:txBody>
      </p:sp>
      <p:sp>
        <p:nvSpPr>
          <p:cNvPr id="15" name="Text 13"/>
          <p:cNvSpPr txBox="1"/>
          <p:nvPr/>
        </p:nvSpPr>
        <p:spPr>
          <a:xfrm>
            <a:off x="8458200" y="2926080"/>
            <a:ext cx="2971800" cy="3200400"/>
          </a:xfrm>
          <a:prstGeom prst="rect">
            <a:avLst/>
          </a:prstGeom>
          <a:noFill/>
          <a:ln/>
        </p:spPr>
        <p:txBody>
          <a:bodyPr wrap="square" lIns="0" tIns="0" rIns="0" bIns="0" rtlCol="0" anchor="t"/>
          <a:lstStyle/>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Bir onaltılık basamak = 4 bit; 4 KB sayfada (12 bit) ofset son 3 onaltılık basamaktır.</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0x3A7F → p = 0x3, d = 0xA7F.</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Ofset değişmeden kopyalanır: yalnızca sayfa numarası çevrilir.</a:t>
            </a:r>
            <a:endParaRPr lang="tr-TR"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ÇÖZÜMLÜ ÖRNEK</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Mantıksal Adres 0x3A7F'nin Çevirisi</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16 bitlik adresler, 4 KB sayfalar (n = 12), sayfa tablosu önceki slaytlardaki.</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6  ·  21</a:t>
            </a:r>
            <a:endParaRPr lang="tr-TR" sz="900" dirty="0"/>
          </a:p>
        </p:txBody>
      </p:sp>
      <p:sp>
        <p:nvSpPr>
          <p:cNvPr id="7" name="Shape 5"/>
          <p:cNvSpPr/>
          <p:nvPr/>
        </p:nvSpPr>
        <p:spPr>
          <a:xfrm>
            <a:off x="548640" y="2240280"/>
            <a:ext cx="1188720" cy="914400"/>
          </a:xfrm>
          <a:prstGeom prst="roundRect">
            <a:avLst>
              <a:gd name="adj" fmla="val 5000"/>
            </a:avLst>
          </a:prstGeom>
          <a:solidFill>
            <a:srgbClr val="36454F"/>
          </a:solidFill>
          <a:ln/>
        </p:spPr>
      </p:sp>
      <p:sp>
        <p:nvSpPr>
          <p:cNvPr id="8" name="Text 6"/>
          <p:cNvSpPr txBox="1"/>
          <p:nvPr/>
        </p:nvSpPr>
        <p:spPr>
          <a:xfrm>
            <a:off x="548640" y="2240280"/>
            <a:ext cx="1188720" cy="914400"/>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İşlemci</a:t>
            </a:r>
            <a:endParaRPr lang="tr-TR" sz="1400" dirty="0"/>
          </a:p>
        </p:txBody>
      </p:sp>
      <p:sp>
        <p:nvSpPr>
          <p:cNvPr id="9" name="Shape 7"/>
          <p:cNvSpPr/>
          <p:nvPr/>
        </p:nvSpPr>
        <p:spPr>
          <a:xfrm>
            <a:off x="2103120" y="2377440"/>
            <a:ext cx="685800" cy="640080"/>
          </a:xfrm>
          <a:prstGeom prst="roundRect">
            <a:avLst>
              <a:gd name="adj" fmla="val 7143"/>
            </a:avLst>
          </a:prstGeom>
          <a:solidFill>
            <a:srgbClr val="02C39A"/>
          </a:solidFill>
          <a:ln/>
        </p:spPr>
      </p:sp>
      <p:sp>
        <p:nvSpPr>
          <p:cNvPr id="10" name="Text 8"/>
          <p:cNvSpPr txBox="1"/>
          <p:nvPr/>
        </p:nvSpPr>
        <p:spPr>
          <a:xfrm>
            <a:off x="2103120" y="2377440"/>
            <a:ext cx="685800" cy="640080"/>
          </a:xfrm>
          <a:prstGeom prst="rect">
            <a:avLst/>
          </a:prstGeom>
          <a:noFill/>
          <a:ln/>
        </p:spPr>
        <p:txBody>
          <a:bodyPr wrap="square" lIns="38100" tIns="38100" rIns="38100" bIns="38100" rtlCol="0" anchor="ctr"/>
          <a:lstStyle/>
          <a:p>
            <a:pPr algn="ctr" indent="0" marL="0">
              <a:buNone/>
            </a:pPr>
            <a:r>
              <a:rPr lang="tr-TR" sz="1800" b="1" dirty="0">
                <a:solidFill>
                  <a:srgbClr val="212121"/>
                </a:solidFill>
                <a:latin typeface="Consolas" pitchFamily="34" charset="0"/>
                <a:ea typeface="Consolas" pitchFamily="34" charset="-122"/>
                <a:cs typeface="Consolas" pitchFamily="34" charset="-120"/>
              </a:rPr>
              <a:t>3</a:t>
            </a:r>
            <a:endParaRPr lang="tr-TR" sz="1800" dirty="0"/>
          </a:p>
        </p:txBody>
      </p:sp>
      <p:sp>
        <p:nvSpPr>
          <p:cNvPr id="11" name="Shape 9"/>
          <p:cNvSpPr/>
          <p:nvPr/>
        </p:nvSpPr>
        <p:spPr>
          <a:xfrm>
            <a:off x="2788920" y="2377440"/>
            <a:ext cx="1005840" cy="640080"/>
          </a:xfrm>
          <a:prstGeom prst="roundRect">
            <a:avLst>
              <a:gd name="adj" fmla="val 7143"/>
            </a:avLst>
          </a:prstGeom>
          <a:solidFill>
            <a:srgbClr val="F2F2F2"/>
          </a:solidFill>
          <a:ln/>
        </p:spPr>
      </p:sp>
      <p:sp>
        <p:nvSpPr>
          <p:cNvPr id="12" name="Text 10"/>
          <p:cNvSpPr txBox="1"/>
          <p:nvPr/>
        </p:nvSpPr>
        <p:spPr>
          <a:xfrm>
            <a:off x="2788920" y="2377440"/>
            <a:ext cx="1005840" cy="640080"/>
          </a:xfrm>
          <a:prstGeom prst="rect">
            <a:avLst/>
          </a:prstGeom>
          <a:noFill/>
          <a:ln/>
        </p:spPr>
        <p:txBody>
          <a:bodyPr wrap="square" lIns="38100" tIns="38100" rIns="38100" bIns="38100" rtlCol="0" anchor="ctr"/>
          <a:lstStyle/>
          <a:p>
            <a:pPr algn="ctr" indent="0" marL="0">
              <a:buNone/>
            </a:pPr>
            <a:r>
              <a:rPr lang="tr-TR" sz="1800" b="1" dirty="0">
                <a:solidFill>
                  <a:srgbClr val="36454F"/>
                </a:solidFill>
                <a:latin typeface="Consolas" pitchFamily="34" charset="0"/>
                <a:ea typeface="Consolas" pitchFamily="34" charset="-122"/>
                <a:cs typeface="Consolas" pitchFamily="34" charset="-120"/>
              </a:rPr>
              <a:t>A7F</a:t>
            </a:r>
            <a:endParaRPr lang="tr-TR" sz="1800" dirty="0"/>
          </a:p>
        </p:txBody>
      </p:sp>
      <p:sp>
        <p:nvSpPr>
          <p:cNvPr id="13" name="Text 11"/>
          <p:cNvSpPr txBox="1"/>
          <p:nvPr/>
        </p:nvSpPr>
        <p:spPr>
          <a:xfrm>
            <a:off x="2103120" y="3035808"/>
            <a:ext cx="685800" cy="256032"/>
          </a:xfrm>
          <a:prstGeom prst="rect">
            <a:avLst/>
          </a:prstGeom>
          <a:noFill/>
          <a:ln/>
        </p:spPr>
        <p:txBody>
          <a:bodyPr wrap="square" lIns="0" tIns="0" rIns="0" bIns="0" rtlCol="0" anchor="t"/>
          <a:lstStyle/>
          <a:p>
            <a:pPr algn="ctr" indent="0" marL="0">
              <a:buNone/>
            </a:pPr>
            <a:r>
              <a:rPr lang="tr-TR" sz="1200" i="1" dirty="0">
                <a:solidFill>
                  <a:srgbClr val="50808E"/>
                </a:solidFill>
                <a:latin typeface="Calibri" pitchFamily="34" charset="0"/>
                <a:ea typeface="Calibri" pitchFamily="34" charset="-122"/>
                <a:cs typeface="Calibri" pitchFamily="34" charset="-120"/>
              </a:rPr>
              <a:t>p</a:t>
            </a:r>
            <a:endParaRPr lang="tr-TR" sz="1200" dirty="0"/>
          </a:p>
        </p:txBody>
      </p:sp>
      <p:sp>
        <p:nvSpPr>
          <p:cNvPr id="14" name="Text 12"/>
          <p:cNvSpPr txBox="1"/>
          <p:nvPr/>
        </p:nvSpPr>
        <p:spPr>
          <a:xfrm>
            <a:off x="2788920" y="3035808"/>
            <a:ext cx="1005840" cy="256032"/>
          </a:xfrm>
          <a:prstGeom prst="rect">
            <a:avLst/>
          </a:prstGeom>
          <a:noFill/>
          <a:ln/>
        </p:spPr>
        <p:txBody>
          <a:bodyPr wrap="square" lIns="0" tIns="0" rIns="0" bIns="0" rtlCol="0" anchor="t"/>
          <a:lstStyle/>
          <a:p>
            <a:pPr algn="ctr" indent="0" marL="0">
              <a:buNone/>
            </a:pPr>
            <a:r>
              <a:rPr lang="tr-TR" sz="1200" i="1" dirty="0">
                <a:solidFill>
                  <a:srgbClr val="50808E"/>
                </a:solidFill>
                <a:latin typeface="Calibri" pitchFamily="34" charset="0"/>
                <a:ea typeface="Calibri" pitchFamily="34" charset="-122"/>
                <a:cs typeface="Calibri" pitchFamily="34" charset="-120"/>
              </a:rPr>
              <a:t>d</a:t>
            </a:r>
            <a:endParaRPr lang="tr-TR" sz="1200" dirty="0"/>
          </a:p>
        </p:txBody>
      </p:sp>
      <p:sp>
        <p:nvSpPr>
          <p:cNvPr id="15" name="Shape 13"/>
          <p:cNvSpPr/>
          <p:nvPr/>
        </p:nvSpPr>
        <p:spPr>
          <a:xfrm>
            <a:off x="1755648" y="2697480"/>
            <a:ext cx="329184" cy="91"/>
          </a:xfrm>
          <a:prstGeom prst="line">
            <a:avLst/>
          </a:prstGeom>
          <a:noFill/>
          <a:ln w="19050">
            <a:solidFill>
              <a:srgbClr val="50808E"/>
            </a:solidFill>
            <a:prstDash val="solid"/>
            <a:tailEnd type="triangle"/>
          </a:ln>
        </p:spPr>
      </p:sp>
      <p:sp>
        <p:nvSpPr>
          <p:cNvPr id="16" name="Shape 14"/>
          <p:cNvSpPr/>
          <p:nvPr/>
        </p:nvSpPr>
        <p:spPr>
          <a:xfrm>
            <a:off x="6949440" y="2377440"/>
            <a:ext cx="685800" cy="640080"/>
          </a:xfrm>
          <a:prstGeom prst="roundRect">
            <a:avLst>
              <a:gd name="adj" fmla="val 7143"/>
            </a:avLst>
          </a:prstGeom>
          <a:solidFill>
            <a:srgbClr val="02C39A"/>
          </a:solidFill>
          <a:ln/>
        </p:spPr>
      </p:sp>
      <p:sp>
        <p:nvSpPr>
          <p:cNvPr id="17" name="Text 15"/>
          <p:cNvSpPr txBox="1"/>
          <p:nvPr/>
        </p:nvSpPr>
        <p:spPr>
          <a:xfrm>
            <a:off x="6949440" y="2377440"/>
            <a:ext cx="685800" cy="640080"/>
          </a:xfrm>
          <a:prstGeom prst="rect">
            <a:avLst/>
          </a:prstGeom>
          <a:noFill/>
          <a:ln/>
        </p:spPr>
        <p:txBody>
          <a:bodyPr wrap="square" lIns="38100" tIns="38100" rIns="38100" bIns="38100" rtlCol="0" anchor="ctr"/>
          <a:lstStyle/>
          <a:p>
            <a:pPr algn="ctr" indent="0" marL="0">
              <a:buNone/>
            </a:pPr>
            <a:r>
              <a:rPr lang="tr-TR" sz="1800" b="1" dirty="0">
                <a:solidFill>
                  <a:srgbClr val="212121"/>
                </a:solidFill>
                <a:latin typeface="Consolas" pitchFamily="34" charset="0"/>
                <a:ea typeface="Consolas" pitchFamily="34" charset="-122"/>
                <a:cs typeface="Consolas" pitchFamily="34" charset="-120"/>
              </a:rPr>
              <a:t>7</a:t>
            </a:r>
            <a:endParaRPr lang="tr-TR" sz="1800" dirty="0"/>
          </a:p>
        </p:txBody>
      </p:sp>
      <p:sp>
        <p:nvSpPr>
          <p:cNvPr id="18" name="Shape 16"/>
          <p:cNvSpPr/>
          <p:nvPr/>
        </p:nvSpPr>
        <p:spPr>
          <a:xfrm>
            <a:off x="7635240" y="2377440"/>
            <a:ext cx="1005840" cy="640080"/>
          </a:xfrm>
          <a:prstGeom prst="roundRect">
            <a:avLst>
              <a:gd name="adj" fmla="val 7143"/>
            </a:avLst>
          </a:prstGeom>
          <a:solidFill>
            <a:srgbClr val="F2F2F2"/>
          </a:solidFill>
          <a:ln/>
        </p:spPr>
      </p:sp>
      <p:sp>
        <p:nvSpPr>
          <p:cNvPr id="19" name="Text 17"/>
          <p:cNvSpPr txBox="1"/>
          <p:nvPr/>
        </p:nvSpPr>
        <p:spPr>
          <a:xfrm>
            <a:off x="7635240" y="2377440"/>
            <a:ext cx="1005840" cy="640080"/>
          </a:xfrm>
          <a:prstGeom prst="rect">
            <a:avLst/>
          </a:prstGeom>
          <a:noFill/>
          <a:ln/>
        </p:spPr>
        <p:txBody>
          <a:bodyPr wrap="square" lIns="38100" tIns="38100" rIns="38100" bIns="38100" rtlCol="0" anchor="ctr"/>
          <a:lstStyle/>
          <a:p>
            <a:pPr algn="ctr" indent="0" marL="0">
              <a:buNone/>
            </a:pPr>
            <a:r>
              <a:rPr lang="tr-TR" sz="1800" b="1" dirty="0">
                <a:solidFill>
                  <a:srgbClr val="36454F"/>
                </a:solidFill>
                <a:latin typeface="Consolas" pitchFamily="34" charset="0"/>
                <a:ea typeface="Consolas" pitchFamily="34" charset="-122"/>
                <a:cs typeface="Consolas" pitchFamily="34" charset="-120"/>
              </a:rPr>
              <a:t>A7F</a:t>
            </a:r>
            <a:endParaRPr lang="tr-TR" sz="1800" dirty="0"/>
          </a:p>
        </p:txBody>
      </p:sp>
      <p:sp>
        <p:nvSpPr>
          <p:cNvPr id="20" name="Text 18"/>
          <p:cNvSpPr txBox="1"/>
          <p:nvPr/>
        </p:nvSpPr>
        <p:spPr>
          <a:xfrm>
            <a:off x="6949440" y="3035808"/>
            <a:ext cx="685800" cy="256032"/>
          </a:xfrm>
          <a:prstGeom prst="rect">
            <a:avLst/>
          </a:prstGeom>
          <a:noFill/>
          <a:ln/>
        </p:spPr>
        <p:txBody>
          <a:bodyPr wrap="square" lIns="0" tIns="0" rIns="0" bIns="0" rtlCol="0" anchor="t"/>
          <a:lstStyle/>
          <a:p>
            <a:pPr algn="ctr" indent="0" marL="0">
              <a:buNone/>
            </a:pPr>
            <a:r>
              <a:rPr lang="tr-TR" sz="1200" i="1" dirty="0">
                <a:solidFill>
                  <a:srgbClr val="50808E"/>
                </a:solidFill>
                <a:latin typeface="Calibri" pitchFamily="34" charset="0"/>
                <a:ea typeface="Calibri" pitchFamily="34" charset="-122"/>
                <a:cs typeface="Calibri" pitchFamily="34" charset="-120"/>
              </a:rPr>
              <a:t>f</a:t>
            </a:r>
            <a:endParaRPr lang="tr-TR" sz="1200" dirty="0"/>
          </a:p>
        </p:txBody>
      </p:sp>
      <p:sp>
        <p:nvSpPr>
          <p:cNvPr id="21" name="Text 19"/>
          <p:cNvSpPr txBox="1"/>
          <p:nvPr/>
        </p:nvSpPr>
        <p:spPr>
          <a:xfrm>
            <a:off x="7635240" y="3035808"/>
            <a:ext cx="1005840" cy="256032"/>
          </a:xfrm>
          <a:prstGeom prst="rect">
            <a:avLst/>
          </a:prstGeom>
          <a:noFill/>
          <a:ln/>
        </p:spPr>
        <p:txBody>
          <a:bodyPr wrap="square" lIns="0" tIns="0" rIns="0" bIns="0" rtlCol="0" anchor="t"/>
          <a:lstStyle/>
          <a:p>
            <a:pPr algn="ctr" indent="0" marL="0">
              <a:buNone/>
            </a:pPr>
            <a:r>
              <a:rPr lang="tr-TR" sz="1200" i="1" dirty="0">
                <a:solidFill>
                  <a:srgbClr val="50808E"/>
                </a:solidFill>
                <a:latin typeface="Calibri" pitchFamily="34" charset="0"/>
                <a:ea typeface="Calibri" pitchFamily="34" charset="-122"/>
                <a:cs typeface="Calibri" pitchFamily="34" charset="-120"/>
              </a:rPr>
              <a:t>d</a:t>
            </a:r>
            <a:endParaRPr lang="tr-TR" sz="1200" dirty="0"/>
          </a:p>
        </p:txBody>
      </p:sp>
      <p:sp>
        <p:nvSpPr>
          <p:cNvPr id="22" name="Shape 20"/>
          <p:cNvSpPr/>
          <p:nvPr/>
        </p:nvSpPr>
        <p:spPr>
          <a:xfrm>
            <a:off x="3291840" y="2148840"/>
            <a:ext cx="0" cy="228600"/>
          </a:xfrm>
          <a:prstGeom prst="line">
            <a:avLst/>
          </a:prstGeom>
          <a:noFill/>
          <a:ln w="15875">
            <a:solidFill>
              <a:srgbClr val="50808E"/>
            </a:solidFill>
            <a:prstDash val="solid"/>
          </a:ln>
        </p:spPr>
      </p:sp>
      <p:sp>
        <p:nvSpPr>
          <p:cNvPr id="23" name="Shape 21"/>
          <p:cNvSpPr/>
          <p:nvPr/>
        </p:nvSpPr>
        <p:spPr>
          <a:xfrm>
            <a:off x="3291840" y="2148840"/>
            <a:ext cx="4846320" cy="0"/>
          </a:xfrm>
          <a:prstGeom prst="line">
            <a:avLst/>
          </a:prstGeom>
          <a:noFill/>
          <a:ln w="15875">
            <a:solidFill>
              <a:srgbClr val="50808E"/>
            </a:solidFill>
            <a:prstDash val="dash"/>
          </a:ln>
        </p:spPr>
      </p:sp>
      <p:sp>
        <p:nvSpPr>
          <p:cNvPr id="24" name="Shape 22"/>
          <p:cNvSpPr/>
          <p:nvPr/>
        </p:nvSpPr>
        <p:spPr>
          <a:xfrm>
            <a:off x="8138160" y="2148840"/>
            <a:ext cx="91" cy="210312"/>
          </a:xfrm>
          <a:prstGeom prst="line">
            <a:avLst/>
          </a:prstGeom>
          <a:noFill/>
          <a:ln w="15875">
            <a:solidFill>
              <a:srgbClr val="50808E"/>
            </a:solidFill>
            <a:prstDash val="solid"/>
            <a:tailEnd type="triangle"/>
          </a:ln>
        </p:spPr>
      </p:sp>
      <p:sp>
        <p:nvSpPr>
          <p:cNvPr id="25" name="Text 23"/>
          <p:cNvSpPr txBox="1"/>
          <p:nvPr/>
        </p:nvSpPr>
        <p:spPr>
          <a:xfrm>
            <a:off x="4023360" y="2194560"/>
            <a:ext cx="3108960" cy="274320"/>
          </a:xfrm>
          <a:prstGeom prst="rect">
            <a:avLst/>
          </a:prstGeom>
          <a:noFill/>
          <a:ln/>
        </p:spPr>
        <p:txBody>
          <a:bodyPr wrap="square" lIns="0" tIns="0" rIns="0" bIns="0" rtlCol="0" anchor="t"/>
          <a:lstStyle/>
          <a:p>
            <a:pPr algn="ctr" indent="0" marL="0">
              <a:buNone/>
            </a:pPr>
            <a:r>
              <a:rPr lang="tr-TR" sz="1100" i="1" dirty="0">
                <a:solidFill>
                  <a:srgbClr val="50808E"/>
                </a:solidFill>
                <a:latin typeface="Calibri" pitchFamily="34" charset="0"/>
                <a:ea typeface="Calibri" pitchFamily="34" charset="-122"/>
                <a:cs typeface="Calibri" pitchFamily="34" charset="-120"/>
              </a:rPr>
              <a:t>ofset d değişmeden kopyalanır</a:t>
            </a:r>
            <a:endParaRPr lang="tr-TR" sz="1100" dirty="0"/>
          </a:p>
        </p:txBody>
      </p:sp>
      <p:sp>
        <p:nvSpPr>
          <p:cNvPr id="26" name="Shape 24"/>
          <p:cNvSpPr/>
          <p:nvPr/>
        </p:nvSpPr>
        <p:spPr>
          <a:xfrm>
            <a:off x="8659368" y="2697480"/>
            <a:ext cx="713232" cy="91"/>
          </a:xfrm>
          <a:prstGeom prst="line">
            <a:avLst/>
          </a:prstGeom>
          <a:noFill/>
          <a:ln w="19050">
            <a:solidFill>
              <a:srgbClr val="50808E"/>
            </a:solidFill>
            <a:prstDash val="solid"/>
            <a:tailEnd type="triangle"/>
          </a:ln>
        </p:spPr>
      </p:sp>
      <p:sp>
        <p:nvSpPr>
          <p:cNvPr id="27" name="Shape 25"/>
          <p:cNvSpPr/>
          <p:nvPr/>
        </p:nvSpPr>
        <p:spPr>
          <a:xfrm>
            <a:off x="9418320" y="2240280"/>
            <a:ext cx="2240280" cy="914400"/>
          </a:xfrm>
          <a:prstGeom prst="roundRect">
            <a:avLst>
              <a:gd name="adj" fmla="val 5000"/>
            </a:avLst>
          </a:prstGeom>
          <a:solidFill>
            <a:srgbClr val="F2F2F2"/>
          </a:solidFill>
          <a:ln/>
        </p:spPr>
      </p:sp>
      <p:sp>
        <p:nvSpPr>
          <p:cNvPr id="28" name="Text 26"/>
          <p:cNvSpPr txBox="1"/>
          <p:nvPr/>
        </p:nvSpPr>
        <p:spPr>
          <a:xfrm>
            <a:off x="9418320" y="2240280"/>
            <a:ext cx="2240280" cy="914400"/>
          </a:xfrm>
          <a:prstGeom prst="rect">
            <a:avLst/>
          </a:prstGeom>
          <a:noFill/>
          <a:ln/>
        </p:spPr>
        <p:txBody>
          <a:bodyPr wrap="square" lIns="38100" tIns="38100" rIns="38100" bIns="38100" rtlCol="0" anchor="ctr"/>
          <a:lstStyle/>
          <a:p>
            <a:pPr algn="ctr" indent="0" marL="0">
              <a:buNone/>
            </a:pPr>
            <a:r>
              <a:rPr lang="tr-TR" sz="1400" b="1" dirty="0">
                <a:solidFill>
                  <a:srgbClr val="36454F"/>
                </a:solidFill>
                <a:latin typeface="Calibri" pitchFamily="34" charset="0"/>
                <a:ea typeface="Calibri" pitchFamily="34" charset="-122"/>
                <a:cs typeface="Calibri" pitchFamily="34" charset="-120"/>
              </a:rPr>
              <a:t>Bellek</a:t>
            </a:r>
            <a:endParaRPr lang="tr-TR" sz="1400" dirty="0"/>
          </a:p>
          <a:p>
            <a:pPr algn="ctr" indent="0" marL="0">
              <a:buNone/>
            </a:pPr>
            <a:r>
              <a:rPr lang="tr-TR" sz="1300" dirty="0">
                <a:solidFill>
                  <a:srgbClr val="36454F"/>
                </a:solidFill>
                <a:latin typeface="Calibri" pitchFamily="34" charset="0"/>
                <a:ea typeface="Calibri" pitchFamily="34" charset="-122"/>
                <a:cs typeface="Calibri" pitchFamily="34" charset="-120"/>
              </a:rPr>
              <a:t>fiziksel 0x7A7F</a:t>
            </a:r>
            <a:endParaRPr lang="tr-TR" sz="1400" dirty="0"/>
          </a:p>
        </p:txBody>
      </p:sp>
      <p:sp>
        <p:nvSpPr>
          <p:cNvPr id="29" name="Text 27"/>
          <p:cNvSpPr txBox="1"/>
          <p:nvPr/>
        </p:nvSpPr>
        <p:spPr>
          <a:xfrm>
            <a:off x="4389120" y="3108960"/>
            <a:ext cx="1920240" cy="274320"/>
          </a:xfrm>
          <a:prstGeom prst="rect">
            <a:avLst/>
          </a:prstGeom>
          <a:noFill/>
          <a:ln/>
        </p:spPr>
        <p:txBody>
          <a:bodyPr wrap="square" lIns="0" tIns="0" rIns="0" bIns="0" rtlCol="0" anchor="t"/>
          <a:lstStyle/>
          <a:p>
            <a:pPr algn="ctr" indent="0" marL="0">
              <a:buNone/>
            </a:pPr>
            <a:r>
              <a:rPr lang="tr-TR" sz="1200" b="1" dirty="0">
                <a:solidFill>
                  <a:srgbClr val="36454F"/>
                </a:solidFill>
                <a:latin typeface="Calibri" pitchFamily="34" charset="0"/>
                <a:ea typeface="Calibri" pitchFamily="34" charset="-122"/>
                <a:cs typeface="Calibri" pitchFamily="34" charset="-120"/>
              </a:rPr>
              <a:t>sayfa tablosu</a:t>
            </a:r>
            <a:endParaRPr lang="tr-TR" sz="1200" dirty="0"/>
          </a:p>
        </p:txBody>
      </p:sp>
      <p:sp>
        <p:nvSpPr>
          <p:cNvPr id="30" name="Shape 28"/>
          <p:cNvSpPr/>
          <p:nvPr/>
        </p:nvSpPr>
        <p:spPr>
          <a:xfrm>
            <a:off x="4572000" y="3429000"/>
            <a:ext cx="502920" cy="420624"/>
          </a:xfrm>
          <a:prstGeom prst="roundRect">
            <a:avLst>
              <a:gd name="adj" fmla="val 10870"/>
            </a:avLst>
          </a:prstGeom>
          <a:solidFill>
            <a:srgbClr val="F2F2F2"/>
          </a:solidFill>
          <a:ln/>
        </p:spPr>
      </p:sp>
      <p:sp>
        <p:nvSpPr>
          <p:cNvPr id="31" name="Text 29"/>
          <p:cNvSpPr txBox="1"/>
          <p:nvPr/>
        </p:nvSpPr>
        <p:spPr>
          <a:xfrm>
            <a:off x="4572000" y="3429000"/>
            <a:ext cx="502920" cy="420624"/>
          </a:xfrm>
          <a:prstGeom prst="rect">
            <a:avLst/>
          </a:prstGeom>
          <a:noFill/>
          <a:ln/>
        </p:spPr>
        <p:txBody>
          <a:bodyPr wrap="square" lIns="38100" tIns="38100" rIns="38100" bIns="38100" rtlCol="0" anchor="ctr"/>
          <a:lstStyle/>
          <a:p>
            <a:pPr algn="ctr" indent="0" marL="0">
              <a:buNone/>
            </a:pPr>
            <a:r>
              <a:rPr lang="tr-TR" sz="1200" dirty="0">
                <a:solidFill>
                  <a:srgbClr val="6B7679"/>
                </a:solidFill>
                <a:latin typeface="Calibri" pitchFamily="34" charset="0"/>
                <a:ea typeface="Calibri" pitchFamily="34" charset="-122"/>
                <a:cs typeface="Calibri" pitchFamily="34" charset="-120"/>
              </a:rPr>
              <a:t>0</a:t>
            </a:r>
            <a:endParaRPr lang="tr-TR" sz="1200" dirty="0"/>
          </a:p>
        </p:txBody>
      </p:sp>
      <p:sp>
        <p:nvSpPr>
          <p:cNvPr id="32" name="Shape 30"/>
          <p:cNvSpPr/>
          <p:nvPr/>
        </p:nvSpPr>
        <p:spPr>
          <a:xfrm>
            <a:off x="5120640" y="3429000"/>
            <a:ext cx="1005840" cy="420624"/>
          </a:xfrm>
          <a:prstGeom prst="roundRect">
            <a:avLst>
              <a:gd name="adj" fmla="val 10870"/>
            </a:avLst>
          </a:prstGeom>
          <a:solidFill>
            <a:srgbClr val="D7E9E6"/>
          </a:solidFill>
          <a:ln/>
        </p:spPr>
      </p:sp>
      <p:sp>
        <p:nvSpPr>
          <p:cNvPr id="33" name="Text 31"/>
          <p:cNvSpPr txBox="1"/>
          <p:nvPr/>
        </p:nvSpPr>
        <p:spPr>
          <a:xfrm>
            <a:off x="5120640" y="3429000"/>
            <a:ext cx="1005840" cy="420624"/>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5</a:t>
            </a:r>
            <a:endParaRPr lang="tr-TR" sz="1400" dirty="0"/>
          </a:p>
        </p:txBody>
      </p:sp>
      <p:sp>
        <p:nvSpPr>
          <p:cNvPr id="34" name="Shape 32"/>
          <p:cNvSpPr/>
          <p:nvPr/>
        </p:nvSpPr>
        <p:spPr>
          <a:xfrm>
            <a:off x="4572000" y="3904488"/>
            <a:ext cx="502920" cy="420624"/>
          </a:xfrm>
          <a:prstGeom prst="roundRect">
            <a:avLst>
              <a:gd name="adj" fmla="val 10870"/>
            </a:avLst>
          </a:prstGeom>
          <a:solidFill>
            <a:srgbClr val="F2F2F2"/>
          </a:solidFill>
          <a:ln/>
        </p:spPr>
      </p:sp>
      <p:sp>
        <p:nvSpPr>
          <p:cNvPr id="35" name="Text 33"/>
          <p:cNvSpPr txBox="1"/>
          <p:nvPr/>
        </p:nvSpPr>
        <p:spPr>
          <a:xfrm>
            <a:off x="4572000" y="3904488"/>
            <a:ext cx="502920" cy="420624"/>
          </a:xfrm>
          <a:prstGeom prst="rect">
            <a:avLst/>
          </a:prstGeom>
          <a:noFill/>
          <a:ln/>
        </p:spPr>
        <p:txBody>
          <a:bodyPr wrap="square" lIns="38100" tIns="38100" rIns="38100" bIns="38100" rtlCol="0" anchor="ctr"/>
          <a:lstStyle/>
          <a:p>
            <a:pPr algn="ctr" indent="0" marL="0">
              <a:buNone/>
            </a:pPr>
            <a:r>
              <a:rPr lang="tr-TR" sz="1200" dirty="0">
                <a:solidFill>
                  <a:srgbClr val="6B7679"/>
                </a:solidFill>
                <a:latin typeface="Calibri" pitchFamily="34" charset="0"/>
                <a:ea typeface="Calibri" pitchFamily="34" charset="-122"/>
                <a:cs typeface="Calibri" pitchFamily="34" charset="-120"/>
              </a:rPr>
              <a:t>1</a:t>
            </a:r>
            <a:endParaRPr lang="tr-TR" sz="1200" dirty="0"/>
          </a:p>
        </p:txBody>
      </p:sp>
      <p:sp>
        <p:nvSpPr>
          <p:cNvPr id="36" name="Shape 34"/>
          <p:cNvSpPr/>
          <p:nvPr/>
        </p:nvSpPr>
        <p:spPr>
          <a:xfrm>
            <a:off x="5120640" y="3904488"/>
            <a:ext cx="1005840" cy="420624"/>
          </a:xfrm>
          <a:prstGeom prst="roundRect">
            <a:avLst>
              <a:gd name="adj" fmla="val 10870"/>
            </a:avLst>
          </a:prstGeom>
          <a:solidFill>
            <a:srgbClr val="D7E9E6"/>
          </a:solidFill>
          <a:ln/>
        </p:spPr>
      </p:sp>
      <p:sp>
        <p:nvSpPr>
          <p:cNvPr id="37" name="Text 35"/>
          <p:cNvSpPr txBox="1"/>
          <p:nvPr/>
        </p:nvSpPr>
        <p:spPr>
          <a:xfrm>
            <a:off x="5120640" y="3904488"/>
            <a:ext cx="1005840" cy="420624"/>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9</a:t>
            </a:r>
            <a:endParaRPr lang="tr-TR" sz="1400" dirty="0"/>
          </a:p>
        </p:txBody>
      </p:sp>
      <p:sp>
        <p:nvSpPr>
          <p:cNvPr id="38" name="Shape 36"/>
          <p:cNvSpPr/>
          <p:nvPr/>
        </p:nvSpPr>
        <p:spPr>
          <a:xfrm>
            <a:off x="4572000" y="4379976"/>
            <a:ext cx="502920" cy="420624"/>
          </a:xfrm>
          <a:prstGeom prst="roundRect">
            <a:avLst>
              <a:gd name="adj" fmla="val 10870"/>
            </a:avLst>
          </a:prstGeom>
          <a:solidFill>
            <a:srgbClr val="F2F2F2"/>
          </a:solidFill>
          <a:ln/>
        </p:spPr>
      </p:sp>
      <p:sp>
        <p:nvSpPr>
          <p:cNvPr id="39" name="Text 37"/>
          <p:cNvSpPr txBox="1"/>
          <p:nvPr/>
        </p:nvSpPr>
        <p:spPr>
          <a:xfrm>
            <a:off x="4572000" y="4379976"/>
            <a:ext cx="502920" cy="420624"/>
          </a:xfrm>
          <a:prstGeom prst="rect">
            <a:avLst/>
          </a:prstGeom>
          <a:noFill/>
          <a:ln/>
        </p:spPr>
        <p:txBody>
          <a:bodyPr wrap="square" lIns="38100" tIns="38100" rIns="38100" bIns="38100" rtlCol="0" anchor="ctr"/>
          <a:lstStyle/>
          <a:p>
            <a:pPr algn="ctr" indent="0" marL="0">
              <a:buNone/>
            </a:pPr>
            <a:r>
              <a:rPr lang="tr-TR" sz="1200" dirty="0">
                <a:solidFill>
                  <a:srgbClr val="6B7679"/>
                </a:solidFill>
                <a:latin typeface="Calibri" pitchFamily="34" charset="0"/>
                <a:ea typeface="Calibri" pitchFamily="34" charset="-122"/>
                <a:cs typeface="Calibri" pitchFamily="34" charset="-120"/>
              </a:rPr>
              <a:t>2</a:t>
            </a:r>
            <a:endParaRPr lang="tr-TR" sz="1200" dirty="0"/>
          </a:p>
        </p:txBody>
      </p:sp>
      <p:sp>
        <p:nvSpPr>
          <p:cNvPr id="40" name="Shape 38"/>
          <p:cNvSpPr/>
          <p:nvPr/>
        </p:nvSpPr>
        <p:spPr>
          <a:xfrm>
            <a:off x="5120640" y="4379976"/>
            <a:ext cx="1005840" cy="420624"/>
          </a:xfrm>
          <a:prstGeom prst="roundRect">
            <a:avLst>
              <a:gd name="adj" fmla="val 10870"/>
            </a:avLst>
          </a:prstGeom>
          <a:solidFill>
            <a:srgbClr val="D7E9E6"/>
          </a:solidFill>
          <a:ln/>
        </p:spPr>
      </p:sp>
      <p:sp>
        <p:nvSpPr>
          <p:cNvPr id="41" name="Text 39"/>
          <p:cNvSpPr txBox="1"/>
          <p:nvPr/>
        </p:nvSpPr>
        <p:spPr>
          <a:xfrm>
            <a:off x="5120640" y="4379976"/>
            <a:ext cx="1005840" cy="420624"/>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1</a:t>
            </a:r>
            <a:endParaRPr lang="tr-TR" sz="1400" dirty="0"/>
          </a:p>
        </p:txBody>
      </p:sp>
      <p:sp>
        <p:nvSpPr>
          <p:cNvPr id="42" name="Shape 40"/>
          <p:cNvSpPr/>
          <p:nvPr/>
        </p:nvSpPr>
        <p:spPr>
          <a:xfrm>
            <a:off x="4572000" y="4855464"/>
            <a:ext cx="502920" cy="420624"/>
          </a:xfrm>
          <a:prstGeom prst="roundRect">
            <a:avLst>
              <a:gd name="adj" fmla="val 10870"/>
            </a:avLst>
          </a:prstGeom>
          <a:solidFill>
            <a:srgbClr val="F2F2F2"/>
          </a:solidFill>
          <a:ln/>
        </p:spPr>
      </p:sp>
      <p:sp>
        <p:nvSpPr>
          <p:cNvPr id="43" name="Text 41"/>
          <p:cNvSpPr txBox="1"/>
          <p:nvPr/>
        </p:nvSpPr>
        <p:spPr>
          <a:xfrm>
            <a:off x="4572000" y="4855464"/>
            <a:ext cx="502920" cy="420624"/>
          </a:xfrm>
          <a:prstGeom prst="rect">
            <a:avLst/>
          </a:prstGeom>
          <a:noFill/>
          <a:ln/>
        </p:spPr>
        <p:txBody>
          <a:bodyPr wrap="square" lIns="38100" tIns="38100" rIns="38100" bIns="38100" rtlCol="0" anchor="ctr"/>
          <a:lstStyle/>
          <a:p>
            <a:pPr algn="ctr" indent="0" marL="0">
              <a:buNone/>
            </a:pPr>
            <a:r>
              <a:rPr lang="tr-TR" sz="1200" dirty="0">
                <a:solidFill>
                  <a:srgbClr val="6B7679"/>
                </a:solidFill>
                <a:latin typeface="Calibri" pitchFamily="34" charset="0"/>
                <a:ea typeface="Calibri" pitchFamily="34" charset="-122"/>
                <a:cs typeface="Calibri" pitchFamily="34" charset="-120"/>
              </a:rPr>
              <a:t>3</a:t>
            </a:r>
            <a:endParaRPr lang="tr-TR" sz="1200" dirty="0"/>
          </a:p>
        </p:txBody>
      </p:sp>
      <p:sp>
        <p:nvSpPr>
          <p:cNvPr id="44" name="Shape 42"/>
          <p:cNvSpPr/>
          <p:nvPr/>
        </p:nvSpPr>
        <p:spPr>
          <a:xfrm>
            <a:off x="5120640" y="4855464"/>
            <a:ext cx="1005840" cy="420624"/>
          </a:xfrm>
          <a:prstGeom prst="roundRect">
            <a:avLst>
              <a:gd name="adj" fmla="val 10870"/>
            </a:avLst>
          </a:prstGeom>
          <a:solidFill>
            <a:srgbClr val="02C39A"/>
          </a:solidFill>
          <a:ln/>
        </p:spPr>
      </p:sp>
      <p:sp>
        <p:nvSpPr>
          <p:cNvPr id="45" name="Text 43"/>
          <p:cNvSpPr txBox="1"/>
          <p:nvPr/>
        </p:nvSpPr>
        <p:spPr>
          <a:xfrm>
            <a:off x="5120640" y="4855464"/>
            <a:ext cx="1005840" cy="420624"/>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7</a:t>
            </a:r>
            <a:endParaRPr lang="tr-TR" sz="1400" dirty="0"/>
          </a:p>
        </p:txBody>
      </p:sp>
      <p:sp>
        <p:nvSpPr>
          <p:cNvPr id="46" name="Shape 44"/>
          <p:cNvSpPr/>
          <p:nvPr/>
        </p:nvSpPr>
        <p:spPr>
          <a:xfrm>
            <a:off x="4572000" y="5330952"/>
            <a:ext cx="502920" cy="420624"/>
          </a:xfrm>
          <a:prstGeom prst="roundRect">
            <a:avLst>
              <a:gd name="adj" fmla="val 10870"/>
            </a:avLst>
          </a:prstGeom>
          <a:solidFill>
            <a:srgbClr val="F2F2F2"/>
          </a:solidFill>
          <a:ln/>
        </p:spPr>
      </p:sp>
      <p:sp>
        <p:nvSpPr>
          <p:cNvPr id="47" name="Text 45"/>
          <p:cNvSpPr txBox="1"/>
          <p:nvPr/>
        </p:nvSpPr>
        <p:spPr>
          <a:xfrm>
            <a:off x="4572000" y="5330952"/>
            <a:ext cx="502920" cy="420624"/>
          </a:xfrm>
          <a:prstGeom prst="rect">
            <a:avLst/>
          </a:prstGeom>
          <a:noFill/>
          <a:ln/>
        </p:spPr>
        <p:txBody>
          <a:bodyPr wrap="square" lIns="38100" tIns="38100" rIns="38100" bIns="38100" rtlCol="0" anchor="ctr"/>
          <a:lstStyle/>
          <a:p>
            <a:pPr algn="ctr" indent="0" marL="0">
              <a:buNone/>
            </a:pPr>
            <a:r>
              <a:rPr lang="tr-TR" sz="1200" dirty="0">
                <a:solidFill>
                  <a:srgbClr val="6B7679"/>
                </a:solidFill>
                <a:latin typeface="Calibri" pitchFamily="34" charset="0"/>
                <a:ea typeface="Calibri" pitchFamily="34" charset="-122"/>
                <a:cs typeface="Calibri" pitchFamily="34" charset="-120"/>
              </a:rPr>
              <a:t>4</a:t>
            </a:r>
            <a:endParaRPr lang="tr-TR" sz="1200" dirty="0"/>
          </a:p>
        </p:txBody>
      </p:sp>
      <p:sp>
        <p:nvSpPr>
          <p:cNvPr id="48" name="Shape 46"/>
          <p:cNvSpPr/>
          <p:nvPr/>
        </p:nvSpPr>
        <p:spPr>
          <a:xfrm>
            <a:off x="5120640" y="5330952"/>
            <a:ext cx="1005840" cy="420624"/>
          </a:xfrm>
          <a:prstGeom prst="roundRect">
            <a:avLst>
              <a:gd name="adj" fmla="val 10870"/>
            </a:avLst>
          </a:prstGeom>
          <a:solidFill>
            <a:srgbClr val="D7E9E6"/>
          </a:solidFill>
          <a:ln/>
        </p:spPr>
      </p:sp>
      <p:sp>
        <p:nvSpPr>
          <p:cNvPr id="49" name="Text 47"/>
          <p:cNvSpPr txBox="1"/>
          <p:nvPr/>
        </p:nvSpPr>
        <p:spPr>
          <a:xfrm>
            <a:off x="5120640" y="5330952"/>
            <a:ext cx="1005840" cy="420624"/>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12</a:t>
            </a:r>
            <a:endParaRPr lang="tr-TR" sz="1400" dirty="0"/>
          </a:p>
        </p:txBody>
      </p:sp>
      <p:sp>
        <p:nvSpPr>
          <p:cNvPr id="50" name="Shape 48"/>
          <p:cNvSpPr/>
          <p:nvPr/>
        </p:nvSpPr>
        <p:spPr>
          <a:xfrm>
            <a:off x="2441448" y="3310128"/>
            <a:ext cx="2084832" cy="1755648"/>
          </a:xfrm>
          <a:prstGeom prst="line">
            <a:avLst/>
          </a:prstGeom>
          <a:noFill/>
          <a:ln w="22225">
            <a:solidFill>
              <a:srgbClr val="028090"/>
            </a:solidFill>
            <a:prstDash val="solid"/>
            <a:tailEnd type="triangle"/>
          </a:ln>
        </p:spPr>
      </p:sp>
      <p:sp>
        <p:nvSpPr>
          <p:cNvPr id="51" name="Text 49"/>
          <p:cNvSpPr txBox="1"/>
          <p:nvPr/>
        </p:nvSpPr>
        <p:spPr>
          <a:xfrm>
            <a:off x="1188720" y="4343400"/>
            <a:ext cx="1828800" cy="274320"/>
          </a:xfrm>
          <a:prstGeom prst="rect">
            <a:avLst/>
          </a:prstGeom>
          <a:noFill/>
          <a:ln/>
        </p:spPr>
        <p:txBody>
          <a:bodyPr wrap="square" lIns="0" tIns="0" rIns="0" bIns="0" rtlCol="0" anchor="t"/>
          <a:lstStyle/>
          <a:p>
            <a:pPr indent="0" marL="0">
              <a:buNone/>
            </a:pPr>
            <a:r>
              <a:rPr lang="tr-TR" sz="1200" b="1" dirty="0">
                <a:solidFill>
                  <a:srgbClr val="028090"/>
                </a:solidFill>
                <a:latin typeface="Calibri" pitchFamily="34" charset="0"/>
                <a:ea typeface="Calibri" pitchFamily="34" charset="-122"/>
                <a:cs typeface="Calibri" pitchFamily="34" charset="-120"/>
              </a:rPr>
              <a:t>① p = 3'e bak</a:t>
            </a:r>
            <a:endParaRPr lang="tr-TR" sz="1200" dirty="0"/>
          </a:p>
        </p:txBody>
      </p:sp>
      <p:sp>
        <p:nvSpPr>
          <p:cNvPr id="52" name="Shape 50"/>
          <p:cNvSpPr/>
          <p:nvPr/>
        </p:nvSpPr>
        <p:spPr>
          <a:xfrm flipV="1">
            <a:off x="6144768" y="3035808"/>
            <a:ext cx="914400" cy="2029968"/>
          </a:xfrm>
          <a:prstGeom prst="line">
            <a:avLst/>
          </a:prstGeom>
          <a:noFill/>
          <a:ln w="22225">
            <a:solidFill>
              <a:srgbClr val="028090"/>
            </a:solidFill>
            <a:prstDash val="solid"/>
            <a:tailEnd type="triangle"/>
          </a:ln>
        </p:spPr>
      </p:sp>
      <p:sp>
        <p:nvSpPr>
          <p:cNvPr id="53" name="Text 51"/>
          <p:cNvSpPr txBox="1"/>
          <p:nvPr/>
        </p:nvSpPr>
        <p:spPr>
          <a:xfrm>
            <a:off x="7360920" y="3200400"/>
            <a:ext cx="1463040" cy="274320"/>
          </a:xfrm>
          <a:prstGeom prst="rect">
            <a:avLst/>
          </a:prstGeom>
          <a:noFill/>
          <a:ln/>
        </p:spPr>
        <p:txBody>
          <a:bodyPr wrap="square" lIns="0" tIns="0" rIns="0" bIns="0" rtlCol="0" anchor="t"/>
          <a:lstStyle/>
          <a:p>
            <a:pPr indent="0" marL="0">
              <a:buNone/>
            </a:pPr>
            <a:r>
              <a:rPr lang="tr-TR" sz="1200" b="1" dirty="0">
                <a:solidFill>
                  <a:srgbClr val="028090"/>
                </a:solidFill>
                <a:latin typeface="Calibri" pitchFamily="34" charset="0"/>
                <a:ea typeface="Calibri" pitchFamily="34" charset="-122"/>
                <a:cs typeface="Calibri" pitchFamily="34" charset="-120"/>
              </a:rPr>
              <a:t>② çerçeve 7</a:t>
            </a:r>
            <a:endParaRPr lang="tr-TR" sz="1200" dirty="0"/>
          </a:p>
        </p:txBody>
      </p:sp>
      <p:sp>
        <p:nvSpPr>
          <p:cNvPr id="54" name="Shape 52"/>
          <p:cNvSpPr/>
          <p:nvPr/>
        </p:nvSpPr>
        <p:spPr>
          <a:xfrm>
            <a:off x="7086600" y="3657600"/>
            <a:ext cx="4572000" cy="2606040"/>
          </a:xfrm>
          <a:prstGeom prst="roundRect">
            <a:avLst>
              <a:gd name="adj" fmla="val 1754"/>
            </a:avLst>
          </a:prstGeom>
          <a:solidFill>
            <a:srgbClr val="212121"/>
          </a:solidFill>
          <a:ln/>
        </p:spPr>
      </p:sp>
      <p:sp>
        <p:nvSpPr>
          <p:cNvPr id="55" name="Text 53"/>
          <p:cNvSpPr txBox="1"/>
          <p:nvPr/>
        </p:nvSpPr>
        <p:spPr>
          <a:xfrm>
            <a:off x="7269480" y="3767328"/>
            <a:ext cx="4206240" cy="2386584"/>
          </a:xfrm>
          <a:prstGeom prst="rect">
            <a:avLst/>
          </a:prstGeom>
          <a:noFill/>
          <a:ln/>
        </p:spPr>
        <p:txBody>
          <a:bodyPr wrap="square" lIns="0" tIns="0" rIns="0" bIns="0" rtlCol="0" anchor="t"/>
          <a:lstStyle/>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0x3A7F   = 14975</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p = 14975 div 4096 = 3</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d = 14975 mod 4096 = 2687 = 0xA7F</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sayfa_tablosu[3] = 7</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fiziksel = 7 × 4096 + 2687</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 31359 = 0x7A7F   ✓</a:t>
            </a:r>
            <a:endParaRPr lang="tr-TR" sz="1300" dirty="0"/>
          </a:p>
        </p:txBody>
      </p:sp>
      <p:sp>
        <p:nvSpPr>
          <p:cNvPr id="56" name="Shape 54"/>
          <p:cNvSpPr/>
          <p:nvPr/>
        </p:nvSpPr>
        <p:spPr>
          <a:xfrm>
            <a:off x="548640" y="5074920"/>
            <a:ext cx="3520440" cy="1188720"/>
          </a:xfrm>
          <a:prstGeom prst="roundRect">
            <a:avLst>
              <a:gd name="adj" fmla="val 4615"/>
            </a:avLst>
          </a:prstGeom>
          <a:solidFill>
            <a:srgbClr val="36454F"/>
          </a:solidFill>
          <a:ln/>
          <a:effectLst>
            <a:outerShdw sx="100000" sy="100000" kx="0" ky="0" algn="bl" rotWithShape="0" blurRad="101600" dist="25400" dir="5400000">
              <a:srgbClr val="000000">
                <a:alpha val="12000"/>
              </a:srgbClr>
            </a:outerShdw>
          </a:effectLst>
        </p:spPr>
      </p:sp>
      <p:sp>
        <p:nvSpPr>
          <p:cNvPr id="57" name="Text 55"/>
          <p:cNvSpPr txBox="1"/>
          <p:nvPr/>
        </p:nvSpPr>
        <p:spPr>
          <a:xfrm>
            <a:off x="777240" y="5074920"/>
            <a:ext cx="3063240" cy="1188720"/>
          </a:xfrm>
          <a:prstGeom prst="rect">
            <a:avLst/>
          </a:prstGeom>
          <a:noFill/>
          <a:ln/>
        </p:spPr>
        <p:txBody>
          <a:bodyPr wrap="square" lIns="0" tIns="0" rIns="0" bIns="0" rtlCol="0" anchor="ctr"/>
          <a:lstStyle/>
          <a:p>
            <a:pPr indent="0" marL="0">
              <a:buNone/>
            </a:pPr>
            <a:r>
              <a:rPr lang="tr-TR" sz="1300" dirty="0">
                <a:solidFill>
                  <a:srgbClr val="F2F2F2"/>
                </a:solidFill>
                <a:latin typeface="Calibri" pitchFamily="34" charset="0"/>
                <a:ea typeface="Calibri" pitchFamily="34" charset="-122"/>
                <a:cs typeface="Calibri" pitchFamily="34" charset="-120"/>
              </a:rPr>
              <a:t>Onaltılık kısayol: ilk basamağı (sayfa) çerçeveyle değiştirin: 0x3A7F → 0x7A7F.</a:t>
            </a:r>
            <a:endParaRPr lang="tr-TR"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SAYFALAMA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İç Parçalanma ve Sayfa Boyu Seçimi</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Sayfalamada dış parçalanma yoktur; ancak bir sürecin son sayfası genellikle dolu değildir.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6  ·  22</a:t>
            </a:r>
            <a:endParaRPr lang="tr-TR" sz="900" dirty="0"/>
          </a:p>
        </p:txBody>
      </p:sp>
      <p:sp>
        <p:nvSpPr>
          <p:cNvPr id="7" name="Shape 5"/>
          <p:cNvSpPr/>
          <p:nvPr/>
        </p:nvSpPr>
        <p:spPr>
          <a:xfrm>
            <a:off x="548640" y="2103120"/>
            <a:ext cx="5486400" cy="2148840"/>
          </a:xfrm>
          <a:prstGeom prst="roundRect">
            <a:avLst>
              <a:gd name="adj" fmla="val 2128"/>
            </a:avLst>
          </a:prstGeom>
          <a:solidFill>
            <a:srgbClr val="212121"/>
          </a:solidFill>
          <a:ln/>
        </p:spPr>
      </p:sp>
      <p:sp>
        <p:nvSpPr>
          <p:cNvPr id="8" name="Text 6"/>
          <p:cNvSpPr txBox="1"/>
          <p:nvPr/>
        </p:nvSpPr>
        <p:spPr>
          <a:xfrm>
            <a:off x="731520" y="2212848"/>
            <a:ext cx="5120640" cy="1929384"/>
          </a:xfrm>
          <a:prstGeom prst="rect">
            <a:avLst/>
          </a:prstGeom>
          <a:noFill/>
          <a:ln/>
        </p:spPr>
        <p:txBody>
          <a:bodyPr wrap="square" lIns="0" tIns="0" rIns="0" bIns="0" rtlCol="0" anchor="t"/>
          <a:lstStyle/>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Süreç boyu     10000 bayt</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Sayfa boyu      4096 bayt</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 </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10000 = 2 × 4096 + 1808</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 3 çerçeve, sonuncusunda 1808 bayt</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 iç parçalanma = 2288 bayt</a:t>
            </a:r>
            <a:endParaRPr lang="tr-TR" sz="1350" dirty="0"/>
          </a:p>
        </p:txBody>
      </p:sp>
      <p:sp>
        <p:nvSpPr>
          <p:cNvPr id="9" name="Shape 7"/>
          <p:cNvSpPr/>
          <p:nvPr/>
        </p:nvSpPr>
        <p:spPr>
          <a:xfrm>
            <a:off x="548640" y="4526280"/>
            <a:ext cx="1828800" cy="640080"/>
          </a:xfrm>
          <a:prstGeom prst="rect">
            <a:avLst/>
          </a:prstGeom>
          <a:solidFill>
            <a:srgbClr val="02C39A"/>
          </a:solidFill>
          <a:ln w="12700">
            <a:solidFill>
              <a:srgbClr val="FFFFFF"/>
            </a:solidFill>
            <a:prstDash val="solid"/>
          </a:ln>
        </p:spPr>
      </p:sp>
      <p:sp>
        <p:nvSpPr>
          <p:cNvPr id="10" name="Text 8"/>
          <p:cNvSpPr txBox="1"/>
          <p:nvPr/>
        </p:nvSpPr>
        <p:spPr>
          <a:xfrm>
            <a:off x="548640" y="4526280"/>
            <a:ext cx="1828800" cy="640080"/>
          </a:xfrm>
          <a:prstGeom prst="rect">
            <a:avLst/>
          </a:prstGeom>
          <a:noFill/>
          <a:ln/>
        </p:spPr>
        <p:txBody>
          <a:bodyPr wrap="square" lIns="0" tIns="0" rIns="0" bIns="0" rtlCol="0" anchor="ctr"/>
          <a:lstStyle/>
          <a:p>
            <a:pPr algn="ctr" indent="0" marL="0">
              <a:buNone/>
            </a:pPr>
            <a:r>
              <a:rPr lang="tr-TR" sz="1150" b="1" dirty="0">
                <a:solidFill>
                  <a:srgbClr val="212121"/>
                </a:solidFill>
                <a:latin typeface="Calibri" pitchFamily="34" charset="0"/>
                <a:ea typeface="Calibri" pitchFamily="34" charset="-122"/>
                <a:cs typeface="Calibri" pitchFamily="34" charset="-120"/>
              </a:rPr>
              <a:t>sayfa 0: dolu</a:t>
            </a:r>
            <a:endParaRPr lang="tr-TR" sz="1150" dirty="0"/>
          </a:p>
        </p:txBody>
      </p:sp>
      <p:sp>
        <p:nvSpPr>
          <p:cNvPr id="11" name="Shape 9"/>
          <p:cNvSpPr/>
          <p:nvPr/>
        </p:nvSpPr>
        <p:spPr>
          <a:xfrm>
            <a:off x="2377440" y="4526280"/>
            <a:ext cx="1828800" cy="640080"/>
          </a:xfrm>
          <a:prstGeom prst="rect">
            <a:avLst/>
          </a:prstGeom>
          <a:solidFill>
            <a:srgbClr val="02C39A"/>
          </a:solidFill>
          <a:ln w="12700">
            <a:solidFill>
              <a:srgbClr val="FFFFFF"/>
            </a:solidFill>
            <a:prstDash val="solid"/>
          </a:ln>
        </p:spPr>
      </p:sp>
      <p:sp>
        <p:nvSpPr>
          <p:cNvPr id="12" name="Text 10"/>
          <p:cNvSpPr txBox="1"/>
          <p:nvPr/>
        </p:nvSpPr>
        <p:spPr>
          <a:xfrm>
            <a:off x="2377440" y="4526280"/>
            <a:ext cx="1828800" cy="640080"/>
          </a:xfrm>
          <a:prstGeom prst="rect">
            <a:avLst/>
          </a:prstGeom>
          <a:noFill/>
          <a:ln/>
        </p:spPr>
        <p:txBody>
          <a:bodyPr wrap="square" lIns="0" tIns="0" rIns="0" bIns="0" rtlCol="0" anchor="ctr"/>
          <a:lstStyle/>
          <a:p>
            <a:pPr algn="ctr" indent="0" marL="0">
              <a:buNone/>
            </a:pPr>
            <a:r>
              <a:rPr lang="tr-TR" sz="1150" b="1" dirty="0">
                <a:solidFill>
                  <a:srgbClr val="212121"/>
                </a:solidFill>
                <a:latin typeface="Calibri" pitchFamily="34" charset="0"/>
                <a:ea typeface="Calibri" pitchFamily="34" charset="-122"/>
                <a:cs typeface="Calibri" pitchFamily="34" charset="-120"/>
              </a:rPr>
              <a:t>sayfa 1: dolu</a:t>
            </a:r>
            <a:endParaRPr lang="tr-TR" sz="1150" dirty="0"/>
          </a:p>
        </p:txBody>
      </p:sp>
      <p:sp>
        <p:nvSpPr>
          <p:cNvPr id="13" name="Shape 11"/>
          <p:cNvSpPr/>
          <p:nvPr/>
        </p:nvSpPr>
        <p:spPr>
          <a:xfrm>
            <a:off x="4206240" y="4526280"/>
            <a:ext cx="807244" cy="640080"/>
          </a:xfrm>
          <a:prstGeom prst="rect">
            <a:avLst/>
          </a:prstGeom>
          <a:solidFill>
            <a:srgbClr val="02C39A"/>
          </a:solidFill>
          <a:ln w="12700">
            <a:solidFill>
              <a:srgbClr val="FFFFFF"/>
            </a:solidFill>
            <a:prstDash val="solid"/>
          </a:ln>
        </p:spPr>
      </p:sp>
      <p:sp>
        <p:nvSpPr>
          <p:cNvPr id="14" name="Text 12"/>
          <p:cNvSpPr txBox="1"/>
          <p:nvPr/>
        </p:nvSpPr>
        <p:spPr>
          <a:xfrm>
            <a:off x="4206240" y="4526280"/>
            <a:ext cx="807244" cy="640080"/>
          </a:xfrm>
          <a:prstGeom prst="rect">
            <a:avLst/>
          </a:prstGeom>
          <a:noFill/>
          <a:ln/>
        </p:spPr>
        <p:txBody>
          <a:bodyPr wrap="square" lIns="0" tIns="0" rIns="0" bIns="0" rtlCol="0" anchor="ctr"/>
          <a:lstStyle/>
          <a:p>
            <a:pPr algn="ctr" indent="0" marL="0">
              <a:buNone/>
            </a:pPr>
            <a:r>
              <a:rPr lang="tr-TR" sz="1150" b="1" dirty="0">
                <a:solidFill>
                  <a:srgbClr val="212121"/>
                </a:solidFill>
                <a:latin typeface="Calibri" pitchFamily="34" charset="0"/>
                <a:ea typeface="Calibri" pitchFamily="34" charset="-122"/>
                <a:cs typeface="Calibri" pitchFamily="34" charset="-120"/>
              </a:rPr>
              <a:t>1808 dolu</a:t>
            </a:r>
            <a:endParaRPr lang="tr-TR" sz="1150" dirty="0"/>
          </a:p>
        </p:txBody>
      </p:sp>
      <p:sp>
        <p:nvSpPr>
          <p:cNvPr id="15" name="Shape 13"/>
          <p:cNvSpPr/>
          <p:nvPr/>
        </p:nvSpPr>
        <p:spPr>
          <a:xfrm>
            <a:off x="5013484" y="4526280"/>
            <a:ext cx="1021556" cy="640080"/>
          </a:xfrm>
          <a:prstGeom prst="rect">
            <a:avLst/>
          </a:prstGeom>
          <a:solidFill>
            <a:srgbClr val="FFFFFF"/>
          </a:solidFill>
          <a:ln w="15875">
            <a:solidFill>
              <a:srgbClr val="B5453A"/>
            </a:solidFill>
            <a:prstDash val="dash"/>
          </a:ln>
        </p:spPr>
      </p:sp>
      <p:sp>
        <p:nvSpPr>
          <p:cNvPr id="16" name="Text 14"/>
          <p:cNvSpPr txBox="1"/>
          <p:nvPr/>
        </p:nvSpPr>
        <p:spPr>
          <a:xfrm>
            <a:off x="5013484" y="4526280"/>
            <a:ext cx="1021556" cy="640080"/>
          </a:xfrm>
          <a:prstGeom prst="rect">
            <a:avLst/>
          </a:prstGeom>
          <a:noFill/>
          <a:ln/>
        </p:spPr>
        <p:txBody>
          <a:bodyPr wrap="square" lIns="0" tIns="0" rIns="0" bIns="0" rtlCol="0" anchor="ctr"/>
          <a:lstStyle/>
          <a:p>
            <a:pPr algn="ctr" indent="0" marL="0">
              <a:buNone/>
            </a:pPr>
            <a:r>
              <a:rPr lang="tr-TR" sz="1150" b="1" dirty="0">
                <a:solidFill>
                  <a:srgbClr val="B5453A"/>
                </a:solidFill>
                <a:latin typeface="Calibri" pitchFamily="34" charset="0"/>
                <a:ea typeface="Calibri" pitchFamily="34" charset="-122"/>
                <a:cs typeface="Calibri" pitchFamily="34" charset="-120"/>
              </a:rPr>
              <a:t>2288 boşa</a:t>
            </a:r>
            <a:endParaRPr lang="tr-TR" sz="1150" dirty="0"/>
          </a:p>
        </p:txBody>
      </p:sp>
      <p:sp>
        <p:nvSpPr>
          <p:cNvPr id="17" name="Text 15"/>
          <p:cNvSpPr txBox="1"/>
          <p:nvPr/>
        </p:nvSpPr>
        <p:spPr>
          <a:xfrm>
            <a:off x="548640" y="5212080"/>
            <a:ext cx="5486400" cy="274320"/>
          </a:xfrm>
          <a:prstGeom prst="rect">
            <a:avLst/>
          </a:prstGeom>
          <a:noFill/>
          <a:ln/>
        </p:spPr>
        <p:txBody>
          <a:bodyPr wrap="square" lIns="0" tIns="0" rIns="0" bIns="0" rtlCol="0" anchor="t"/>
          <a:lstStyle/>
          <a:p>
            <a:pPr indent="0" marL="0">
              <a:buNone/>
            </a:pPr>
            <a:r>
              <a:rPr lang="tr-TR" sz="1100" i="1" dirty="0">
                <a:solidFill>
                  <a:srgbClr val="6B7679"/>
                </a:solidFill>
                <a:latin typeface="Calibri" pitchFamily="34" charset="0"/>
                <a:ea typeface="Calibri" pitchFamily="34" charset="-122"/>
                <a:cs typeface="Calibri" pitchFamily="34" charset="-120"/>
              </a:rPr>
              <a:t>her 4096 baytta bir çerçeve sınırı</a:t>
            </a:r>
            <a:endParaRPr lang="tr-TR" sz="1100" dirty="0"/>
          </a:p>
        </p:txBody>
      </p:sp>
      <p:sp>
        <p:nvSpPr>
          <p:cNvPr id="18" name="Shape 16"/>
          <p:cNvSpPr/>
          <p:nvPr/>
        </p:nvSpPr>
        <p:spPr>
          <a:xfrm>
            <a:off x="6309360" y="2103120"/>
            <a:ext cx="5349240" cy="4160520"/>
          </a:xfrm>
          <a:prstGeom prst="roundRect">
            <a:avLst>
              <a:gd name="adj" fmla="val 1319"/>
            </a:avLst>
          </a:prstGeom>
          <a:solidFill>
            <a:srgbClr val="F2F2F2"/>
          </a:solidFill>
          <a:ln/>
          <a:effectLst>
            <a:outerShdw sx="100000" sy="100000" kx="0" ky="0" algn="bl" rotWithShape="0" blurRad="101600" dist="25400" dir="5400000">
              <a:srgbClr val="000000">
                <a:alpha val="12000"/>
              </a:srgbClr>
            </a:outerShdw>
          </a:effectLst>
        </p:spPr>
      </p:sp>
      <p:sp>
        <p:nvSpPr>
          <p:cNvPr id="19" name="Text 17"/>
          <p:cNvSpPr txBox="1"/>
          <p:nvPr/>
        </p:nvSpPr>
        <p:spPr>
          <a:xfrm>
            <a:off x="6537960" y="2286000"/>
            <a:ext cx="48920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Sayfa boyu bir ödünleşimdir</a:t>
            </a:r>
            <a:endParaRPr lang="tr-TR" sz="1500" dirty="0"/>
          </a:p>
        </p:txBody>
      </p:sp>
      <p:sp>
        <p:nvSpPr>
          <p:cNvPr id="20" name="Text 18"/>
          <p:cNvSpPr txBox="1"/>
          <p:nvPr/>
        </p:nvSpPr>
        <p:spPr>
          <a:xfrm>
            <a:off x="6537960" y="2743200"/>
            <a:ext cx="4892040" cy="3383280"/>
          </a:xfrm>
          <a:prstGeom prst="rect">
            <a:avLst/>
          </a:prstGeom>
          <a:noFill/>
          <a:ln/>
        </p:spPr>
        <p:txBody>
          <a:bodyPr wrap="square" lIns="0" tIns="0" rIns="0" bIns="0" rtlCol="0" anchor="t"/>
          <a:lstStyle/>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Ortalama israf:</a:t>
            </a:r>
            <a:r>
              <a:rPr lang="tr-TR" sz="1350" dirty="0">
                <a:solidFill>
                  <a:srgbClr val="3A464C"/>
                </a:solidFill>
                <a:latin typeface="Calibri" pitchFamily="34" charset="0"/>
                <a:ea typeface="Calibri" pitchFamily="34" charset="-122"/>
                <a:cs typeface="Calibri" pitchFamily="34" charset="-120"/>
              </a:rPr>
              <a:t> süreç başına yarım sayfa (4 KB sayfada 2 KB); en kötü durumda bir sayfa eksi bir bayt.</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Küçük sayfalar:</a:t>
            </a:r>
            <a:r>
              <a:rPr lang="tr-TR" sz="1350" dirty="0">
                <a:solidFill>
                  <a:srgbClr val="3A464C"/>
                </a:solidFill>
                <a:latin typeface="Calibri" pitchFamily="34" charset="0"/>
                <a:ea typeface="Calibri" pitchFamily="34" charset="-122"/>
                <a:cs typeface="Calibri" pitchFamily="34" charset="-120"/>
              </a:rPr>
              <a:t> daha az israf, ama daha çok sayfa → daha büyük sayfa tabloları.</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Büyük sayfalar:</a:t>
            </a:r>
            <a:r>
              <a:rPr lang="tr-TR" sz="1350" dirty="0">
                <a:solidFill>
                  <a:srgbClr val="3A464C"/>
                </a:solidFill>
                <a:latin typeface="Calibri" pitchFamily="34" charset="0"/>
                <a:ea typeface="Calibri" pitchFamily="34" charset="-122"/>
                <a:cs typeface="Calibri" pitchFamily="34" charset="-120"/>
              </a:rPr>
              <a:t> daha küçük tablolar ve daha verimli disk G/Ç'si, ama daha çok israf.</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x86-64 üzerinde Linux:</a:t>
            </a:r>
            <a:r>
              <a:rPr lang="tr-TR" sz="1350" dirty="0">
                <a:solidFill>
                  <a:srgbClr val="3A464C"/>
                </a:solidFill>
                <a:latin typeface="Calibri" pitchFamily="34" charset="0"/>
                <a:ea typeface="Calibri" pitchFamily="34" charset="-122"/>
                <a:cs typeface="Calibri" pitchFamily="34" charset="-120"/>
              </a:rPr>
              <a:t> normalde 4 KB; veritabanı gibi büyük programlar için 2 MB ya da 1 GB'lık "dev sayfalar" (huge pages).</a:t>
            </a:r>
            <a:endParaRPr lang="tr-TR"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SAYFALAMA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Sayfa Tablosu Ne Kadar Büyük?</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Her sayfa için bir girdi. Büyük adres uzaylarında tablolar çok büyür.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6  ·  23</a:t>
            </a:r>
            <a:endParaRPr lang="tr-TR" sz="900" dirty="0"/>
          </a:p>
        </p:txBody>
      </p:sp>
      <p:sp>
        <p:nvSpPr>
          <p:cNvPr id="7" name="Shape 5"/>
          <p:cNvSpPr/>
          <p:nvPr/>
        </p:nvSpPr>
        <p:spPr>
          <a:xfrm>
            <a:off x="548640" y="2103120"/>
            <a:ext cx="5852160" cy="2743200"/>
          </a:xfrm>
          <a:prstGeom prst="roundRect">
            <a:avLst>
              <a:gd name="adj" fmla="val 1667"/>
            </a:avLst>
          </a:prstGeom>
          <a:solidFill>
            <a:srgbClr val="212121"/>
          </a:solidFill>
          <a:ln/>
        </p:spPr>
      </p:sp>
      <p:sp>
        <p:nvSpPr>
          <p:cNvPr id="8" name="Text 6"/>
          <p:cNvSpPr txBox="1"/>
          <p:nvPr/>
        </p:nvSpPr>
        <p:spPr>
          <a:xfrm>
            <a:off x="731520" y="2212848"/>
            <a:ext cx="5486400" cy="2523744"/>
          </a:xfrm>
          <a:prstGeom prst="rect">
            <a:avLst/>
          </a:prstGeom>
          <a:noFill/>
          <a:ln/>
        </p:spPr>
        <p:txBody>
          <a:bodyPr wrap="square" lIns="0" tIns="0" rIns="0" bIns="0" rtlCol="0" anchor="t"/>
          <a:lstStyle/>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32 bit mantıksal adres, 4 KB sayfa, 4 baytlık girdi</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 </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sayfa  = 2^32 / 2^12 = 2^20 = 1048576</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boyut  = 2^20 × 4 B  = 4 MB   süreç başına!</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 </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100 süreç → 400 MB sayfa tablosu</a:t>
            </a:r>
            <a:endParaRPr lang="tr-TR" sz="1350" dirty="0"/>
          </a:p>
        </p:txBody>
      </p:sp>
      <p:sp>
        <p:nvSpPr>
          <p:cNvPr id="9" name="Shape 7"/>
          <p:cNvSpPr/>
          <p:nvPr/>
        </p:nvSpPr>
        <p:spPr>
          <a:xfrm>
            <a:off x="548640" y="5074920"/>
            <a:ext cx="5852160" cy="1188720"/>
          </a:xfrm>
          <a:prstGeom prst="roundRect">
            <a:avLst>
              <a:gd name="adj" fmla="val 4615"/>
            </a:avLst>
          </a:prstGeom>
          <a:solidFill>
            <a:srgbClr val="36454F"/>
          </a:solidFill>
          <a:ln/>
          <a:effectLst>
            <a:outerShdw sx="100000" sy="100000" kx="0" ky="0" algn="bl" rotWithShape="0" blurRad="101600" dist="25400" dir="5400000">
              <a:srgbClr val="000000">
                <a:alpha val="12000"/>
              </a:srgbClr>
            </a:outerShdw>
          </a:effectLst>
        </p:spPr>
      </p:sp>
      <p:sp>
        <p:nvSpPr>
          <p:cNvPr id="10" name="Text 8"/>
          <p:cNvSpPr txBox="1"/>
          <p:nvPr/>
        </p:nvSpPr>
        <p:spPr>
          <a:xfrm>
            <a:off x="777240" y="5074920"/>
            <a:ext cx="5394960" cy="118872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Bir sürecin adres uzayının büyük kısmı hiç kullanılmaz; yani bu tablonun çoğu boş girdilerden oluşurdu.</a:t>
            </a:r>
            <a:endParaRPr lang="tr-TR" sz="1400" dirty="0"/>
          </a:p>
        </p:txBody>
      </p:sp>
      <p:sp>
        <p:nvSpPr>
          <p:cNvPr id="11" name="Text 9"/>
          <p:cNvSpPr txBox="1"/>
          <p:nvPr/>
        </p:nvSpPr>
        <p:spPr>
          <a:xfrm>
            <a:off x="6675120" y="2103120"/>
            <a:ext cx="4983480" cy="320040"/>
          </a:xfrm>
          <a:prstGeom prst="rect">
            <a:avLst/>
          </a:prstGeom>
          <a:noFill/>
          <a:ln/>
        </p:spPr>
        <p:txBody>
          <a:bodyPr wrap="square" lIns="0" tIns="0" rIns="0" bIns="0" rtlCol="0" anchor="t"/>
          <a:lstStyle/>
          <a:p>
            <a:pPr indent="0" marL="0">
              <a:buNone/>
            </a:pPr>
            <a:r>
              <a:rPr lang="tr-TR" sz="1400" b="1" dirty="0">
                <a:solidFill>
                  <a:srgbClr val="028090"/>
                </a:solidFill>
                <a:latin typeface="Cambria" pitchFamily="34" charset="0"/>
                <a:ea typeface="Cambria" pitchFamily="34" charset="-122"/>
                <a:cs typeface="Cambria" pitchFamily="34" charset="-120"/>
              </a:rPr>
              <a:t>İki düzeyli sayfa tablosu (32 bit)</a:t>
            </a:r>
            <a:endParaRPr lang="tr-TR" sz="1400" dirty="0"/>
          </a:p>
        </p:txBody>
      </p:sp>
      <p:sp>
        <p:nvSpPr>
          <p:cNvPr id="12" name="Shape 10"/>
          <p:cNvSpPr/>
          <p:nvPr/>
        </p:nvSpPr>
        <p:spPr>
          <a:xfrm>
            <a:off x="6675120" y="2560320"/>
            <a:ext cx="1463040" cy="640080"/>
          </a:xfrm>
          <a:prstGeom prst="roundRect">
            <a:avLst>
              <a:gd name="adj" fmla="val 7143"/>
            </a:avLst>
          </a:prstGeom>
          <a:solidFill>
            <a:srgbClr val="02C39A"/>
          </a:solidFill>
          <a:ln/>
        </p:spPr>
      </p:sp>
      <p:sp>
        <p:nvSpPr>
          <p:cNvPr id="13" name="Text 11"/>
          <p:cNvSpPr txBox="1"/>
          <p:nvPr/>
        </p:nvSpPr>
        <p:spPr>
          <a:xfrm>
            <a:off x="6675120" y="2560320"/>
            <a:ext cx="1463040" cy="640080"/>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p1: 10</a:t>
            </a:r>
            <a:endParaRPr lang="tr-TR" sz="1300" dirty="0"/>
          </a:p>
        </p:txBody>
      </p:sp>
      <p:sp>
        <p:nvSpPr>
          <p:cNvPr id="14" name="Shape 12"/>
          <p:cNvSpPr/>
          <p:nvPr/>
        </p:nvSpPr>
        <p:spPr>
          <a:xfrm>
            <a:off x="8183880" y="2560320"/>
            <a:ext cx="1463040" cy="640080"/>
          </a:xfrm>
          <a:prstGeom prst="roundRect">
            <a:avLst>
              <a:gd name="adj" fmla="val 7143"/>
            </a:avLst>
          </a:prstGeom>
          <a:solidFill>
            <a:srgbClr val="D7E9E6"/>
          </a:solidFill>
          <a:ln/>
        </p:spPr>
      </p:sp>
      <p:sp>
        <p:nvSpPr>
          <p:cNvPr id="15" name="Text 13"/>
          <p:cNvSpPr txBox="1"/>
          <p:nvPr/>
        </p:nvSpPr>
        <p:spPr>
          <a:xfrm>
            <a:off x="8183880" y="2560320"/>
            <a:ext cx="1463040" cy="640080"/>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p2: 10</a:t>
            </a:r>
            <a:endParaRPr lang="tr-TR" sz="1300" dirty="0"/>
          </a:p>
        </p:txBody>
      </p:sp>
      <p:sp>
        <p:nvSpPr>
          <p:cNvPr id="16" name="Shape 14"/>
          <p:cNvSpPr/>
          <p:nvPr/>
        </p:nvSpPr>
        <p:spPr>
          <a:xfrm>
            <a:off x="9692640" y="2560320"/>
            <a:ext cx="1965960" cy="640080"/>
          </a:xfrm>
          <a:prstGeom prst="roundRect">
            <a:avLst>
              <a:gd name="adj" fmla="val 7143"/>
            </a:avLst>
          </a:prstGeom>
          <a:solidFill>
            <a:srgbClr val="36454F"/>
          </a:solidFill>
          <a:ln/>
        </p:spPr>
      </p:sp>
      <p:sp>
        <p:nvSpPr>
          <p:cNvPr id="17" name="Text 15"/>
          <p:cNvSpPr txBox="1"/>
          <p:nvPr/>
        </p:nvSpPr>
        <p:spPr>
          <a:xfrm>
            <a:off x="9692640" y="2560320"/>
            <a:ext cx="1965960" cy="640080"/>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d: 12 bit</a:t>
            </a:r>
            <a:endParaRPr lang="tr-TR" sz="1300" dirty="0"/>
          </a:p>
        </p:txBody>
      </p:sp>
      <p:sp>
        <p:nvSpPr>
          <p:cNvPr id="18" name="Shape 16"/>
          <p:cNvSpPr/>
          <p:nvPr/>
        </p:nvSpPr>
        <p:spPr>
          <a:xfrm>
            <a:off x="6675120" y="3566160"/>
            <a:ext cx="1463040" cy="1828800"/>
          </a:xfrm>
          <a:prstGeom prst="roundRect">
            <a:avLst>
              <a:gd name="adj" fmla="val 3125"/>
            </a:avLst>
          </a:prstGeom>
          <a:solidFill>
            <a:srgbClr val="F2F2F2"/>
          </a:solidFill>
          <a:ln/>
        </p:spPr>
      </p:sp>
      <p:sp>
        <p:nvSpPr>
          <p:cNvPr id="19" name="Text 17"/>
          <p:cNvSpPr txBox="1"/>
          <p:nvPr/>
        </p:nvSpPr>
        <p:spPr>
          <a:xfrm>
            <a:off x="6675120" y="3566160"/>
            <a:ext cx="1463040" cy="1828800"/>
          </a:xfrm>
          <a:prstGeom prst="rect">
            <a:avLst/>
          </a:prstGeom>
          <a:noFill/>
          <a:ln/>
        </p:spPr>
        <p:txBody>
          <a:bodyPr wrap="square" lIns="38100" tIns="38100" rIns="38100" bIns="3810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dış tablo</a:t>
            </a:r>
            <a:endParaRPr lang="tr-TR" sz="1200" dirty="0"/>
          </a:p>
          <a:p>
            <a:pPr algn="ctr" indent="0" marL="0">
              <a:buNone/>
            </a:pPr>
            <a:r>
              <a:rPr lang="tr-TR" sz="1100" dirty="0">
                <a:solidFill>
                  <a:srgbClr val="36454F"/>
                </a:solidFill>
                <a:latin typeface="Calibri" pitchFamily="34" charset="0"/>
                <a:ea typeface="Calibri" pitchFamily="34" charset="-122"/>
                <a:cs typeface="Calibri" pitchFamily="34" charset="-120"/>
              </a:rPr>
              <a:t>1024 girdi</a:t>
            </a:r>
            <a:endParaRPr lang="tr-TR" sz="1200" dirty="0"/>
          </a:p>
          <a:p>
            <a:pPr algn="ctr" indent="0" marL="0">
              <a:buNone/>
            </a:pPr>
            <a:r>
              <a:rPr lang="tr-TR" sz="1100" dirty="0">
                <a:solidFill>
                  <a:srgbClr val="36454F"/>
                </a:solidFill>
                <a:latin typeface="Calibri" pitchFamily="34" charset="0"/>
                <a:ea typeface="Calibri" pitchFamily="34" charset="-122"/>
                <a:cs typeface="Calibri" pitchFamily="34" charset="-120"/>
              </a:rPr>
              <a:t>= bir 4 KB sayfa</a:t>
            </a:r>
            <a:endParaRPr lang="tr-TR" sz="1200" dirty="0"/>
          </a:p>
        </p:txBody>
      </p:sp>
      <p:sp>
        <p:nvSpPr>
          <p:cNvPr id="20" name="Shape 18"/>
          <p:cNvSpPr/>
          <p:nvPr/>
        </p:nvSpPr>
        <p:spPr>
          <a:xfrm>
            <a:off x="8503920" y="3566160"/>
            <a:ext cx="1463040" cy="1828800"/>
          </a:xfrm>
          <a:prstGeom prst="roundRect">
            <a:avLst>
              <a:gd name="adj" fmla="val 3125"/>
            </a:avLst>
          </a:prstGeom>
          <a:solidFill>
            <a:srgbClr val="F2F2F2"/>
          </a:solidFill>
          <a:ln/>
        </p:spPr>
      </p:sp>
      <p:sp>
        <p:nvSpPr>
          <p:cNvPr id="21" name="Text 19"/>
          <p:cNvSpPr txBox="1"/>
          <p:nvPr/>
        </p:nvSpPr>
        <p:spPr>
          <a:xfrm>
            <a:off x="8503920" y="3566160"/>
            <a:ext cx="1463040" cy="1828800"/>
          </a:xfrm>
          <a:prstGeom prst="rect">
            <a:avLst/>
          </a:prstGeom>
          <a:noFill/>
          <a:ln/>
        </p:spPr>
        <p:txBody>
          <a:bodyPr wrap="square" lIns="38100" tIns="38100" rIns="38100" bIns="3810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iç tablolar</a:t>
            </a:r>
            <a:endParaRPr lang="tr-TR" sz="1200" dirty="0"/>
          </a:p>
          <a:p>
            <a:pPr algn="ctr" indent="0" marL="0">
              <a:buNone/>
            </a:pPr>
            <a:r>
              <a:rPr lang="tr-TR" sz="1100" dirty="0">
                <a:solidFill>
                  <a:srgbClr val="36454F"/>
                </a:solidFill>
                <a:latin typeface="Calibri" pitchFamily="34" charset="0"/>
                <a:ea typeface="Calibri" pitchFamily="34" charset="-122"/>
                <a:cs typeface="Calibri" pitchFamily="34" charset="-120"/>
              </a:rPr>
              <a:t>yalnızca gerçekten kullanılan kısımlar için</a:t>
            </a:r>
            <a:endParaRPr lang="tr-TR" sz="1200" dirty="0"/>
          </a:p>
        </p:txBody>
      </p:sp>
      <p:sp>
        <p:nvSpPr>
          <p:cNvPr id="22" name="Shape 20"/>
          <p:cNvSpPr/>
          <p:nvPr/>
        </p:nvSpPr>
        <p:spPr>
          <a:xfrm>
            <a:off x="10332720" y="3566160"/>
            <a:ext cx="1325880" cy="1828800"/>
          </a:xfrm>
          <a:prstGeom prst="roundRect">
            <a:avLst>
              <a:gd name="adj" fmla="val 3448"/>
            </a:avLst>
          </a:prstGeom>
          <a:solidFill>
            <a:srgbClr val="02C39A"/>
          </a:solidFill>
          <a:ln/>
        </p:spPr>
      </p:sp>
      <p:sp>
        <p:nvSpPr>
          <p:cNvPr id="23" name="Text 21"/>
          <p:cNvSpPr txBox="1"/>
          <p:nvPr/>
        </p:nvSpPr>
        <p:spPr>
          <a:xfrm>
            <a:off x="10332720" y="3566160"/>
            <a:ext cx="1325880" cy="182880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çerçeve</a:t>
            </a:r>
            <a:endParaRPr lang="tr-TR" sz="1200" dirty="0"/>
          </a:p>
          <a:p>
            <a:pPr algn="ctr" indent="0" marL="0">
              <a:buNone/>
            </a:pPr>
            <a:r>
              <a:rPr lang="tr-TR" sz="1100" dirty="0">
                <a:solidFill>
                  <a:srgbClr val="212121"/>
                </a:solidFill>
                <a:latin typeface="Calibri" pitchFamily="34" charset="0"/>
                <a:ea typeface="Calibri" pitchFamily="34" charset="-122"/>
                <a:cs typeface="Calibri" pitchFamily="34" charset="-120"/>
              </a:rPr>
              <a:t>+ ofset</a:t>
            </a:r>
            <a:endParaRPr lang="tr-TR" sz="1200" dirty="0"/>
          </a:p>
        </p:txBody>
      </p:sp>
      <p:sp>
        <p:nvSpPr>
          <p:cNvPr id="24" name="Shape 22"/>
          <p:cNvSpPr/>
          <p:nvPr/>
        </p:nvSpPr>
        <p:spPr>
          <a:xfrm>
            <a:off x="8156448" y="4480560"/>
            <a:ext cx="329184" cy="91"/>
          </a:xfrm>
          <a:prstGeom prst="line">
            <a:avLst/>
          </a:prstGeom>
          <a:noFill/>
          <a:ln w="19050">
            <a:solidFill>
              <a:srgbClr val="50808E"/>
            </a:solidFill>
            <a:prstDash val="solid"/>
            <a:tailEnd type="triangle"/>
          </a:ln>
        </p:spPr>
      </p:sp>
      <p:sp>
        <p:nvSpPr>
          <p:cNvPr id="25" name="Shape 23"/>
          <p:cNvSpPr/>
          <p:nvPr/>
        </p:nvSpPr>
        <p:spPr>
          <a:xfrm>
            <a:off x="9985248" y="4480560"/>
            <a:ext cx="329184" cy="91"/>
          </a:xfrm>
          <a:prstGeom prst="line">
            <a:avLst/>
          </a:prstGeom>
          <a:noFill/>
          <a:ln w="19050">
            <a:solidFill>
              <a:srgbClr val="50808E"/>
            </a:solidFill>
            <a:prstDash val="solid"/>
            <a:tailEnd type="triangle"/>
          </a:ln>
        </p:spPr>
      </p:sp>
      <p:sp>
        <p:nvSpPr>
          <p:cNvPr id="26" name="Text 24"/>
          <p:cNvSpPr txBox="1"/>
          <p:nvPr/>
        </p:nvSpPr>
        <p:spPr>
          <a:xfrm>
            <a:off x="6675120" y="5577840"/>
            <a:ext cx="4983480" cy="685800"/>
          </a:xfrm>
          <a:prstGeom prst="rect">
            <a:avLst/>
          </a:prstGeom>
          <a:noFill/>
          <a:ln/>
        </p:spPr>
        <p:txBody>
          <a:bodyPr wrap="square" lIns="0" tIns="0" rIns="0" bIns="0" rtlCol="0" anchor="t"/>
          <a:lstStyle/>
          <a:p>
            <a:pPr indent="0" marL="0">
              <a:buNone/>
            </a:pPr>
            <a:r>
              <a:rPr lang="tr-TR" sz="1250" dirty="0">
                <a:solidFill>
                  <a:srgbClr val="3A464C"/>
                </a:solidFill>
                <a:latin typeface="Calibri" pitchFamily="34" charset="0"/>
                <a:ea typeface="Calibri" pitchFamily="34" charset="-122"/>
                <a:cs typeface="Calibri" pitchFamily="34" charset="-120"/>
              </a:rPr>
              <a:t>Sayfa tablosunun kendisi de sayfalanır. x86-64 dört düzey kullanır (9 + 9 + 9 + 9 + 12 = 48 bit); yeni işlemciler beş düzey sunar.</a:t>
            </a:r>
            <a:endParaRPr lang="tr-TR"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HIZ</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TLB: Sayfa Tablosu Girdileri İçin Bir Önbellek</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Sayfa tablosu RAM'de durduğu için her erişim iki bellek erişimi gerektirirdi: biri girdi için, biri veri için.</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6  ·  24</a:t>
            </a:r>
            <a:endParaRPr lang="tr-TR" sz="900" dirty="0"/>
          </a:p>
        </p:txBody>
      </p:sp>
      <p:sp>
        <p:nvSpPr>
          <p:cNvPr id="7" name="Shape 5"/>
          <p:cNvSpPr/>
          <p:nvPr/>
        </p:nvSpPr>
        <p:spPr>
          <a:xfrm>
            <a:off x="548640" y="2834640"/>
            <a:ext cx="1097280" cy="822960"/>
          </a:xfrm>
          <a:prstGeom prst="roundRect">
            <a:avLst>
              <a:gd name="adj" fmla="val 5556"/>
            </a:avLst>
          </a:prstGeom>
          <a:solidFill>
            <a:srgbClr val="36454F"/>
          </a:solidFill>
          <a:ln/>
        </p:spPr>
      </p:sp>
      <p:sp>
        <p:nvSpPr>
          <p:cNvPr id="8" name="Text 6"/>
          <p:cNvSpPr txBox="1"/>
          <p:nvPr/>
        </p:nvSpPr>
        <p:spPr>
          <a:xfrm>
            <a:off x="548640" y="2834640"/>
            <a:ext cx="1097280" cy="822960"/>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İşlemci</a:t>
            </a:r>
            <a:endParaRPr lang="tr-TR" sz="1300" dirty="0"/>
          </a:p>
        </p:txBody>
      </p:sp>
      <p:sp>
        <p:nvSpPr>
          <p:cNvPr id="9" name="Shape 7"/>
          <p:cNvSpPr/>
          <p:nvPr/>
        </p:nvSpPr>
        <p:spPr>
          <a:xfrm>
            <a:off x="1965960" y="2926080"/>
            <a:ext cx="548640" cy="640080"/>
          </a:xfrm>
          <a:prstGeom prst="roundRect">
            <a:avLst>
              <a:gd name="adj" fmla="val 8333"/>
            </a:avLst>
          </a:prstGeom>
          <a:solidFill>
            <a:srgbClr val="02C39A"/>
          </a:solidFill>
          <a:ln/>
        </p:spPr>
      </p:sp>
      <p:sp>
        <p:nvSpPr>
          <p:cNvPr id="10" name="Text 8"/>
          <p:cNvSpPr txBox="1"/>
          <p:nvPr/>
        </p:nvSpPr>
        <p:spPr>
          <a:xfrm>
            <a:off x="1965960" y="2926080"/>
            <a:ext cx="548640" cy="640080"/>
          </a:xfrm>
          <a:prstGeom prst="rect">
            <a:avLst/>
          </a:prstGeom>
          <a:noFill/>
          <a:ln/>
        </p:spPr>
        <p:txBody>
          <a:bodyPr wrap="square" lIns="38100" tIns="38100" rIns="38100" bIns="38100" rtlCol="0" anchor="ctr"/>
          <a:lstStyle/>
          <a:p>
            <a:pPr algn="ctr" indent="0" marL="0">
              <a:buNone/>
            </a:pPr>
            <a:r>
              <a:rPr lang="tr-TR" sz="1600" b="1" dirty="0">
                <a:solidFill>
                  <a:srgbClr val="212121"/>
                </a:solidFill>
                <a:latin typeface="Calibri" pitchFamily="34" charset="0"/>
                <a:ea typeface="Calibri" pitchFamily="34" charset="-122"/>
                <a:cs typeface="Calibri" pitchFamily="34" charset="-120"/>
              </a:rPr>
              <a:t>p</a:t>
            </a:r>
            <a:endParaRPr lang="tr-TR" sz="1600" dirty="0"/>
          </a:p>
        </p:txBody>
      </p:sp>
      <p:sp>
        <p:nvSpPr>
          <p:cNvPr id="11" name="Shape 9"/>
          <p:cNvSpPr/>
          <p:nvPr/>
        </p:nvSpPr>
        <p:spPr>
          <a:xfrm>
            <a:off x="2514600" y="2926080"/>
            <a:ext cx="548640" cy="640080"/>
          </a:xfrm>
          <a:prstGeom prst="roundRect">
            <a:avLst>
              <a:gd name="adj" fmla="val 8333"/>
            </a:avLst>
          </a:prstGeom>
          <a:solidFill>
            <a:srgbClr val="F2F2F2"/>
          </a:solidFill>
          <a:ln/>
        </p:spPr>
      </p:sp>
      <p:sp>
        <p:nvSpPr>
          <p:cNvPr id="12" name="Text 10"/>
          <p:cNvSpPr txBox="1"/>
          <p:nvPr/>
        </p:nvSpPr>
        <p:spPr>
          <a:xfrm>
            <a:off x="2514600" y="2926080"/>
            <a:ext cx="548640" cy="640080"/>
          </a:xfrm>
          <a:prstGeom prst="rect">
            <a:avLst/>
          </a:prstGeom>
          <a:noFill/>
          <a:ln/>
        </p:spPr>
        <p:txBody>
          <a:bodyPr wrap="square" lIns="38100" tIns="38100" rIns="38100" bIns="38100" rtlCol="0" anchor="ctr"/>
          <a:lstStyle/>
          <a:p>
            <a:pPr algn="ctr" indent="0" marL="0">
              <a:buNone/>
            </a:pPr>
            <a:r>
              <a:rPr lang="tr-TR" sz="1600" b="1" dirty="0">
                <a:solidFill>
                  <a:srgbClr val="36454F"/>
                </a:solidFill>
                <a:latin typeface="Calibri" pitchFamily="34" charset="0"/>
                <a:ea typeface="Calibri" pitchFamily="34" charset="-122"/>
                <a:cs typeface="Calibri" pitchFamily="34" charset="-120"/>
              </a:rPr>
              <a:t>d</a:t>
            </a:r>
            <a:endParaRPr lang="tr-TR" sz="1600" dirty="0"/>
          </a:p>
        </p:txBody>
      </p:sp>
      <p:sp>
        <p:nvSpPr>
          <p:cNvPr id="13" name="Shape 11"/>
          <p:cNvSpPr/>
          <p:nvPr/>
        </p:nvSpPr>
        <p:spPr>
          <a:xfrm>
            <a:off x="1664208" y="3246120"/>
            <a:ext cx="283464" cy="91"/>
          </a:xfrm>
          <a:prstGeom prst="line">
            <a:avLst/>
          </a:prstGeom>
          <a:noFill/>
          <a:ln w="19050">
            <a:solidFill>
              <a:srgbClr val="50808E"/>
            </a:solidFill>
            <a:prstDash val="solid"/>
            <a:tailEnd type="triangle"/>
          </a:ln>
        </p:spPr>
      </p:sp>
      <p:sp>
        <p:nvSpPr>
          <p:cNvPr id="14" name="Shape 12"/>
          <p:cNvSpPr/>
          <p:nvPr/>
        </p:nvSpPr>
        <p:spPr>
          <a:xfrm>
            <a:off x="3657600" y="2331720"/>
            <a:ext cx="2103120" cy="1828800"/>
          </a:xfrm>
          <a:prstGeom prst="roundRect">
            <a:avLst>
              <a:gd name="adj" fmla="val 2500"/>
            </a:avLst>
          </a:prstGeom>
          <a:solidFill>
            <a:srgbClr val="D7E9E6"/>
          </a:solidFill>
          <a:ln/>
        </p:spPr>
      </p:sp>
      <p:sp>
        <p:nvSpPr>
          <p:cNvPr id="15" name="Text 13"/>
          <p:cNvSpPr txBox="1"/>
          <p:nvPr/>
        </p:nvSpPr>
        <p:spPr>
          <a:xfrm>
            <a:off x="3657600" y="2377440"/>
            <a:ext cx="2103120" cy="320040"/>
          </a:xfrm>
          <a:prstGeom prst="rect">
            <a:avLst/>
          </a:prstGeom>
          <a:noFill/>
          <a:ln/>
        </p:spPr>
        <p:txBody>
          <a:bodyPr wrap="square" lIns="0" tIns="0" rIns="0" bIns="0" rtlCol="0" anchor="t"/>
          <a:lstStyle/>
          <a:p>
            <a:pPr algn="ctr" indent="0" marL="0">
              <a:buNone/>
            </a:pPr>
            <a:r>
              <a:rPr lang="tr-TR" sz="1400" b="1" dirty="0">
                <a:solidFill>
                  <a:srgbClr val="36454F"/>
                </a:solidFill>
                <a:latin typeface="Calibri" pitchFamily="34" charset="0"/>
                <a:ea typeface="Calibri" pitchFamily="34" charset="-122"/>
                <a:cs typeface="Calibri" pitchFamily="34" charset="-120"/>
              </a:rPr>
              <a:t>TLB</a:t>
            </a:r>
            <a:endParaRPr lang="tr-TR" sz="1400" dirty="0"/>
          </a:p>
        </p:txBody>
      </p:sp>
      <p:sp>
        <p:nvSpPr>
          <p:cNvPr id="16" name="Shape 14"/>
          <p:cNvSpPr/>
          <p:nvPr/>
        </p:nvSpPr>
        <p:spPr>
          <a:xfrm>
            <a:off x="3840480" y="2743200"/>
            <a:ext cx="1737360" cy="384048"/>
          </a:xfrm>
          <a:prstGeom prst="roundRect">
            <a:avLst>
              <a:gd name="adj" fmla="val 11905"/>
            </a:avLst>
          </a:prstGeom>
          <a:solidFill>
            <a:srgbClr val="FFFFFF"/>
          </a:solidFill>
          <a:ln/>
        </p:spPr>
      </p:sp>
      <p:sp>
        <p:nvSpPr>
          <p:cNvPr id="17" name="Text 15"/>
          <p:cNvSpPr txBox="1"/>
          <p:nvPr/>
        </p:nvSpPr>
        <p:spPr>
          <a:xfrm>
            <a:off x="3840480" y="2743200"/>
            <a:ext cx="1737360" cy="384048"/>
          </a:xfrm>
          <a:prstGeom prst="rect">
            <a:avLst/>
          </a:prstGeom>
          <a:noFill/>
          <a:ln/>
        </p:spPr>
        <p:txBody>
          <a:bodyPr wrap="square" lIns="38100" tIns="38100" rIns="38100" bIns="38100" rtlCol="0" anchor="ctr"/>
          <a:lstStyle/>
          <a:p>
            <a:pPr algn="ctr" indent="0" marL="0">
              <a:buNone/>
            </a:pPr>
            <a:r>
              <a:rPr lang="tr-TR" sz="1200" dirty="0">
                <a:solidFill>
                  <a:srgbClr val="36454F"/>
                </a:solidFill>
                <a:latin typeface="Consolas" pitchFamily="34" charset="0"/>
                <a:ea typeface="Consolas" pitchFamily="34" charset="-122"/>
                <a:cs typeface="Consolas" pitchFamily="34" charset="-120"/>
              </a:rPr>
              <a:t>p  →  f</a:t>
            </a:r>
            <a:endParaRPr lang="tr-TR" sz="1200" dirty="0"/>
          </a:p>
        </p:txBody>
      </p:sp>
      <p:sp>
        <p:nvSpPr>
          <p:cNvPr id="18" name="Shape 16"/>
          <p:cNvSpPr/>
          <p:nvPr/>
        </p:nvSpPr>
        <p:spPr>
          <a:xfrm>
            <a:off x="3840480" y="3200400"/>
            <a:ext cx="1737360" cy="384048"/>
          </a:xfrm>
          <a:prstGeom prst="roundRect">
            <a:avLst>
              <a:gd name="adj" fmla="val 11905"/>
            </a:avLst>
          </a:prstGeom>
          <a:solidFill>
            <a:srgbClr val="FFFFFF"/>
          </a:solidFill>
          <a:ln/>
        </p:spPr>
      </p:sp>
      <p:sp>
        <p:nvSpPr>
          <p:cNvPr id="19" name="Text 17"/>
          <p:cNvSpPr txBox="1"/>
          <p:nvPr/>
        </p:nvSpPr>
        <p:spPr>
          <a:xfrm>
            <a:off x="3840480" y="3200400"/>
            <a:ext cx="1737360" cy="384048"/>
          </a:xfrm>
          <a:prstGeom prst="rect">
            <a:avLst/>
          </a:prstGeom>
          <a:noFill/>
          <a:ln/>
        </p:spPr>
        <p:txBody>
          <a:bodyPr wrap="square" lIns="38100" tIns="38100" rIns="38100" bIns="38100" rtlCol="0" anchor="ctr"/>
          <a:lstStyle/>
          <a:p>
            <a:pPr algn="ctr" indent="0" marL="0">
              <a:buNone/>
            </a:pPr>
            <a:r>
              <a:rPr lang="tr-TR" sz="1200" dirty="0">
                <a:solidFill>
                  <a:srgbClr val="36454F"/>
                </a:solidFill>
                <a:latin typeface="Consolas" pitchFamily="34" charset="0"/>
                <a:ea typeface="Consolas" pitchFamily="34" charset="-122"/>
                <a:cs typeface="Consolas" pitchFamily="34" charset="-120"/>
              </a:rPr>
              <a:t>p  →  f</a:t>
            </a:r>
            <a:endParaRPr lang="tr-TR" sz="1200" dirty="0"/>
          </a:p>
        </p:txBody>
      </p:sp>
      <p:sp>
        <p:nvSpPr>
          <p:cNvPr id="20" name="Shape 18"/>
          <p:cNvSpPr/>
          <p:nvPr/>
        </p:nvSpPr>
        <p:spPr>
          <a:xfrm>
            <a:off x="3840480" y="3657600"/>
            <a:ext cx="1737360" cy="384048"/>
          </a:xfrm>
          <a:prstGeom prst="roundRect">
            <a:avLst>
              <a:gd name="adj" fmla="val 11905"/>
            </a:avLst>
          </a:prstGeom>
          <a:solidFill>
            <a:srgbClr val="FFFFFF"/>
          </a:solidFill>
          <a:ln/>
        </p:spPr>
      </p:sp>
      <p:sp>
        <p:nvSpPr>
          <p:cNvPr id="21" name="Text 19"/>
          <p:cNvSpPr txBox="1"/>
          <p:nvPr/>
        </p:nvSpPr>
        <p:spPr>
          <a:xfrm>
            <a:off x="3840480" y="3657600"/>
            <a:ext cx="1737360" cy="384048"/>
          </a:xfrm>
          <a:prstGeom prst="rect">
            <a:avLst/>
          </a:prstGeom>
          <a:noFill/>
          <a:ln/>
        </p:spPr>
        <p:txBody>
          <a:bodyPr wrap="square" lIns="38100" tIns="38100" rIns="38100" bIns="38100" rtlCol="0" anchor="ctr"/>
          <a:lstStyle/>
          <a:p>
            <a:pPr algn="ctr" indent="0" marL="0">
              <a:buNone/>
            </a:pPr>
            <a:r>
              <a:rPr lang="tr-TR" sz="1200" dirty="0">
                <a:solidFill>
                  <a:srgbClr val="36454F"/>
                </a:solidFill>
                <a:latin typeface="Consolas" pitchFamily="34" charset="0"/>
                <a:ea typeface="Consolas" pitchFamily="34" charset="-122"/>
                <a:cs typeface="Consolas" pitchFamily="34" charset="-120"/>
              </a:rPr>
              <a:t>p  →  f</a:t>
            </a:r>
            <a:endParaRPr lang="tr-TR" sz="1200" dirty="0"/>
          </a:p>
        </p:txBody>
      </p:sp>
      <p:sp>
        <p:nvSpPr>
          <p:cNvPr id="22" name="Shape 20"/>
          <p:cNvSpPr/>
          <p:nvPr/>
        </p:nvSpPr>
        <p:spPr>
          <a:xfrm flipV="1">
            <a:off x="2240280" y="2697480"/>
            <a:ext cx="1399032" cy="210312"/>
          </a:xfrm>
          <a:prstGeom prst="line">
            <a:avLst/>
          </a:prstGeom>
          <a:noFill/>
          <a:ln w="19050">
            <a:solidFill>
              <a:srgbClr val="50808E"/>
            </a:solidFill>
            <a:prstDash val="solid"/>
            <a:tailEnd type="triangle"/>
          </a:ln>
        </p:spPr>
      </p:sp>
      <p:sp>
        <p:nvSpPr>
          <p:cNvPr id="23" name="Shape 21"/>
          <p:cNvSpPr/>
          <p:nvPr/>
        </p:nvSpPr>
        <p:spPr>
          <a:xfrm>
            <a:off x="5779008" y="3246120"/>
            <a:ext cx="1170432" cy="91"/>
          </a:xfrm>
          <a:prstGeom prst="line">
            <a:avLst/>
          </a:prstGeom>
          <a:noFill/>
          <a:ln w="22225">
            <a:solidFill>
              <a:srgbClr val="028090"/>
            </a:solidFill>
            <a:prstDash val="solid"/>
            <a:tailEnd type="triangle"/>
          </a:ln>
        </p:spPr>
      </p:sp>
      <p:sp>
        <p:nvSpPr>
          <p:cNvPr id="24" name="Text 22"/>
          <p:cNvSpPr txBox="1"/>
          <p:nvPr/>
        </p:nvSpPr>
        <p:spPr>
          <a:xfrm>
            <a:off x="5897880" y="2880360"/>
            <a:ext cx="1005840" cy="274320"/>
          </a:xfrm>
          <a:prstGeom prst="rect">
            <a:avLst/>
          </a:prstGeom>
          <a:noFill/>
          <a:ln/>
        </p:spPr>
        <p:txBody>
          <a:bodyPr wrap="square" lIns="0" tIns="0" rIns="0" bIns="0" rtlCol="0" anchor="t"/>
          <a:lstStyle/>
          <a:p>
            <a:pPr indent="0" marL="0">
              <a:buNone/>
            </a:pPr>
            <a:r>
              <a:rPr lang="tr-TR" sz="1200" b="1" dirty="0">
                <a:solidFill>
                  <a:srgbClr val="028090"/>
                </a:solidFill>
                <a:latin typeface="Calibri" pitchFamily="34" charset="0"/>
                <a:ea typeface="Calibri" pitchFamily="34" charset="-122"/>
                <a:cs typeface="Calibri" pitchFamily="34" charset="-120"/>
              </a:rPr>
              <a:t>isabet</a:t>
            </a:r>
            <a:endParaRPr lang="tr-TR" sz="1200" dirty="0"/>
          </a:p>
        </p:txBody>
      </p:sp>
      <p:sp>
        <p:nvSpPr>
          <p:cNvPr id="25" name="Shape 23"/>
          <p:cNvSpPr/>
          <p:nvPr/>
        </p:nvSpPr>
        <p:spPr>
          <a:xfrm>
            <a:off x="6995160" y="2926080"/>
            <a:ext cx="548640" cy="640080"/>
          </a:xfrm>
          <a:prstGeom prst="roundRect">
            <a:avLst>
              <a:gd name="adj" fmla="val 8333"/>
            </a:avLst>
          </a:prstGeom>
          <a:solidFill>
            <a:srgbClr val="02C39A"/>
          </a:solidFill>
          <a:ln/>
        </p:spPr>
      </p:sp>
      <p:sp>
        <p:nvSpPr>
          <p:cNvPr id="26" name="Text 24"/>
          <p:cNvSpPr txBox="1"/>
          <p:nvPr/>
        </p:nvSpPr>
        <p:spPr>
          <a:xfrm>
            <a:off x="6995160" y="2926080"/>
            <a:ext cx="548640" cy="640080"/>
          </a:xfrm>
          <a:prstGeom prst="rect">
            <a:avLst/>
          </a:prstGeom>
          <a:noFill/>
          <a:ln/>
        </p:spPr>
        <p:txBody>
          <a:bodyPr wrap="square" lIns="38100" tIns="38100" rIns="38100" bIns="38100" rtlCol="0" anchor="ctr"/>
          <a:lstStyle/>
          <a:p>
            <a:pPr algn="ctr" indent="0" marL="0">
              <a:buNone/>
            </a:pPr>
            <a:r>
              <a:rPr lang="tr-TR" sz="1600" b="1" dirty="0">
                <a:solidFill>
                  <a:srgbClr val="212121"/>
                </a:solidFill>
                <a:latin typeface="Calibri" pitchFamily="34" charset="0"/>
                <a:ea typeface="Calibri" pitchFamily="34" charset="-122"/>
                <a:cs typeface="Calibri" pitchFamily="34" charset="-120"/>
              </a:rPr>
              <a:t>f</a:t>
            </a:r>
            <a:endParaRPr lang="tr-TR" sz="1600" dirty="0"/>
          </a:p>
        </p:txBody>
      </p:sp>
      <p:sp>
        <p:nvSpPr>
          <p:cNvPr id="27" name="Shape 25"/>
          <p:cNvSpPr/>
          <p:nvPr/>
        </p:nvSpPr>
        <p:spPr>
          <a:xfrm>
            <a:off x="7543800" y="2926080"/>
            <a:ext cx="548640" cy="640080"/>
          </a:xfrm>
          <a:prstGeom prst="roundRect">
            <a:avLst>
              <a:gd name="adj" fmla="val 8333"/>
            </a:avLst>
          </a:prstGeom>
          <a:solidFill>
            <a:srgbClr val="F2F2F2"/>
          </a:solidFill>
          <a:ln/>
        </p:spPr>
      </p:sp>
      <p:sp>
        <p:nvSpPr>
          <p:cNvPr id="28" name="Text 26"/>
          <p:cNvSpPr txBox="1"/>
          <p:nvPr/>
        </p:nvSpPr>
        <p:spPr>
          <a:xfrm>
            <a:off x="7543800" y="2926080"/>
            <a:ext cx="548640" cy="640080"/>
          </a:xfrm>
          <a:prstGeom prst="rect">
            <a:avLst/>
          </a:prstGeom>
          <a:noFill/>
          <a:ln/>
        </p:spPr>
        <p:txBody>
          <a:bodyPr wrap="square" lIns="38100" tIns="38100" rIns="38100" bIns="38100" rtlCol="0" anchor="ctr"/>
          <a:lstStyle/>
          <a:p>
            <a:pPr algn="ctr" indent="0" marL="0">
              <a:buNone/>
            </a:pPr>
            <a:r>
              <a:rPr lang="tr-TR" sz="1600" b="1" dirty="0">
                <a:solidFill>
                  <a:srgbClr val="36454F"/>
                </a:solidFill>
                <a:latin typeface="Calibri" pitchFamily="34" charset="0"/>
                <a:ea typeface="Calibri" pitchFamily="34" charset="-122"/>
                <a:cs typeface="Calibri" pitchFamily="34" charset="-120"/>
              </a:rPr>
              <a:t>d</a:t>
            </a:r>
            <a:endParaRPr lang="tr-TR" sz="1600" dirty="0"/>
          </a:p>
        </p:txBody>
      </p:sp>
      <p:sp>
        <p:nvSpPr>
          <p:cNvPr id="29" name="Shape 27"/>
          <p:cNvSpPr/>
          <p:nvPr/>
        </p:nvSpPr>
        <p:spPr>
          <a:xfrm>
            <a:off x="8110728" y="3246120"/>
            <a:ext cx="667512" cy="91"/>
          </a:xfrm>
          <a:prstGeom prst="line">
            <a:avLst/>
          </a:prstGeom>
          <a:noFill/>
          <a:ln w="19050">
            <a:solidFill>
              <a:srgbClr val="50808E"/>
            </a:solidFill>
            <a:prstDash val="solid"/>
            <a:tailEnd type="triangle"/>
          </a:ln>
        </p:spPr>
      </p:sp>
      <p:sp>
        <p:nvSpPr>
          <p:cNvPr id="30" name="Shape 28"/>
          <p:cNvSpPr/>
          <p:nvPr/>
        </p:nvSpPr>
        <p:spPr>
          <a:xfrm>
            <a:off x="8823960" y="2240280"/>
            <a:ext cx="1097280" cy="3200400"/>
          </a:xfrm>
          <a:prstGeom prst="roundRect">
            <a:avLst>
              <a:gd name="adj" fmla="val 4167"/>
            </a:avLst>
          </a:prstGeom>
          <a:solidFill>
            <a:srgbClr val="F2F2F2"/>
          </a:solidFill>
          <a:ln/>
        </p:spPr>
      </p:sp>
      <p:sp>
        <p:nvSpPr>
          <p:cNvPr id="31" name="Text 29"/>
          <p:cNvSpPr txBox="1"/>
          <p:nvPr/>
        </p:nvSpPr>
        <p:spPr>
          <a:xfrm>
            <a:off x="8823960" y="2240280"/>
            <a:ext cx="1097280" cy="3200400"/>
          </a:xfrm>
          <a:prstGeom prst="rect">
            <a:avLst/>
          </a:prstGeom>
          <a:noFill/>
          <a:ln/>
        </p:spPr>
        <p:txBody>
          <a:bodyPr wrap="square" lIns="38100" tIns="38100" rIns="38100" bIns="38100" rtlCol="0" anchor="ctr"/>
          <a:lstStyle/>
          <a:p>
            <a:pPr algn="ctr" indent="0" marL="0">
              <a:buNone/>
            </a:pPr>
            <a:r>
              <a:rPr lang="tr-TR" sz="1300" b="1" dirty="0">
                <a:solidFill>
                  <a:srgbClr val="36454F"/>
                </a:solidFill>
                <a:latin typeface="Calibri" pitchFamily="34" charset="0"/>
                <a:ea typeface="Calibri" pitchFamily="34" charset="-122"/>
                <a:cs typeface="Calibri" pitchFamily="34" charset="-120"/>
              </a:rPr>
              <a:t>Bellek</a:t>
            </a:r>
            <a:endParaRPr lang="tr-TR" sz="1300" dirty="0"/>
          </a:p>
        </p:txBody>
      </p:sp>
      <p:sp>
        <p:nvSpPr>
          <p:cNvPr id="32" name="Shape 30"/>
          <p:cNvSpPr/>
          <p:nvPr/>
        </p:nvSpPr>
        <p:spPr>
          <a:xfrm>
            <a:off x="4709160" y="4178808"/>
            <a:ext cx="91" cy="530352"/>
          </a:xfrm>
          <a:prstGeom prst="line">
            <a:avLst/>
          </a:prstGeom>
          <a:noFill/>
          <a:ln w="22225">
            <a:solidFill>
              <a:srgbClr val="B5453A"/>
            </a:solidFill>
            <a:prstDash val="solid"/>
            <a:tailEnd type="triangle"/>
          </a:ln>
        </p:spPr>
      </p:sp>
      <p:sp>
        <p:nvSpPr>
          <p:cNvPr id="33" name="Text 31"/>
          <p:cNvSpPr txBox="1"/>
          <p:nvPr/>
        </p:nvSpPr>
        <p:spPr>
          <a:xfrm>
            <a:off x="4800600" y="4251960"/>
            <a:ext cx="731520" cy="274320"/>
          </a:xfrm>
          <a:prstGeom prst="rect">
            <a:avLst/>
          </a:prstGeom>
          <a:noFill/>
          <a:ln/>
        </p:spPr>
        <p:txBody>
          <a:bodyPr wrap="square" lIns="0" tIns="0" rIns="0" bIns="0" rtlCol="0" anchor="t"/>
          <a:lstStyle/>
          <a:p>
            <a:pPr indent="0" marL="0">
              <a:buNone/>
            </a:pPr>
            <a:r>
              <a:rPr lang="tr-TR" sz="1200" b="1" dirty="0">
                <a:solidFill>
                  <a:srgbClr val="B5453A"/>
                </a:solidFill>
                <a:latin typeface="Calibri" pitchFamily="34" charset="0"/>
                <a:ea typeface="Calibri" pitchFamily="34" charset="-122"/>
                <a:cs typeface="Calibri" pitchFamily="34" charset="-120"/>
              </a:rPr>
              <a:t>ıska</a:t>
            </a:r>
            <a:endParaRPr lang="tr-TR" sz="1200" dirty="0"/>
          </a:p>
        </p:txBody>
      </p:sp>
      <p:sp>
        <p:nvSpPr>
          <p:cNvPr id="34" name="Shape 32"/>
          <p:cNvSpPr/>
          <p:nvPr/>
        </p:nvSpPr>
        <p:spPr>
          <a:xfrm>
            <a:off x="3657600" y="4754880"/>
            <a:ext cx="2103120" cy="777240"/>
          </a:xfrm>
          <a:prstGeom prst="roundRect">
            <a:avLst>
              <a:gd name="adj" fmla="val 5882"/>
            </a:avLst>
          </a:prstGeom>
          <a:solidFill>
            <a:srgbClr val="F2F2F2"/>
          </a:solidFill>
          <a:ln/>
        </p:spPr>
      </p:sp>
      <p:sp>
        <p:nvSpPr>
          <p:cNvPr id="35" name="Text 33"/>
          <p:cNvSpPr txBox="1"/>
          <p:nvPr/>
        </p:nvSpPr>
        <p:spPr>
          <a:xfrm>
            <a:off x="3657600" y="4754880"/>
            <a:ext cx="2103120" cy="777240"/>
          </a:xfrm>
          <a:prstGeom prst="rect">
            <a:avLst/>
          </a:prstGeom>
          <a:noFill/>
          <a:ln/>
        </p:spPr>
        <p:txBody>
          <a:bodyPr wrap="square" lIns="38100" tIns="38100" rIns="38100" bIns="38100" rtlCol="0" anchor="ctr"/>
          <a:lstStyle/>
          <a:p>
            <a:pPr algn="ctr" indent="0" marL="0">
              <a:buNone/>
            </a:pPr>
            <a:r>
              <a:rPr lang="tr-TR" sz="1300" b="1" dirty="0">
                <a:solidFill>
                  <a:srgbClr val="36454F"/>
                </a:solidFill>
                <a:latin typeface="Calibri" pitchFamily="34" charset="0"/>
                <a:ea typeface="Calibri" pitchFamily="34" charset="-122"/>
                <a:cs typeface="Calibri" pitchFamily="34" charset="-120"/>
              </a:rPr>
              <a:t>sayfa tablosu</a:t>
            </a:r>
            <a:endParaRPr lang="tr-TR" sz="1300" dirty="0"/>
          </a:p>
          <a:p>
            <a:pPr algn="ctr" indent="0" marL="0">
              <a:buNone/>
            </a:pPr>
            <a:r>
              <a:rPr lang="tr-TR" sz="1100" dirty="0">
                <a:solidFill>
                  <a:srgbClr val="36454F"/>
                </a:solidFill>
                <a:latin typeface="Calibri" pitchFamily="34" charset="0"/>
                <a:ea typeface="Calibri" pitchFamily="34" charset="-122"/>
                <a:cs typeface="Calibri" pitchFamily="34" charset="-120"/>
              </a:rPr>
              <a:t>RAM'de: +1 erişim</a:t>
            </a:r>
            <a:endParaRPr lang="tr-TR" sz="1300" dirty="0"/>
          </a:p>
        </p:txBody>
      </p:sp>
      <p:sp>
        <p:nvSpPr>
          <p:cNvPr id="36" name="Shape 34"/>
          <p:cNvSpPr/>
          <p:nvPr/>
        </p:nvSpPr>
        <p:spPr>
          <a:xfrm flipV="1">
            <a:off x="5779008" y="3593592"/>
            <a:ext cx="1490472" cy="1527048"/>
          </a:xfrm>
          <a:prstGeom prst="line">
            <a:avLst/>
          </a:prstGeom>
          <a:noFill/>
          <a:ln w="19050">
            <a:solidFill>
              <a:srgbClr val="B5453A"/>
            </a:solidFill>
            <a:prstDash val="solid"/>
            <a:tailEnd type="triangle"/>
          </a:ln>
        </p:spPr>
      </p:sp>
      <p:sp>
        <p:nvSpPr>
          <p:cNvPr id="37" name="Text 35"/>
          <p:cNvSpPr txBox="1"/>
          <p:nvPr/>
        </p:nvSpPr>
        <p:spPr>
          <a:xfrm>
            <a:off x="5989320" y="4846320"/>
            <a:ext cx="2377440" cy="274320"/>
          </a:xfrm>
          <a:prstGeom prst="rect">
            <a:avLst/>
          </a:prstGeom>
          <a:noFill/>
          <a:ln/>
        </p:spPr>
        <p:txBody>
          <a:bodyPr wrap="square" lIns="0" tIns="0" rIns="0" bIns="0" rtlCol="0" anchor="t"/>
          <a:lstStyle/>
          <a:p>
            <a:pPr indent="0" marL="0">
              <a:buNone/>
            </a:pPr>
            <a:r>
              <a:rPr lang="tr-TR" sz="1100" i="1" dirty="0">
                <a:solidFill>
                  <a:srgbClr val="B5453A"/>
                </a:solidFill>
                <a:latin typeface="Calibri" pitchFamily="34" charset="0"/>
                <a:ea typeface="Calibri" pitchFamily="34" charset="-122"/>
                <a:cs typeface="Calibri" pitchFamily="34" charset="-120"/>
              </a:rPr>
              <a:t>girdiyi TLB'ye kopyala</a:t>
            </a:r>
            <a:endParaRPr lang="tr-TR" sz="1100" dirty="0"/>
          </a:p>
        </p:txBody>
      </p:sp>
      <p:sp>
        <p:nvSpPr>
          <p:cNvPr id="38" name="Shape 36"/>
          <p:cNvSpPr/>
          <p:nvPr/>
        </p:nvSpPr>
        <p:spPr>
          <a:xfrm>
            <a:off x="10104120" y="2240280"/>
            <a:ext cx="1554480" cy="3200400"/>
          </a:xfrm>
          <a:prstGeom prst="roundRect">
            <a:avLst>
              <a:gd name="adj" fmla="val 3529"/>
            </a:avLst>
          </a:prstGeom>
          <a:solidFill>
            <a:srgbClr val="F2F2F2"/>
          </a:solidFill>
          <a:ln/>
          <a:effectLst>
            <a:outerShdw sx="100000" sy="100000" kx="0" ky="0" algn="bl" rotWithShape="0" blurRad="101600" dist="25400" dir="5400000">
              <a:srgbClr val="000000">
                <a:alpha val="12000"/>
              </a:srgbClr>
            </a:outerShdw>
          </a:effectLst>
        </p:spPr>
      </p:sp>
      <p:sp>
        <p:nvSpPr>
          <p:cNvPr id="39" name="Text 37"/>
          <p:cNvSpPr txBox="1"/>
          <p:nvPr/>
        </p:nvSpPr>
        <p:spPr>
          <a:xfrm>
            <a:off x="10332720" y="2423160"/>
            <a:ext cx="1097280" cy="288036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İsabet: 1 bellek erişimi.</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Iska: 2 bellek erişimi.</a:t>
            </a:r>
            <a:endParaRPr lang="tr-TR" sz="1300" dirty="0"/>
          </a:p>
        </p:txBody>
      </p:sp>
      <p:sp>
        <p:nvSpPr>
          <p:cNvPr id="40" name="Shape 38"/>
          <p:cNvSpPr/>
          <p:nvPr/>
        </p:nvSpPr>
        <p:spPr>
          <a:xfrm>
            <a:off x="548640" y="5623560"/>
            <a:ext cx="11109960" cy="640080"/>
          </a:xfrm>
          <a:prstGeom prst="roundRect">
            <a:avLst>
              <a:gd name="adj" fmla="val 8571"/>
            </a:avLst>
          </a:prstGeom>
          <a:solidFill>
            <a:srgbClr val="36454F"/>
          </a:solidFill>
          <a:ln/>
          <a:effectLst>
            <a:outerShdw sx="100000" sy="100000" kx="0" ky="0" algn="bl" rotWithShape="0" blurRad="101600" dist="25400" dir="5400000">
              <a:srgbClr val="000000">
                <a:alpha val="12000"/>
              </a:srgbClr>
            </a:outerShdw>
          </a:effectLst>
        </p:spPr>
      </p:sp>
      <p:sp>
        <p:nvSpPr>
          <p:cNvPr id="41" name="Text 39"/>
          <p:cNvSpPr txBox="1"/>
          <p:nvPr/>
        </p:nvSpPr>
        <p:spPr>
          <a:xfrm>
            <a:off x="777240" y="5623560"/>
            <a:ext cx="10652760" cy="640080"/>
          </a:xfrm>
          <a:prstGeom prst="rect">
            <a:avLst/>
          </a:prstGeom>
          <a:noFill/>
          <a:ln/>
        </p:spPr>
        <p:txBody>
          <a:bodyPr wrap="square" lIns="0" tIns="0" rIns="0" bIns="0" rtlCol="0" anchor="ctr"/>
          <a:lstStyle/>
          <a:p>
            <a:pPr indent="0" marL="0">
              <a:buNone/>
            </a:pPr>
            <a:r>
              <a:rPr lang="tr-TR" sz="1350" dirty="0">
                <a:solidFill>
                  <a:srgbClr val="F2F2F2"/>
                </a:solidFill>
                <a:latin typeface="Calibri" pitchFamily="34" charset="0"/>
                <a:ea typeface="Calibri" pitchFamily="34" charset="-122"/>
                <a:cs typeface="Calibri" pitchFamily="34" charset="-120"/>
              </a:rPr>
              <a:t>TLB (translation look-aside buffer, çeviri önbelleği): MMU'nun içinde küçük (≈ 64 – 1536 girdi), çok hızlı, ilişkisel bir bellek.</a:t>
            </a:r>
            <a:endParaRPr lang="tr-TR"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ÇÖZÜMLÜ ÖRNEK</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Etkin Erişim Süresi (EAT)</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Bizim uzlaşımımız: TLB arama süresi t_TLB her erişimde sayılır; bir ıska fazladan bir bellek erişimine mal olur.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6  ·  25</a:t>
            </a:r>
            <a:endParaRPr lang="tr-TR" sz="900" dirty="0"/>
          </a:p>
        </p:txBody>
      </p:sp>
      <p:sp>
        <p:nvSpPr>
          <p:cNvPr id="7" name="Shape 5"/>
          <p:cNvSpPr/>
          <p:nvPr/>
        </p:nvSpPr>
        <p:spPr>
          <a:xfrm>
            <a:off x="548640" y="2103120"/>
            <a:ext cx="6035040" cy="1143000"/>
          </a:xfrm>
          <a:prstGeom prst="roundRect">
            <a:avLst>
              <a:gd name="adj" fmla="val 4000"/>
            </a:avLst>
          </a:prstGeom>
          <a:solidFill>
            <a:srgbClr val="212121"/>
          </a:solidFill>
          <a:ln/>
        </p:spPr>
      </p:sp>
      <p:sp>
        <p:nvSpPr>
          <p:cNvPr id="8" name="Text 6"/>
          <p:cNvSpPr txBox="1"/>
          <p:nvPr/>
        </p:nvSpPr>
        <p:spPr>
          <a:xfrm>
            <a:off x="731520" y="2212848"/>
            <a:ext cx="5669280" cy="923544"/>
          </a:xfrm>
          <a:prstGeom prst="rect">
            <a:avLst/>
          </a:prstGeom>
          <a:noFill/>
          <a:ln/>
        </p:spPr>
        <p:txBody>
          <a:bodyPr wrap="square" lIns="0" tIns="0" rIns="0" bIns="0" rtlCol="0" anchor="t"/>
          <a:lstStyle/>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EAT = α (t_TLB + t_m) + (1 − α)(t_TLB + 2 t_m)</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    = t_TLB + (2 − α) t_m       α = TLB isabet oranı</a:t>
            </a:r>
            <a:endParaRPr lang="tr-TR" sz="1400" dirty="0"/>
          </a:p>
        </p:txBody>
      </p:sp>
      <p:sp>
        <p:nvSpPr>
          <p:cNvPr id="9" name="Shape 7"/>
          <p:cNvSpPr/>
          <p:nvPr/>
        </p:nvSpPr>
        <p:spPr>
          <a:xfrm>
            <a:off x="548640" y="3429000"/>
            <a:ext cx="6035040" cy="2834640"/>
          </a:xfrm>
          <a:prstGeom prst="roundRect">
            <a:avLst>
              <a:gd name="adj" fmla="val 1613"/>
            </a:avLst>
          </a:prstGeom>
          <a:solidFill>
            <a:srgbClr val="212121"/>
          </a:solidFill>
          <a:ln/>
        </p:spPr>
      </p:sp>
      <p:sp>
        <p:nvSpPr>
          <p:cNvPr id="10" name="Text 8"/>
          <p:cNvSpPr txBox="1"/>
          <p:nvPr/>
        </p:nvSpPr>
        <p:spPr>
          <a:xfrm>
            <a:off x="731520" y="3538728"/>
            <a:ext cx="5669280" cy="2615184"/>
          </a:xfrm>
          <a:prstGeom prst="rect">
            <a:avLst/>
          </a:prstGeom>
          <a:noFill/>
          <a:ln/>
        </p:spPr>
        <p:txBody>
          <a:bodyPr wrap="square" lIns="0" tIns="0" rIns="0" bIns="0" rtlCol="0" anchor="t"/>
          <a:lstStyle/>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t_TLB = 20 ns,  t_m = 100 ns</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 </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α = 0.80:  0.80 × 120 + 0.20 × 220</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         = 96 + 44    = 140 ns   (%40 yavaş)</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α = 0.98:  0.98 × 120 + 0.02 × 220</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         = 117.6 + 4.4 = 122 ns  (%22 yavaş)</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TLB yok :  2 × 100    = 200 ns   (2 kat yavaş)</a:t>
            </a:r>
            <a:endParaRPr lang="tr-TR" sz="1350" dirty="0"/>
          </a:p>
        </p:txBody>
      </p:sp>
      <p:sp>
        <p:nvSpPr>
          <p:cNvPr id="11" name="Shape 9"/>
          <p:cNvSpPr/>
          <p:nvPr/>
        </p:nvSpPr>
        <p:spPr>
          <a:xfrm>
            <a:off x="6812280" y="2103120"/>
            <a:ext cx="4846320" cy="4160520"/>
          </a:xfrm>
          <a:prstGeom prst="roundRect">
            <a:avLst>
              <a:gd name="adj" fmla="val 1319"/>
            </a:avLst>
          </a:prstGeom>
          <a:solidFill>
            <a:srgbClr val="F2F2F2"/>
          </a:solidFill>
          <a:ln/>
          <a:effectLst>
            <a:outerShdw sx="100000" sy="100000" kx="0" ky="0" algn="bl" rotWithShape="0" blurRad="101600" dist="25400" dir="5400000">
              <a:srgbClr val="000000">
                <a:alpha val="12000"/>
              </a:srgbClr>
            </a:outerShdw>
          </a:effectLst>
        </p:spPr>
      </p:sp>
      <p:sp>
        <p:nvSpPr>
          <p:cNvPr id="12" name="Text 10"/>
          <p:cNvSpPr txBox="1"/>
          <p:nvPr/>
        </p:nvSpPr>
        <p:spPr>
          <a:xfrm>
            <a:off x="7040880" y="2286000"/>
            <a:ext cx="438912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Sonucu yorumlamak</a:t>
            </a:r>
            <a:endParaRPr lang="tr-TR" sz="1500" dirty="0"/>
          </a:p>
        </p:txBody>
      </p:sp>
      <p:sp>
        <p:nvSpPr>
          <p:cNvPr id="13" name="Text 11"/>
          <p:cNvSpPr txBox="1"/>
          <p:nvPr/>
        </p:nvSpPr>
        <p:spPr>
          <a:xfrm>
            <a:off x="7040880" y="2743200"/>
            <a:ext cx="4389120" cy="338328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TLB olmasaydı sayfalama her bellek erişimini iki katına çıkarırdı.</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En çok isabet oranı önemlidir: %80 → %98, erişim başına 18 ns kazandırır.</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Modern sadeleştirme</a:t>
            </a:r>
            <a:r>
              <a:rPr lang="tr-TR" sz="1350" dirty="0">
                <a:solidFill>
                  <a:srgbClr val="3A464C"/>
                </a:solidFill>
                <a:latin typeface="Calibri" pitchFamily="34" charset="0"/>
                <a:ea typeface="Calibri" pitchFamily="34" charset="-122"/>
                <a:cs typeface="Calibri" pitchFamily="34" charset="-120"/>
              </a:rPr>
              <a:t> (Silberschatz 10. baskı): TLB araması başka işlerle örtüştüğü için t_TLB ≈ 0: EAT = α t_m + (1 − α) 2 t_m → α = 0,80 için 120 ns, α = 0,99 için 101 ns.</a:t>
            </a:r>
            <a:endParaRPr lang="tr-TR"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KORUMA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Koruma Bitleri ve Geçerli–Geçersiz Bit</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Her sayfa tablosu girdisi bir çerçeve numarasından fazlasını taşır. MMU bitleri her erişimde denetler.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6  ·  26</a:t>
            </a:r>
            <a:endParaRPr lang="tr-TR" sz="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6035040" cy="914400"/>
        </p:xfrm>
        <a:graphic>
          <a:graphicData uri="http://schemas.openxmlformats.org/drawingml/2006/table">
            <a:tbl>
              <a:tblPr/>
              <a:tblGrid>
                <a:gridCol w="960120"/>
                <a:gridCol w="1051560"/>
                <a:gridCol w="914400"/>
                <a:gridCol w="1097280"/>
                <a:gridCol w="2011680"/>
              </a:tblGrid>
              <a:tr h="0">
                <a:tc>
                  <a:txBody>
                    <a:bodyPr/>
                    <a:lstStyle/>
                    <a:p>
                      <a:pPr indent="0" marL="0">
                        <a:buNone/>
                      </a:pPr>
                      <a:r>
                        <a:rPr lang="tr-TR" sz="1400" b="1" dirty="0">
                          <a:solidFill>
                            <a:srgbClr val="FFFFFF"/>
                          </a:solidFill>
                          <a:latin typeface="Cambria" pitchFamily="34" charset="0"/>
                          <a:ea typeface="Cambria" pitchFamily="34" charset="-122"/>
                          <a:cs typeface="Cambria" pitchFamily="34" charset="-120"/>
                        </a:rPr>
                        <a:t>Sayfa</a:t>
                      </a:r>
                      <a:endParaRPr lang="tr-TR" sz="1400" dirty="0">
                        <a:latin typeface="Cambria" charset="0"/>
                        <a:ea typeface="Cambria" charset="0"/>
                        <a:cs typeface="Cambria"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400" b="1" dirty="0">
                          <a:solidFill>
                            <a:srgbClr val="FFFFFF"/>
                          </a:solidFill>
                          <a:latin typeface="Cambria" pitchFamily="34" charset="0"/>
                          <a:ea typeface="Cambria" pitchFamily="34" charset="-122"/>
                          <a:cs typeface="Cambria" pitchFamily="34" charset="-120"/>
                        </a:rPr>
                        <a:t>Çerçeve</a:t>
                      </a:r>
                      <a:endParaRPr lang="tr-TR" sz="1400" dirty="0">
                        <a:latin typeface="Cambria" charset="0"/>
                        <a:ea typeface="Cambria" charset="0"/>
                        <a:cs typeface="Cambria"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400" b="1" dirty="0">
                          <a:solidFill>
                            <a:srgbClr val="FFFFFF"/>
                          </a:solidFill>
                          <a:latin typeface="Cambria" pitchFamily="34" charset="0"/>
                          <a:ea typeface="Cambria" pitchFamily="34" charset="-122"/>
                          <a:cs typeface="Cambria" pitchFamily="34" charset="-120"/>
                        </a:rPr>
                        <a:t>Geçerli</a:t>
                      </a:r>
                      <a:endParaRPr lang="tr-TR" sz="1400" dirty="0">
                        <a:latin typeface="Cambria" charset="0"/>
                        <a:ea typeface="Cambria" charset="0"/>
                        <a:cs typeface="Cambria"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400" b="1" dirty="0">
                          <a:solidFill>
                            <a:srgbClr val="FFFFFF"/>
                          </a:solidFill>
                          <a:latin typeface="Cambria" pitchFamily="34" charset="0"/>
                          <a:ea typeface="Cambria" pitchFamily="34" charset="-122"/>
                          <a:cs typeface="Cambria" pitchFamily="34" charset="-120"/>
                        </a:rPr>
                        <a:t>İzinler</a:t>
                      </a:r>
                      <a:endParaRPr lang="tr-TR" sz="1400" dirty="0">
                        <a:latin typeface="Cambria" charset="0"/>
                        <a:ea typeface="Cambria" charset="0"/>
                        <a:cs typeface="Cambria"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400" b="1" dirty="0">
                          <a:solidFill>
                            <a:srgbClr val="FFFFFF"/>
                          </a:solidFill>
                          <a:latin typeface="Cambria" pitchFamily="34" charset="0"/>
                          <a:ea typeface="Cambria" pitchFamily="34" charset="-122"/>
                          <a:cs typeface="Cambria" pitchFamily="34" charset="-120"/>
                        </a:rPr>
                        <a:t>İçerik</a:t>
                      </a:r>
                      <a:endParaRPr lang="tr-TR" sz="1400" dirty="0">
                        <a:latin typeface="Cambria" charset="0"/>
                        <a:ea typeface="Cambria" charset="0"/>
                        <a:cs typeface="Cambria"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400" b="1" dirty="0">
                          <a:solidFill>
                            <a:srgbClr val="3A464C"/>
                          </a:solidFill>
                          <a:latin typeface="Calibri" pitchFamily="34" charset="0"/>
                          <a:ea typeface="Calibri" pitchFamily="34" charset="-122"/>
                          <a:cs typeface="Calibri" pitchFamily="34" charset="-120"/>
                        </a:rPr>
                        <a:t>0</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5</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v</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onsolas" pitchFamily="34" charset="0"/>
                          <a:ea typeface="Consolas" pitchFamily="34" charset="-122"/>
                          <a:cs typeface="Consolas" pitchFamily="34" charset="-120"/>
                        </a:rPr>
                        <a:t>r-x</a:t>
                      </a:r>
                      <a:endParaRPr lang="tr-TR"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kod</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00" b="1" dirty="0">
                          <a:solidFill>
                            <a:srgbClr val="3A464C"/>
                          </a:solidFill>
                          <a:latin typeface="Calibri" pitchFamily="34" charset="0"/>
                          <a:ea typeface="Calibri" pitchFamily="34" charset="-122"/>
                          <a:cs typeface="Calibri" pitchFamily="34" charset="-120"/>
                        </a:rPr>
                        <a:t>1</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9</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v</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onsolas" pitchFamily="34" charset="0"/>
                          <a:ea typeface="Consolas" pitchFamily="34" charset="-122"/>
                          <a:cs typeface="Consolas" pitchFamily="34" charset="-120"/>
                        </a:rPr>
                        <a:t>r-x</a:t>
                      </a:r>
                      <a:endParaRPr lang="tr-TR"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kod</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400" b="1" dirty="0">
                          <a:solidFill>
                            <a:srgbClr val="3A464C"/>
                          </a:solidFill>
                          <a:latin typeface="Calibri" pitchFamily="34" charset="0"/>
                          <a:ea typeface="Calibri" pitchFamily="34" charset="-122"/>
                          <a:cs typeface="Calibri" pitchFamily="34" charset="-120"/>
                        </a:rPr>
                        <a:t>2</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1</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v</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onsolas" pitchFamily="34" charset="0"/>
                          <a:ea typeface="Consolas" pitchFamily="34" charset="-122"/>
                          <a:cs typeface="Consolas" pitchFamily="34" charset="-120"/>
                        </a:rPr>
                        <a:t>rw-</a:t>
                      </a:r>
                      <a:endParaRPr lang="tr-TR"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veri</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00" b="1" dirty="0">
                          <a:solidFill>
                            <a:srgbClr val="3A464C"/>
                          </a:solidFill>
                          <a:latin typeface="Calibri" pitchFamily="34" charset="0"/>
                          <a:ea typeface="Calibri" pitchFamily="34" charset="-122"/>
                          <a:cs typeface="Calibri" pitchFamily="34" charset="-120"/>
                        </a:rPr>
                        <a:t>3</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7</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v</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onsolas" pitchFamily="34" charset="0"/>
                          <a:ea typeface="Consolas" pitchFamily="34" charset="-122"/>
                          <a:cs typeface="Consolas" pitchFamily="34" charset="-120"/>
                        </a:rPr>
                        <a:t>rw-</a:t>
                      </a:r>
                      <a:endParaRPr lang="tr-TR"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öbek (heap)</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400" b="1" dirty="0">
                          <a:solidFill>
                            <a:srgbClr val="3A464C"/>
                          </a:solidFill>
                          <a:latin typeface="Calibri" pitchFamily="34" charset="0"/>
                          <a:ea typeface="Calibri" pitchFamily="34" charset="-122"/>
                          <a:cs typeface="Calibri" pitchFamily="34" charset="-120"/>
                        </a:rPr>
                        <a:t>4</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12</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v</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onsolas" pitchFamily="34" charset="0"/>
                          <a:ea typeface="Consolas" pitchFamily="34" charset="-122"/>
                          <a:cs typeface="Consolas" pitchFamily="34" charset="-120"/>
                        </a:rPr>
                        <a:t>rw-</a:t>
                      </a:r>
                      <a:endParaRPr lang="tr-TR"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yığıt (stack)</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00" b="1" dirty="0">
                          <a:solidFill>
                            <a:srgbClr val="B5453A"/>
                          </a:solidFill>
                          <a:latin typeface="Calibri" pitchFamily="34" charset="0"/>
                          <a:ea typeface="Calibri" pitchFamily="34" charset="-122"/>
                          <a:cs typeface="Calibri" pitchFamily="34" charset="-120"/>
                        </a:rPr>
                        <a:t>5 … 15</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B5453A"/>
                          </a:solidFill>
                          <a:latin typeface="Calibri" pitchFamily="34" charset="0"/>
                          <a:ea typeface="Calibri" pitchFamily="34" charset="-122"/>
                          <a:cs typeface="Calibri" pitchFamily="34" charset="-120"/>
                        </a:rPr>
                        <a:t>—</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B5453A"/>
                          </a:solidFill>
                          <a:latin typeface="Calibri" pitchFamily="34" charset="0"/>
                          <a:ea typeface="Calibri" pitchFamily="34" charset="-122"/>
                          <a:cs typeface="Calibri" pitchFamily="34" charset="-120"/>
                        </a:rPr>
                        <a:t>i</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B5453A"/>
                          </a:solidFill>
                          <a:latin typeface="Consolas" pitchFamily="34" charset="0"/>
                          <a:ea typeface="Consolas" pitchFamily="34" charset="-122"/>
                          <a:cs typeface="Consolas" pitchFamily="34" charset="-120"/>
                        </a:rPr>
                        <a:t>—</a:t>
                      </a:r>
                      <a:endParaRPr lang="tr-TR" sz="1400" dirty="0">
                        <a:latin typeface="Consolas" charset="0"/>
                        <a:ea typeface="Consolas" charset="0"/>
                        <a:cs typeface="Consolas"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B5453A"/>
                          </a:solidFill>
                          <a:latin typeface="Calibri" pitchFamily="34" charset="0"/>
                          <a:ea typeface="Calibri" pitchFamily="34" charset="-122"/>
                          <a:cs typeface="Calibri" pitchFamily="34" charset="-120"/>
                        </a:rPr>
                        <a:t>sürecin parçası değil</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548640" y="5257800"/>
            <a:ext cx="6035040" cy="274320"/>
          </a:xfrm>
          <a:prstGeom prst="rect">
            <a:avLst/>
          </a:prstGeom>
          <a:noFill/>
          <a:ln/>
        </p:spPr>
        <p:txBody>
          <a:bodyPr wrap="square" lIns="0" tIns="0" rIns="0" bIns="0" rtlCol="0" anchor="t"/>
          <a:lstStyle/>
          <a:p>
            <a:pPr indent="0" marL="0">
              <a:buNone/>
            </a:pPr>
            <a:r>
              <a:rPr lang="tr-TR" sz="1200" i="1" dirty="0">
                <a:solidFill>
                  <a:srgbClr val="6B7679"/>
                </a:solidFill>
                <a:latin typeface="Calibri" pitchFamily="34" charset="0"/>
                <a:ea typeface="Calibri" pitchFamily="34" charset="-122"/>
                <a:cs typeface="Calibri" pitchFamily="34" charset="-120"/>
              </a:rPr>
              <a:t>v = geçerli (valid), i = geçersiz (invalid)</a:t>
            </a:r>
            <a:endParaRPr lang="tr-TR" sz="1200" dirty="0"/>
          </a:p>
        </p:txBody>
      </p:sp>
      <p:sp>
        <p:nvSpPr>
          <p:cNvPr id="9" name="Shape 6"/>
          <p:cNvSpPr/>
          <p:nvPr/>
        </p:nvSpPr>
        <p:spPr>
          <a:xfrm>
            <a:off x="6812280" y="2103120"/>
            <a:ext cx="4846320" cy="4160520"/>
          </a:xfrm>
          <a:prstGeom prst="roundRect">
            <a:avLst>
              <a:gd name="adj" fmla="val 1319"/>
            </a:avLst>
          </a:prstGeom>
          <a:solidFill>
            <a:srgbClr val="F2F2F2"/>
          </a:solidFill>
          <a:ln/>
          <a:effectLst>
            <a:outerShdw sx="100000" sy="100000" kx="0" ky="0" algn="bl" rotWithShape="0" blurRad="101600" dist="25400" dir="5400000">
              <a:srgbClr val="000000">
                <a:alpha val="12000"/>
              </a:srgbClr>
            </a:outerShdw>
          </a:effectLst>
        </p:spPr>
      </p:sp>
      <p:sp>
        <p:nvSpPr>
          <p:cNvPr id="10" name="Text 7"/>
          <p:cNvSpPr txBox="1"/>
          <p:nvPr/>
        </p:nvSpPr>
        <p:spPr>
          <a:xfrm>
            <a:off x="7040880" y="2286000"/>
            <a:ext cx="438912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Donanım neyi denetler?</a:t>
            </a:r>
            <a:endParaRPr lang="tr-TR" sz="1500" dirty="0"/>
          </a:p>
        </p:txBody>
      </p:sp>
      <p:sp>
        <p:nvSpPr>
          <p:cNvPr id="11" name="Text 8"/>
          <p:cNvSpPr txBox="1"/>
          <p:nvPr/>
        </p:nvSpPr>
        <p:spPr>
          <a:xfrm>
            <a:off x="7040880" y="2743200"/>
            <a:ext cx="4389120" cy="3383280"/>
          </a:xfrm>
          <a:prstGeom prst="rect">
            <a:avLst/>
          </a:prstGeom>
          <a:noFill/>
          <a:ln/>
        </p:spPr>
        <p:txBody>
          <a:bodyPr wrap="square" lIns="0" tIns="0" rIns="0" bIns="0" rtlCol="0" anchor="t"/>
          <a:lstStyle/>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Geçerli biti = i:</a:t>
            </a:r>
            <a:r>
              <a:rPr lang="tr-TR" sz="1350" dirty="0">
                <a:solidFill>
                  <a:srgbClr val="3A464C"/>
                </a:solidFill>
                <a:latin typeface="Calibri" pitchFamily="34" charset="0"/>
                <a:ea typeface="Calibri" pitchFamily="34" charset="-122"/>
                <a:cs typeface="Calibri" pitchFamily="34" charset="-120"/>
              </a:rPr>
              <a:t> sayfa sürecin adres uzayında değil → tuzak. Mantıksal 0x5000 (sayfa 5) tuzağa düşer.</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r-x sayfaya yazma:</a:t>
            </a:r>
            <a:r>
              <a:rPr lang="tr-TR" sz="1350" dirty="0">
                <a:solidFill>
                  <a:srgbClr val="3A464C"/>
                </a:solidFill>
                <a:latin typeface="Calibri" pitchFamily="34" charset="0"/>
                <a:ea typeface="Calibri" pitchFamily="34" charset="-122"/>
                <a:cs typeface="Calibri" pitchFamily="34" charset="-120"/>
              </a:rPr>
              <a:t> tuzak. Kodun üzerine yanlışlıkla yazılamaz.</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rw- sayfayı yürütme:</a:t>
            </a:r>
            <a:r>
              <a:rPr lang="tr-TR" sz="1350" dirty="0">
                <a:solidFill>
                  <a:srgbClr val="3A464C"/>
                </a:solidFill>
                <a:latin typeface="Calibri" pitchFamily="34" charset="0"/>
                <a:ea typeface="Calibri" pitchFamily="34" charset="-122"/>
                <a:cs typeface="Calibri" pitchFamily="34" charset="-120"/>
              </a:rPr>
              <a:t> tuzak (NX biti). Veriye kod enjekte eden birçok saldırıyı durdurur.</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Aynı r, w, x harflerini /proc/self/maps içinde göreceksiniz.</a:t>
            </a:r>
            <a:endParaRPr lang="tr-TR"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PAYLAŞIM</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Paylaşılan Sayfalar: Herkes İçin Tek C Kütüphanesi</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Salt okunur (yeniden girilebilir, reentrant) kod aynı anda birçok sürece eşlenebilir. Yalnızca veri sayfaları özeldir.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6  ·  27</a:t>
            </a:r>
            <a:endParaRPr lang="tr-TR" sz="900" dirty="0"/>
          </a:p>
        </p:txBody>
      </p:sp>
      <p:sp>
        <p:nvSpPr>
          <p:cNvPr id="7" name="Text 5"/>
          <p:cNvSpPr txBox="1"/>
          <p:nvPr/>
        </p:nvSpPr>
        <p:spPr>
          <a:xfrm>
            <a:off x="548640" y="2194560"/>
            <a:ext cx="1965960" cy="274320"/>
          </a:xfrm>
          <a:prstGeom prst="rect">
            <a:avLst/>
          </a:prstGeom>
          <a:noFill/>
          <a:ln/>
        </p:spPr>
        <p:txBody>
          <a:bodyPr wrap="square" lIns="0" tIns="0" rIns="0" bIns="0" rtlCol="0" anchor="t"/>
          <a:lstStyle/>
          <a:p>
            <a:pPr algn="ctr" indent="0" marL="0">
              <a:buNone/>
            </a:pPr>
            <a:r>
              <a:rPr lang="tr-TR" sz="1300" b="1" dirty="0">
                <a:solidFill>
                  <a:srgbClr val="36454F"/>
                </a:solidFill>
                <a:latin typeface="Calibri" pitchFamily="34" charset="0"/>
                <a:ea typeface="Calibri" pitchFamily="34" charset="-122"/>
                <a:cs typeface="Calibri" pitchFamily="34" charset="-120"/>
              </a:rPr>
              <a:t>Süreç 1</a:t>
            </a:r>
            <a:endParaRPr lang="tr-TR" sz="1300" dirty="0"/>
          </a:p>
        </p:txBody>
      </p:sp>
      <p:sp>
        <p:nvSpPr>
          <p:cNvPr id="8" name="Shape 6"/>
          <p:cNvSpPr/>
          <p:nvPr/>
        </p:nvSpPr>
        <p:spPr>
          <a:xfrm>
            <a:off x="548640" y="2560320"/>
            <a:ext cx="1965960" cy="502920"/>
          </a:xfrm>
          <a:prstGeom prst="roundRect">
            <a:avLst>
              <a:gd name="adj" fmla="val 9091"/>
            </a:avLst>
          </a:prstGeom>
          <a:solidFill>
            <a:srgbClr val="02C39A"/>
          </a:solidFill>
          <a:ln/>
        </p:spPr>
      </p:sp>
      <p:sp>
        <p:nvSpPr>
          <p:cNvPr id="9" name="Text 7"/>
          <p:cNvSpPr txBox="1"/>
          <p:nvPr/>
        </p:nvSpPr>
        <p:spPr>
          <a:xfrm>
            <a:off x="548640" y="2560320"/>
            <a:ext cx="1965960" cy="502920"/>
          </a:xfrm>
          <a:prstGeom prst="rect">
            <a:avLst/>
          </a:prstGeom>
          <a:noFill/>
          <a:ln/>
        </p:spPr>
        <p:txBody>
          <a:bodyPr wrap="square" lIns="38100" tIns="38100" rIns="38100" bIns="38100" rtlCol="0" anchor="ctr"/>
          <a:lstStyle/>
          <a:p>
            <a:pPr algn="ctr" indent="0" marL="0">
              <a:buNone/>
            </a:pPr>
            <a:r>
              <a:rPr lang="tr-TR" sz="1250" b="1" dirty="0">
                <a:solidFill>
                  <a:srgbClr val="212121"/>
                </a:solidFill>
                <a:latin typeface="Calibri" pitchFamily="34" charset="0"/>
                <a:ea typeface="Calibri" pitchFamily="34" charset="-122"/>
                <a:cs typeface="Calibri" pitchFamily="34" charset="-120"/>
              </a:rPr>
              <a:t>libc 0  → 3</a:t>
            </a:r>
            <a:endParaRPr lang="tr-TR" sz="1250" dirty="0"/>
          </a:p>
        </p:txBody>
      </p:sp>
      <p:sp>
        <p:nvSpPr>
          <p:cNvPr id="10" name="Shape 8"/>
          <p:cNvSpPr/>
          <p:nvPr/>
        </p:nvSpPr>
        <p:spPr>
          <a:xfrm>
            <a:off x="548640" y="3127248"/>
            <a:ext cx="1965960" cy="502920"/>
          </a:xfrm>
          <a:prstGeom prst="roundRect">
            <a:avLst>
              <a:gd name="adj" fmla="val 9091"/>
            </a:avLst>
          </a:prstGeom>
          <a:solidFill>
            <a:srgbClr val="02C39A"/>
          </a:solidFill>
          <a:ln/>
        </p:spPr>
      </p:sp>
      <p:sp>
        <p:nvSpPr>
          <p:cNvPr id="11" name="Text 9"/>
          <p:cNvSpPr txBox="1"/>
          <p:nvPr/>
        </p:nvSpPr>
        <p:spPr>
          <a:xfrm>
            <a:off x="548640" y="3127248"/>
            <a:ext cx="1965960" cy="502920"/>
          </a:xfrm>
          <a:prstGeom prst="rect">
            <a:avLst/>
          </a:prstGeom>
          <a:noFill/>
          <a:ln/>
        </p:spPr>
        <p:txBody>
          <a:bodyPr wrap="square" lIns="38100" tIns="38100" rIns="38100" bIns="38100" rtlCol="0" anchor="ctr"/>
          <a:lstStyle/>
          <a:p>
            <a:pPr algn="ctr" indent="0" marL="0">
              <a:buNone/>
            </a:pPr>
            <a:r>
              <a:rPr lang="tr-TR" sz="1250" b="1" dirty="0">
                <a:solidFill>
                  <a:srgbClr val="212121"/>
                </a:solidFill>
                <a:latin typeface="Calibri" pitchFamily="34" charset="0"/>
                <a:ea typeface="Calibri" pitchFamily="34" charset="-122"/>
                <a:cs typeface="Calibri" pitchFamily="34" charset="-120"/>
              </a:rPr>
              <a:t>libc 1  → 4</a:t>
            </a:r>
            <a:endParaRPr lang="tr-TR" sz="1250" dirty="0"/>
          </a:p>
        </p:txBody>
      </p:sp>
      <p:sp>
        <p:nvSpPr>
          <p:cNvPr id="12" name="Shape 10"/>
          <p:cNvSpPr/>
          <p:nvPr/>
        </p:nvSpPr>
        <p:spPr>
          <a:xfrm>
            <a:off x="548640" y="3694176"/>
            <a:ext cx="1965960" cy="502920"/>
          </a:xfrm>
          <a:prstGeom prst="roundRect">
            <a:avLst>
              <a:gd name="adj" fmla="val 9091"/>
            </a:avLst>
          </a:prstGeom>
          <a:solidFill>
            <a:srgbClr val="02C39A"/>
          </a:solidFill>
          <a:ln/>
        </p:spPr>
      </p:sp>
      <p:sp>
        <p:nvSpPr>
          <p:cNvPr id="13" name="Text 11"/>
          <p:cNvSpPr txBox="1"/>
          <p:nvPr/>
        </p:nvSpPr>
        <p:spPr>
          <a:xfrm>
            <a:off x="548640" y="3694176"/>
            <a:ext cx="1965960" cy="502920"/>
          </a:xfrm>
          <a:prstGeom prst="rect">
            <a:avLst/>
          </a:prstGeom>
          <a:noFill/>
          <a:ln/>
        </p:spPr>
        <p:txBody>
          <a:bodyPr wrap="square" lIns="38100" tIns="38100" rIns="38100" bIns="38100" rtlCol="0" anchor="ctr"/>
          <a:lstStyle/>
          <a:p>
            <a:pPr algn="ctr" indent="0" marL="0">
              <a:buNone/>
            </a:pPr>
            <a:r>
              <a:rPr lang="tr-TR" sz="1250" b="1" dirty="0">
                <a:solidFill>
                  <a:srgbClr val="212121"/>
                </a:solidFill>
                <a:latin typeface="Calibri" pitchFamily="34" charset="0"/>
                <a:ea typeface="Calibri" pitchFamily="34" charset="-122"/>
                <a:cs typeface="Calibri" pitchFamily="34" charset="-120"/>
              </a:rPr>
              <a:t>libc 2  → 6</a:t>
            </a:r>
            <a:endParaRPr lang="tr-TR" sz="1250" dirty="0"/>
          </a:p>
        </p:txBody>
      </p:sp>
      <p:sp>
        <p:nvSpPr>
          <p:cNvPr id="14" name="Shape 12"/>
          <p:cNvSpPr/>
          <p:nvPr/>
        </p:nvSpPr>
        <p:spPr>
          <a:xfrm>
            <a:off x="548640" y="4261104"/>
            <a:ext cx="1965960" cy="502920"/>
          </a:xfrm>
          <a:prstGeom prst="roundRect">
            <a:avLst>
              <a:gd name="adj" fmla="val 9091"/>
            </a:avLst>
          </a:prstGeom>
          <a:solidFill>
            <a:srgbClr val="C9D3D6"/>
          </a:solidFill>
          <a:ln/>
        </p:spPr>
      </p:sp>
      <p:sp>
        <p:nvSpPr>
          <p:cNvPr id="15" name="Text 13"/>
          <p:cNvSpPr txBox="1"/>
          <p:nvPr/>
        </p:nvSpPr>
        <p:spPr>
          <a:xfrm>
            <a:off x="548640" y="4261104"/>
            <a:ext cx="1965960" cy="502920"/>
          </a:xfrm>
          <a:prstGeom prst="rect">
            <a:avLst/>
          </a:prstGeom>
          <a:noFill/>
          <a:ln/>
        </p:spPr>
        <p:txBody>
          <a:bodyPr wrap="square" lIns="38100" tIns="38100" rIns="38100" bIns="38100" rtlCol="0" anchor="ctr"/>
          <a:lstStyle/>
          <a:p>
            <a:pPr algn="ctr" indent="0" marL="0">
              <a:buNone/>
            </a:pPr>
            <a:r>
              <a:rPr lang="tr-TR" sz="1250" b="1" dirty="0">
                <a:solidFill>
                  <a:srgbClr val="212121"/>
                </a:solidFill>
                <a:latin typeface="Calibri" pitchFamily="34" charset="0"/>
                <a:ea typeface="Calibri" pitchFamily="34" charset="-122"/>
                <a:cs typeface="Calibri" pitchFamily="34" charset="-120"/>
              </a:rPr>
              <a:t>veri  → 8</a:t>
            </a:r>
            <a:endParaRPr lang="tr-TR" sz="1250" dirty="0"/>
          </a:p>
        </p:txBody>
      </p:sp>
      <p:sp>
        <p:nvSpPr>
          <p:cNvPr id="16" name="Text 14"/>
          <p:cNvSpPr txBox="1"/>
          <p:nvPr/>
        </p:nvSpPr>
        <p:spPr>
          <a:xfrm>
            <a:off x="2697480" y="2194560"/>
            <a:ext cx="1965960" cy="274320"/>
          </a:xfrm>
          <a:prstGeom prst="rect">
            <a:avLst/>
          </a:prstGeom>
          <a:noFill/>
          <a:ln/>
        </p:spPr>
        <p:txBody>
          <a:bodyPr wrap="square" lIns="0" tIns="0" rIns="0" bIns="0" rtlCol="0" anchor="t"/>
          <a:lstStyle/>
          <a:p>
            <a:pPr algn="ctr" indent="0" marL="0">
              <a:buNone/>
            </a:pPr>
            <a:r>
              <a:rPr lang="tr-TR" sz="1300" b="1" dirty="0">
                <a:solidFill>
                  <a:srgbClr val="36454F"/>
                </a:solidFill>
                <a:latin typeface="Calibri" pitchFamily="34" charset="0"/>
                <a:ea typeface="Calibri" pitchFamily="34" charset="-122"/>
                <a:cs typeface="Calibri" pitchFamily="34" charset="-120"/>
              </a:rPr>
              <a:t>Süreç 2</a:t>
            </a:r>
            <a:endParaRPr lang="tr-TR" sz="1300" dirty="0"/>
          </a:p>
        </p:txBody>
      </p:sp>
      <p:sp>
        <p:nvSpPr>
          <p:cNvPr id="17" name="Shape 15"/>
          <p:cNvSpPr/>
          <p:nvPr/>
        </p:nvSpPr>
        <p:spPr>
          <a:xfrm>
            <a:off x="2697480" y="2560320"/>
            <a:ext cx="1965960" cy="502920"/>
          </a:xfrm>
          <a:prstGeom prst="roundRect">
            <a:avLst>
              <a:gd name="adj" fmla="val 9091"/>
            </a:avLst>
          </a:prstGeom>
          <a:solidFill>
            <a:srgbClr val="02C39A"/>
          </a:solidFill>
          <a:ln/>
        </p:spPr>
      </p:sp>
      <p:sp>
        <p:nvSpPr>
          <p:cNvPr id="18" name="Text 16"/>
          <p:cNvSpPr txBox="1"/>
          <p:nvPr/>
        </p:nvSpPr>
        <p:spPr>
          <a:xfrm>
            <a:off x="2697480" y="2560320"/>
            <a:ext cx="1965960" cy="502920"/>
          </a:xfrm>
          <a:prstGeom prst="rect">
            <a:avLst/>
          </a:prstGeom>
          <a:noFill/>
          <a:ln/>
        </p:spPr>
        <p:txBody>
          <a:bodyPr wrap="square" lIns="38100" tIns="38100" rIns="38100" bIns="38100" rtlCol="0" anchor="ctr"/>
          <a:lstStyle/>
          <a:p>
            <a:pPr algn="ctr" indent="0" marL="0">
              <a:buNone/>
            </a:pPr>
            <a:r>
              <a:rPr lang="tr-TR" sz="1250" b="1" dirty="0">
                <a:solidFill>
                  <a:srgbClr val="212121"/>
                </a:solidFill>
                <a:latin typeface="Calibri" pitchFamily="34" charset="0"/>
                <a:ea typeface="Calibri" pitchFamily="34" charset="-122"/>
                <a:cs typeface="Calibri" pitchFamily="34" charset="-120"/>
              </a:rPr>
              <a:t>libc 0  → 3</a:t>
            </a:r>
            <a:endParaRPr lang="tr-TR" sz="1250" dirty="0"/>
          </a:p>
        </p:txBody>
      </p:sp>
      <p:sp>
        <p:nvSpPr>
          <p:cNvPr id="19" name="Shape 17"/>
          <p:cNvSpPr/>
          <p:nvPr/>
        </p:nvSpPr>
        <p:spPr>
          <a:xfrm>
            <a:off x="2697480" y="3127248"/>
            <a:ext cx="1965960" cy="502920"/>
          </a:xfrm>
          <a:prstGeom prst="roundRect">
            <a:avLst>
              <a:gd name="adj" fmla="val 9091"/>
            </a:avLst>
          </a:prstGeom>
          <a:solidFill>
            <a:srgbClr val="02C39A"/>
          </a:solidFill>
          <a:ln/>
        </p:spPr>
      </p:sp>
      <p:sp>
        <p:nvSpPr>
          <p:cNvPr id="20" name="Text 18"/>
          <p:cNvSpPr txBox="1"/>
          <p:nvPr/>
        </p:nvSpPr>
        <p:spPr>
          <a:xfrm>
            <a:off x="2697480" y="3127248"/>
            <a:ext cx="1965960" cy="502920"/>
          </a:xfrm>
          <a:prstGeom prst="rect">
            <a:avLst/>
          </a:prstGeom>
          <a:noFill/>
          <a:ln/>
        </p:spPr>
        <p:txBody>
          <a:bodyPr wrap="square" lIns="38100" tIns="38100" rIns="38100" bIns="38100" rtlCol="0" anchor="ctr"/>
          <a:lstStyle/>
          <a:p>
            <a:pPr algn="ctr" indent="0" marL="0">
              <a:buNone/>
            </a:pPr>
            <a:r>
              <a:rPr lang="tr-TR" sz="1250" b="1" dirty="0">
                <a:solidFill>
                  <a:srgbClr val="212121"/>
                </a:solidFill>
                <a:latin typeface="Calibri" pitchFamily="34" charset="0"/>
                <a:ea typeface="Calibri" pitchFamily="34" charset="-122"/>
                <a:cs typeface="Calibri" pitchFamily="34" charset="-120"/>
              </a:rPr>
              <a:t>libc 1  → 4</a:t>
            </a:r>
            <a:endParaRPr lang="tr-TR" sz="1250" dirty="0"/>
          </a:p>
        </p:txBody>
      </p:sp>
      <p:sp>
        <p:nvSpPr>
          <p:cNvPr id="21" name="Shape 19"/>
          <p:cNvSpPr/>
          <p:nvPr/>
        </p:nvSpPr>
        <p:spPr>
          <a:xfrm>
            <a:off x="2697480" y="3694176"/>
            <a:ext cx="1965960" cy="502920"/>
          </a:xfrm>
          <a:prstGeom prst="roundRect">
            <a:avLst>
              <a:gd name="adj" fmla="val 9091"/>
            </a:avLst>
          </a:prstGeom>
          <a:solidFill>
            <a:srgbClr val="02C39A"/>
          </a:solidFill>
          <a:ln/>
        </p:spPr>
      </p:sp>
      <p:sp>
        <p:nvSpPr>
          <p:cNvPr id="22" name="Text 20"/>
          <p:cNvSpPr txBox="1"/>
          <p:nvPr/>
        </p:nvSpPr>
        <p:spPr>
          <a:xfrm>
            <a:off x="2697480" y="3694176"/>
            <a:ext cx="1965960" cy="502920"/>
          </a:xfrm>
          <a:prstGeom prst="rect">
            <a:avLst/>
          </a:prstGeom>
          <a:noFill/>
          <a:ln/>
        </p:spPr>
        <p:txBody>
          <a:bodyPr wrap="square" lIns="38100" tIns="38100" rIns="38100" bIns="38100" rtlCol="0" anchor="ctr"/>
          <a:lstStyle/>
          <a:p>
            <a:pPr algn="ctr" indent="0" marL="0">
              <a:buNone/>
            </a:pPr>
            <a:r>
              <a:rPr lang="tr-TR" sz="1250" b="1" dirty="0">
                <a:solidFill>
                  <a:srgbClr val="212121"/>
                </a:solidFill>
                <a:latin typeface="Calibri" pitchFamily="34" charset="0"/>
                <a:ea typeface="Calibri" pitchFamily="34" charset="-122"/>
                <a:cs typeface="Calibri" pitchFamily="34" charset="-120"/>
              </a:rPr>
              <a:t>libc 2  → 6</a:t>
            </a:r>
            <a:endParaRPr lang="tr-TR" sz="1250" dirty="0"/>
          </a:p>
        </p:txBody>
      </p:sp>
      <p:sp>
        <p:nvSpPr>
          <p:cNvPr id="23" name="Shape 21"/>
          <p:cNvSpPr/>
          <p:nvPr/>
        </p:nvSpPr>
        <p:spPr>
          <a:xfrm>
            <a:off x="2697480" y="4261104"/>
            <a:ext cx="1965960" cy="502920"/>
          </a:xfrm>
          <a:prstGeom prst="roundRect">
            <a:avLst>
              <a:gd name="adj" fmla="val 9091"/>
            </a:avLst>
          </a:prstGeom>
          <a:solidFill>
            <a:srgbClr val="C9D3D6"/>
          </a:solidFill>
          <a:ln/>
        </p:spPr>
      </p:sp>
      <p:sp>
        <p:nvSpPr>
          <p:cNvPr id="24" name="Text 22"/>
          <p:cNvSpPr txBox="1"/>
          <p:nvPr/>
        </p:nvSpPr>
        <p:spPr>
          <a:xfrm>
            <a:off x="2697480" y="4261104"/>
            <a:ext cx="1965960" cy="502920"/>
          </a:xfrm>
          <a:prstGeom prst="rect">
            <a:avLst/>
          </a:prstGeom>
          <a:noFill/>
          <a:ln/>
        </p:spPr>
        <p:txBody>
          <a:bodyPr wrap="square" lIns="38100" tIns="38100" rIns="38100" bIns="38100" rtlCol="0" anchor="ctr"/>
          <a:lstStyle/>
          <a:p>
            <a:pPr algn="ctr" indent="0" marL="0">
              <a:buNone/>
            </a:pPr>
            <a:r>
              <a:rPr lang="tr-TR" sz="1250" b="1" dirty="0">
                <a:solidFill>
                  <a:srgbClr val="212121"/>
                </a:solidFill>
                <a:latin typeface="Calibri" pitchFamily="34" charset="0"/>
                <a:ea typeface="Calibri" pitchFamily="34" charset="-122"/>
                <a:cs typeface="Calibri" pitchFamily="34" charset="-120"/>
              </a:rPr>
              <a:t>veri  → 11</a:t>
            </a:r>
            <a:endParaRPr lang="tr-TR" sz="1250" dirty="0"/>
          </a:p>
        </p:txBody>
      </p:sp>
      <p:sp>
        <p:nvSpPr>
          <p:cNvPr id="25" name="Text 23"/>
          <p:cNvSpPr txBox="1"/>
          <p:nvPr/>
        </p:nvSpPr>
        <p:spPr>
          <a:xfrm>
            <a:off x="4846320" y="2194560"/>
            <a:ext cx="1965960" cy="274320"/>
          </a:xfrm>
          <a:prstGeom prst="rect">
            <a:avLst/>
          </a:prstGeom>
          <a:noFill/>
          <a:ln/>
        </p:spPr>
        <p:txBody>
          <a:bodyPr wrap="square" lIns="0" tIns="0" rIns="0" bIns="0" rtlCol="0" anchor="t"/>
          <a:lstStyle/>
          <a:p>
            <a:pPr algn="ctr" indent="0" marL="0">
              <a:buNone/>
            </a:pPr>
            <a:r>
              <a:rPr lang="tr-TR" sz="1300" b="1" dirty="0">
                <a:solidFill>
                  <a:srgbClr val="36454F"/>
                </a:solidFill>
                <a:latin typeface="Calibri" pitchFamily="34" charset="0"/>
                <a:ea typeface="Calibri" pitchFamily="34" charset="-122"/>
                <a:cs typeface="Calibri" pitchFamily="34" charset="-120"/>
              </a:rPr>
              <a:t>Süreç 3</a:t>
            </a:r>
            <a:endParaRPr lang="tr-TR" sz="1300" dirty="0"/>
          </a:p>
        </p:txBody>
      </p:sp>
      <p:sp>
        <p:nvSpPr>
          <p:cNvPr id="26" name="Shape 24"/>
          <p:cNvSpPr/>
          <p:nvPr/>
        </p:nvSpPr>
        <p:spPr>
          <a:xfrm>
            <a:off x="4846320" y="2560320"/>
            <a:ext cx="1965960" cy="502920"/>
          </a:xfrm>
          <a:prstGeom prst="roundRect">
            <a:avLst>
              <a:gd name="adj" fmla="val 9091"/>
            </a:avLst>
          </a:prstGeom>
          <a:solidFill>
            <a:srgbClr val="02C39A"/>
          </a:solidFill>
          <a:ln/>
        </p:spPr>
      </p:sp>
      <p:sp>
        <p:nvSpPr>
          <p:cNvPr id="27" name="Text 25"/>
          <p:cNvSpPr txBox="1"/>
          <p:nvPr/>
        </p:nvSpPr>
        <p:spPr>
          <a:xfrm>
            <a:off x="4846320" y="2560320"/>
            <a:ext cx="1965960" cy="502920"/>
          </a:xfrm>
          <a:prstGeom prst="rect">
            <a:avLst/>
          </a:prstGeom>
          <a:noFill/>
          <a:ln/>
        </p:spPr>
        <p:txBody>
          <a:bodyPr wrap="square" lIns="38100" tIns="38100" rIns="38100" bIns="38100" rtlCol="0" anchor="ctr"/>
          <a:lstStyle/>
          <a:p>
            <a:pPr algn="ctr" indent="0" marL="0">
              <a:buNone/>
            </a:pPr>
            <a:r>
              <a:rPr lang="tr-TR" sz="1250" b="1" dirty="0">
                <a:solidFill>
                  <a:srgbClr val="212121"/>
                </a:solidFill>
                <a:latin typeface="Calibri" pitchFamily="34" charset="0"/>
                <a:ea typeface="Calibri" pitchFamily="34" charset="-122"/>
                <a:cs typeface="Calibri" pitchFamily="34" charset="-120"/>
              </a:rPr>
              <a:t>libc 0  → 3</a:t>
            </a:r>
            <a:endParaRPr lang="tr-TR" sz="1250" dirty="0"/>
          </a:p>
        </p:txBody>
      </p:sp>
      <p:sp>
        <p:nvSpPr>
          <p:cNvPr id="28" name="Shape 26"/>
          <p:cNvSpPr/>
          <p:nvPr/>
        </p:nvSpPr>
        <p:spPr>
          <a:xfrm>
            <a:off x="4846320" y="3127248"/>
            <a:ext cx="1965960" cy="502920"/>
          </a:xfrm>
          <a:prstGeom prst="roundRect">
            <a:avLst>
              <a:gd name="adj" fmla="val 9091"/>
            </a:avLst>
          </a:prstGeom>
          <a:solidFill>
            <a:srgbClr val="02C39A"/>
          </a:solidFill>
          <a:ln/>
        </p:spPr>
      </p:sp>
      <p:sp>
        <p:nvSpPr>
          <p:cNvPr id="29" name="Text 27"/>
          <p:cNvSpPr txBox="1"/>
          <p:nvPr/>
        </p:nvSpPr>
        <p:spPr>
          <a:xfrm>
            <a:off x="4846320" y="3127248"/>
            <a:ext cx="1965960" cy="502920"/>
          </a:xfrm>
          <a:prstGeom prst="rect">
            <a:avLst/>
          </a:prstGeom>
          <a:noFill/>
          <a:ln/>
        </p:spPr>
        <p:txBody>
          <a:bodyPr wrap="square" lIns="38100" tIns="38100" rIns="38100" bIns="38100" rtlCol="0" anchor="ctr"/>
          <a:lstStyle/>
          <a:p>
            <a:pPr algn="ctr" indent="0" marL="0">
              <a:buNone/>
            </a:pPr>
            <a:r>
              <a:rPr lang="tr-TR" sz="1250" b="1" dirty="0">
                <a:solidFill>
                  <a:srgbClr val="212121"/>
                </a:solidFill>
                <a:latin typeface="Calibri" pitchFamily="34" charset="0"/>
                <a:ea typeface="Calibri" pitchFamily="34" charset="-122"/>
                <a:cs typeface="Calibri" pitchFamily="34" charset="-120"/>
              </a:rPr>
              <a:t>libc 1  → 4</a:t>
            </a:r>
            <a:endParaRPr lang="tr-TR" sz="1250" dirty="0"/>
          </a:p>
        </p:txBody>
      </p:sp>
      <p:sp>
        <p:nvSpPr>
          <p:cNvPr id="30" name="Shape 28"/>
          <p:cNvSpPr/>
          <p:nvPr/>
        </p:nvSpPr>
        <p:spPr>
          <a:xfrm>
            <a:off x="4846320" y="3694176"/>
            <a:ext cx="1965960" cy="502920"/>
          </a:xfrm>
          <a:prstGeom prst="roundRect">
            <a:avLst>
              <a:gd name="adj" fmla="val 9091"/>
            </a:avLst>
          </a:prstGeom>
          <a:solidFill>
            <a:srgbClr val="02C39A"/>
          </a:solidFill>
          <a:ln/>
        </p:spPr>
      </p:sp>
      <p:sp>
        <p:nvSpPr>
          <p:cNvPr id="31" name="Text 29"/>
          <p:cNvSpPr txBox="1"/>
          <p:nvPr/>
        </p:nvSpPr>
        <p:spPr>
          <a:xfrm>
            <a:off x="4846320" y="3694176"/>
            <a:ext cx="1965960" cy="502920"/>
          </a:xfrm>
          <a:prstGeom prst="rect">
            <a:avLst/>
          </a:prstGeom>
          <a:noFill/>
          <a:ln/>
        </p:spPr>
        <p:txBody>
          <a:bodyPr wrap="square" lIns="38100" tIns="38100" rIns="38100" bIns="38100" rtlCol="0" anchor="ctr"/>
          <a:lstStyle/>
          <a:p>
            <a:pPr algn="ctr" indent="0" marL="0">
              <a:buNone/>
            </a:pPr>
            <a:r>
              <a:rPr lang="tr-TR" sz="1250" b="1" dirty="0">
                <a:solidFill>
                  <a:srgbClr val="212121"/>
                </a:solidFill>
                <a:latin typeface="Calibri" pitchFamily="34" charset="0"/>
                <a:ea typeface="Calibri" pitchFamily="34" charset="-122"/>
                <a:cs typeface="Calibri" pitchFamily="34" charset="-120"/>
              </a:rPr>
              <a:t>libc 2  → 6</a:t>
            </a:r>
            <a:endParaRPr lang="tr-TR" sz="1250" dirty="0"/>
          </a:p>
        </p:txBody>
      </p:sp>
      <p:sp>
        <p:nvSpPr>
          <p:cNvPr id="32" name="Shape 30"/>
          <p:cNvSpPr/>
          <p:nvPr/>
        </p:nvSpPr>
        <p:spPr>
          <a:xfrm>
            <a:off x="4846320" y="4261104"/>
            <a:ext cx="1965960" cy="502920"/>
          </a:xfrm>
          <a:prstGeom prst="roundRect">
            <a:avLst>
              <a:gd name="adj" fmla="val 9091"/>
            </a:avLst>
          </a:prstGeom>
          <a:solidFill>
            <a:srgbClr val="C9D3D6"/>
          </a:solidFill>
          <a:ln/>
        </p:spPr>
      </p:sp>
      <p:sp>
        <p:nvSpPr>
          <p:cNvPr id="33" name="Text 31"/>
          <p:cNvSpPr txBox="1"/>
          <p:nvPr/>
        </p:nvSpPr>
        <p:spPr>
          <a:xfrm>
            <a:off x="4846320" y="4261104"/>
            <a:ext cx="1965960" cy="502920"/>
          </a:xfrm>
          <a:prstGeom prst="rect">
            <a:avLst/>
          </a:prstGeom>
          <a:noFill/>
          <a:ln/>
        </p:spPr>
        <p:txBody>
          <a:bodyPr wrap="square" lIns="38100" tIns="38100" rIns="38100" bIns="38100" rtlCol="0" anchor="ctr"/>
          <a:lstStyle/>
          <a:p>
            <a:pPr algn="ctr" indent="0" marL="0">
              <a:buNone/>
            </a:pPr>
            <a:r>
              <a:rPr lang="tr-TR" sz="1250" b="1" dirty="0">
                <a:solidFill>
                  <a:srgbClr val="212121"/>
                </a:solidFill>
                <a:latin typeface="Calibri" pitchFamily="34" charset="0"/>
                <a:ea typeface="Calibri" pitchFamily="34" charset="-122"/>
                <a:cs typeface="Calibri" pitchFamily="34" charset="-120"/>
              </a:rPr>
              <a:t>veri  → 14</a:t>
            </a:r>
            <a:endParaRPr lang="tr-TR" sz="1250" dirty="0"/>
          </a:p>
        </p:txBody>
      </p:sp>
      <p:sp>
        <p:nvSpPr>
          <p:cNvPr id="34" name="Text 32"/>
          <p:cNvSpPr txBox="1"/>
          <p:nvPr/>
        </p:nvSpPr>
        <p:spPr>
          <a:xfrm>
            <a:off x="548640" y="4754880"/>
            <a:ext cx="6309360" cy="228600"/>
          </a:xfrm>
          <a:prstGeom prst="rect">
            <a:avLst/>
          </a:prstGeom>
          <a:noFill/>
          <a:ln/>
        </p:spPr>
        <p:txBody>
          <a:bodyPr wrap="square" lIns="0" tIns="0" rIns="0" bIns="0" rtlCol="0" anchor="t"/>
          <a:lstStyle/>
          <a:p>
            <a:pPr algn="ctr" indent="0" marL="0">
              <a:buNone/>
            </a:pPr>
            <a:r>
              <a:rPr lang="tr-TR" sz="1100" i="1" dirty="0">
                <a:solidFill>
                  <a:srgbClr val="6B7679"/>
                </a:solidFill>
                <a:latin typeface="Calibri" pitchFamily="34" charset="0"/>
                <a:ea typeface="Calibri" pitchFamily="34" charset="-122"/>
                <a:cs typeface="Calibri" pitchFamily="34" charset="-120"/>
              </a:rPr>
              <a:t>girdiler şöyle okunur: sayfa → çerçeve</a:t>
            </a:r>
            <a:endParaRPr lang="tr-TR" sz="1100" dirty="0"/>
          </a:p>
        </p:txBody>
      </p:sp>
      <p:sp>
        <p:nvSpPr>
          <p:cNvPr id="35" name="Text 33"/>
          <p:cNvSpPr txBox="1"/>
          <p:nvPr/>
        </p:nvSpPr>
        <p:spPr>
          <a:xfrm>
            <a:off x="6858000" y="1828800"/>
            <a:ext cx="2560320" cy="274320"/>
          </a:xfrm>
          <a:prstGeom prst="rect">
            <a:avLst/>
          </a:prstGeom>
          <a:noFill/>
          <a:ln/>
        </p:spPr>
        <p:txBody>
          <a:bodyPr wrap="square" lIns="0" tIns="0" rIns="0" bIns="0" rtlCol="0" anchor="t"/>
          <a:lstStyle/>
          <a:p>
            <a:pPr algn="ctr" indent="0" marL="0">
              <a:buNone/>
            </a:pPr>
            <a:r>
              <a:rPr lang="tr-TR" sz="1200" b="1" dirty="0">
                <a:solidFill>
                  <a:srgbClr val="36454F"/>
                </a:solidFill>
                <a:latin typeface="Calibri" pitchFamily="34" charset="0"/>
                <a:ea typeface="Calibri" pitchFamily="34" charset="-122"/>
                <a:cs typeface="Calibri" pitchFamily="34" charset="-120"/>
              </a:rPr>
              <a:t>fiziksel çerçeveler</a:t>
            </a:r>
            <a:endParaRPr lang="tr-TR" sz="1200" dirty="0"/>
          </a:p>
        </p:txBody>
      </p:sp>
      <p:sp>
        <p:nvSpPr>
          <p:cNvPr id="36" name="Shape 34"/>
          <p:cNvSpPr/>
          <p:nvPr/>
        </p:nvSpPr>
        <p:spPr>
          <a:xfrm>
            <a:off x="7315200" y="2148840"/>
            <a:ext cx="1645920" cy="256032"/>
          </a:xfrm>
          <a:prstGeom prst="rect">
            <a:avLst/>
          </a:prstGeom>
          <a:solidFill>
            <a:srgbClr val="FFFFFF"/>
          </a:solidFill>
          <a:ln w="6350">
            <a:solidFill>
              <a:srgbClr val="AAB4B8"/>
            </a:solidFill>
            <a:prstDash val="solid"/>
          </a:ln>
        </p:spPr>
      </p:sp>
      <p:sp>
        <p:nvSpPr>
          <p:cNvPr id="37" name="Text 35"/>
          <p:cNvSpPr txBox="1"/>
          <p:nvPr/>
        </p:nvSpPr>
        <p:spPr>
          <a:xfrm>
            <a:off x="7315200" y="2148840"/>
            <a:ext cx="1645920" cy="256032"/>
          </a:xfrm>
          <a:prstGeom prst="rect">
            <a:avLst/>
          </a:prstGeom>
          <a:noFill/>
          <a:ln/>
        </p:spPr>
        <p:txBody>
          <a:bodyPr wrap="square" lIns="0" tIns="0" rIns="0" bIns="0" rtlCol="0" anchor="ctr"/>
          <a:lstStyle/>
          <a:p>
            <a:pPr algn="ctr" indent="0" marL="0">
              <a:buNone/>
            </a:pPr>
            <a:endParaRPr lang="tr-TR" sz="1000" dirty="0"/>
          </a:p>
        </p:txBody>
      </p:sp>
      <p:sp>
        <p:nvSpPr>
          <p:cNvPr id="38" name="Text 36"/>
          <p:cNvSpPr txBox="1"/>
          <p:nvPr/>
        </p:nvSpPr>
        <p:spPr>
          <a:xfrm>
            <a:off x="6858000" y="2148840"/>
            <a:ext cx="384048" cy="256032"/>
          </a:xfrm>
          <a:prstGeom prst="rect">
            <a:avLst/>
          </a:prstGeom>
          <a:noFill/>
          <a:ln/>
        </p:spPr>
        <p:txBody>
          <a:bodyPr wrap="square" lIns="0" tIns="0" rIns="0" bIns="0" rtlCol="0" anchor="ctr"/>
          <a:lstStyle/>
          <a:p>
            <a:pPr algn="r" indent="0" marL="0">
              <a:buNone/>
            </a:pPr>
            <a:r>
              <a:rPr lang="tr-TR" sz="1000" dirty="0">
                <a:solidFill>
                  <a:srgbClr val="6B7679"/>
                </a:solidFill>
                <a:latin typeface="Calibri" pitchFamily="34" charset="0"/>
                <a:ea typeface="Calibri" pitchFamily="34" charset="-122"/>
                <a:cs typeface="Calibri" pitchFamily="34" charset="-120"/>
              </a:rPr>
              <a:t>0</a:t>
            </a:r>
            <a:endParaRPr lang="tr-TR" sz="1000" dirty="0"/>
          </a:p>
        </p:txBody>
      </p:sp>
      <p:sp>
        <p:nvSpPr>
          <p:cNvPr id="39" name="Shape 37"/>
          <p:cNvSpPr/>
          <p:nvPr/>
        </p:nvSpPr>
        <p:spPr>
          <a:xfrm>
            <a:off x="7315200" y="2404872"/>
            <a:ext cx="1645920" cy="256032"/>
          </a:xfrm>
          <a:prstGeom prst="rect">
            <a:avLst/>
          </a:prstGeom>
          <a:solidFill>
            <a:srgbClr val="FFFFFF"/>
          </a:solidFill>
          <a:ln w="6350">
            <a:solidFill>
              <a:srgbClr val="AAB4B8"/>
            </a:solidFill>
            <a:prstDash val="solid"/>
          </a:ln>
        </p:spPr>
      </p:sp>
      <p:sp>
        <p:nvSpPr>
          <p:cNvPr id="40" name="Text 38"/>
          <p:cNvSpPr txBox="1"/>
          <p:nvPr/>
        </p:nvSpPr>
        <p:spPr>
          <a:xfrm>
            <a:off x="7315200" y="2404872"/>
            <a:ext cx="1645920" cy="256032"/>
          </a:xfrm>
          <a:prstGeom prst="rect">
            <a:avLst/>
          </a:prstGeom>
          <a:noFill/>
          <a:ln/>
        </p:spPr>
        <p:txBody>
          <a:bodyPr wrap="square" lIns="0" tIns="0" rIns="0" bIns="0" rtlCol="0" anchor="ctr"/>
          <a:lstStyle/>
          <a:p>
            <a:pPr algn="ctr" indent="0" marL="0">
              <a:buNone/>
            </a:pPr>
            <a:endParaRPr lang="tr-TR" sz="1000" dirty="0"/>
          </a:p>
        </p:txBody>
      </p:sp>
      <p:sp>
        <p:nvSpPr>
          <p:cNvPr id="41" name="Text 39"/>
          <p:cNvSpPr txBox="1"/>
          <p:nvPr/>
        </p:nvSpPr>
        <p:spPr>
          <a:xfrm>
            <a:off x="6858000" y="2404872"/>
            <a:ext cx="384048" cy="256032"/>
          </a:xfrm>
          <a:prstGeom prst="rect">
            <a:avLst/>
          </a:prstGeom>
          <a:noFill/>
          <a:ln/>
        </p:spPr>
        <p:txBody>
          <a:bodyPr wrap="square" lIns="0" tIns="0" rIns="0" bIns="0" rtlCol="0" anchor="ctr"/>
          <a:lstStyle/>
          <a:p>
            <a:pPr algn="r" indent="0" marL="0">
              <a:buNone/>
            </a:pPr>
            <a:r>
              <a:rPr lang="tr-TR" sz="1000" dirty="0">
                <a:solidFill>
                  <a:srgbClr val="6B7679"/>
                </a:solidFill>
                <a:latin typeface="Calibri" pitchFamily="34" charset="0"/>
                <a:ea typeface="Calibri" pitchFamily="34" charset="-122"/>
                <a:cs typeface="Calibri" pitchFamily="34" charset="-120"/>
              </a:rPr>
              <a:t>1</a:t>
            </a:r>
            <a:endParaRPr lang="tr-TR" sz="1000" dirty="0"/>
          </a:p>
        </p:txBody>
      </p:sp>
      <p:sp>
        <p:nvSpPr>
          <p:cNvPr id="42" name="Shape 40"/>
          <p:cNvSpPr/>
          <p:nvPr/>
        </p:nvSpPr>
        <p:spPr>
          <a:xfrm>
            <a:off x="7315200" y="2660904"/>
            <a:ext cx="1645920" cy="256032"/>
          </a:xfrm>
          <a:prstGeom prst="rect">
            <a:avLst/>
          </a:prstGeom>
          <a:solidFill>
            <a:srgbClr val="FFFFFF"/>
          </a:solidFill>
          <a:ln w="6350">
            <a:solidFill>
              <a:srgbClr val="AAB4B8"/>
            </a:solidFill>
            <a:prstDash val="solid"/>
          </a:ln>
        </p:spPr>
      </p:sp>
      <p:sp>
        <p:nvSpPr>
          <p:cNvPr id="43" name="Text 41"/>
          <p:cNvSpPr txBox="1"/>
          <p:nvPr/>
        </p:nvSpPr>
        <p:spPr>
          <a:xfrm>
            <a:off x="7315200" y="2660904"/>
            <a:ext cx="1645920" cy="256032"/>
          </a:xfrm>
          <a:prstGeom prst="rect">
            <a:avLst/>
          </a:prstGeom>
          <a:noFill/>
          <a:ln/>
        </p:spPr>
        <p:txBody>
          <a:bodyPr wrap="square" lIns="0" tIns="0" rIns="0" bIns="0" rtlCol="0" anchor="ctr"/>
          <a:lstStyle/>
          <a:p>
            <a:pPr algn="ctr" indent="0" marL="0">
              <a:buNone/>
            </a:pPr>
            <a:endParaRPr lang="tr-TR" sz="1000" dirty="0"/>
          </a:p>
        </p:txBody>
      </p:sp>
      <p:sp>
        <p:nvSpPr>
          <p:cNvPr id="44" name="Text 42"/>
          <p:cNvSpPr txBox="1"/>
          <p:nvPr/>
        </p:nvSpPr>
        <p:spPr>
          <a:xfrm>
            <a:off x="6858000" y="2660904"/>
            <a:ext cx="384048" cy="256032"/>
          </a:xfrm>
          <a:prstGeom prst="rect">
            <a:avLst/>
          </a:prstGeom>
          <a:noFill/>
          <a:ln/>
        </p:spPr>
        <p:txBody>
          <a:bodyPr wrap="square" lIns="0" tIns="0" rIns="0" bIns="0" rtlCol="0" anchor="ctr"/>
          <a:lstStyle/>
          <a:p>
            <a:pPr algn="r" indent="0" marL="0">
              <a:buNone/>
            </a:pPr>
            <a:r>
              <a:rPr lang="tr-TR" sz="1000" dirty="0">
                <a:solidFill>
                  <a:srgbClr val="6B7679"/>
                </a:solidFill>
                <a:latin typeface="Calibri" pitchFamily="34" charset="0"/>
                <a:ea typeface="Calibri" pitchFamily="34" charset="-122"/>
                <a:cs typeface="Calibri" pitchFamily="34" charset="-120"/>
              </a:rPr>
              <a:t>2</a:t>
            </a:r>
            <a:endParaRPr lang="tr-TR" sz="1000" dirty="0"/>
          </a:p>
        </p:txBody>
      </p:sp>
      <p:sp>
        <p:nvSpPr>
          <p:cNvPr id="45" name="Shape 43"/>
          <p:cNvSpPr/>
          <p:nvPr/>
        </p:nvSpPr>
        <p:spPr>
          <a:xfrm>
            <a:off x="7315200" y="2916936"/>
            <a:ext cx="1645920" cy="256032"/>
          </a:xfrm>
          <a:prstGeom prst="rect">
            <a:avLst/>
          </a:prstGeom>
          <a:solidFill>
            <a:srgbClr val="02C39A"/>
          </a:solidFill>
          <a:ln w="6350">
            <a:solidFill>
              <a:srgbClr val="AAB4B8"/>
            </a:solidFill>
            <a:prstDash val="solid"/>
          </a:ln>
        </p:spPr>
      </p:sp>
      <p:sp>
        <p:nvSpPr>
          <p:cNvPr id="46" name="Text 44"/>
          <p:cNvSpPr txBox="1"/>
          <p:nvPr/>
        </p:nvSpPr>
        <p:spPr>
          <a:xfrm>
            <a:off x="7315200" y="2916936"/>
            <a:ext cx="1645920" cy="256032"/>
          </a:xfrm>
          <a:prstGeom prst="rect">
            <a:avLst/>
          </a:prstGeom>
          <a:noFill/>
          <a:ln/>
        </p:spPr>
        <p:txBody>
          <a:bodyPr wrap="square" lIns="0" tIns="0" rIns="0" bIns="0" rtlCol="0" anchor="ctr"/>
          <a:lstStyle/>
          <a:p>
            <a:pPr algn="ctr" indent="0" marL="0">
              <a:buNone/>
            </a:pPr>
            <a:r>
              <a:rPr lang="tr-TR" sz="1000" b="1" dirty="0">
                <a:solidFill>
                  <a:srgbClr val="212121"/>
                </a:solidFill>
                <a:latin typeface="Calibri" pitchFamily="34" charset="0"/>
                <a:ea typeface="Calibri" pitchFamily="34" charset="-122"/>
                <a:cs typeface="Calibri" pitchFamily="34" charset="-120"/>
              </a:rPr>
              <a:t>libc 0</a:t>
            </a:r>
            <a:endParaRPr lang="tr-TR" sz="1000" dirty="0"/>
          </a:p>
        </p:txBody>
      </p:sp>
      <p:sp>
        <p:nvSpPr>
          <p:cNvPr id="47" name="Text 45"/>
          <p:cNvSpPr txBox="1"/>
          <p:nvPr/>
        </p:nvSpPr>
        <p:spPr>
          <a:xfrm>
            <a:off x="6858000" y="2916936"/>
            <a:ext cx="384048" cy="256032"/>
          </a:xfrm>
          <a:prstGeom prst="rect">
            <a:avLst/>
          </a:prstGeom>
          <a:noFill/>
          <a:ln/>
        </p:spPr>
        <p:txBody>
          <a:bodyPr wrap="square" lIns="0" tIns="0" rIns="0" bIns="0" rtlCol="0" anchor="ctr"/>
          <a:lstStyle/>
          <a:p>
            <a:pPr algn="r" indent="0" marL="0">
              <a:buNone/>
            </a:pPr>
            <a:r>
              <a:rPr lang="tr-TR" sz="1000" dirty="0">
                <a:solidFill>
                  <a:srgbClr val="6B7679"/>
                </a:solidFill>
                <a:latin typeface="Calibri" pitchFamily="34" charset="0"/>
                <a:ea typeface="Calibri" pitchFamily="34" charset="-122"/>
                <a:cs typeface="Calibri" pitchFamily="34" charset="-120"/>
              </a:rPr>
              <a:t>3</a:t>
            </a:r>
            <a:endParaRPr lang="tr-TR" sz="1000" dirty="0"/>
          </a:p>
        </p:txBody>
      </p:sp>
      <p:sp>
        <p:nvSpPr>
          <p:cNvPr id="48" name="Shape 46"/>
          <p:cNvSpPr/>
          <p:nvPr/>
        </p:nvSpPr>
        <p:spPr>
          <a:xfrm>
            <a:off x="7315200" y="3172968"/>
            <a:ext cx="1645920" cy="256032"/>
          </a:xfrm>
          <a:prstGeom prst="rect">
            <a:avLst/>
          </a:prstGeom>
          <a:solidFill>
            <a:srgbClr val="02C39A"/>
          </a:solidFill>
          <a:ln w="6350">
            <a:solidFill>
              <a:srgbClr val="AAB4B8"/>
            </a:solidFill>
            <a:prstDash val="solid"/>
          </a:ln>
        </p:spPr>
      </p:sp>
      <p:sp>
        <p:nvSpPr>
          <p:cNvPr id="49" name="Text 47"/>
          <p:cNvSpPr txBox="1"/>
          <p:nvPr/>
        </p:nvSpPr>
        <p:spPr>
          <a:xfrm>
            <a:off x="7315200" y="3172968"/>
            <a:ext cx="1645920" cy="256032"/>
          </a:xfrm>
          <a:prstGeom prst="rect">
            <a:avLst/>
          </a:prstGeom>
          <a:noFill/>
          <a:ln/>
        </p:spPr>
        <p:txBody>
          <a:bodyPr wrap="square" lIns="0" tIns="0" rIns="0" bIns="0" rtlCol="0" anchor="ctr"/>
          <a:lstStyle/>
          <a:p>
            <a:pPr algn="ctr" indent="0" marL="0">
              <a:buNone/>
            </a:pPr>
            <a:r>
              <a:rPr lang="tr-TR" sz="1000" b="1" dirty="0">
                <a:solidFill>
                  <a:srgbClr val="212121"/>
                </a:solidFill>
                <a:latin typeface="Calibri" pitchFamily="34" charset="0"/>
                <a:ea typeface="Calibri" pitchFamily="34" charset="-122"/>
                <a:cs typeface="Calibri" pitchFamily="34" charset="-120"/>
              </a:rPr>
              <a:t>libc 1</a:t>
            </a:r>
            <a:endParaRPr lang="tr-TR" sz="1000" dirty="0"/>
          </a:p>
        </p:txBody>
      </p:sp>
      <p:sp>
        <p:nvSpPr>
          <p:cNvPr id="50" name="Text 48"/>
          <p:cNvSpPr txBox="1"/>
          <p:nvPr/>
        </p:nvSpPr>
        <p:spPr>
          <a:xfrm>
            <a:off x="6858000" y="3172968"/>
            <a:ext cx="384048" cy="256032"/>
          </a:xfrm>
          <a:prstGeom prst="rect">
            <a:avLst/>
          </a:prstGeom>
          <a:noFill/>
          <a:ln/>
        </p:spPr>
        <p:txBody>
          <a:bodyPr wrap="square" lIns="0" tIns="0" rIns="0" bIns="0" rtlCol="0" anchor="ctr"/>
          <a:lstStyle/>
          <a:p>
            <a:pPr algn="r" indent="0" marL="0">
              <a:buNone/>
            </a:pPr>
            <a:r>
              <a:rPr lang="tr-TR" sz="1000" dirty="0">
                <a:solidFill>
                  <a:srgbClr val="6B7679"/>
                </a:solidFill>
                <a:latin typeface="Calibri" pitchFamily="34" charset="0"/>
                <a:ea typeface="Calibri" pitchFamily="34" charset="-122"/>
                <a:cs typeface="Calibri" pitchFamily="34" charset="-120"/>
              </a:rPr>
              <a:t>4</a:t>
            </a:r>
            <a:endParaRPr lang="tr-TR" sz="1000" dirty="0"/>
          </a:p>
        </p:txBody>
      </p:sp>
      <p:sp>
        <p:nvSpPr>
          <p:cNvPr id="51" name="Shape 49"/>
          <p:cNvSpPr/>
          <p:nvPr/>
        </p:nvSpPr>
        <p:spPr>
          <a:xfrm>
            <a:off x="7315200" y="3429000"/>
            <a:ext cx="1645920" cy="256032"/>
          </a:xfrm>
          <a:prstGeom prst="rect">
            <a:avLst/>
          </a:prstGeom>
          <a:solidFill>
            <a:srgbClr val="FFFFFF"/>
          </a:solidFill>
          <a:ln w="6350">
            <a:solidFill>
              <a:srgbClr val="AAB4B8"/>
            </a:solidFill>
            <a:prstDash val="solid"/>
          </a:ln>
        </p:spPr>
      </p:sp>
      <p:sp>
        <p:nvSpPr>
          <p:cNvPr id="52" name="Text 50"/>
          <p:cNvSpPr txBox="1"/>
          <p:nvPr/>
        </p:nvSpPr>
        <p:spPr>
          <a:xfrm>
            <a:off x="7315200" y="3429000"/>
            <a:ext cx="1645920" cy="256032"/>
          </a:xfrm>
          <a:prstGeom prst="rect">
            <a:avLst/>
          </a:prstGeom>
          <a:noFill/>
          <a:ln/>
        </p:spPr>
        <p:txBody>
          <a:bodyPr wrap="square" lIns="0" tIns="0" rIns="0" bIns="0" rtlCol="0" anchor="ctr"/>
          <a:lstStyle/>
          <a:p>
            <a:pPr algn="ctr" indent="0" marL="0">
              <a:buNone/>
            </a:pPr>
            <a:endParaRPr lang="tr-TR" sz="1000" dirty="0"/>
          </a:p>
        </p:txBody>
      </p:sp>
      <p:sp>
        <p:nvSpPr>
          <p:cNvPr id="53" name="Text 51"/>
          <p:cNvSpPr txBox="1"/>
          <p:nvPr/>
        </p:nvSpPr>
        <p:spPr>
          <a:xfrm>
            <a:off x="6858000" y="3429000"/>
            <a:ext cx="384048" cy="256032"/>
          </a:xfrm>
          <a:prstGeom prst="rect">
            <a:avLst/>
          </a:prstGeom>
          <a:noFill/>
          <a:ln/>
        </p:spPr>
        <p:txBody>
          <a:bodyPr wrap="square" lIns="0" tIns="0" rIns="0" bIns="0" rtlCol="0" anchor="ctr"/>
          <a:lstStyle/>
          <a:p>
            <a:pPr algn="r" indent="0" marL="0">
              <a:buNone/>
            </a:pPr>
            <a:r>
              <a:rPr lang="tr-TR" sz="1000" dirty="0">
                <a:solidFill>
                  <a:srgbClr val="6B7679"/>
                </a:solidFill>
                <a:latin typeface="Calibri" pitchFamily="34" charset="0"/>
                <a:ea typeface="Calibri" pitchFamily="34" charset="-122"/>
                <a:cs typeface="Calibri" pitchFamily="34" charset="-120"/>
              </a:rPr>
              <a:t>5</a:t>
            </a:r>
            <a:endParaRPr lang="tr-TR" sz="1000" dirty="0"/>
          </a:p>
        </p:txBody>
      </p:sp>
      <p:sp>
        <p:nvSpPr>
          <p:cNvPr id="54" name="Shape 52"/>
          <p:cNvSpPr/>
          <p:nvPr/>
        </p:nvSpPr>
        <p:spPr>
          <a:xfrm>
            <a:off x="7315200" y="3685032"/>
            <a:ext cx="1645920" cy="256032"/>
          </a:xfrm>
          <a:prstGeom prst="rect">
            <a:avLst/>
          </a:prstGeom>
          <a:solidFill>
            <a:srgbClr val="02C39A"/>
          </a:solidFill>
          <a:ln w="6350">
            <a:solidFill>
              <a:srgbClr val="AAB4B8"/>
            </a:solidFill>
            <a:prstDash val="solid"/>
          </a:ln>
        </p:spPr>
      </p:sp>
      <p:sp>
        <p:nvSpPr>
          <p:cNvPr id="55" name="Text 53"/>
          <p:cNvSpPr txBox="1"/>
          <p:nvPr/>
        </p:nvSpPr>
        <p:spPr>
          <a:xfrm>
            <a:off x="7315200" y="3685032"/>
            <a:ext cx="1645920" cy="256032"/>
          </a:xfrm>
          <a:prstGeom prst="rect">
            <a:avLst/>
          </a:prstGeom>
          <a:noFill/>
          <a:ln/>
        </p:spPr>
        <p:txBody>
          <a:bodyPr wrap="square" lIns="0" tIns="0" rIns="0" bIns="0" rtlCol="0" anchor="ctr"/>
          <a:lstStyle/>
          <a:p>
            <a:pPr algn="ctr" indent="0" marL="0">
              <a:buNone/>
            </a:pPr>
            <a:r>
              <a:rPr lang="tr-TR" sz="1000" b="1" dirty="0">
                <a:solidFill>
                  <a:srgbClr val="212121"/>
                </a:solidFill>
                <a:latin typeface="Calibri" pitchFamily="34" charset="0"/>
                <a:ea typeface="Calibri" pitchFamily="34" charset="-122"/>
                <a:cs typeface="Calibri" pitchFamily="34" charset="-120"/>
              </a:rPr>
              <a:t>libc 2</a:t>
            </a:r>
            <a:endParaRPr lang="tr-TR" sz="1000" dirty="0"/>
          </a:p>
        </p:txBody>
      </p:sp>
      <p:sp>
        <p:nvSpPr>
          <p:cNvPr id="56" name="Text 54"/>
          <p:cNvSpPr txBox="1"/>
          <p:nvPr/>
        </p:nvSpPr>
        <p:spPr>
          <a:xfrm>
            <a:off x="6858000" y="3685032"/>
            <a:ext cx="384048" cy="256032"/>
          </a:xfrm>
          <a:prstGeom prst="rect">
            <a:avLst/>
          </a:prstGeom>
          <a:noFill/>
          <a:ln/>
        </p:spPr>
        <p:txBody>
          <a:bodyPr wrap="square" lIns="0" tIns="0" rIns="0" bIns="0" rtlCol="0" anchor="ctr"/>
          <a:lstStyle/>
          <a:p>
            <a:pPr algn="r" indent="0" marL="0">
              <a:buNone/>
            </a:pPr>
            <a:r>
              <a:rPr lang="tr-TR" sz="1000" dirty="0">
                <a:solidFill>
                  <a:srgbClr val="6B7679"/>
                </a:solidFill>
                <a:latin typeface="Calibri" pitchFamily="34" charset="0"/>
                <a:ea typeface="Calibri" pitchFamily="34" charset="-122"/>
                <a:cs typeface="Calibri" pitchFamily="34" charset="-120"/>
              </a:rPr>
              <a:t>6</a:t>
            </a:r>
            <a:endParaRPr lang="tr-TR" sz="1000" dirty="0"/>
          </a:p>
        </p:txBody>
      </p:sp>
      <p:sp>
        <p:nvSpPr>
          <p:cNvPr id="57" name="Shape 55"/>
          <p:cNvSpPr/>
          <p:nvPr/>
        </p:nvSpPr>
        <p:spPr>
          <a:xfrm>
            <a:off x="7315200" y="3941064"/>
            <a:ext cx="1645920" cy="256032"/>
          </a:xfrm>
          <a:prstGeom prst="rect">
            <a:avLst/>
          </a:prstGeom>
          <a:solidFill>
            <a:srgbClr val="FFFFFF"/>
          </a:solidFill>
          <a:ln w="6350">
            <a:solidFill>
              <a:srgbClr val="AAB4B8"/>
            </a:solidFill>
            <a:prstDash val="solid"/>
          </a:ln>
        </p:spPr>
      </p:sp>
      <p:sp>
        <p:nvSpPr>
          <p:cNvPr id="58" name="Text 56"/>
          <p:cNvSpPr txBox="1"/>
          <p:nvPr/>
        </p:nvSpPr>
        <p:spPr>
          <a:xfrm>
            <a:off x="7315200" y="3941064"/>
            <a:ext cx="1645920" cy="256032"/>
          </a:xfrm>
          <a:prstGeom prst="rect">
            <a:avLst/>
          </a:prstGeom>
          <a:noFill/>
          <a:ln/>
        </p:spPr>
        <p:txBody>
          <a:bodyPr wrap="square" lIns="0" tIns="0" rIns="0" bIns="0" rtlCol="0" anchor="ctr"/>
          <a:lstStyle/>
          <a:p>
            <a:pPr algn="ctr" indent="0" marL="0">
              <a:buNone/>
            </a:pPr>
            <a:endParaRPr lang="tr-TR" sz="1000" dirty="0"/>
          </a:p>
        </p:txBody>
      </p:sp>
      <p:sp>
        <p:nvSpPr>
          <p:cNvPr id="59" name="Text 57"/>
          <p:cNvSpPr txBox="1"/>
          <p:nvPr/>
        </p:nvSpPr>
        <p:spPr>
          <a:xfrm>
            <a:off x="6858000" y="3941064"/>
            <a:ext cx="384048" cy="256032"/>
          </a:xfrm>
          <a:prstGeom prst="rect">
            <a:avLst/>
          </a:prstGeom>
          <a:noFill/>
          <a:ln/>
        </p:spPr>
        <p:txBody>
          <a:bodyPr wrap="square" lIns="0" tIns="0" rIns="0" bIns="0" rtlCol="0" anchor="ctr"/>
          <a:lstStyle/>
          <a:p>
            <a:pPr algn="r" indent="0" marL="0">
              <a:buNone/>
            </a:pPr>
            <a:r>
              <a:rPr lang="tr-TR" sz="1000" dirty="0">
                <a:solidFill>
                  <a:srgbClr val="6B7679"/>
                </a:solidFill>
                <a:latin typeface="Calibri" pitchFamily="34" charset="0"/>
                <a:ea typeface="Calibri" pitchFamily="34" charset="-122"/>
                <a:cs typeface="Calibri" pitchFamily="34" charset="-120"/>
              </a:rPr>
              <a:t>7</a:t>
            </a:r>
            <a:endParaRPr lang="tr-TR" sz="1000" dirty="0"/>
          </a:p>
        </p:txBody>
      </p:sp>
      <p:sp>
        <p:nvSpPr>
          <p:cNvPr id="60" name="Shape 58"/>
          <p:cNvSpPr/>
          <p:nvPr/>
        </p:nvSpPr>
        <p:spPr>
          <a:xfrm>
            <a:off x="7315200" y="4197096"/>
            <a:ext cx="1645920" cy="256032"/>
          </a:xfrm>
          <a:prstGeom prst="rect">
            <a:avLst/>
          </a:prstGeom>
          <a:solidFill>
            <a:srgbClr val="C9D3D6"/>
          </a:solidFill>
          <a:ln w="6350">
            <a:solidFill>
              <a:srgbClr val="AAB4B8"/>
            </a:solidFill>
            <a:prstDash val="solid"/>
          </a:ln>
        </p:spPr>
      </p:sp>
      <p:sp>
        <p:nvSpPr>
          <p:cNvPr id="61" name="Text 59"/>
          <p:cNvSpPr txBox="1"/>
          <p:nvPr/>
        </p:nvSpPr>
        <p:spPr>
          <a:xfrm>
            <a:off x="7315200" y="4197096"/>
            <a:ext cx="1645920" cy="256032"/>
          </a:xfrm>
          <a:prstGeom prst="rect">
            <a:avLst/>
          </a:prstGeom>
          <a:noFill/>
          <a:ln/>
        </p:spPr>
        <p:txBody>
          <a:bodyPr wrap="square" lIns="0" tIns="0" rIns="0" bIns="0" rtlCol="0" anchor="ctr"/>
          <a:lstStyle/>
          <a:p>
            <a:pPr algn="ctr" indent="0" marL="0">
              <a:buNone/>
            </a:pPr>
            <a:r>
              <a:rPr lang="tr-TR" sz="1000" b="1" dirty="0">
                <a:solidFill>
                  <a:srgbClr val="212121"/>
                </a:solidFill>
                <a:latin typeface="Calibri" pitchFamily="34" charset="0"/>
                <a:ea typeface="Calibri" pitchFamily="34" charset="-122"/>
                <a:cs typeface="Calibri" pitchFamily="34" charset="-120"/>
              </a:rPr>
              <a:t>veri P1</a:t>
            </a:r>
            <a:endParaRPr lang="tr-TR" sz="1000" dirty="0"/>
          </a:p>
        </p:txBody>
      </p:sp>
      <p:sp>
        <p:nvSpPr>
          <p:cNvPr id="62" name="Text 60"/>
          <p:cNvSpPr txBox="1"/>
          <p:nvPr/>
        </p:nvSpPr>
        <p:spPr>
          <a:xfrm>
            <a:off x="6858000" y="4197096"/>
            <a:ext cx="384048" cy="256032"/>
          </a:xfrm>
          <a:prstGeom prst="rect">
            <a:avLst/>
          </a:prstGeom>
          <a:noFill/>
          <a:ln/>
        </p:spPr>
        <p:txBody>
          <a:bodyPr wrap="square" lIns="0" tIns="0" rIns="0" bIns="0" rtlCol="0" anchor="ctr"/>
          <a:lstStyle/>
          <a:p>
            <a:pPr algn="r" indent="0" marL="0">
              <a:buNone/>
            </a:pPr>
            <a:r>
              <a:rPr lang="tr-TR" sz="1000" dirty="0">
                <a:solidFill>
                  <a:srgbClr val="6B7679"/>
                </a:solidFill>
                <a:latin typeface="Calibri" pitchFamily="34" charset="0"/>
                <a:ea typeface="Calibri" pitchFamily="34" charset="-122"/>
                <a:cs typeface="Calibri" pitchFamily="34" charset="-120"/>
              </a:rPr>
              <a:t>8</a:t>
            </a:r>
            <a:endParaRPr lang="tr-TR" sz="1000" dirty="0"/>
          </a:p>
        </p:txBody>
      </p:sp>
      <p:sp>
        <p:nvSpPr>
          <p:cNvPr id="63" name="Shape 61"/>
          <p:cNvSpPr/>
          <p:nvPr/>
        </p:nvSpPr>
        <p:spPr>
          <a:xfrm>
            <a:off x="7315200" y="4453128"/>
            <a:ext cx="1645920" cy="256032"/>
          </a:xfrm>
          <a:prstGeom prst="rect">
            <a:avLst/>
          </a:prstGeom>
          <a:solidFill>
            <a:srgbClr val="FFFFFF"/>
          </a:solidFill>
          <a:ln w="6350">
            <a:solidFill>
              <a:srgbClr val="AAB4B8"/>
            </a:solidFill>
            <a:prstDash val="solid"/>
          </a:ln>
        </p:spPr>
      </p:sp>
      <p:sp>
        <p:nvSpPr>
          <p:cNvPr id="64" name="Text 62"/>
          <p:cNvSpPr txBox="1"/>
          <p:nvPr/>
        </p:nvSpPr>
        <p:spPr>
          <a:xfrm>
            <a:off x="7315200" y="4453128"/>
            <a:ext cx="1645920" cy="256032"/>
          </a:xfrm>
          <a:prstGeom prst="rect">
            <a:avLst/>
          </a:prstGeom>
          <a:noFill/>
          <a:ln/>
        </p:spPr>
        <p:txBody>
          <a:bodyPr wrap="square" lIns="0" tIns="0" rIns="0" bIns="0" rtlCol="0" anchor="ctr"/>
          <a:lstStyle/>
          <a:p>
            <a:pPr algn="ctr" indent="0" marL="0">
              <a:buNone/>
            </a:pPr>
            <a:endParaRPr lang="tr-TR" sz="1000" dirty="0"/>
          </a:p>
        </p:txBody>
      </p:sp>
      <p:sp>
        <p:nvSpPr>
          <p:cNvPr id="65" name="Text 63"/>
          <p:cNvSpPr txBox="1"/>
          <p:nvPr/>
        </p:nvSpPr>
        <p:spPr>
          <a:xfrm>
            <a:off x="6858000" y="4453128"/>
            <a:ext cx="384048" cy="256032"/>
          </a:xfrm>
          <a:prstGeom prst="rect">
            <a:avLst/>
          </a:prstGeom>
          <a:noFill/>
          <a:ln/>
        </p:spPr>
        <p:txBody>
          <a:bodyPr wrap="square" lIns="0" tIns="0" rIns="0" bIns="0" rtlCol="0" anchor="ctr"/>
          <a:lstStyle/>
          <a:p>
            <a:pPr algn="r" indent="0" marL="0">
              <a:buNone/>
            </a:pPr>
            <a:r>
              <a:rPr lang="tr-TR" sz="1000" dirty="0">
                <a:solidFill>
                  <a:srgbClr val="6B7679"/>
                </a:solidFill>
                <a:latin typeface="Calibri" pitchFamily="34" charset="0"/>
                <a:ea typeface="Calibri" pitchFamily="34" charset="-122"/>
                <a:cs typeface="Calibri" pitchFamily="34" charset="-120"/>
              </a:rPr>
              <a:t>9</a:t>
            </a:r>
            <a:endParaRPr lang="tr-TR" sz="1000" dirty="0"/>
          </a:p>
        </p:txBody>
      </p:sp>
      <p:sp>
        <p:nvSpPr>
          <p:cNvPr id="66" name="Shape 64"/>
          <p:cNvSpPr/>
          <p:nvPr/>
        </p:nvSpPr>
        <p:spPr>
          <a:xfrm>
            <a:off x="7315200" y="4709160"/>
            <a:ext cx="1645920" cy="256032"/>
          </a:xfrm>
          <a:prstGeom prst="rect">
            <a:avLst/>
          </a:prstGeom>
          <a:solidFill>
            <a:srgbClr val="FFFFFF"/>
          </a:solidFill>
          <a:ln w="6350">
            <a:solidFill>
              <a:srgbClr val="AAB4B8"/>
            </a:solidFill>
            <a:prstDash val="solid"/>
          </a:ln>
        </p:spPr>
      </p:sp>
      <p:sp>
        <p:nvSpPr>
          <p:cNvPr id="67" name="Text 65"/>
          <p:cNvSpPr txBox="1"/>
          <p:nvPr/>
        </p:nvSpPr>
        <p:spPr>
          <a:xfrm>
            <a:off x="7315200" y="4709160"/>
            <a:ext cx="1645920" cy="256032"/>
          </a:xfrm>
          <a:prstGeom prst="rect">
            <a:avLst/>
          </a:prstGeom>
          <a:noFill/>
          <a:ln/>
        </p:spPr>
        <p:txBody>
          <a:bodyPr wrap="square" lIns="0" tIns="0" rIns="0" bIns="0" rtlCol="0" anchor="ctr"/>
          <a:lstStyle/>
          <a:p>
            <a:pPr algn="ctr" indent="0" marL="0">
              <a:buNone/>
            </a:pPr>
            <a:endParaRPr lang="tr-TR" sz="1000" dirty="0"/>
          </a:p>
        </p:txBody>
      </p:sp>
      <p:sp>
        <p:nvSpPr>
          <p:cNvPr id="68" name="Text 66"/>
          <p:cNvSpPr txBox="1"/>
          <p:nvPr/>
        </p:nvSpPr>
        <p:spPr>
          <a:xfrm>
            <a:off x="6858000" y="4709160"/>
            <a:ext cx="384048" cy="256032"/>
          </a:xfrm>
          <a:prstGeom prst="rect">
            <a:avLst/>
          </a:prstGeom>
          <a:noFill/>
          <a:ln/>
        </p:spPr>
        <p:txBody>
          <a:bodyPr wrap="square" lIns="0" tIns="0" rIns="0" bIns="0" rtlCol="0" anchor="ctr"/>
          <a:lstStyle/>
          <a:p>
            <a:pPr algn="r" indent="0" marL="0">
              <a:buNone/>
            </a:pPr>
            <a:r>
              <a:rPr lang="tr-TR" sz="1000" dirty="0">
                <a:solidFill>
                  <a:srgbClr val="6B7679"/>
                </a:solidFill>
                <a:latin typeface="Calibri" pitchFamily="34" charset="0"/>
                <a:ea typeface="Calibri" pitchFamily="34" charset="-122"/>
                <a:cs typeface="Calibri" pitchFamily="34" charset="-120"/>
              </a:rPr>
              <a:t>10</a:t>
            </a:r>
            <a:endParaRPr lang="tr-TR" sz="1000" dirty="0"/>
          </a:p>
        </p:txBody>
      </p:sp>
      <p:sp>
        <p:nvSpPr>
          <p:cNvPr id="69" name="Shape 67"/>
          <p:cNvSpPr/>
          <p:nvPr/>
        </p:nvSpPr>
        <p:spPr>
          <a:xfrm>
            <a:off x="7315200" y="4965192"/>
            <a:ext cx="1645920" cy="256032"/>
          </a:xfrm>
          <a:prstGeom prst="rect">
            <a:avLst/>
          </a:prstGeom>
          <a:solidFill>
            <a:srgbClr val="C9D3D6"/>
          </a:solidFill>
          <a:ln w="6350">
            <a:solidFill>
              <a:srgbClr val="AAB4B8"/>
            </a:solidFill>
            <a:prstDash val="solid"/>
          </a:ln>
        </p:spPr>
      </p:sp>
      <p:sp>
        <p:nvSpPr>
          <p:cNvPr id="70" name="Text 68"/>
          <p:cNvSpPr txBox="1"/>
          <p:nvPr/>
        </p:nvSpPr>
        <p:spPr>
          <a:xfrm>
            <a:off x="7315200" y="4965192"/>
            <a:ext cx="1645920" cy="256032"/>
          </a:xfrm>
          <a:prstGeom prst="rect">
            <a:avLst/>
          </a:prstGeom>
          <a:noFill/>
          <a:ln/>
        </p:spPr>
        <p:txBody>
          <a:bodyPr wrap="square" lIns="0" tIns="0" rIns="0" bIns="0" rtlCol="0" anchor="ctr"/>
          <a:lstStyle/>
          <a:p>
            <a:pPr algn="ctr" indent="0" marL="0">
              <a:buNone/>
            </a:pPr>
            <a:r>
              <a:rPr lang="tr-TR" sz="1000" b="1" dirty="0">
                <a:solidFill>
                  <a:srgbClr val="212121"/>
                </a:solidFill>
                <a:latin typeface="Calibri" pitchFamily="34" charset="0"/>
                <a:ea typeface="Calibri" pitchFamily="34" charset="-122"/>
                <a:cs typeface="Calibri" pitchFamily="34" charset="-120"/>
              </a:rPr>
              <a:t>veri P2</a:t>
            </a:r>
            <a:endParaRPr lang="tr-TR" sz="1000" dirty="0"/>
          </a:p>
        </p:txBody>
      </p:sp>
      <p:sp>
        <p:nvSpPr>
          <p:cNvPr id="71" name="Text 69"/>
          <p:cNvSpPr txBox="1"/>
          <p:nvPr/>
        </p:nvSpPr>
        <p:spPr>
          <a:xfrm>
            <a:off x="6858000" y="4965192"/>
            <a:ext cx="384048" cy="256032"/>
          </a:xfrm>
          <a:prstGeom prst="rect">
            <a:avLst/>
          </a:prstGeom>
          <a:noFill/>
          <a:ln/>
        </p:spPr>
        <p:txBody>
          <a:bodyPr wrap="square" lIns="0" tIns="0" rIns="0" bIns="0" rtlCol="0" anchor="ctr"/>
          <a:lstStyle/>
          <a:p>
            <a:pPr algn="r" indent="0" marL="0">
              <a:buNone/>
            </a:pPr>
            <a:r>
              <a:rPr lang="tr-TR" sz="1000" dirty="0">
                <a:solidFill>
                  <a:srgbClr val="6B7679"/>
                </a:solidFill>
                <a:latin typeface="Calibri" pitchFamily="34" charset="0"/>
                <a:ea typeface="Calibri" pitchFamily="34" charset="-122"/>
                <a:cs typeface="Calibri" pitchFamily="34" charset="-120"/>
              </a:rPr>
              <a:t>11</a:t>
            </a:r>
            <a:endParaRPr lang="tr-TR" sz="1000" dirty="0"/>
          </a:p>
        </p:txBody>
      </p:sp>
      <p:sp>
        <p:nvSpPr>
          <p:cNvPr id="72" name="Shape 70"/>
          <p:cNvSpPr/>
          <p:nvPr/>
        </p:nvSpPr>
        <p:spPr>
          <a:xfrm>
            <a:off x="7315200" y="5221224"/>
            <a:ext cx="1645920" cy="256032"/>
          </a:xfrm>
          <a:prstGeom prst="rect">
            <a:avLst/>
          </a:prstGeom>
          <a:solidFill>
            <a:srgbClr val="FFFFFF"/>
          </a:solidFill>
          <a:ln w="6350">
            <a:solidFill>
              <a:srgbClr val="AAB4B8"/>
            </a:solidFill>
            <a:prstDash val="solid"/>
          </a:ln>
        </p:spPr>
      </p:sp>
      <p:sp>
        <p:nvSpPr>
          <p:cNvPr id="73" name="Text 71"/>
          <p:cNvSpPr txBox="1"/>
          <p:nvPr/>
        </p:nvSpPr>
        <p:spPr>
          <a:xfrm>
            <a:off x="7315200" y="5221224"/>
            <a:ext cx="1645920" cy="256032"/>
          </a:xfrm>
          <a:prstGeom prst="rect">
            <a:avLst/>
          </a:prstGeom>
          <a:noFill/>
          <a:ln/>
        </p:spPr>
        <p:txBody>
          <a:bodyPr wrap="square" lIns="0" tIns="0" rIns="0" bIns="0" rtlCol="0" anchor="ctr"/>
          <a:lstStyle/>
          <a:p>
            <a:pPr algn="ctr" indent="0" marL="0">
              <a:buNone/>
            </a:pPr>
            <a:endParaRPr lang="tr-TR" sz="1000" dirty="0"/>
          </a:p>
        </p:txBody>
      </p:sp>
      <p:sp>
        <p:nvSpPr>
          <p:cNvPr id="74" name="Text 72"/>
          <p:cNvSpPr txBox="1"/>
          <p:nvPr/>
        </p:nvSpPr>
        <p:spPr>
          <a:xfrm>
            <a:off x="6858000" y="5221224"/>
            <a:ext cx="384048" cy="256032"/>
          </a:xfrm>
          <a:prstGeom prst="rect">
            <a:avLst/>
          </a:prstGeom>
          <a:noFill/>
          <a:ln/>
        </p:spPr>
        <p:txBody>
          <a:bodyPr wrap="square" lIns="0" tIns="0" rIns="0" bIns="0" rtlCol="0" anchor="ctr"/>
          <a:lstStyle/>
          <a:p>
            <a:pPr algn="r" indent="0" marL="0">
              <a:buNone/>
            </a:pPr>
            <a:r>
              <a:rPr lang="tr-TR" sz="1000" dirty="0">
                <a:solidFill>
                  <a:srgbClr val="6B7679"/>
                </a:solidFill>
                <a:latin typeface="Calibri" pitchFamily="34" charset="0"/>
                <a:ea typeface="Calibri" pitchFamily="34" charset="-122"/>
                <a:cs typeface="Calibri" pitchFamily="34" charset="-120"/>
              </a:rPr>
              <a:t>12</a:t>
            </a:r>
            <a:endParaRPr lang="tr-TR" sz="1000" dirty="0"/>
          </a:p>
        </p:txBody>
      </p:sp>
      <p:sp>
        <p:nvSpPr>
          <p:cNvPr id="75" name="Shape 73"/>
          <p:cNvSpPr/>
          <p:nvPr/>
        </p:nvSpPr>
        <p:spPr>
          <a:xfrm>
            <a:off x="7315200" y="5477256"/>
            <a:ext cx="1645920" cy="256032"/>
          </a:xfrm>
          <a:prstGeom prst="rect">
            <a:avLst/>
          </a:prstGeom>
          <a:solidFill>
            <a:srgbClr val="FFFFFF"/>
          </a:solidFill>
          <a:ln w="6350">
            <a:solidFill>
              <a:srgbClr val="AAB4B8"/>
            </a:solidFill>
            <a:prstDash val="solid"/>
          </a:ln>
        </p:spPr>
      </p:sp>
      <p:sp>
        <p:nvSpPr>
          <p:cNvPr id="76" name="Text 74"/>
          <p:cNvSpPr txBox="1"/>
          <p:nvPr/>
        </p:nvSpPr>
        <p:spPr>
          <a:xfrm>
            <a:off x="7315200" y="5477256"/>
            <a:ext cx="1645920" cy="256032"/>
          </a:xfrm>
          <a:prstGeom prst="rect">
            <a:avLst/>
          </a:prstGeom>
          <a:noFill/>
          <a:ln/>
        </p:spPr>
        <p:txBody>
          <a:bodyPr wrap="square" lIns="0" tIns="0" rIns="0" bIns="0" rtlCol="0" anchor="ctr"/>
          <a:lstStyle/>
          <a:p>
            <a:pPr algn="ctr" indent="0" marL="0">
              <a:buNone/>
            </a:pPr>
            <a:endParaRPr lang="tr-TR" sz="1000" dirty="0"/>
          </a:p>
        </p:txBody>
      </p:sp>
      <p:sp>
        <p:nvSpPr>
          <p:cNvPr id="77" name="Text 75"/>
          <p:cNvSpPr txBox="1"/>
          <p:nvPr/>
        </p:nvSpPr>
        <p:spPr>
          <a:xfrm>
            <a:off x="6858000" y="5477256"/>
            <a:ext cx="384048" cy="256032"/>
          </a:xfrm>
          <a:prstGeom prst="rect">
            <a:avLst/>
          </a:prstGeom>
          <a:noFill/>
          <a:ln/>
        </p:spPr>
        <p:txBody>
          <a:bodyPr wrap="square" lIns="0" tIns="0" rIns="0" bIns="0" rtlCol="0" anchor="ctr"/>
          <a:lstStyle/>
          <a:p>
            <a:pPr algn="r" indent="0" marL="0">
              <a:buNone/>
            </a:pPr>
            <a:r>
              <a:rPr lang="tr-TR" sz="1000" dirty="0">
                <a:solidFill>
                  <a:srgbClr val="6B7679"/>
                </a:solidFill>
                <a:latin typeface="Calibri" pitchFamily="34" charset="0"/>
                <a:ea typeface="Calibri" pitchFamily="34" charset="-122"/>
                <a:cs typeface="Calibri" pitchFamily="34" charset="-120"/>
              </a:rPr>
              <a:t>13</a:t>
            </a:r>
            <a:endParaRPr lang="tr-TR" sz="1000" dirty="0"/>
          </a:p>
        </p:txBody>
      </p:sp>
      <p:sp>
        <p:nvSpPr>
          <p:cNvPr id="78" name="Shape 76"/>
          <p:cNvSpPr/>
          <p:nvPr/>
        </p:nvSpPr>
        <p:spPr>
          <a:xfrm>
            <a:off x="7315200" y="5733288"/>
            <a:ext cx="1645920" cy="256032"/>
          </a:xfrm>
          <a:prstGeom prst="rect">
            <a:avLst/>
          </a:prstGeom>
          <a:solidFill>
            <a:srgbClr val="C9D3D6"/>
          </a:solidFill>
          <a:ln w="6350">
            <a:solidFill>
              <a:srgbClr val="AAB4B8"/>
            </a:solidFill>
            <a:prstDash val="solid"/>
          </a:ln>
        </p:spPr>
      </p:sp>
      <p:sp>
        <p:nvSpPr>
          <p:cNvPr id="79" name="Text 77"/>
          <p:cNvSpPr txBox="1"/>
          <p:nvPr/>
        </p:nvSpPr>
        <p:spPr>
          <a:xfrm>
            <a:off x="7315200" y="5733288"/>
            <a:ext cx="1645920" cy="256032"/>
          </a:xfrm>
          <a:prstGeom prst="rect">
            <a:avLst/>
          </a:prstGeom>
          <a:noFill/>
          <a:ln/>
        </p:spPr>
        <p:txBody>
          <a:bodyPr wrap="square" lIns="0" tIns="0" rIns="0" bIns="0" rtlCol="0" anchor="ctr"/>
          <a:lstStyle/>
          <a:p>
            <a:pPr algn="ctr" indent="0" marL="0">
              <a:buNone/>
            </a:pPr>
            <a:r>
              <a:rPr lang="tr-TR" sz="1000" b="1" dirty="0">
                <a:solidFill>
                  <a:srgbClr val="212121"/>
                </a:solidFill>
                <a:latin typeface="Calibri" pitchFamily="34" charset="0"/>
                <a:ea typeface="Calibri" pitchFamily="34" charset="-122"/>
                <a:cs typeface="Calibri" pitchFamily="34" charset="-120"/>
              </a:rPr>
              <a:t>veri P3</a:t>
            </a:r>
            <a:endParaRPr lang="tr-TR" sz="1000" dirty="0"/>
          </a:p>
        </p:txBody>
      </p:sp>
      <p:sp>
        <p:nvSpPr>
          <p:cNvPr id="80" name="Text 78"/>
          <p:cNvSpPr txBox="1"/>
          <p:nvPr/>
        </p:nvSpPr>
        <p:spPr>
          <a:xfrm>
            <a:off x="6858000" y="5733288"/>
            <a:ext cx="384048" cy="256032"/>
          </a:xfrm>
          <a:prstGeom prst="rect">
            <a:avLst/>
          </a:prstGeom>
          <a:noFill/>
          <a:ln/>
        </p:spPr>
        <p:txBody>
          <a:bodyPr wrap="square" lIns="0" tIns="0" rIns="0" bIns="0" rtlCol="0" anchor="ctr"/>
          <a:lstStyle/>
          <a:p>
            <a:pPr algn="r" indent="0" marL="0">
              <a:buNone/>
            </a:pPr>
            <a:r>
              <a:rPr lang="tr-TR" sz="1000" dirty="0">
                <a:solidFill>
                  <a:srgbClr val="6B7679"/>
                </a:solidFill>
                <a:latin typeface="Calibri" pitchFamily="34" charset="0"/>
                <a:ea typeface="Calibri" pitchFamily="34" charset="-122"/>
                <a:cs typeface="Calibri" pitchFamily="34" charset="-120"/>
              </a:rPr>
              <a:t>14</a:t>
            </a:r>
            <a:endParaRPr lang="tr-TR" sz="1000" dirty="0"/>
          </a:p>
        </p:txBody>
      </p:sp>
      <p:sp>
        <p:nvSpPr>
          <p:cNvPr id="81" name="Shape 79"/>
          <p:cNvSpPr/>
          <p:nvPr/>
        </p:nvSpPr>
        <p:spPr>
          <a:xfrm>
            <a:off x="7315200" y="5989320"/>
            <a:ext cx="1645920" cy="256032"/>
          </a:xfrm>
          <a:prstGeom prst="rect">
            <a:avLst/>
          </a:prstGeom>
          <a:solidFill>
            <a:srgbClr val="FFFFFF"/>
          </a:solidFill>
          <a:ln w="6350">
            <a:solidFill>
              <a:srgbClr val="AAB4B8"/>
            </a:solidFill>
            <a:prstDash val="solid"/>
          </a:ln>
        </p:spPr>
      </p:sp>
      <p:sp>
        <p:nvSpPr>
          <p:cNvPr id="82" name="Text 80"/>
          <p:cNvSpPr txBox="1"/>
          <p:nvPr/>
        </p:nvSpPr>
        <p:spPr>
          <a:xfrm>
            <a:off x="7315200" y="5989320"/>
            <a:ext cx="1645920" cy="256032"/>
          </a:xfrm>
          <a:prstGeom prst="rect">
            <a:avLst/>
          </a:prstGeom>
          <a:noFill/>
          <a:ln/>
        </p:spPr>
        <p:txBody>
          <a:bodyPr wrap="square" lIns="0" tIns="0" rIns="0" bIns="0" rtlCol="0" anchor="ctr"/>
          <a:lstStyle/>
          <a:p>
            <a:pPr algn="ctr" indent="0" marL="0">
              <a:buNone/>
            </a:pPr>
            <a:endParaRPr lang="tr-TR" sz="1000" dirty="0"/>
          </a:p>
        </p:txBody>
      </p:sp>
      <p:sp>
        <p:nvSpPr>
          <p:cNvPr id="83" name="Text 81"/>
          <p:cNvSpPr txBox="1"/>
          <p:nvPr/>
        </p:nvSpPr>
        <p:spPr>
          <a:xfrm>
            <a:off x="6858000" y="5989320"/>
            <a:ext cx="384048" cy="256032"/>
          </a:xfrm>
          <a:prstGeom prst="rect">
            <a:avLst/>
          </a:prstGeom>
          <a:noFill/>
          <a:ln/>
        </p:spPr>
        <p:txBody>
          <a:bodyPr wrap="square" lIns="0" tIns="0" rIns="0" bIns="0" rtlCol="0" anchor="ctr"/>
          <a:lstStyle/>
          <a:p>
            <a:pPr algn="r" indent="0" marL="0">
              <a:buNone/>
            </a:pPr>
            <a:r>
              <a:rPr lang="tr-TR" sz="1000" dirty="0">
                <a:solidFill>
                  <a:srgbClr val="6B7679"/>
                </a:solidFill>
                <a:latin typeface="Calibri" pitchFamily="34" charset="0"/>
                <a:ea typeface="Calibri" pitchFamily="34" charset="-122"/>
                <a:cs typeface="Calibri" pitchFamily="34" charset="-120"/>
              </a:rPr>
              <a:t>15</a:t>
            </a:r>
            <a:endParaRPr lang="tr-TR" sz="1000" dirty="0"/>
          </a:p>
        </p:txBody>
      </p:sp>
      <p:sp>
        <p:nvSpPr>
          <p:cNvPr id="84" name="Shape 82"/>
          <p:cNvSpPr/>
          <p:nvPr/>
        </p:nvSpPr>
        <p:spPr>
          <a:xfrm>
            <a:off x="9281160" y="2148840"/>
            <a:ext cx="2377440" cy="4114800"/>
          </a:xfrm>
          <a:prstGeom prst="roundRect">
            <a:avLst>
              <a:gd name="adj" fmla="val 2308"/>
            </a:avLst>
          </a:prstGeom>
          <a:solidFill>
            <a:srgbClr val="F2F2F2"/>
          </a:solidFill>
          <a:ln/>
          <a:effectLst>
            <a:outerShdw sx="100000" sy="100000" kx="0" ky="0" algn="bl" rotWithShape="0" blurRad="101600" dist="25400" dir="5400000">
              <a:srgbClr val="000000">
                <a:alpha val="12000"/>
              </a:srgbClr>
            </a:outerShdw>
          </a:effectLst>
        </p:spPr>
      </p:sp>
      <p:sp>
        <p:nvSpPr>
          <p:cNvPr id="85" name="Text 83"/>
          <p:cNvSpPr txBox="1"/>
          <p:nvPr/>
        </p:nvSpPr>
        <p:spPr>
          <a:xfrm>
            <a:off x="9509760" y="2331720"/>
            <a:ext cx="1920240" cy="3794760"/>
          </a:xfrm>
          <a:prstGeom prst="rect">
            <a:avLst/>
          </a:prstGeom>
          <a:noFill/>
          <a:ln/>
        </p:spPr>
        <p:txBody>
          <a:bodyPr wrap="square" lIns="0" tIns="0" rIns="0" bIns="0" rtlCol="0" anchor="t"/>
          <a:lstStyle/>
          <a:p>
            <a:pPr marL="228600" indent="-228600">
              <a:spcAft>
                <a:spcPts val="400"/>
              </a:spcAft>
              <a:buSzPct val="100000"/>
              <a:buChar char="•"/>
            </a:pPr>
            <a:r>
              <a:rPr lang="tr-TR" sz="1250" dirty="0">
                <a:solidFill>
                  <a:srgbClr val="3A464C"/>
                </a:solidFill>
                <a:latin typeface="Calibri" pitchFamily="34" charset="0"/>
                <a:ea typeface="Calibri" pitchFamily="34" charset="-122"/>
                <a:cs typeface="Calibri" pitchFamily="34" charset="-120"/>
              </a:rPr>
              <a:t>Üç süreç var, ama libc RAM'de yalnızca bir kez bulunur.</a:t>
            </a:r>
            <a:endParaRPr lang="tr-TR" sz="1250" dirty="0"/>
          </a:p>
          <a:p>
            <a:pPr marL="228600" indent="-228600">
              <a:spcAft>
                <a:spcPts val="400"/>
              </a:spcAft>
              <a:buSzPct val="100000"/>
              <a:buChar char="•"/>
            </a:pPr>
            <a:r>
              <a:rPr lang="tr-TR" sz="1250" dirty="0">
                <a:solidFill>
                  <a:srgbClr val="3A464C"/>
                </a:solidFill>
                <a:latin typeface="Calibri" pitchFamily="34" charset="0"/>
                <a:ea typeface="Calibri" pitchFamily="34" charset="-122"/>
                <a:cs typeface="Calibri" pitchFamily="34" charset="-120"/>
              </a:rPr>
              <a:t>Paylaşılan sayfalar salt okunur işaretlenir.</a:t>
            </a:r>
            <a:endParaRPr lang="tr-TR" sz="1250" dirty="0"/>
          </a:p>
          <a:p>
            <a:pPr marL="228600" indent="-228600">
              <a:spcAft>
                <a:spcPts val="400"/>
              </a:spcAft>
              <a:buSzPct val="100000"/>
              <a:buChar char="•"/>
            </a:pPr>
            <a:r>
              <a:rPr lang="tr-TR" sz="1250" dirty="0">
                <a:solidFill>
                  <a:srgbClr val="3A464C"/>
                </a:solidFill>
                <a:latin typeface="Calibri" pitchFamily="34" charset="0"/>
                <a:ea typeface="Calibri" pitchFamily="34" charset="-122"/>
                <a:cs typeface="Calibri" pitchFamily="34" charset="-120"/>
              </a:rPr>
              <a:t>Aynı fikir: fork() başlangıçta tüm sayfaları paylaştırır (yazınca kopyala, 7. hafta).</a:t>
            </a:r>
            <a:endParaRPr lang="tr-TR" sz="1250" dirty="0"/>
          </a:p>
        </p:txBody>
      </p:sp>
      <p:sp>
        <p:nvSpPr>
          <p:cNvPr id="86" name="Shape 84"/>
          <p:cNvSpPr/>
          <p:nvPr/>
        </p:nvSpPr>
        <p:spPr>
          <a:xfrm>
            <a:off x="548640" y="5074920"/>
            <a:ext cx="6309360" cy="1188720"/>
          </a:xfrm>
          <a:prstGeom prst="roundRect">
            <a:avLst>
              <a:gd name="adj" fmla="val 4615"/>
            </a:avLst>
          </a:prstGeom>
          <a:solidFill>
            <a:srgbClr val="36454F"/>
          </a:solidFill>
          <a:ln/>
          <a:effectLst>
            <a:outerShdw sx="100000" sy="100000" kx="0" ky="0" algn="bl" rotWithShape="0" blurRad="101600" dist="25400" dir="5400000">
              <a:srgbClr val="000000">
                <a:alpha val="12000"/>
              </a:srgbClr>
            </a:outerShdw>
          </a:effectLst>
        </p:spPr>
      </p:sp>
      <p:sp>
        <p:nvSpPr>
          <p:cNvPr id="87" name="Text 85"/>
          <p:cNvSpPr txBox="1"/>
          <p:nvPr/>
        </p:nvSpPr>
        <p:spPr>
          <a:xfrm>
            <a:off x="777240" y="5074920"/>
            <a:ext cx="5852160" cy="118872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40 süreç ve 2 MB'lık bir kütüphaneyle paylaşım 39 × 2 MB = 78 MB RAM kazandırır.</a:t>
            </a:r>
            <a:endParaRPr lang="tr-TR"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BÖLÜM 3</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Bölütleme (Segmentation)</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Belleğe programcının gözüyle bakış: farklı boylarda, adı olan parçalardan oluşan bir topluluk.</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6  ·  28</a:t>
            </a:r>
            <a:endParaRPr lang="tr-TR"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BÖLÜTLEME</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Programa Kullanıcının Gözüyle Bakış</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Programcı 4 KB'lık sayfaları değil; ana programı, fonksiyonları, yığıtı, sembol tablosunu, verileri … düşünür.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6  ·  29</a:t>
            </a:r>
            <a:endParaRPr lang="tr-TR" sz="900" dirty="0"/>
          </a:p>
        </p:txBody>
      </p:sp>
      <p:sp>
        <p:nvSpPr>
          <p:cNvPr id="7" name="Shape 5"/>
          <p:cNvSpPr/>
          <p:nvPr/>
        </p:nvSpPr>
        <p:spPr>
          <a:xfrm>
            <a:off x="548640" y="2331720"/>
            <a:ext cx="1417320" cy="2286000"/>
          </a:xfrm>
          <a:prstGeom prst="roundRect">
            <a:avLst>
              <a:gd name="adj" fmla="val 3226"/>
            </a:avLst>
          </a:prstGeom>
          <a:solidFill>
            <a:srgbClr val="02C39A"/>
          </a:solidFill>
          <a:ln/>
        </p:spPr>
      </p:sp>
      <p:sp>
        <p:nvSpPr>
          <p:cNvPr id="8" name="Text 6"/>
          <p:cNvSpPr txBox="1"/>
          <p:nvPr/>
        </p:nvSpPr>
        <p:spPr>
          <a:xfrm>
            <a:off x="548640" y="2331720"/>
            <a:ext cx="1417320" cy="2286000"/>
          </a:xfrm>
          <a:prstGeom prst="rect">
            <a:avLst/>
          </a:prstGeom>
          <a:noFill/>
          <a:ln/>
        </p:spPr>
        <p:txBody>
          <a:bodyPr wrap="square" lIns="38100" tIns="38100" rIns="38100" bIns="38100" rtlCol="0" anchor="ctr"/>
          <a:lstStyle/>
          <a:p>
            <a:pPr algn="ctr" indent="0" marL="0">
              <a:buNone/>
            </a:pPr>
            <a:r>
              <a:rPr lang="tr-TR" sz="1150" b="1" dirty="0">
                <a:solidFill>
                  <a:srgbClr val="212121"/>
                </a:solidFill>
                <a:latin typeface="Calibri" pitchFamily="34" charset="0"/>
                <a:ea typeface="Calibri" pitchFamily="34" charset="-122"/>
                <a:cs typeface="Calibri" pitchFamily="34" charset="-120"/>
              </a:rPr>
              <a:t>ana program</a:t>
            </a:r>
            <a:endParaRPr lang="tr-TR" sz="1150" dirty="0"/>
          </a:p>
          <a:p>
            <a:pPr algn="ctr" indent="0" marL="0">
              <a:buNone/>
            </a:pPr>
            <a:r>
              <a:rPr lang="tr-TR" sz="1050" dirty="0">
                <a:solidFill>
                  <a:srgbClr val="212121"/>
                </a:solidFill>
                <a:latin typeface="Calibri" pitchFamily="34" charset="0"/>
                <a:ea typeface="Calibri" pitchFamily="34" charset="-122"/>
                <a:cs typeface="Calibri" pitchFamily="34" charset="-120"/>
              </a:rPr>
              <a:t>bölüt 0</a:t>
            </a:r>
            <a:endParaRPr lang="tr-TR" sz="1150" dirty="0"/>
          </a:p>
        </p:txBody>
      </p:sp>
      <p:sp>
        <p:nvSpPr>
          <p:cNvPr id="9" name="Shape 7"/>
          <p:cNvSpPr/>
          <p:nvPr/>
        </p:nvSpPr>
        <p:spPr>
          <a:xfrm>
            <a:off x="2130552" y="4046220"/>
            <a:ext cx="1417320" cy="571500"/>
          </a:xfrm>
          <a:prstGeom prst="roundRect">
            <a:avLst>
              <a:gd name="adj" fmla="val 8000"/>
            </a:avLst>
          </a:prstGeom>
          <a:solidFill>
            <a:srgbClr val="02C39A"/>
          </a:solidFill>
          <a:ln/>
        </p:spPr>
      </p:sp>
      <p:sp>
        <p:nvSpPr>
          <p:cNvPr id="10" name="Text 8"/>
          <p:cNvSpPr txBox="1"/>
          <p:nvPr/>
        </p:nvSpPr>
        <p:spPr>
          <a:xfrm>
            <a:off x="2130552" y="4046220"/>
            <a:ext cx="1417320" cy="571500"/>
          </a:xfrm>
          <a:prstGeom prst="rect">
            <a:avLst/>
          </a:prstGeom>
          <a:noFill/>
          <a:ln/>
        </p:spPr>
        <p:txBody>
          <a:bodyPr wrap="square" lIns="38100" tIns="38100" rIns="38100" bIns="38100" rtlCol="0" anchor="ctr"/>
          <a:lstStyle/>
          <a:p>
            <a:pPr algn="ctr" indent="0" marL="0">
              <a:buNone/>
            </a:pPr>
            <a:r>
              <a:rPr lang="tr-TR" sz="1150" b="1" dirty="0">
                <a:solidFill>
                  <a:srgbClr val="212121"/>
                </a:solidFill>
                <a:latin typeface="Calibri" pitchFamily="34" charset="0"/>
                <a:ea typeface="Calibri" pitchFamily="34" charset="-122"/>
                <a:cs typeface="Calibri" pitchFamily="34" charset="-120"/>
              </a:rPr>
              <a:t>sqrt()  kütüphanesi</a:t>
            </a:r>
            <a:endParaRPr lang="tr-TR" sz="1150" dirty="0"/>
          </a:p>
          <a:p>
            <a:pPr algn="ctr" indent="0" marL="0">
              <a:buNone/>
            </a:pPr>
            <a:r>
              <a:rPr lang="tr-TR" sz="1050" dirty="0">
                <a:solidFill>
                  <a:srgbClr val="212121"/>
                </a:solidFill>
                <a:latin typeface="Calibri" pitchFamily="34" charset="0"/>
                <a:ea typeface="Calibri" pitchFamily="34" charset="-122"/>
                <a:cs typeface="Calibri" pitchFamily="34" charset="-120"/>
              </a:rPr>
              <a:t>bölüt 1</a:t>
            </a:r>
            <a:endParaRPr lang="tr-TR" sz="1150" dirty="0"/>
          </a:p>
        </p:txBody>
      </p:sp>
      <p:sp>
        <p:nvSpPr>
          <p:cNvPr id="11" name="Shape 9"/>
          <p:cNvSpPr/>
          <p:nvPr/>
        </p:nvSpPr>
        <p:spPr>
          <a:xfrm>
            <a:off x="3712464" y="3474720"/>
            <a:ext cx="1417320" cy="1143000"/>
          </a:xfrm>
          <a:prstGeom prst="roundRect">
            <a:avLst>
              <a:gd name="adj" fmla="val 4000"/>
            </a:avLst>
          </a:prstGeom>
          <a:solidFill>
            <a:srgbClr val="02C39A"/>
          </a:solidFill>
          <a:ln/>
        </p:spPr>
      </p:sp>
      <p:sp>
        <p:nvSpPr>
          <p:cNvPr id="12" name="Text 10"/>
          <p:cNvSpPr txBox="1"/>
          <p:nvPr/>
        </p:nvSpPr>
        <p:spPr>
          <a:xfrm>
            <a:off x="3712464" y="3474720"/>
            <a:ext cx="1417320" cy="1143000"/>
          </a:xfrm>
          <a:prstGeom prst="rect">
            <a:avLst/>
          </a:prstGeom>
          <a:noFill/>
          <a:ln/>
        </p:spPr>
        <p:txBody>
          <a:bodyPr wrap="square" lIns="38100" tIns="38100" rIns="38100" bIns="38100" rtlCol="0" anchor="ctr"/>
          <a:lstStyle/>
          <a:p>
            <a:pPr algn="ctr" indent="0" marL="0">
              <a:buNone/>
            </a:pPr>
            <a:r>
              <a:rPr lang="tr-TR" sz="1150" b="1" dirty="0">
                <a:solidFill>
                  <a:srgbClr val="212121"/>
                </a:solidFill>
                <a:latin typeface="Calibri" pitchFamily="34" charset="0"/>
                <a:ea typeface="Calibri" pitchFamily="34" charset="-122"/>
                <a:cs typeface="Calibri" pitchFamily="34" charset="-120"/>
              </a:rPr>
              <a:t>yığıt (stack)</a:t>
            </a:r>
            <a:endParaRPr lang="tr-TR" sz="1150" dirty="0"/>
          </a:p>
          <a:p>
            <a:pPr algn="ctr" indent="0" marL="0">
              <a:buNone/>
            </a:pPr>
            <a:r>
              <a:rPr lang="tr-TR" sz="1050" dirty="0">
                <a:solidFill>
                  <a:srgbClr val="212121"/>
                </a:solidFill>
                <a:latin typeface="Calibri" pitchFamily="34" charset="0"/>
                <a:ea typeface="Calibri" pitchFamily="34" charset="-122"/>
                <a:cs typeface="Calibri" pitchFamily="34" charset="-120"/>
              </a:rPr>
              <a:t>bölüt 2</a:t>
            </a:r>
            <a:endParaRPr lang="tr-TR" sz="1150" dirty="0"/>
          </a:p>
        </p:txBody>
      </p:sp>
      <p:sp>
        <p:nvSpPr>
          <p:cNvPr id="13" name="Shape 11"/>
          <p:cNvSpPr/>
          <p:nvPr/>
        </p:nvSpPr>
        <p:spPr>
          <a:xfrm>
            <a:off x="5294376" y="2903220"/>
            <a:ext cx="1417320" cy="1714500"/>
          </a:xfrm>
          <a:prstGeom prst="roundRect">
            <a:avLst>
              <a:gd name="adj" fmla="val 3226"/>
            </a:avLst>
          </a:prstGeom>
          <a:solidFill>
            <a:srgbClr val="02C39A"/>
          </a:solidFill>
          <a:ln/>
        </p:spPr>
      </p:sp>
      <p:sp>
        <p:nvSpPr>
          <p:cNvPr id="14" name="Text 12"/>
          <p:cNvSpPr txBox="1"/>
          <p:nvPr/>
        </p:nvSpPr>
        <p:spPr>
          <a:xfrm>
            <a:off x="5294376" y="2903220"/>
            <a:ext cx="1417320" cy="1714500"/>
          </a:xfrm>
          <a:prstGeom prst="rect">
            <a:avLst/>
          </a:prstGeom>
          <a:noFill/>
          <a:ln/>
        </p:spPr>
        <p:txBody>
          <a:bodyPr wrap="square" lIns="38100" tIns="38100" rIns="38100" bIns="38100" rtlCol="0" anchor="ctr"/>
          <a:lstStyle/>
          <a:p>
            <a:pPr algn="ctr" indent="0" marL="0">
              <a:buNone/>
            </a:pPr>
            <a:r>
              <a:rPr lang="tr-TR" sz="1150" b="1" dirty="0">
                <a:solidFill>
                  <a:srgbClr val="212121"/>
                </a:solidFill>
                <a:latin typeface="Calibri" pitchFamily="34" charset="0"/>
                <a:ea typeface="Calibri" pitchFamily="34" charset="-122"/>
                <a:cs typeface="Calibri" pitchFamily="34" charset="-120"/>
              </a:rPr>
              <a:t>sembol tablosu</a:t>
            </a:r>
            <a:endParaRPr lang="tr-TR" sz="1150" dirty="0"/>
          </a:p>
          <a:p>
            <a:pPr algn="ctr" indent="0" marL="0">
              <a:buNone/>
            </a:pPr>
            <a:r>
              <a:rPr lang="tr-TR" sz="1050" dirty="0">
                <a:solidFill>
                  <a:srgbClr val="212121"/>
                </a:solidFill>
                <a:latin typeface="Calibri" pitchFamily="34" charset="0"/>
                <a:ea typeface="Calibri" pitchFamily="34" charset="-122"/>
                <a:cs typeface="Calibri" pitchFamily="34" charset="-120"/>
              </a:rPr>
              <a:t>bölüt 3</a:t>
            </a:r>
            <a:endParaRPr lang="tr-TR" sz="1150" dirty="0"/>
          </a:p>
        </p:txBody>
      </p:sp>
      <p:sp>
        <p:nvSpPr>
          <p:cNvPr id="15" name="Shape 13"/>
          <p:cNvSpPr/>
          <p:nvPr/>
        </p:nvSpPr>
        <p:spPr>
          <a:xfrm>
            <a:off x="6876288" y="3284220"/>
            <a:ext cx="1417320" cy="1333500"/>
          </a:xfrm>
          <a:prstGeom prst="roundRect">
            <a:avLst>
              <a:gd name="adj" fmla="val 3429"/>
            </a:avLst>
          </a:prstGeom>
          <a:solidFill>
            <a:srgbClr val="02C39A"/>
          </a:solidFill>
          <a:ln/>
        </p:spPr>
      </p:sp>
      <p:sp>
        <p:nvSpPr>
          <p:cNvPr id="16" name="Text 14"/>
          <p:cNvSpPr txBox="1"/>
          <p:nvPr/>
        </p:nvSpPr>
        <p:spPr>
          <a:xfrm>
            <a:off x="6876288" y="3284220"/>
            <a:ext cx="1417320" cy="1333500"/>
          </a:xfrm>
          <a:prstGeom prst="rect">
            <a:avLst/>
          </a:prstGeom>
          <a:noFill/>
          <a:ln/>
        </p:spPr>
        <p:txBody>
          <a:bodyPr wrap="square" lIns="38100" tIns="38100" rIns="38100" bIns="38100" rtlCol="0" anchor="ctr"/>
          <a:lstStyle/>
          <a:p>
            <a:pPr algn="ctr" indent="0" marL="0">
              <a:buNone/>
            </a:pPr>
            <a:r>
              <a:rPr lang="tr-TR" sz="1150" b="1" dirty="0">
                <a:solidFill>
                  <a:srgbClr val="212121"/>
                </a:solidFill>
                <a:latin typeface="Calibri" pitchFamily="34" charset="0"/>
                <a:ea typeface="Calibri" pitchFamily="34" charset="-122"/>
                <a:cs typeface="Calibri" pitchFamily="34" charset="-120"/>
              </a:rPr>
              <a:t>öbek / veri</a:t>
            </a:r>
            <a:endParaRPr lang="tr-TR" sz="1150" dirty="0"/>
          </a:p>
          <a:p>
            <a:pPr algn="ctr" indent="0" marL="0">
              <a:buNone/>
            </a:pPr>
            <a:r>
              <a:rPr lang="tr-TR" sz="1050" dirty="0">
                <a:solidFill>
                  <a:srgbClr val="212121"/>
                </a:solidFill>
                <a:latin typeface="Calibri" pitchFamily="34" charset="0"/>
                <a:ea typeface="Calibri" pitchFamily="34" charset="-122"/>
                <a:cs typeface="Calibri" pitchFamily="34" charset="-120"/>
              </a:rPr>
              <a:t>bölüt 4</a:t>
            </a:r>
            <a:endParaRPr lang="tr-TR" sz="1150" dirty="0"/>
          </a:p>
        </p:txBody>
      </p:sp>
      <p:sp>
        <p:nvSpPr>
          <p:cNvPr id="17" name="Text 15"/>
          <p:cNvSpPr txBox="1"/>
          <p:nvPr/>
        </p:nvSpPr>
        <p:spPr>
          <a:xfrm>
            <a:off x="548640" y="4709160"/>
            <a:ext cx="7863840" cy="274320"/>
          </a:xfrm>
          <a:prstGeom prst="rect">
            <a:avLst/>
          </a:prstGeom>
          <a:noFill/>
          <a:ln/>
        </p:spPr>
        <p:txBody>
          <a:bodyPr wrap="square" lIns="0" tIns="0" rIns="0" bIns="0" rtlCol="0" anchor="t"/>
          <a:lstStyle/>
          <a:p>
            <a:pPr indent="0" marL="0">
              <a:buNone/>
            </a:pPr>
            <a:r>
              <a:rPr lang="tr-TR" sz="1200" i="1" dirty="0">
                <a:solidFill>
                  <a:srgbClr val="6B7679"/>
                </a:solidFill>
                <a:latin typeface="Calibri" pitchFamily="34" charset="0"/>
                <a:ea typeface="Calibri" pitchFamily="34" charset="-122"/>
                <a:cs typeface="Calibri" pitchFamily="34" charset="-120"/>
              </a:rPr>
              <a:t>mantıksal görünüm: her biri 0 ofsetinden başlayan, farklı boylarda ayrı parçalar</a:t>
            </a:r>
            <a:endParaRPr lang="tr-TR" sz="1200" dirty="0"/>
          </a:p>
        </p:txBody>
      </p:sp>
      <p:sp>
        <p:nvSpPr>
          <p:cNvPr id="18" name="Text 16"/>
          <p:cNvSpPr txBox="1"/>
          <p:nvPr/>
        </p:nvSpPr>
        <p:spPr>
          <a:xfrm>
            <a:off x="8732520" y="2011680"/>
            <a:ext cx="2194560" cy="274320"/>
          </a:xfrm>
          <a:prstGeom prst="rect">
            <a:avLst/>
          </a:prstGeom>
          <a:noFill/>
          <a:ln/>
        </p:spPr>
        <p:txBody>
          <a:bodyPr wrap="square" lIns="0" tIns="0" rIns="0" bIns="0" rtlCol="0" anchor="t"/>
          <a:lstStyle/>
          <a:p>
            <a:pPr algn="ctr" indent="0" marL="0">
              <a:buNone/>
            </a:pPr>
            <a:r>
              <a:rPr lang="tr-TR" sz="1200" b="1" dirty="0">
                <a:solidFill>
                  <a:srgbClr val="36454F"/>
                </a:solidFill>
                <a:latin typeface="Calibri" pitchFamily="34" charset="0"/>
                <a:ea typeface="Calibri" pitchFamily="34" charset="-122"/>
                <a:cs typeface="Calibri" pitchFamily="34" charset="-120"/>
              </a:rPr>
              <a:t>fiziksel bellek</a:t>
            </a:r>
            <a:endParaRPr lang="tr-TR" sz="1200" dirty="0"/>
          </a:p>
        </p:txBody>
      </p:sp>
      <p:sp>
        <p:nvSpPr>
          <p:cNvPr id="19" name="Shape 17"/>
          <p:cNvSpPr/>
          <p:nvPr/>
        </p:nvSpPr>
        <p:spPr>
          <a:xfrm>
            <a:off x="8915400" y="2331720"/>
            <a:ext cx="1828800" cy="3931920"/>
          </a:xfrm>
          <a:prstGeom prst="rect">
            <a:avLst/>
          </a:prstGeom>
          <a:solidFill>
            <a:srgbClr val="FFFFFF"/>
          </a:solidFill>
          <a:ln w="12700">
            <a:solidFill>
              <a:srgbClr val="50808E"/>
            </a:solidFill>
            <a:prstDash val="solid"/>
          </a:ln>
        </p:spPr>
      </p:sp>
      <p:sp>
        <p:nvSpPr>
          <p:cNvPr id="20" name="Shape 18"/>
          <p:cNvSpPr/>
          <p:nvPr/>
        </p:nvSpPr>
        <p:spPr>
          <a:xfrm>
            <a:off x="8915400" y="2752997"/>
            <a:ext cx="1828800" cy="842554"/>
          </a:xfrm>
          <a:prstGeom prst="rect">
            <a:avLst/>
          </a:prstGeom>
          <a:solidFill>
            <a:srgbClr val="02C39A"/>
          </a:solidFill>
          <a:ln w="12700">
            <a:solidFill>
              <a:srgbClr val="FFFFFF"/>
            </a:solidFill>
            <a:prstDash val="solid"/>
          </a:ln>
        </p:spPr>
      </p:sp>
      <p:sp>
        <p:nvSpPr>
          <p:cNvPr id="21" name="Text 19"/>
          <p:cNvSpPr txBox="1"/>
          <p:nvPr/>
        </p:nvSpPr>
        <p:spPr>
          <a:xfrm>
            <a:off x="8915400" y="2752997"/>
            <a:ext cx="1828800" cy="842554"/>
          </a:xfrm>
          <a:prstGeom prst="rect">
            <a:avLst/>
          </a:prstGeom>
          <a:noFill/>
          <a:ln/>
        </p:spPr>
        <p:txBody>
          <a:bodyPr wrap="square" lIns="0" tIns="0" rIns="0" bIns="0" rtlCol="0" anchor="ctr"/>
          <a:lstStyle/>
          <a:p>
            <a:pPr algn="ctr" indent="0" marL="0">
              <a:buNone/>
            </a:pPr>
            <a:r>
              <a:rPr lang="tr-TR" sz="1100" b="1" dirty="0">
                <a:solidFill>
                  <a:srgbClr val="212121"/>
                </a:solidFill>
                <a:latin typeface="Calibri" pitchFamily="34" charset="0"/>
                <a:ea typeface="Calibri" pitchFamily="34" charset="-122"/>
                <a:cs typeface="Calibri" pitchFamily="34" charset="-120"/>
              </a:rPr>
              <a:t>bölüt 0</a:t>
            </a:r>
            <a:endParaRPr lang="tr-TR" sz="1100" dirty="0"/>
          </a:p>
        </p:txBody>
      </p:sp>
      <p:sp>
        <p:nvSpPr>
          <p:cNvPr id="22" name="Text 20"/>
          <p:cNvSpPr txBox="1"/>
          <p:nvPr/>
        </p:nvSpPr>
        <p:spPr>
          <a:xfrm>
            <a:off x="8229600" y="2643269"/>
            <a:ext cx="621792" cy="228600"/>
          </a:xfrm>
          <a:prstGeom prst="rect">
            <a:avLst/>
          </a:prstGeom>
          <a:noFill/>
          <a:ln/>
        </p:spPr>
        <p:txBody>
          <a:bodyPr wrap="square" lIns="0" tIns="0" rIns="0" bIns="0" rtlCol="0" anchor="t"/>
          <a:lstStyle/>
          <a:p>
            <a:pPr algn="r" indent="0" marL="0">
              <a:buNone/>
            </a:pPr>
            <a:r>
              <a:rPr lang="tr-TR" sz="1000" dirty="0">
                <a:solidFill>
                  <a:srgbClr val="6B7679"/>
                </a:solidFill>
                <a:latin typeface="Calibri" pitchFamily="34" charset="0"/>
                <a:ea typeface="Calibri" pitchFamily="34" charset="-122"/>
                <a:cs typeface="Calibri" pitchFamily="34" charset="-120"/>
              </a:rPr>
              <a:t>2000</a:t>
            </a:r>
            <a:endParaRPr lang="tr-TR" sz="1000" dirty="0"/>
          </a:p>
        </p:txBody>
      </p:sp>
      <p:sp>
        <p:nvSpPr>
          <p:cNvPr id="23" name="Shape 21"/>
          <p:cNvSpPr/>
          <p:nvPr/>
        </p:nvSpPr>
        <p:spPr>
          <a:xfrm>
            <a:off x="8915400" y="5912576"/>
            <a:ext cx="1828800" cy="210639"/>
          </a:xfrm>
          <a:prstGeom prst="rect">
            <a:avLst/>
          </a:prstGeom>
          <a:solidFill>
            <a:srgbClr val="02C39A"/>
          </a:solidFill>
          <a:ln w="12700">
            <a:solidFill>
              <a:srgbClr val="FFFFFF"/>
            </a:solidFill>
            <a:prstDash val="solid"/>
          </a:ln>
        </p:spPr>
      </p:sp>
      <p:sp>
        <p:nvSpPr>
          <p:cNvPr id="24" name="Text 22"/>
          <p:cNvSpPr txBox="1"/>
          <p:nvPr/>
        </p:nvSpPr>
        <p:spPr>
          <a:xfrm>
            <a:off x="8915400" y="5912576"/>
            <a:ext cx="1828800" cy="210639"/>
          </a:xfrm>
          <a:prstGeom prst="rect">
            <a:avLst/>
          </a:prstGeom>
          <a:noFill/>
          <a:ln/>
        </p:spPr>
        <p:txBody>
          <a:bodyPr wrap="square" lIns="0" tIns="0" rIns="0" bIns="0" rtlCol="0" anchor="ctr"/>
          <a:lstStyle/>
          <a:p>
            <a:pPr algn="ctr" indent="0" marL="0">
              <a:buNone/>
            </a:pPr>
            <a:r>
              <a:rPr lang="tr-TR" sz="1100" b="1" dirty="0">
                <a:solidFill>
                  <a:srgbClr val="212121"/>
                </a:solidFill>
                <a:latin typeface="Calibri" pitchFamily="34" charset="0"/>
                <a:ea typeface="Calibri" pitchFamily="34" charset="-122"/>
                <a:cs typeface="Calibri" pitchFamily="34" charset="-120"/>
              </a:rPr>
              <a:t>bölüt 1</a:t>
            </a:r>
            <a:endParaRPr lang="tr-TR" sz="1100" dirty="0"/>
          </a:p>
        </p:txBody>
      </p:sp>
      <p:sp>
        <p:nvSpPr>
          <p:cNvPr id="25" name="Text 23"/>
          <p:cNvSpPr txBox="1"/>
          <p:nvPr/>
        </p:nvSpPr>
        <p:spPr>
          <a:xfrm>
            <a:off x="8229600" y="5802848"/>
            <a:ext cx="621792" cy="228600"/>
          </a:xfrm>
          <a:prstGeom prst="rect">
            <a:avLst/>
          </a:prstGeom>
          <a:noFill/>
          <a:ln/>
        </p:spPr>
        <p:txBody>
          <a:bodyPr wrap="square" lIns="0" tIns="0" rIns="0" bIns="0" rtlCol="0" anchor="t"/>
          <a:lstStyle/>
          <a:p>
            <a:pPr algn="r" indent="0" marL="0">
              <a:buNone/>
            </a:pPr>
            <a:r>
              <a:rPr lang="tr-TR" sz="1000" dirty="0">
                <a:solidFill>
                  <a:srgbClr val="6B7679"/>
                </a:solidFill>
                <a:latin typeface="Calibri" pitchFamily="34" charset="0"/>
                <a:ea typeface="Calibri" pitchFamily="34" charset="-122"/>
                <a:cs typeface="Calibri" pitchFamily="34" charset="-120"/>
              </a:rPr>
              <a:t>6500</a:t>
            </a:r>
            <a:endParaRPr lang="tr-TR" sz="1000" dirty="0"/>
          </a:p>
        </p:txBody>
      </p:sp>
      <p:sp>
        <p:nvSpPr>
          <p:cNvPr id="26" name="Shape 24"/>
          <p:cNvSpPr/>
          <p:nvPr/>
        </p:nvSpPr>
        <p:spPr>
          <a:xfrm>
            <a:off x="8915400" y="4718957"/>
            <a:ext cx="1828800" cy="421277"/>
          </a:xfrm>
          <a:prstGeom prst="rect">
            <a:avLst/>
          </a:prstGeom>
          <a:solidFill>
            <a:srgbClr val="02C39A"/>
          </a:solidFill>
          <a:ln w="12700">
            <a:solidFill>
              <a:srgbClr val="FFFFFF"/>
            </a:solidFill>
            <a:prstDash val="solid"/>
          </a:ln>
        </p:spPr>
      </p:sp>
      <p:sp>
        <p:nvSpPr>
          <p:cNvPr id="27" name="Text 25"/>
          <p:cNvSpPr txBox="1"/>
          <p:nvPr/>
        </p:nvSpPr>
        <p:spPr>
          <a:xfrm>
            <a:off x="8915400" y="4718957"/>
            <a:ext cx="1828800" cy="421277"/>
          </a:xfrm>
          <a:prstGeom prst="rect">
            <a:avLst/>
          </a:prstGeom>
          <a:noFill/>
          <a:ln/>
        </p:spPr>
        <p:txBody>
          <a:bodyPr wrap="square" lIns="0" tIns="0" rIns="0" bIns="0" rtlCol="0" anchor="ctr"/>
          <a:lstStyle/>
          <a:p>
            <a:pPr algn="ctr" indent="0" marL="0">
              <a:buNone/>
            </a:pPr>
            <a:r>
              <a:rPr lang="tr-TR" sz="1100" b="1" dirty="0">
                <a:solidFill>
                  <a:srgbClr val="212121"/>
                </a:solidFill>
                <a:latin typeface="Calibri" pitchFamily="34" charset="0"/>
                <a:ea typeface="Calibri" pitchFamily="34" charset="-122"/>
                <a:cs typeface="Calibri" pitchFamily="34" charset="-120"/>
              </a:rPr>
              <a:t>bölüt 2</a:t>
            </a:r>
            <a:endParaRPr lang="tr-TR" sz="1100" dirty="0"/>
          </a:p>
        </p:txBody>
      </p:sp>
      <p:sp>
        <p:nvSpPr>
          <p:cNvPr id="28" name="Text 26"/>
          <p:cNvSpPr txBox="1"/>
          <p:nvPr/>
        </p:nvSpPr>
        <p:spPr>
          <a:xfrm>
            <a:off x="8229600" y="4609229"/>
            <a:ext cx="621792" cy="228600"/>
          </a:xfrm>
          <a:prstGeom prst="rect">
            <a:avLst/>
          </a:prstGeom>
          <a:noFill/>
          <a:ln/>
        </p:spPr>
        <p:txBody>
          <a:bodyPr wrap="square" lIns="0" tIns="0" rIns="0" bIns="0" rtlCol="0" anchor="t"/>
          <a:lstStyle/>
          <a:p>
            <a:pPr algn="r" indent="0" marL="0">
              <a:buNone/>
            </a:pPr>
            <a:r>
              <a:rPr lang="tr-TR" sz="1000" dirty="0">
                <a:solidFill>
                  <a:srgbClr val="6B7679"/>
                </a:solidFill>
                <a:latin typeface="Calibri" pitchFamily="34" charset="0"/>
                <a:ea typeface="Calibri" pitchFamily="34" charset="-122"/>
                <a:cs typeface="Calibri" pitchFamily="34" charset="-120"/>
              </a:rPr>
              <a:t>4800</a:t>
            </a:r>
            <a:endParaRPr lang="tr-TR" sz="1000" dirty="0"/>
          </a:p>
        </p:txBody>
      </p:sp>
      <p:sp>
        <p:nvSpPr>
          <p:cNvPr id="29" name="Shape 27"/>
          <p:cNvSpPr/>
          <p:nvPr/>
        </p:nvSpPr>
        <p:spPr>
          <a:xfrm>
            <a:off x="8915400" y="3735977"/>
            <a:ext cx="1828800" cy="631916"/>
          </a:xfrm>
          <a:prstGeom prst="rect">
            <a:avLst/>
          </a:prstGeom>
          <a:solidFill>
            <a:srgbClr val="02C39A"/>
          </a:solidFill>
          <a:ln w="12700">
            <a:solidFill>
              <a:srgbClr val="FFFFFF"/>
            </a:solidFill>
            <a:prstDash val="solid"/>
          </a:ln>
        </p:spPr>
      </p:sp>
      <p:sp>
        <p:nvSpPr>
          <p:cNvPr id="30" name="Text 28"/>
          <p:cNvSpPr txBox="1"/>
          <p:nvPr/>
        </p:nvSpPr>
        <p:spPr>
          <a:xfrm>
            <a:off x="8915400" y="3735977"/>
            <a:ext cx="1828800" cy="631916"/>
          </a:xfrm>
          <a:prstGeom prst="rect">
            <a:avLst/>
          </a:prstGeom>
          <a:noFill/>
          <a:ln/>
        </p:spPr>
        <p:txBody>
          <a:bodyPr wrap="square" lIns="0" tIns="0" rIns="0" bIns="0" rtlCol="0" anchor="ctr"/>
          <a:lstStyle/>
          <a:p>
            <a:pPr algn="ctr" indent="0" marL="0">
              <a:buNone/>
            </a:pPr>
            <a:r>
              <a:rPr lang="tr-TR" sz="1100" b="1" dirty="0">
                <a:solidFill>
                  <a:srgbClr val="212121"/>
                </a:solidFill>
                <a:latin typeface="Calibri" pitchFamily="34" charset="0"/>
                <a:ea typeface="Calibri" pitchFamily="34" charset="-122"/>
                <a:cs typeface="Calibri" pitchFamily="34" charset="-120"/>
              </a:rPr>
              <a:t>bölüt 3</a:t>
            </a:r>
            <a:endParaRPr lang="tr-TR" sz="1100" dirty="0"/>
          </a:p>
        </p:txBody>
      </p:sp>
      <p:sp>
        <p:nvSpPr>
          <p:cNvPr id="31" name="Text 29"/>
          <p:cNvSpPr txBox="1"/>
          <p:nvPr/>
        </p:nvSpPr>
        <p:spPr>
          <a:xfrm>
            <a:off x="8229600" y="3626249"/>
            <a:ext cx="621792" cy="228600"/>
          </a:xfrm>
          <a:prstGeom prst="rect">
            <a:avLst/>
          </a:prstGeom>
          <a:noFill/>
          <a:ln/>
        </p:spPr>
        <p:txBody>
          <a:bodyPr wrap="square" lIns="0" tIns="0" rIns="0" bIns="0" rtlCol="0" anchor="t"/>
          <a:lstStyle/>
          <a:p>
            <a:pPr algn="r" indent="0" marL="0">
              <a:buNone/>
            </a:pPr>
            <a:r>
              <a:rPr lang="tr-TR" sz="1000" dirty="0">
                <a:solidFill>
                  <a:srgbClr val="6B7679"/>
                </a:solidFill>
                <a:latin typeface="Calibri" pitchFamily="34" charset="0"/>
                <a:ea typeface="Calibri" pitchFamily="34" charset="-122"/>
                <a:cs typeface="Calibri" pitchFamily="34" charset="-120"/>
              </a:rPr>
              <a:t>3400</a:t>
            </a:r>
            <a:endParaRPr lang="tr-TR" sz="1000" dirty="0"/>
          </a:p>
        </p:txBody>
      </p:sp>
      <p:sp>
        <p:nvSpPr>
          <p:cNvPr id="32" name="Shape 30"/>
          <p:cNvSpPr/>
          <p:nvPr/>
        </p:nvSpPr>
        <p:spPr>
          <a:xfrm>
            <a:off x="8915400" y="5280660"/>
            <a:ext cx="1828800" cy="491490"/>
          </a:xfrm>
          <a:prstGeom prst="rect">
            <a:avLst/>
          </a:prstGeom>
          <a:solidFill>
            <a:srgbClr val="02C39A"/>
          </a:solidFill>
          <a:ln w="12700">
            <a:solidFill>
              <a:srgbClr val="FFFFFF"/>
            </a:solidFill>
            <a:prstDash val="solid"/>
          </a:ln>
        </p:spPr>
      </p:sp>
      <p:sp>
        <p:nvSpPr>
          <p:cNvPr id="33" name="Text 31"/>
          <p:cNvSpPr txBox="1"/>
          <p:nvPr/>
        </p:nvSpPr>
        <p:spPr>
          <a:xfrm>
            <a:off x="8915400" y="5280660"/>
            <a:ext cx="1828800" cy="491490"/>
          </a:xfrm>
          <a:prstGeom prst="rect">
            <a:avLst/>
          </a:prstGeom>
          <a:noFill/>
          <a:ln/>
        </p:spPr>
        <p:txBody>
          <a:bodyPr wrap="square" lIns="0" tIns="0" rIns="0" bIns="0" rtlCol="0" anchor="ctr"/>
          <a:lstStyle/>
          <a:p>
            <a:pPr algn="ctr" indent="0" marL="0">
              <a:buNone/>
            </a:pPr>
            <a:r>
              <a:rPr lang="tr-TR" sz="1100" b="1" dirty="0">
                <a:solidFill>
                  <a:srgbClr val="212121"/>
                </a:solidFill>
                <a:latin typeface="Calibri" pitchFamily="34" charset="0"/>
                <a:ea typeface="Calibri" pitchFamily="34" charset="-122"/>
                <a:cs typeface="Calibri" pitchFamily="34" charset="-120"/>
              </a:rPr>
              <a:t>bölüt 4</a:t>
            </a:r>
            <a:endParaRPr lang="tr-TR" sz="1100" dirty="0"/>
          </a:p>
        </p:txBody>
      </p:sp>
      <p:sp>
        <p:nvSpPr>
          <p:cNvPr id="34" name="Text 32"/>
          <p:cNvSpPr txBox="1"/>
          <p:nvPr/>
        </p:nvSpPr>
        <p:spPr>
          <a:xfrm>
            <a:off x="8229600" y="5170932"/>
            <a:ext cx="621792" cy="228600"/>
          </a:xfrm>
          <a:prstGeom prst="rect">
            <a:avLst/>
          </a:prstGeom>
          <a:noFill/>
          <a:ln/>
        </p:spPr>
        <p:txBody>
          <a:bodyPr wrap="square" lIns="0" tIns="0" rIns="0" bIns="0" rtlCol="0" anchor="t"/>
          <a:lstStyle/>
          <a:p>
            <a:pPr algn="r" indent="0" marL="0">
              <a:buNone/>
            </a:pPr>
            <a:r>
              <a:rPr lang="tr-TR" sz="1000" dirty="0">
                <a:solidFill>
                  <a:srgbClr val="6B7679"/>
                </a:solidFill>
                <a:latin typeface="Calibri" pitchFamily="34" charset="0"/>
                <a:ea typeface="Calibri" pitchFamily="34" charset="-122"/>
                <a:cs typeface="Calibri" pitchFamily="34" charset="-120"/>
              </a:rPr>
              <a:t>5600</a:t>
            </a:r>
            <a:endParaRPr lang="tr-TR" sz="1000" dirty="0"/>
          </a:p>
        </p:txBody>
      </p:sp>
      <p:sp>
        <p:nvSpPr>
          <p:cNvPr id="35" name="Shape 33"/>
          <p:cNvSpPr/>
          <p:nvPr/>
        </p:nvSpPr>
        <p:spPr>
          <a:xfrm>
            <a:off x="548640" y="5120640"/>
            <a:ext cx="7772400" cy="1143000"/>
          </a:xfrm>
          <a:prstGeom prst="roundRect">
            <a:avLst>
              <a:gd name="adj" fmla="val 4800"/>
            </a:avLst>
          </a:prstGeom>
          <a:solidFill>
            <a:srgbClr val="36454F"/>
          </a:solidFill>
          <a:ln/>
          <a:effectLst>
            <a:outerShdw sx="100000" sy="100000" kx="0" ky="0" algn="bl" rotWithShape="0" blurRad="101600" dist="25400" dir="5400000">
              <a:srgbClr val="000000">
                <a:alpha val="12000"/>
              </a:srgbClr>
            </a:outerShdw>
          </a:effectLst>
        </p:spPr>
      </p:sp>
      <p:sp>
        <p:nvSpPr>
          <p:cNvPr id="36" name="Text 34"/>
          <p:cNvSpPr txBox="1"/>
          <p:nvPr/>
        </p:nvSpPr>
        <p:spPr>
          <a:xfrm>
            <a:off x="777240" y="5120640"/>
            <a:ext cx="7315200" cy="114300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Mantıksal adres = ⟨bölüt numarası s, ofset d⟩. Bölütleri derleyici oluşturur; yükleyici her birine fiziksel bellekte bir taban verir.</a:t>
            </a:r>
            <a:endParaRPr lang="tr-TR"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BÖLÜTLEME</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Bölüt Tablosu ve Adres Çevirisi</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Her bölütün bir tabanı (RAM'de nerede başladığı) ve bir sınırı (uzunluğu) vardır. Ofset sınırla denetlenir.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6  ·  30</a:t>
            </a:r>
            <a:endParaRPr lang="tr-TR" sz="9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4937760" cy="914400"/>
        </p:xfrm>
        <a:graphic>
          <a:graphicData uri="http://schemas.openxmlformats.org/drawingml/2006/table">
            <a:tbl>
              <a:tblPr/>
              <a:tblGrid>
                <a:gridCol w="457200"/>
                <a:gridCol w="2286000"/>
                <a:gridCol w="1097280"/>
                <a:gridCol w="1097280"/>
              </a:tblGrid>
              <a:tr h="0">
                <a:tc>
                  <a:txBody>
                    <a:bodyPr/>
                    <a:lstStyle/>
                    <a:p>
                      <a:pPr indent="0" marL="0">
                        <a:buNone/>
                      </a:pPr>
                      <a:r>
                        <a:rPr lang="tr-TR" sz="1400" b="1" dirty="0">
                          <a:solidFill>
                            <a:srgbClr val="FFFFFF"/>
                          </a:solidFill>
                          <a:latin typeface="Cambria" pitchFamily="34" charset="0"/>
                          <a:ea typeface="Cambria" pitchFamily="34" charset="-122"/>
                          <a:cs typeface="Cambria" pitchFamily="34" charset="-120"/>
                        </a:rPr>
                        <a:t>s</a:t>
                      </a:r>
                      <a:endParaRPr lang="tr-TR" sz="1400" dirty="0">
                        <a:latin typeface="Cambria" charset="0"/>
                        <a:ea typeface="Cambria" charset="0"/>
                        <a:cs typeface="Cambria"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400" b="1" dirty="0">
                          <a:solidFill>
                            <a:srgbClr val="FFFFFF"/>
                          </a:solidFill>
                          <a:latin typeface="Cambria" pitchFamily="34" charset="0"/>
                          <a:ea typeface="Cambria" pitchFamily="34" charset="-122"/>
                          <a:cs typeface="Cambria" pitchFamily="34" charset="-120"/>
                        </a:rPr>
                        <a:t>Bölüt</a:t>
                      </a:r>
                      <a:endParaRPr lang="tr-TR" sz="1400" dirty="0">
                        <a:latin typeface="Cambria" charset="0"/>
                        <a:ea typeface="Cambria" charset="0"/>
                        <a:cs typeface="Cambria"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400" b="1" dirty="0">
                          <a:solidFill>
                            <a:srgbClr val="FFFFFF"/>
                          </a:solidFill>
                          <a:latin typeface="Cambria" pitchFamily="34" charset="0"/>
                          <a:ea typeface="Cambria" pitchFamily="34" charset="-122"/>
                          <a:cs typeface="Cambria" pitchFamily="34" charset="-120"/>
                        </a:rPr>
                        <a:t>Taban</a:t>
                      </a:r>
                      <a:endParaRPr lang="tr-TR" sz="1400" dirty="0">
                        <a:latin typeface="Cambria" charset="0"/>
                        <a:ea typeface="Cambria" charset="0"/>
                        <a:cs typeface="Cambria"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400" b="1" dirty="0">
                          <a:solidFill>
                            <a:srgbClr val="FFFFFF"/>
                          </a:solidFill>
                          <a:latin typeface="Cambria" pitchFamily="34" charset="0"/>
                          <a:ea typeface="Cambria" pitchFamily="34" charset="-122"/>
                          <a:cs typeface="Cambria" pitchFamily="34" charset="-120"/>
                        </a:rPr>
                        <a:t>Sınır</a:t>
                      </a:r>
                      <a:endParaRPr lang="tr-TR" sz="1400" dirty="0">
                        <a:latin typeface="Cambria" charset="0"/>
                        <a:ea typeface="Cambria" charset="0"/>
                        <a:cs typeface="Cambria"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400" b="1" dirty="0">
                          <a:solidFill>
                            <a:srgbClr val="3A464C"/>
                          </a:solidFill>
                          <a:latin typeface="Calibri" pitchFamily="34" charset="0"/>
                          <a:ea typeface="Calibri" pitchFamily="34" charset="-122"/>
                          <a:cs typeface="Calibri" pitchFamily="34" charset="-120"/>
                        </a:rPr>
                        <a:t>0</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ana program</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2000</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1200</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00" b="1" dirty="0">
                          <a:solidFill>
                            <a:srgbClr val="3A464C"/>
                          </a:solidFill>
                          <a:latin typeface="Calibri" pitchFamily="34" charset="0"/>
                          <a:ea typeface="Calibri" pitchFamily="34" charset="-122"/>
                          <a:cs typeface="Calibri" pitchFamily="34" charset="-120"/>
                        </a:rPr>
                        <a:t>1</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sqrt() kütüphanesi</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6500</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300</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400" b="1" dirty="0">
                          <a:solidFill>
                            <a:srgbClr val="3A464C"/>
                          </a:solidFill>
                          <a:latin typeface="Calibri" pitchFamily="34" charset="0"/>
                          <a:ea typeface="Calibri" pitchFamily="34" charset="-122"/>
                          <a:cs typeface="Calibri" pitchFamily="34" charset="-120"/>
                        </a:rPr>
                        <a:t>2</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yığıt</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4800</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600</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00" b="1" dirty="0">
                          <a:solidFill>
                            <a:srgbClr val="3A464C"/>
                          </a:solidFill>
                          <a:latin typeface="Calibri" pitchFamily="34" charset="0"/>
                          <a:ea typeface="Calibri" pitchFamily="34" charset="-122"/>
                          <a:cs typeface="Calibri" pitchFamily="34" charset="-120"/>
                        </a:rPr>
                        <a:t>3</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sembol tablosu</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3400</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900</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400" b="1" dirty="0">
                          <a:solidFill>
                            <a:srgbClr val="3A464C"/>
                          </a:solidFill>
                          <a:latin typeface="Calibri" pitchFamily="34" charset="0"/>
                          <a:ea typeface="Calibri" pitchFamily="34" charset="-122"/>
                          <a:cs typeface="Calibri" pitchFamily="34" charset="-120"/>
                        </a:rPr>
                        <a:t>4</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öbek / veri</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5600</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3A464C"/>
                          </a:solidFill>
                          <a:latin typeface="Calibri" pitchFamily="34" charset="0"/>
                          <a:ea typeface="Calibri" pitchFamily="34" charset="-122"/>
                          <a:cs typeface="Calibri" pitchFamily="34" charset="-120"/>
                        </a:rPr>
                        <a:t>700</a:t>
                      </a:r>
                      <a:endParaRPr lang="tr-TR" sz="1400" dirty="0">
                        <a:latin typeface="Calibri" charset="0"/>
                        <a:ea typeface="Calibri" charset="0"/>
                        <a:cs typeface="Calibri" charset="0"/>
                      </a:endParaRPr>
                    </a:p>
                  </a:txBody>
                  <a:tcPr marL="101600" marR="1016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8" name="Shape 5"/>
          <p:cNvSpPr/>
          <p:nvPr/>
        </p:nvSpPr>
        <p:spPr>
          <a:xfrm>
            <a:off x="5806440" y="2103120"/>
            <a:ext cx="914400" cy="594360"/>
          </a:xfrm>
          <a:prstGeom prst="roundRect">
            <a:avLst>
              <a:gd name="adj" fmla="val 7692"/>
            </a:avLst>
          </a:prstGeom>
          <a:solidFill>
            <a:srgbClr val="02C39A"/>
          </a:solidFill>
          <a:ln/>
        </p:spPr>
      </p:sp>
      <p:sp>
        <p:nvSpPr>
          <p:cNvPr id="9" name="Text 6"/>
          <p:cNvSpPr txBox="1"/>
          <p:nvPr/>
        </p:nvSpPr>
        <p:spPr>
          <a:xfrm>
            <a:off x="5806440" y="2103120"/>
            <a:ext cx="914400" cy="594360"/>
          </a:xfrm>
          <a:prstGeom prst="rect">
            <a:avLst/>
          </a:prstGeom>
          <a:noFill/>
          <a:ln/>
        </p:spPr>
        <p:txBody>
          <a:bodyPr wrap="square" lIns="38100" tIns="38100" rIns="38100" bIns="38100" rtlCol="0" anchor="ctr"/>
          <a:lstStyle/>
          <a:p>
            <a:pPr algn="ctr" indent="0" marL="0">
              <a:buNone/>
            </a:pPr>
            <a:r>
              <a:rPr lang="tr-TR" sz="1500" b="1" dirty="0">
                <a:solidFill>
                  <a:srgbClr val="212121"/>
                </a:solidFill>
                <a:latin typeface="Calibri" pitchFamily="34" charset="0"/>
                <a:ea typeface="Calibri" pitchFamily="34" charset="-122"/>
                <a:cs typeface="Calibri" pitchFamily="34" charset="-120"/>
              </a:rPr>
              <a:t>s</a:t>
            </a:r>
            <a:endParaRPr lang="tr-TR" sz="1500" dirty="0"/>
          </a:p>
        </p:txBody>
      </p:sp>
      <p:sp>
        <p:nvSpPr>
          <p:cNvPr id="10" name="Shape 7"/>
          <p:cNvSpPr/>
          <p:nvPr/>
        </p:nvSpPr>
        <p:spPr>
          <a:xfrm>
            <a:off x="6766560" y="2103120"/>
            <a:ext cx="914400" cy="594360"/>
          </a:xfrm>
          <a:prstGeom prst="roundRect">
            <a:avLst>
              <a:gd name="adj" fmla="val 7692"/>
            </a:avLst>
          </a:prstGeom>
          <a:solidFill>
            <a:srgbClr val="F2F2F2"/>
          </a:solidFill>
          <a:ln/>
        </p:spPr>
      </p:sp>
      <p:sp>
        <p:nvSpPr>
          <p:cNvPr id="11" name="Text 8"/>
          <p:cNvSpPr txBox="1"/>
          <p:nvPr/>
        </p:nvSpPr>
        <p:spPr>
          <a:xfrm>
            <a:off x="6766560" y="2103120"/>
            <a:ext cx="914400" cy="594360"/>
          </a:xfrm>
          <a:prstGeom prst="rect">
            <a:avLst/>
          </a:prstGeom>
          <a:noFill/>
          <a:ln/>
        </p:spPr>
        <p:txBody>
          <a:bodyPr wrap="square" lIns="38100" tIns="38100" rIns="38100" bIns="38100" rtlCol="0" anchor="ctr"/>
          <a:lstStyle/>
          <a:p>
            <a:pPr algn="ctr" indent="0" marL="0">
              <a:buNone/>
            </a:pPr>
            <a:r>
              <a:rPr lang="tr-TR" sz="1500" b="1" dirty="0">
                <a:solidFill>
                  <a:srgbClr val="36454F"/>
                </a:solidFill>
                <a:latin typeface="Calibri" pitchFamily="34" charset="0"/>
                <a:ea typeface="Calibri" pitchFamily="34" charset="-122"/>
                <a:cs typeface="Calibri" pitchFamily="34" charset="-120"/>
              </a:rPr>
              <a:t>d</a:t>
            </a:r>
            <a:endParaRPr lang="tr-TR" sz="1500" dirty="0"/>
          </a:p>
        </p:txBody>
      </p:sp>
      <p:sp>
        <p:nvSpPr>
          <p:cNvPr id="12" name="Shape 9"/>
          <p:cNvSpPr/>
          <p:nvPr/>
        </p:nvSpPr>
        <p:spPr>
          <a:xfrm>
            <a:off x="8138160" y="1920240"/>
            <a:ext cx="1554480" cy="960120"/>
          </a:xfrm>
          <a:prstGeom prst="diamond">
            <a:avLst/>
          </a:prstGeom>
          <a:solidFill>
            <a:srgbClr val="02C39A"/>
          </a:solidFill>
          <a:ln/>
        </p:spPr>
      </p:sp>
      <p:sp>
        <p:nvSpPr>
          <p:cNvPr id="13" name="Text 10"/>
          <p:cNvSpPr txBox="1"/>
          <p:nvPr/>
        </p:nvSpPr>
        <p:spPr>
          <a:xfrm>
            <a:off x="8138160" y="1920240"/>
            <a:ext cx="1554480" cy="960120"/>
          </a:xfrm>
          <a:prstGeom prst="rect">
            <a:avLst/>
          </a:prstGeom>
          <a:noFill/>
          <a:ln/>
        </p:spPr>
        <p:txBody>
          <a:bodyPr wrap="square" lIns="0" tIns="0" rIns="0" bIns="0" rtlCol="0" anchor="ctr"/>
          <a:lstStyle/>
          <a:p>
            <a:pPr algn="ctr" indent="0" marL="0">
              <a:buNone/>
            </a:pPr>
            <a:r>
              <a:rPr lang="tr-TR" sz="1100" b="1" dirty="0">
                <a:solidFill>
                  <a:srgbClr val="212121"/>
                </a:solidFill>
                <a:latin typeface="Calibri" pitchFamily="34" charset="0"/>
                <a:ea typeface="Calibri" pitchFamily="34" charset="-122"/>
                <a:cs typeface="Calibri" pitchFamily="34" charset="-120"/>
              </a:rPr>
              <a:t>d &lt; sınır[s] ?</a:t>
            </a:r>
            <a:endParaRPr lang="tr-TR" sz="1100" dirty="0"/>
          </a:p>
        </p:txBody>
      </p:sp>
      <p:sp>
        <p:nvSpPr>
          <p:cNvPr id="14" name="Shape 11"/>
          <p:cNvSpPr/>
          <p:nvPr/>
        </p:nvSpPr>
        <p:spPr>
          <a:xfrm>
            <a:off x="7699248" y="2404872"/>
            <a:ext cx="420624" cy="91"/>
          </a:xfrm>
          <a:prstGeom prst="line">
            <a:avLst/>
          </a:prstGeom>
          <a:noFill/>
          <a:ln w="19050">
            <a:solidFill>
              <a:srgbClr val="50808E"/>
            </a:solidFill>
            <a:prstDash val="solid"/>
            <a:tailEnd type="triangle"/>
          </a:ln>
        </p:spPr>
      </p:sp>
      <p:sp>
        <p:nvSpPr>
          <p:cNvPr id="15" name="Shape 12"/>
          <p:cNvSpPr/>
          <p:nvPr/>
        </p:nvSpPr>
        <p:spPr>
          <a:xfrm>
            <a:off x="9710928" y="2404872"/>
            <a:ext cx="438912" cy="91"/>
          </a:xfrm>
          <a:prstGeom prst="line">
            <a:avLst/>
          </a:prstGeom>
          <a:noFill/>
          <a:ln w="19050">
            <a:solidFill>
              <a:srgbClr val="50808E"/>
            </a:solidFill>
            <a:prstDash val="solid"/>
            <a:tailEnd type="triangle"/>
          </a:ln>
        </p:spPr>
      </p:sp>
      <p:sp>
        <p:nvSpPr>
          <p:cNvPr id="16" name="Text 13"/>
          <p:cNvSpPr txBox="1"/>
          <p:nvPr/>
        </p:nvSpPr>
        <p:spPr>
          <a:xfrm>
            <a:off x="9665208" y="2057400"/>
            <a:ext cx="548640" cy="274320"/>
          </a:xfrm>
          <a:prstGeom prst="rect">
            <a:avLst/>
          </a:prstGeom>
          <a:noFill/>
          <a:ln/>
        </p:spPr>
        <p:txBody>
          <a:bodyPr wrap="square" lIns="0" tIns="0" rIns="0" bIns="0" rtlCol="0" anchor="t"/>
          <a:lstStyle/>
          <a:p>
            <a:pPr indent="0" marL="0">
              <a:buNone/>
            </a:pPr>
            <a:r>
              <a:rPr lang="tr-TR" sz="1200" b="1" dirty="0">
                <a:solidFill>
                  <a:srgbClr val="028090"/>
                </a:solidFill>
                <a:latin typeface="Calibri" pitchFamily="34" charset="0"/>
                <a:ea typeface="Calibri" pitchFamily="34" charset="-122"/>
                <a:cs typeface="Calibri" pitchFamily="34" charset="-120"/>
              </a:rPr>
              <a:t>evet</a:t>
            </a:r>
            <a:endParaRPr lang="tr-TR" sz="1200" dirty="0"/>
          </a:p>
        </p:txBody>
      </p:sp>
      <p:sp>
        <p:nvSpPr>
          <p:cNvPr id="17" name="Shape 14"/>
          <p:cNvSpPr/>
          <p:nvPr/>
        </p:nvSpPr>
        <p:spPr>
          <a:xfrm>
            <a:off x="10195560" y="2103120"/>
            <a:ext cx="1463040" cy="594360"/>
          </a:xfrm>
          <a:prstGeom prst="roundRect">
            <a:avLst>
              <a:gd name="adj" fmla="val 7692"/>
            </a:avLst>
          </a:prstGeom>
          <a:solidFill>
            <a:srgbClr val="D7E9E6"/>
          </a:solidFill>
          <a:ln/>
        </p:spPr>
      </p:sp>
      <p:sp>
        <p:nvSpPr>
          <p:cNvPr id="18" name="Text 15"/>
          <p:cNvSpPr txBox="1"/>
          <p:nvPr/>
        </p:nvSpPr>
        <p:spPr>
          <a:xfrm>
            <a:off x="10195560" y="2103120"/>
            <a:ext cx="1463040" cy="594360"/>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taban[s] + d</a:t>
            </a:r>
            <a:endParaRPr lang="tr-TR" sz="1300" dirty="0"/>
          </a:p>
        </p:txBody>
      </p:sp>
      <p:sp>
        <p:nvSpPr>
          <p:cNvPr id="19" name="Shape 16"/>
          <p:cNvSpPr/>
          <p:nvPr/>
        </p:nvSpPr>
        <p:spPr>
          <a:xfrm>
            <a:off x="8915400" y="2898648"/>
            <a:ext cx="91" cy="393192"/>
          </a:xfrm>
          <a:prstGeom prst="line">
            <a:avLst/>
          </a:prstGeom>
          <a:noFill/>
          <a:ln w="19050">
            <a:solidFill>
              <a:srgbClr val="B5453A"/>
            </a:solidFill>
            <a:prstDash val="solid"/>
            <a:tailEnd type="triangle"/>
          </a:ln>
        </p:spPr>
      </p:sp>
      <p:sp>
        <p:nvSpPr>
          <p:cNvPr id="20" name="Text 17"/>
          <p:cNvSpPr txBox="1"/>
          <p:nvPr/>
        </p:nvSpPr>
        <p:spPr>
          <a:xfrm>
            <a:off x="9052560" y="2926080"/>
            <a:ext cx="1737360" cy="320040"/>
          </a:xfrm>
          <a:prstGeom prst="rect">
            <a:avLst/>
          </a:prstGeom>
          <a:noFill/>
          <a:ln/>
        </p:spPr>
        <p:txBody>
          <a:bodyPr wrap="square" lIns="0" tIns="0" rIns="0" bIns="0" rtlCol="0" anchor="t"/>
          <a:lstStyle/>
          <a:p>
            <a:pPr indent="0" marL="0">
              <a:buNone/>
            </a:pPr>
            <a:r>
              <a:rPr lang="tr-TR" sz="1200" b="1" dirty="0">
                <a:solidFill>
                  <a:srgbClr val="B5453A"/>
                </a:solidFill>
                <a:latin typeface="Calibri" pitchFamily="34" charset="0"/>
                <a:ea typeface="Calibri" pitchFamily="34" charset="-122"/>
                <a:cs typeface="Calibri" pitchFamily="34" charset="-120"/>
              </a:rPr>
              <a:t>hayır → TUZAK</a:t>
            </a:r>
            <a:endParaRPr lang="tr-TR" sz="1200" dirty="0"/>
          </a:p>
        </p:txBody>
      </p:sp>
      <p:sp>
        <p:nvSpPr>
          <p:cNvPr id="21" name="Shape 18"/>
          <p:cNvSpPr/>
          <p:nvPr/>
        </p:nvSpPr>
        <p:spPr>
          <a:xfrm>
            <a:off x="5806440" y="3520440"/>
            <a:ext cx="5852160" cy="2743200"/>
          </a:xfrm>
          <a:prstGeom prst="roundRect">
            <a:avLst>
              <a:gd name="adj" fmla="val 1667"/>
            </a:avLst>
          </a:prstGeom>
          <a:solidFill>
            <a:srgbClr val="212121"/>
          </a:solidFill>
          <a:ln/>
        </p:spPr>
      </p:sp>
      <p:sp>
        <p:nvSpPr>
          <p:cNvPr id="22" name="Text 19"/>
          <p:cNvSpPr txBox="1"/>
          <p:nvPr/>
        </p:nvSpPr>
        <p:spPr>
          <a:xfrm>
            <a:off x="5989320" y="3630168"/>
            <a:ext cx="5486400" cy="2523744"/>
          </a:xfrm>
          <a:prstGeom prst="rect">
            <a:avLst/>
          </a:prstGeom>
          <a:noFill/>
          <a:ln/>
        </p:spPr>
        <p:txBody>
          <a:bodyPr wrap="square" lIns="0" tIns="0" rIns="0" bIns="0" rtlCol="0" anchor="t"/>
          <a:lstStyle/>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(s=2, d=53)  : 53 &lt; 600    → 4800 + 53  = 4853</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(s=3, d=852) : 852 &lt; 900   → 3400 + 852 = 4252</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(s=1, d=299) : 299 &lt; 300   → 6500 + 299 = 6799</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(s=0, d=1222): 1222 ≥ 1200 → TUZAK</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               (adresleme hatası)</a:t>
            </a:r>
            <a:endParaRPr lang="tr-TR" sz="1350" dirty="0"/>
          </a:p>
        </p:txBody>
      </p:sp>
      <p:sp>
        <p:nvSpPr>
          <p:cNvPr id="23" name="Shape 20"/>
          <p:cNvSpPr/>
          <p:nvPr/>
        </p:nvSpPr>
        <p:spPr>
          <a:xfrm>
            <a:off x="548640" y="5257800"/>
            <a:ext cx="4937760" cy="1005840"/>
          </a:xfrm>
          <a:prstGeom prst="roundRect">
            <a:avLst>
              <a:gd name="adj" fmla="val 5455"/>
            </a:avLst>
          </a:prstGeom>
          <a:solidFill>
            <a:srgbClr val="36454F"/>
          </a:solidFill>
          <a:ln/>
          <a:effectLst>
            <a:outerShdw sx="100000" sy="100000" kx="0" ky="0" algn="bl" rotWithShape="0" blurRad="101600" dist="25400" dir="5400000">
              <a:srgbClr val="000000">
                <a:alpha val="12000"/>
              </a:srgbClr>
            </a:outerShdw>
          </a:effectLst>
        </p:spPr>
      </p:sp>
      <p:sp>
        <p:nvSpPr>
          <p:cNvPr id="24" name="Text 21"/>
          <p:cNvSpPr txBox="1"/>
          <p:nvPr/>
        </p:nvSpPr>
        <p:spPr>
          <a:xfrm>
            <a:off x="777240" y="5257800"/>
            <a:ext cx="4480560" cy="10058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Taban + sınır fikrinin aynısı; ama her bölüt için bir çift.</a:t>
            </a:r>
            <a:endParaRPr lang="tr-TR"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KARŞILAŞTIRMA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Sayfalama ve Bölütleme</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6  ·  31</a:t>
            </a:r>
            <a:endParaRPr lang="tr-TR" sz="9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2743200"/>
                <a:gridCol w="4206240"/>
                <a:gridCol w="4160520"/>
              </a:tblGrid>
              <a:tr h="0">
                <a:tc>
                  <a:txBody>
                    <a:bodyPr/>
                    <a:lstStyle/>
                    <a:p>
                      <a:pPr indent="0" marL="0">
                        <a:buNone/>
                      </a:pPr>
                      <a:endParaRPr lang="tr-TR" sz="15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550" b="1" dirty="0">
                          <a:solidFill>
                            <a:srgbClr val="FFFFFF"/>
                          </a:solidFill>
                          <a:latin typeface="Cambria" pitchFamily="34" charset="0"/>
                          <a:ea typeface="Cambria" pitchFamily="34" charset="-122"/>
                          <a:cs typeface="Cambria" pitchFamily="34" charset="-120"/>
                        </a:rPr>
                        <a:t>Sayfalama</a:t>
                      </a:r>
                      <a:endParaRPr lang="tr-TR" sz="15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550" b="1" dirty="0">
                          <a:solidFill>
                            <a:srgbClr val="FFFFFF"/>
                          </a:solidFill>
                          <a:latin typeface="Cambria" pitchFamily="34" charset="0"/>
                          <a:ea typeface="Cambria" pitchFamily="34" charset="-122"/>
                          <a:cs typeface="Cambria" pitchFamily="34" charset="-120"/>
                        </a:rPr>
                        <a:t>Bölütleme</a:t>
                      </a:r>
                      <a:endParaRPr lang="tr-TR" sz="15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Birim boyu</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sabit (ör. 4 KB), donanım belirler</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değişken, programın yapısını izler</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Programcı görür mü?</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hayır, görünmez</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evet: ana program, yığıt, veri …</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Mantıksal adres</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tek sayı, p | d olarak bölünür</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bir çift ⟨s, d⟩</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Dış parçalanma</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yok</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var (değişken boylu bloklar)</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İç parçalanma</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var, süreç başına ortalama ½ sayfa</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yok</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Koruma ve paylaşım</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sayfa başına</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anlamlı birim (bölüt) başına</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Tablo girdisi</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çerçeve numarası + bitler</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taban + sınır + bitler</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Birleşim: Multics ve Intel 80386 sayfalardan oluşan bölütler kullandı. Modern 64 bit sistemler yalnızca sayfalamayı tutar.</a:t>
            </a:r>
            <a:endParaRPr lang="tr-TR"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GERÇEK SİSTEMLER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x86-64 Linux Gerçekte Ne Yapar?</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Intel işlemcilerde bölütleme donanımı hâlâ var; ama 64 bit işletim sistemleri onu fiilen devre dışı bırakır.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6  ·  32</a:t>
            </a:r>
            <a:endParaRPr lang="tr-TR" sz="900" dirty="0"/>
          </a:p>
        </p:txBody>
      </p:sp>
      <p:sp>
        <p:nvSpPr>
          <p:cNvPr id="7" name="Shape 5"/>
          <p:cNvSpPr/>
          <p:nvPr/>
        </p:nvSpPr>
        <p:spPr>
          <a:xfrm>
            <a:off x="548640" y="2103120"/>
            <a:ext cx="355092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sp>
      <p:sp>
        <p:nvSpPr>
          <p:cNvPr id="8" name="Text 6"/>
          <p:cNvSpPr txBox="1"/>
          <p:nvPr/>
        </p:nvSpPr>
        <p:spPr>
          <a:xfrm>
            <a:off x="777240" y="228600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Bölütleme: düz</a:t>
            </a:r>
            <a:endParaRPr lang="tr-TR" sz="1600" dirty="0"/>
          </a:p>
        </p:txBody>
      </p:sp>
      <p:sp>
        <p:nvSpPr>
          <p:cNvPr id="9" name="Text 7"/>
          <p:cNvSpPr txBox="1"/>
          <p:nvPr/>
        </p:nvSpPr>
        <p:spPr>
          <a:xfrm>
            <a:off x="777240" y="2743200"/>
            <a:ext cx="3093720" cy="2377440"/>
          </a:xfrm>
          <a:prstGeom prst="rect">
            <a:avLst/>
          </a:prstGeom>
          <a:noFill/>
          <a:ln/>
        </p:spPr>
        <p:txBody>
          <a:bodyPr wrap="square" lIns="0" tIns="0" rIns="0" bIns="0" rtlCol="0" anchor="t"/>
          <a:lstStyle/>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Kod, veri ve yığıt bölütlerinin tabanı 0'dır ve tüm adres uzayını kapsarlar.</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Yalnızca FS/GS kullanımda kalır (iş parçacığına özel veriler için).</a:t>
            </a:r>
            <a:endParaRPr lang="tr-TR" sz="1550" dirty="0"/>
          </a:p>
        </p:txBody>
      </p:sp>
      <p:sp>
        <p:nvSpPr>
          <p:cNvPr id="10" name="Shape 8"/>
          <p:cNvSpPr/>
          <p:nvPr/>
        </p:nvSpPr>
        <p:spPr>
          <a:xfrm>
            <a:off x="4328160" y="2103120"/>
            <a:ext cx="355092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sp>
      <p:sp>
        <p:nvSpPr>
          <p:cNvPr id="11" name="Text 9"/>
          <p:cNvSpPr txBox="1"/>
          <p:nvPr/>
        </p:nvSpPr>
        <p:spPr>
          <a:xfrm>
            <a:off x="4556760" y="228600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Sayfalama: her şey</a:t>
            </a:r>
            <a:endParaRPr lang="tr-TR" sz="1600" dirty="0"/>
          </a:p>
        </p:txBody>
      </p:sp>
      <p:sp>
        <p:nvSpPr>
          <p:cNvPr id="12" name="Text 10"/>
          <p:cNvSpPr txBox="1"/>
          <p:nvPr/>
        </p:nvSpPr>
        <p:spPr>
          <a:xfrm>
            <a:off x="4556760" y="2743200"/>
            <a:ext cx="3093720" cy="2377440"/>
          </a:xfrm>
          <a:prstGeom prst="rect">
            <a:avLst/>
          </a:prstGeom>
          <a:noFill/>
          <a:ln/>
        </p:spPr>
        <p:txBody>
          <a:bodyPr wrap="square" lIns="0" tIns="0" rIns="0" bIns="0" rtlCol="0" anchor="t"/>
          <a:lstStyle/>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4 düzeyli sayfa tabloları, 48 bit adresler (9+9+9+9+12); yeni işlemcilerde 5 düzey / 57 bit.</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4 KB, 2 MB, 1 GB'lık sayfalar.</a:t>
            </a:r>
            <a:endParaRPr lang="tr-TR" sz="1550" dirty="0"/>
          </a:p>
        </p:txBody>
      </p:sp>
      <p:sp>
        <p:nvSpPr>
          <p:cNvPr id="13" name="Shape 11"/>
          <p:cNvSpPr/>
          <p:nvPr/>
        </p:nvSpPr>
        <p:spPr>
          <a:xfrm>
            <a:off x="8107680" y="2103120"/>
            <a:ext cx="355092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sp>
      <p:sp>
        <p:nvSpPr>
          <p:cNvPr id="14" name="Text 12"/>
          <p:cNvSpPr txBox="1"/>
          <p:nvPr/>
        </p:nvSpPr>
        <p:spPr>
          <a:xfrm>
            <a:off x="8336280" y="228600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Süreç başına tablolar</a:t>
            </a:r>
            <a:endParaRPr lang="tr-TR" sz="1600" dirty="0"/>
          </a:p>
        </p:txBody>
      </p:sp>
      <p:sp>
        <p:nvSpPr>
          <p:cNvPr id="15" name="Text 13"/>
          <p:cNvSpPr txBox="1"/>
          <p:nvPr/>
        </p:nvSpPr>
        <p:spPr>
          <a:xfrm>
            <a:off x="8336280" y="2743200"/>
            <a:ext cx="3093720" cy="2377440"/>
          </a:xfrm>
          <a:prstGeom prst="rect">
            <a:avLst/>
          </a:prstGeom>
          <a:noFill/>
          <a:ln/>
        </p:spPr>
        <p:txBody>
          <a:bodyPr wrap="square" lIns="0" tIns="0" rIns="0" bIns="0" rtlCol="0" anchor="t"/>
          <a:lstStyle/>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Her sürecin kendi sayfa tabloları vardır; CR3 yazmacı onları gösterir.</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Bağlam değişimi CR3'ü yeniden yükler (3. hafta).</a:t>
            </a:r>
            <a:endParaRPr lang="tr-TR" sz="1550" dirty="0"/>
          </a:p>
        </p:txBody>
      </p:sp>
      <p:sp>
        <p:nvSpPr>
          <p:cNvPr id="16" name="Shape 1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17" name="Text 15"/>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Bölüt fikri yazılımda yaşıyor: Linux her süreç için bir bölge listesi (metin, öbek, yığıt, kütüphaneler) tutar; /proc/self/maps bunu gösterir.</a:t>
            </a:r>
            <a:endParaRPr lang="tr-TR"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UYGULAMA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Örnek 1: Değişkenlerim Nerede Duruyor?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6  ·  33</a:t>
            </a:r>
            <a:endParaRPr lang="tr-TR" sz="900" dirty="0"/>
          </a:p>
        </p:txBody>
      </p:sp>
      <p:sp>
        <p:nvSpPr>
          <p:cNvPr id="6" name="Shape 4"/>
          <p:cNvSpPr/>
          <p:nvPr/>
        </p:nvSpPr>
        <p:spPr>
          <a:xfrm>
            <a:off x="548640" y="1508760"/>
            <a:ext cx="6400800" cy="4754880"/>
          </a:xfrm>
          <a:prstGeom prst="roundRect">
            <a:avLst>
              <a:gd name="adj" fmla="val 962"/>
            </a:avLst>
          </a:prstGeom>
          <a:solidFill>
            <a:srgbClr val="212121"/>
          </a:solidFill>
          <a:ln/>
        </p:spPr>
      </p:sp>
      <p:sp>
        <p:nvSpPr>
          <p:cNvPr id="7" name="Text 5"/>
          <p:cNvSpPr txBox="1"/>
          <p:nvPr/>
        </p:nvSpPr>
        <p:spPr>
          <a:xfrm>
            <a:off x="731520" y="1618488"/>
            <a:ext cx="6035040" cy="4535424"/>
          </a:xfrm>
          <a:prstGeom prst="rect">
            <a:avLst/>
          </a:prstGeom>
          <a:noFill/>
          <a:ln/>
        </p:spPr>
        <p:txBody>
          <a:bodyPr wrap="square" lIns="0" tIns="0" rIns="0" bIns="0" rtlCol="0" anchor="t"/>
          <a:lstStyle/>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int initialised_global = 42;   /* data segment             */</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int uninitialised_global;      /* bss segment (zero-filled) */</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int main(void)</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int local = 7;                        /* stack */</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int *dynamic = malloc(sizeof(int));   /* heap  */</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printf("text  (code)   main()      : %p\n", (void *)main);</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printf("data  (global) initialised : %p\n",</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(void *)&amp;initialised_global);</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printf("bss   (global) zero-filled : %p\n",</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(void *)&amp;uninitialised_global);</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printf("heap  (malloc)             : %p\n", (void *)dynamic);</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printf("stack (local variable)     : %p\n", (void *)&amp;local);</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printf("page size                  : %ld bytes\n",</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sysconf(_SC_PAGESIZE));</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show_maps();   /* print our lines of /proc/self/maps */</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free(dynamic);</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a:t>
            </a:r>
            <a:endParaRPr lang="tr-TR" sz="1050" dirty="0"/>
          </a:p>
          <a:p>
            <a:pPr indent="0" marL="0">
              <a:lnSpc>
                <a:spcPct val="105000"/>
              </a:lnSpc>
              <a:buNone/>
            </a:pPr>
            <a:r>
              <a:rPr lang="tr-TR" sz="1050" dirty="0">
                <a:solidFill>
                  <a:srgbClr val="8A9AA0"/>
                </a:solidFill>
                <a:latin typeface="Consolas" pitchFamily="34" charset="0"/>
                <a:ea typeface="Consolas" pitchFamily="34" charset="-122"/>
                <a:cs typeface="Consolas" pitchFamily="34" charset="-120"/>
              </a:rPr>
              <a:t>/* full program: code/mem_layout.c */</a:t>
            </a:r>
            <a:endParaRPr lang="tr-TR" sz="1050" dirty="0"/>
          </a:p>
        </p:txBody>
      </p:sp>
      <p:sp>
        <p:nvSpPr>
          <p:cNvPr id="8" name="Shape 6"/>
          <p:cNvSpPr/>
          <p:nvPr/>
        </p:nvSpPr>
        <p:spPr>
          <a:xfrm>
            <a:off x="7223760" y="1508760"/>
            <a:ext cx="4434840" cy="1737360"/>
          </a:xfrm>
          <a:prstGeom prst="roundRect">
            <a:avLst>
              <a:gd name="adj" fmla="val 3158"/>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452360" y="1691640"/>
            <a:ext cx="39776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Gözlemleyin</a:t>
            </a:r>
            <a:endParaRPr lang="tr-TR" sz="1500" dirty="0"/>
          </a:p>
        </p:txBody>
      </p:sp>
      <p:sp>
        <p:nvSpPr>
          <p:cNvPr id="10" name="Text 8"/>
          <p:cNvSpPr txBox="1"/>
          <p:nvPr/>
        </p:nvSpPr>
        <p:spPr>
          <a:xfrm>
            <a:off x="7452360" y="2148840"/>
            <a:ext cx="3977640" cy="96012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Kod ve global değişkenler: düşük adresler (0x55…).</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Öbek (heap) biraz daha yukarıda; yığıt (stack) en üste yakın (0x7ff…).</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Her adres, /proc/self/maps içinde izinleri uygun bir bölgeye düşer.</a:t>
            </a:r>
            <a:endParaRPr lang="tr-TR" sz="1300" dirty="0"/>
          </a:p>
        </p:txBody>
      </p:sp>
      <p:sp>
        <p:nvSpPr>
          <p:cNvPr id="11" name="Shape 9"/>
          <p:cNvSpPr/>
          <p:nvPr/>
        </p:nvSpPr>
        <p:spPr>
          <a:xfrm>
            <a:off x="7223760" y="3474720"/>
            <a:ext cx="4434840" cy="2788920"/>
          </a:xfrm>
          <a:prstGeom prst="roundRect">
            <a:avLst>
              <a:gd name="adj" fmla="val 1639"/>
            </a:avLst>
          </a:prstGeom>
          <a:solidFill>
            <a:srgbClr val="212121"/>
          </a:solidFill>
          <a:ln/>
        </p:spPr>
      </p:sp>
      <p:sp>
        <p:nvSpPr>
          <p:cNvPr id="12" name="Text 10"/>
          <p:cNvSpPr txBox="1"/>
          <p:nvPr/>
        </p:nvSpPr>
        <p:spPr>
          <a:xfrm>
            <a:off x="7406640" y="3584448"/>
            <a:ext cx="4069080" cy="2569464"/>
          </a:xfrm>
          <a:prstGeom prst="rect">
            <a:avLst/>
          </a:prstGeom>
          <a:noFill/>
          <a:ln/>
        </p:spPr>
        <p:txBody>
          <a:bodyPr wrap="square" lIns="0" tIns="0" rIns="0" bIns="0" rtlCol="0" anchor="t"/>
          <a:lstStyle/>
          <a:p>
            <a:pPr indent="0" marL="0">
              <a:lnSpc>
                <a:spcPct val="105000"/>
              </a:lnSpc>
              <a:buNone/>
            </a:pPr>
            <a:r>
              <a:rPr lang="tr-TR" sz="950" dirty="0">
                <a:solidFill>
                  <a:srgbClr val="02C39A"/>
                </a:solidFill>
                <a:latin typeface="Consolas" pitchFamily="34" charset="0"/>
                <a:ea typeface="Consolas" pitchFamily="34" charset="-122"/>
                <a:cs typeface="Consolas" pitchFamily="34" charset="-120"/>
              </a:rPr>
              <a:t>$ ./mem_layout</a:t>
            </a:r>
            <a:endParaRPr lang="tr-TR" sz="950" dirty="0"/>
          </a:p>
          <a:p>
            <a:pPr indent="0" marL="0">
              <a:lnSpc>
                <a:spcPct val="105000"/>
              </a:lnSpc>
              <a:buNone/>
            </a:pPr>
            <a:r>
              <a:rPr lang="tr-TR" sz="950" dirty="0">
                <a:solidFill>
                  <a:srgbClr val="F2F2F2"/>
                </a:solidFill>
                <a:latin typeface="Consolas" pitchFamily="34" charset="0"/>
                <a:ea typeface="Consolas" pitchFamily="34" charset="-122"/>
                <a:cs typeface="Consolas" pitchFamily="34" charset="-120"/>
              </a:rPr>
              <a:t>text (code) main() : 0x56412f3601e0</a:t>
            </a:r>
            <a:endParaRPr lang="tr-TR" sz="950" dirty="0"/>
          </a:p>
          <a:p>
            <a:pPr indent="0" marL="0">
              <a:lnSpc>
                <a:spcPct val="105000"/>
              </a:lnSpc>
              <a:buNone/>
            </a:pPr>
            <a:r>
              <a:rPr lang="tr-TR" sz="950" dirty="0">
                <a:solidFill>
                  <a:srgbClr val="F2F2F2"/>
                </a:solidFill>
                <a:latin typeface="Consolas" pitchFamily="34" charset="0"/>
                <a:ea typeface="Consolas" pitchFamily="34" charset="-122"/>
                <a:cs typeface="Consolas" pitchFamily="34" charset="-120"/>
              </a:rPr>
              <a:t>data (global) initialised : 0x56412f363010</a:t>
            </a:r>
            <a:endParaRPr lang="tr-TR" sz="950" dirty="0"/>
          </a:p>
          <a:p>
            <a:pPr indent="0" marL="0">
              <a:lnSpc>
                <a:spcPct val="105000"/>
              </a:lnSpc>
              <a:buNone/>
            </a:pPr>
            <a:r>
              <a:rPr lang="tr-TR" sz="950" dirty="0">
                <a:solidFill>
                  <a:srgbClr val="F2F2F2"/>
                </a:solidFill>
                <a:latin typeface="Consolas" pitchFamily="34" charset="0"/>
                <a:ea typeface="Consolas" pitchFamily="34" charset="-122"/>
                <a:cs typeface="Consolas" pitchFamily="34" charset="-120"/>
              </a:rPr>
              <a:t>bss (global) zero-filled : 0x56412f363018</a:t>
            </a:r>
            <a:endParaRPr lang="tr-TR" sz="950" dirty="0"/>
          </a:p>
          <a:p>
            <a:pPr indent="0" marL="0">
              <a:lnSpc>
                <a:spcPct val="105000"/>
              </a:lnSpc>
              <a:buNone/>
            </a:pPr>
            <a:r>
              <a:rPr lang="tr-TR" sz="950" dirty="0">
                <a:solidFill>
                  <a:srgbClr val="F2F2F2"/>
                </a:solidFill>
                <a:latin typeface="Consolas" pitchFamily="34" charset="0"/>
                <a:ea typeface="Consolas" pitchFamily="34" charset="-122"/>
                <a:cs typeface="Consolas" pitchFamily="34" charset="-120"/>
              </a:rPr>
              <a:t>heap (malloc) : 0x564160c6c2a0</a:t>
            </a:r>
            <a:endParaRPr lang="tr-TR" sz="950" dirty="0"/>
          </a:p>
          <a:p>
            <a:pPr indent="0" marL="0">
              <a:lnSpc>
                <a:spcPct val="105000"/>
              </a:lnSpc>
              <a:buNone/>
            </a:pPr>
            <a:r>
              <a:rPr lang="tr-TR" sz="950" dirty="0">
                <a:solidFill>
                  <a:srgbClr val="F2F2F2"/>
                </a:solidFill>
                <a:latin typeface="Consolas" pitchFamily="34" charset="0"/>
                <a:ea typeface="Consolas" pitchFamily="34" charset="-122"/>
                <a:cs typeface="Consolas" pitchFamily="34" charset="-120"/>
              </a:rPr>
              <a:t>stack (local variable) : 0x7ffe905b48c4</a:t>
            </a:r>
            <a:endParaRPr lang="tr-TR" sz="950" dirty="0"/>
          </a:p>
          <a:p>
            <a:pPr indent="0" marL="0">
              <a:lnSpc>
                <a:spcPct val="105000"/>
              </a:lnSpc>
              <a:buNone/>
            </a:pPr>
            <a:r>
              <a:rPr lang="tr-TR" sz="950" dirty="0">
                <a:solidFill>
                  <a:srgbClr val="F2F2F2"/>
                </a:solidFill>
                <a:latin typeface="Consolas" pitchFamily="34" charset="0"/>
                <a:ea typeface="Consolas" pitchFamily="34" charset="-122"/>
                <a:cs typeface="Consolas" pitchFamily="34" charset="-120"/>
              </a:rPr>
              <a:t>page size                  : 4096 bytes</a:t>
            </a:r>
            <a:endParaRPr lang="tr-TR" sz="950" dirty="0"/>
          </a:p>
          <a:p>
            <a:pPr indent="0" marL="0">
              <a:lnSpc>
                <a:spcPct val="105000"/>
              </a:lnSpc>
              <a:buNone/>
            </a:pPr>
            <a:r>
              <a:rPr lang="tr-TR" sz="950" dirty="0">
                <a:solidFill>
                  <a:srgbClr val="F2F2F2"/>
                </a:solidFill>
                <a:latin typeface="Consolas" pitchFamily="34" charset="0"/>
                <a:ea typeface="Consolas" pitchFamily="34" charset="-122"/>
                <a:cs typeface="Consolas" pitchFamily="34" charset="-120"/>
              </a:rPr>
              <a:t>56412f35f000-56412f360000 r--p mem_layout</a:t>
            </a:r>
            <a:endParaRPr lang="tr-TR" sz="950" dirty="0"/>
          </a:p>
          <a:p>
            <a:pPr indent="0" marL="0">
              <a:lnSpc>
                <a:spcPct val="105000"/>
              </a:lnSpc>
              <a:buNone/>
            </a:pPr>
            <a:r>
              <a:rPr lang="tr-TR" sz="950" dirty="0">
                <a:solidFill>
                  <a:srgbClr val="F2F2F2"/>
                </a:solidFill>
                <a:latin typeface="Consolas" pitchFamily="34" charset="0"/>
                <a:ea typeface="Consolas" pitchFamily="34" charset="-122"/>
                <a:cs typeface="Consolas" pitchFamily="34" charset="-120"/>
              </a:rPr>
              <a:t>56412f360000-56412f361000 r-xp mem_layout</a:t>
            </a:r>
            <a:endParaRPr lang="tr-TR" sz="950" dirty="0"/>
          </a:p>
          <a:p>
            <a:pPr indent="0" marL="0">
              <a:lnSpc>
                <a:spcPct val="105000"/>
              </a:lnSpc>
              <a:buNone/>
            </a:pPr>
            <a:r>
              <a:rPr lang="tr-TR" sz="950" dirty="0">
                <a:solidFill>
                  <a:srgbClr val="F2F2F2"/>
                </a:solidFill>
                <a:latin typeface="Consolas" pitchFamily="34" charset="0"/>
                <a:ea typeface="Consolas" pitchFamily="34" charset="-122"/>
                <a:cs typeface="Consolas" pitchFamily="34" charset="-120"/>
              </a:rPr>
              <a:t>56412f361000-56412f362000 r--p mem_layout</a:t>
            </a:r>
            <a:endParaRPr lang="tr-TR" sz="950" dirty="0"/>
          </a:p>
          <a:p>
            <a:pPr indent="0" marL="0">
              <a:lnSpc>
                <a:spcPct val="105000"/>
              </a:lnSpc>
              <a:buNone/>
            </a:pPr>
            <a:r>
              <a:rPr lang="tr-TR" sz="950" dirty="0">
                <a:solidFill>
                  <a:srgbClr val="F2F2F2"/>
                </a:solidFill>
                <a:latin typeface="Consolas" pitchFamily="34" charset="0"/>
                <a:ea typeface="Consolas" pitchFamily="34" charset="-122"/>
                <a:cs typeface="Consolas" pitchFamily="34" charset="-120"/>
              </a:rPr>
              <a:t>56412f362000-56412f363000 r--p mem_layout</a:t>
            </a:r>
            <a:endParaRPr lang="tr-TR" sz="950" dirty="0"/>
          </a:p>
          <a:p>
            <a:pPr indent="0" marL="0">
              <a:lnSpc>
                <a:spcPct val="105000"/>
              </a:lnSpc>
              <a:buNone/>
            </a:pPr>
            <a:r>
              <a:rPr lang="tr-TR" sz="950" dirty="0">
                <a:solidFill>
                  <a:srgbClr val="F2F2F2"/>
                </a:solidFill>
                <a:latin typeface="Consolas" pitchFamily="34" charset="0"/>
                <a:ea typeface="Consolas" pitchFamily="34" charset="-122"/>
                <a:cs typeface="Consolas" pitchFamily="34" charset="-120"/>
              </a:rPr>
              <a:t>56412f363000-56412f364000 rw-p mem_layout</a:t>
            </a:r>
            <a:endParaRPr lang="tr-TR" sz="950" dirty="0"/>
          </a:p>
          <a:p>
            <a:pPr indent="0" marL="0">
              <a:lnSpc>
                <a:spcPct val="105000"/>
              </a:lnSpc>
              <a:buNone/>
            </a:pPr>
            <a:r>
              <a:rPr lang="tr-TR" sz="950" dirty="0">
                <a:solidFill>
                  <a:srgbClr val="F2F2F2"/>
                </a:solidFill>
                <a:latin typeface="Consolas" pitchFamily="34" charset="0"/>
                <a:ea typeface="Consolas" pitchFamily="34" charset="-122"/>
                <a:cs typeface="Consolas" pitchFamily="34" charset="-120"/>
              </a:rPr>
              <a:t>564160c6c000-564160c8d000 rw-p [heap]</a:t>
            </a:r>
            <a:endParaRPr lang="tr-TR" sz="950" dirty="0"/>
          </a:p>
          <a:p>
            <a:pPr indent="0" marL="0">
              <a:lnSpc>
                <a:spcPct val="105000"/>
              </a:lnSpc>
              <a:buNone/>
            </a:pPr>
            <a:r>
              <a:rPr lang="tr-TR" sz="950" dirty="0">
                <a:solidFill>
                  <a:srgbClr val="F2F2F2"/>
                </a:solidFill>
                <a:latin typeface="Consolas" pitchFamily="34" charset="0"/>
                <a:ea typeface="Consolas" pitchFamily="34" charset="-122"/>
                <a:cs typeface="Consolas" pitchFamily="34" charset="-120"/>
              </a:rPr>
              <a:t>7ffe90595000-7ffe905bb000 rw-p [stack]</a:t>
            </a:r>
            <a:endParaRPr lang="tr-TR"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UYGULAMA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Kabuktan Sayfa Boyu ve Bellek Haritası</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6  ·  34</a:t>
            </a:r>
            <a:endParaRPr lang="tr-TR" sz="900" dirty="0"/>
          </a:p>
        </p:txBody>
      </p:sp>
      <p:sp>
        <p:nvSpPr>
          <p:cNvPr id="6" name="Shape 4"/>
          <p:cNvSpPr/>
          <p:nvPr/>
        </p:nvSpPr>
        <p:spPr>
          <a:xfrm>
            <a:off x="548640" y="1508760"/>
            <a:ext cx="11109960" cy="3246120"/>
          </a:xfrm>
          <a:prstGeom prst="roundRect">
            <a:avLst>
              <a:gd name="adj" fmla="val 1408"/>
            </a:avLst>
          </a:prstGeom>
          <a:solidFill>
            <a:srgbClr val="212121"/>
          </a:solidFill>
          <a:ln/>
        </p:spPr>
      </p:sp>
      <p:sp>
        <p:nvSpPr>
          <p:cNvPr id="7" name="Text 5"/>
          <p:cNvSpPr txBox="1"/>
          <p:nvPr/>
        </p:nvSpPr>
        <p:spPr>
          <a:xfrm>
            <a:off x="731520" y="1618488"/>
            <a:ext cx="10744200" cy="3026664"/>
          </a:xfrm>
          <a:prstGeom prst="rect">
            <a:avLst/>
          </a:prstGeom>
          <a:noFill/>
          <a:ln/>
        </p:spPr>
        <p:txBody>
          <a:bodyPr wrap="square" lIns="0" tIns="0" rIns="0" bIns="0" rtlCol="0" anchor="t"/>
          <a:lstStyle/>
          <a:p>
            <a:pPr indent="0" marL="0">
              <a:lnSpc>
                <a:spcPct val="105000"/>
              </a:lnSpc>
              <a:buNone/>
            </a:pPr>
            <a:r>
              <a:rPr lang="tr-TR" sz="1150" dirty="0">
                <a:solidFill>
                  <a:srgbClr val="02C39A"/>
                </a:solidFill>
                <a:latin typeface="Consolas" pitchFamily="34" charset="0"/>
                <a:ea typeface="Consolas" pitchFamily="34" charset="-122"/>
                <a:cs typeface="Consolas" pitchFamily="34" charset="-120"/>
              </a:rPr>
              <a:t>$ getconf PAGESIZE</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4096</a:t>
            </a:r>
            <a:endParaRPr lang="tr-TR" sz="1150" dirty="0"/>
          </a:p>
          <a:p>
            <a:pPr indent="0" marL="0">
              <a:lnSpc>
                <a:spcPct val="105000"/>
              </a:lnSpc>
              <a:buNone/>
            </a:pPr>
            <a:r>
              <a:rPr lang="tr-TR" sz="1150" dirty="0">
                <a:solidFill>
                  <a:srgbClr val="02C39A"/>
                </a:solidFill>
                <a:latin typeface="Consolas" pitchFamily="34" charset="0"/>
                <a:ea typeface="Consolas" pitchFamily="34" charset="-122"/>
                <a:cs typeface="Consolas" pitchFamily="34" charset="-120"/>
              </a:rPr>
              <a:t>$ grep Hugepagesize /proc/meminfo</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Hugepagesize:       2048 kB</a:t>
            </a:r>
            <a:endParaRPr lang="tr-TR" sz="1150" dirty="0"/>
          </a:p>
          <a:p>
            <a:pPr indent="0" marL="0">
              <a:lnSpc>
                <a:spcPct val="105000"/>
              </a:lnSpc>
              <a:buNone/>
            </a:pPr>
            <a:r>
              <a:rPr lang="tr-TR" sz="1150" dirty="0">
                <a:solidFill>
                  <a:srgbClr val="02C39A"/>
                </a:solidFill>
                <a:latin typeface="Consolas" pitchFamily="34" charset="0"/>
                <a:ea typeface="Consolas" pitchFamily="34" charset="-122"/>
                <a:cs typeface="Consolas" pitchFamily="34" charset="-120"/>
              </a:rPr>
              <a:t>$ head -n 6 /proc/self/maps        # head sürecinin kendi bellek haritası</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559948881000-559948883000 r--p 00000000 fe:00 270606         /usr/bin/head</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559948883000-559948889000 r-xp 00002000 fe:00 270606         /usr/bin/head</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559948889000-55994888b000 r--p 00008000 fe:00 270606         /usr/bin/head</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55994888b000-55994888c000 r--p 00009000 fe:00 270606         /usr/bin/head</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55994888c000-55994888d000 rw-p 0000a000 fe:00 270606         /usr/bin/head</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559970df7000-559970e18000 rw-p 00000000 00:00 0              [heap]</a:t>
            </a:r>
            <a:endParaRPr lang="tr-TR" sz="1150" dirty="0"/>
          </a:p>
        </p:txBody>
      </p:sp>
      <p:sp>
        <p:nvSpPr>
          <p:cNvPr id="8" name="Shape 6"/>
          <p:cNvSpPr/>
          <p:nvPr/>
        </p:nvSpPr>
        <p:spPr>
          <a:xfrm>
            <a:off x="548640" y="4937760"/>
            <a:ext cx="3566160" cy="1325880"/>
          </a:xfrm>
          <a:prstGeom prst="roundRect">
            <a:avLst>
              <a:gd name="adj" fmla="val 4138"/>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77240" y="5120640"/>
            <a:ext cx="3108960" cy="384048"/>
          </a:xfrm>
          <a:prstGeom prst="rect">
            <a:avLst/>
          </a:prstGeom>
          <a:noFill/>
          <a:ln/>
        </p:spPr>
        <p:txBody>
          <a:bodyPr wrap="square" lIns="0" tIns="0" rIns="0" bIns="0" rtlCol="0" anchor="ctr"/>
          <a:lstStyle/>
          <a:p>
            <a:pPr indent="0" marL="0">
              <a:buNone/>
            </a:pPr>
            <a:r>
              <a:rPr lang="tr-TR" sz="1400" b="1" dirty="0">
                <a:solidFill>
                  <a:srgbClr val="028090"/>
                </a:solidFill>
                <a:latin typeface="Cambria" pitchFamily="34" charset="0"/>
                <a:ea typeface="Cambria" pitchFamily="34" charset="-122"/>
                <a:cs typeface="Cambria" pitchFamily="34" charset="-120"/>
              </a:rPr>
              <a:t>Sütunlar</a:t>
            </a:r>
            <a:endParaRPr lang="tr-TR" sz="1400" dirty="0"/>
          </a:p>
        </p:txBody>
      </p:sp>
      <p:sp>
        <p:nvSpPr>
          <p:cNvPr id="10" name="Text 8"/>
          <p:cNvSpPr txBox="1"/>
          <p:nvPr/>
        </p:nvSpPr>
        <p:spPr>
          <a:xfrm>
            <a:off x="777240" y="5577840"/>
            <a:ext cx="3108960" cy="548640"/>
          </a:xfrm>
          <a:prstGeom prst="rect">
            <a:avLst/>
          </a:prstGeom>
          <a:noFill/>
          <a:ln/>
        </p:spPr>
        <p:txBody>
          <a:bodyPr wrap="square" lIns="0" tIns="0" rIns="0" bIns="0" rtlCol="0" anchor="t"/>
          <a:lstStyle/>
          <a:p>
            <a:pPr indent="0" marL="0">
              <a:spcAft>
                <a:spcPts val="400"/>
              </a:spcAft>
              <a:buNone/>
            </a:pPr>
            <a:r>
              <a:rPr lang="tr-TR" sz="1250" dirty="0">
                <a:solidFill>
                  <a:srgbClr val="3A464C"/>
                </a:solidFill>
                <a:latin typeface="Calibri" pitchFamily="34" charset="0"/>
                <a:ea typeface="Calibri" pitchFamily="34" charset="-122"/>
                <a:cs typeface="Calibri" pitchFamily="34" charset="-120"/>
              </a:rPr>
              <a:t>başlangıç–bitiş (sanal), izinler r/w/x + p (özel) ya da s (paylaşılan), dosya ofseti, aygıt, inode, dosya.</a:t>
            </a:r>
            <a:endParaRPr lang="tr-TR" sz="1250" dirty="0"/>
          </a:p>
        </p:txBody>
      </p:sp>
      <p:sp>
        <p:nvSpPr>
          <p:cNvPr id="11" name="Shape 9"/>
          <p:cNvSpPr/>
          <p:nvPr/>
        </p:nvSpPr>
        <p:spPr>
          <a:xfrm>
            <a:off x="4315968" y="4937760"/>
            <a:ext cx="3566160" cy="1325880"/>
          </a:xfrm>
          <a:prstGeom prst="roundRect">
            <a:avLst>
              <a:gd name="adj" fmla="val 4138"/>
            </a:avLst>
          </a:prstGeom>
          <a:solidFill>
            <a:srgbClr val="F2F2F2"/>
          </a:solidFill>
          <a:ln/>
          <a:effectLst>
            <a:outerShdw sx="100000" sy="100000" kx="0" ky="0" algn="bl" rotWithShape="0" blurRad="101600" dist="25400" dir="5400000">
              <a:srgbClr val="000000">
                <a:alpha val="12000"/>
              </a:srgbClr>
            </a:outerShdw>
          </a:effectLst>
        </p:spPr>
      </p:sp>
      <p:sp>
        <p:nvSpPr>
          <p:cNvPr id="12" name="Text 10"/>
          <p:cNvSpPr txBox="1"/>
          <p:nvPr/>
        </p:nvSpPr>
        <p:spPr>
          <a:xfrm>
            <a:off x="4544568" y="5120640"/>
            <a:ext cx="3108960" cy="384048"/>
          </a:xfrm>
          <a:prstGeom prst="rect">
            <a:avLst/>
          </a:prstGeom>
          <a:noFill/>
          <a:ln/>
        </p:spPr>
        <p:txBody>
          <a:bodyPr wrap="square" lIns="0" tIns="0" rIns="0" bIns="0" rtlCol="0" anchor="ctr"/>
          <a:lstStyle/>
          <a:p>
            <a:pPr indent="0" marL="0">
              <a:buNone/>
            </a:pPr>
            <a:r>
              <a:rPr lang="tr-TR" sz="1400" b="1" dirty="0">
                <a:solidFill>
                  <a:srgbClr val="028090"/>
                </a:solidFill>
                <a:latin typeface="Cambria" pitchFamily="34" charset="0"/>
                <a:ea typeface="Cambria" pitchFamily="34" charset="-122"/>
                <a:cs typeface="Cambria" pitchFamily="34" charset="-120"/>
              </a:rPr>
              <a:t>Sayfa aritmetiği</a:t>
            </a:r>
            <a:endParaRPr lang="tr-TR" sz="1400" dirty="0"/>
          </a:p>
        </p:txBody>
      </p:sp>
      <p:sp>
        <p:nvSpPr>
          <p:cNvPr id="13" name="Text 11"/>
          <p:cNvSpPr txBox="1"/>
          <p:nvPr/>
        </p:nvSpPr>
        <p:spPr>
          <a:xfrm>
            <a:off x="4544568" y="5577840"/>
            <a:ext cx="3108960" cy="548640"/>
          </a:xfrm>
          <a:prstGeom prst="rect">
            <a:avLst/>
          </a:prstGeom>
          <a:noFill/>
          <a:ln/>
        </p:spPr>
        <p:txBody>
          <a:bodyPr wrap="square" lIns="0" tIns="0" rIns="0" bIns="0" rtlCol="0" anchor="t"/>
          <a:lstStyle/>
          <a:p>
            <a:pPr indent="0" marL="0">
              <a:spcAft>
                <a:spcPts val="400"/>
              </a:spcAft>
              <a:buNone/>
            </a:pPr>
            <a:r>
              <a:rPr lang="tr-TR" sz="1250" dirty="0">
                <a:solidFill>
                  <a:srgbClr val="3A464C"/>
                </a:solidFill>
                <a:latin typeface="Calibri" pitchFamily="34" charset="0"/>
                <a:ea typeface="Calibri" pitchFamily="34" charset="-122"/>
                <a:cs typeface="Calibri" pitchFamily="34" charset="-120"/>
              </a:rPr>
              <a:t>0x559948883000 − 0x559948881000 = 0x2000 = 8192 bayt = 2 sayfa. Her sınır 000 ile biter: bölgeler sayfaya hizalıdır.</a:t>
            </a:r>
            <a:endParaRPr lang="tr-TR" sz="1250" dirty="0"/>
          </a:p>
        </p:txBody>
      </p:sp>
      <p:sp>
        <p:nvSpPr>
          <p:cNvPr id="14" name="Shape 12"/>
          <p:cNvSpPr/>
          <p:nvPr/>
        </p:nvSpPr>
        <p:spPr>
          <a:xfrm>
            <a:off x="8083296" y="4937760"/>
            <a:ext cx="3566160" cy="1325880"/>
          </a:xfrm>
          <a:prstGeom prst="roundRect">
            <a:avLst>
              <a:gd name="adj" fmla="val 4138"/>
            </a:avLst>
          </a:prstGeom>
          <a:solidFill>
            <a:srgbClr val="F2F2F2"/>
          </a:solidFill>
          <a:ln/>
          <a:effectLst>
            <a:outerShdw sx="100000" sy="100000" kx="0" ky="0" algn="bl" rotWithShape="0" blurRad="101600" dist="25400" dir="5400000">
              <a:srgbClr val="000000">
                <a:alpha val="12000"/>
              </a:srgbClr>
            </a:outerShdw>
          </a:effectLst>
        </p:spPr>
      </p:sp>
      <p:sp>
        <p:nvSpPr>
          <p:cNvPr id="15" name="Text 13"/>
          <p:cNvSpPr txBox="1"/>
          <p:nvPr/>
        </p:nvSpPr>
        <p:spPr>
          <a:xfrm>
            <a:off x="8311896" y="5120640"/>
            <a:ext cx="3108960" cy="384048"/>
          </a:xfrm>
          <a:prstGeom prst="rect">
            <a:avLst/>
          </a:prstGeom>
          <a:noFill/>
          <a:ln/>
        </p:spPr>
        <p:txBody>
          <a:bodyPr wrap="square" lIns="0" tIns="0" rIns="0" bIns="0" rtlCol="0" anchor="ctr"/>
          <a:lstStyle/>
          <a:p>
            <a:pPr indent="0" marL="0">
              <a:buNone/>
            </a:pPr>
            <a:r>
              <a:rPr lang="tr-TR" sz="1400" b="1" dirty="0">
                <a:solidFill>
                  <a:srgbClr val="028090"/>
                </a:solidFill>
                <a:latin typeface="Cambria" pitchFamily="34" charset="0"/>
                <a:ea typeface="Cambria" pitchFamily="34" charset="-122"/>
                <a:cs typeface="Cambria" pitchFamily="34" charset="-120"/>
              </a:rPr>
              <a:t>Aynı dosya, 5 bölge</a:t>
            </a:r>
            <a:endParaRPr lang="tr-TR" sz="1400" dirty="0"/>
          </a:p>
        </p:txBody>
      </p:sp>
      <p:sp>
        <p:nvSpPr>
          <p:cNvPr id="16" name="Text 14"/>
          <p:cNvSpPr txBox="1"/>
          <p:nvPr/>
        </p:nvSpPr>
        <p:spPr>
          <a:xfrm>
            <a:off x="8311896" y="5577840"/>
            <a:ext cx="3108960" cy="548640"/>
          </a:xfrm>
          <a:prstGeom prst="rect">
            <a:avLst/>
          </a:prstGeom>
          <a:noFill/>
          <a:ln/>
        </p:spPr>
        <p:txBody>
          <a:bodyPr wrap="square" lIns="0" tIns="0" rIns="0" bIns="0" rtlCol="0" anchor="t"/>
          <a:lstStyle/>
          <a:p>
            <a:pPr indent="0" marL="0">
              <a:spcAft>
                <a:spcPts val="400"/>
              </a:spcAft>
              <a:buNone/>
            </a:pPr>
            <a:r>
              <a:rPr lang="tr-TR" sz="1250" dirty="0">
                <a:solidFill>
                  <a:srgbClr val="3A464C"/>
                </a:solidFill>
                <a:latin typeface="Calibri" pitchFamily="34" charset="0"/>
                <a:ea typeface="Calibri" pitchFamily="34" charset="-122"/>
                <a:cs typeface="Calibri" pitchFamily="34" charset="-120"/>
              </a:rPr>
              <a:t>Tek program dosyası, farklı izinlerle eşlenmiş: başlıklar, kod (r-x), sabitler, veri (rw-).</a:t>
            </a:r>
            <a:endParaRPr lang="tr-TR" sz="12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UYGULAMA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Örnek 2: Aynı Adres, Farklı Değerler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6  ·  35</a:t>
            </a:r>
            <a:endParaRPr lang="tr-TR" sz="900" dirty="0"/>
          </a:p>
        </p:txBody>
      </p:sp>
      <p:sp>
        <p:nvSpPr>
          <p:cNvPr id="6" name="Shape 4"/>
          <p:cNvSpPr/>
          <p:nvPr/>
        </p:nvSpPr>
        <p:spPr>
          <a:xfrm>
            <a:off x="548640" y="1508760"/>
            <a:ext cx="6400800" cy="4754880"/>
          </a:xfrm>
          <a:prstGeom prst="roundRect">
            <a:avLst>
              <a:gd name="adj" fmla="val 962"/>
            </a:avLst>
          </a:prstGeom>
          <a:solidFill>
            <a:srgbClr val="212121"/>
          </a:solidFill>
          <a:ln/>
        </p:spPr>
      </p:sp>
      <p:sp>
        <p:nvSpPr>
          <p:cNvPr id="7" name="Text 5"/>
          <p:cNvSpPr txBox="1"/>
          <p:nvPr/>
        </p:nvSpPr>
        <p:spPr>
          <a:xfrm>
            <a:off x="731520" y="1618488"/>
            <a:ext cx="6035040" cy="4535424"/>
          </a:xfrm>
          <a:prstGeom prst="rect">
            <a:avLst/>
          </a:prstGeom>
          <a:noFill/>
          <a:ln/>
        </p:spPr>
        <p:txBody>
          <a:bodyPr wrap="square" lIns="0" tIns="0" rIns="0" bIns="0" rtlCol="0" anchor="t"/>
          <a:lstStyle/>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#include &lt;stdio.h&gt;</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#include &lt;unistd.h&gt;</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#include &lt;sys/wait.h&gt;</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int x = 100;                     /* one global variable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int main(void)</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pid_t pid = fork();          /* now there are two processes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if (pid == 0) {              /* ---- child ----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x = 200;                 /* change OUR copy only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printf("child  (PID %d): &amp;x = %p   x = %d\n",</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getpid(), (void *)&amp;x, x);</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return 0;</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wait(NULL);                  /* ---- parent: wait for the child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printf("parent (PID %d): &amp;x = %p   x = %d\n",</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getpid(), (void *)&amp;x, x);</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return 0;</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a:t>
            </a:r>
            <a:endParaRPr lang="tr-TR" sz="1100" dirty="0"/>
          </a:p>
        </p:txBody>
      </p:sp>
      <p:sp>
        <p:nvSpPr>
          <p:cNvPr id="8" name="Shape 6"/>
          <p:cNvSpPr/>
          <p:nvPr/>
        </p:nvSpPr>
        <p:spPr>
          <a:xfrm>
            <a:off x="7223760" y="1508760"/>
            <a:ext cx="4434840" cy="3200400"/>
          </a:xfrm>
          <a:prstGeom prst="roundRect">
            <a:avLst>
              <a:gd name="adj" fmla="val 1714"/>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452360" y="1691640"/>
            <a:ext cx="39776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Bu nasıl mümkün?</a:t>
            </a:r>
            <a:endParaRPr lang="tr-TR" sz="1500" dirty="0"/>
          </a:p>
        </p:txBody>
      </p:sp>
      <p:sp>
        <p:nvSpPr>
          <p:cNvPr id="10" name="Text 8"/>
          <p:cNvSpPr txBox="1"/>
          <p:nvPr/>
        </p:nvSpPr>
        <p:spPr>
          <a:xfrm>
            <a:off x="7452360" y="2148840"/>
            <a:ext cx="3977640" cy="242316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fork() ebeveyni kopyalar: aynı düzen, aynı adresler.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Çocuk x = 200 yapar; ebeveyn hâlâ 100 görür.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&amp;x mantıksal bir adrestir. Her sürecin kendi sayfa tablosu onu farklı bir çerçeveye eşler.</a:t>
            </a:r>
            <a:endParaRPr lang="tr-TR" sz="1300" dirty="0"/>
          </a:p>
        </p:txBody>
      </p:sp>
      <p:sp>
        <p:nvSpPr>
          <p:cNvPr id="11" name="Shape 9"/>
          <p:cNvSpPr/>
          <p:nvPr/>
        </p:nvSpPr>
        <p:spPr>
          <a:xfrm>
            <a:off x="7223760" y="4937760"/>
            <a:ext cx="4434840" cy="1325880"/>
          </a:xfrm>
          <a:prstGeom prst="roundRect">
            <a:avLst>
              <a:gd name="adj" fmla="val 3448"/>
            </a:avLst>
          </a:prstGeom>
          <a:solidFill>
            <a:srgbClr val="212121"/>
          </a:solidFill>
          <a:ln/>
        </p:spPr>
      </p:sp>
      <p:sp>
        <p:nvSpPr>
          <p:cNvPr id="12" name="Text 10"/>
          <p:cNvSpPr txBox="1"/>
          <p:nvPr/>
        </p:nvSpPr>
        <p:spPr>
          <a:xfrm>
            <a:off x="7406640" y="5047488"/>
            <a:ext cx="4069080" cy="1106424"/>
          </a:xfrm>
          <a:prstGeom prst="rect">
            <a:avLst/>
          </a:prstGeom>
          <a:noFill/>
          <a:ln/>
        </p:spPr>
        <p:txBody>
          <a:bodyPr wrap="square" lIns="0" tIns="0" rIns="0" bIns="0" rtlCol="0" anchor="t"/>
          <a:lstStyle/>
          <a:p>
            <a:pPr indent="0" marL="0">
              <a:lnSpc>
                <a:spcPct val="105000"/>
              </a:lnSpc>
              <a:buNone/>
            </a:pPr>
            <a:r>
              <a:rPr lang="tr-TR" sz="1000" dirty="0">
                <a:solidFill>
                  <a:srgbClr val="02C39A"/>
                </a:solidFill>
                <a:latin typeface="Consolas" pitchFamily="34" charset="0"/>
                <a:ea typeface="Consolas" pitchFamily="34" charset="-122"/>
                <a:cs typeface="Consolas" pitchFamily="34" charset="-120"/>
              </a:rPr>
              <a:t>$ ./fork_vaddr</a:t>
            </a:r>
            <a:endParaRPr lang="tr-TR" sz="1000" dirty="0"/>
          </a:p>
          <a:p>
            <a:pPr indent="0" marL="0">
              <a:lnSpc>
                <a:spcPct val="105000"/>
              </a:lnSpc>
              <a:buNone/>
            </a:pPr>
            <a:r>
              <a:rPr lang="tr-TR" sz="1000" dirty="0">
                <a:solidFill>
                  <a:srgbClr val="F2F2F2"/>
                </a:solidFill>
                <a:latin typeface="Consolas" pitchFamily="34" charset="0"/>
                <a:ea typeface="Consolas" pitchFamily="34" charset="-122"/>
                <a:cs typeface="Consolas" pitchFamily="34" charset="-120"/>
              </a:rPr>
              <a:t>child  (PID 1760): &amp;x = 0x55bc4a29c010  x = 200</a:t>
            </a:r>
            <a:endParaRPr lang="tr-TR" sz="1000" dirty="0"/>
          </a:p>
          <a:p>
            <a:pPr indent="0" marL="0">
              <a:lnSpc>
                <a:spcPct val="105000"/>
              </a:lnSpc>
              <a:buNone/>
            </a:pPr>
            <a:r>
              <a:rPr lang="tr-TR" sz="1000" dirty="0">
                <a:solidFill>
                  <a:srgbClr val="F2F2F2"/>
                </a:solidFill>
                <a:latin typeface="Consolas" pitchFamily="34" charset="0"/>
                <a:ea typeface="Consolas" pitchFamily="34" charset="-122"/>
                <a:cs typeface="Consolas" pitchFamily="34" charset="-120"/>
              </a:rPr>
              <a:t>parent (PID 1759): &amp;x = 0x55bc4a29c010  x = 100</a:t>
            </a:r>
            <a:endParaRPr lang="tr-TR"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UYGULAMA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Örnek 3: Bit İşlemleriyle Sayfa Numarası ve Ofset</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6  ·  36</a:t>
            </a:r>
            <a:endParaRPr lang="tr-TR" sz="900" dirty="0"/>
          </a:p>
        </p:txBody>
      </p:sp>
      <p:sp>
        <p:nvSpPr>
          <p:cNvPr id="6" name="Shape 4"/>
          <p:cNvSpPr/>
          <p:nvPr/>
        </p:nvSpPr>
        <p:spPr>
          <a:xfrm>
            <a:off x="548640" y="1508760"/>
            <a:ext cx="6675120" cy="4754880"/>
          </a:xfrm>
          <a:prstGeom prst="roundRect">
            <a:avLst>
              <a:gd name="adj" fmla="val 962"/>
            </a:avLst>
          </a:prstGeom>
          <a:solidFill>
            <a:srgbClr val="212121"/>
          </a:solidFill>
          <a:ln/>
        </p:spPr>
      </p:sp>
      <p:sp>
        <p:nvSpPr>
          <p:cNvPr id="7" name="Text 5"/>
          <p:cNvSpPr txBox="1"/>
          <p:nvPr/>
        </p:nvSpPr>
        <p:spPr>
          <a:xfrm>
            <a:off x="731520" y="1618488"/>
            <a:ext cx="6309360" cy="4535424"/>
          </a:xfrm>
          <a:prstGeom prst="rect">
            <a:avLst/>
          </a:prstGeom>
          <a:noFill/>
          <a:ln/>
        </p:spPr>
        <p:txBody>
          <a:bodyPr wrap="square" lIns="0" tIns="0" rIns="0" bIns="0" rtlCol="0" anchor="t"/>
          <a:lstStyle/>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#define N_BITS    12                  /* page size 2^12 = 4096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#define PAGE_SIZE (1UL &lt;&lt; N_BITS)</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#define OFF_MASK  (PAGE_SIZE - 1)     /* 0xFFF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a:t>
            </a:r>
            <a:endParaRPr lang="tr-TR" sz="1100" dirty="0"/>
          </a:p>
          <a:p>
            <a:pPr indent="0" marL="0">
              <a:lnSpc>
                <a:spcPct val="105000"/>
              </a:lnSpc>
              <a:buNone/>
            </a:pPr>
            <a:r>
              <a:rPr lang="tr-TR" sz="1100" dirty="0">
                <a:solidFill>
                  <a:srgbClr val="8A9AA0"/>
                </a:solidFill>
                <a:latin typeface="Consolas" pitchFamily="34" charset="0"/>
                <a:ea typeface="Consolas" pitchFamily="34" charset="-122"/>
                <a:cs typeface="Consolas" pitchFamily="34" charset="-120"/>
              </a:rPr>
              <a:t>/* page -&gt; frame; -1 = invalid page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int page_table[16] = { 5, 9, 1, 7, 12, -1, /* ... */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for (int i = 1; i &lt; argc; i++)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unsigned long a = strtoul(argv[i], NULL, 0);</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unsigned long p = a &gt;&gt; N_BITS;      /* high bits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unsigned long d = a &amp; OFF_MASK;     /* low 12 bits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if (p &gt;= 16 || page_table[p] &lt; 0) continue;  /* trap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unsigned long f = page_table[p];</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unsigned long phys = (f &lt;&lt; N_BITS) | d;   /* f*4096 + d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printf(... a, p, d, f, phys);</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a:t>
            </a:r>
            <a:endParaRPr lang="tr-TR" sz="1100" dirty="0"/>
          </a:p>
          <a:p>
            <a:pPr indent="0" marL="0">
              <a:lnSpc>
                <a:spcPct val="105000"/>
              </a:lnSpc>
              <a:buNone/>
            </a:pPr>
            <a:r>
              <a:rPr lang="tr-TR" sz="1100" dirty="0">
                <a:solidFill>
                  <a:srgbClr val="8A9AA0"/>
                </a:solidFill>
                <a:latin typeface="Consolas" pitchFamily="34" charset="0"/>
                <a:ea typeface="Consolas" pitchFamily="34" charset="-122"/>
                <a:cs typeface="Consolas" pitchFamily="34" charset="-120"/>
              </a:rPr>
              <a:t>/* full program: code/page_split.c */</a:t>
            </a:r>
            <a:endParaRPr lang="tr-TR" sz="1100" dirty="0"/>
          </a:p>
        </p:txBody>
      </p:sp>
      <p:sp>
        <p:nvSpPr>
          <p:cNvPr id="8" name="Shape 6"/>
          <p:cNvSpPr/>
          <p:nvPr/>
        </p:nvSpPr>
        <p:spPr>
          <a:xfrm>
            <a:off x="7498080" y="1508760"/>
            <a:ext cx="4160520" cy="2377440"/>
          </a:xfrm>
          <a:prstGeom prst="roundRect">
            <a:avLst>
              <a:gd name="adj" fmla="val 2308"/>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726680" y="1691640"/>
            <a:ext cx="370332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 yapıyor?</a:t>
            </a:r>
            <a:endParaRPr lang="tr-TR" sz="1500" dirty="0"/>
          </a:p>
        </p:txBody>
      </p:sp>
      <p:sp>
        <p:nvSpPr>
          <p:cNvPr id="10" name="Text 8"/>
          <p:cNvSpPr txBox="1"/>
          <p:nvPr/>
        </p:nvSpPr>
        <p:spPr>
          <a:xfrm>
            <a:off x="7726680" y="2148840"/>
            <a:ext cx="3703320" cy="160020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p = a &gt;&gt; 12 ve d = a &amp; 0xFFF.</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Çeviri: (frame &lt;&lt; 12) | d.</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Slaytlardaki sayfa tablosunun aynısı.</a:t>
            </a:r>
            <a:endParaRPr lang="tr-TR" sz="1300" dirty="0"/>
          </a:p>
        </p:txBody>
      </p:sp>
      <p:sp>
        <p:nvSpPr>
          <p:cNvPr id="11" name="Shape 9"/>
          <p:cNvSpPr/>
          <p:nvPr/>
        </p:nvSpPr>
        <p:spPr>
          <a:xfrm>
            <a:off x="7498080" y="4114800"/>
            <a:ext cx="4160520" cy="2148840"/>
          </a:xfrm>
          <a:prstGeom prst="roundRect">
            <a:avLst>
              <a:gd name="adj" fmla="val 2128"/>
            </a:avLst>
          </a:prstGeom>
          <a:solidFill>
            <a:srgbClr val="212121"/>
          </a:solidFill>
          <a:ln/>
        </p:spPr>
      </p:sp>
      <p:sp>
        <p:nvSpPr>
          <p:cNvPr id="12" name="Text 10"/>
          <p:cNvSpPr txBox="1"/>
          <p:nvPr/>
        </p:nvSpPr>
        <p:spPr>
          <a:xfrm>
            <a:off x="7680960" y="4224528"/>
            <a:ext cx="3794760" cy="1929384"/>
          </a:xfrm>
          <a:prstGeom prst="rect">
            <a:avLst/>
          </a:prstGeom>
          <a:noFill/>
          <a:ln/>
        </p:spPr>
        <p:txBody>
          <a:bodyPr wrap="square" lIns="0" tIns="0" rIns="0" bIns="0" rtlCol="0" anchor="t"/>
          <a:lstStyle/>
          <a:p>
            <a:pPr indent="0" marL="0">
              <a:lnSpc>
                <a:spcPct val="105000"/>
              </a:lnSpc>
              <a:buNone/>
            </a:pPr>
            <a:r>
              <a:rPr lang="tr-TR" sz="950" dirty="0">
                <a:solidFill>
                  <a:srgbClr val="02C39A"/>
                </a:solidFill>
                <a:latin typeface="Consolas" pitchFamily="34" charset="0"/>
                <a:ea typeface="Consolas" pitchFamily="34" charset="-122"/>
                <a:cs typeface="Consolas" pitchFamily="34" charset="-120"/>
              </a:rPr>
              <a:t>$ ./page_split 0x3A7F 0x1234 0x5000</a:t>
            </a:r>
            <a:endParaRPr lang="tr-TR" sz="950" dirty="0"/>
          </a:p>
          <a:p>
            <a:pPr indent="0" marL="0">
              <a:lnSpc>
                <a:spcPct val="105000"/>
              </a:lnSpc>
              <a:buNone/>
            </a:pPr>
            <a:r>
              <a:rPr lang="tr-TR" sz="950" dirty="0">
                <a:solidFill>
                  <a:srgbClr val="F2F2F2"/>
                </a:solidFill>
                <a:latin typeface="Consolas" pitchFamily="34" charset="0"/>
                <a:ea typeface="Consolas" pitchFamily="34" charset="-122"/>
                <a:cs typeface="Consolas" pitchFamily="34" charset="-120"/>
              </a:rPr>
              <a:t>0x3A7F(14975):</a:t>
            </a:r>
            <a:endParaRPr lang="tr-TR" sz="950" dirty="0"/>
          </a:p>
          <a:p>
            <a:pPr indent="0" marL="0">
              <a:lnSpc>
                <a:spcPct val="105000"/>
              </a:lnSpc>
              <a:buNone/>
            </a:pPr>
            <a:r>
              <a:rPr lang="tr-TR" sz="950" dirty="0">
                <a:solidFill>
                  <a:srgbClr val="F2F2F2"/>
                </a:solidFill>
                <a:latin typeface="Consolas" pitchFamily="34" charset="0"/>
                <a:ea typeface="Consolas" pitchFamily="34" charset="-122"/>
                <a:cs typeface="Consolas" pitchFamily="34" charset="-120"/>
              </a:rPr>
              <a:t>  p= 3 d=0xA7F(2687)→frame  7→0x7A7F(31359)</a:t>
            </a:r>
            <a:endParaRPr lang="tr-TR" sz="950" dirty="0"/>
          </a:p>
          <a:p>
            <a:pPr indent="0" marL="0">
              <a:lnSpc>
                <a:spcPct val="105000"/>
              </a:lnSpc>
              <a:buNone/>
            </a:pPr>
            <a:r>
              <a:rPr lang="tr-TR" sz="950" dirty="0">
                <a:solidFill>
                  <a:srgbClr val="F2F2F2"/>
                </a:solidFill>
                <a:latin typeface="Consolas" pitchFamily="34" charset="0"/>
                <a:ea typeface="Consolas" pitchFamily="34" charset="-122"/>
                <a:cs typeface="Consolas" pitchFamily="34" charset="-120"/>
              </a:rPr>
              <a:t>0x1234( 4660):</a:t>
            </a:r>
            <a:endParaRPr lang="tr-TR" sz="950" dirty="0"/>
          </a:p>
          <a:p>
            <a:pPr indent="0" marL="0">
              <a:lnSpc>
                <a:spcPct val="105000"/>
              </a:lnSpc>
              <a:buNone/>
            </a:pPr>
            <a:r>
              <a:rPr lang="tr-TR" sz="950" dirty="0">
                <a:solidFill>
                  <a:srgbClr val="F2F2F2"/>
                </a:solidFill>
                <a:latin typeface="Consolas" pitchFamily="34" charset="0"/>
                <a:ea typeface="Consolas" pitchFamily="34" charset="-122"/>
                <a:cs typeface="Consolas" pitchFamily="34" charset="-120"/>
              </a:rPr>
              <a:t>  p= 1 d=0x234( 564)→frame  9→0x9234(37428)</a:t>
            </a:r>
            <a:endParaRPr lang="tr-TR" sz="950" dirty="0"/>
          </a:p>
          <a:p>
            <a:pPr indent="0" marL="0">
              <a:lnSpc>
                <a:spcPct val="105000"/>
              </a:lnSpc>
              <a:buNone/>
            </a:pPr>
            <a:r>
              <a:rPr lang="tr-TR" sz="950" dirty="0">
                <a:solidFill>
                  <a:srgbClr val="F2F2F2"/>
                </a:solidFill>
                <a:latin typeface="Consolas" pitchFamily="34" charset="0"/>
                <a:ea typeface="Consolas" pitchFamily="34" charset="-122"/>
                <a:cs typeface="Consolas" pitchFamily="34" charset="-120"/>
              </a:rPr>
              <a:t>0x5000(20480):</a:t>
            </a:r>
            <a:endParaRPr lang="tr-TR" sz="950" dirty="0"/>
          </a:p>
          <a:p>
            <a:pPr indent="0" marL="0">
              <a:lnSpc>
                <a:spcPct val="105000"/>
              </a:lnSpc>
              <a:buNone/>
            </a:pPr>
            <a:r>
              <a:rPr lang="tr-TR" sz="950" dirty="0">
                <a:solidFill>
                  <a:srgbClr val="F2F2F2"/>
                </a:solidFill>
                <a:latin typeface="Consolas" pitchFamily="34" charset="0"/>
                <a:ea typeface="Consolas" pitchFamily="34" charset="-122"/>
                <a:cs typeface="Consolas" pitchFamily="34" charset="-120"/>
              </a:rPr>
              <a:t>  p= 5 d=0x000(   0)→invalid: trap to OS</a:t>
            </a:r>
            <a:endParaRPr lang="tr-TR"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KENDİNİZ DENEYİN</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Kendi Makinenizde Belleği Keşfedin</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6  ·  37</a:t>
            </a:r>
            <a:endParaRPr lang="tr-TR" sz="900" dirty="0"/>
          </a:p>
        </p:txBody>
      </p:sp>
      <p:sp>
        <p:nvSpPr>
          <p:cNvPr id="6" name="Shape 4"/>
          <p:cNvSpPr/>
          <p:nvPr/>
        </p:nvSpPr>
        <p:spPr>
          <a:xfrm>
            <a:off x="548640" y="1508760"/>
            <a:ext cx="6035040" cy="4754880"/>
          </a:xfrm>
          <a:prstGeom prst="roundRect">
            <a:avLst>
              <a:gd name="adj" fmla="val 962"/>
            </a:avLst>
          </a:prstGeom>
          <a:solidFill>
            <a:srgbClr val="212121"/>
          </a:solidFill>
          <a:ln/>
        </p:spPr>
      </p:sp>
      <p:sp>
        <p:nvSpPr>
          <p:cNvPr id="7" name="Text 5"/>
          <p:cNvSpPr txBox="1"/>
          <p:nvPr/>
        </p:nvSpPr>
        <p:spPr>
          <a:xfrm>
            <a:off x="731520" y="1618488"/>
            <a:ext cx="5669280" cy="4535424"/>
          </a:xfrm>
          <a:prstGeom prst="rect">
            <a:avLst/>
          </a:prstGeom>
          <a:noFill/>
          <a:ln/>
        </p:spPr>
        <p:txBody>
          <a:bodyPr wrap="square" lIns="0" tIns="0" rIns="0" bIns="0" rtlCol="0" anchor="t"/>
          <a:lstStyle/>
          <a:p>
            <a:pPr indent="0" marL="0">
              <a:lnSpc>
                <a:spcPct val="105000"/>
              </a:lnSpc>
              <a:buNone/>
            </a:pPr>
            <a:r>
              <a:rPr lang="tr-TR" sz="1300" dirty="0">
                <a:solidFill>
                  <a:srgbClr val="8A9AA0"/>
                </a:solidFill>
                <a:latin typeface="Consolas" pitchFamily="34" charset="0"/>
                <a:ea typeface="Consolas" pitchFamily="34" charset="-122"/>
                <a:cs typeface="Consolas" pitchFamily="34" charset="-120"/>
              </a:rPr>
              <a:t># Linux (laboratuvar, WSL ya da sanal makine)</a:t>
            </a:r>
            <a:endParaRPr lang="tr-TR" sz="1300" dirty="0"/>
          </a:p>
          <a:p>
            <a:pPr indent="0" marL="0">
              <a:lnSpc>
                <a:spcPct val="105000"/>
              </a:lnSpc>
              <a:buNone/>
            </a:pPr>
            <a:r>
              <a:rPr lang="tr-TR" sz="1300" dirty="0">
                <a:solidFill>
                  <a:srgbClr val="02C39A"/>
                </a:solidFill>
                <a:latin typeface="Consolas" pitchFamily="34" charset="0"/>
                <a:ea typeface="Consolas" pitchFamily="34" charset="-122"/>
                <a:cs typeface="Consolas" pitchFamily="34" charset="-120"/>
              </a:rPr>
              <a:t>$ getconf PAGESIZE          # bayt olarak sayfa boyu</a:t>
            </a:r>
            <a:endParaRPr lang="tr-TR" sz="1300" dirty="0"/>
          </a:p>
          <a:p>
            <a:pPr indent="0" marL="0">
              <a:lnSpc>
                <a:spcPct val="105000"/>
              </a:lnSpc>
              <a:buNone/>
            </a:pPr>
            <a:r>
              <a:rPr lang="tr-TR" sz="1300" dirty="0">
                <a:solidFill>
                  <a:srgbClr val="02C39A"/>
                </a:solidFill>
                <a:latin typeface="Consolas" pitchFamily="34" charset="0"/>
                <a:ea typeface="Consolas" pitchFamily="34" charset="-122"/>
                <a:cs typeface="Consolas" pitchFamily="34" charset="-120"/>
              </a:rPr>
              <a:t>$ cat /proc/self/maps       # cat'in bellek haritası</a:t>
            </a:r>
            <a:endParaRPr lang="tr-TR" sz="1300" dirty="0"/>
          </a:p>
          <a:p>
            <a:pPr indent="0" marL="0">
              <a:lnSpc>
                <a:spcPct val="105000"/>
              </a:lnSpc>
              <a:buNone/>
            </a:pPr>
            <a:r>
              <a:rPr lang="tr-TR" sz="1300" dirty="0">
                <a:solidFill>
                  <a:srgbClr val="02C39A"/>
                </a:solidFill>
                <a:latin typeface="Consolas" pitchFamily="34" charset="0"/>
                <a:ea typeface="Consolas" pitchFamily="34" charset="-122"/>
                <a:cs typeface="Consolas" pitchFamily="34" charset="-120"/>
              </a:rPr>
              <a:t>$ ./mem_layout; ./mem_layout   # iki kez: ASLR</a:t>
            </a:r>
            <a:endParaRPr lang="tr-TR" sz="1300" dirty="0"/>
          </a:p>
          <a:p>
            <a:pPr indent="0" marL="0">
              <a:lnSpc>
                <a:spcPct val="105000"/>
              </a:lnSpc>
              <a:buNone/>
            </a:pPr>
            <a:r>
              <a:rPr lang="tr-TR" sz="1300" dirty="0">
                <a:solidFill>
                  <a:srgbClr val="02C39A"/>
                </a:solidFill>
                <a:latin typeface="Consolas" pitchFamily="34" charset="0"/>
                <a:ea typeface="Consolas" pitchFamily="34" charset="-122"/>
                <a:cs typeface="Consolas" pitchFamily="34" charset="-120"/>
              </a:rPr>
              <a:t>$ free -h                   # kullanılan RAM ve takas</a:t>
            </a:r>
            <a:endParaRPr lang="tr-TR" sz="1300" dirty="0"/>
          </a:p>
          <a:p>
            <a:pPr indent="0" marL="0">
              <a:lnSpc>
                <a:spcPct val="105000"/>
              </a:lnSpc>
              <a:buNone/>
            </a:pPr>
            <a:r>
              <a:rPr lang="tr-TR" sz="1300" dirty="0">
                <a:solidFill>
                  <a:srgbClr val="02C39A"/>
                </a:solidFill>
                <a:latin typeface="Consolas" pitchFamily="34" charset="0"/>
                <a:ea typeface="Consolas" pitchFamily="34" charset="-122"/>
                <a:cs typeface="Consolas" pitchFamily="34" charset="-120"/>
              </a:rPr>
              <a:t>$ cat /proc/swaps           # takas alanları</a:t>
            </a:r>
            <a:endParaRPr lang="tr-TR" sz="1300" dirty="0"/>
          </a:p>
          <a:p>
            <a:pPr indent="0" marL="0">
              <a:lnSpc>
                <a:spcPct val="105000"/>
              </a:lnSpc>
              <a:buNone/>
            </a:pPr>
            <a:r>
              <a:rPr lang="tr-TR" sz="1300" dirty="0">
                <a:solidFill>
                  <a:srgbClr val="02C39A"/>
                </a:solidFill>
                <a:latin typeface="Consolas" pitchFamily="34" charset="0"/>
                <a:ea typeface="Consolas" pitchFamily="34" charset="-122"/>
                <a:cs typeface="Consolas" pitchFamily="34" charset="-120"/>
              </a:rPr>
              <a:t>$ vmstat 1 5                # si/so = takas içeri/dışarı</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a:t>
            </a:r>
            <a:endParaRPr lang="tr-TR" sz="1300" dirty="0"/>
          </a:p>
          <a:p>
            <a:pPr indent="0" marL="0">
              <a:lnSpc>
                <a:spcPct val="105000"/>
              </a:lnSpc>
              <a:buNone/>
            </a:pPr>
            <a:r>
              <a:rPr lang="tr-TR" sz="1300" dirty="0">
                <a:solidFill>
                  <a:srgbClr val="8A9AA0"/>
                </a:solidFill>
                <a:latin typeface="Consolas" pitchFamily="34" charset="0"/>
                <a:ea typeface="Consolas" pitchFamily="34" charset="-122"/>
                <a:cs typeface="Consolas" pitchFamily="34" charset="-120"/>
              </a:rPr>
              <a:t># Windows</a:t>
            </a:r>
            <a:endParaRPr lang="tr-TR" sz="1300" dirty="0"/>
          </a:p>
          <a:p>
            <a:pPr indent="0" marL="0">
              <a:lnSpc>
                <a:spcPct val="105000"/>
              </a:lnSpc>
              <a:buNone/>
            </a:pPr>
            <a:r>
              <a:rPr lang="tr-TR" sz="1300" dirty="0">
                <a:solidFill>
                  <a:srgbClr val="8A9AA0"/>
                </a:solidFill>
                <a:latin typeface="Consolas" pitchFamily="34" charset="0"/>
                <a:ea typeface="Consolas" pitchFamily="34" charset="-122"/>
                <a:cs typeface="Consolas" pitchFamily="34" charset="-120"/>
              </a:rPr>
              <a:t># Görev Yöneticisi &gt; Performans &gt; Bellek:</a:t>
            </a:r>
            <a:endParaRPr lang="tr-TR" sz="1300" dirty="0"/>
          </a:p>
          <a:p>
            <a:pPr indent="0" marL="0">
              <a:lnSpc>
                <a:spcPct val="105000"/>
              </a:lnSpc>
              <a:buNone/>
            </a:pPr>
            <a:r>
              <a:rPr lang="tr-TR" sz="1300" dirty="0">
                <a:solidFill>
                  <a:srgbClr val="8A9AA0"/>
                </a:solidFill>
                <a:latin typeface="Consolas" pitchFamily="34" charset="0"/>
                <a:ea typeface="Consolas" pitchFamily="34" charset="-122"/>
                <a:cs typeface="Consolas" pitchFamily="34" charset="-120"/>
              </a:rPr>
              <a:t># "Kullanımda", "Kaydedildi", "Disk belleğine</a:t>
            </a:r>
            <a:endParaRPr lang="tr-TR" sz="1300" dirty="0"/>
          </a:p>
          <a:p>
            <a:pPr indent="0" marL="0">
              <a:lnSpc>
                <a:spcPct val="105000"/>
              </a:lnSpc>
              <a:buNone/>
            </a:pPr>
            <a:r>
              <a:rPr lang="tr-TR" sz="1300" dirty="0">
                <a:solidFill>
                  <a:srgbClr val="8A9AA0"/>
                </a:solidFill>
                <a:latin typeface="Consolas" pitchFamily="34" charset="0"/>
                <a:ea typeface="Consolas" pitchFamily="34" charset="-122"/>
                <a:cs typeface="Consolas" pitchFamily="34" charset="-120"/>
              </a:rPr>
              <a:t># alınan havuz"</a:t>
            </a:r>
            <a:endParaRPr lang="tr-TR" sz="1300" dirty="0"/>
          </a:p>
        </p:txBody>
      </p:sp>
      <p:sp>
        <p:nvSpPr>
          <p:cNvPr id="8" name="Shape 6"/>
          <p:cNvSpPr/>
          <p:nvPr/>
        </p:nvSpPr>
        <p:spPr>
          <a:xfrm>
            <a:off x="6858000" y="1508760"/>
            <a:ext cx="4800600" cy="4754880"/>
          </a:xfrm>
          <a:prstGeom prst="roundRect">
            <a:avLst>
              <a:gd name="adj" fmla="val 1154"/>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086600" y="1691640"/>
            <a:ext cx="43434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Yanıtlanacak sorular</a:t>
            </a:r>
            <a:endParaRPr lang="tr-TR" sz="1500" dirty="0"/>
          </a:p>
        </p:txBody>
      </p:sp>
      <p:sp>
        <p:nvSpPr>
          <p:cNvPr id="10" name="Text 8"/>
          <p:cNvSpPr txBox="1"/>
          <p:nvPr/>
        </p:nvSpPr>
        <p:spPr>
          <a:xfrm>
            <a:off x="7086600" y="2148840"/>
            <a:ext cx="4343400" cy="3977640"/>
          </a:xfrm>
          <a:prstGeom prst="rect">
            <a:avLst/>
          </a:prstGeom>
          <a:noFill/>
          <a:ln/>
        </p:spPr>
        <p:txBody>
          <a:bodyPr wrap="square" lIns="0" tIns="0" rIns="0" bIns="0" rtlCol="0" anchor="t"/>
          <a:lstStyle/>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Makinenizde sayfa boyu ne kadar? Apple silicon işlemcili bir Mac'te deneyin: 16 KB.</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cat'in [stack] bölgesi kaç sayfa büyüklüğünde?</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mem_layout'un yazdırdığı adresler çalıştırmalar arasında değişiyor mu? Bu güvenlik için neden iyi olabilir?</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Makineniz şu anda takas alanı kullanıyor mu? Ne kadar?</a:t>
            </a:r>
            <a:endParaRPr lang="tr-TR"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KISA SINAV</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Kendinizi Sınayın</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6  ·  38</a:t>
            </a:r>
            <a:endParaRPr lang="tr-TR" sz="900" dirty="0"/>
          </a:p>
        </p:txBody>
      </p:sp>
      <p:sp>
        <p:nvSpPr>
          <p:cNvPr id="6" name="Shape 4"/>
          <p:cNvSpPr/>
          <p:nvPr/>
        </p:nvSpPr>
        <p:spPr>
          <a:xfrm>
            <a:off x="548640" y="1508760"/>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7" name="Shape 5"/>
          <p:cNvSpPr/>
          <p:nvPr/>
        </p:nvSpPr>
        <p:spPr>
          <a:xfrm>
            <a:off x="777240" y="1780794"/>
            <a:ext cx="493776" cy="493776"/>
          </a:xfrm>
          <a:prstGeom prst="ellipse">
            <a:avLst/>
          </a:prstGeom>
          <a:solidFill>
            <a:srgbClr val="02C39A"/>
          </a:solidFill>
          <a:ln/>
        </p:spPr>
      </p:sp>
      <p:sp>
        <p:nvSpPr>
          <p:cNvPr id="8" name="Text 6"/>
          <p:cNvSpPr txBox="1"/>
          <p:nvPr/>
        </p:nvSpPr>
        <p:spPr>
          <a:xfrm>
            <a:off x="777240" y="1780794"/>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1</a:t>
            </a:r>
            <a:endParaRPr lang="tr-TR" sz="1600" dirty="0"/>
          </a:p>
        </p:txBody>
      </p:sp>
      <p:sp>
        <p:nvSpPr>
          <p:cNvPr id="9" name="Text 7"/>
          <p:cNvSpPr txBox="1"/>
          <p:nvPr/>
        </p:nvSpPr>
        <p:spPr>
          <a:xfrm>
            <a:off x="1508760" y="1508760"/>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Taban = 0x2000, sınır = 0x0800. Mantıksal 0x07FF nereye gider? Ya mantıksal 0x0800?</a:t>
            </a:r>
            <a:endParaRPr lang="tr-TR" sz="1600" dirty="0"/>
          </a:p>
        </p:txBody>
      </p:sp>
      <p:sp>
        <p:nvSpPr>
          <p:cNvPr id="10" name="Shape 8"/>
          <p:cNvSpPr/>
          <p:nvPr/>
        </p:nvSpPr>
        <p:spPr>
          <a:xfrm>
            <a:off x="548640" y="2747772"/>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11" name="Shape 9"/>
          <p:cNvSpPr/>
          <p:nvPr/>
        </p:nvSpPr>
        <p:spPr>
          <a:xfrm>
            <a:off x="777240" y="3019806"/>
            <a:ext cx="493776" cy="493776"/>
          </a:xfrm>
          <a:prstGeom prst="ellipse">
            <a:avLst/>
          </a:prstGeom>
          <a:solidFill>
            <a:srgbClr val="02C39A"/>
          </a:solidFill>
          <a:ln/>
        </p:spPr>
      </p:sp>
      <p:sp>
        <p:nvSpPr>
          <p:cNvPr id="12" name="Text 10"/>
          <p:cNvSpPr txBox="1"/>
          <p:nvPr/>
        </p:nvSpPr>
        <p:spPr>
          <a:xfrm>
            <a:off x="777240" y="3019806"/>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2</a:t>
            </a:r>
            <a:endParaRPr lang="tr-TR" sz="1600" dirty="0"/>
          </a:p>
        </p:txBody>
      </p:sp>
      <p:sp>
        <p:nvSpPr>
          <p:cNvPr id="13" name="Text 11"/>
          <p:cNvSpPr txBox="1"/>
          <p:nvPr/>
        </p:nvSpPr>
        <p:spPr>
          <a:xfrm>
            <a:off x="1508760" y="2747772"/>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Sayfalar 4 KB. Mantıksal adres 0x5C21'i sayfa numarası p ve ofset d olarak bölün.</a:t>
            </a:r>
            <a:endParaRPr lang="tr-TR" sz="1600" dirty="0"/>
          </a:p>
        </p:txBody>
      </p:sp>
      <p:sp>
        <p:nvSpPr>
          <p:cNvPr id="14" name="Shape 12"/>
          <p:cNvSpPr/>
          <p:nvPr/>
        </p:nvSpPr>
        <p:spPr>
          <a:xfrm>
            <a:off x="548640" y="3986784"/>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15" name="Shape 13"/>
          <p:cNvSpPr/>
          <p:nvPr/>
        </p:nvSpPr>
        <p:spPr>
          <a:xfrm>
            <a:off x="777240" y="4258818"/>
            <a:ext cx="493776" cy="493776"/>
          </a:xfrm>
          <a:prstGeom prst="ellipse">
            <a:avLst/>
          </a:prstGeom>
          <a:solidFill>
            <a:srgbClr val="02C39A"/>
          </a:solidFill>
          <a:ln/>
        </p:spPr>
      </p:sp>
      <p:sp>
        <p:nvSpPr>
          <p:cNvPr id="16" name="Text 14"/>
          <p:cNvSpPr txBox="1"/>
          <p:nvPr/>
        </p:nvSpPr>
        <p:spPr>
          <a:xfrm>
            <a:off x="777240" y="4258818"/>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3</a:t>
            </a:r>
            <a:endParaRPr lang="tr-TR" sz="1600" dirty="0"/>
          </a:p>
        </p:txBody>
      </p:sp>
      <p:sp>
        <p:nvSpPr>
          <p:cNvPr id="17" name="Text 15"/>
          <p:cNvSpPr txBox="1"/>
          <p:nvPr/>
        </p:nvSpPr>
        <p:spPr>
          <a:xfrm>
            <a:off x="1508760" y="3986784"/>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t_TLB = 20 ns, t_m = 100 ns, isabet oranı %90. Etkin erişim süresini hesaplayın.</a:t>
            </a:r>
            <a:endParaRPr lang="tr-TR" sz="1600" dirty="0"/>
          </a:p>
        </p:txBody>
      </p:sp>
      <p:sp>
        <p:nvSpPr>
          <p:cNvPr id="18" name="Shape 16"/>
          <p:cNvSpPr/>
          <p:nvPr/>
        </p:nvSpPr>
        <p:spPr>
          <a:xfrm>
            <a:off x="548640" y="5225796"/>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19" name="Shape 17"/>
          <p:cNvSpPr/>
          <p:nvPr/>
        </p:nvSpPr>
        <p:spPr>
          <a:xfrm>
            <a:off x="777240" y="5497830"/>
            <a:ext cx="493776" cy="493776"/>
          </a:xfrm>
          <a:prstGeom prst="ellipse">
            <a:avLst/>
          </a:prstGeom>
          <a:solidFill>
            <a:srgbClr val="02C39A"/>
          </a:solidFill>
          <a:ln/>
        </p:spPr>
      </p:sp>
      <p:sp>
        <p:nvSpPr>
          <p:cNvPr id="20" name="Text 18"/>
          <p:cNvSpPr txBox="1"/>
          <p:nvPr/>
        </p:nvSpPr>
        <p:spPr>
          <a:xfrm>
            <a:off x="777240" y="5497830"/>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4</a:t>
            </a:r>
            <a:endParaRPr lang="tr-TR" sz="1600" dirty="0"/>
          </a:p>
        </p:txBody>
      </p:sp>
      <p:sp>
        <p:nvSpPr>
          <p:cNvPr id="21" name="Text 19"/>
          <p:cNvSpPr txBox="1"/>
          <p:nvPr/>
        </p:nvSpPr>
        <p:spPr>
          <a:xfrm>
            <a:off x="1508760" y="5225796"/>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Sayfalamada neden dış parçalanma yoktur, ama iç parçalanma hâlâ vardır?</a:t>
            </a:r>
            <a:endParaRPr lang="tr-TR"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KAPANIŞ</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6. Hafta: Temel Çıkarımlar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6  ·  39</a:t>
            </a:r>
            <a:endParaRPr lang="tr-TR" sz="900" dirty="0"/>
          </a:p>
        </p:txBody>
      </p:sp>
      <p:sp>
        <p:nvSpPr>
          <p:cNvPr id="6" name="Text 4"/>
          <p:cNvSpPr txBox="1"/>
          <p:nvPr/>
        </p:nvSpPr>
        <p:spPr>
          <a:xfrm>
            <a:off x="548640" y="1600200"/>
            <a:ext cx="11064240" cy="4663440"/>
          </a:xfrm>
          <a:prstGeom prst="rect">
            <a:avLst/>
          </a:prstGeom>
          <a:noFill/>
          <a:ln/>
        </p:spPr>
        <p:txBody>
          <a:bodyPr wrap="square" lIns="0" tIns="0" rIns="0" bIns="0" rtlCol="0" anchor="t"/>
          <a:lstStyle/>
          <a:p>
            <a:pPr marL="228600" indent="-228600">
              <a:spcAft>
                <a:spcPts val="1400"/>
              </a:spcAft>
              <a:buSzPct val="100000"/>
              <a:buChar char="•"/>
            </a:pPr>
            <a:r>
              <a:rPr lang="tr-TR" sz="1800" b="1" dirty="0">
                <a:solidFill>
                  <a:srgbClr val="3A464C"/>
                </a:solidFill>
                <a:latin typeface="Calibri" pitchFamily="34" charset="0"/>
                <a:ea typeface="Calibri" pitchFamily="34" charset="-122"/>
                <a:cs typeface="Calibri" pitchFamily="34" charset="-120"/>
              </a:rPr>
              <a:t>Mantıksal ve fiziksel:</a:t>
            </a:r>
            <a:r>
              <a:rPr lang="tr-TR" sz="1800" dirty="0">
                <a:solidFill>
                  <a:srgbClr val="3A464C"/>
                </a:solidFill>
                <a:latin typeface="Calibri" pitchFamily="34" charset="0"/>
                <a:ea typeface="Calibri" pitchFamily="34" charset="-122"/>
                <a:cs typeface="Calibri" pitchFamily="34" charset="-120"/>
              </a:rPr>
              <a:t> programlar mantıksal adres kullanır; MMU bunları her erişimde çevirir (yürütme zamanında bağlama).</a:t>
            </a:r>
            <a:endParaRPr lang="tr-TR" sz="1800" dirty="0"/>
          </a:p>
          <a:p>
            <a:pPr marL="228600" indent="-228600">
              <a:spcAft>
                <a:spcPts val="1400"/>
              </a:spcAft>
              <a:buSzPct val="100000"/>
              <a:buChar char="•"/>
            </a:pPr>
            <a:r>
              <a:rPr lang="tr-TR" sz="1800" b="1" dirty="0">
                <a:solidFill>
                  <a:srgbClr val="3A464C"/>
                </a:solidFill>
                <a:latin typeface="Calibri" pitchFamily="34" charset="0"/>
                <a:ea typeface="Calibri" pitchFamily="34" charset="-122"/>
                <a:cs typeface="Calibri" pitchFamily="34" charset="-120"/>
              </a:rPr>
              <a:t>Taban + sınır:</a:t>
            </a:r>
            <a:r>
              <a:rPr lang="tr-TR" sz="1800" dirty="0">
                <a:solidFill>
                  <a:srgbClr val="3A464C"/>
                </a:solidFill>
                <a:latin typeface="Calibri" pitchFamily="34" charset="0"/>
                <a:ea typeface="Calibri" pitchFamily="34" charset="-122"/>
                <a:cs typeface="Calibri" pitchFamily="34" charset="-120"/>
              </a:rPr>
              <a:t> en basit MMU; mantıksal &lt; sınır denetlenir, sonra taban eklenir; aksi hâlde tuzak.</a:t>
            </a:r>
            <a:endParaRPr lang="tr-TR" sz="1800" dirty="0"/>
          </a:p>
          <a:p>
            <a:pPr marL="228600" indent="-228600">
              <a:spcAft>
                <a:spcPts val="1400"/>
              </a:spcAft>
              <a:buSzPct val="100000"/>
              <a:buChar char="•"/>
            </a:pPr>
            <a:r>
              <a:rPr lang="tr-TR" sz="1800" b="1" dirty="0">
                <a:solidFill>
                  <a:srgbClr val="3A464C"/>
                </a:solidFill>
                <a:latin typeface="Calibri" pitchFamily="34" charset="0"/>
                <a:ea typeface="Calibri" pitchFamily="34" charset="-122"/>
                <a:cs typeface="Calibri" pitchFamily="34" charset="-120"/>
              </a:rPr>
              <a:t>Bitişik tahsis:</a:t>
            </a:r>
            <a:r>
              <a:rPr lang="tr-TR" sz="1800" dirty="0">
                <a:solidFill>
                  <a:srgbClr val="3A464C"/>
                </a:solidFill>
                <a:latin typeface="Calibri" pitchFamily="34" charset="0"/>
                <a:ea typeface="Calibri" pitchFamily="34" charset="-122"/>
                <a:cs typeface="Calibri" pitchFamily="34" charset="-120"/>
              </a:rPr>
              <a:t> ilk / en iyi / en kötü uyan; dış parçalanma (%50 kuralı), sıkıştırma pahalıdır.</a:t>
            </a:r>
            <a:endParaRPr lang="tr-TR" sz="1800" dirty="0"/>
          </a:p>
          <a:p>
            <a:pPr marL="228600" indent="-228600">
              <a:spcAft>
                <a:spcPts val="1400"/>
              </a:spcAft>
              <a:buSzPct val="100000"/>
              <a:buChar char="•"/>
            </a:pPr>
            <a:r>
              <a:rPr lang="tr-TR" sz="1800" b="1" dirty="0">
                <a:solidFill>
                  <a:srgbClr val="3A464C"/>
                </a:solidFill>
                <a:latin typeface="Calibri" pitchFamily="34" charset="0"/>
                <a:ea typeface="Calibri" pitchFamily="34" charset="-122"/>
                <a:cs typeface="Calibri" pitchFamily="34" charset="-120"/>
              </a:rPr>
              <a:t>Sayfalama:</a:t>
            </a:r>
            <a:r>
              <a:rPr lang="tr-TR" sz="1800" dirty="0">
                <a:solidFill>
                  <a:srgbClr val="3A464C"/>
                </a:solidFill>
                <a:latin typeface="Calibri" pitchFamily="34" charset="0"/>
                <a:ea typeface="Calibri" pitchFamily="34" charset="-122"/>
                <a:cs typeface="Calibri" pitchFamily="34" charset="-120"/>
              </a:rPr>
              <a:t> sayfa ↔ çerçeve, adres = p | d, süreç başına sayfa tablosu; dış parçalanma yok, yalnızca iç.</a:t>
            </a:r>
            <a:endParaRPr lang="tr-TR" sz="1800" dirty="0"/>
          </a:p>
          <a:p>
            <a:pPr marL="228600" indent="-228600">
              <a:spcAft>
                <a:spcPts val="1400"/>
              </a:spcAft>
              <a:buSzPct val="100000"/>
              <a:buChar char="•"/>
            </a:pPr>
            <a:r>
              <a:rPr lang="tr-TR" sz="1800" b="1" dirty="0">
                <a:solidFill>
                  <a:srgbClr val="3A464C"/>
                </a:solidFill>
                <a:latin typeface="Calibri" pitchFamily="34" charset="0"/>
                <a:ea typeface="Calibri" pitchFamily="34" charset="-122"/>
                <a:cs typeface="Calibri" pitchFamily="34" charset="-120"/>
              </a:rPr>
              <a:t>TLB:</a:t>
            </a:r>
            <a:r>
              <a:rPr lang="tr-TR" sz="1800" dirty="0">
                <a:solidFill>
                  <a:srgbClr val="3A464C"/>
                </a:solidFill>
                <a:latin typeface="Calibri" pitchFamily="34" charset="0"/>
                <a:ea typeface="Calibri" pitchFamily="34" charset="-122"/>
                <a:cs typeface="Calibri" pitchFamily="34" charset="-120"/>
              </a:rPr>
              <a:t> sayfa tablosu girdilerini önbellekte tutar; bizim uzlaşımımızla EAT = t_TLB + (2 − α) t_m.</a:t>
            </a:r>
            <a:endParaRPr lang="tr-TR" sz="1800" dirty="0"/>
          </a:p>
          <a:p>
            <a:pPr marL="228600" indent="-228600">
              <a:spcAft>
                <a:spcPts val="1400"/>
              </a:spcAft>
              <a:buSzPct val="100000"/>
              <a:buChar char="•"/>
            </a:pPr>
            <a:r>
              <a:rPr lang="tr-TR" sz="1800" b="1" dirty="0">
                <a:solidFill>
                  <a:srgbClr val="3A464C"/>
                </a:solidFill>
                <a:latin typeface="Calibri" pitchFamily="34" charset="0"/>
                <a:ea typeface="Calibri" pitchFamily="34" charset="-122"/>
                <a:cs typeface="Calibri" pitchFamily="34" charset="-120"/>
              </a:rPr>
              <a:t>Bölütleme:</a:t>
            </a:r>
            <a:r>
              <a:rPr lang="tr-TR" sz="1800" dirty="0">
                <a:solidFill>
                  <a:srgbClr val="3A464C"/>
                </a:solidFill>
                <a:latin typeface="Calibri" pitchFamily="34" charset="0"/>
                <a:ea typeface="Calibri" pitchFamily="34" charset="-122"/>
                <a:cs typeface="Calibri" pitchFamily="34" charset="-120"/>
              </a:rPr>
              <a:t> bölüt başına taban/sınır ile ⟨bölüt, ofset⟩; x86-64 Linux düz bölütlerle sayfalama kullanır.</a:t>
            </a:r>
            <a:endParaRPr lang="tr-TR" sz="1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41732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GELECEK HAFTA</a:t>
            </a:r>
            <a:endParaRPr lang="tr-TR" sz="1300" dirty="0"/>
          </a:p>
        </p:txBody>
      </p:sp>
      <p:sp>
        <p:nvSpPr>
          <p:cNvPr id="3" name="Text 1"/>
          <p:cNvSpPr txBox="1"/>
          <p:nvPr/>
        </p:nvSpPr>
        <p:spPr>
          <a:xfrm>
            <a:off x="548640" y="1783080"/>
            <a:ext cx="10972800" cy="777240"/>
          </a:xfrm>
          <a:prstGeom prst="rect">
            <a:avLst/>
          </a:prstGeom>
          <a:noFill/>
          <a:ln/>
        </p:spPr>
        <p:txBody>
          <a:bodyPr wrap="square" lIns="0" tIns="0" rIns="0" bIns="0" rtlCol="0" anchor="ctr"/>
          <a:lstStyle/>
          <a:p>
            <a:pPr indent="0" marL="0">
              <a:buNone/>
            </a:pPr>
            <a:r>
              <a:rPr lang="tr-TR" sz="3400" b="1" dirty="0">
                <a:solidFill>
                  <a:srgbClr val="FFFFFF"/>
                </a:solidFill>
                <a:latin typeface="Cambria" pitchFamily="34" charset="0"/>
                <a:ea typeface="Cambria" pitchFamily="34" charset="-122"/>
                <a:cs typeface="Cambria" pitchFamily="34" charset="-120"/>
              </a:rPr>
              <a:t>Sanal Bellek ve Dosya Sistemleri</a:t>
            </a:r>
            <a:endParaRPr lang="tr-TR" sz="3400" dirty="0"/>
          </a:p>
        </p:txBody>
      </p:sp>
      <p:sp>
        <p:nvSpPr>
          <p:cNvPr id="4" name="Shape 2"/>
          <p:cNvSpPr/>
          <p:nvPr/>
        </p:nvSpPr>
        <p:spPr>
          <a:xfrm>
            <a:off x="548640" y="2834640"/>
            <a:ext cx="7680960" cy="2926080"/>
          </a:xfrm>
          <a:prstGeom prst="roundRect">
            <a:avLst>
              <a:gd name="adj" fmla="val 1875"/>
            </a:avLst>
          </a:prstGeom>
          <a:solidFill>
            <a:srgbClr val="36454F"/>
          </a:solidFill>
          <a:ln/>
        </p:spPr>
      </p:sp>
      <p:sp>
        <p:nvSpPr>
          <p:cNvPr id="5" name="Text 3"/>
          <p:cNvSpPr txBox="1"/>
          <p:nvPr/>
        </p:nvSpPr>
        <p:spPr>
          <a:xfrm>
            <a:off x="868680" y="3017520"/>
            <a:ext cx="7132320" cy="365760"/>
          </a:xfrm>
          <a:prstGeom prst="rect">
            <a:avLst/>
          </a:prstGeom>
          <a:noFill/>
          <a:ln/>
        </p:spPr>
        <p:txBody>
          <a:bodyPr wrap="square" lIns="0" tIns="0" rIns="0" bIns="0" rtlCol="0" anchor="ctr"/>
          <a:lstStyle/>
          <a:p>
            <a:pPr indent="0" marL="0">
              <a:buNone/>
            </a:pPr>
            <a:r>
              <a:rPr lang="tr-TR" sz="1400" b="1" dirty="0">
                <a:solidFill>
                  <a:srgbClr val="02C39A"/>
                </a:solidFill>
                <a:latin typeface="Calibri" pitchFamily="34" charset="0"/>
                <a:ea typeface="Calibri" pitchFamily="34" charset="-122"/>
                <a:cs typeface="Calibri" pitchFamily="34" charset="-120"/>
              </a:rPr>
              <a:t>7. haftanın konuları:</a:t>
            </a:r>
            <a:endParaRPr lang="tr-TR" sz="1400" dirty="0"/>
          </a:p>
        </p:txBody>
      </p:sp>
      <p:sp>
        <p:nvSpPr>
          <p:cNvPr id="6" name="Text 4"/>
          <p:cNvSpPr txBox="1"/>
          <p:nvPr/>
        </p:nvSpPr>
        <p:spPr>
          <a:xfrm>
            <a:off x="868680" y="3474720"/>
            <a:ext cx="7132320" cy="2148840"/>
          </a:xfrm>
          <a:prstGeom prst="rect">
            <a:avLst/>
          </a:prstGeom>
          <a:noFill/>
          <a:ln/>
        </p:spPr>
        <p:txBody>
          <a:bodyPr wrap="square" lIns="0" tIns="0" rIns="0" bIns="0" rtlCol="0" anchor="t"/>
          <a:lstStyle/>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İsteğe bağlı sayfalama (demand paging) ve sayfa hataları (page fault)</a:t>
            </a:r>
            <a:endParaRPr lang="tr-TR" sz="1500" dirty="0"/>
          </a:p>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Sayfa değiştirme: FIFO, OPT, LRU ve boşa çalışma (thrashing)</a:t>
            </a:r>
            <a:endParaRPr lang="tr-TR" sz="1500" dirty="0"/>
          </a:p>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Dosya sistemleri: dosya kavramı, erişim yöntemleri, dizin yapıları</a:t>
            </a:r>
            <a:endParaRPr lang="tr-TR" sz="1500" dirty="0"/>
          </a:p>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Ara sınavdan önceki son ders (8. hafta: 1–7. haftalar)</a:t>
            </a:r>
            <a:endParaRPr lang="tr-TR" sz="1500" dirty="0"/>
          </a:p>
        </p:txBody>
      </p:sp>
      <p:sp>
        <p:nvSpPr>
          <p:cNvPr id="7" name="Text 5"/>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8" name="Text 6"/>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6  ·  40</a:t>
            </a:r>
            <a:endParaRPr lang="tr-TR"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41732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SORULAR?</a:t>
            </a:r>
            <a:endParaRPr lang="tr-TR" sz="1300" dirty="0"/>
          </a:p>
        </p:txBody>
      </p:sp>
      <p:sp>
        <p:nvSpPr>
          <p:cNvPr id="3" name="Text 1"/>
          <p:cNvSpPr txBox="1"/>
          <p:nvPr/>
        </p:nvSpPr>
        <p:spPr>
          <a:xfrm>
            <a:off x="548640" y="1783080"/>
            <a:ext cx="9144000" cy="77724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Tartışma</a:t>
            </a:r>
            <a:endParaRPr lang="tr-TR" sz="3800" dirty="0"/>
          </a:p>
        </p:txBody>
      </p:sp>
      <p:sp>
        <p:nvSpPr>
          <p:cNvPr id="4" name="Text 2"/>
          <p:cNvSpPr txBox="1"/>
          <p:nvPr/>
        </p:nvSpPr>
        <p:spPr>
          <a:xfrm>
            <a:off x="548640" y="2697480"/>
            <a:ext cx="6858000" cy="640080"/>
          </a:xfrm>
          <a:prstGeom prst="rect">
            <a:avLst/>
          </a:prstGeom>
          <a:noFill/>
          <a:ln/>
        </p:spPr>
        <p:txBody>
          <a:bodyPr wrap="square" lIns="0" tIns="0" rIns="0" bIns="0" rtlCol="0" anchor="ctr"/>
          <a:lstStyle/>
          <a:p>
            <a:pPr indent="0" marL="0">
              <a:buNone/>
            </a:pPr>
            <a:r>
              <a:rPr lang="tr-TR" sz="1400" i="1" dirty="0">
                <a:solidFill>
                  <a:srgbClr val="F2F2F2"/>
                </a:solidFill>
                <a:latin typeface="Calibri" pitchFamily="34" charset="0"/>
                <a:ea typeface="Calibri" pitchFamily="34" charset="-122"/>
                <a:cs typeface="Calibri" pitchFamily="34" charset="-120"/>
              </a:rPr>
              <a:t>Dersten sonra sorularınız olursa dersin Telegram kanalında sorun — yanıttan herkes yararlanır.</a:t>
            </a:r>
            <a:endParaRPr lang="tr-TR" sz="1400" dirty="0"/>
          </a:p>
        </p:txBody>
      </p:sp>
      <p:sp>
        <p:nvSpPr>
          <p:cNvPr id="7" name="Text 4"/>
          <p:cNvSpPr txBox="1"/>
          <p:nvPr/>
        </p:nvSpPr>
        <p:spPr>
          <a:xfrm>
            <a:off x="3108960" y="3703320"/>
            <a:ext cx="5486400" cy="1463040"/>
          </a:xfrm>
          <a:prstGeom prst="rect">
            <a:avLst/>
          </a:prstGeom>
          <a:noFill/>
          <a:ln/>
        </p:spPr>
        <p:txBody>
          <a:bodyPr wrap="square" lIns="0" tIns="0" rIns="0" bIns="0" rtlCol="0" anchor="t"/>
          <a:lstStyle/>
          <a:p>
            <a:pPr indent="0" marL="0">
              <a:spcAft>
                <a:spcPts val="400"/>
              </a:spcAft>
              <a:buNone/>
            </a:pPr>
            <a:r>
              <a:rPr lang="tr-TR" sz="1400" b="1" dirty="0">
                <a:solidFill>
                  <a:srgbClr val="F2F2F2"/>
                </a:solidFill>
                <a:latin typeface="Calibri" pitchFamily="34" charset="0"/>
                <a:ea typeface="Calibri" pitchFamily="34" charset="-122"/>
                <a:cs typeface="Calibri" pitchFamily="34" charset="-120"/>
              </a:rPr>
              <a:t>Dr. Öğr. Üyesi Hasan Oğuz</a:t>
            </a:r>
            <a:endParaRPr lang="tr-TR" sz="1400" dirty="0"/>
          </a:p>
        </p:txBody>
      </p:sp>
      <p:sp>
        <p:nvSpPr>
          <p:cNvPr id="8" name="Text 5"/>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9" name="Text 6"/>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6  ·  41</a:t>
            </a:r>
            <a:endParaRPr lang="tr-TR"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MBLP131 Hafta 6</dc:title>
  <dc:subject>PptxGenJS Presentation</dc:subject>
  <dc:creator>PptxGenJS</dc:creator>
  <cp:lastModifiedBy>PptxGenJS</cp:lastModifiedBy>
  <cp:revision>1</cp:revision>
  <dcterms:created xsi:type="dcterms:W3CDTF">2026-10-08T13:05:36Z</dcterms:created>
  <dcterms:modified xsi:type="dcterms:W3CDTF">2026-10-08T13:05:36Z</dcterms:modified>
</cp:coreProperties>
</file>