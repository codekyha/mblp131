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haftaya hoş geldiniz; bu, uygulamalı Linux haftalarının üçüncüsü. Bugün: kullanıcılar ve gruplar, 9. haftadan beri ls -l çıktısında gördüğünüz 10 karakterlik izin dizgesi, sembolik ve sekizli biçimde chmod, varsayılan izinler (umask), sahiplik, root ve sudo, ve iki özel bit. Herkesin bir terminali açık olmalı: laboratuvar bilgisayarı, WSL ya da Ubuntu sanal makinesi. Günün ilk komutu: bash mcmp117_lab_setup.sh; böylece temiz bir ~/lab klasörü elde edersiniz.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dakikalık tekrar. Sorun: *.jpg ifadesini kim genişletir, kabuk mu ls mi? (Kabuk.) Düğüm numarasını hangi komut gösterir? (ls -i, stat.) 7. haftada 'koruma' (protection) bilgisini düğümde saklanan dosya özniteliklerinden biri olarak saydığımızı hatırlatın: bugünün konusu tam olarak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bölümler moladan önce (canlı gösterimlerle yaklaşık 50 dakika), 4–5. bölümler moladan sonra; ardından 30–40 dakikalık laboratuvar çalışması. Slaytlardaki tüm terminal çıktıları, bir Linux makinesinde student adlı sıradan bir kullanıcıyla yakalanmış gerçek çıktılardır; kendi makinenizde tarihler, boyutlar, kullanıcı ve grup numaraları farklı olacaktır.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Linux çok kullanıcılı bir sistemdir. Dizüstü bilgisayarınızda bile onlarca kullanıcı vardır (çoğu sistem hizmetleri içindir). Kimin neyi yapabileceğine izinler (permissions) karar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kuram haftalarına köprüdür. 2. hafta: donanımdaki ikili mod, kullanıcı programlarının G/Ç'yi kendilerinin yapamayacağı anlamına gelir; bir sistem çağrısı yapmak zorundadırlar ve kapıyı tutan çekirdektir. 7. hafta: koruma özniteliği düğümde (inode) durur. Denetim open() içinde yapılır (ayrıca exec, unlink, chdir… içinde). Başarısız olursa sistem çağrısı -1 döndürür, errno = EACCES olur ve program 'Permission denied' yazdırır. Not: denetim açma anında yapılır; dosyayı zaten açmış olan bir süreç, sonradan chmod yapılsa bile erişimini korur.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whoami, id ve groups yazın. Yeni kurulmuş bir Ubuntu'da ilk kullanıcının UID'si 1000'dir; laboratuvar makinemizde birkaç hesap olduğu için bu öğrencinin numarası 1011 — sizin numaralarınız farklı olacaktır. Vurgulayın: adlar insanlar için, numaralar çekirdek içindir; ls -l numaraları yeniden adlara çevirir. 'students' (sonunda s ile) ayrı bir gruptur; onu ileride paylaşım için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grep "^$USER:" /etc/passwd ve getent group students komutlarını çalıştırın. Yedi alanı tek tek gezin. Öğrencimizde 5. alan boştur (normalde tam adı tutar). Kabuk alanı, bazı sistem kullanıcılarında neden /usr/sbin/nologin göründüğünü açıklar: bu kullanıcılarla kimse oturum açamaz. 'students' grubunun henüz üyesi yoktur (4. alan boş); ileride yönetici öğrencimizi bu gruba ekleyecek. Bu dosyalar asla elle düzenlenmez; yöneticiler useradd, usermod, passwd kullanır. /etc/shadow'un kendi modunun -rw-r----- olduğuna dikkat çekin; bunu birazdan çözeceğiz.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 dışındaki her şey düğümden gelir (7. hafta). Sorun: /etc/passwd'de adı olmayan bir UID için ls -l ne gösterir? (Çıplak numarayı.) Bugün bizi 1., 3. ve 4. sütunlar ilgilendiriyor: mod, sahip ve grup.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Günün anahtar slaydı. İlk karakter dosya türüdür. Ardından üç üçlü gelir; her zaman r, w, x sırasıyla ve her zaman kullanıcı, grup, diğerleri için. Harf bitin kurulu olduğunu, tire kurulu olmadığını gösterir. Her konumun bir ağırlığı vardır: r = 4, w = 2, x = 1; dolayısıyla her üçlü 0 ile 7 arasında bir sayıdır, yani tek bir sekizli basamak. 750, chmod 750 yazarken kullandığınız sayıdır. Sorun: ---------- nedir? (000). -rw-r--r-- nedir? (644).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haftayı hatırlayın: bir dizin (ad, düğüm) çiftlerinden oluşan bir tablodur. r = bu tabloyu okumak (adları listelemek). w = tabloyu değiştirmek (girdi eklemek, silmek, yeniden adlandırmak). x = bir yolu izlemek için tabloda arama yapmak. Salt okunur bir dosyayı silmenin, dizinde w varsa serbest olmasının şaşırtıcı nedeni budur — bunu moladan sonra göstereceğiz. Tipik öğrenci hatası: bir dizine chmod 644 uygulamak (x kalkar) ve ardından cd'nin başarısız olması.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klasik bir sınav tuzağıdır. Mod 074 = ----rwxr--: sahibe hiçbir şey, gruba her şey, diğerlerine okuma. Sahip (student) 'Permission denied' alır, çünkü sahip için yalnızca sahip üçlüsüne bakılır. root okuma/yazma denetimlerini atlar; çalıştırma için ise root'un bile en az bir yerde bir x biti görmesi gerekir. Sahip dosyayı her zaman chmod ile düzeltebilir (izinleri değiştirmek için r ya da w değil, sahiplik gerekir) — son iki komut bunu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Çalıştırın: ls -l docs, ls -ld docs, stat docs/syllabus.txt, ardından stat -c '%A  %a  %U  %G  %n' docs/syllabus.txt docs src/hello.c. ls'nin 'final report.txt' adını boşluk içerdiği için tırnak içine aldığını gösterin (10. hafta). 0664'teki baştaki 0, özel bitler (setuid, setgid, yapışkan bit) için dördüncü sekizli basamaktır; burada hepsi sıfır. stat -c, laboratuvarda yanıtlarınızı denetlemek için çok kullanışlıdır.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chmod = change mode, yani modu değiştir. Bir dosyanın modunu yalnızca sahibi (ya da root) değiştirebilir.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satırı bir cümle olarak yüksek sesle okuyun: u+x 'kullanıcıya çalıştırma ver', go-w 'gruptan ve diğerlerinden yazmayı al', a=r 'herkese tam olarak okuma', u=rw,g=r,o= 'kullanıcıya tam olarak okuma-yazma, gruba tam olarak okuma, diğerlerine hiçbir şey'. Tablo, bir sonraki slayttaki gerçek oturumdan üretilmiştir. Tipik hatalar: virgülden sonra boşluk bırakmak (chmod u=rw, g=r file) ve kimi unutmak (chmod rw file 'invalid mode' hatası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Öğrencilerle birlikte yazın: cd docs, ardından her chmod'dan sonra ls -l syllabus.txt. 'Haber olmaması iyi haberdir' Unix geleneğidir: sessizlik başarı demektir. a=r'den sonra sorun: sahip dosyanın modunu hâlâ değiştirebilir mi? (Evet — mod düğümdeki bir üst veridir ve yalnızca sahiplik önemlidir.)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ağırlığı ezberleyin: r = 4, w = 2, x = 1. 0–7 arasındaki her basamak bunların tek bir biçimde toplamıdır, çünkü bunlar ikinin kuvvetleridir — tıpkı ikili sayılardaki gibi. Gerçekte kullanacağınız satırlar 4–7'dir: 4 okuma, 5 okuma+çalıştırma, 6 okuma+yazma, 7 hepsi. Sayılar code/perm_check.py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sınıfla birlikte iki tane daha yapın: 600 (rw-------), 755 (rwxr-xr-x), r--r----- (440). 711, paylaşılan sunucularda ev dizinleri için tipik bir moddur: diğerleri herkese açık bir alt klasöre geçebilir ama ev dizinini listeleyemez. Tüm dönüşümler code/perm_check.py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altı satır gerçek hayatın %95'ini kapsar. 777 uyarısı önemlidir: forumlarda bir hatayı yok etmek için chmod -R 777 önerilir; bu, anahtar takıldı diye kapınızı açık bırakmaya benzer. Bir web sunucusunda, ele geçirilmiş herhangi bir sürecin sayfalarınızı değiştirmesine izin verir. Kural: en az ayrıcalık ilkesi (principle of least privilege) — işin yapılması için gereken en az hakkı verin.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code/demo_chmod_oct.sh içindeki komutları çalıştırın. İki hata iletisini gösterin: chmod, 854'ü (8 sekizli bir basamak değildir) ve rw'yi (geçerli bir sembolik mod değildir) reddeder. Sekizli mod her zaman dokuz bitin hepsini birden ayarlar; sembolik mod tek bir biti değiştirip kalanları koruyabilir. Not: hata iletisinde modun çevresindeki tırnaklar, UTF-8 yerel ayarımızdaki tipografik tırnaklardır.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en sık karşılaştığı izin sorunu budur. Bir düzenleyiciyle ya da echo ile oluşturulan dosya 664 olur (x yok), çünkü programlar normal dosyalar için 666 ister. chmod u+x yalnızca sahibe çalıştırma ekler; chmod +x ise umask'ın izin verdiği bütün sınıflara ekler. ./hello.sh çalıştırdığınızda çekirdeğin exec sistem çağrısı x bitini denetler ve #! satırını okur. gcc çıktısını 777 &amp; ~umask = 775 moduyla oluşturur, çünkü bağlayıcı bir program ürettiğini bilir. 14. hafta bunun üzerine kurulacak.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bu slaytın fotoğrafını çekebilir. Kutu, özyinelemeli sekizli modların neden tehlikeli olduğunu açıklıyor: dizinlerin x'e ihtiyacı vardır, dosyaların ise genellikle olmamalıdır. Güvenli bir özyinelemeli kalıp semboliktir: chmod -R go-rwx project (yalnızca hak kaldırır) ya da chmod -R u+rwX (büyük X = yalnızca dizinlere ve zaten x biti olan dosyalara çalıştırma).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Mola sırasında deneyin: sahibi olduğunuz bir dosyaya chmod 000 uygulayın, sonra haklarınızı geri alın.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Moladan önce her yeni dosya 664, her yeni dizin 775 olarak göründü. Bu sayılar nereden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Birçok ders kitabı 'varsayılan = 666 eksi umask' der. Bu, alışılmış 002 ve 022 değerleri için çalışır, ama gerçek işlem bit düzeyindedir: umask bitleri temizlenir (tümleyeniyle AND). Bir sonraki slayt, çıkarmanın yanlış sonuç verdiği bir durumu gösteriyor. umask, kabuktan başlattığınız her programa aktarılır; bu yüzden oturum açılırken bir kez ayarlanır (Ubuntu'da pam_umask modülüyle; kullanıcı bunu ~/.bashrc içinde değiştirebilir).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İkili gösterimi tahtada adım adım yapın. 3 basamağı = 011 = w ve x. Dosyanın isteği olan 6 = 110'da temizlenecek x yoktur; bu yüzden yalnızca w temizlenir: 6 AND NOT 3 = 110 AND 100 = 100 = 4. 6 - 3 = 3 çıkarması, hiç var olmamış bir x bitini 'ödünç alır'. Dizinlerde 777'nin her biti kurulu olduğundan 777 - umask her zaman doğrudur. Tüm satırlar code/perm_check.py ile denetlendi ve bir sonraki slayttaki gerçek umask gösterimiyle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oturum (code/demo_umask.sh) her umask için bir dosya ve bir dizin oluşturur; ortadaki satır benzer sekiz komutu özetliyor. umask bir kabuk yerleşik komutudur: tıpkı cd gibi, kabuğun kendi sürecini değiştirmesi gerekir. Sorun: umask 077 ise grubunuzdaki bir arkadaşınız oluşturduğunuz bir dosyayı okuyabilir mi? (Hayır: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code/demo_dirperm.sh'yi adım adım çalıştırın. r olup x olmadığında ls ad listesini (dizin 'dosyasını') okuyabilir ama onun üzerinden hiçbir düğüme bakamaz: ls -l bu yüzden soru işaretleri yazdırır. x olup r olmadığında, her odanın anahtarı olan ama odaların listesi olmayan bir binaya benzer: bir odaya ancak adını biliyorsanız girebilirsiniz. Web sunucuları ev dizinleri için tam da bu nedenle yalnızca x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neredeyse herkesi şaşırtır. Silmek, DİZİNDEN bir (ad, düğüm) girdisini kaldırmaktır; bu yüzden önemli olan dizinin w bitidir. rm yalnızca kibarlık ediyor ve dosya yazmaya karşı korumalı olduğu için soruyor. 7. ve 10. haftaları hatırlayın: rm, unlink() çağırır. Dosyaları silinmeye karşı korumak için son komutlardaki gibi dizinden w'yi kaldırın (chmod 555). /tmp bunun için özel bir kurala ihtiyaç duyar — birkaç slayt sonra yapışkan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hata iletisini birbirinden ayırın: 'Permission denied' (EACCES) bir izin bitinin eksik olduğunu; 'Operation not permitted' (EPERM) ise işlemin, bitler ne derse desin, ayrıcalık gerektirdiğini söyler. Dosyayı kendinize chown etmek serbesttir (hiçbir şey değişmez). Bir sonraki slaytta yönetici öğrencimizi 'students' grubuna eklemiştir ve chgrp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gösterimden önce yöneticinin (root) yaptığı hazırlık: usermod -aG students student. -a 'ekle' (append) demektir; -a olmadan kullanıcı diğer bütün ek gruplardan ÇIKARILIR — klasik bir yönetici hatası. Grup üyeliği oturum açılırken okunur; bu yüzden kullanıcının oturumu kapatıp yeniden açması (ya da newgrp kullanması) gerekir. Dizinde setgid: yeni dosyalar, oluşturanın birincil grubu yerine dizinin grubunu alır. student'ın birincil grubu student olduğu hâlde plan.txt students grubundadır.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farklı durumda gerçek çıktı. Üstte: öğrencimiz yönetici yapılmadan önce — sudo parolayı sorar, sonra reddeder ('student is not in the sudoers file'). Altta: yönetici student'ı sudo grubuna ekledikten sonra (root'un bir kez yaptığı hazırlık adımı). Parola yazılır ama ekranda görünmez. sudo parolayı terminal başına yaklaşık 15 dakika hatırlar; sudo -k unutturur. sudo chown root:root'tan sonra mod hâlâ 664'tür, ama student artık yalnızca r hakkı olan 'diğerleri' sınıfındadır — bu yüzden echo &gt;&gt; başarısız olur. Bugün root yetkisiyle üretilmiş çıktının gösterildiği tek yer burasıdır ve öyle olduğu açıkça belirtilmiştir.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Sorun: kullanıcılar kendi parolalarını değiştirebilmeli, ama /etc/shadow'a yalnızca root yazabilir. Çözüm: passwd program dosyasının sahibi root'tur ve setuid biti kuruludur (sahibin x konumunda s, dördüncü sekizli basamakta 4). Kim çalıştırırsa çalıştırsın, sürecin ETKİN UID'si dosyanın sahibi (root) olur; gerçek UID ise student olarak kalır, böylece passwd kimin parolasını değiştireceğini bilir. Bu, çekirdek üzerinden denetimli bir ayrıcalık yükseltmesidir — yine 2. haftanın fikri: ayrıcalığı yalnızca güvenilir kod alır. Yalnızca kısaca değinilir; sınavda s ve t'yi tanımanın ötesinde soru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Gösterimden önce root'un yaptığı hazırlık: sahibi root olan, herkese yazılabilir bir /tmp/w11_admin.txt dosyası. Öğrencimiz onu silemez — 'Operation not permitted' — ama kendi dosyasını oluşturup silebilir. Yapışkan bit dördüncü sekizli basamakta 1'dir: chmod 1777 dir. Tarihsel olarak 'sticky' (yapışkan), 'program metnini takas alanında tut' anlamına geliyordu; adın bugün anlamsız görünmesinin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tek başına ya da ikili çalışır. Sınıfta dolaşın; sorunların çoğu bir dizinde eksik x ya da betik adından önce unutulmuş ./ olacaktır. Önce laboratuvarı yeniden oluşturun: bash mcmp117_lab_setup.sh.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Alıştırma numaraları notlardaki laboratuvar föyüyle aynıdır; gerçek çıktılı tam çözümler notların sonundadır (denemeden bakmayın!). Tipik yanıtlar: chmod g-w,o-r docs/notes_01.txt; chmod 600 docs/notes_02.txt; chmod 700 projects/alpha; chmod 750 projects/beta.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alıştırma, ders planındaki 'bir proje klasörünü güvenli hâle getir' görevidir. Beklenen stat çıktısı: 750 drwxr-x--- projects/team; 750 -rwxr-x--- deploy.sh; 640 -rw-r----- notes.txt; 600 -rw------- secret.txt. Öğrencilere 10. ve 11. alıştırmalardan sonra umask 002'ye geri dönmelerini (ya da yeni bir terminal açmalarını)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slayttaki her ileti bugünkü gerçek gösterimlerde ortaya çıktı. Öğrencilere hata iletilerini sözcük sözcük okutun: 'Permission denied' = bir bit eksik (EACCES); 'Operation not permitted' = ayrıcalık eksik (EPERM); 'command not found' = izin değil, PATH sorunu. Ve bir kez daha: chmod 777 asla doğru çözüm değildir. Türkçe yerel ayarlı (LANG=tr_TR.UTF-8) bir sistemde bu iletilerin çoğu Türkçe görünür (ör. 'Erişim engellendi'); ders çıktıları LC_ALL=C.UTF-8 ile üretildi.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Sahip rwx, grup r-x, diğerleri hiçbir şey: 750. (2) chmod 640 report.txt ya da chmod u=rw,g=r,o= report.txt. (3) 666 AND NOT 027 = 640, 777 AND NOT 027 = 750; 033 grubun ve diğerlerinin w ve x bitlerini temizler, ama dosyada hiç x yoktu, bu yüzden yalnızca w temizlenir: 644 (çıkarma yanlışlıkla 633 verirdi). (4) Dizinde w ve x hakkınız varsa evet (rm onay ister); hayır, çünkü sahip olarak yalnızca sahip üçlüsü --- uygulanır (ama chmod ile geri alabilirsiniz).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Hızlıca okuyun; her satır notlardaki bir bölüme ve laboratuvar alıştırmalarına karşılık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komutları birleştiriyoruz. Bir komutun çıktısı 1 numaralı dosya tanımlayıcısına gider; bunu dosyalara yönlendirecek ve borularla başka komutlara aktaracağız; böylece ~/lab/logs içindeki web sunucusu günlüğünden 'en çok 404 hatası veren sayfa hangisi?' gibi soruları yanıtlayacağız. İzinler kısaca geri dönecek: yazamadığınız bir dosyaya yönlendirme yapmak, bugün gördüğümüz 'Permission denied' hatasının aynısını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Sözü sorulara bırakın. Çözümlü laboratuvar föyünün notlarda olduğunu ve Telegram kanalında sorulan soruların herkese yardımcı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11</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11  ·  İzinler, Sahiplik ve Kullanıcılar</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Dosyalarınızı kim okuyabilir, değiştirebilir, çalıştırabilir — ve Linux buna nasıl karar verir?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10.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a:t>
            </a:r>
            <a:endParaRPr lang="tr-TR" sz="900" dirty="0"/>
          </a:p>
        </p:txBody>
      </p:sp>
      <p:sp>
        <p:nvSpPr>
          <p:cNvPr id="6" name="Shape 4"/>
          <p:cNvSpPr/>
          <p:nvPr/>
        </p:nvSpPr>
        <p:spPr>
          <a:xfrm>
            <a:off x="54864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Oluştur, kopyala, taşı</a:t>
            </a:r>
            <a:endParaRPr lang="tr-TR" sz="1600" dirty="0"/>
          </a:p>
        </p:txBody>
      </p:sp>
      <p:sp>
        <p:nvSpPr>
          <p:cNvPr id="8" name="Text 6"/>
          <p:cNvSpPr txBox="1"/>
          <p:nvPr/>
        </p:nvSpPr>
        <p:spPr>
          <a:xfrm>
            <a:off x="777240" y="2148840"/>
            <a:ext cx="2148840" cy="16002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mkdir -p, touch, cp -r, mv, rm -r, rmdir. rm'nin geri dönüşüm kutusu yoktur.</a:t>
            </a:r>
            <a:endParaRPr lang="tr-TR" sz="1600" dirty="0"/>
          </a:p>
        </p:txBody>
      </p:sp>
      <p:sp>
        <p:nvSpPr>
          <p:cNvPr id="9" name="Shape 7"/>
          <p:cNvSpPr/>
          <p:nvPr/>
        </p:nvSpPr>
        <p:spPr>
          <a:xfrm>
            <a:off x="338328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Joker karakterler</a:t>
            </a:r>
            <a:endParaRPr lang="tr-TR" sz="1600" dirty="0"/>
          </a:p>
        </p:txBody>
      </p:sp>
      <p:sp>
        <p:nvSpPr>
          <p:cNvPr id="11" name="Text 9"/>
          <p:cNvSpPr txBox="1"/>
          <p:nvPr/>
        </p:nvSpPr>
        <p:spPr>
          <a:xfrm>
            <a:off x="3611880" y="2148840"/>
            <a:ext cx="2148840" cy="16002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 ? [abc] ve {a,b}: komut çalışmadan önce kabuk tarafından genişletilir.</a:t>
            </a:r>
            <a:endParaRPr lang="tr-TR" sz="1600" dirty="0"/>
          </a:p>
        </p:txBody>
      </p:sp>
      <p:sp>
        <p:nvSpPr>
          <p:cNvPr id="12" name="Shape 10"/>
          <p:cNvSpPr/>
          <p:nvPr/>
        </p:nvSpPr>
        <p:spPr>
          <a:xfrm>
            <a:off x="621792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İçine bakmak</a:t>
            </a:r>
            <a:endParaRPr lang="tr-TR" sz="1600" dirty="0"/>
          </a:p>
        </p:txBody>
      </p:sp>
      <p:sp>
        <p:nvSpPr>
          <p:cNvPr id="14" name="Text 12"/>
          <p:cNvSpPr txBox="1"/>
          <p:nvPr/>
        </p:nvSpPr>
        <p:spPr>
          <a:xfrm>
            <a:off x="6446520" y="2148840"/>
            <a:ext cx="2148840" cy="16002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cat, less, head, tail -f, wc, file, du -sh, df -h.</a:t>
            </a:r>
            <a:endParaRPr lang="tr-TR" sz="1600" dirty="0"/>
          </a:p>
        </p:txBody>
      </p:sp>
      <p:sp>
        <p:nvSpPr>
          <p:cNvPr id="15" name="Shape 13"/>
          <p:cNvSpPr/>
          <p:nvPr/>
        </p:nvSpPr>
        <p:spPr>
          <a:xfrm>
            <a:off x="905256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Düğümler ve bağlantılar</a:t>
            </a:r>
            <a:endParaRPr lang="tr-TR" sz="1600" dirty="0"/>
          </a:p>
        </p:txBody>
      </p:sp>
      <p:sp>
        <p:nvSpPr>
          <p:cNvPr id="17" name="Text 15"/>
          <p:cNvSpPr txBox="1"/>
          <p:nvPr/>
        </p:nvSpPr>
        <p:spPr>
          <a:xfrm>
            <a:off x="9281160" y="2148840"/>
            <a:ext cx="2148840" cy="16002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stat düğümü (inode) gösterir; ln yeni bir ad ekler, ln -s bir yol saklar.</a:t>
            </a:r>
            <a:endParaRPr lang="tr-TR"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stat şu satırı yazdırmıştı:  Access: (0664/-rw-rw-r--)  — bugün bu satırın iki yarısını okumayı ve değiştirmeyi öğreniyoruz.</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11</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Neden ve kimin için?   </a:t>
            </a:r>
            <a:r>
              <a:rPr lang="tr-TR" sz="1500" dirty="0">
                <a:solidFill>
                  <a:srgbClr val="3A464C"/>
                </a:solidFill>
                <a:latin typeface="Calibri" pitchFamily="34" charset="0"/>
                <a:ea typeface="Calibri" pitchFamily="34" charset="-122"/>
                <a:cs typeface="Calibri" pitchFamily="34" charset="-120"/>
              </a:rPr>
              <a:t>Koruma (2. ve 7. haftalar), kullanıcılar, gruplar, /etc/passwd ve /etc/group.</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İzinleri okumak   </a:t>
            </a:r>
            <a:r>
              <a:rPr lang="tr-TR" sz="1500" dirty="0">
                <a:solidFill>
                  <a:srgbClr val="3A464C"/>
                </a:solidFill>
                <a:latin typeface="Calibri" pitchFamily="34" charset="0"/>
                <a:ea typeface="Calibri" pitchFamily="34" charset="-122"/>
                <a:cs typeface="Calibri" pitchFamily="34" charset="-120"/>
              </a:rPr>
              <a:t>10 karakterlik mod dizgesi; dosyalarda ve dizinlerde r, w, x.</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İzinleri değiştirmek   </a:t>
            </a:r>
            <a:r>
              <a:rPr lang="tr-TR" sz="1500" dirty="0">
                <a:solidFill>
                  <a:srgbClr val="3A464C"/>
                </a:solidFill>
                <a:latin typeface="Calibri" pitchFamily="34" charset="0"/>
                <a:ea typeface="Calibri" pitchFamily="34" charset="-122"/>
                <a:cs typeface="Calibri" pitchFamily="34" charset="-120"/>
              </a:rPr>
              <a:t>Sembolik (u+x) ve sekizli (754) chmod; bir betiği çalıştırılabilir yapmak.</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Varsayılanlar ve dizinler   </a:t>
            </a:r>
            <a:r>
              <a:rPr lang="tr-TR" sz="1500" dirty="0">
                <a:solidFill>
                  <a:srgbClr val="3A464C"/>
                </a:solidFill>
                <a:latin typeface="Calibri" pitchFamily="34" charset="0"/>
                <a:ea typeface="Calibri" pitchFamily="34" charset="-122"/>
                <a:cs typeface="Calibri" pitchFamily="34" charset="-120"/>
              </a:rPr>
              <a:t>umask ve r, w, x'in bir dizin için gerçekte ne anlama geldiği.</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Sahiplik ve root   </a:t>
            </a:r>
            <a:r>
              <a:rPr lang="tr-TR" sz="1500" dirty="0">
                <a:solidFill>
                  <a:srgbClr val="3A464C"/>
                </a:solidFill>
                <a:latin typeface="Calibri" pitchFamily="34" charset="0"/>
                <a:ea typeface="Calibri" pitchFamily="34" charset="-122"/>
                <a:cs typeface="Calibri" pitchFamily="34" charset="-120"/>
              </a:rPr>
              <a:t>chown, chgrp, bir grupla paylaşım, sudo, setuid ve yapışkan bit.</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Laboratuvar   </a:t>
            </a:r>
            <a:r>
              <a:rPr lang="tr-TR" sz="1500" dirty="0">
                <a:solidFill>
                  <a:srgbClr val="3A464C"/>
                </a:solidFill>
                <a:latin typeface="Calibri" pitchFamily="34" charset="0"/>
                <a:ea typeface="Calibri" pitchFamily="34" charset="-122"/>
                <a:cs typeface="Calibri" pitchFamily="34" charset="-120"/>
              </a:rPr>
              <a:t>Bir proje klasörünü güvenli hâle getirin; notlarda 16 puanlı alıştırma.</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Kullanıcılar, Gruplar ve Koruma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Her dosyanın bir sahibi vardır; her süreç birinin adına çalışır.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NEDEN İZİNLER?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Çekirdek Her open() Çağrısını Denetler — Atlanamaz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5</a:t>
            </a:r>
            <a:endParaRPr lang="tr-TR" sz="900" dirty="0"/>
          </a:p>
        </p:txBody>
      </p:sp>
      <p:sp>
        <p:nvSpPr>
          <p:cNvPr id="6" name="Shape 4"/>
          <p:cNvSpPr/>
          <p:nvPr/>
        </p:nvSpPr>
        <p:spPr>
          <a:xfrm>
            <a:off x="548640" y="1783080"/>
            <a:ext cx="2606040" cy="1188720"/>
          </a:xfrm>
          <a:prstGeom prst="roundRect">
            <a:avLst>
              <a:gd name="adj" fmla="val 3846"/>
            </a:avLst>
          </a:prstGeom>
          <a:solidFill>
            <a:srgbClr val="F2F2F2"/>
          </a:solidFill>
          <a:ln/>
        </p:spPr>
      </p:sp>
      <p:sp>
        <p:nvSpPr>
          <p:cNvPr id="7" name="Text 5"/>
          <p:cNvSpPr txBox="1"/>
          <p:nvPr/>
        </p:nvSpPr>
        <p:spPr>
          <a:xfrm>
            <a:off x="548640" y="1783080"/>
            <a:ext cx="2606040" cy="1188720"/>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Süreç (kullanıcı modu)</a:t>
            </a:r>
            <a:endParaRPr lang="tr-TR" sz="1500" dirty="0"/>
          </a:p>
          <a:p>
            <a:pPr algn="ctr" indent="0" marL="0">
              <a:buNone/>
            </a:pPr>
            <a:r>
              <a:rPr lang="tr-TR" sz="1200" dirty="0">
                <a:solidFill>
                  <a:srgbClr val="36454F"/>
                </a:solidFill>
                <a:latin typeface="Calibri" pitchFamily="34" charset="0"/>
                <a:ea typeface="Calibri" pitchFamily="34" charset="-122"/>
                <a:cs typeface="Calibri" pitchFamily="34" charset="-120"/>
              </a:rPr>
              <a:t>cat, nano, bash …</a:t>
            </a:r>
            <a:endParaRPr lang="tr-TR" sz="1500" dirty="0"/>
          </a:p>
          <a:p>
            <a:pPr algn="ctr" indent="0" marL="0">
              <a:buNone/>
            </a:pPr>
            <a:r>
              <a:rPr lang="tr-TR" sz="1200" dirty="0">
                <a:solidFill>
                  <a:srgbClr val="36454F"/>
                </a:solidFill>
                <a:latin typeface="Calibri" pitchFamily="34" charset="0"/>
                <a:ea typeface="Calibri" pitchFamily="34" charset="-122"/>
                <a:cs typeface="Calibri" pitchFamily="34" charset="-120"/>
              </a:rPr>
              <a:t>student olarak çalışıyor (UID 1011)</a:t>
            </a:r>
            <a:endParaRPr lang="tr-TR" sz="1500" dirty="0"/>
          </a:p>
        </p:txBody>
      </p:sp>
      <p:sp>
        <p:nvSpPr>
          <p:cNvPr id="8" name="Shape 6"/>
          <p:cNvSpPr/>
          <p:nvPr/>
        </p:nvSpPr>
        <p:spPr>
          <a:xfrm>
            <a:off x="4526280" y="1783080"/>
            <a:ext cx="2743200" cy="1188720"/>
          </a:xfrm>
          <a:prstGeom prst="roundRect">
            <a:avLst>
              <a:gd name="adj" fmla="val 3846"/>
            </a:avLst>
          </a:prstGeom>
          <a:solidFill>
            <a:srgbClr val="36454F"/>
          </a:solidFill>
          <a:ln/>
        </p:spPr>
      </p:sp>
      <p:sp>
        <p:nvSpPr>
          <p:cNvPr id="9" name="Text 7"/>
          <p:cNvSpPr txBox="1"/>
          <p:nvPr/>
        </p:nvSpPr>
        <p:spPr>
          <a:xfrm>
            <a:off x="4526280" y="1783080"/>
            <a:ext cx="2743200" cy="118872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Çekirdek (çekirdek modu)</a:t>
            </a:r>
            <a:endParaRPr lang="tr-TR" sz="1500" dirty="0"/>
          </a:p>
          <a:p>
            <a:pPr algn="ctr" indent="0" marL="0">
              <a:buNone/>
            </a:pPr>
            <a:r>
              <a:rPr lang="tr-TR" sz="1200" dirty="0">
                <a:solidFill>
                  <a:srgbClr val="FFFFFF"/>
                </a:solidFill>
                <a:latin typeface="Calibri" pitchFamily="34" charset="0"/>
                <a:ea typeface="Calibri" pitchFamily="34" charset="-122"/>
                <a:cs typeface="Calibri" pitchFamily="34" charset="-120"/>
              </a:rPr>
              <a:t>sürecin UID / GID'lerini</a:t>
            </a:r>
            <a:endParaRPr lang="tr-TR" sz="1500" dirty="0"/>
          </a:p>
          <a:p>
            <a:pPr algn="ctr" indent="0" marL="0">
              <a:buNone/>
            </a:pPr>
            <a:r>
              <a:rPr lang="tr-TR" sz="1200" dirty="0">
                <a:solidFill>
                  <a:srgbClr val="FFFFFF"/>
                </a:solidFill>
                <a:latin typeface="Calibri" pitchFamily="34" charset="0"/>
                <a:ea typeface="Calibri" pitchFamily="34" charset="-122"/>
                <a:cs typeface="Calibri" pitchFamily="34" charset="-120"/>
              </a:rPr>
              <a:t>düğümdekilerle karşılaştırır</a:t>
            </a:r>
            <a:endParaRPr lang="tr-TR" sz="1500" dirty="0"/>
          </a:p>
        </p:txBody>
      </p:sp>
      <p:sp>
        <p:nvSpPr>
          <p:cNvPr id="10" name="Shape 8"/>
          <p:cNvSpPr/>
          <p:nvPr/>
        </p:nvSpPr>
        <p:spPr>
          <a:xfrm>
            <a:off x="8641080" y="1783080"/>
            <a:ext cx="3017520" cy="1188720"/>
          </a:xfrm>
          <a:prstGeom prst="roundRect">
            <a:avLst>
              <a:gd name="adj" fmla="val 3846"/>
            </a:avLst>
          </a:prstGeom>
          <a:solidFill>
            <a:srgbClr val="D7E9E6"/>
          </a:solidFill>
          <a:ln/>
        </p:spPr>
      </p:sp>
      <p:sp>
        <p:nvSpPr>
          <p:cNvPr id="11" name="Text 9"/>
          <p:cNvSpPr txBox="1"/>
          <p:nvPr/>
        </p:nvSpPr>
        <p:spPr>
          <a:xfrm>
            <a:off x="8641080" y="1783080"/>
            <a:ext cx="3017520" cy="11887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notes.txt dosyasının düğümü</a:t>
            </a:r>
            <a:endParaRPr lang="tr-TR" sz="1500" dirty="0"/>
          </a:p>
          <a:p>
            <a:pPr algn="ctr" indent="0" marL="0">
              <a:buNone/>
            </a:pPr>
            <a:r>
              <a:rPr lang="tr-TR" sz="1200" dirty="0">
                <a:solidFill>
                  <a:srgbClr val="212121"/>
                </a:solidFill>
                <a:latin typeface="Calibri" pitchFamily="34" charset="0"/>
                <a:ea typeface="Calibri" pitchFamily="34" charset="-122"/>
                <a:cs typeface="Calibri" pitchFamily="34" charset="-120"/>
              </a:rPr>
              <a:t>sahip root · grup root</a:t>
            </a:r>
            <a:endParaRPr lang="tr-TR" sz="1500" dirty="0"/>
          </a:p>
          <a:p>
            <a:pPr algn="ctr" indent="0" marL="0">
              <a:buNone/>
            </a:pPr>
            <a:r>
              <a:rPr lang="tr-TR" sz="1200" dirty="0">
                <a:solidFill>
                  <a:srgbClr val="212121"/>
                </a:solidFill>
                <a:latin typeface="Calibri" pitchFamily="34" charset="0"/>
                <a:ea typeface="Calibri" pitchFamily="34" charset="-122"/>
                <a:cs typeface="Calibri" pitchFamily="34" charset="-120"/>
              </a:rPr>
              <a:t>mod -rw-r--r--</a:t>
            </a:r>
            <a:endParaRPr lang="tr-TR" sz="1500" dirty="0"/>
          </a:p>
        </p:txBody>
      </p:sp>
      <p:sp>
        <p:nvSpPr>
          <p:cNvPr id="12" name="Shape 10"/>
          <p:cNvSpPr/>
          <p:nvPr/>
        </p:nvSpPr>
        <p:spPr>
          <a:xfrm>
            <a:off x="3172968" y="2377440"/>
            <a:ext cx="1335024" cy="91"/>
          </a:xfrm>
          <a:prstGeom prst="line">
            <a:avLst/>
          </a:prstGeom>
          <a:noFill/>
          <a:ln w="28575">
            <a:solidFill>
              <a:srgbClr val="028090"/>
            </a:solidFill>
            <a:prstDash val="solid"/>
            <a:tailEnd type="triangle"/>
          </a:ln>
        </p:spPr>
      </p:sp>
      <p:sp>
        <p:nvSpPr>
          <p:cNvPr id="13" name="Text 11"/>
          <p:cNvSpPr txBox="1"/>
          <p:nvPr/>
        </p:nvSpPr>
        <p:spPr>
          <a:xfrm>
            <a:off x="3063240" y="1216152"/>
            <a:ext cx="1600200" cy="548640"/>
          </a:xfrm>
          <a:prstGeom prst="rect">
            <a:avLst/>
          </a:prstGeom>
          <a:noFill/>
          <a:ln/>
        </p:spPr>
        <p:txBody>
          <a:bodyPr wrap="square" lIns="0" tIns="0" rIns="0" bIns="0" rtlCol="0" anchor="b"/>
          <a:lstStyle/>
          <a:p>
            <a:pPr algn="ctr" indent="0" marL="0">
              <a:buNone/>
            </a:pPr>
            <a:r>
              <a:rPr lang="tr-TR" sz="1050" dirty="0">
                <a:solidFill>
                  <a:srgbClr val="028090"/>
                </a:solidFill>
                <a:latin typeface="Consolas" pitchFamily="34" charset="0"/>
                <a:ea typeface="Consolas" pitchFamily="34" charset="-122"/>
                <a:cs typeface="Consolas" pitchFamily="34" charset="-120"/>
              </a:rPr>
              <a:t>sistem çağrısı</a:t>
            </a:r>
            <a:endParaRPr lang="tr-TR" sz="1050" dirty="0"/>
          </a:p>
          <a:p>
            <a:pPr algn="ctr" indent="0" marL="0">
              <a:buNone/>
            </a:pPr>
            <a:r>
              <a:rPr lang="tr-TR" sz="1050" dirty="0">
                <a:solidFill>
                  <a:srgbClr val="028090"/>
                </a:solidFill>
                <a:latin typeface="Consolas" pitchFamily="34" charset="0"/>
                <a:ea typeface="Consolas" pitchFamily="34" charset="-122"/>
                <a:cs typeface="Consolas" pitchFamily="34" charset="-120"/>
              </a:rPr>
              <a:t>open("notes.txt", O_WRONLY)</a:t>
            </a:r>
            <a:endParaRPr lang="tr-TR" sz="1050" dirty="0"/>
          </a:p>
        </p:txBody>
      </p:sp>
      <p:sp>
        <p:nvSpPr>
          <p:cNvPr id="14" name="Shape 12"/>
          <p:cNvSpPr/>
          <p:nvPr/>
        </p:nvSpPr>
        <p:spPr>
          <a:xfrm flipH="1">
            <a:off x="7287768" y="2377440"/>
            <a:ext cx="1335024" cy="91"/>
          </a:xfrm>
          <a:prstGeom prst="line">
            <a:avLst/>
          </a:prstGeom>
          <a:noFill/>
          <a:ln w="28575">
            <a:solidFill>
              <a:srgbClr val="50808E"/>
            </a:solidFill>
            <a:prstDash val="solid"/>
            <a:tailEnd type="triangle"/>
          </a:ln>
        </p:spPr>
      </p:sp>
      <p:sp>
        <p:nvSpPr>
          <p:cNvPr id="15" name="Text 13"/>
          <p:cNvSpPr txBox="1"/>
          <p:nvPr/>
        </p:nvSpPr>
        <p:spPr>
          <a:xfrm>
            <a:off x="7269480" y="1965960"/>
            <a:ext cx="1371600" cy="365760"/>
          </a:xfrm>
          <a:prstGeom prst="rect">
            <a:avLst/>
          </a:prstGeom>
          <a:noFill/>
          <a:ln/>
        </p:spPr>
        <p:txBody>
          <a:bodyPr wrap="square" lIns="0" tIns="0" rIns="0" bIns="0" rtlCol="0" anchor="b"/>
          <a:lstStyle/>
          <a:p>
            <a:pPr algn="ctr" indent="0" marL="0">
              <a:buNone/>
            </a:pPr>
            <a:r>
              <a:rPr lang="tr-TR" sz="1100" i="1" dirty="0">
                <a:solidFill>
                  <a:srgbClr val="50808E"/>
                </a:solidFill>
                <a:latin typeface="Calibri" pitchFamily="34" charset="0"/>
                <a:ea typeface="Calibri" pitchFamily="34" charset="-122"/>
                <a:cs typeface="Calibri" pitchFamily="34" charset="-120"/>
              </a:rPr>
              <a:t>sahip, grup, mod</a:t>
            </a:r>
            <a:endParaRPr lang="tr-TR" sz="1100" dirty="0"/>
          </a:p>
        </p:txBody>
      </p:sp>
      <p:sp>
        <p:nvSpPr>
          <p:cNvPr id="16" name="Shape 14"/>
          <p:cNvSpPr/>
          <p:nvPr/>
        </p:nvSpPr>
        <p:spPr>
          <a:xfrm>
            <a:off x="2926080" y="3566160"/>
            <a:ext cx="2743200" cy="685800"/>
          </a:xfrm>
          <a:prstGeom prst="roundRect">
            <a:avLst>
              <a:gd name="adj" fmla="val 6667"/>
            </a:avLst>
          </a:prstGeom>
          <a:solidFill>
            <a:srgbClr val="02C39A"/>
          </a:solidFill>
          <a:ln/>
        </p:spPr>
      </p:sp>
      <p:sp>
        <p:nvSpPr>
          <p:cNvPr id="17" name="Text 15"/>
          <p:cNvSpPr txBox="1"/>
          <p:nvPr/>
        </p:nvSpPr>
        <p:spPr>
          <a:xfrm>
            <a:off x="2926080" y="3566160"/>
            <a:ext cx="2743200" cy="685800"/>
          </a:xfrm>
          <a:prstGeom prst="rect">
            <a:avLst/>
          </a:prstGeom>
          <a:noFill/>
          <a:ln/>
        </p:spPr>
        <p:txBody>
          <a:bodyPr wrap="square" lIns="38100" tIns="38100" rIns="38100" bIns="38100" rtlCol="0" anchor="ctr"/>
          <a:lstStyle/>
          <a:p>
            <a:pPr algn="ctr" indent="0" marL="0">
              <a:buNone/>
            </a:pPr>
            <a:r>
              <a:rPr lang="tr-TR" sz="1350" b="1" dirty="0">
                <a:solidFill>
                  <a:srgbClr val="212121"/>
                </a:solidFill>
                <a:latin typeface="Calibri" pitchFamily="34" charset="0"/>
                <a:ea typeface="Calibri" pitchFamily="34" charset="-122"/>
                <a:cs typeface="Calibri" pitchFamily="34" charset="-120"/>
              </a:rPr>
              <a:t>izin var → dosya tanımlayıcısı 3</a:t>
            </a:r>
            <a:endParaRPr lang="tr-TR" sz="1350" dirty="0"/>
          </a:p>
        </p:txBody>
      </p:sp>
      <p:sp>
        <p:nvSpPr>
          <p:cNvPr id="18" name="Shape 16"/>
          <p:cNvSpPr/>
          <p:nvPr/>
        </p:nvSpPr>
        <p:spPr>
          <a:xfrm>
            <a:off x="6126480" y="3566160"/>
            <a:ext cx="3291840" cy="685800"/>
          </a:xfrm>
          <a:prstGeom prst="roundRect">
            <a:avLst>
              <a:gd name="adj" fmla="val 6667"/>
            </a:avLst>
          </a:prstGeom>
          <a:solidFill>
            <a:srgbClr val="F3D9D6"/>
          </a:solidFill>
          <a:ln/>
        </p:spPr>
      </p:sp>
      <p:sp>
        <p:nvSpPr>
          <p:cNvPr id="19" name="Text 17"/>
          <p:cNvSpPr txBox="1"/>
          <p:nvPr/>
        </p:nvSpPr>
        <p:spPr>
          <a:xfrm>
            <a:off x="6126480" y="3566160"/>
            <a:ext cx="3291840" cy="685800"/>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izin yok → EACCES hatası</a:t>
            </a:r>
            <a:endParaRPr lang="tr-TR" sz="1400" dirty="0"/>
          </a:p>
          <a:p>
            <a:pPr algn="ctr" indent="0" marL="0">
              <a:buNone/>
            </a:pPr>
            <a:r>
              <a:rPr lang="tr-TR" sz="1150" dirty="0">
                <a:solidFill>
                  <a:srgbClr val="B5453A"/>
                </a:solidFill>
                <a:latin typeface="Calibri" pitchFamily="34" charset="0"/>
                <a:ea typeface="Calibri" pitchFamily="34" charset="-122"/>
                <a:cs typeface="Calibri" pitchFamily="34" charset="-120"/>
              </a:rPr>
              <a:t>kabuk "Permission denied" yazdırır</a:t>
            </a:r>
            <a:endParaRPr lang="tr-TR" sz="1400" dirty="0"/>
          </a:p>
        </p:txBody>
      </p:sp>
      <p:sp>
        <p:nvSpPr>
          <p:cNvPr id="20" name="Shape 18"/>
          <p:cNvSpPr/>
          <p:nvPr/>
        </p:nvSpPr>
        <p:spPr>
          <a:xfrm flipH="1">
            <a:off x="4572000" y="2990088"/>
            <a:ext cx="822960" cy="557784"/>
          </a:xfrm>
          <a:prstGeom prst="line">
            <a:avLst/>
          </a:prstGeom>
          <a:noFill/>
          <a:ln w="22225">
            <a:solidFill>
              <a:srgbClr val="028090"/>
            </a:solidFill>
            <a:prstDash val="solid"/>
            <a:tailEnd type="triangle"/>
          </a:ln>
        </p:spPr>
      </p:sp>
      <p:sp>
        <p:nvSpPr>
          <p:cNvPr id="21" name="Shape 19"/>
          <p:cNvSpPr/>
          <p:nvPr/>
        </p:nvSpPr>
        <p:spPr>
          <a:xfrm>
            <a:off x="6400800" y="2990088"/>
            <a:ext cx="1097280" cy="557784"/>
          </a:xfrm>
          <a:prstGeom prst="line">
            <a:avLst/>
          </a:prstGeom>
          <a:noFill/>
          <a:ln w="22225">
            <a:solidFill>
              <a:srgbClr val="B5453A"/>
            </a:solidFill>
            <a:prstDash val="solid"/>
            <a:tailEnd type="triangle"/>
          </a:ln>
        </p:spPr>
      </p:sp>
      <p:sp>
        <p:nvSpPr>
          <p:cNvPr id="22" name="Shape 20"/>
          <p:cNvSpPr/>
          <p:nvPr/>
        </p:nvSpPr>
        <p:spPr>
          <a:xfrm>
            <a:off x="54864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777240" y="4754880"/>
            <a:ext cx="3093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2. hafta: ikili mod</a:t>
            </a:r>
            <a:endParaRPr lang="tr-TR" sz="1500" dirty="0"/>
          </a:p>
        </p:txBody>
      </p:sp>
      <p:sp>
        <p:nvSpPr>
          <p:cNvPr id="24" name="Text 22"/>
          <p:cNvSpPr txBox="1"/>
          <p:nvPr/>
        </p:nvSpPr>
        <p:spPr>
          <a:xfrm>
            <a:off x="777240" y="5212080"/>
            <a:ext cx="309372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Diske yalnızca çekirdek dokunabilir. Program bir sistem çağrısıyla istemek zorundadır; bu yüzden denetim atlanamaz.</a:t>
            </a:r>
            <a:endParaRPr lang="tr-TR" sz="1300" dirty="0"/>
          </a:p>
        </p:txBody>
      </p:sp>
      <p:sp>
        <p:nvSpPr>
          <p:cNvPr id="25" name="Shape 23"/>
          <p:cNvSpPr/>
          <p:nvPr/>
        </p:nvSpPr>
        <p:spPr>
          <a:xfrm>
            <a:off x="432816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4556760" y="4754880"/>
            <a:ext cx="3093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7. hafta: dosya öznitelikleri</a:t>
            </a:r>
            <a:endParaRPr lang="tr-TR" sz="1500" dirty="0"/>
          </a:p>
        </p:txBody>
      </p:sp>
      <p:sp>
        <p:nvSpPr>
          <p:cNvPr id="27" name="Text 25"/>
          <p:cNvSpPr txBox="1"/>
          <p:nvPr/>
        </p:nvSpPr>
        <p:spPr>
          <a:xfrm>
            <a:off x="4556760" y="5212080"/>
            <a:ext cx="309372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"Koruma", düğümde sahip, grup, boyut ve zaman damgalarının yanında duran bir özniteliktir.</a:t>
            </a:r>
            <a:endParaRPr lang="tr-TR" sz="1300" dirty="0"/>
          </a:p>
        </p:txBody>
      </p:sp>
      <p:sp>
        <p:nvSpPr>
          <p:cNvPr id="28" name="Shape 26"/>
          <p:cNvSpPr/>
          <p:nvPr/>
        </p:nvSpPr>
        <p:spPr>
          <a:xfrm>
            <a:off x="810768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8336280" y="4754880"/>
            <a:ext cx="3093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Bugün: Linux kuralı</a:t>
            </a:r>
            <a:endParaRPr lang="tr-TR" sz="1500" dirty="0"/>
          </a:p>
        </p:txBody>
      </p:sp>
      <p:sp>
        <p:nvSpPr>
          <p:cNvPr id="30" name="Text 28"/>
          <p:cNvSpPr txBox="1"/>
          <p:nvPr/>
        </p:nvSpPr>
        <p:spPr>
          <a:xfrm>
            <a:off x="8336280" y="5212080"/>
            <a:ext cx="309372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Üç sınıf (sahip, grup, diğerleri) × üç hak (okuma, yazma, çalıştırma) = 9 bit.</a:t>
            </a:r>
            <a:endParaRPr lang="tr-TR"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KULLANICILAR VE GRUPLAR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Ben Kimim? Kullanıcılar, Gruplar ve Numaraları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6</a:t>
            </a:r>
            <a:endParaRPr lang="tr-TR" sz="900" dirty="0"/>
          </a:p>
        </p:txBody>
      </p:sp>
      <p:sp>
        <p:nvSpPr>
          <p:cNvPr id="6" name="Shape 4"/>
          <p:cNvSpPr/>
          <p:nvPr/>
        </p:nvSpPr>
        <p:spPr>
          <a:xfrm>
            <a:off x="548640" y="1508760"/>
            <a:ext cx="5669280" cy="1481328"/>
          </a:xfrm>
          <a:prstGeom prst="roundRect">
            <a:avLst>
              <a:gd name="adj" fmla="val 370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5212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Kullanıcı (user)</a:t>
            </a:r>
            <a:endParaRPr lang="tr-TR" sz="1500" dirty="0"/>
          </a:p>
        </p:txBody>
      </p:sp>
      <p:sp>
        <p:nvSpPr>
          <p:cNvPr id="8" name="Text 6"/>
          <p:cNvSpPr txBox="1"/>
          <p:nvPr/>
        </p:nvSpPr>
        <p:spPr>
          <a:xfrm>
            <a:off x="777240" y="2148840"/>
            <a:ext cx="5212080" cy="704088"/>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Bir oturum adı ve bir numara, yani UID. Çekirdek yalnızca numarayı saklar ve karşılaştırır. root (UID 0) süper kullanıcıdır; sistem kullanıcıları hizmetleri çalıştırır.</a:t>
            </a:r>
            <a:endParaRPr lang="tr-TR" sz="1300" dirty="0"/>
          </a:p>
        </p:txBody>
      </p:sp>
      <p:sp>
        <p:nvSpPr>
          <p:cNvPr id="9" name="Shape 7"/>
          <p:cNvSpPr/>
          <p:nvPr/>
        </p:nvSpPr>
        <p:spPr>
          <a:xfrm>
            <a:off x="548640" y="3154680"/>
            <a:ext cx="5669280" cy="1481328"/>
          </a:xfrm>
          <a:prstGeom prst="roundRect">
            <a:avLst>
              <a:gd name="adj" fmla="val 370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3337560"/>
            <a:ext cx="5212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Grup (group)</a:t>
            </a:r>
            <a:endParaRPr lang="tr-TR" sz="1500" dirty="0"/>
          </a:p>
        </p:txBody>
      </p:sp>
      <p:sp>
        <p:nvSpPr>
          <p:cNvPr id="11" name="Text 9"/>
          <p:cNvSpPr txBox="1"/>
          <p:nvPr/>
        </p:nvSpPr>
        <p:spPr>
          <a:xfrm>
            <a:off x="777240" y="3794760"/>
            <a:ext cx="5212080" cy="704088"/>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Numarası (GID) olan, adlandırılmış bir kullanıcı kümesi. Her kullanıcının bir birincil grubu vardır, ek gruplara da üye olabilir. Ubuntu her kullanıcıya aynı adlı özel bir grup verir.</a:t>
            </a:r>
            <a:endParaRPr lang="tr-TR" sz="1300" dirty="0"/>
          </a:p>
        </p:txBody>
      </p:sp>
      <p:sp>
        <p:nvSpPr>
          <p:cNvPr id="12" name="Shape 10"/>
          <p:cNvSpPr/>
          <p:nvPr/>
        </p:nvSpPr>
        <p:spPr>
          <a:xfrm>
            <a:off x="548640" y="4800600"/>
            <a:ext cx="566928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4983480"/>
            <a:ext cx="5212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 sürecin kimlik bilgileri</a:t>
            </a:r>
            <a:endParaRPr lang="tr-TR" sz="1500" dirty="0"/>
          </a:p>
        </p:txBody>
      </p:sp>
      <p:sp>
        <p:nvSpPr>
          <p:cNvPr id="14" name="Text 12"/>
          <p:cNvSpPr txBox="1"/>
          <p:nvPr/>
        </p:nvSpPr>
        <p:spPr>
          <a:xfrm>
            <a:off x="777240" y="5440680"/>
            <a:ext cx="5212080" cy="68580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Her süreç, onu başlatan kişinin UID ve GID'lerini taşır. Yeni bir dosya sizin UID'nizi ve birincil GID'nizi alır.</a:t>
            </a:r>
            <a:endParaRPr lang="tr-TR" sz="1350" dirty="0"/>
          </a:p>
        </p:txBody>
      </p:sp>
      <p:sp>
        <p:nvSpPr>
          <p:cNvPr id="15" name="Shape 13"/>
          <p:cNvSpPr/>
          <p:nvPr/>
        </p:nvSpPr>
        <p:spPr>
          <a:xfrm>
            <a:off x="6446520" y="1508760"/>
            <a:ext cx="5212080" cy="2743200"/>
          </a:xfrm>
          <a:prstGeom prst="roundRect">
            <a:avLst>
              <a:gd name="adj" fmla="val 1667"/>
            </a:avLst>
          </a:prstGeom>
          <a:solidFill>
            <a:srgbClr val="212121"/>
          </a:solidFill>
          <a:ln/>
        </p:spPr>
      </p:sp>
      <p:sp>
        <p:nvSpPr>
          <p:cNvPr id="16" name="Text 14"/>
          <p:cNvSpPr txBox="1"/>
          <p:nvPr/>
        </p:nvSpPr>
        <p:spPr>
          <a:xfrm>
            <a:off x="6629400" y="1618488"/>
            <a:ext cx="4846320" cy="252374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whoami</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student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id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uid=1011(student) gid=1013(student) groups=1013(student)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groups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student</a:t>
            </a:r>
            <a:endParaRPr lang="tr-TR" sz="1100" dirty="0"/>
          </a:p>
        </p:txBody>
      </p:sp>
      <p:sp>
        <p:nvSpPr>
          <p:cNvPr id="17" name="Shape 15"/>
          <p:cNvSpPr/>
          <p:nvPr/>
        </p:nvSpPr>
        <p:spPr>
          <a:xfrm>
            <a:off x="6446520" y="4434840"/>
            <a:ext cx="52120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6675120" y="4617720"/>
            <a:ext cx="47548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id çıktısını okumak</a:t>
            </a:r>
            <a:endParaRPr lang="tr-TR" sz="1500" dirty="0"/>
          </a:p>
        </p:txBody>
      </p:sp>
      <p:sp>
        <p:nvSpPr>
          <p:cNvPr id="19" name="Text 17"/>
          <p:cNvSpPr txBox="1"/>
          <p:nvPr/>
        </p:nvSpPr>
        <p:spPr>
          <a:xfrm>
            <a:off x="6675120" y="5074920"/>
            <a:ext cx="4754880" cy="105156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uid=1011(student):</a:t>
            </a:r>
            <a:r>
              <a:rPr lang="tr-TR" sz="1350" dirty="0">
                <a:solidFill>
                  <a:srgbClr val="3A464C"/>
                </a:solidFill>
                <a:latin typeface="Calibri" pitchFamily="34" charset="0"/>
                <a:ea typeface="Calibri" pitchFamily="34" charset="-122"/>
                <a:cs typeface="Calibri" pitchFamily="34" charset="-120"/>
              </a:rPr>
              <a:t> numaram ve adım.</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gid=1013(student):</a:t>
            </a:r>
            <a:r>
              <a:rPr lang="tr-TR" sz="1350" dirty="0">
                <a:solidFill>
                  <a:srgbClr val="3A464C"/>
                </a:solidFill>
                <a:latin typeface="Calibri" pitchFamily="34" charset="0"/>
                <a:ea typeface="Calibri" pitchFamily="34" charset="-122"/>
                <a:cs typeface="Calibri" pitchFamily="34" charset="-120"/>
              </a:rPr>
              <a:t> birincil grubum.</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groups=…:</a:t>
            </a:r>
            <a:r>
              <a:rPr lang="tr-TR" sz="1350" dirty="0">
                <a:solidFill>
                  <a:srgbClr val="3A464C"/>
                </a:solidFill>
                <a:latin typeface="Calibri" pitchFamily="34" charset="0"/>
                <a:ea typeface="Calibri" pitchFamily="34" charset="-122"/>
                <a:cs typeface="Calibri" pitchFamily="34" charset="-120"/>
              </a:rPr>
              <a:t> üyesi olduğum bütün gruplar.</a:t>
            </a:r>
            <a:endParaRPr lang="tr-TR"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HESAP DOSYALARI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/etc/passwd ve /etc/group: Her Hesaba Bir Satır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7</a:t>
            </a:r>
            <a:endParaRPr lang="tr-TR" sz="900" dirty="0"/>
          </a:p>
        </p:txBody>
      </p:sp>
      <p:sp>
        <p:nvSpPr>
          <p:cNvPr id="6" name="Text 4"/>
          <p:cNvSpPr txBox="1"/>
          <p:nvPr/>
        </p:nvSpPr>
        <p:spPr>
          <a:xfrm>
            <a:off x="548640" y="1581912"/>
            <a:ext cx="8229600" cy="329184"/>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/etc/passwd  —  iki nokta üst üste ile ayrılmış 7 alan</a:t>
            </a:r>
            <a:endParaRPr lang="tr-TR" sz="1400" dirty="0"/>
          </a:p>
        </p:txBody>
      </p:sp>
      <p:sp>
        <p:nvSpPr>
          <p:cNvPr id="7" name="Shape 5"/>
          <p:cNvSpPr/>
          <p:nvPr/>
        </p:nvSpPr>
        <p:spPr>
          <a:xfrm>
            <a:off x="548640" y="1965960"/>
            <a:ext cx="1417320" cy="502920"/>
          </a:xfrm>
          <a:prstGeom prst="roundRect">
            <a:avLst>
              <a:gd name="adj" fmla="val 9091"/>
            </a:avLst>
          </a:prstGeom>
          <a:solidFill>
            <a:srgbClr val="36454F"/>
          </a:solidFill>
          <a:ln/>
        </p:spPr>
      </p:sp>
      <p:sp>
        <p:nvSpPr>
          <p:cNvPr id="8" name="Text 6"/>
          <p:cNvSpPr txBox="1"/>
          <p:nvPr/>
        </p:nvSpPr>
        <p:spPr>
          <a:xfrm>
            <a:off x="548640" y="1965960"/>
            <a:ext cx="1417320" cy="50292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student</a:t>
            </a:r>
            <a:endParaRPr lang="tr-TR" sz="1500" dirty="0"/>
          </a:p>
        </p:txBody>
      </p:sp>
      <p:sp>
        <p:nvSpPr>
          <p:cNvPr id="9" name="Text 7"/>
          <p:cNvSpPr txBox="1"/>
          <p:nvPr/>
        </p:nvSpPr>
        <p:spPr>
          <a:xfrm>
            <a:off x="502920" y="2514600"/>
            <a:ext cx="150876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1 kullanıcı adı</a:t>
            </a:r>
            <a:endParaRPr lang="tr-TR" sz="1100" dirty="0"/>
          </a:p>
        </p:txBody>
      </p:sp>
      <p:sp>
        <p:nvSpPr>
          <p:cNvPr id="10" name="Text 8"/>
          <p:cNvSpPr txBox="1"/>
          <p:nvPr/>
        </p:nvSpPr>
        <p:spPr>
          <a:xfrm>
            <a:off x="1965960"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11" name="Shape 9"/>
          <p:cNvSpPr/>
          <p:nvPr/>
        </p:nvSpPr>
        <p:spPr>
          <a:xfrm>
            <a:off x="2167128" y="1965960"/>
            <a:ext cx="1188720" cy="502920"/>
          </a:xfrm>
          <a:prstGeom prst="roundRect">
            <a:avLst>
              <a:gd name="adj" fmla="val 9091"/>
            </a:avLst>
          </a:prstGeom>
          <a:solidFill>
            <a:srgbClr val="D7E9E6"/>
          </a:solidFill>
          <a:ln/>
        </p:spPr>
      </p:sp>
      <p:sp>
        <p:nvSpPr>
          <p:cNvPr id="12" name="Text 10"/>
          <p:cNvSpPr txBox="1"/>
          <p:nvPr/>
        </p:nvSpPr>
        <p:spPr>
          <a:xfrm>
            <a:off x="2167128" y="1965960"/>
            <a:ext cx="118872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x</a:t>
            </a:r>
            <a:endParaRPr lang="tr-TR" sz="1500" dirty="0"/>
          </a:p>
        </p:txBody>
      </p:sp>
      <p:sp>
        <p:nvSpPr>
          <p:cNvPr id="13" name="Text 11"/>
          <p:cNvSpPr txBox="1"/>
          <p:nvPr/>
        </p:nvSpPr>
        <p:spPr>
          <a:xfrm>
            <a:off x="2121408" y="2514600"/>
            <a:ext cx="128016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2 parola: x = /etc/shadow'da</a:t>
            </a:r>
            <a:endParaRPr lang="tr-TR" sz="1100" dirty="0"/>
          </a:p>
        </p:txBody>
      </p:sp>
      <p:sp>
        <p:nvSpPr>
          <p:cNvPr id="14" name="Text 12"/>
          <p:cNvSpPr txBox="1"/>
          <p:nvPr/>
        </p:nvSpPr>
        <p:spPr>
          <a:xfrm>
            <a:off x="3355848"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15" name="Shape 13"/>
          <p:cNvSpPr/>
          <p:nvPr/>
        </p:nvSpPr>
        <p:spPr>
          <a:xfrm>
            <a:off x="3557016" y="1965960"/>
            <a:ext cx="1097280" cy="502920"/>
          </a:xfrm>
          <a:prstGeom prst="roundRect">
            <a:avLst>
              <a:gd name="adj" fmla="val 9091"/>
            </a:avLst>
          </a:prstGeom>
          <a:solidFill>
            <a:srgbClr val="D7E9E6"/>
          </a:solidFill>
          <a:ln/>
        </p:spPr>
      </p:sp>
      <p:sp>
        <p:nvSpPr>
          <p:cNvPr id="16" name="Text 14"/>
          <p:cNvSpPr txBox="1"/>
          <p:nvPr/>
        </p:nvSpPr>
        <p:spPr>
          <a:xfrm>
            <a:off x="3557016" y="1965960"/>
            <a:ext cx="109728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1011</a:t>
            </a:r>
            <a:endParaRPr lang="tr-TR" sz="1500" dirty="0"/>
          </a:p>
        </p:txBody>
      </p:sp>
      <p:sp>
        <p:nvSpPr>
          <p:cNvPr id="17" name="Text 15"/>
          <p:cNvSpPr txBox="1"/>
          <p:nvPr/>
        </p:nvSpPr>
        <p:spPr>
          <a:xfrm>
            <a:off x="3511296" y="2514600"/>
            <a:ext cx="118872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3 UID</a:t>
            </a:r>
            <a:endParaRPr lang="tr-TR" sz="1100" dirty="0"/>
          </a:p>
        </p:txBody>
      </p:sp>
      <p:sp>
        <p:nvSpPr>
          <p:cNvPr id="18" name="Text 16"/>
          <p:cNvSpPr txBox="1"/>
          <p:nvPr/>
        </p:nvSpPr>
        <p:spPr>
          <a:xfrm>
            <a:off x="4654296"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19" name="Shape 17"/>
          <p:cNvSpPr/>
          <p:nvPr/>
        </p:nvSpPr>
        <p:spPr>
          <a:xfrm>
            <a:off x="4855464" y="1965960"/>
            <a:ext cx="1188720" cy="502920"/>
          </a:xfrm>
          <a:prstGeom prst="roundRect">
            <a:avLst>
              <a:gd name="adj" fmla="val 9091"/>
            </a:avLst>
          </a:prstGeom>
          <a:solidFill>
            <a:srgbClr val="D7E9E6"/>
          </a:solidFill>
          <a:ln/>
        </p:spPr>
      </p:sp>
      <p:sp>
        <p:nvSpPr>
          <p:cNvPr id="20" name="Text 18"/>
          <p:cNvSpPr txBox="1"/>
          <p:nvPr/>
        </p:nvSpPr>
        <p:spPr>
          <a:xfrm>
            <a:off x="4855464" y="1965960"/>
            <a:ext cx="118872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1013</a:t>
            </a:r>
            <a:endParaRPr lang="tr-TR" sz="1500" dirty="0"/>
          </a:p>
        </p:txBody>
      </p:sp>
      <p:sp>
        <p:nvSpPr>
          <p:cNvPr id="21" name="Text 19"/>
          <p:cNvSpPr txBox="1"/>
          <p:nvPr/>
        </p:nvSpPr>
        <p:spPr>
          <a:xfrm>
            <a:off x="4809744" y="2514600"/>
            <a:ext cx="128016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4 GID (birincil grup)</a:t>
            </a:r>
            <a:endParaRPr lang="tr-TR" sz="1100" dirty="0"/>
          </a:p>
        </p:txBody>
      </p:sp>
      <p:sp>
        <p:nvSpPr>
          <p:cNvPr id="22" name="Text 20"/>
          <p:cNvSpPr txBox="1"/>
          <p:nvPr/>
        </p:nvSpPr>
        <p:spPr>
          <a:xfrm>
            <a:off x="6044184"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23" name="Shape 21"/>
          <p:cNvSpPr/>
          <p:nvPr/>
        </p:nvSpPr>
        <p:spPr>
          <a:xfrm>
            <a:off x="6245352" y="1965960"/>
            <a:ext cx="1188720" cy="502920"/>
          </a:xfrm>
          <a:prstGeom prst="roundRect">
            <a:avLst>
              <a:gd name="adj" fmla="val 9091"/>
            </a:avLst>
          </a:prstGeom>
          <a:solidFill>
            <a:srgbClr val="D7E9E6"/>
          </a:solidFill>
          <a:ln/>
        </p:spPr>
      </p:sp>
      <p:sp>
        <p:nvSpPr>
          <p:cNvPr id="24" name="Text 22"/>
          <p:cNvSpPr txBox="1"/>
          <p:nvPr/>
        </p:nvSpPr>
        <p:spPr>
          <a:xfrm>
            <a:off x="6245352" y="1965960"/>
            <a:ext cx="1188720" cy="502920"/>
          </a:xfrm>
          <a:prstGeom prst="rect">
            <a:avLst/>
          </a:prstGeom>
          <a:noFill/>
          <a:ln/>
        </p:spPr>
        <p:txBody>
          <a:bodyPr wrap="square" lIns="38100" tIns="38100" rIns="38100" bIns="38100" rtlCol="0" anchor="ctr"/>
          <a:lstStyle/>
          <a:p>
            <a:pPr algn="ctr" indent="0" marL="0">
              <a:buNone/>
            </a:pPr>
            <a:r>
              <a:rPr lang="tr-TR" sz="1500" dirty="0">
                <a:solidFill>
                  <a:srgbClr val="6B7679"/>
                </a:solidFill>
                <a:latin typeface="Consolas" pitchFamily="34" charset="0"/>
                <a:ea typeface="Consolas" pitchFamily="34" charset="-122"/>
                <a:cs typeface="Consolas" pitchFamily="34" charset="-120"/>
              </a:rPr>
              <a:t>(boş)</a:t>
            </a:r>
            <a:endParaRPr lang="tr-TR" sz="1500" dirty="0"/>
          </a:p>
        </p:txBody>
      </p:sp>
      <p:sp>
        <p:nvSpPr>
          <p:cNvPr id="25" name="Text 23"/>
          <p:cNvSpPr txBox="1"/>
          <p:nvPr/>
        </p:nvSpPr>
        <p:spPr>
          <a:xfrm>
            <a:off x="6199632" y="2514600"/>
            <a:ext cx="128016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5 açıklama (tam ad)</a:t>
            </a:r>
            <a:endParaRPr lang="tr-TR" sz="1100" dirty="0"/>
          </a:p>
        </p:txBody>
      </p:sp>
      <p:sp>
        <p:nvSpPr>
          <p:cNvPr id="26" name="Text 24"/>
          <p:cNvSpPr txBox="1"/>
          <p:nvPr/>
        </p:nvSpPr>
        <p:spPr>
          <a:xfrm>
            <a:off x="7434072"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27" name="Shape 25"/>
          <p:cNvSpPr/>
          <p:nvPr/>
        </p:nvSpPr>
        <p:spPr>
          <a:xfrm>
            <a:off x="7635240" y="1965960"/>
            <a:ext cx="2103120" cy="502920"/>
          </a:xfrm>
          <a:prstGeom prst="roundRect">
            <a:avLst>
              <a:gd name="adj" fmla="val 9091"/>
            </a:avLst>
          </a:prstGeom>
          <a:solidFill>
            <a:srgbClr val="D7E9E6"/>
          </a:solidFill>
          <a:ln/>
        </p:spPr>
      </p:sp>
      <p:sp>
        <p:nvSpPr>
          <p:cNvPr id="28" name="Text 26"/>
          <p:cNvSpPr txBox="1"/>
          <p:nvPr/>
        </p:nvSpPr>
        <p:spPr>
          <a:xfrm>
            <a:off x="7635240" y="1965960"/>
            <a:ext cx="210312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/home/student</a:t>
            </a:r>
            <a:endParaRPr lang="tr-TR" sz="1500" dirty="0"/>
          </a:p>
        </p:txBody>
      </p:sp>
      <p:sp>
        <p:nvSpPr>
          <p:cNvPr id="29" name="Text 27"/>
          <p:cNvSpPr txBox="1"/>
          <p:nvPr/>
        </p:nvSpPr>
        <p:spPr>
          <a:xfrm>
            <a:off x="7589520" y="2514600"/>
            <a:ext cx="219456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6 ev dizini</a:t>
            </a:r>
            <a:endParaRPr lang="tr-TR" sz="1100" dirty="0"/>
          </a:p>
        </p:txBody>
      </p:sp>
      <p:sp>
        <p:nvSpPr>
          <p:cNvPr id="30" name="Text 28"/>
          <p:cNvSpPr txBox="1"/>
          <p:nvPr/>
        </p:nvSpPr>
        <p:spPr>
          <a:xfrm>
            <a:off x="9738360" y="196596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31" name="Shape 29"/>
          <p:cNvSpPr/>
          <p:nvPr/>
        </p:nvSpPr>
        <p:spPr>
          <a:xfrm>
            <a:off x="9939528" y="1965960"/>
            <a:ext cx="1600200" cy="502920"/>
          </a:xfrm>
          <a:prstGeom prst="roundRect">
            <a:avLst>
              <a:gd name="adj" fmla="val 9091"/>
            </a:avLst>
          </a:prstGeom>
          <a:solidFill>
            <a:srgbClr val="D7E9E6"/>
          </a:solidFill>
          <a:ln/>
        </p:spPr>
      </p:sp>
      <p:sp>
        <p:nvSpPr>
          <p:cNvPr id="32" name="Text 30"/>
          <p:cNvSpPr txBox="1"/>
          <p:nvPr/>
        </p:nvSpPr>
        <p:spPr>
          <a:xfrm>
            <a:off x="9939528" y="1965960"/>
            <a:ext cx="160020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/bin/bash</a:t>
            </a:r>
            <a:endParaRPr lang="tr-TR" sz="1500" dirty="0"/>
          </a:p>
        </p:txBody>
      </p:sp>
      <p:sp>
        <p:nvSpPr>
          <p:cNvPr id="33" name="Text 31"/>
          <p:cNvSpPr txBox="1"/>
          <p:nvPr/>
        </p:nvSpPr>
        <p:spPr>
          <a:xfrm>
            <a:off x="9893808" y="2514600"/>
            <a:ext cx="169164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7 oturum kabuğu</a:t>
            </a:r>
            <a:endParaRPr lang="tr-TR" sz="1100" dirty="0"/>
          </a:p>
        </p:txBody>
      </p:sp>
      <p:sp>
        <p:nvSpPr>
          <p:cNvPr id="34" name="Text 32"/>
          <p:cNvSpPr txBox="1"/>
          <p:nvPr/>
        </p:nvSpPr>
        <p:spPr>
          <a:xfrm>
            <a:off x="548640" y="3227832"/>
            <a:ext cx="8229600" cy="329184"/>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/etc/group  —  4 alan</a:t>
            </a:r>
            <a:endParaRPr lang="tr-TR" sz="1400" dirty="0"/>
          </a:p>
        </p:txBody>
      </p:sp>
      <p:sp>
        <p:nvSpPr>
          <p:cNvPr id="35" name="Shape 33"/>
          <p:cNvSpPr/>
          <p:nvPr/>
        </p:nvSpPr>
        <p:spPr>
          <a:xfrm>
            <a:off x="548640" y="3611880"/>
            <a:ext cx="1600200" cy="502920"/>
          </a:xfrm>
          <a:prstGeom prst="roundRect">
            <a:avLst>
              <a:gd name="adj" fmla="val 9091"/>
            </a:avLst>
          </a:prstGeom>
          <a:solidFill>
            <a:srgbClr val="36454F"/>
          </a:solidFill>
          <a:ln/>
        </p:spPr>
      </p:sp>
      <p:sp>
        <p:nvSpPr>
          <p:cNvPr id="36" name="Text 34"/>
          <p:cNvSpPr txBox="1"/>
          <p:nvPr/>
        </p:nvSpPr>
        <p:spPr>
          <a:xfrm>
            <a:off x="548640" y="3611880"/>
            <a:ext cx="1600200" cy="50292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students</a:t>
            </a:r>
            <a:endParaRPr lang="tr-TR" sz="1500" dirty="0"/>
          </a:p>
        </p:txBody>
      </p:sp>
      <p:sp>
        <p:nvSpPr>
          <p:cNvPr id="37" name="Text 35"/>
          <p:cNvSpPr txBox="1"/>
          <p:nvPr/>
        </p:nvSpPr>
        <p:spPr>
          <a:xfrm>
            <a:off x="502920" y="4160520"/>
            <a:ext cx="169164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1 grup adı</a:t>
            </a:r>
            <a:endParaRPr lang="tr-TR" sz="1100" dirty="0"/>
          </a:p>
        </p:txBody>
      </p:sp>
      <p:sp>
        <p:nvSpPr>
          <p:cNvPr id="38" name="Text 36"/>
          <p:cNvSpPr txBox="1"/>
          <p:nvPr/>
        </p:nvSpPr>
        <p:spPr>
          <a:xfrm>
            <a:off x="2148840" y="361188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39" name="Shape 37"/>
          <p:cNvSpPr/>
          <p:nvPr/>
        </p:nvSpPr>
        <p:spPr>
          <a:xfrm>
            <a:off x="2350008" y="3611880"/>
            <a:ext cx="1325880" cy="502920"/>
          </a:xfrm>
          <a:prstGeom prst="roundRect">
            <a:avLst>
              <a:gd name="adj" fmla="val 9091"/>
            </a:avLst>
          </a:prstGeom>
          <a:solidFill>
            <a:srgbClr val="D7E9E6"/>
          </a:solidFill>
          <a:ln/>
        </p:spPr>
      </p:sp>
      <p:sp>
        <p:nvSpPr>
          <p:cNvPr id="40" name="Text 38"/>
          <p:cNvSpPr txBox="1"/>
          <p:nvPr/>
        </p:nvSpPr>
        <p:spPr>
          <a:xfrm>
            <a:off x="2350008" y="3611880"/>
            <a:ext cx="132588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x</a:t>
            </a:r>
            <a:endParaRPr lang="tr-TR" sz="1500" dirty="0"/>
          </a:p>
        </p:txBody>
      </p:sp>
      <p:sp>
        <p:nvSpPr>
          <p:cNvPr id="41" name="Text 39"/>
          <p:cNvSpPr txBox="1"/>
          <p:nvPr/>
        </p:nvSpPr>
        <p:spPr>
          <a:xfrm>
            <a:off x="2304288" y="4160520"/>
            <a:ext cx="141732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2 parola (kullanılmaz)</a:t>
            </a:r>
            <a:endParaRPr lang="tr-TR" sz="1100" dirty="0"/>
          </a:p>
        </p:txBody>
      </p:sp>
      <p:sp>
        <p:nvSpPr>
          <p:cNvPr id="42" name="Text 40"/>
          <p:cNvSpPr txBox="1"/>
          <p:nvPr/>
        </p:nvSpPr>
        <p:spPr>
          <a:xfrm>
            <a:off x="3675888" y="361188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43" name="Shape 41"/>
          <p:cNvSpPr/>
          <p:nvPr/>
        </p:nvSpPr>
        <p:spPr>
          <a:xfrm>
            <a:off x="3877056" y="3611880"/>
            <a:ext cx="1097280" cy="502920"/>
          </a:xfrm>
          <a:prstGeom prst="roundRect">
            <a:avLst>
              <a:gd name="adj" fmla="val 9091"/>
            </a:avLst>
          </a:prstGeom>
          <a:solidFill>
            <a:srgbClr val="D7E9E6"/>
          </a:solidFill>
          <a:ln/>
        </p:spPr>
      </p:sp>
      <p:sp>
        <p:nvSpPr>
          <p:cNvPr id="44" name="Text 42"/>
          <p:cNvSpPr txBox="1"/>
          <p:nvPr/>
        </p:nvSpPr>
        <p:spPr>
          <a:xfrm>
            <a:off x="3877056" y="3611880"/>
            <a:ext cx="1097280" cy="5029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1010</a:t>
            </a:r>
            <a:endParaRPr lang="tr-TR" sz="1500" dirty="0"/>
          </a:p>
        </p:txBody>
      </p:sp>
      <p:sp>
        <p:nvSpPr>
          <p:cNvPr id="45" name="Text 43"/>
          <p:cNvSpPr txBox="1"/>
          <p:nvPr/>
        </p:nvSpPr>
        <p:spPr>
          <a:xfrm>
            <a:off x="3831336" y="4160520"/>
            <a:ext cx="118872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3 GID</a:t>
            </a:r>
            <a:endParaRPr lang="tr-TR" sz="1100" dirty="0"/>
          </a:p>
        </p:txBody>
      </p:sp>
      <p:sp>
        <p:nvSpPr>
          <p:cNvPr id="46" name="Text 44"/>
          <p:cNvSpPr txBox="1"/>
          <p:nvPr/>
        </p:nvSpPr>
        <p:spPr>
          <a:xfrm>
            <a:off x="4974336" y="3611880"/>
            <a:ext cx="201168" cy="502920"/>
          </a:xfrm>
          <a:prstGeom prst="rect">
            <a:avLst/>
          </a:prstGeom>
          <a:noFill/>
          <a:ln/>
        </p:spPr>
        <p:txBody>
          <a:bodyPr wrap="square" lIns="0" tIns="0" rIns="0" bIns="0" rtlCol="0" anchor="ctr"/>
          <a:lstStyle/>
          <a:p>
            <a:pPr algn="ctr" indent="0" marL="0">
              <a:buNone/>
            </a:pPr>
            <a:r>
              <a:rPr lang="tr-TR" sz="2000" b="1" dirty="0">
                <a:solidFill>
                  <a:srgbClr val="B5453A"/>
                </a:solidFill>
                <a:latin typeface="Consolas" pitchFamily="34" charset="0"/>
                <a:ea typeface="Consolas" pitchFamily="34" charset="-122"/>
                <a:cs typeface="Consolas" pitchFamily="34" charset="-120"/>
              </a:rPr>
              <a:t>:</a:t>
            </a:r>
            <a:endParaRPr lang="tr-TR" sz="2000" dirty="0"/>
          </a:p>
        </p:txBody>
      </p:sp>
      <p:sp>
        <p:nvSpPr>
          <p:cNvPr id="47" name="Shape 45"/>
          <p:cNvSpPr/>
          <p:nvPr/>
        </p:nvSpPr>
        <p:spPr>
          <a:xfrm>
            <a:off x="5175504" y="3611880"/>
            <a:ext cx="2377440" cy="502920"/>
          </a:xfrm>
          <a:prstGeom prst="roundRect">
            <a:avLst>
              <a:gd name="adj" fmla="val 9091"/>
            </a:avLst>
          </a:prstGeom>
          <a:solidFill>
            <a:srgbClr val="D7E9E6"/>
          </a:solidFill>
          <a:ln/>
        </p:spPr>
      </p:sp>
      <p:sp>
        <p:nvSpPr>
          <p:cNvPr id="48" name="Text 46"/>
          <p:cNvSpPr txBox="1"/>
          <p:nvPr/>
        </p:nvSpPr>
        <p:spPr>
          <a:xfrm>
            <a:off x="5175504" y="3611880"/>
            <a:ext cx="2377440" cy="502920"/>
          </a:xfrm>
          <a:prstGeom prst="rect">
            <a:avLst/>
          </a:prstGeom>
          <a:noFill/>
          <a:ln/>
        </p:spPr>
        <p:txBody>
          <a:bodyPr wrap="square" lIns="38100" tIns="38100" rIns="38100" bIns="38100" rtlCol="0" anchor="ctr"/>
          <a:lstStyle/>
          <a:p>
            <a:pPr algn="ctr" indent="0" marL="0">
              <a:buNone/>
            </a:pPr>
            <a:r>
              <a:rPr lang="tr-TR" sz="1500" dirty="0">
                <a:solidFill>
                  <a:srgbClr val="6B7679"/>
                </a:solidFill>
                <a:latin typeface="Consolas" pitchFamily="34" charset="0"/>
                <a:ea typeface="Consolas" pitchFamily="34" charset="-122"/>
                <a:cs typeface="Consolas" pitchFamily="34" charset="-120"/>
              </a:rPr>
              <a:t>(boş)</a:t>
            </a:r>
            <a:endParaRPr lang="tr-TR" sz="1500" dirty="0"/>
          </a:p>
        </p:txBody>
      </p:sp>
      <p:sp>
        <p:nvSpPr>
          <p:cNvPr id="49" name="Text 47"/>
          <p:cNvSpPr txBox="1"/>
          <p:nvPr/>
        </p:nvSpPr>
        <p:spPr>
          <a:xfrm>
            <a:off x="5129784" y="4160520"/>
            <a:ext cx="2468880" cy="50292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4 üyeler, virgülle ayrılmış</a:t>
            </a:r>
            <a:endParaRPr lang="tr-TR" sz="1100" dirty="0"/>
          </a:p>
        </p:txBody>
      </p:sp>
      <p:sp>
        <p:nvSpPr>
          <p:cNvPr id="50" name="Shape 48"/>
          <p:cNvSpPr/>
          <p:nvPr/>
        </p:nvSpPr>
        <p:spPr>
          <a:xfrm>
            <a:off x="548640" y="4754880"/>
            <a:ext cx="6949440" cy="1508760"/>
          </a:xfrm>
          <a:prstGeom prst="roundRect">
            <a:avLst>
              <a:gd name="adj" fmla="val 3030"/>
            </a:avLst>
          </a:prstGeom>
          <a:solidFill>
            <a:srgbClr val="212121"/>
          </a:solidFill>
          <a:ln/>
        </p:spPr>
      </p:sp>
      <p:sp>
        <p:nvSpPr>
          <p:cNvPr id="51" name="Text 49"/>
          <p:cNvSpPr txBox="1"/>
          <p:nvPr/>
        </p:nvSpPr>
        <p:spPr>
          <a:xfrm>
            <a:off x="731520" y="4864608"/>
            <a:ext cx="6583680" cy="128930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 /etc/passwd /etc/group /etc/shadow</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-rw-r--r-- 1 root root    809 Oct 12 11:50 /etc/group</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-rw-r--r-- 1 root root   1598 Oct 12 11:50 /etc/passwd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-rw-r----- 1 root shadow  884 Oct 12 11:50 /etc/shadow</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cat /etc/shadow</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cat: /etc/shadow: Permission denied</a:t>
            </a:r>
            <a:endParaRPr lang="tr-TR" sz="1200" dirty="0"/>
          </a:p>
        </p:txBody>
      </p:sp>
      <p:sp>
        <p:nvSpPr>
          <p:cNvPr id="52" name="Shape 50"/>
          <p:cNvSpPr/>
          <p:nvPr/>
        </p:nvSpPr>
        <p:spPr>
          <a:xfrm>
            <a:off x="7726680" y="3246120"/>
            <a:ext cx="393192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53" name="Text 51"/>
          <p:cNvSpPr txBox="1"/>
          <p:nvPr/>
        </p:nvSpPr>
        <p:spPr>
          <a:xfrm>
            <a:off x="7955280" y="342900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iki dosya?</a:t>
            </a:r>
            <a:endParaRPr lang="tr-TR" sz="1500" dirty="0"/>
          </a:p>
        </p:txBody>
      </p:sp>
      <p:sp>
        <p:nvSpPr>
          <p:cNvPr id="54" name="Text 52"/>
          <p:cNvSpPr txBox="1"/>
          <p:nvPr/>
        </p:nvSpPr>
        <p:spPr>
          <a:xfrm>
            <a:off x="7955280" y="3886200"/>
            <a:ext cx="3474720" cy="22402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/etc/passwd dosyasını herkes okuyabilmelidir (ls, UID'leri adlara çevirmek için ona ihtiyaç duyar).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Parola özetleri /etc/shadow'da tutulur: yalnızca root ve shadow grubu okuyabilir.</a:t>
            </a:r>
            <a:endParaRPr lang="tr-TR"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LS -L ÇIKTISINI OKUMAK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ls -l Çıktısının Yedi Sütunu</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Laboratuvar klasörümüzde  ls -l docs  çıktısından bir satır: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8</a:t>
            </a:r>
            <a:endParaRPr lang="tr-TR" sz="900" dirty="0"/>
          </a:p>
        </p:txBody>
      </p:sp>
      <p:sp>
        <p:nvSpPr>
          <p:cNvPr id="7" name="Shape 5"/>
          <p:cNvSpPr/>
          <p:nvPr/>
        </p:nvSpPr>
        <p:spPr>
          <a:xfrm>
            <a:off x="594360" y="2103120"/>
            <a:ext cx="2075688" cy="731520"/>
          </a:xfrm>
          <a:prstGeom prst="roundRect">
            <a:avLst>
              <a:gd name="adj" fmla="val 6250"/>
            </a:avLst>
          </a:prstGeom>
          <a:solidFill>
            <a:srgbClr val="36454F"/>
          </a:solidFill>
          <a:ln/>
        </p:spPr>
      </p:sp>
      <p:sp>
        <p:nvSpPr>
          <p:cNvPr id="8" name="Text 6"/>
          <p:cNvSpPr txBox="1"/>
          <p:nvPr/>
        </p:nvSpPr>
        <p:spPr>
          <a:xfrm>
            <a:off x="594360" y="2103120"/>
            <a:ext cx="2075688" cy="73152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-rw-rw-r--</a:t>
            </a:r>
            <a:endParaRPr lang="tr-TR" sz="2000" dirty="0"/>
          </a:p>
        </p:txBody>
      </p:sp>
      <p:sp>
        <p:nvSpPr>
          <p:cNvPr id="9" name="Shape 7"/>
          <p:cNvSpPr/>
          <p:nvPr/>
        </p:nvSpPr>
        <p:spPr>
          <a:xfrm>
            <a:off x="1467612" y="2971800"/>
            <a:ext cx="329184" cy="329184"/>
          </a:xfrm>
          <a:prstGeom prst="ellipse">
            <a:avLst/>
          </a:prstGeom>
          <a:solidFill>
            <a:srgbClr val="028090"/>
          </a:solidFill>
          <a:ln/>
        </p:spPr>
      </p:sp>
      <p:sp>
        <p:nvSpPr>
          <p:cNvPr id="10" name="Text 8"/>
          <p:cNvSpPr txBox="1"/>
          <p:nvPr/>
        </p:nvSpPr>
        <p:spPr>
          <a:xfrm>
            <a:off x="146761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1</a:t>
            </a:r>
            <a:endParaRPr lang="tr-TR" sz="1200" dirty="0"/>
          </a:p>
        </p:txBody>
      </p:sp>
      <p:sp>
        <p:nvSpPr>
          <p:cNvPr id="11" name="Text 9"/>
          <p:cNvSpPr txBox="1"/>
          <p:nvPr/>
        </p:nvSpPr>
        <p:spPr>
          <a:xfrm>
            <a:off x="502920" y="3337560"/>
            <a:ext cx="225856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tür + izinler</a:t>
            </a:r>
            <a:endParaRPr lang="tr-TR" sz="1200" dirty="0"/>
          </a:p>
        </p:txBody>
      </p:sp>
      <p:sp>
        <p:nvSpPr>
          <p:cNvPr id="12" name="Shape 10"/>
          <p:cNvSpPr/>
          <p:nvPr/>
        </p:nvSpPr>
        <p:spPr>
          <a:xfrm>
            <a:off x="2743200" y="2103120"/>
            <a:ext cx="521208" cy="731520"/>
          </a:xfrm>
          <a:prstGeom prst="roundRect">
            <a:avLst>
              <a:gd name="adj" fmla="val 8772"/>
            </a:avLst>
          </a:prstGeom>
          <a:solidFill>
            <a:srgbClr val="F2F2F2"/>
          </a:solidFill>
          <a:ln/>
        </p:spPr>
      </p:sp>
      <p:sp>
        <p:nvSpPr>
          <p:cNvPr id="13" name="Text 11"/>
          <p:cNvSpPr txBox="1"/>
          <p:nvPr/>
        </p:nvSpPr>
        <p:spPr>
          <a:xfrm>
            <a:off x="2743200" y="2103120"/>
            <a:ext cx="52120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1</a:t>
            </a:r>
            <a:endParaRPr lang="tr-TR" sz="2000" dirty="0"/>
          </a:p>
        </p:txBody>
      </p:sp>
      <p:sp>
        <p:nvSpPr>
          <p:cNvPr id="14" name="Shape 12"/>
          <p:cNvSpPr/>
          <p:nvPr/>
        </p:nvSpPr>
        <p:spPr>
          <a:xfrm>
            <a:off x="2839212" y="2971800"/>
            <a:ext cx="329184" cy="329184"/>
          </a:xfrm>
          <a:prstGeom prst="ellipse">
            <a:avLst/>
          </a:prstGeom>
          <a:solidFill>
            <a:srgbClr val="50808E"/>
          </a:solidFill>
          <a:ln/>
        </p:spPr>
      </p:sp>
      <p:sp>
        <p:nvSpPr>
          <p:cNvPr id="15" name="Text 13"/>
          <p:cNvSpPr txBox="1"/>
          <p:nvPr/>
        </p:nvSpPr>
        <p:spPr>
          <a:xfrm>
            <a:off x="283921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2</a:t>
            </a:r>
            <a:endParaRPr lang="tr-TR" sz="1200" dirty="0"/>
          </a:p>
        </p:txBody>
      </p:sp>
      <p:sp>
        <p:nvSpPr>
          <p:cNvPr id="16" name="Text 14"/>
          <p:cNvSpPr txBox="1"/>
          <p:nvPr/>
        </p:nvSpPr>
        <p:spPr>
          <a:xfrm>
            <a:off x="2651760" y="3337560"/>
            <a:ext cx="70408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bağlantı</a:t>
            </a:r>
            <a:endParaRPr lang="tr-TR" sz="1200" dirty="0"/>
          </a:p>
        </p:txBody>
      </p:sp>
      <p:sp>
        <p:nvSpPr>
          <p:cNvPr id="17" name="Shape 15"/>
          <p:cNvSpPr/>
          <p:nvPr/>
        </p:nvSpPr>
        <p:spPr>
          <a:xfrm>
            <a:off x="3337560" y="2103120"/>
            <a:ext cx="1435608" cy="731520"/>
          </a:xfrm>
          <a:prstGeom prst="roundRect">
            <a:avLst>
              <a:gd name="adj" fmla="val 6250"/>
            </a:avLst>
          </a:prstGeom>
          <a:solidFill>
            <a:srgbClr val="F2F2F2"/>
          </a:solidFill>
          <a:ln/>
        </p:spPr>
      </p:sp>
      <p:sp>
        <p:nvSpPr>
          <p:cNvPr id="18" name="Text 16"/>
          <p:cNvSpPr txBox="1"/>
          <p:nvPr/>
        </p:nvSpPr>
        <p:spPr>
          <a:xfrm>
            <a:off x="3337560" y="2103120"/>
            <a:ext cx="143560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student</a:t>
            </a:r>
            <a:endParaRPr lang="tr-TR" sz="2000" dirty="0"/>
          </a:p>
        </p:txBody>
      </p:sp>
      <p:sp>
        <p:nvSpPr>
          <p:cNvPr id="19" name="Shape 17"/>
          <p:cNvSpPr/>
          <p:nvPr/>
        </p:nvSpPr>
        <p:spPr>
          <a:xfrm>
            <a:off x="3890772" y="2971800"/>
            <a:ext cx="329184" cy="329184"/>
          </a:xfrm>
          <a:prstGeom prst="ellipse">
            <a:avLst/>
          </a:prstGeom>
          <a:solidFill>
            <a:srgbClr val="50808E"/>
          </a:solidFill>
          <a:ln/>
        </p:spPr>
      </p:sp>
      <p:sp>
        <p:nvSpPr>
          <p:cNvPr id="20" name="Text 18"/>
          <p:cNvSpPr txBox="1"/>
          <p:nvPr/>
        </p:nvSpPr>
        <p:spPr>
          <a:xfrm>
            <a:off x="389077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3</a:t>
            </a:r>
            <a:endParaRPr lang="tr-TR" sz="1200" dirty="0"/>
          </a:p>
        </p:txBody>
      </p:sp>
      <p:sp>
        <p:nvSpPr>
          <p:cNvPr id="21" name="Text 19"/>
          <p:cNvSpPr txBox="1"/>
          <p:nvPr/>
        </p:nvSpPr>
        <p:spPr>
          <a:xfrm>
            <a:off x="3246120" y="3337560"/>
            <a:ext cx="161848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sahip</a:t>
            </a:r>
            <a:endParaRPr lang="tr-TR" sz="1200" dirty="0"/>
          </a:p>
        </p:txBody>
      </p:sp>
      <p:sp>
        <p:nvSpPr>
          <p:cNvPr id="22" name="Shape 20"/>
          <p:cNvSpPr/>
          <p:nvPr/>
        </p:nvSpPr>
        <p:spPr>
          <a:xfrm>
            <a:off x="4846320" y="2103120"/>
            <a:ext cx="1435608" cy="731520"/>
          </a:xfrm>
          <a:prstGeom prst="roundRect">
            <a:avLst>
              <a:gd name="adj" fmla="val 6250"/>
            </a:avLst>
          </a:prstGeom>
          <a:solidFill>
            <a:srgbClr val="F2F2F2"/>
          </a:solidFill>
          <a:ln/>
        </p:spPr>
      </p:sp>
      <p:sp>
        <p:nvSpPr>
          <p:cNvPr id="23" name="Text 21"/>
          <p:cNvSpPr txBox="1"/>
          <p:nvPr/>
        </p:nvSpPr>
        <p:spPr>
          <a:xfrm>
            <a:off x="4846320" y="2103120"/>
            <a:ext cx="143560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student</a:t>
            </a:r>
            <a:endParaRPr lang="tr-TR" sz="2000" dirty="0"/>
          </a:p>
        </p:txBody>
      </p:sp>
      <p:sp>
        <p:nvSpPr>
          <p:cNvPr id="24" name="Shape 22"/>
          <p:cNvSpPr/>
          <p:nvPr/>
        </p:nvSpPr>
        <p:spPr>
          <a:xfrm>
            <a:off x="5399532" y="2971800"/>
            <a:ext cx="329184" cy="329184"/>
          </a:xfrm>
          <a:prstGeom prst="ellipse">
            <a:avLst/>
          </a:prstGeom>
          <a:solidFill>
            <a:srgbClr val="50808E"/>
          </a:solidFill>
          <a:ln/>
        </p:spPr>
      </p:sp>
      <p:sp>
        <p:nvSpPr>
          <p:cNvPr id="25" name="Text 23"/>
          <p:cNvSpPr txBox="1"/>
          <p:nvPr/>
        </p:nvSpPr>
        <p:spPr>
          <a:xfrm>
            <a:off x="539953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4</a:t>
            </a:r>
            <a:endParaRPr lang="tr-TR" sz="1200" dirty="0"/>
          </a:p>
        </p:txBody>
      </p:sp>
      <p:sp>
        <p:nvSpPr>
          <p:cNvPr id="26" name="Text 24"/>
          <p:cNvSpPr txBox="1"/>
          <p:nvPr/>
        </p:nvSpPr>
        <p:spPr>
          <a:xfrm>
            <a:off x="4754880" y="3337560"/>
            <a:ext cx="161848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grup</a:t>
            </a:r>
            <a:endParaRPr lang="tr-TR" sz="1200" dirty="0"/>
          </a:p>
        </p:txBody>
      </p:sp>
      <p:sp>
        <p:nvSpPr>
          <p:cNvPr id="27" name="Shape 25"/>
          <p:cNvSpPr/>
          <p:nvPr/>
        </p:nvSpPr>
        <p:spPr>
          <a:xfrm>
            <a:off x="6355080" y="2103120"/>
            <a:ext cx="749808" cy="731520"/>
          </a:xfrm>
          <a:prstGeom prst="roundRect">
            <a:avLst>
              <a:gd name="adj" fmla="val 6250"/>
            </a:avLst>
          </a:prstGeom>
          <a:solidFill>
            <a:srgbClr val="F2F2F2"/>
          </a:solidFill>
          <a:ln/>
        </p:spPr>
      </p:sp>
      <p:sp>
        <p:nvSpPr>
          <p:cNvPr id="28" name="Text 26"/>
          <p:cNvSpPr txBox="1"/>
          <p:nvPr/>
        </p:nvSpPr>
        <p:spPr>
          <a:xfrm>
            <a:off x="6355080" y="2103120"/>
            <a:ext cx="74980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578</a:t>
            </a:r>
            <a:endParaRPr lang="tr-TR" sz="2000" dirty="0"/>
          </a:p>
        </p:txBody>
      </p:sp>
      <p:sp>
        <p:nvSpPr>
          <p:cNvPr id="29" name="Shape 27"/>
          <p:cNvSpPr/>
          <p:nvPr/>
        </p:nvSpPr>
        <p:spPr>
          <a:xfrm>
            <a:off x="6565392" y="2971800"/>
            <a:ext cx="329184" cy="329184"/>
          </a:xfrm>
          <a:prstGeom prst="ellipse">
            <a:avLst/>
          </a:prstGeom>
          <a:solidFill>
            <a:srgbClr val="50808E"/>
          </a:solidFill>
          <a:ln/>
        </p:spPr>
      </p:sp>
      <p:sp>
        <p:nvSpPr>
          <p:cNvPr id="30" name="Text 28"/>
          <p:cNvSpPr txBox="1"/>
          <p:nvPr/>
        </p:nvSpPr>
        <p:spPr>
          <a:xfrm>
            <a:off x="656539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5</a:t>
            </a:r>
            <a:endParaRPr lang="tr-TR" sz="1200" dirty="0"/>
          </a:p>
        </p:txBody>
      </p:sp>
      <p:sp>
        <p:nvSpPr>
          <p:cNvPr id="31" name="Text 29"/>
          <p:cNvSpPr txBox="1"/>
          <p:nvPr/>
        </p:nvSpPr>
        <p:spPr>
          <a:xfrm>
            <a:off x="6263640" y="3337560"/>
            <a:ext cx="93268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boyut (bayt)</a:t>
            </a:r>
            <a:endParaRPr lang="tr-TR" sz="1200" dirty="0"/>
          </a:p>
        </p:txBody>
      </p:sp>
      <p:sp>
        <p:nvSpPr>
          <p:cNvPr id="32" name="Shape 30"/>
          <p:cNvSpPr/>
          <p:nvPr/>
        </p:nvSpPr>
        <p:spPr>
          <a:xfrm>
            <a:off x="7178040" y="2103120"/>
            <a:ext cx="2075688" cy="731520"/>
          </a:xfrm>
          <a:prstGeom prst="roundRect">
            <a:avLst>
              <a:gd name="adj" fmla="val 6250"/>
            </a:avLst>
          </a:prstGeom>
          <a:solidFill>
            <a:srgbClr val="F2F2F2"/>
          </a:solidFill>
          <a:ln/>
        </p:spPr>
      </p:sp>
      <p:sp>
        <p:nvSpPr>
          <p:cNvPr id="33" name="Text 31"/>
          <p:cNvSpPr txBox="1"/>
          <p:nvPr/>
        </p:nvSpPr>
        <p:spPr>
          <a:xfrm>
            <a:off x="7178040" y="2103120"/>
            <a:ext cx="207568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Oct 12 19:38</a:t>
            </a:r>
            <a:endParaRPr lang="tr-TR" sz="2000" dirty="0"/>
          </a:p>
        </p:txBody>
      </p:sp>
      <p:sp>
        <p:nvSpPr>
          <p:cNvPr id="34" name="Shape 32"/>
          <p:cNvSpPr/>
          <p:nvPr/>
        </p:nvSpPr>
        <p:spPr>
          <a:xfrm>
            <a:off x="8051292" y="2971800"/>
            <a:ext cx="329184" cy="329184"/>
          </a:xfrm>
          <a:prstGeom prst="ellipse">
            <a:avLst/>
          </a:prstGeom>
          <a:solidFill>
            <a:srgbClr val="50808E"/>
          </a:solidFill>
          <a:ln/>
        </p:spPr>
      </p:sp>
      <p:sp>
        <p:nvSpPr>
          <p:cNvPr id="35" name="Text 33"/>
          <p:cNvSpPr txBox="1"/>
          <p:nvPr/>
        </p:nvSpPr>
        <p:spPr>
          <a:xfrm>
            <a:off x="805129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6</a:t>
            </a:r>
            <a:endParaRPr lang="tr-TR" sz="1200" dirty="0"/>
          </a:p>
        </p:txBody>
      </p:sp>
      <p:sp>
        <p:nvSpPr>
          <p:cNvPr id="36" name="Text 34"/>
          <p:cNvSpPr txBox="1"/>
          <p:nvPr/>
        </p:nvSpPr>
        <p:spPr>
          <a:xfrm>
            <a:off x="7086600" y="3337560"/>
            <a:ext cx="225856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son değişiklik</a:t>
            </a:r>
            <a:endParaRPr lang="tr-TR" sz="1200" dirty="0"/>
          </a:p>
        </p:txBody>
      </p:sp>
      <p:sp>
        <p:nvSpPr>
          <p:cNvPr id="37" name="Shape 35"/>
          <p:cNvSpPr/>
          <p:nvPr/>
        </p:nvSpPr>
        <p:spPr>
          <a:xfrm>
            <a:off x="9326880" y="2103120"/>
            <a:ext cx="1938528" cy="731520"/>
          </a:xfrm>
          <a:prstGeom prst="roundRect">
            <a:avLst>
              <a:gd name="adj" fmla="val 6250"/>
            </a:avLst>
          </a:prstGeom>
          <a:solidFill>
            <a:srgbClr val="F2F2F2"/>
          </a:solidFill>
          <a:ln/>
        </p:spPr>
      </p:sp>
      <p:sp>
        <p:nvSpPr>
          <p:cNvPr id="38" name="Text 36"/>
          <p:cNvSpPr txBox="1"/>
          <p:nvPr/>
        </p:nvSpPr>
        <p:spPr>
          <a:xfrm>
            <a:off x="9326880" y="2103120"/>
            <a:ext cx="1938528" cy="73152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syllabus.txt</a:t>
            </a:r>
            <a:endParaRPr lang="tr-TR" sz="2000" dirty="0"/>
          </a:p>
        </p:txBody>
      </p:sp>
      <p:sp>
        <p:nvSpPr>
          <p:cNvPr id="39" name="Shape 37"/>
          <p:cNvSpPr/>
          <p:nvPr/>
        </p:nvSpPr>
        <p:spPr>
          <a:xfrm>
            <a:off x="10131552" y="2971800"/>
            <a:ext cx="329184" cy="329184"/>
          </a:xfrm>
          <a:prstGeom prst="ellipse">
            <a:avLst/>
          </a:prstGeom>
          <a:solidFill>
            <a:srgbClr val="50808E"/>
          </a:solidFill>
          <a:ln/>
        </p:spPr>
      </p:sp>
      <p:sp>
        <p:nvSpPr>
          <p:cNvPr id="40" name="Text 38"/>
          <p:cNvSpPr txBox="1"/>
          <p:nvPr/>
        </p:nvSpPr>
        <p:spPr>
          <a:xfrm>
            <a:off x="10131552"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7</a:t>
            </a:r>
            <a:endParaRPr lang="tr-TR" sz="1200" dirty="0"/>
          </a:p>
        </p:txBody>
      </p:sp>
      <p:sp>
        <p:nvSpPr>
          <p:cNvPr id="41" name="Text 39"/>
          <p:cNvSpPr txBox="1"/>
          <p:nvPr/>
        </p:nvSpPr>
        <p:spPr>
          <a:xfrm>
            <a:off x="9235440" y="3337560"/>
            <a:ext cx="2121408" cy="32004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ad</a:t>
            </a:r>
            <a:endParaRPr lang="tr-TR" sz="1200" dirty="0"/>
          </a:p>
        </p:txBody>
      </p:sp>
      <p:sp>
        <p:nvSpPr>
          <p:cNvPr id="42" name="Shape 40"/>
          <p:cNvSpPr/>
          <p:nvPr/>
        </p:nvSpPr>
        <p:spPr>
          <a:xfrm>
            <a:off x="548640" y="3931920"/>
            <a:ext cx="54406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43" name="Text 41"/>
          <p:cNvSpPr txBox="1"/>
          <p:nvPr/>
        </p:nvSpPr>
        <p:spPr>
          <a:xfrm>
            <a:off x="777240" y="41148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1–2. sütunlar</a:t>
            </a:r>
            <a:endParaRPr lang="tr-TR" sz="1500" dirty="0"/>
          </a:p>
        </p:txBody>
      </p:sp>
      <p:sp>
        <p:nvSpPr>
          <p:cNvPr id="44" name="Text 42"/>
          <p:cNvSpPr txBox="1"/>
          <p:nvPr/>
        </p:nvSpPr>
        <p:spPr>
          <a:xfrm>
            <a:off x="777240" y="4572000"/>
            <a:ext cx="4983480" cy="155448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1 Mod:</a:t>
            </a:r>
            <a:r>
              <a:rPr lang="tr-TR" sz="1450" dirty="0">
                <a:solidFill>
                  <a:srgbClr val="3A464C"/>
                </a:solidFill>
                <a:latin typeface="Calibri" pitchFamily="34" charset="0"/>
                <a:ea typeface="Calibri" pitchFamily="34" charset="-122"/>
                <a:cs typeface="Calibri" pitchFamily="34" charset="-120"/>
              </a:rPr>
              <a:t> dosya türü + 9 izin biti — bir sonraki slayt.</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2 Bağlantı sayısı:</a:t>
            </a:r>
            <a:r>
              <a:rPr lang="tr-TR" sz="1450" dirty="0">
                <a:solidFill>
                  <a:srgbClr val="3A464C"/>
                </a:solidFill>
                <a:latin typeface="Calibri" pitchFamily="34" charset="0"/>
                <a:ea typeface="Calibri" pitchFamily="34" charset="-122"/>
                <a:cs typeface="Calibri" pitchFamily="34" charset="-120"/>
              </a:rPr>
              <a:t> sabit bağlantı sayısı (7. ve 10. haftalar).</a:t>
            </a:r>
            <a:endParaRPr lang="tr-TR" sz="1450" dirty="0"/>
          </a:p>
        </p:txBody>
      </p:sp>
      <p:sp>
        <p:nvSpPr>
          <p:cNvPr id="45" name="Shape 43"/>
          <p:cNvSpPr/>
          <p:nvPr/>
        </p:nvSpPr>
        <p:spPr>
          <a:xfrm>
            <a:off x="6217920" y="3931920"/>
            <a:ext cx="54406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46" name="Text 44"/>
          <p:cNvSpPr txBox="1"/>
          <p:nvPr/>
        </p:nvSpPr>
        <p:spPr>
          <a:xfrm>
            <a:off x="6446520" y="41148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3–7. sütunlar</a:t>
            </a:r>
            <a:endParaRPr lang="tr-TR" sz="1500" dirty="0"/>
          </a:p>
        </p:txBody>
      </p:sp>
      <p:sp>
        <p:nvSpPr>
          <p:cNvPr id="47" name="Text 45"/>
          <p:cNvSpPr txBox="1"/>
          <p:nvPr/>
        </p:nvSpPr>
        <p:spPr>
          <a:xfrm>
            <a:off x="6446520" y="4572000"/>
            <a:ext cx="4983480" cy="155448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3, 4 Sahip ve grup:</a:t>
            </a:r>
            <a:r>
              <a:rPr lang="tr-TR" sz="1450" dirty="0">
                <a:solidFill>
                  <a:srgbClr val="3A464C"/>
                </a:solidFill>
                <a:latin typeface="Calibri" pitchFamily="34" charset="0"/>
                <a:ea typeface="Calibri" pitchFamily="34" charset="-122"/>
                <a:cs typeface="Calibri" pitchFamily="34" charset="-120"/>
              </a:rPr>
              <a:t> düğüm numaraları saklar; ls adları gösterir.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5–6:</a:t>
            </a:r>
            <a:r>
              <a:rPr lang="tr-TR" sz="1450" dirty="0">
                <a:solidFill>
                  <a:srgbClr val="3A464C"/>
                </a:solidFill>
                <a:latin typeface="Calibri" pitchFamily="34" charset="0"/>
                <a:ea typeface="Calibri" pitchFamily="34" charset="-122"/>
                <a:cs typeface="Calibri" pitchFamily="34" charset="-120"/>
              </a:rPr>
              <a:t> bayt cinsinden boyut ve değişiklik zamanı (mtime).</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7 Ad:</a:t>
            </a:r>
            <a:r>
              <a:rPr lang="tr-TR" sz="1450" dirty="0">
                <a:solidFill>
                  <a:srgbClr val="3A464C"/>
                </a:solidFill>
                <a:latin typeface="Calibri" pitchFamily="34" charset="0"/>
                <a:ea typeface="Calibri" pitchFamily="34" charset="-122"/>
                <a:cs typeface="Calibri" pitchFamily="34" charset="-120"/>
              </a:rPr>
              <a:t> düğümden değil, dizin girdisinden gelir.</a:t>
            </a:r>
            <a:endParaRPr lang="tr-TR"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MOD DİZGESİ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-rwxr-x---  Dizgesini Karakter Karakter Çözmek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9</a:t>
            </a:r>
            <a:endParaRPr lang="tr-TR" sz="900" dirty="0"/>
          </a:p>
        </p:txBody>
      </p:sp>
      <p:sp>
        <p:nvSpPr>
          <p:cNvPr id="6" name="Shape 4"/>
          <p:cNvSpPr/>
          <p:nvPr/>
        </p:nvSpPr>
        <p:spPr>
          <a:xfrm>
            <a:off x="640080" y="2057400"/>
            <a:ext cx="841248" cy="777240"/>
          </a:xfrm>
          <a:prstGeom prst="roundRect">
            <a:avLst>
              <a:gd name="adj" fmla="val 5882"/>
            </a:avLst>
          </a:prstGeom>
          <a:solidFill>
            <a:srgbClr val="36454F"/>
          </a:solidFill>
          <a:ln/>
        </p:spPr>
      </p:sp>
      <p:sp>
        <p:nvSpPr>
          <p:cNvPr id="7" name="Text 5"/>
          <p:cNvSpPr txBox="1"/>
          <p:nvPr/>
        </p:nvSpPr>
        <p:spPr>
          <a:xfrm>
            <a:off x="640080"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FFFFFF"/>
                </a:solidFill>
                <a:latin typeface="Consolas" pitchFamily="34" charset="0"/>
                <a:ea typeface="Consolas" pitchFamily="34" charset="-122"/>
                <a:cs typeface="Consolas" pitchFamily="34" charset="-120"/>
              </a:rPr>
              <a:t>-</a:t>
            </a:r>
            <a:endParaRPr lang="tr-TR" sz="2600" dirty="0"/>
          </a:p>
        </p:txBody>
      </p:sp>
      <p:sp>
        <p:nvSpPr>
          <p:cNvPr id="8" name="Shape 6"/>
          <p:cNvSpPr/>
          <p:nvPr/>
        </p:nvSpPr>
        <p:spPr>
          <a:xfrm>
            <a:off x="1984248" y="2057400"/>
            <a:ext cx="841248" cy="777240"/>
          </a:xfrm>
          <a:prstGeom prst="roundRect">
            <a:avLst>
              <a:gd name="adj" fmla="val 5882"/>
            </a:avLst>
          </a:prstGeom>
          <a:solidFill>
            <a:srgbClr val="02C39A"/>
          </a:solidFill>
          <a:ln/>
        </p:spPr>
      </p:sp>
      <p:sp>
        <p:nvSpPr>
          <p:cNvPr id="9" name="Text 7"/>
          <p:cNvSpPr txBox="1"/>
          <p:nvPr/>
        </p:nvSpPr>
        <p:spPr>
          <a:xfrm>
            <a:off x="1984248"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212121"/>
                </a:solidFill>
                <a:latin typeface="Consolas" pitchFamily="34" charset="0"/>
                <a:ea typeface="Consolas" pitchFamily="34" charset="-122"/>
                <a:cs typeface="Consolas" pitchFamily="34" charset="-120"/>
              </a:rPr>
              <a:t>r</a:t>
            </a:r>
            <a:endParaRPr lang="tr-TR" sz="2600" dirty="0"/>
          </a:p>
        </p:txBody>
      </p:sp>
      <p:sp>
        <p:nvSpPr>
          <p:cNvPr id="10" name="Shape 8"/>
          <p:cNvSpPr/>
          <p:nvPr/>
        </p:nvSpPr>
        <p:spPr>
          <a:xfrm>
            <a:off x="2871216" y="2057400"/>
            <a:ext cx="841248" cy="777240"/>
          </a:xfrm>
          <a:prstGeom prst="roundRect">
            <a:avLst>
              <a:gd name="adj" fmla="val 5882"/>
            </a:avLst>
          </a:prstGeom>
          <a:solidFill>
            <a:srgbClr val="02C39A"/>
          </a:solidFill>
          <a:ln/>
        </p:spPr>
      </p:sp>
      <p:sp>
        <p:nvSpPr>
          <p:cNvPr id="11" name="Text 9"/>
          <p:cNvSpPr txBox="1"/>
          <p:nvPr/>
        </p:nvSpPr>
        <p:spPr>
          <a:xfrm>
            <a:off x="2871216"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212121"/>
                </a:solidFill>
                <a:latin typeface="Consolas" pitchFamily="34" charset="0"/>
                <a:ea typeface="Consolas" pitchFamily="34" charset="-122"/>
                <a:cs typeface="Consolas" pitchFamily="34" charset="-120"/>
              </a:rPr>
              <a:t>w</a:t>
            </a:r>
            <a:endParaRPr lang="tr-TR" sz="2600" dirty="0"/>
          </a:p>
        </p:txBody>
      </p:sp>
      <p:sp>
        <p:nvSpPr>
          <p:cNvPr id="12" name="Shape 10"/>
          <p:cNvSpPr/>
          <p:nvPr/>
        </p:nvSpPr>
        <p:spPr>
          <a:xfrm>
            <a:off x="3758184" y="2057400"/>
            <a:ext cx="841248" cy="777240"/>
          </a:xfrm>
          <a:prstGeom prst="roundRect">
            <a:avLst>
              <a:gd name="adj" fmla="val 5882"/>
            </a:avLst>
          </a:prstGeom>
          <a:solidFill>
            <a:srgbClr val="02C39A"/>
          </a:solidFill>
          <a:ln/>
        </p:spPr>
      </p:sp>
      <p:sp>
        <p:nvSpPr>
          <p:cNvPr id="13" name="Text 11"/>
          <p:cNvSpPr txBox="1"/>
          <p:nvPr/>
        </p:nvSpPr>
        <p:spPr>
          <a:xfrm>
            <a:off x="3758184"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212121"/>
                </a:solidFill>
                <a:latin typeface="Consolas" pitchFamily="34" charset="0"/>
                <a:ea typeface="Consolas" pitchFamily="34" charset="-122"/>
                <a:cs typeface="Consolas" pitchFamily="34" charset="-120"/>
              </a:rPr>
              <a:t>x</a:t>
            </a:r>
            <a:endParaRPr lang="tr-TR" sz="2600" dirty="0"/>
          </a:p>
        </p:txBody>
      </p:sp>
      <p:sp>
        <p:nvSpPr>
          <p:cNvPr id="14" name="Shape 12"/>
          <p:cNvSpPr/>
          <p:nvPr/>
        </p:nvSpPr>
        <p:spPr>
          <a:xfrm>
            <a:off x="4892040" y="2057400"/>
            <a:ext cx="841248" cy="777240"/>
          </a:xfrm>
          <a:prstGeom prst="roundRect">
            <a:avLst>
              <a:gd name="adj" fmla="val 5882"/>
            </a:avLst>
          </a:prstGeom>
          <a:solidFill>
            <a:srgbClr val="7FB8C2"/>
          </a:solidFill>
          <a:ln/>
        </p:spPr>
      </p:sp>
      <p:sp>
        <p:nvSpPr>
          <p:cNvPr id="15" name="Text 13"/>
          <p:cNvSpPr txBox="1"/>
          <p:nvPr/>
        </p:nvSpPr>
        <p:spPr>
          <a:xfrm>
            <a:off x="4892040"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212121"/>
                </a:solidFill>
                <a:latin typeface="Consolas" pitchFamily="34" charset="0"/>
                <a:ea typeface="Consolas" pitchFamily="34" charset="-122"/>
                <a:cs typeface="Consolas" pitchFamily="34" charset="-120"/>
              </a:rPr>
              <a:t>r</a:t>
            </a:r>
            <a:endParaRPr lang="tr-TR" sz="2600" dirty="0"/>
          </a:p>
        </p:txBody>
      </p:sp>
      <p:sp>
        <p:nvSpPr>
          <p:cNvPr id="16" name="Shape 14"/>
          <p:cNvSpPr/>
          <p:nvPr/>
        </p:nvSpPr>
        <p:spPr>
          <a:xfrm>
            <a:off x="5779008" y="2057400"/>
            <a:ext cx="841248" cy="777240"/>
          </a:xfrm>
          <a:prstGeom prst="roundRect">
            <a:avLst>
              <a:gd name="adj" fmla="val 5882"/>
            </a:avLst>
          </a:prstGeom>
          <a:solidFill>
            <a:srgbClr val="E4E8E9"/>
          </a:solidFill>
          <a:ln/>
        </p:spPr>
      </p:sp>
      <p:sp>
        <p:nvSpPr>
          <p:cNvPr id="17" name="Text 15"/>
          <p:cNvSpPr txBox="1"/>
          <p:nvPr/>
        </p:nvSpPr>
        <p:spPr>
          <a:xfrm>
            <a:off x="5779008"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9AA5A8"/>
                </a:solidFill>
                <a:latin typeface="Consolas" pitchFamily="34" charset="0"/>
                <a:ea typeface="Consolas" pitchFamily="34" charset="-122"/>
                <a:cs typeface="Consolas" pitchFamily="34" charset="-120"/>
              </a:rPr>
              <a:t>-</a:t>
            </a:r>
            <a:endParaRPr lang="tr-TR" sz="2600" dirty="0"/>
          </a:p>
        </p:txBody>
      </p:sp>
      <p:sp>
        <p:nvSpPr>
          <p:cNvPr id="18" name="Shape 16"/>
          <p:cNvSpPr/>
          <p:nvPr/>
        </p:nvSpPr>
        <p:spPr>
          <a:xfrm>
            <a:off x="6665976" y="2057400"/>
            <a:ext cx="841248" cy="777240"/>
          </a:xfrm>
          <a:prstGeom prst="roundRect">
            <a:avLst>
              <a:gd name="adj" fmla="val 5882"/>
            </a:avLst>
          </a:prstGeom>
          <a:solidFill>
            <a:srgbClr val="7FB8C2"/>
          </a:solidFill>
          <a:ln/>
        </p:spPr>
      </p:sp>
      <p:sp>
        <p:nvSpPr>
          <p:cNvPr id="19" name="Text 17"/>
          <p:cNvSpPr txBox="1"/>
          <p:nvPr/>
        </p:nvSpPr>
        <p:spPr>
          <a:xfrm>
            <a:off x="6665976"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212121"/>
                </a:solidFill>
                <a:latin typeface="Consolas" pitchFamily="34" charset="0"/>
                <a:ea typeface="Consolas" pitchFamily="34" charset="-122"/>
                <a:cs typeface="Consolas" pitchFamily="34" charset="-120"/>
              </a:rPr>
              <a:t>x</a:t>
            </a:r>
            <a:endParaRPr lang="tr-TR" sz="2600" dirty="0"/>
          </a:p>
        </p:txBody>
      </p:sp>
      <p:sp>
        <p:nvSpPr>
          <p:cNvPr id="20" name="Shape 18"/>
          <p:cNvSpPr/>
          <p:nvPr/>
        </p:nvSpPr>
        <p:spPr>
          <a:xfrm>
            <a:off x="7799832" y="2057400"/>
            <a:ext cx="841248" cy="777240"/>
          </a:xfrm>
          <a:prstGeom prst="roundRect">
            <a:avLst>
              <a:gd name="adj" fmla="val 5882"/>
            </a:avLst>
          </a:prstGeom>
          <a:solidFill>
            <a:srgbClr val="E4E8E9"/>
          </a:solidFill>
          <a:ln/>
        </p:spPr>
      </p:sp>
      <p:sp>
        <p:nvSpPr>
          <p:cNvPr id="21" name="Text 19"/>
          <p:cNvSpPr txBox="1"/>
          <p:nvPr/>
        </p:nvSpPr>
        <p:spPr>
          <a:xfrm>
            <a:off x="7799832"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9AA5A8"/>
                </a:solidFill>
                <a:latin typeface="Consolas" pitchFamily="34" charset="0"/>
                <a:ea typeface="Consolas" pitchFamily="34" charset="-122"/>
                <a:cs typeface="Consolas" pitchFamily="34" charset="-120"/>
              </a:rPr>
              <a:t>-</a:t>
            </a:r>
            <a:endParaRPr lang="tr-TR" sz="2600" dirty="0"/>
          </a:p>
        </p:txBody>
      </p:sp>
      <p:sp>
        <p:nvSpPr>
          <p:cNvPr id="22" name="Shape 20"/>
          <p:cNvSpPr/>
          <p:nvPr/>
        </p:nvSpPr>
        <p:spPr>
          <a:xfrm>
            <a:off x="8686800" y="2057400"/>
            <a:ext cx="841248" cy="777240"/>
          </a:xfrm>
          <a:prstGeom prst="roundRect">
            <a:avLst>
              <a:gd name="adj" fmla="val 5882"/>
            </a:avLst>
          </a:prstGeom>
          <a:solidFill>
            <a:srgbClr val="E4E8E9"/>
          </a:solidFill>
          <a:ln/>
        </p:spPr>
      </p:sp>
      <p:sp>
        <p:nvSpPr>
          <p:cNvPr id="23" name="Text 21"/>
          <p:cNvSpPr txBox="1"/>
          <p:nvPr/>
        </p:nvSpPr>
        <p:spPr>
          <a:xfrm>
            <a:off x="8686800"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9AA5A8"/>
                </a:solidFill>
                <a:latin typeface="Consolas" pitchFamily="34" charset="0"/>
                <a:ea typeface="Consolas" pitchFamily="34" charset="-122"/>
                <a:cs typeface="Consolas" pitchFamily="34" charset="-120"/>
              </a:rPr>
              <a:t>-</a:t>
            </a:r>
            <a:endParaRPr lang="tr-TR" sz="2600" dirty="0"/>
          </a:p>
        </p:txBody>
      </p:sp>
      <p:sp>
        <p:nvSpPr>
          <p:cNvPr id="24" name="Shape 22"/>
          <p:cNvSpPr/>
          <p:nvPr/>
        </p:nvSpPr>
        <p:spPr>
          <a:xfrm>
            <a:off x="9573768" y="2057400"/>
            <a:ext cx="841248" cy="777240"/>
          </a:xfrm>
          <a:prstGeom prst="roundRect">
            <a:avLst>
              <a:gd name="adj" fmla="val 5882"/>
            </a:avLst>
          </a:prstGeom>
          <a:solidFill>
            <a:srgbClr val="E4E8E9"/>
          </a:solidFill>
          <a:ln/>
        </p:spPr>
      </p:sp>
      <p:sp>
        <p:nvSpPr>
          <p:cNvPr id="25" name="Text 23"/>
          <p:cNvSpPr txBox="1"/>
          <p:nvPr/>
        </p:nvSpPr>
        <p:spPr>
          <a:xfrm>
            <a:off x="9573768" y="2057400"/>
            <a:ext cx="841248" cy="777240"/>
          </a:xfrm>
          <a:prstGeom prst="rect">
            <a:avLst/>
          </a:prstGeom>
          <a:noFill/>
          <a:ln/>
        </p:spPr>
        <p:txBody>
          <a:bodyPr wrap="square" lIns="38100" tIns="38100" rIns="38100" bIns="38100" rtlCol="0" anchor="ctr"/>
          <a:lstStyle/>
          <a:p>
            <a:pPr algn="ctr" indent="0" marL="0">
              <a:buNone/>
            </a:pPr>
            <a:r>
              <a:rPr lang="tr-TR" sz="2600" b="1" dirty="0">
                <a:solidFill>
                  <a:srgbClr val="9AA5A8"/>
                </a:solidFill>
                <a:latin typeface="Consolas" pitchFamily="34" charset="0"/>
                <a:ea typeface="Consolas" pitchFamily="34" charset="-122"/>
                <a:cs typeface="Consolas" pitchFamily="34" charset="-120"/>
              </a:rPr>
              <a:t>-</a:t>
            </a:r>
            <a:endParaRPr lang="tr-TR" sz="2600" dirty="0"/>
          </a:p>
        </p:txBody>
      </p:sp>
      <p:sp>
        <p:nvSpPr>
          <p:cNvPr id="26" name="Text 24"/>
          <p:cNvSpPr txBox="1"/>
          <p:nvPr/>
        </p:nvSpPr>
        <p:spPr>
          <a:xfrm>
            <a:off x="365760" y="1481328"/>
            <a:ext cx="1389888"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tür</a:t>
            </a:r>
            <a:endParaRPr lang="tr-TR" sz="1400" dirty="0"/>
          </a:p>
        </p:txBody>
      </p:sp>
      <p:sp>
        <p:nvSpPr>
          <p:cNvPr id="27" name="Text 25"/>
          <p:cNvSpPr txBox="1"/>
          <p:nvPr/>
        </p:nvSpPr>
        <p:spPr>
          <a:xfrm>
            <a:off x="1709928" y="1481328"/>
            <a:ext cx="3163824"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kullanıcı (u) = sahip</a:t>
            </a:r>
            <a:endParaRPr lang="tr-TR" sz="1400" dirty="0"/>
          </a:p>
        </p:txBody>
      </p:sp>
      <p:sp>
        <p:nvSpPr>
          <p:cNvPr id="28" name="Shape 26"/>
          <p:cNvSpPr/>
          <p:nvPr/>
        </p:nvSpPr>
        <p:spPr>
          <a:xfrm>
            <a:off x="1984248" y="1892808"/>
            <a:ext cx="2615184" cy="91"/>
          </a:xfrm>
          <a:prstGeom prst="line">
            <a:avLst/>
          </a:prstGeom>
          <a:noFill/>
          <a:ln w="25400">
            <a:solidFill>
              <a:srgbClr val="028090"/>
            </a:solidFill>
            <a:prstDash val="solid"/>
          </a:ln>
        </p:spPr>
      </p:sp>
      <p:sp>
        <p:nvSpPr>
          <p:cNvPr id="29" name="Shape 27"/>
          <p:cNvSpPr/>
          <p:nvPr/>
        </p:nvSpPr>
        <p:spPr>
          <a:xfrm>
            <a:off x="1984248" y="1892808"/>
            <a:ext cx="91" cy="100584"/>
          </a:xfrm>
          <a:prstGeom prst="line">
            <a:avLst/>
          </a:prstGeom>
          <a:noFill/>
          <a:ln w="25400">
            <a:solidFill>
              <a:srgbClr val="028090"/>
            </a:solidFill>
            <a:prstDash val="solid"/>
          </a:ln>
        </p:spPr>
      </p:sp>
      <p:sp>
        <p:nvSpPr>
          <p:cNvPr id="30" name="Shape 28"/>
          <p:cNvSpPr/>
          <p:nvPr/>
        </p:nvSpPr>
        <p:spPr>
          <a:xfrm>
            <a:off x="4599432" y="1892808"/>
            <a:ext cx="91" cy="100584"/>
          </a:xfrm>
          <a:prstGeom prst="line">
            <a:avLst/>
          </a:prstGeom>
          <a:noFill/>
          <a:ln w="25400">
            <a:solidFill>
              <a:srgbClr val="028090"/>
            </a:solidFill>
            <a:prstDash val="solid"/>
          </a:ln>
        </p:spPr>
      </p:sp>
      <p:sp>
        <p:nvSpPr>
          <p:cNvPr id="31" name="Text 29"/>
          <p:cNvSpPr txBox="1"/>
          <p:nvPr/>
        </p:nvSpPr>
        <p:spPr>
          <a:xfrm>
            <a:off x="4617720" y="1481328"/>
            <a:ext cx="3163824"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grup (g)</a:t>
            </a:r>
            <a:endParaRPr lang="tr-TR" sz="1400" dirty="0"/>
          </a:p>
        </p:txBody>
      </p:sp>
      <p:sp>
        <p:nvSpPr>
          <p:cNvPr id="32" name="Shape 30"/>
          <p:cNvSpPr/>
          <p:nvPr/>
        </p:nvSpPr>
        <p:spPr>
          <a:xfrm>
            <a:off x="4892040" y="1892808"/>
            <a:ext cx="2615184" cy="91"/>
          </a:xfrm>
          <a:prstGeom prst="line">
            <a:avLst/>
          </a:prstGeom>
          <a:noFill/>
          <a:ln w="25400">
            <a:solidFill>
              <a:srgbClr val="028090"/>
            </a:solidFill>
            <a:prstDash val="solid"/>
          </a:ln>
        </p:spPr>
      </p:sp>
      <p:sp>
        <p:nvSpPr>
          <p:cNvPr id="33" name="Shape 31"/>
          <p:cNvSpPr/>
          <p:nvPr/>
        </p:nvSpPr>
        <p:spPr>
          <a:xfrm>
            <a:off x="4892040" y="1892808"/>
            <a:ext cx="91" cy="100584"/>
          </a:xfrm>
          <a:prstGeom prst="line">
            <a:avLst/>
          </a:prstGeom>
          <a:noFill/>
          <a:ln w="25400">
            <a:solidFill>
              <a:srgbClr val="028090"/>
            </a:solidFill>
            <a:prstDash val="solid"/>
          </a:ln>
        </p:spPr>
      </p:sp>
      <p:sp>
        <p:nvSpPr>
          <p:cNvPr id="34" name="Shape 32"/>
          <p:cNvSpPr/>
          <p:nvPr/>
        </p:nvSpPr>
        <p:spPr>
          <a:xfrm>
            <a:off x="7507224" y="1892808"/>
            <a:ext cx="91" cy="100584"/>
          </a:xfrm>
          <a:prstGeom prst="line">
            <a:avLst/>
          </a:prstGeom>
          <a:noFill/>
          <a:ln w="25400">
            <a:solidFill>
              <a:srgbClr val="028090"/>
            </a:solidFill>
            <a:prstDash val="solid"/>
          </a:ln>
        </p:spPr>
      </p:sp>
      <p:sp>
        <p:nvSpPr>
          <p:cNvPr id="35" name="Text 33"/>
          <p:cNvSpPr txBox="1"/>
          <p:nvPr/>
        </p:nvSpPr>
        <p:spPr>
          <a:xfrm>
            <a:off x="7525512" y="1481328"/>
            <a:ext cx="3163824"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diğerleri (o) = geri kalan herkes</a:t>
            </a:r>
            <a:endParaRPr lang="tr-TR" sz="1400" dirty="0"/>
          </a:p>
        </p:txBody>
      </p:sp>
      <p:sp>
        <p:nvSpPr>
          <p:cNvPr id="36" name="Shape 34"/>
          <p:cNvSpPr/>
          <p:nvPr/>
        </p:nvSpPr>
        <p:spPr>
          <a:xfrm>
            <a:off x="7799832" y="1892808"/>
            <a:ext cx="2615184" cy="91"/>
          </a:xfrm>
          <a:prstGeom prst="line">
            <a:avLst/>
          </a:prstGeom>
          <a:noFill/>
          <a:ln w="25400">
            <a:solidFill>
              <a:srgbClr val="028090"/>
            </a:solidFill>
            <a:prstDash val="solid"/>
          </a:ln>
        </p:spPr>
      </p:sp>
      <p:sp>
        <p:nvSpPr>
          <p:cNvPr id="37" name="Shape 35"/>
          <p:cNvSpPr/>
          <p:nvPr/>
        </p:nvSpPr>
        <p:spPr>
          <a:xfrm>
            <a:off x="7799832" y="1892808"/>
            <a:ext cx="91" cy="100584"/>
          </a:xfrm>
          <a:prstGeom prst="line">
            <a:avLst/>
          </a:prstGeom>
          <a:noFill/>
          <a:ln w="25400">
            <a:solidFill>
              <a:srgbClr val="028090"/>
            </a:solidFill>
            <a:prstDash val="solid"/>
          </a:ln>
        </p:spPr>
      </p:sp>
      <p:sp>
        <p:nvSpPr>
          <p:cNvPr id="38" name="Shape 36"/>
          <p:cNvSpPr/>
          <p:nvPr/>
        </p:nvSpPr>
        <p:spPr>
          <a:xfrm>
            <a:off x="10415016" y="1892808"/>
            <a:ext cx="91" cy="100584"/>
          </a:xfrm>
          <a:prstGeom prst="line">
            <a:avLst/>
          </a:prstGeom>
          <a:noFill/>
          <a:ln w="25400">
            <a:solidFill>
              <a:srgbClr val="028090"/>
            </a:solidFill>
            <a:prstDash val="solid"/>
          </a:ln>
        </p:spPr>
      </p:sp>
      <p:sp>
        <p:nvSpPr>
          <p:cNvPr id="39" name="Text 37"/>
          <p:cNvSpPr txBox="1"/>
          <p:nvPr/>
        </p:nvSpPr>
        <p:spPr>
          <a:xfrm>
            <a:off x="1984248"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×4</a:t>
            </a:r>
            <a:endParaRPr lang="tr-TR" sz="1300" dirty="0"/>
          </a:p>
        </p:txBody>
      </p:sp>
      <p:sp>
        <p:nvSpPr>
          <p:cNvPr id="40" name="Shape 38"/>
          <p:cNvSpPr/>
          <p:nvPr/>
        </p:nvSpPr>
        <p:spPr>
          <a:xfrm>
            <a:off x="2130552" y="3218688"/>
            <a:ext cx="548640" cy="384048"/>
          </a:xfrm>
          <a:prstGeom prst="roundRect">
            <a:avLst>
              <a:gd name="adj" fmla="val 11905"/>
            </a:avLst>
          </a:prstGeom>
          <a:solidFill>
            <a:srgbClr val="36454F"/>
          </a:solidFill>
          <a:ln/>
        </p:spPr>
      </p:sp>
      <p:sp>
        <p:nvSpPr>
          <p:cNvPr id="41" name="Text 39"/>
          <p:cNvSpPr txBox="1"/>
          <p:nvPr/>
        </p:nvSpPr>
        <p:spPr>
          <a:xfrm>
            <a:off x="2130552"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1</a:t>
            </a:r>
            <a:endParaRPr lang="tr-TR" sz="1500" dirty="0"/>
          </a:p>
        </p:txBody>
      </p:sp>
      <p:sp>
        <p:nvSpPr>
          <p:cNvPr id="42" name="Text 40"/>
          <p:cNvSpPr txBox="1"/>
          <p:nvPr/>
        </p:nvSpPr>
        <p:spPr>
          <a:xfrm>
            <a:off x="2871216"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×2</a:t>
            </a:r>
            <a:endParaRPr lang="tr-TR" sz="1300" dirty="0"/>
          </a:p>
        </p:txBody>
      </p:sp>
      <p:sp>
        <p:nvSpPr>
          <p:cNvPr id="43" name="Shape 41"/>
          <p:cNvSpPr/>
          <p:nvPr/>
        </p:nvSpPr>
        <p:spPr>
          <a:xfrm>
            <a:off x="3017520" y="3218688"/>
            <a:ext cx="548640" cy="384048"/>
          </a:xfrm>
          <a:prstGeom prst="roundRect">
            <a:avLst>
              <a:gd name="adj" fmla="val 11905"/>
            </a:avLst>
          </a:prstGeom>
          <a:solidFill>
            <a:srgbClr val="36454F"/>
          </a:solidFill>
          <a:ln/>
        </p:spPr>
      </p:sp>
      <p:sp>
        <p:nvSpPr>
          <p:cNvPr id="44" name="Text 42"/>
          <p:cNvSpPr txBox="1"/>
          <p:nvPr/>
        </p:nvSpPr>
        <p:spPr>
          <a:xfrm>
            <a:off x="3017520"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1</a:t>
            </a:r>
            <a:endParaRPr lang="tr-TR" sz="1500" dirty="0"/>
          </a:p>
        </p:txBody>
      </p:sp>
      <p:sp>
        <p:nvSpPr>
          <p:cNvPr id="45" name="Text 43"/>
          <p:cNvSpPr txBox="1"/>
          <p:nvPr/>
        </p:nvSpPr>
        <p:spPr>
          <a:xfrm>
            <a:off x="3758184"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×1</a:t>
            </a:r>
            <a:endParaRPr lang="tr-TR" sz="1300" dirty="0"/>
          </a:p>
        </p:txBody>
      </p:sp>
      <p:sp>
        <p:nvSpPr>
          <p:cNvPr id="46" name="Shape 44"/>
          <p:cNvSpPr/>
          <p:nvPr/>
        </p:nvSpPr>
        <p:spPr>
          <a:xfrm>
            <a:off x="3904488" y="3218688"/>
            <a:ext cx="548640" cy="384048"/>
          </a:xfrm>
          <a:prstGeom prst="roundRect">
            <a:avLst>
              <a:gd name="adj" fmla="val 11905"/>
            </a:avLst>
          </a:prstGeom>
          <a:solidFill>
            <a:srgbClr val="36454F"/>
          </a:solidFill>
          <a:ln/>
        </p:spPr>
      </p:sp>
      <p:sp>
        <p:nvSpPr>
          <p:cNvPr id="47" name="Text 45"/>
          <p:cNvSpPr txBox="1"/>
          <p:nvPr/>
        </p:nvSpPr>
        <p:spPr>
          <a:xfrm>
            <a:off x="3904488"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1</a:t>
            </a:r>
            <a:endParaRPr lang="tr-TR" sz="1500" dirty="0"/>
          </a:p>
        </p:txBody>
      </p:sp>
      <p:sp>
        <p:nvSpPr>
          <p:cNvPr id="48" name="Text 46"/>
          <p:cNvSpPr txBox="1"/>
          <p:nvPr/>
        </p:nvSpPr>
        <p:spPr>
          <a:xfrm>
            <a:off x="4892040"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×4</a:t>
            </a:r>
            <a:endParaRPr lang="tr-TR" sz="1300" dirty="0"/>
          </a:p>
        </p:txBody>
      </p:sp>
      <p:sp>
        <p:nvSpPr>
          <p:cNvPr id="49" name="Shape 47"/>
          <p:cNvSpPr/>
          <p:nvPr/>
        </p:nvSpPr>
        <p:spPr>
          <a:xfrm>
            <a:off x="5038344" y="3218688"/>
            <a:ext cx="548640" cy="384048"/>
          </a:xfrm>
          <a:prstGeom prst="roundRect">
            <a:avLst>
              <a:gd name="adj" fmla="val 11905"/>
            </a:avLst>
          </a:prstGeom>
          <a:solidFill>
            <a:srgbClr val="36454F"/>
          </a:solidFill>
          <a:ln/>
        </p:spPr>
      </p:sp>
      <p:sp>
        <p:nvSpPr>
          <p:cNvPr id="50" name="Text 48"/>
          <p:cNvSpPr txBox="1"/>
          <p:nvPr/>
        </p:nvSpPr>
        <p:spPr>
          <a:xfrm>
            <a:off x="5038344"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1</a:t>
            </a:r>
            <a:endParaRPr lang="tr-TR" sz="1500" dirty="0"/>
          </a:p>
        </p:txBody>
      </p:sp>
      <p:sp>
        <p:nvSpPr>
          <p:cNvPr id="51" name="Text 49"/>
          <p:cNvSpPr txBox="1"/>
          <p:nvPr/>
        </p:nvSpPr>
        <p:spPr>
          <a:xfrm>
            <a:off x="5779008"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×2</a:t>
            </a:r>
            <a:endParaRPr lang="tr-TR" sz="1300" dirty="0"/>
          </a:p>
        </p:txBody>
      </p:sp>
      <p:sp>
        <p:nvSpPr>
          <p:cNvPr id="52" name="Shape 50"/>
          <p:cNvSpPr/>
          <p:nvPr/>
        </p:nvSpPr>
        <p:spPr>
          <a:xfrm>
            <a:off x="5925312" y="3218688"/>
            <a:ext cx="548640" cy="384048"/>
          </a:xfrm>
          <a:prstGeom prst="roundRect">
            <a:avLst>
              <a:gd name="adj" fmla="val 11905"/>
            </a:avLst>
          </a:prstGeom>
          <a:solidFill>
            <a:srgbClr val="F2F2F2"/>
          </a:solidFill>
          <a:ln/>
        </p:spPr>
      </p:sp>
      <p:sp>
        <p:nvSpPr>
          <p:cNvPr id="53" name="Text 51"/>
          <p:cNvSpPr txBox="1"/>
          <p:nvPr/>
        </p:nvSpPr>
        <p:spPr>
          <a:xfrm>
            <a:off x="5925312"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9AA5A8"/>
                </a:solidFill>
                <a:latin typeface="Consolas" pitchFamily="34" charset="0"/>
                <a:ea typeface="Consolas" pitchFamily="34" charset="-122"/>
                <a:cs typeface="Consolas" pitchFamily="34" charset="-120"/>
              </a:rPr>
              <a:t>0</a:t>
            </a:r>
            <a:endParaRPr lang="tr-TR" sz="1500" dirty="0"/>
          </a:p>
        </p:txBody>
      </p:sp>
      <p:sp>
        <p:nvSpPr>
          <p:cNvPr id="54" name="Text 52"/>
          <p:cNvSpPr txBox="1"/>
          <p:nvPr/>
        </p:nvSpPr>
        <p:spPr>
          <a:xfrm>
            <a:off x="6665976"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×1</a:t>
            </a:r>
            <a:endParaRPr lang="tr-TR" sz="1300" dirty="0"/>
          </a:p>
        </p:txBody>
      </p:sp>
      <p:sp>
        <p:nvSpPr>
          <p:cNvPr id="55" name="Shape 53"/>
          <p:cNvSpPr/>
          <p:nvPr/>
        </p:nvSpPr>
        <p:spPr>
          <a:xfrm>
            <a:off x="6812280" y="3218688"/>
            <a:ext cx="548640" cy="384048"/>
          </a:xfrm>
          <a:prstGeom prst="roundRect">
            <a:avLst>
              <a:gd name="adj" fmla="val 11905"/>
            </a:avLst>
          </a:prstGeom>
          <a:solidFill>
            <a:srgbClr val="36454F"/>
          </a:solidFill>
          <a:ln/>
        </p:spPr>
      </p:sp>
      <p:sp>
        <p:nvSpPr>
          <p:cNvPr id="56" name="Text 54"/>
          <p:cNvSpPr txBox="1"/>
          <p:nvPr/>
        </p:nvSpPr>
        <p:spPr>
          <a:xfrm>
            <a:off x="6812280"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1</a:t>
            </a:r>
            <a:endParaRPr lang="tr-TR" sz="1500" dirty="0"/>
          </a:p>
        </p:txBody>
      </p:sp>
      <p:sp>
        <p:nvSpPr>
          <p:cNvPr id="57" name="Text 55"/>
          <p:cNvSpPr txBox="1"/>
          <p:nvPr/>
        </p:nvSpPr>
        <p:spPr>
          <a:xfrm>
            <a:off x="7799832"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×4</a:t>
            </a:r>
            <a:endParaRPr lang="tr-TR" sz="1300" dirty="0"/>
          </a:p>
        </p:txBody>
      </p:sp>
      <p:sp>
        <p:nvSpPr>
          <p:cNvPr id="58" name="Shape 56"/>
          <p:cNvSpPr/>
          <p:nvPr/>
        </p:nvSpPr>
        <p:spPr>
          <a:xfrm>
            <a:off x="7946136" y="3218688"/>
            <a:ext cx="548640" cy="384048"/>
          </a:xfrm>
          <a:prstGeom prst="roundRect">
            <a:avLst>
              <a:gd name="adj" fmla="val 11905"/>
            </a:avLst>
          </a:prstGeom>
          <a:solidFill>
            <a:srgbClr val="F2F2F2"/>
          </a:solidFill>
          <a:ln/>
        </p:spPr>
      </p:sp>
      <p:sp>
        <p:nvSpPr>
          <p:cNvPr id="59" name="Text 57"/>
          <p:cNvSpPr txBox="1"/>
          <p:nvPr/>
        </p:nvSpPr>
        <p:spPr>
          <a:xfrm>
            <a:off x="7946136"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9AA5A8"/>
                </a:solidFill>
                <a:latin typeface="Consolas" pitchFamily="34" charset="0"/>
                <a:ea typeface="Consolas" pitchFamily="34" charset="-122"/>
                <a:cs typeface="Consolas" pitchFamily="34" charset="-120"/>
              </a:rPr>
              <a:t>0</a:t>
            </a:r>
            <a:endParaRPr lang="tr-TR" sz="1500" dirty="0"/>
          </a:p>
        </p:txBody>
      </p:sp>
      <p:sp>
        <p:nvSpPr>
          <p:cNvPr id="60" name="Text 58"/>
          <p:cNvSpPr txBox="1"/>
          <p:nvPr/>
        </p:nvSpPr>
        <p:spPr>
          <a:xfrm>
            <a:off x="8686800"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×2</a:t>
            </a:r>
            <a:endParaRPr lang="tr-TR" sz="1300" dirty="0"/>
          </a:p>
        </p:txBody>
      </p:sp>
      <p:sp>
        <p:nvSpPr>
          <p:cNvPr id="61" name="Shape 59"/>
          <p:cNvSpPr/>
          <p:nvPr/>
        </p:nvSpPr>
        <p:spPr>
          <a:xfrm>
            <a:off x="8833104" y="3218688"/>
            <a:ext cx="548640" cy="384048"/>
          </a:xfrm>
          <a:prstGeom prst="roundRect">
            <a:avLst>
              <a:gd name="adj" fmla="val 11905"/>
            </a:avLst>
          </a:prstGeom>
          <a:solidFill>
            <a:srgbClr val="F2F2F2"/>
          </a:solidFill>
          <a:ln/>
        </p:spPr>
      </p:sp>
      <p:sp>
        <p:nvSpPr>
          <p:cNvPr id="62" name="Text 60"/>
          <p:cNvSpPr txBox="1"/>
          <p:nvPr/>
        </p:nvSpPr>
        <p:spPr>
          <a:xfrm>
            <a:off x="8833104"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9AA5A8"/>
                </a:solidFill>
                <a:latin typeface="Consolas" pitchFamily="34" charset="0"/>
                <a:ea typeface="Consolas" pitchFamily="34" charset="-122"/>
                <a:cs typeface="Consolas" pitchFamily="34" charset="-120"/>
              </a:rPr>
              <a:t>0</a:t>
            </a:r>
            <a:endParaRPr lang="tr-TR" sz="1500" dirty="0"/>
          </a:p>
        </p:txBody>
      </p:sp>
      <p:sp>
        <p:nvSpPr>
          <p:cNvPr id="63" name="Text 61"/>
          <p:cNvSpPr txBox="1"/>
          <p:nvPr/>
        </p:nvSpPr>
        <p:spPr>
          <a:xfrm>
            <a:off x="9573768" y="2880360"/>
            <a:ext cx="841248" cy="292608"/>
          </a:xfrm>
          <a:prstGeom prst="rect">
            <a:avLst/>
          </a:prstGeom>
          <a:noFill/>
          <a:ln/>
        </p:spPr>
        <p:txBody>
          <a:bodyPr wrap="square" lIns="0" tIns="0" rIns="0" bIns="0" rtlCol="0" anchor="t"/>
          <a:lstStyle/>
          <a:p>
            <a:pPr algn="ctr" indent="0" marL="0">
              <a:buNone/>
            </a:pPr>
            <a:r>
              <a:rPr lang="tr-TR" sz="1300" b="1" dirty="0">
                <a:solidFill>
                  <a:srgbClr val="6B7679"/>
                </a:solidFill>
                <a:latin typeface="Calibri" pitchFamily="34" charset="0"/>
                <a:ea typeface="Calibri" pitchFamily="34" charset="-122"/>
                <a:cs typeface="Calibri" pitchFamily="34" charset="-120"/>
              </a:rPr>
              <a:t>×1</a:t>
            </a:r>
            <a:endParaRPr lang="tr-TR" sz="1300" dirty="0"/>
          </a:p>
        </p:txBody>
      </p:sp>
      <p:sp>
        <p:nvSpPr>
          <p:cNvPr id="64" name="Shape 62"/>
          <p:cNvSpPr/>
          <p:nvPr/>
        </p:nvSpPr>
        <p:spPr>
          <a:xfrm>
            <a:off x="9720072" y="3218688"/>
            <a:ext cx="548640" cy="384048"/>
          </a:xfrm>
          <a:prstGeom prst="roundRect">
            <a:avLst>
              <a:gd name="adj" fmla="val 11905"/>
            </a:avLst>
          </a:prstGeom>
          <a:solidFill>
            <a:srgbClr val="F2F2F2"/>
          </a:solidFill>
          <a:ln/>
        </p:spPr>
      </p:sp>
      <p:sp>
        <p:nvSpPr>
          <p:cNvPr id="65" name="Text 63"/>
          <p:cNvSpPr txBox="1"/>
          <p:nvPr/>
        </p:nvSpPr>
        <p:spPr>
          <a:xfrm>
            <a:off x="9720072" y="3218688"/>
            <a:ext cx="548640" cy="384048"/>
          </a:xfrm>
          <a:prstGeom prst="rect">
            <a:avLst/>
          </a:prstGeom>
          <a:noFill/>
          <a:ln/>
        </p:spPr>
        <p:txBody>
          <a:bodyPr wrap="square" lIns="38100" tIns="38100" rIns="38100" bIns="38100" rtlCol="0" anchor="ctr"/>
          <a:lstStyle/>
          <a:p>
            <a:pPr algn="ctr" indent="0" marL="0">
              <a:buNone/>
            </a:pPr>
            <a:r>
              <a:rPr lang="tr-TR" sz="1500" b="1" dirty="0">
                <a:solidFill>
                  <a:srgbClr val="9AA5A8"/>
                </a:solidFill>
                <a:latin typeface="Consolas" pitchFamily="34" charset="0"/>
                <a:ea typeface="Consolas" pitchFamily="34" charset="-122"/>
                <a:cs typeface="Consolas" pitchFamily="34" charset="-120"/>
              </a:rPr>
              <a:t>0</a:t>
            </a:r>
            <a:endParaRPr lang="tr-TR" sz="1500" dirty="0"/>
          </a:p>
        </p:txBody>
      </p:sp>
      <p:sp>
        <p:nvSpPr>
          <p:cNvPr id="66" name="Text 64"/>
          <p:cNvSpPr txBox="1"/>
          <p:nvPr/>
        </p:nvSpPr>
        <p:spPr>
          <a:xfrm>
            <a:off x="502920" y="2880360"/>
            <a:ext cx="1115568" cy="292608"/>
          </a:xfrm>
          <a:prstGeom prst="rect">
            <a:avLst/>
          </a:prstGeom>
          <a:noFill/>
          <a:ln/>
        </p:spPr>
        <p:txBody>
          <a:bodyPr wrap="square" lIns="0" tIns="0" rIns="0" bIns="0" rtlCol="0" anchor="t"/>
          <a:lstStyle/>
          <a:p>
            <a:pPr algn="ctr" indent="0" marL="0">
              <a:buNone/>
            </a:pPr>
            <a:r>
              <a:rPr lang="tr-TR" sz="1200" i="1" dirty="0">
                <a:solidFill>
                  <a:srgbClr val="6B7679"/>
                </a:solidFill>
                <a:latin typeface="Calibri" pitchFamily="34" charset="0"/>
                <a:ea typeface="Calibri" pitchFamily="34" charset="-122"/>
                <a:cs typeface="Calibri" pitchFamily="34" charset="-120"/>
              </a:rPr>
              <a:t>ağırlık</a:t>
            </a:r>
            <a:endParaRPr lang="tr-TR" sz="1200" dirty="0"/>
          </a:p>
        </p:txBody>
      </p:sp>
      <p:sp>
        <p:nvSpPr>
          <p:cNvPr id="67" name="Text 65"/>
          <p:cNvSpPr txBox="1"/>
          <p:nvPr/>
        </p:nvSpPr>
        <p:spPr>
          <a:xfrm>
            <a:off x="502920" y="3264408"/>
            <a:ext cx="1115568" cy="292608"/>
          </a:xfrm>
          <a:prstGeom prst="rect">
            <a:avLst/>
          </a:prstGeom>
          <a:noFill/>
          <a:ln/>
        </p:spPr>
        <p:txBody>
          <a:bodyPr wrap="square" lIns="0" tIns="0" rIns="0" bIns="0" rtlCol="0" anchor="t"/>
          <a:lstStyle/>
          <a:p>
            <a:pPr algn="ctr" indent="0" marL="0">
              <a:buNone/>
            </a:pPr>
            <a:r>
              <a:rPr lang="tr-TR" sz="1200" i="1" dirty="0">
                <a:solidFill>
                  <a:srgbClr val="6B7679"/>
                </a:solidFill>
                <a:latin typeface="Calibri" pitchFamily="34" charset="0"/>
                <a:ea typeface="Calibri" pitchFamily="34" charset="-122"/>
                <a:cs typeface="Calibri" pitchFamily="34" charset="-120"/>
              </a:rPr>
              <a:t>bit</a:t>
            </a:r>
            <a:endParaRPr lang="tr-TR" sz="1200" dirty="0"/>
          </a:p>
        </p:txBody>
      </p:sp>
      <p:sp>
        <p:nvSpPr>
          <p:cNvPr id="68" name="Shape 66"/>
          <p:cNvSpPr/>
          <p:nvPr/>
        </p:nvSpPr>
        <p:spPr>
          <a:xfrm>
            <a:off x="1984248" y="3749040"/>
            <a:ext cx="2615184" cy="502920"/>
          </a:xfrm>
          <a:prstGeom prst="roundRect">
            <a:avLst>
              <a:gd name="adj" fmla="val 9091"/>
            </a:avLst>
          </a:prstGeom>
          <a:solidFill>
            <a:srgbClr val="D7E9E6"/>
          </a:solidFill>
          <a:ln/>
        </p:spPr>
      </p:sp>
      <p:sp>
        <p:nvSpPr>
          <p:cNvPr id="69" name="Text 67"/>
          <p:cNvSpPr txBox="1"/>
          <p:nvPr/>
        </p:nvSpPr>
        <p:spPr>
          <a:xfrm>
            <a:off x="1984248" y="3749040"/>
            <a:ext cx="2615184" cy="5029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onsolas" pitchFamily="34" charset="0"/>
                <a:ea typeface="Consolas" pitchFamily="34" charset="-122"/>
                <a:cs typeface="Consolas" pitchFamily="34" charset="-120"/>
              </a:rPr>
              <a:t>4 + 2 + 1 = 7</a:t>
            </a:r>
            <a:endParaRPr lang="tr-TR" sz="1600" dirty="0"/>
          </a:p>
        </p:txBody>
      </p:sp>
      <p:sp>
        <p:nvSpPr>
          <p:cNvPr id="70" name="Shape 68"/>
          <p:cNvSpPr/>
          <p:nvPr/>
        </p:nvSpPr>
        <p:spPr>
          <a:xfrm>
            <a:off x="4892040" y="3749040"/>
            <a:ext cx="2615184" cy="502920"/>
          </a:xfrm>
          <a:prstGeom prst="roundRect">
            <a:avLst>
              <a:gd name="adj" fmla="val 9091"/>
            </a:avLst>
          </a:prstGeom>
          <a:solidFill>
            <a:srgbClr val="D7E9E6"/>
          </a:solidFill>
          <a:ln/>
        </p:spPr>
      </p:sp>
      <p:sp>
        <p:nvSpPr>
          <p:cNvPr id="71" name="Text 69"/>
          <p:cNvSpPr txBox="1"/>
          <p:nvPr/>
        </p:nvSpPr>
        <p:spPr>
          <a:xfrm>
            <a:off x="4892040" y="3749040"/>
            <a:ext cx="2615184" cy="5029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onsolas" pitchFamily="34" charset="0"/>
                <a:ea typeface="Consolas" pitchFamily="34" charset="-122"/>
                <a:cs typeface="Consolas" pitchFamily="34" charset="-120"/>
              </a:rPr>
              <a:t>4 + 0 + 1 = 5</a:t>
            </a:r>
            <a:endParaRPr lang="tr-TR" sz="1600" dirty="0"/>
          </a:p>
        </p:txBody>
      </p:sp>
      <p:sp>
        <p:nvSpPr>
          <p:cNvPr id="72" name="Shape 70"/>
          <p:cNvSpPr/>
          <p:nvPr/>
        </p:nvSpPr>
        <p:spPr>
          <a:xfrm>
            <a:off x="7799832" y="3749040"/>
            <a:ext cx="2615184" cy="502920"/>
          </a:xfrm>
          <a:prstGeom prst="roundRect">
            <a:avLst>
              <a:gd name="adj" fmla="val 9091"/>
            </a:avLst>
          </a:prstGeom>
          <a:solidFill>
            <a:srgbClr val="D7E9E6"/>
          </a:solidFill>
          <a:ln/>
        </p:spPr>
      </p:sp>
      <p:sp>
        <p:nvSpPr>
          <p:cNvPr id="73" name="Text 71"/>
          <p:cNvSpPr txBox="1"/>
          <p:nvPr/>
        </p:nvSpPr>
        <p:spPr>
          <a:xfrm>
            <a:off x="7799832" y="3749040"/>
            <a:ext cx="2615184" cy="5029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onsolas" pitchFamily="34" charset="0"/>
                <a:ea typeface="Consolas" pitchFamily="34" charset="-122"/>
                <a:cs typeface="Consolas" pitchFamily="34" charset="-120"/>
              </a:rPr>
              <a:t>0 + 0 + 0 = 0</a:t>
            </a:r>
            <a:endParaRPr lang="tr-TR" sz="1600" dirty="0"/>
          </a:p>
        </p:txBody>
      </p:sp>
      <p:sp>
        <p:nvSpPr>
          <p:cNvPr id="74" name="Text 72"/>
          <p:cNvSpPr txBox="1"/>
          <p:nvPr/>
        </p:nvSpPr>
        <p:spPr>
          <a:xfrm>
            <a:off x="502920" y="3794760"/>
            <a:ext cx="1115568" cy="411480"/>
          </a:xfrm>
          <a:prstGeom prst="rect">
            <a:avLst/>
          </a:prstGeom>
          <a:noFill/>
          <a:ln/>
        </p:spPr>
        <p:txBody>
          <a:bodyPr wrap="square" lIns="0" tIns="0" rIns="0" bIns="0" rtlCol="0" anchor="ctr"/>
          <a:lstStyle/>
          <a:p>
            <a:pPr algn="ctr" indent="0" marL="0">
              <a:buNone/>
            </a:pPr>
            <a:r>
              <a:rPr lang="tr-TR" sz="1200" i="1" dirty="0">
                <a:solidFill>
                  <a:srgbClr val="6B7679"/>
                </a:solidFill>
                <a:latin typeface="Calibri" pitchFamily="34" charset="0"/>
                <a:ea typeface="Calibri" pitchFamily="34" charset="-122"/>
                <a:cs typeface="Calibri" pitchFamily="34" charset="-120"/>
              </a:rPr>
              <a:t>sekizli</a:t>
            </a:r>
            <a:endParaRPr lang="tr-TR" sz="1200" dirty="0"/>
          </a:p>
        </p:txBody>
      </p:sp>
      <p:sp>
        <p:nvSpPr>
          <p:cNvPr id="75" name="Shape 73"/>
          <p:cNvSpPr/>
          <p:nvPr/>
        </p:nvSpPr>
        <p:spPr>
          <a:xfrm>
            <a:off x="548640" y="4434840"/>
            <a:ext cx="11109960" cy="685800"/>
          </a:xfrm>
          <a:prstGeom prst="roundRect">
            <a:avLst>
              <a:gd name="adj" fmla="val 8000"/>
            </a:avLst>
          </a:prstGeom>
          <a:solidFill>
            <a:srgbClr val="36454F"/>
          </a:solidFill>
          <a:ln/>
          <a:effectLst>
            <a:outerShdw sx="100000" sy="100000" kx="0" ky="0" algn="bl" rotWithShape="0" blurRad="101600" dist="25400" dir="5400000">
              <a:srgbClr val="000000">
                <a:alpha val="12000"/>
              </a:srgbClr>
            </a:outerShdw>
          </a:effectLst>
        </p:spPr>
      </p:sp>
      <p:sp>
        <p:nvSpPr>
          <p:cNvPr id="76" name="Text 74"/>
          <p:cNvSpPr txBox="1"/>
          <p:nvPr/>
        </p:nvSpPr>
        <p:spPr>
          <a:xfrm>
            <a:off x="777240" y="4434840"/>
            <a:ext cx="10652760" cy="68580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-rwxr-x---  =  750:   sahip okuyabilir, yazabilir, çalıştırabilir  ·  grup okuyup çalıştırabilir  ·  diğerleri: hiçbir şey</a:t>
            </a:r>
            <a:endParaRPr lang="tr-TR" sz="1500" dirty="0"/>
          </a:p>
        </p:txBody>
      </p:sp>
      <p:sp>
        <p:nvSpPr>
          <p:cNvPr id="77" name="Shape 75"/>
          <p:cNvSpPr/>
          <p:nvPr/>
        </p:nvSpPr>
        <p:spPr>
          <a:xfrm>
            <a:off x="548640" y="5303520"/>
            <a:ext cx="5440680" cy="960120"/>
          </a:xfrm>
          <a:prstGeom prst="roundRect">
            <a:avLst>
              <a:gd name="adj" fmla="val 5714"/>
            </a:avLst>
          </a:prstGeom>
          <a:solidFill>
            <a:srgbClr val="F2F2F2"/>
          </a:solidFill>
          <a:ln/>
          <a:effectLst>
            <a:outerShdw sx="100000" sy="100000" kx="0" ky="0" algn="bl" rotWithShape="0" blurRad="101600" dist="25400" dir="5400000">
              <a:srgbClr val="000000">
                <a:alpha val="12000"/>
              </a:srgbClr>
            </a:outerShdw>
          </a:effectLst>
        </p:spPr>
      </p:sp>
      <p:sp>
        <p:nvSpPr>
          <p:cNvPr id="78" name="Text 76"/>
          <p:cNvSpPr txBox="1"/>
          <p:nvPr/>
        </p:nvSpPr>
        <p:spPr>
          <a:xfrm>
            <a:off x="777240" y="5486400"/>
            <a:ext cx="4983480" cy="6400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Tür harfi:</a:t>
            </a:r>
            <a:r>
              <a:rPr lang="tr-TR" sz="1350" dirty="0">
                <a:solidFill>
                  <a:srgbClr val="3A464C"/>
                </a:solidFill>
                <a:latin typeface="Calibri" pitchFamily="34" charset="0"/>
                <a:ea typeface="Calibri" pitchFamily="34" charset="-122"/>
                <a:cs typeface="Calibri" pitchFamily="34" charset="-120"/>
              </a:rPr>
              <a:t>  -  normal dosya   d  dizin   l  sembolik bağlantı   c / b  aygıt</a:t>
            </a:r>
            <a:endParaRPr lang="tr-TR" sz="1350" dirty="0"/>
          </a:p>
        </p:txBody>
      </p:sp>
      <p:sp>
        <p:nvSpPr>
          <p:cNvPr id="79" name="Shape 77"/>
          <p:cNvSpPr/>
          <p:nvPr/>
        </p:nvSpPr>
        <p:spPr>
          <a:xfrm>
            <a:off x="6217920" y="5303520"/>
            <a:ext cx="5440680" cy="960120"/>
          </a:xfrm>
          <a:prstGeom prst="roundRect">
            <a:avLst>
              <a:gd name="adj" fmla="val 5714"/>
            </a:avLst>
          </a:prstGeom>
          <a:solidFill>
            <a:srgbClr val="F2F2F2"/>
          </a:solidFill>
          <a:ln/>
          <a:effectLst>
            <a:outerShdw sx="100000" sy="100000" kx="0" ky="0" algn="bl" rotWithShape="0" blurRad="101600" dist="25400" dir="5400000">
              <a:srgbClr val="000000">
                <a:alpha val="12000"/>
              </a:srgbClr>
            </a:outerShdw>
          </a:effectLst>
        </p:spPr>
      </p:sp>
      <p:sp>
        <p:nvSpPr>
          <p:cNvPr id="80" name="Text 78"/>
          <p:cNvSpPr txBox="1"/>
          <p:nvPr/>
        </p:nvSpPr>
        <p:spPr>
          <a:xfrm>
            <a:off x="6446520" y="5486400"/>
            <a:ext cx="4983480" cy="6400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Sayalım:</a:t>
            </a:r>
            <a:r>
              <a:rPr lang="tr-TR" sz="1350" dirty="0">
                <a:solidFill>
                  <a:srgbClr val="3A464C"/>
                </a:solidFill>
                <a:latin typeface="Calibri" pitchFamily="34" charset="0"/>
                <a:ea typeface="Calibri" pitchFamily="34" charset="-122"/>
                <a:cs typeface="Calibri" pitchFamily="34" charset="-120"/>
              </a:rPr>
              <a:t>  sınıf başına 3 bit → 2³ = 8 olasılık → tam olarak bir sekizli (octal) basamak (0–7).</a:t>
            </a:r>
            <a:endParaRPr lang="tr-TR"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R, W, X</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Aynı Üç Harf, Farklı Anlamlar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10</a:t>
            </a:r>
            <a:endParaRPr lang="tr-TR"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914400"/>
                <a:gridCol w="4754880"/>
                <a:gridCol w="5440680"/>
              </a:tblGrid>
              <a:tr h="0">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Bit</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Normal bir dosyada</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Bir dizinde</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r  (4)</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içeriği okumak: cat, less, cp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içindeki adları listelemek: ls</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w  (2)</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içeriği değiştirmek: nano, echo &gt;&gt;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girdi oluşturmak, silmek, yeniden adlandırmak (x de gerekir)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x  (1)</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program ya da betik olarak çalıştırmak: ./hello.sh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içine girmek ve içindekilere ulaşmak: cd, cat dizin/dosya</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Bir dosyayı silmek, dosyanın değil DİZİNİNİN değişmesidir: dizinde w + x gerekir — dosyanın kendi w biti önemli değildir.</a:t>
            </a:r>
            <a:endParaRPr lang="tr-TR" sz="1400" dirty="0"/>
          </a:p>
        </p:txBody>
      </p:sp>
      <p:sp>
        <p:nvSpPr>
          <p:cNvPr id="9" name="Shape 6"/>
          <p:cNvSpPr/>
          <p:nvPr/>
        </p:nvSpPr>
        <p:spPr>
          <a:xfrm>
            <a:off x="548640" y="3703320"/>
            <a:ext cx="1110996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77240" y="3886200"/>
            <a:ext cx="10652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Dizindeki x biti kapının anahtarıdır</a:t>
            </a:r>
            <a:endParaRPr lang="tr-TR" sz="1500" dirty="0"/>
          </a:p>
        </p:txBody>
      </p:sp>
      <p:sp>
        <p:nvSpPr>
          <p:cNvPr id="11" name="Text 8"/>
          <p:cNvSpPr txBox="1"/>
          <p:nvPr/>
        </p:nvSpPr>
        <p:spPr>
          <a:xfrm>
            <a:off x="777240" y="4343400"/>
            <a:ext cx="10652760" cy="77724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Bir dizinde x yoksa, tam adını bilseniz ve dosyanın kendisi okunabilir olsa bile, o dizine cd ile giremez, altındaki hiçbir şeyi açamazsınız. r yoksa dizini listeleyemezsiniz; ama x varsa adını bildiğiniz bir dosyayı yine de açabilirsiniz.</a:t>
            </a:r>
            <a:endParaRPr lang="tr-T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ERİŞİM DENETİMİ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Tek Sınıf Geçerli: Sahip, Yoksa Grup, Yoksa Diğerleri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11</a:t>
            </a:r>
            <a:endParaRPr lang="tr-TR" sz="900" dirty="0"/>
          </a:p>
        </p:txBody>
      </p:sp>
      <p:sp>
        <p:nvSpPr>
          <p:cNvPr id="6" name="Shape 4"/>
          <p:cNvSpPr/>
          <p:nvPr/>
        </p:nvSpPr>
        <p:spPr>
          <a:xfrm>
            <a:off x="548640" y="1600200"/>
            <a:ext cx="3200400" cy="658368"/>
          </a:xfrm>
          <a:prstGeom prst="roundRect">
            <a:avLst>
              <a:gd name="adj" fmla="val 6944"/>
            </a:avLst>
          </a:prstGeom>
          <a:solidFill>
            <a:srgbClr val="36454F"/>
          </a:solidFill>
          <a:ln/>
        </p:spPr>
      </p:sp>
      <p:sp>
        <p:nvSpPr>
          <p:cNvPr id="7" name="Text 5"/>
          <p:cNvSpPr txBox="1"/>
          <p:nvPr/>
        </p:nvSpPr>
        <p:spPr>
          <a:xfrm>
            <a:off x="548640" y="1600200"/>
            <a:ext cx="3200400"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Süreç root mu (UID 0)?</a:t>
            </a:r>
            <a:endParaRPr lang="tr-TR" sz="1300" dirty="0"/>
          </a:p>
        </p:txBody>
      </p:sp>
      <p:sp>
        <p:nvSpPr>
          <p:cNvPr id="8" name="Shape 6"/>
          <p:cNvSpPr/>
          <p:nvPr/>
        </p:nvSpPr>
        <p:spPr>
          <a:xfrm>
            <a:off x="4572000" y="1600200"/>
            <a:ext cx="3017520" cy="658368"/>
          </a:xfrm>
          <a:prstGeom prst="roundRect">
            <a:avLst>
              <a:gd name="adj" fmla="val 6944"/>
            </a:avLst>
          </a:prstGeom>
          <a:solidFill>
            <a:srgbClr val="E4E8E9"/>
          </a:solidFill>
          <a:ln/>
        </p:spPr>
      </p:sp>
      <p:sp>
        <p:nvSpPr>
          <p:cNvPr id="9" name="Text 7"/>
          <p:cNvSpPr txBox="1"/>
          <p:nvPr/>
        </p:nvSpPr>
        <p:spPr>
          <a:xfrm>
            <a:off x="4572000" y="1600200"/>
            <a:ext cx="3017520" cy="65836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izin var (neredeyse her zaman)</a:t>
            </a:r>
            <a:endParaRPr lang="tr-TR" sz="1200" dirty="0"/>
          </a:p>
        </p:txBody>
      </p:sp>
      <p:sp>
        <p:nvSpPr>
          <p:cNvPr id="10" name="Shape 8"/>
          <p:cNvSpPr/>
          <p:nvPr/>
        </p:nvSpPr>
        <p:spPr>
          <a:xfrm>
            <a:off x="3767328" y="1929384"/>
            <a:ext cx="786384" cy="91"/>
          </a:xfrm>
          <a:prstGeom prst="line">
            <a:avLst/>
          </a:prstGeom>
          <a:noFill/>
          <a:ln w="25400">
            <a:solidFill>
              <a:srgbClr val="028090"/>
            </a:solidFill>
            <a:prstDash val="solid"/>
            <a:tailEnd type="triangle"/>
          </a:ln>
        </p:spPr>
      </p:sp>
      <p:sp>
        <p:nvSpPr>
          <p:cNvPr id="11" name="Text 9"/>
          <p:cNvSpPr txBox="1"/>
          <p:nvPr/>
        </p:nvSpPr>
        <p:spPr>
          <a:xfrm>
            <a:off x="3840480" y="1618488"/>
            <a:ext cx="731520" cy="274320"/>
          </a:xfrm>
          <a:prstGeom prst="rect">
            <a:avLst/>
          </a:prstGeom>
          <a:noFill/>
          <a:ln/>
        </p:spPr>
        <p:txBody>
          <a:bodyPr wrap="square" lIns="0" tIns="0" rIns="0" bIns="0" rtlCol="0" anchor="t"/>
          <a:lstStyle/>
          <a:p>
            <a:pPr algn="ctr" indent="0" marL="0">
              <a:buNone/>
            </a:pPr>
            <a:r>
              <a:rPr lang="tr-TR" sz="1100" b="1" dirty="0">
                <a:solidFill>
                  <a:srgbClr val="028090"/>
                </a:solidFill>
                <a:latin typeface="Calibri" pitchFamily="34" charset="0"/>
                <a:ea typeface="Calibri" pitchFamily="34" charset="-122"/>
                <a:cs typeface="Calibri" pitchFamily="34" charset="-120"/>
              </a:rPr>
              <a:t>evet</a:t>
            </a:r>
            <a:endParaRPr lang="tr-TR" sz="1100" dirty="0"/>
          </a:p>
        </p:txBody>
      </p:sp>
      <p:sp>
        <p:nvSpPr>
          <p:cNvPr id="12" name="Shape 10"/>
          <p:cNvSpPr/>
          <p:nvPr/>
        </p:nvSpPr>
        <p:spPr>
          <a:xfrm>
            <a:off x="2148840" y="2276856"/>
            <a:ext cx="91" cy="310896"/>
          </a:xfrm>
          <a:prstGeom prst="line">
            <a:avLst/>
          </a:prstGeom>
          <a:noFill/>
          <a:ln w="25400">
            <a:solidFill>
              <a:srgbClr val="50808E"/>
            </a:solidFill>
            <a:prstDash val="solid"/>
            <a:tailEnd type="triangle"/>
          </a:ln>
        </p:spPr>
      </p:sp>
      <p:sp>
        <p:nvSpPr>
          <p:cNvPr id="13" name="Text 11"/>
          <p:cNvSpPr txBox="1"/>
          <p:nvPr/>
        </p:nvSpPr>
        <p:spPr>
          <a:xfrm>
            <a:off x="2240280" y="2304288"/>
            <a:ext cx="640080" cy="274320"/>
          </a:xfrm>
          <a:prstGeom prst="rect">
            <a:avLst/>
          </a:prstGeom>
          <a:noFill/>
          <a:ln/>
        </p:spPr>
        <p:txBody>
          <a:bodyPr wrap="square" lIns="0" tIns="0" rIns="0" bIns="0" rtlCol="0" anchor="t"/>
          <a:lstStyle/>
          <a:p>
            <a:pPr indent="0" marL="0">
              <a:buNone/>
            </a:pPr>
            <a:r>
              <a:rPr lang="tr-TR" sz="1100" b="1" dirty="0">
                <a:solidFill>
                  <a:srgbClr val="50808E"/>
                </a:solidFill>
                <a:latin typeface="Calibri" pitchFamily="34" charset="0"/>
                <a:ea typeface="Calibri" pitchFamily="34" charset="-122"/>
                <a:cs typeface="Calibri" pitchFamily="34" charset="-120"/>
              </a:rPr>
              <a:t>hayır</a:t>
            </a:r>
            <a:endParaRPr lang="tr-TR" sz="1100" dirty="0"/>
          </a:p>
        </p:txBody>
      </p:sp>
      <p:sp>
        <p:nvSpPr>
          <p:cNvPr id="14" name="Shape 12"/>
          <p:cNvSpPr/>
          <p:nvPr/>
        </p:nvSpPr>
        <p:spPr>
          <a:xfrm>
            <a:off x="548640" y="2606040"/>
            <a:ext cx="3200400" cy="658368"/>
          </a:xfrm>
          <a:prstGeom prst="roundRect">
            <a:avLst>
              <a:gd name="adj" fmla="val 6944"/>
            </a:avLst>
          </a:prstGeom>
          <a:solidFill>
            <a:srgbClr val="36454F"/>
          </a:solidFill>
          <a:ln/>
        </p:spPr>
      </p:sp>
      <p:sp>
        <p:nvSpPr>
          <p:cNvPr id="15" name="Text 13"/>
          <p:cNvSpPr txBox="1"/>
          <p:nvPr/>
        </p:nvSpPr>
        <p:spPr>
          <a:xfrm>
            <a:off x="548640" y="2606040"/>
            <a:ext cx="3200400"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UID'si dosyanın sahibi mi?</a:t>
            </a:r>
            <a:endParaRPr lang="tr-TR" sz="1300" dirty="0"/>
          </a:p>
        </p:txBody>
      </p:sp>
      <p:sp>
        <p:nvSpPr>
          <p:cNvPr id="16" name="Shape 14"/>
          <p:cNvSpPr/>
          <p:nvPr/>
        </p:nvSpPr>
        <p:spPr>
          <a:xfrm>
            <a:off x="4572000" y="2606040"/>
            <a:ext cx="3017520" cy="658368"/>
          </a:xfrm>
          <a:prstGeom prst="roundRect">
            <a:avLst>
              <a:gd name="adj" fmla="val 6944"/>
            </a:avLst>
          </a:prstGeom>
          <a:solidFill>
            <a:srgbClr val="D7E9E6"/>
          </a:solidFill>
          <a:ln/>
        </p:spPr>
      </p:sp>
      <p:sp>
        <p:nvSpPr>
          <p:cNvPr id="17" name="Text 15"/>
          <p:cNvSpPr txBox="1"/>
          <p:nvPr/>
        </p:nvSpPr>
        <p:spPr>
          <a:xfrm>
            <a:off x="4572000" y="2606040"/>
            <a:ext cx="3017520" cy="6583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sahip bitleri  rwx------</a:t>
            </a:r>
            <a:endParaRPr lang="tr-TR" sz="1200" dirty="0"/>
          </a:p>
        </p:txBody>
      </p:sp>
      <p:sp>
        <p:nvSpPr>
          <p:cNvPr id="18" name="Shape 16"/>
          <p:cNvSpPr/>
          <p:nvPr/>
        </p:nvSpPr>
        <p:spPr>
          <a:xfrm>
            <a:off x="3767328" y="2935224"/>
            <a:ext cx="786384" cy="91"/>
          </a:xfrm>
          <a:prstGeom prst="line">
            <a:avLst/>
          </a:prstGeom>
          <a:noFill/>
          <a:ln w="25400">
            <a:solidFill>
              <a:srgbClr val="028090"/>
            </a:solidFill>
            <a:prstDash val="solid"/>
            <a:tailEnd type="triangle"/>
          </a:ln>
        </p:spPr>
      </p:sp>
      <p:sp>
        <p:nvSpPr>
          <p:cNvPr id="19" name="Text 17"/>
          <p:cNvSpPr txBox="1"/>
          <p:nvPr/>
        </p:nvSpPr>
        <p:spPr>
          <a:xfrm>
            <a:off x="3840480" y="2624328"/>
            <a:ext cx="731520" cy="274320"/>
          </a:xfrm>
          <a:prstGeom prst="rect">
            <a:avLst/>
          </a:prstGeom>
          <a:noFill/>
          <a:ln/>
        </p:spPr>
        <p:txBody>
          <a:bodyPr wrap="square" lIns="0" tIns="0" rIns="0" bIns="0" rtlCol="0" anchor="t"/>
          <a:lstStyle/>
          <a:p>
            <a:pPr algn="ctr" indent="0" marL="0">
              <a:buNone/>
            </a:pPr>
            <a:r>
              <a:rPr lang="tr-TR" sz="1100" b="1" dirty="0">
                <a:solidFill>
                  <a:srgbClr val="028090"/>
                </a:solidFill>
                <a:latin typeface="Calibri" pitchFamily="34" charset="0"/>
                <a:ea typeface="Calibri" pitchFamily="34" charset="-122"/>
                <a:cs typeface="Calibri" pitchFamily="34" charset="-120"/>
              </a:rPr>
              <a:t>evet</a:t>
            </a:r>
            <a:endParaRPr lang="tr-TR" sz="1100" dirty="0"/>
          </a:p>
        </p:txBody>
      </p:sp>
      <p:sp>
        <p:nvSpPr>
          <p:cNvPr id="20" name="Shape 18"/>
          <p:cNvSpPr/>
          <p:nvPr/>
        </p:nvSpPr>
        <p:spPr>
          <a:xfrm>
            <a:off x="2148840" y="3282696"/>
            <a:ext cx="91" cy="310896"/>
          </a:xfrm>
          <a:prstGeom prst="line">
            <a:avLst/>
          </a:prstGeom>
          <a:noFill/>
          <a:ln w="25400">
            <a:solidFill>
              <a:srgbClr val="50808E"/>
            </a:solidFill>
            <a:prstDash val="solid"/>
            <a:tailEnd type="triangle"/>
          </a:ln>
        </p:spPr>
      </p:sp>
      <p:sp>
        <p:nvSpPr>
          <p:cNvPr id="21" name="Text 19"/>
          <p:cNvSpPr txBox="1"/>
          <p:nvPr/>
        </p:nvSpPr>
        <p:spPr>
          <a:xfrm>
            <a:off x="2240280" y="3310128"/>
            <a:ext cx="640080" cy="274320"/>
          </a:xfrm>
          <a:prstGeom prst="rect">
            <a:avLst/>
          </a:prstGeom>
          <a:noFill/>
          <a:ln/>
        </p:spPr>
        <p:txBody>
          <a:bodyPr wrap="square" lIns="0" tIns="0" rIns="0" bIns="0" rtlCol="0" anchor="t"/>
          <a:lstStyle/>
          <a:p>
            <a:pPr indent="0" marL="0">
              <a:buNone/>
            </a:pPr>
            <a:r>
              <a:rPr lang="tr-TR" sz="1100" b="1" dirty="0">
                <a:solidFill>
                  <a:srgbClr val="50808E"/>
                </a:solidFill>
                <a:latin typeface="Calibri" pitchFamily="34" charset="0"/>
                <a:ea typeface="Calibri" pitchFamily="34" charset="-122"/>
                <a:cs typeface="Calibri" pitchFamily="34" charset="-120"/>
              </a:rPr>
              <a:t>hayır</a:t>
            </a:r>
            <a:endParaRPr lang="tr-TR" sz="1100" dirty="0"/>
          </a:p>
        </p:txBody>
      </p:sp>
      <p:sp>
        <p:nvSpPr>
          <p:cNvPr id="22" name="Shape 20"/>
          <p:cNvSpPr/>
          <p:nvPr/>
        </p:nvSpPr>
        <p:spPr>
          <a:xfrm>
            <a:off x="548640" y="3611880"/>
            <a:ext cx="3200400" cy="658368"/>
          </a:xfrm>
          <a:prstGeom prst="roundRect">
            <a:avLst>
              <a:gd name="adj" fmla="val 6944"/>
            </a:avLst>
          </a:prstGeom>
          <a:solidFill>
            <a:srgbClr val="36454F"/>
          </a:solidFill>
          <a:ln/>
        </p:spPr>
      </p:sp>
      <p:sp>
        <p:nvSpPr>
          <p:cNvPr id="23" name="Text 21"/>
          <p:cNvSpPr txBox="1"/>
          <p:nvPr/>
        </p:nvSpPr>
        <p:spPr>
          <a:xfrm>
            <a:off x="548640" y="3611880"/>
            <a:ext cx="3200400"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Dosyanın grubu, sürecin gruplarından biri mi?</a:t>
            </a:r>
            <a:endParaRPr lang="tr-TR" sz="1300" dirty="0"/>
          </a:p>
        </p:txBody>
      </p:sp>
      <p:sp>
        <p:nvSpPr>
          <p:cNvPr id="24" name="Shape 22"/>
          <p:cNvSpPr/>
          <p:nvPr/>
        </p:nvSpPr>
        <p:spPr>
          <a:xfrm>
            <a:off x="4572000" y="3611880"/>
            <a:ext cx="3017520" cy="658368"/>
          </a:xfrm>
          <a:prstGeom prst="roundRect">
            <a:avLst>
              <a:gd name="adj" fmla="val 6944"/>
            </a:avLst>
          </a:prstGeom>
          <a:solidFill>
            <a:srgbClr val="D7E9E6"/>
          </a:solidFill>
          <a:ln/>
        </p:spPr>
      </p:sp>
      <p:sp>
        <p:nvSpPr>
          <p:cNvPr id="25" name="Text 23"/>
          <p:cNvSpPr txBox="1"/>
          <p:nvPr/>
        </p:nvSpPr>
        <p:spPr>
          <a:xfrm>
            <a:off x="4572000" y="3611880"/>
            <a:ext cx="3017520" cy="6583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grup bitleri  ---rwx---</a:t>
            </a:r>
            <a:endParaRPr lang="tr-TR" sz="1200" dirty="0"/>
          </a:p>
        </p:txBody>
      </p:sp>
      <p:sp>
        <p:nvSpPr>
          <p:cNvPr id="26" name="Shape 24"/>
          <p:cNvSpPr/>
          <p:nvPr/>
        </p:nvSpPr>
        <p:spPr>
          <a:xfrm>
            <a:off x="3767328" y="3941064"/>
            <a:ext cx="786384" cy="91"/>
          </a:xfrm>
          <a:prstGeom prst="line">
            <a:avLst/>
          </a:prstGeom>
          <a:noFill/>
          <a:ln w="25400">
            <a:solidFill>
              <a:srgbClr val="028090"/>
            </a:solidFill>
            <a:prstDash val="solid"/>
            <a:tailEnd type="triangle"/>
          </a:ln>
        </p:spPr>
      </p:sp>
      <p:sp>
        <p:nvSpPr>
          <p:cNvPr id="27" name="Text 25"/>
          <p:cNvSpPr txBox="1"/>
          <p:nvPr/>
        </p:nvSpPr>
        <p:spPr>
          <a:xfrm>
            <a:off x="3840480" y="3630168"/>
            <a:ext cx="731520" cy="274320"/>
          </a:xfrm>
          <a:prstGeom prst="rect">
            <a:avLst/>
          </a:prstGeom>
          <a:noFill/>
          <a:ln/>
        </p:spPr>
        <p:txBody>
          <a:bodyPr wrap="square" lIns="0" tIns="0" rIns="0" bIns="0" rtlCol="0" anchor="t"/>
          <a:lstStyle/>
          <a:p>
            <a:pPr algn="ctr" indent="0" marL="0">
              <a:buNone/>
            </a:pPr>
            <a:r>
              <a:rPr lang="tr-TR" sz="1100" b="1" dirty="0">
                <a:solidFill>
                  <a:srgbClr val="028090"/>
                </a:solidFill>
                <a:latin typeface="Calibri" pitchFamily="34" charset="0"/>
                <a:ea typeface="Calibri" pitchFamily="34" charset="-122"/>
                <a:cs typeface="Calibri" pitchFamily="34" charset="-120"/>
              </a:rPr>
              <a:t>evet</a:t>
            </a:r>
            <a:endParaRPr lang="tr-TR" sz="1100" dirty="0"/>
          </a:p>
        </p:txBody>
      </p:sp>
      <p:sp>
        <p:nvSpPr>
          <p:cNvPr id="28" name="Shape 26"/>
          <p:cNvSpPr/>
          <p:nvPr/>
        </p:nvSpPr>
        <p:spPr>
          <a:xfrm>
            <a:off x="2148840" y="4288536"/>
            <a:ext cx="91" cy="310896"/>
          </a:xfrm>
          <a:prstGeom prst="line">
            <a:avLst/>
          </a:prstGeom>
          <a:noFill/>
          <a:ln w="25400">
            <a:solidFill>
              <a:srgbClr val="50808E"/>
            </a:solidFill>
            <a:prstDash val="solid"/>
            <a:tailEnd type="triangle"/>
          </a:ln>
        </p:spPr>
      </p:sp>
      <p:sp>
        <p:nvSpPr>
          <p:cNvPr id="29" name="Text 27"/>
          <p:cNvSpPr txBox="1"/>
          <p:nvPr/>
        </p:nvSpPr>
        <p:spPr>
          <a:xfrm>
            <a:off x="2240280" y="4315968"/>
            <a:ext cx="640080" cy="274320"/>
          </a:xfrm>
          <a:prstGeom prst="rect">
            <a:avLst/>
          </a:prstGeom>
          <a:noFill/>
          <a:ln/>
        </p:spPr>
        <p:txBody>
          <a:bodyPr wrap="square" lIns="0" tIns="0" rIns="0" bIns="0" rtlCol="0" anchor="t"/>
          <a:lstStyle/>
          <a:p>
            <a:pPr indent="0" marL="0">
              <a:buNone/>
            </a:pPr>
            <a:r>
              <a:rPr lang="tr-TR" sz="1100" b="1" dirty="0">
                <a:solidFill>
                  <a:srgbClr val="50808E"/>
                </a:solidFill>
                <a:latin typeface="Calibri" pitchFamily="34" charset="0"/>
                <a:ea typeface="Calibri" pitchFamily="34" charset="-122"/>
                <a:cs typeface="Calibri" pitchFamily="34" charset="-120"/>
              </a:rPr>
              <a:t>hayır</a:t>
            </a:r>
            <a:endParaRPr lang="tr-TR" sz="1100" dirty="0"/>
          </a:p>
        </p:txBody>
      </p:sp>
      <p:sp>
        <p:nvSpPr>
          <p:cNvPr id="30" name="Shape 28"/>
          <p:cNvSpPr/>
          <p:nvPr/>
        </p:nvSpPr>
        <p:spPr>
          <a:xfrm>
            <a:off x="548640" y="4617720"/>
            <a:ext cx="3200400" cy="658368"/>
          </a:xfrm>
          <a:prstGeom prst="roundRect">
            <a:avLst>
              <a:gd name="adj" fmla="val 6944"/>
            </a:avLst>
          </a:prstGeom>
          <a:solidFill>
            <a:srgbClr val="F2F2F2"/>
          </a:solidFill>
          <a:ln/>
        </p:spPr>
      </p:sp>
      <p:sp>
        <p:nvSpPr>
          <p:cNvPr id="31" name="Text 29"/>
          <p:cNvSpPr txBox="1"/>
          <p:nvPr/>
        </p:nvSpPr>
        <p:spPr>
          <a:xfrm>
            <a:off x="548640" y="4617720"/>
            <a:ext cx="3200400" cy="658368"/>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Hiçbiri değilse …</a:t>
            </a:r>
            <a:endParaRPr lang="tr-TR" sz="1300" dirty="0"/>
          </a:p>
        </p:txBody>
      </p:sp>
      <p:sp>
        <p:nvSpPr>
          <p:cNvPr id="32" name="Shape 30"/>
          <p:cNvSpPr/>
          <p:nvPr/>
        </p:nvSpPr>
        <p:spPr>
          <a:xfrm>
            <a:off x="4572000" y="4617720"/>
            <a:ext cx="3017520" cy="658368"/>
          </a:xfrm>
          <a:prstGeom prst="roundRect">
            <a:avLst>
              <a:gd name="adj" fmla="val 6944"/>
            </a:avLst>
          </a:prstGeom>
          <a:solidFill>
            <a:srgbClr val="D7E9E6"/>
          </a:solidFill>
          <a:ln/>
        </p:spPr>
      </p:sp>
      <p:sp>
        <p:nvSpPr>
          <p:cNvPr id="33" name="Text 31"/>
          <p:cNvSpPr txBox="1"/>
          <p:nvPr/>
        </p:nvSpPr>
        <p:spPr>
          <a:xfrm>
            <a:off x="4572000" y="4617720"/>
            <a:ext cx="3017520" cy="6583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diğerleri bitleri  ------rwx</a:t>
            </a:r>
            <a:endParaRPr lang="tr-TR" sz="1200" dirty="0"/>
          </a:p>
        </p:txBody>
      </p:sp>
      <p:sp>
        <p:nvSpPr>
          <p:cNvPr id="34" name="Shape 32"/>
          <p:cNvSpPr/>
          <p:nvPr/>
        </p:nvSpPr>
        <p:spPr>
          <a:xfrm>
            <a:off x="3767328" y="4946904"/>
            <a:ext cx="786384" cy="91"/>
          </a:xfrm>
          <a:prstGeom prst="line">
            <a:avLst/>
          </a:prstGeom>
          <a:noFill/>
          <a:ln w="25400">
            <a:solidFill>
              <a:srgbClr val="028090"/>
            </a:solidFill>
            <a:prstDash val="solid"/>
            <a:tailEnd type="triangle"/>
          </a:ln>
        </p:spPr>
      </p:sp>
      <p:sp>
        <p:nvSpPr>
          <p:cNvPr id="35" name="Text 33"/>
          <p:cNvSpPr txBox="1"/>
          <p:nvPr/>
        </p:nvSpPr>
        <p:spPr>
          <a:xfrm>
            <a:off x="548640" y="5486400"/>
            <a:ext cx="6949440" cy="365760"/>
          </a:xfrm>
          <a:prstGeom prst="rect">
            <a:avLst/>
          </a:prstGeom>
          <a:noFill/>
          <a:ln/>
        </p:spPr>
        <p:txBody>
          <a:bodyPr wrap="square" lIns="0" tIns="0" rIns="0" bIns="0" rtlCol="0" anchor="t"/>
          <a:lstStyle/>
          <a:p>
            <a:pPr indent="0" marL="0">
              <a:buNone/>
            </a:pPr>
            <a:r>
              <a:rPr lang="tr-TR" sz="1350" i="1" dirty="0">
                <a:solidFill>
                  <a:srgbClr val="6B7679"/>
                </a:solidFill>
                <a:latin typeface="Calibri" pitchFamily="34" charset="0"/>
                <a:ea typeface="Calibri" pitchFamily="34" charset="-122"/>
                <a:cs typeface="Calibri" pitchFamily="34" charset="-120"/>
              </a:rPr>
              <a:t>Arama ilk eşleşmede durur.</a:t>
            </a:r>
            <a:endParaRPr lang="tr-TR" sz="1350" dirty="0"/>
          </a:p>
        </p:txBody>
      </p:sp>
      <p:sp>
        <p:nvSpPr>
          <p:cNvPr id="36" name="Shape 34"/>
          <p:cNvSpPr/>
          <p:nvPr/>
        </p:nvSpPr>
        <p:spPr>
          <a:xfrm>
            <a:off x="7726680" y="1600200"/>
            <a:ext cx="3931920" cy="2514600"/>
          </a:xfrm>
          <a:prstGeom prst="roundRect">
            <a:avLst>
              <a:gd name="adj" fmla="val 1818"/>
            </a:avLst>
          </a:prstGeom>
          <a:solidFill>
            <a:srgbClr val="212121"/>
          </a:solidFill>
          <a:ln/>
        </p:spPr>
      </p:sp>
      <p:sp>
        <p:nvSpPr>
          <p:cNvPr id="37" name="Text 35"/>
          <p:cNvSpPr txBox="1"/>
          <p:nvPr/>
        </p:nvSpPr>
        <p:spPr>
          <a:xfrm>
            <a:off x="7909560" y="1709928"/>
            <a:ext cx="3566160" cy="2295144"/>
          </a:xfrm>
          <a:prstGeom prst="rect">
            <a:avLst/>
          </a:prstGeom>
          <a:noFill/>
          <a:ln/>
        </p:spPr>
        <p:txBody>
          <a:bodyPr wrap="square" lIns="0" tIns="0" rIns="0" bIns="0" rtlCol="0" anchor="t"/>
          <a:lstStyle/>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echo "hello" &gt; me.txt</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chmod 074 me.txt</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ls -l me.txt</a:t>
            </a:r>
            <a:endParaRPr lang="tr-TR" sz="900" dirty="0"/>
          </a:p>
          <a:p>
            <a:pPr indent="0" marL="0">
              <a:lnSpc>
                <a:spcPct val="100000"/>
              </a:lnSpc>
              <a:buNone/>
            </a:pPr>
            <a:r>
              <a:rPr lang="tr-TR" sz="900" dirty="0">
                <a:solidFill>
                  <a:srgbClr val="F2F2F2"/>
                </a:solidFill>
                <a:latin typeface="Consolas" pitchFamily="34" charset="0"/>
                <a:ea typeface="Consolas" pitchFamily="34" charset="-122"/>
                <a:cs typeface="Consolas" pitchFamily="34" charset="-120"/>
              </a:rPr>
              <a:t>----rwxr-- 1 student student 6 Oct 12 19:38 me.txt</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cat me.txt</a:t>
            </a:r>
            <a:endParaRPr lang="tr-TR" sz="900" dirty="0"/>
          </a:p>
          <a:p>
            <a:pPr indent="0" marL="0">
              <a:lnSpc>
                <a:spcPct val="100000"/>
              </a:lnSpc>
              <a:buNone/>
            </a:pPr>
            <a:r>
              <a:rPr lang="tr-TR" sz="900" dirty="0">
                <a:solidFill>
                  <a:srgbClr val="F4A79D"/>
                </a:solidFill>
                <a:latin typeface="Consolas" pitchFamily="34" charset="0"/>
                <a:ea typeface="Consolas" pitchFamily="34" charset="-122"/>
                <a:cs typeface="Consolas" pitchFamily="34" charset="-120"/>
              </a:rPr>
              <a:t>cat: me.txt: Permission denied</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chmod 644 me.txt</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cat me.txt</a:t>
            </a:r>
            <a:endParaRPr lang="tr-TR" sz="900" dirty="0"/>
          </a:p>
          <a:p>
            <a:pPr indent="0" marL="0">
              <a:lnSpc>
                <a:spcPct val="100000"/>
              </a:lnSpc>
              <a:buNone/>
            </a:pPr>
            <a:r>
              <a:rPr lang="tr-TR" sz="900" dirty="0">
                <a:solidFill>
                  <a:srgbClr val="F2F2F2"/>
                </a:solidFill>
                <a:latin typeface="Consolas" pitchFamily="34" charset="0"/>
                <a:ea typeface="Consolas" pitchFamily="34" charset="-122"/>
                <a:cs typeface="Consolas" pitchFamily="34" charset="-120"/>
              </a:rPr>
              <a:t>hello</a:t>
            </a:r>
            <a:endParaRPr lang="tr-TR" sz="900" dirty="0"/>
          </a:p>
        </p:txBody>
      </p:sp>
      <p:sp>
        <p:nvSpPr>
          <p:cNvPr id="38" name="Shape 36"/>
          <p:cNvSpPr/>
          <p:nvPr/>
        </p:nvSpPr>
        <p:spPr>
          <a:xfrm>
            <a:off x="7726680" y="4297680"/>
            <a:ext cx="3931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sp>
      <p:sp>
        <p:nvSpPr>
          <p:cNvPr id="39" name="Text 37"/>
          <p:cNvSpPr txBox="1"/>
          <p:nvPr/>
        </p:nvSpPr>
        <p:spPr>
          <a:xfrm>
            <a:off x="7955280" y="4480560"/>
            <a:ext cx="347472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Sürpriz</a:t>
            </a:r>
            <a:endParaRPr lang="tr-TR" sz="1500" dirty="0"/>
          </a:p>
        </p:txBody>
      </p:sp>
      <p:sp>
        <p:nvSpPr>
          <p:cNvPr id="40" name="Text 38"/>
          <p:cNvSpPr txBox="1"/>
          <p:nvPr/>
        </p:nvSpPr>
        <p:spPr>
          <a:xfrm>
            <a:off x="7955280" y="4937760"/>
            <a:ext cx="3474720" cy="118872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Sahip bitleri --- olduğu için, geri kalan herkes okuyabildiği hâlde sahip reddedilir. Çekirdek hiçbir zaman öbür sınıflara "düşmez".</a:t>
            </a:r>
            <a:endParaRPr lang="tr-TR"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İzinleri ls -l, ls -ld ve stat ile Okumak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12</a:t>
            </a:r>
            <a:endParaRPr lang="tr-TR" sz="900" dirty="0"/>
          </a:p>
        </p:txBody>
      </p:sp>
      <p:sp>
        <p:nvSpPr>
          <p:cNvPr id="6" name="Shape 4"/>
          <p:cNvSpPr/>
          <p:nvPr/>
        </p:nvSpPr>
        <p:spPr>
          <a:xfrm>
            <a:off x="548640" y="1508760"/>
            <a:ext cx="7589520" cy="4754880"/>
          </a:xfrm>
          <a:prstGeom prst="roundRect">
            <a:avLst>
              <a:gd name="adj" fmla="val 962"/>
            </a:avLst>
          </a:prstGeom>
          <a:solidFill>
            <a:srgbClr val="212121"/>
          </a:solidFill>
          <a:ln/>
        </p:spPr>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-l docs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total 24</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53 Oct 12 19:38 'final report.txt'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302 Oct 12 19:38  linux_quotes.txt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16 Oct 12 19:38  notes_01.txt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16 Oct 12 19:38  notes_02.txt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16 Oct 12 19:38  notes_03.txt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-rw-rw-r-- 1 student student 578 Oct 12 19:38  syllabus.txt</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-ld docs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drwxrwxr-x 2 student student 4096 Oct 12 19:38 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stat docs/syllabus.txt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File: docs/syllabus.txt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Size: 578       	Blocks: 8          IO Block: 4096   regular file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Device: 254,0	Inode: 804012      Links: 1</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Access: (0664/-rw-rw-r--)  Uid: ( 1011/ student)   Gid: ( 1013/ student)</a:t>
            </a:r>
            <a:endParaRPr lang="tr-TR" sz="1050" dirty="0"/>
          </a:p>
          <a:p>
            <a:pPr indent="0" marL="0">
              <a:lnSpc>
                <a:spcPct val="100000"/>
              </a:lnSpc>
              <a:buNone/>
            </a:pPr>
            <a:r>
              <a:rPr lang="tr-TR" sz="1050" dirty="0">
                <a:solidFill>
                  <a:srgbClr val="8A9AA0"/>
                </a:solidFill>
                <a:latin typeface="Consolas" pitchFamily="34" charset="0"/>
                <a:ea typeface="Consolas" pitchFamily="34" charset="-122"/>
                <a:cs typeface="Consolas" pitchFamily="34" charset="-120"/>
              </a:rPr>
              <a:t>...</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stat -c '%A  %a  %U  %G  %n' docs/syllabus.txt docs src/hello.c</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664  student  student  docs/syllabus.txt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drwxrwxr-x  775  student  student  docs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-rw-rw-r--  664  student  student  src/hello.c</a:t>
            </a:r>
            <a:endParaRPr lang="tr-TR" sz="1050" dirty="0"/>
          </a:p>
        </p:txBody>
      </p:sp>
      <p:sp>
        <p:nvSpPr>
          <p:cNvPr id="8" name="Shape 6"/>
          <p:cNvSpPr/>
          <p:nvPr/>
        </p:nvSpPr>
        <p:spPr>
          <a:xfrm>
            <a:off x="8366760" y="1508760"/>
            <a:ext cx="3291840" cy="4754880"/>
          </a:xfrm>
          <a:prstGeom prst="roundRect">
            <a:avLst>
              <a:gd name="adj" fmla="val 16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595360" y="1691640"/>
            <a:ext cx="2834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595360" y="2148840"/>
            <a:ext cx="2834640" cy="397764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ls -l docs İÇİNDEKİ dosyaları listeler; ls -ld docs dizinin kendisini gösterir.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stat modu iki kez yazdırır: 0664 ve -rw-rw-r--.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%A %a %U %G %n ile stat -c yalnızca gerekeni yazdırır.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Yeni dosyalar 664, yeni dizinler 775 — neden? Bkz. umask, 4. bölüm.</a:t>
            </a:r>
            <a:endParaRPr lang="tr-TR"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İzinleri Değiştirmek: chmod</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Aynı şeyi söylemenin iki yolu: harflerle (u+x) ya da sayılarla (754).</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13</a:t>
            </a:r>
            <a:endParaRPr lang="tr-TR"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CHMOD · SEMBOLİK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chmod  kim  işleç  izinler  dosya …</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14</a:t>
            </a:r>
            <a:endParaRPr lang="tr-TR" sz="900" dirty="0"/>
          </a:p>
        </p:txBody>
      </p:sp>
      <p:sp>
        <p:nvSpPr>
          <p:cNvPr id="6" name="Text 4"/>
          <p:cNvSpPr txBox="1"/>
          <p:nvPr/>
        </p:nvSpPr>
        <p:spPr>
          <a:xfrm>
            <a:off x="548640" y="1508760"/>
            <a:ext cx="1783080" cy="320040"/>
          </a:xfrm>
          <a:prstGeom prst="rect">
            <a:avLst/>
          </a:prstGeom>
          <a:noFill/>
          <a:ln/>
        </p:spPr>
        <p:txBody>
          <a:bodyPr wrap="square" lIns="0" tIns="0" rIns="0" bIns="0" rtlCol="0" anchor="t"/>
          <a:lstStyle/>
          <a:p>
            <a:pPr algn="ctr" indent="0" marL="0">
              <a:buNone/>
            </a:pPr>
            <a:r>
              <a:rPr lang="tr-TR" sz="1400" b="1" dirty="0">
                <a:solidFill>
                  <a:srgbClr val="028090"/>
                </a:solidFill>
                <a:latin typeface="Calibri" pitchFamily="34" charset="0"/>
                <a:ea typeface="Calibri" pitchFamily="34" charset="-122"/>
                <a:cs typeface="Calibri" pitchFamily="34" charset="-120"/>
              </a:rPr>
              <a:t>kim</a:t>
            </a:r>
            <a:endParaRPr lang="tr-TR" sz="1400" dirty="0"/>
          </a:p>
        </p:txBody>
      </p:sp>
      <p:sp>
        <p:nvSpPr>
          <p:cNvPr id="7" name="Shape 5"/>
          <p:cNvSpPr/>
          <p:nvPr/>
        </p:nvSpPr>
        <p:spPr>
          <a:xfrm>
            <a:off x="548640" y="1874520"/>
            <a:ext cx="566928" cy="548640"/>
          </a:xfrm>
          <a:prstGeom prst="roundRect">
            <a:avLst>
              <a:gd name="adj" fmla="val 8333"/>
            </a:avLst>
          </a:prstGeom>
          <a:solidFill>
            <a:srgbClr val="36454F"/>
          </a:solidFill>
          <a:ln/>
        </p:spPr>
      </p:sp>
      <p:sp>
        <p:nvSpPr>
          <p:cNvPr id="8" name="Text 6"/>
          <p:cNvSpPr txBox="1"/>
          <p:nvPr/>
        </p:nvSpPr>
        <p:spPr>
          <a:xfrm>
            <a:off x="548640" y="1874520"/>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u</a:t>
            </a:r>
            <a:endParaRPr lang="tr-TR" sz="2000" dirty="0"/>
          </a:p>
        </p:txBody>
      </p:sp>
      <p:sp>
        <p:nvSpPr>
          <p:cNvPr id="9" name="Text 7"/>
          <p:cNvSpPr txBox="1"/>
          <p:nvPr/>
        </p:nvSpPr>
        <p:spPr>
          <a:xfrm>
            <a:off x="1188720" y="1874520"/>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kullanıcı = sahip</a:t>
            </a:r>
            <a:endParaRPr lang="tr-TR" sz="1300" dirty="0"/>
          </a:p>
        </p:txBody>
      </p:sp>
      <p:sp>
        <p:nvSpPr>
          <p:cNvPr id="10" name="Shape 8"/>
          <p:cNvSpPr/>
          <p:nvPr/>
        </p:nvSpPr>
        <p:spPr>
          <a:xfrm>
            <a:off x="548640" y="2532888"/>
            <a:ext cx="566928" cy="548640"/>
          </a:xfrm>
          <a:prstGeom prst="roundRect">
            <a:avLst>
              <a:gd name="adj" fmla="val 8333"/>
            </a:avLst>
          </a:prstGeom>
          <a:solidFill>
            <a:srgbClr val="36454F"/>
          </a:solidFill>
          <a:ln/>
        </p:spPr>
      </p:sp>
      <p:sp>
        <p:nvSpPr>
          <p:cNvPr id="11" name="Text 9"/>
          <p:cNvSpPr txBox="1"/>
          <p:nvPr/>
        </p:nvSpPr>
        <p:spPr>
          <a:xfrm>
            <a:off x="548640" y="2532888"/>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g</a:t>
            </a:r>
            <a:endParaRPr lang="tr-TR" sz="2000" dirty="0"/>
          </a:p>
        </p:txBody>
      </p:sp>
      <p:sp>
        <p:nvSpPr>
          <p:cNvPr id="12" name="Text 10"/>
          <p:cNvSpPr txBox="1"/>
          <p:nvPr/>
        </p:nvSpPr>
        <p:spPr>
          <a:xfrm>
            <a:off x="1188720" y="2532888"/>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grup</a:t>
            </a:r>
            <a:endParaRPr lang="tr-TR" sz="1300" dirty="0"/>
          </a:p>
        </p:txBody>
      </p:sp>
      <p:sp>
        <p:nvSpPr>
          <p:cNvPr id="13" name="Shape 11"/>
          <p:cNvSpPr/>
          <p:nvPr/>
        </p:nvSpPr>
        <p:spPr>
          <a:xfrm>
            <a:off x="548640" y="3191256"/>
            <a:ext cx="566928" cy="548640"/>
          </a:xfrm>
          <a:prstGeom prst="roundRect">
            <a:avLst>
              <a:gd name="adj" fmla="val 8333"/>
            </a:avLst>
          </a:prstGeom>
          <a:solidFill>
            <a:srgbClr val="36454F"/>
          </a:solidFill>
          <a:ln/>
        </p:spPr>
      </p:sp>
      <p:sp>
        <p:nvSpPr>
          <p:cNvPr id="14" name="Text 12"/>
          <p:cNvSpPr txBox="1"/>
          <p:nvPr/>
        </p:nvSpPr>
        <p:spPr>
          <a:xfrm>
            <a:off x="548640" y="3191256"/>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o</a:t>
            </a:r>
            <a:endParaRPr lang="tr-TR" sz="2000" dirty="0"/>
          </a:p>
        </p:txBody>
      </p:sp>
      <p:sp>
        <p:nvSpPr>
          <p:cNvPr id="15" name="Text 13"/>
          <p:cNvSpPr txBox="1"/>
          <p:nvPr/>
        </p:nvSpPr>
        <p:spPr>
          <a:xfrm>
            <a:off x="1188720" y="3191256"/>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diğerleri</a:t>
            </a:r>
            <a:endParaRPr lang="tr-TR" sz="1300" dirty="0"/>
          </a:p>
        </p:txBody>
      </p:sp>
      <p:sp>
        <p:nvSpPr>
          <p:cNvPr id="16" name="Shape 14"/>
          <p:cNvSpPr/>
          <p:nvPr/>
        </p:nvSpPr>
        <p:spPr>
          <a:xfrm>
            <a:off x="548640" y="3849624"/>
            <a:ext cx="566928" cy="548640"/>
          </a:xfrm>
          <a:prstGeom prst="roundRect">
            <a:avLst>
              <a:gd name="adj" fmla="val 8333"/>
            </a:avLst>
          </a:prstGeom>
          <a:solidFill>
            <a:srgbClr val="36454F"/>
          </a:solidFill>
          <a:ln/>
        </p:spPr>
      </p:sp>
      <p:sp>
        <p:nvSpPr>
          <p:cNvPr id="17" name="Text 15"/>
          <p:cNvSpPr txBox="1"/>
          <p:nvPr/>
        </p:nvSpPr>
        <p:spPr>
          <a:xfrm>
            <a:off x="548640" y="3849624"/>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a</a:t>
            </a:r>
            <a:endParaRPr lang="tr-TR" sz="2000" dirty="0"/>
          </a:p>
        </p:txBody>
      </p:sp>
      <p:sp>
        <p:nvSpPr>
          <p:cNvPr id="18" name="Text 16"/>
          <p:cNvSpPr txBox="1"/>
          <p:nvPr/>
        </p:nvSpPr>
        <p:spPr>
          <a:xfrm>
            <a:off x="1188720" y="3849624"/>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hepsi (= ugo)</a:t>
            </a:r>
            <a:endParaRPr lang="tr-TR" sz="1300" dirty="0"/>
          </a:p>
        </p:txBody>
      </p:sp>
      <p:sp>
        <p:nvSpPr>
          <p:cNvPr id="19" name="Text 17"/>
          <p:cNvSpPr txBox="1"/>
          <p:nvPr/>
        </p:nvSpPr>
        <p:spPr>
          <a:xfrm>
            <a:off x="2514600" y="1508760"/>
            <a:ext cx="1783080" cy="320040"/>
          </a:xfrm>
          <a:prstGeom prst="rect">
            <a:avLst/>
          </a:prstGeom>
          <a:noFill/>
          <a:ln/>
        </p:spPr>
        <p:txBody>
          <a:bodyPr wrap="square" lIns="0" tIns="0" rIns="0" bIns="0" rtlCol="0" anchor="t"/>
          <a:lstStyle/>
          <a:p>
            <a:pPr algn="ctr" indent="0" marL="0">
              <a:buNone/>
            </a:pPr>
            <a:r>
              <a:rPr lang="tr-TR" sz="1400" b="1" dirty="0">
                <a:solidFill>
                  <a:srgbClr val="028090"/>
                </a:solidFill>
                <a:latin typeface="Calibri" pitchFamily="34" charset="0"/>
                <a:ea typeface="Calibri" pitchFamily="34" charset="-122"/>
                <a:cs typeface="Calibri" pitchFamily="34" charset="-120"/>
              </a:rPr>
              <a:t>işleç</a:t>
            </a:r>
            <a:endParaRPr lang="tr-TR" sz="1400" dirty="0"/>
          </a:p>
        </p:txBody>
      </p:sp>
      <p:sp>
        <p:nvSpPr>
          <p:cNvPr id="20" name="Shape 18"/>
          <p:cNvSpPr/>
          <p:nvPr/>
        </p:nvSpPr>
        <p:spPr>
          <a:xfrm>
            <a:off x="2514600" y="1874520"/>
            <a:ext cx="566928" cy="548640"/>
          </a:xfrm>
          <a:prstGeom prst="roundRect">
            <a:avLst>
              <a:gd name="adj" fmla="val 8333"/>
            </a:avLst>
          </a:prstGeom>
          <a:solidFill>
            <a:srgbClr val="36454F"/>
          </a:solidFill>
          <a:ln/>
        </p:spPr>
      </p:sp>
      <p:sp>
        <p:nvSpPr>
          <p:cNvPr id="21" name="Text 19"/>
          <p:cNvSpPr txBox="1"/>
          <p:nvPr/>
        </p:nvSpPr>
        <p:spPr>
          <a:xfrm>
            <a:off x="2514600" y="1874520"/>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a:t>
            </a:r>
            <a:endParaRPr lang="tr-TR" sz="2000" dirty="0"/>
          </a:p>
        </p:txBody>
      </p:sp>
      <p:sp>
        <p:nvSpPr>
          <p:cNvPr id="22" name="Text 20"/>
          <p:cNvSpPr txBox="1"/>
          <p:nvPr/>
        </p:nvSpPr>
        <p:spPr>
          <a:xfrm>
            <a:off x="3154680" y="1874520"/>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ekle</a:t>
            </a:r>
            <a:endParaRPr lang="tr-TR" sz="1300" dirty="0"/>
          </a:p>
        </p:txBody>
      </p:sp>
      <p:sp>
        <p:nvSpPr>
          <p:cNvPr id="23" name="Shape 21"/>
          <p:cNvSpPr/>
          <p:nvPr/>
        </p:nvSpPr>
        <p:spPr>
          <a:xfrm>
            <a:off x="2514600" y="2532888"/>
            <a:ext cx="566928" cy="548640"/>
          </a:xfrm>
          <a:prstGeom prst="roundRect">
            <a:avLst>
              <a:gd name="adj" fmla="val 8333"/>
            </a:avLst>
          </a:prstGeom>
          <a:solidFill>
            <a:srgbClr val="36454F"/>
          </a:solidFill>
          <a:ln/>
        </p:spPr>
      </p:sp>
      <p:sp>
        <p:nvSpPr>
          <p:cNvPr id="24" name="Text 22"/>
          <p:cNvSpPr txBox="1"/>
          <p:nvPr/>
        </p:nvSpPr>
        <p:spPr>
          <a:xfrm>
            <a:off x="2514600" y="2532888"/>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a:t>
            </a:r>
            <a:endParaRPr lang="tr-TR" sz="2000" dirty="0"/>
          </a:p>
        </p:txBody>
      </p:sp>
      <p:sp>
        <p:nvSpPr>
          <p:cNvPr id="25" name="Text 23"/>
          <p:cNvSpPr txBox="1"/>
          <p:nvPr/>
        </p:nvSpPr>
        <p:spPr>
          <a:xfrm>
            <a:off x="3154680" y="2532888"/>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kaldır</a:t>
            </a:r>
            <a:endParaRPr lang="tr-TR" sz="1300" dirty="0"/>
          </a:p>
        </p:txBody>
      </p:sp>
      <p:sp>
        <p:nvSpPr>
          <p:cNvPr id="26" name="Shape 24"/>
          <p:cNvSpPr/>
          <p:nvPr/>
        </p:nvSpPr>
        <p:spPr>
          <a:xfrm>
            <a:off x="2514600" y="3191256"/>
            <a:ext cx="566928" cy="548640"/>
          </a:xfrm>
          <a:prstGeom prst="roundRect">
            <a:avLst>
              <a:gd name="adj" fmla="val 8333"/>
            </a:avLst>
          </a:prstGeom>
          <a:solidFill>
            <a:srgbClr val="36454F"/>
          </a:solidFill>
          <a:ln/>
        </p:spPr>
      </p:sp>
      <p:sp>
        <p:nvSpPr>
          <p:cNvPr id="27" name="Text 25"/>
          <p:cNvSpPr txBox="1"/>
          <p:nvPr/>
        </p:nvSpPr>
        <p:spPr>
          <a:xfrm>
            <a:off x="2514600" y="3191256"/>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a:t>
            </a:r>
            <a:endParaRPr lang="tr-TR" sz="2000" dirty="0"/>
          </a:p>
        </p:txBody>
      </p:sp>
      <p:sp>
        <p:nvSpPr>
          <p:cNvPr id="28" name="Text 26"/>
          <p:cNvSpPr txBox="1"/>
          <p:nvPr/>
        </p:nvSpPr>
        <p:spPr>
          <a:xfrm>
            <a:off x="3154680" y="3191256"/>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tam olarak ata</a:t>
            </a:r>
            <a:endParaRPr lang="tr-TR" sz="1300" dirty="0"/>
          </a:p>
        </p:txBody>
      </p:sp>
      <p:sp>
        <p:nvSpPr>
          <p:cNvPr id="29" name="Text 27"/>
          <p:cNvSpPr txBox="1"/>
          <p:nvPr/>
        </p:nvSpPr>
        <p:spPr>
          <a:xfrm>
            <a:off x="4480560" y="1508760"/>
            <a:ext cx="1783080" cy="320040"/>
          </a:xfrm>
          <a:prstGeom prst="rect">
            <a:avLst/>
          </a:prstGeom>
          <a:noFill/>
          <a:ln/>
        </p:spPr>
        <p:txBody>
          <a:bodyPr wrap="square" lIns="0" tIns="0" rIns="0" bIns="0" rtlCol="0" anchor="t"/>
          <a:lstStyle/>
          <a:p>
            <a:pPr algn="ctr" indent="0" marL="0">
              <a:buNone/>
            </a:pPr>
            <a:r>
              <a:rPr lang="tr-TR" sz="1400" b="1" dirty="0">
                <a:solidFill>
                  <a:srgbClr val="028090"/>
                </a:solidFill>
                <a:latin typeface="Calibri" pitchFamily="34" charset="0"/>
                <a:ea typeface="Calibri" pitchFamily="34" charset="-122"/>
                <a:cs typeface="Calibri" pitchFamily="34" charset="-120"/>
              </a:rPr>
              <a:t>izinler</a:t>
            </a:r>
            <a:endParaRPr lang="tr-TR" sz="1400" dirty="0"/>
          </a:p>
        </p:txBody>
      </p:sp>
      <p:sp>
        <p:nvSpPr>
          <p:cNvPr id="30" name="Shape 28"/>
          <p:cNvSpPr/>
          <p:nvPr/>
        </p:nvSpPr>
        <p:spPr>
          <a:xfrm>
            <a:off x="4480560" y="1874520"/>
            <a:ext cx="566928" cy="548640"/>
          </a:xfrm>
          <a:prstGeom prst="roundRect">
            <a:avLst>
              <a:gd name="adj" fmla="val 8333"/>
            </a:avLst>
          </a:prstGeom>
          <a:solidFill>
            <a:srgbClr val="36454F"/>
          </a:solidFill>
          <a:ln/>
        </p:spPr>
      </p:sp>
      <p:sp>
        <p:nvSpPr>
          <p:cNvPr id="31" name="Text 29"/>
          <p:cNvSpPr txBox="1"/>
          <p:nvPr/>
        </p:nvSpPr>
        <p:spPr>
          <a:xfrm>
            <a:off x="4480560" y="1874520"/>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r</a:t>
            </a:r>
            <a:endParaRPr lang="tr-TR" sz="2000" dirty="0"/>
          </a:p>
        </p:txBody>
      </p:sp>
      <p:sp>
        <p:nvSpPr>
          <p:cNvPr id="32" name="Text 30"/>
          <p:cNvSpPr txBox="1"/>
          <p:nvPr/>
        </p:nvSpPr>
        <p:spPr>
          <a:xfrm>
            <a:off x="5120640" y="1874520"/>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okuma</a:t>
            </a:r>
            <a:endParaRPr lang="tr-TR" sz="1300" dirty="0"/>
          </a:p>
        </p:txBody>
      </p:sp>
      <p:sp>
        <p:nvSpPr>
          <p:cNvPr id="33" name="Shape 31"/>
          <p:cNvSpPr/>
          <p:nvPr/>
        </p:nvSpPr>
        <p:spPr>
          <a:xfrm>
            <a:off x="4480560" y="2532888"/>
            <a:ext cx="566928" cy="548640"/>
          </a:xfrm>
          <a:prstGeom prst="roundRect">
            <a:avLst>
              <a:gd name="adj" fmla="val 8333"/>
            </a:avLst>
          </a:prstGeom>
          <a:solidFill>
            <a:srgbClr val="36454F"/>
          </a:solidFill>
          <a:ln/>
        </p:spPr>
      </p:sp>
      <p:sp>
        <p:nvSpPr>
          <p:cNvPr id="34" name="Text 32"/>
          <p:cNvSpPr txBox="1"/>
          <p:nvPr/>
        </p:nvSpPr>
        <p:spPr>
          <a:xfrm>
            <a:off x="4480560" y="2532888"/>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w</a:t>
            </a:r>
            <a:endParaRPr lang="tr-TR" sz="2000" dirty="0"/>
          </a:p>
        </p:txBody>
      </p:sp>
      <p:sp>
        <p:nvSpPr>
          <p:cNvPr id="35" name="Text 33"/>
          <p:cNvSpPr txBox="1"/>
          <p:nvPr/>
        </p:nvSpPr>
        <p:spPr>
          <a:xfrm>
            <a:off x="5120640" y="2532888"/>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yazma</a:t>
            </a:r>
            <a:endParaRPr lang="tr-TR" sz="1300" dirty="0"/>
          </a:p>
        </p:txBody>
      </p:sp>
      <p:sp>
        <p:nvSpPr>
          <p:cNvPr id="36" name="Shape 34"/>
          <p:cNvSpPr/>
          <p:nvPr/>
        </p:nvSpPr>
        <p:spPr>
          <a:xfrm>
            <a:off x="4480560" y="3191256"/>
            <a:ext cx="566928" cy="548640"/>
          </a:xfrm>
          <a:prstGeom prst="roundRect">
            <a:avLst>
              <a:gd name="adj" fmla="val 8333"/>
            </a:avLst>
          </a:prstGeom>
          <a:solidFill>
            <a:srgbClr val="36454F"/>
          </a:solidFill>
          <a:ln/>
        </p:spPr>
      </p:sp>
      <p:sp>
        <p:nvSpPr>
          <p:cNvPr id="37" name="Text 35"/>
          <p:cNvSpPr txBox="1"/>
          <p:nvPr/>
        </p:nvSpPr>
        <p:spPr>
          <a:xfrm>
            <a:off x="4480560" y="3191256"/>
            <a:ext cx="566928" cy="548640"/>
          </a:xfrm>
          <a:prstGeom prst="rect">
            <a:avLst/>
          </a:prstGeom>
          <a:noFill/>
          <a:ln/>
        </p:spPr>
        <p:txBody>
          <a:bodyPr wrap="square" lIns="38100" tIns="38100" rIns="38100" bIns="38100" rtlCol="0" anchor="ctr"/>
          <a:lstStyle/>
          <a:p>
            <a:pPr algn="ctr" indent="0" marL="0">
              <a:buNone/>
            </a:pPr>
            <a:r>
              <a:rPr lang="tr-TR" sz="2000" b="1" dirty="0">
                <a:solidFill>
                  <a:srgbClr val="02C39A"/>
                </a:solidFill>
                <a:latin typeface="Consolas" pitchFamily="34" charset="0"/>
                <a:ea typeface="Consolas" pitchFamily="34" charset="-122"/>
                <a:cs typeface="Consolas" pitchFamily="34" charset="-120"/>
              </a:rPr>
              <a:t>x</a:t>
            </a:r>
            <a:endParaRPr lang="tr-TR" sz="2000" dirty="0"/>
          </a:p>
        </p:txBody>
      </p:sp>
      <p:sp>
        <p:nvSpPr>
          <p:cNvPr id="38" name="Text 36"/>
          <p:cNvSpPr txBox="1"/>
          <p:nvPr/>
        </p:nvSpPr>
        <p:spPr>
          <a:xfrm>
            <a:off x="5120640" y="3191256"/>
            <a:ext cx="1280160" cy="548640"/>
          </a:xfrm>
          <a:prstGeom prst="rect">
            <a:avLst/>
          </a:prstGeom>
          <a:noFill/>
          <a:ln/>
        </p:spPr>
        <p:txBody>
          <a:bodyPr wrap="square" lIns="0" tIns="0" rIns="0" bIns="0" rtlCol="0" anchor="ctr"/>
          <a:lstStyle/>
          <a:p>
            <a:pPr indent="0" marL="0">
              <a:buNone/>
            </a:pPr>
            <a:r>
              <a:rPr lang="tr-TR" sz="1300" dirty="0">
                <a:solidFill>
                  <a:srgbClr val="3A464C"/>
                </a:solidFill>
                <a:latin typeface="Calibri" pitchFamily="34" charset="0"/>
                <a:ea typeface="Calibri" pitchFamily="34" charset="-122"/>
                <a:cs typeface="Calibri" pitchFamily="34" charset="-120"/>
              </a:rPr>
              <a:t>çalıştırma</a:t>
            </a:r>
            <a:endParaRPr lang="tr-TR" sz="1300" dirty="0"/>
          </a:p>
        </p:txBody>
      </p:sp>
      <p:sp>
        <p:nvSpPr>
          <p:cNvPr id="39" name="Text 37"/>
          <p:cNvSpPr txBox="1"/>
          <p:nvPr/>
        </p:nvSpPr>
        <p:spPr>
          <a:xfrm>
            <a:off x="548640" y="4617720"/>
            <a:ext cx="5852160" cy="320040"/>
          </a:xfrm>
          <a:prstGeom prst="rect">
            <a:avLst/>
          </a:prstGeom>
          <a:noFill/>
          <a:ln/>
        </p:spPr>
        <p:txBody>
          <a:bodyPr wrap="square" lIns="0" tIns="0" rIns="0" bIns="0" rtlCol="0" anchor="t"/>
          <a:lstStyle/>
          <a:p>
            <a:pPr indent="0" marL="0">
              <a:buNone/>
            </a:pPr>
            <a:r>
              <a:rPr lang="tr-TR" sz="1350" i="1" dirty="0">
                <a:solidFill>
                  <a:srgbClr val="36454F"/>
                </a:solidFill>
                <a:latin typeface="Calibri" pitchFamily="34" charset="0"/>
                <a:ea typeface="Calibri" pitchFamily="34" charset="-122"/>
                <a:cs typeface="Calibri" pitchFamily="34" charset="-120"/>
              </a:rPr>
              <a:t>Virgülle, boşluksuz birleştirin:  u=rw,g=r,o=</a:t>
            </a:r>
            <a:endParaRPr lang="tr-TR"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37960" y="1508760"/>
          <a:ext cx="5120640" cy="914400"/>
        </p:xfrm>
        <a:graphic>
          <a:graphicData uri="http://schemas.openxmlformats.org/drawingml/2006/table">
            <a:tbl>
              <a:tblPr/>
              <a:tblGrid>
                <a:gridCol w="2377440"/>
                <a:gridCol w="1371600"/>
                <a:gridCol w="1371600"/>
              </a:tblGrid>
              <a:tr h="0">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Komut (syllabus.txt)</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Önce</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Sonra</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chmod u+x</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rw-rw-r--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rwxrw-r--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chmod go-w</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rwxrw-r--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rwxr--r--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chmod a=r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rwxr--r--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r--r--r--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chmod u=rw,g=r,o=</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r--r--r--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chmod u+rwx,g+w</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rwxrw----</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41" name="Shape 38"/>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42" name="Text 39"/>
          <p:cNvSpPr txBox="1"/>
          <p:nvPr/>
        </p:nvSpPr>
        <p:spPr>
          <a:xfrm>
            <a:off x="777240" y="5074920"/>
            <a:ext cx="10652760" cy="11887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 ve − yalnızca adını verdiğiniz bitleri değiştirir; = bütün üçlüyü yeniden yazar (ardından hiçbir şey gelmeyen o=, "diğerlerine hiçbir hak yok" demektir). Sembolik mod küçük değişiklikler için en iyisidir: "grup da yazabilsin" → chmod g+w.</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Sembolik Modda chmod</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15</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cd docs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-rw-rw-r-- 1 student student 578 Oct 12 19:38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chmod u+x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-rwxrw-r-- 1 student student 578 Oct 12 19:38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chmod go-w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-rwxr--r-- 1 student student 578 Oct 12 19:38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chmod a=r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-r--r--r-- 1 student student 578 Oct 12 19:38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chmod u=rw,g=r,o=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-rw-r----- 1 student student 578 Oct 12 19:38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chmod u+rwx,g+w syllabus.txt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student@okan-lab:~/lab/docs$ </a:t>
            </a:r>
            <a:r>
              <a:rPr lang="tr-TR" sz="1300" b="1" dirty="0">
                <a:solidFill>
                  <a:srgbClr val="FFFFFF"/>
                </a:solidFill>
                <a:latin typeface="Consolas" pitchFamily="34" charset="0"/>
                <a:ea typeface="Consolas" pitchFamily="34" charset="-122"/>
                <a:cs typeface="Consolas" pitchFamily="34" charset="-120"/>
              </a:rPr>
              <a:t>ls -l syllabus.txt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-rwxrw---- 1 student student 578 Oct 12 19:38 syllabus.txt</a:t>
            </a:r>
            <a:endParaRPr lang="tr-TR"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chmod başarılı olduğunda hiçbir şey yazdırmaz — ls -l ile denetleyin.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u+x ve go-w diğer bütün bitlere dokunmaz.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a=r her şeyin üzerine yazdı: sahip bile w hakkını kaybetti.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Sahip, salt okunur bir dosyanın modunu yine de değiştirebilir: bunun için w değil, sahiplik gerekir.</a:t>
            </a:r>
            <a:endParaRPr lang="tr-TR"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CHMOD · SEKİZLİ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Sekizli: Sınıf Başına Bir Basamak, r = 4, w = 2, x = 1</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16</a:t>
            </a:r>
            <a:endParaRPr lang="tr-TR"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914400"/>
                <a:gridCol w="1737360"/>
                <a:gridCol w="1463040"/>
                <a:gridCol w="2560320"/>
              </a:tblGrid>
              <a:tr h="429768">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Sekizli</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İkili r w x</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Sembolik</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Tipik anlamı</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0</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0 0 0</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erişim yok</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1</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0 0 1</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yalnızca çalıştırma</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2</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0 1 0</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-w-</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yalnızca yazma (nadir)</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3</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0 1 1</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-wx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yazma + çalıştırma (nadir)</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4</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1 0 0</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r--</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yalnızca okuma</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5</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1 0 1</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r-x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okuma + çalıştırma</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6</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1 1 0</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rw-</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okuma + yazma</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7</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1 1 1</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b="1" dirty="0">
                          <a:solidFill>
                            <a:srgbClr val="3A464C"/>
                          </a:solidFill>
                          <a:latin typeface="Consolas" pitchFamily="34" charset="0"/>
                          <a:ea typeface="Consolas" pitchFamily="34" charset="-122"/>
                          <a:cs typeface="Consolas" pitchFamily="34" charset="-120"/>
                        </a:rPr>
                        <a:t>rwx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her şey</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7498080" y="1508760"/>
            <a:ext cx="416052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26680" y="1691640"/>
            <a:ext cx="37033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sekizli?</a:t>
            </a:r>
            <a:endParaRPr lang="tr-TR" sz="1500" dirty="0"/>
          </a:p>
        </p:txBody>
      </p:sp>
      <p:sp>
        <p:nvSpPr>
          <p:cNvPr id="9" name="Text 6"/>
          <p:cNvSpPr txBox="1"/>
          <p:nvPr/>
        </p:nvSpPr>
        <p:spPr>
          <a:xfrm>
            <a:off x="7726680" y="2148840"/>
            <a:ext cx="3703320" cy="14630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sınıfın 3 biti var → 2³ = 8 değer → tam olarak bir sekizli basamak.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Dokuz bit = üç basamak: kullanıcı, grup, diğerleri.</a:t>
            </a:r>
            <a:endParaRPr lang="tr-TR" sz="1400" dirty="0"/>
          </a:p>
        </p:txBody>
      </p:sp>
      <p:sp>
        <p:nvSpPr>
          <p:cNvPr id="10" name="Shape 7"/>
          <p:cNvSpPr/>
          <p:nvPr/>
        </p:nvSpPr>
        <p:spPr>
          <a:xfrm>
            <a:off x="7498080" y="3931920"/>
            <a:ext cx="4160520" cy="2331720"/>
          </a:xfrm>
          <a:prstGeom prst="roundRect">
            <a:avLst>
              <a:gd name="adj" fmla="val 1961"/>
            </a:avLst>
          </a:prstGeom>
          <a:solidFill>
            <a:srgbClr val="212121"/>
          </a:solidFill>
          <a:ln/>
        </p:spPr>
      </p:sp>
      <p:sp>
        <p:nvSpPr>
          <p:cNvPr id="11" name="Text 8"/>
          <p:cNvSpPr txBox="1"/>
          <p:nvPr/>
        </p:nvSpPr>
        <p:spPr>
          <a:xfrm>
            <a:off x="7680960" y="4041648"/>
            <a:ext cx="3794760" cy="2112264"/>
          </a:xfrm>
          <a:prstGeom prst="rect">
            <a:avLst/>
          </a:prstGeom>
          <a:noFill/>
          <a:ln/>
        </p:spPr>
        <p:txBody>
          <a:bodyPr wrap="square" lIns="0" tIns="0" rIns="0" bIns="0" rtlCol="0" anchor="t"/>
          <a:lstStyle/>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sembolik → sekizli</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rw-  r--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110  100  000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6    4    0    → 640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sekizli → sembolik: 5 = 4 + 1</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5 → r-x</a:t>
            </a:r>
            <a:endParaRPr lang="tr-TR"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İki Yönde Dönüştürmek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17</a:t>
            </a:r>
            <a:endParaRPr lang="tr-TR" sz="900" dirty="0"/>
          </a:p>
        </p:txBody>
      </p:sp>
      <p:sp>
        <p:nvSpPr>
          <p:cNvPr id="6" name="Shape 4"/>
          <p:cNvSpPr/>
          <p:nvPr/>
        </p:nvSpPr>
        <p:spPr>
          <a:xfrm>
            <a:off x="548640" y="1508760"/>
            <a:ext cx="5440680" cy="868680"/>
          </a:xfrm>
          <a:prstGeom prst="roundRect">
            <a:avLst>
              <a:gd name="adj" fmla="val 6316"/>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Sembolik → sekizli: her üçlüde ağırlıkları toplayın</a:t>
            </a:r>
            <a:endParaRPr lang="tr-TR" sz="1500" dirty="0"/>
          </a:p>
        </p:txBody>
      </p:sp>
      <p:sp>
        <p:nvSpPr>
          <p:cNvPr id="8" name="Shape 6"/>
          <p:cNvSpPr/>
          <p:nvPr/>
        </p:nvSpPr>
        <p:spPr>
          <a:xfrm>
            <a:off x="548640" y="2468880"/>
            <a:ext cx="5440680" cy="2606040"/>
          </a:xfrm>
          <a:prstGeom prst="roundRect">
            <a:avLst>
              <a:gd name="adj" fmla="val 1754"/>
            </a:avLst>
          </a:prstGeom>
          <a:solidFill>
            <a:srgbClr val="212121"/>
          </a:solidFill>
          <a:ln/>
        </p:spPr>
      </p:sp>
      <p:sp>
        <p:nvSpPr>
          <p:cNvPr id="9" name="Text 7"/>
          <p:cNvSpPr txBox="1"/>
          <p:nvPr/>
        </p:nvSpPr>
        <p:spPr>
          <a:xfrm>
            <a:off x="731520" y="2578608"/>
            <a:ext cx="5074920" cy="2386584"/>
          </a:xfrm>
          <a:prstGeom prst="rect">
            <a:avLst/>
          </a:prstGeom>
          <a:noFill/>
          <a:ln/>
        </p:spPr>
        <p:txBody>
          <a:bodyPr wrap="square" lIns="0" tIns="0" rIns="0" bIns="0" rtlCol="0" anchor="t"/>
          <a:lstStyle/>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rwxr-xr--</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rwx = 4 + 2 + 1 = 7</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r-x = 4 + 0 + 1 = 5</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r-- = 4 + 0 + 0 = 4      → 754</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rw-rw-r--  = 6 6 4       → 664</a:t>
            </a:r>
            <a:endParaRPr lang="tr-TR" sz="1500" dirty="0"/>
          </a:p>
        </p:txBody>
      </p:sp>
      <p:sp>
        <p:nvSpPr>
          <p:cNvPr id="10" name="Shape 8"/>
          <p:cNvSpPr/>
          <p:nvPr/>
        </p:nvSpPr>
        <p:spPr>
          <a:xfrm>
            <a:off x="6217920" y="1508760"/>
            <a:ext cx="5440680" cy="868680"/>
          </a:xfrm>
          <a:prstGeom prst="roundRect">
            <a:avLst>
              <a:gd name="adj" fmla="val 6316"/>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Sekizli → sembolik: her basamağı 4, 2, 1'e ayırın</a:t>
            </a:r>
            <a:endParaRPr lang="tr-TR" sz="1500" dirty="0"/>
          </a:p>
        </p:txBody>
      </p:sp>
      <p:sp>
        <p:nvSpPr>
          <p:cNvPr id="12" name="Shape 10"/>
          <p:cNvSpPr/>
          <p:nvPr/>
        </p:nvSpPr>
        <p:spPr>
          <a:xfrm>
            <a:off x="6217920" y="2468880"/>
            <a:ext cx="5440680" cy="2606040"/>
          </a:xfrm>
          <a:prstGeom prst="roundRect">
            <a:avLst>
              <a:gd name="adj" fmla="val 1754"/>
            </a:avLst>
          </a:prstGeom>
          <a:solidFill>
            <a:srgbClr val="212121"/>
          </a:solidFill>
          <a:ln/>
        </p:spPr>
      </p:sp>
      <p:sp>
        <p:nvSpPr>
          <p:cNvPr id="13" name="Text 11"/>
          <p:cNvSpPr txBox="1"/>
          <p:nvPr/>
        </p:nvSpPr>
        <p:spPr>
          <a:xfrm>
            <a:off x="6400800" y="2578608"/>
            <a:ext cx="5074920" cy="2386584"/>
          </a:xfrm>
          <a:prstGeom prst="rect">
            <a:avLst/>
          </a:prstGeom>
          <a:noFill/>
          <a:ln/>
        </p:spPr>
        <p:txBody>
          <a:bodyPr wrap="square" lIns="0" tIns="0" rIns="0" bIns="0" rtlCol="0" anchor="t"/>
          <a:lstStyle/>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711</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7 = 4 + 2 + 1 → rwx</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1 =         1 → --x</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1 =         1 → --x      → rwx--x--x</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640 → rw- r-- ---        → rw-r-----</a:t>
            </a:r>
            <a:endParaRPr lang="tr-TR" sz="1500" dirty="0"/>
          </a:p>
        </p:txBody>
      </p:sp>
      <p:sp>
        <p:nvSpPr>
          <p:cNvPr id="14" name="Shape 12"/>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777240" y="5257800"/>
            <a:ext cx="10652760" cy="10058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Hızlı denetim: tek bir basamak her zaman x içerir, 4 ya da daha büyük bir basamak her zaman r içerir. Böylece 7 5 0 → rwx r-x --- hiç hesap yapmadan bulunur.</a:t>
            </a:r>
            <a:endParaRPr lang="tr-TR"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CHMOD · SEKİZLİ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Tekrar Tekrar Karşılaşacağınız Modlar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18</a:t>
            </a:r>
            <a:endParaRPr lang="tr-TR"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188720"/>
                <a:gridCol w="2651760"/>
                <a:gridCol w="726948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Sekizli</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Sembolik</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Tipik kullanım</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644</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rw-r--r--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sıradan dosyalar: herkes okuyabilir, yalnızca sahip yazar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755</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rwxr-xr-x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başkalarının da kullanabileceği programlar, betikler ve dizinler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600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özel dosyalar: parolalar, SSH anahtarları (ssh başkalarının okuyabildiği anahtarı reddeder)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700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özel dizinler (ev dizininiz, ~/.ssh)</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640 / 750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rw-r----- / rwxr-x---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grupla paylaşılan, geri kalan herkesten gizlenen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777</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rwxrwxrwx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herkes değiştirebilir ya da silebilir — neredeyse hiçbir zaman doğru değildir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166360"/>
            <a:ext cx="11109960" cy="1097280"/>
          </a:xfrm>
          <a:prstGeom prst="roundRect">
            <a:avLst>
              <a:gd name="adj" fmla="val 5000"/>
            </a:avLst>
          </a:prstGeom>
          <a:solidFill>
            <a:srgbClr val="F3D9D6"/>
          </a:solidFill>
          <a:ln w="12700">
            <a:solidFill>
              <a:srgbClr val="B5453A"/>
            </a:solidFill>
            <a:prstDash val="solid"/>
          </a:ln>
        </p:spPr>
      </p:sp>
      <p:sp>
        <p:nvSpPr>
          <p:cNvPr id="8" name="Text 5"/>
          <p:cNvSpPr txBox="1"/>
          <p:nvPr/>
        </p:nvSpPr>
        <p:spPr>
          <a:xfrm>
            <a:off x="731520" y="5166360"/>
            <a:ext cx="10744200" cy="1097280"/>
          </a:xfrm>
          <a:prstGeom prst="rect">
            <a:avLst/>
          </a:prstGeom>
          <a:noFill/>
          <a:ln/>
        </p:spPr>
        <p:txBody>
          <a:bodyPr wrap="square" lIns="0" tIns="0" rIns="0" bIns="0" rtlCol="0" anchor="ctr"/>
          <a:lstStyle/>
          <a:p>
            <a:pPr indent="0" marL="0">
              <a:buNone/>
            </a:pPr>
            <a:r>
              <a:rPr lang="tr-TR" sz="1300" b="1" dirty="0">
                <a:solidFill>
                  <a:srgbClr val="B5453A"/>
                </a:solidFill>
                <a:latin typeface="Calibri" pitchFamily="34" charset="0"/>
                <a:ea typeface="Calibri" pitchFamily="34" charset="-122"/>
                <a:cs typeface="Calibri" pitchFamily="34" charset="-120"/>
              </a:rPr>
              <a:t>Dikkat:  </a:t>
            </a:r>
            <a:r>
              <a:rPr lang="tr-TR" sz="1300" dirty="0">
                <a:solidFill>
                  <a:srgbClr val="5A2A25"/>
                </a:solidFill>
                <a:latin typeface="Calibri" pitchFamily="34" charset="0"/>
                <a:ea typeface="Calibri" pitchFamily="34" charset="-122"/>
                <a:cs typeface="Calibri" pitchFamily="34" charset="-120"/>
              </a:rPr>
              <a:t>chmod 777, bir "Permission denied" hatasını makinedeki her kullanıcıya yazma hakkı vererek "düzeltir": artık herhangi bir kullanıcı ya da ele geçirilmiş bir program dosyayı değiştirebilir. Eksik olan tek biti bulun ve yalnızca onu ekleyin (ör. chmod u+x).</a:t>
            </a:r>
            <a:endParaRPr lang="tr-TR"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Sekizli Modda chmod — ve İki Tipik Hata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19</a:t>
            </a:r>
            <a:endParaRPr lang="tr-TR" sz="900" dirty="0"/>
          </a:p>
        </p:txBody>
      </p:sp>
      <p:sp>
        <p:nvSpPr>
          <p:cNvPr id="6" name="Shape 4"/>
          <p:cNvSpPr/>
          <p:nvPr/>
        </p:nvSpPr>
        <p:spPr>
          <a:xfrm>
            <a:off x="548640" y="1508760"/>
            <a:ext cx="7498080" cy="4754880"/>
          </a:xfrm>
          <a:prstGeom prst="roundRect">
            <a:avLst>
              <a:gd name="adj" fmla="val 962"/>
            </a:avLst>
          </a:prstGeom>
          <a:solidFill>
            <a:srgbClr val="212121"/>
          </a:solidFill>
          <a:ln/>
        </p:spPr>
      </p:sp>
      <p:sp>
        <p:nvSpPr>
          <p:cNvPr id="7" name="Text 5"/>
          <p:cNvSpPr txBox="1"/>
          <p:nvPr/>
        </p:nvSpPr>
        <p:spPr>
          <a:xfrm>
            <a:off x="731520" y="1618488"/>
            <a:ext cx="7132320" cy="4535424"/>
          </a:xfrm>
          <a:prstGeom prst="rect">
            <a:avLst/>
          </a:prstGeom>
          <a:noFill/>
          <a:ln/>
        </p:spPr>
        <p:txBody>
          <a:bodyPr wrap="square" lIns="0" tIns="0" rIns="0" bIns="0" rtlCol="0" anchor="t"/>
          <a:lstStyle/>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 </a:t>
            </a:r>
            <a:r>
              <a:rPr lang="tr-TR" sz="950" b="1" dirty="0">
                <a:solidFill>
                  <a:srgbClr val="FFFFFF"/>
                </a:solidFill>
                <a:latin typeface="Consolas" pitchFamily="34" charset="0"/>
                <a:ea typeface="Consolas" pitchFamily="34" charset="-122"/>
                <a:cs typeface="Consolas" pitchFamily="34" charset="-120"/>
              </a:rPr>
              <a:t>cd docs</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754 syllabus.txt</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ls -l syllabus.txt</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-rwxr-xr-- 1 student student 578 Oct 12 19:38 syllabus.txt</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640 syllabus.txt</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600 notes_01.txt</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644 notes_02.txt</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700 ../backup</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stat -c '%a  %A  %n' syllabus.txt notes_01.txt notes_02.txt ../backup</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640  -rw-r-----  syllabus.txt</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600  -rw-------  notes_01.txt</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644  -rw-r--r--  notes_02.txt</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700  drwx------  ../backup</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854 notes_03.txt</a:t>
            </a:r>
            <a:endParaRPr lang="tr-TR" sz="950" dirty="0"/>
          </a:p>
          <a:p>
            <a:pPr indent="0" marL="0">
              <a:lnSpc>
                <a:spcPct val="100000"/>
              </a:lnSpc>
              <a:buNone/>
            </a:pPr>
            <a:r>
              <a:rPr lang="tr-TR" sz="950" dirty="0">
                <a:solidFill>
                  <a:srgbClr val="F4A79D"/>
                </a:solidFill>
                <a:latin typeface="Consolas" pitchFamily="34" charset="0"/>
                <a:ea typeface="Consolas" pitchFamily="34" charset="-122"/>
                <a:cs typeface="Consolas" pitchFamily="34" charset="-120"/>
              </a:rPr>
              <a:t>chmod: invalid mode: ‘854’</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Try 'chmod --help' for more information.</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student@okan-lab:~/lab/docs$ </a:t>
            </a:r>
            <a:r>
              <a:rPr lang="tr-TR" sz="950" b="1" dirty="0">
                <a:solidFill>
                  <a:srgbClr val="FFFFFF"/>
                </a:solidFill>
                <a:latin typeface="Consolas" pitchFamily="34" charset="0"/>
                <a:ea typeface="Consolas" pitchFamily="34" charset="-122"/>
                <a:cs typeface="Consolas" pitchFamily="34" charset="-120"/>
              </a:rPr>
              <a:t>chmod rw notes_03.txt</a:t>
            </a:r>
            <a:endParaRPr lang="tr-TR" sz="950" dirty="0"/>
          </a:p>
          <a:p>
            <a:pPr indent="0" marL="0">
              <a:lnSpc>
                <a:spcPct val="100000"/>
              </a:lnSpc>
              <a:buNone/>
            </a:pPr>
            <a:r>
              <a:rPr lang="tr-TR" sz="950" dirty="0">
                <a:solidFill>
                  <a:srgbClr val="F4A79D"/>
                </a:solidFill>
                <a:latin typeface="Consolas" pitchFamily="34" charset="0"/>
                <a:ea typeface="Consolas" pitchFamily="34" charset="-122"/>
                <a:cs typeface="Consolas" pitchFamily="34" charset="-120"/>
              </a:rPr>
              <a:t>chmod: invalid mode: ‘rw’</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Try 'chmod --help' for more information.</a:t>
            </a:r>
            <a:endParaRPr lang="tr-TR" sz="950" dirty="0"/>
          </a:p>
        </p:txBody>
      </p:sp>
      <p:sp>
        <p:nvSpPr>
          <p:cNvPr id="8" name="Shape 6"/>
          <p:cNvSpPr/>
          <p:nvPr/>
        </p:nvSpPr>
        <p:spPr>
          <a:xfrm>
            <a:off x="8275320" y="1508760"/>
            <a:ext cx="3383280" cy="4754880"/>
          </a:xfrm>
          <a:prstGeom prst="roundRect">
            <a:avLst>
              <a:gd name="adj" fmla="val 162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503920" y="1691640"/>
            <a:ext cx="2926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503920" y="2148840"/>
            <a:ext cx="2926080" cy="3977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754 → rwxr-xr--: basamaklar üçlülere karşılık gelir.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Tek bir chmod birden çok dosya alabilir.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Bir dizinde 700: başka kimse içine giremez bile.</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8 ve 9 sekizli basamak değildir.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"rw" kim/işleç içermez: u+rw ya da bir sayı yazın.</a:t>
            </a:r>
            <a:endParaRPr lang="tr-TR"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Betiği Çalıştırılabilir Yapmak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20</a:t>
            </a:r>
            <a:endParaRPr lang="tr-TR" sz="900" dirty="0"/>
          </a:p>
        </p:txBody>
      </p:sp>
      <p:sp>
        <p:nvSpPr>
          <p:cNvPr id="6" name="Shape 4"/>
          <p:cNvSpPr/>
          <p:nvPr/>
        </p:nvSpPr>
        <p:spPr>
          <a:xfrm>
            <a:off x="548640" y="1508760"/>
            <a:ext cx="7223760" cy="4754880"/>
          </a:xfrm>
          <a:prstGeom prst="roundRect">
            <a:avLst>
              <a:gd name="adj" fmla="val 962"/>
            </a:avLst>
          </a:prstGeom>
          <a:solidFill>
            <a:srgbClr val="212121"/>
          </a:solidFill>
          <a:ln/>
        </p:spPr>
      </p:sp>
      <p:sp>
        <p:nvSpPr>
          <p:cNvPr id="7" name="Text 5"/>
          <p:cNvSpPr txBox="1"/>
          <p:nvPr/>
        </p:nvSpPr>
        <p:spPr>
          <a:xfrm>
            <a:off x="731520" y="1618488"/>
            <a:ext cx="6858000" cy="4535424"/>
          </a:xfrm>
          <a:prstGeom prst="rect">
            <a:avLst/>
          </a:prstGeom>
          <a:noFill/>
          <a:ln/>
        </p:spPr>
        <p:txBody>
          <a:bodyPr wrap="square" lIns="0" tIns="0" rIns="0" bIns="0" rtlCol="0" anchor="t"/>
          <a:lstStyle/>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 </a:t>
            </a:r>
            <a:r>
              <a:rPr lang="tr-TR" sz="1000" b="1" dirty="0">
                <a:solidFill>
                  <a:srgbClr val="FFFFFF"/>
                </a:solidFill>
                <a:latin typeface="Consolas" pitchFamily="34" charset="0"/>
                <a:ea typeface="Consolas" pitchFamily="34" charset="-122"/>
                <a:cs typeface="Consolas" pitchFamily="34" charset="-120"/>
              </a:rPr>
              <a:t>cd scripts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echo '#!/bin/bash' &gt; hello.sh</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echo 'echo "Hello, $USER! You are in $PWD"' &gt;&gt; hello.sh</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cat hello.sh</a:t>
            </a:r>
            <a:endParaRPr lang="tr-TR" sz="1000" dirty="0"/>
          </a:p>
          <a:p>
            <a:pPr indent="0" marL="0">
              <a:lnSpc>
                <a:spcPct val="100000"/>
              </a:lnSpc>
              <a:buNone/>
            </a:pPr>
            <a:r>
              <a:rPr lang="tr-TR" sz="1000" dirty="0">
                <a:solidFill>
                  <a:srgbClr val="8A9AA0"/>
                </a:solidFill>
                <a:latin typeface="Consolas" pitchFamily="34" charset="0"/>
                <a:ea typeface="Consolas" pitchFamily="34" charset="-122"/>
                <a:cs typeface="Consolas" pitchFamily="34" charset="-120"/>
              </a:rPr>
              <a:t>#!/bin/bash</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echo "Hello, $USER! You are in $PWD"</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ls -l hello.sh</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-rw-rw-r-- 1 student student 49 Oct 12 19:38 hello.sh</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./hello.sh</a:t>
            </a:r>
            <a:endParaRPr lang="tr-TR" sz="1000" dirty="0"/>
          </a:p>
          <a:p>
            <a:pPr indent="0" marL="0">
              <a:lnSpc>
                <a:spcPct val="100000"/>
              </a:lnSpc>
              <a:buNone/>
            </a:pPr>
            <a:r>
              <a:rPr lang="tr-TR" sz="1000" dirty="0">
                <a:solidFill>
                  <a:srgbClr val="F4A79D"/>
                </a:solidFill>
                <a:latin typeface="Consolas" pitchFamily="34" charset="0"/>
                <a:ea typeface="Consolas" pitchFamily="34" charset="-122"/>
                <a:cs typeface="Consolas" pitchFamily="34" charset="-120"/>
              </a:rPr>
              <a:t>bash: ./hello.sh: Permission denied</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bash hello.sh</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Hello, student! You are in /home/student/lab/scripts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chmod u+x hello.sh</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ls -l hello.sh</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-rwxrw-r-- 1 student student 49 Oct 12 19:38 hello.sh</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./hello.sh</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Hello, student! You are in /home/student/lab/scripts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hello.sh</a:t>
            </a:r>
            <a:endParaRPr lang="tr-TR" sz="1000" dirty="0"/>
          </a:p>
          <a:p>
            <a:pPr indent="0" marL="0">
              <a:lnSpc>
                <a:spcPct val="100000"/>
              </a:lnSpc>
              <a:buNone/>
            </a:pPr>
            <a:r>
              <a:rPr lang="tr-TR" sz="1000" dirty="0">
                <a:solidFill>
                  <a:srgbClr val="F4A79D"/>
                </a:solidFill>
                <a:latin typeface="Consolas" pitchFamily="34" charset="0"/>
                <a:ea typeface="Consolas" pitchFamily="34" charset="-122"/>
                <a:cs typeface="Consolas" pitchFamily="34" charset="-120"/>
              </a:rPr>
              <a:t>bash: hello.sh: command not found</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cd ../src</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student@okan-lab:~/lab/src$ </a:t>
            </a:r>
            <a:r>
              <a:rPr lang="tr-TR" sz="1000" b="1" dirty="0">
                <a:solidFill>
                  <a:srgbClr val="FFFFFF"/>
                </a:solidFill>
                <a:latin typeface="Consolas" pitchFamily="34" charset="0"/>
                <a:ea typeface="Consolas" pitchFamily="34" charset="-122"/>
                <a:cs typeface="Consolas" pitchFamily="34" charset="-120"/>
              </a:rPr>
              <a:t>gcc -Wall -O2 hello.c -o hello</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student@okan-lab:~/lab/src$ </a:t>
            </a:r>
            <a:r>
              <a:rPr lang="tr-TR" sz="1000" b="1" dirty="0">
                <a:solidFill>
                  <a:srgbClr val="FFFFFF"/>
                </a:solidFill>
                <a:latin typeface="Consolas" pitchFamily="34" charset="0"/>
                <a:ea typeface="Consolas" pitchFamily="34" charset="-122"/>
                <a:cs typeface="Consolas" pitchFamily="34" charset="-120"/>
              </a:rPr>
              <a:t>ls -l hello.c hello</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-rwxrwxr-x 1 student student 15960 Oct 12 19:38 hello</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-rw-rw-r-- 1 student student    90 Oct 12 19:38 hello.c</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student@okan-lab:~/lab/src$ </a:t>
            </a:r>
            <a:r>
              <a:rPr lang="tr-TR" sz="1000" b="1" dirty="0">
                <a:solidFill>
                  <a:srgbClr val="FFFFFF"/>
                </a:solidFill>
                <a:latin typeface="Consolas" pitchFamily="34" charset="0"/>
                <a:ea typeface="Consolas" pitchFamily="34" charset="-122"/>
                <a:cs typeface="Consolas" pitchFamily="34" charset="-120"/>
              </a:rPr>
              <a:t>./hello</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Hello from the lab!</a:t>
            </a:r>
            <a:endParaRPr lang="tr-TR" sz="1000" dirty="0"/>
          </a:p>
        </p:txBody>
      </p:sp>
      <p:sp>
        <p:nvSpPr>
          <p:cNvPr id="8" name="Shape 6"/>
          <p:cNvSpPr/>
          <p:nvPr/>
        </p:nvSpPr>
        <p:spPr>
          <a:xfrm>
            <a:off x="8001000" y="1508760"/>
            <a:ext cx="365760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229600" y="16916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229600" y="2148840"/>
            <a:ext cx="3200400" cy="224028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./hello.sh için x gerekir; bash hello.sh için r yeter (dosyayı bash okur).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Yalnızca hello.sh bulunamaz: çalışma dizini PATH'te değildir, ./ yazın.</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gcc x bitini kendisi koyar: 775 = 777 eksi umask 002.</a:t>
            </a:r>
            <a:endParaRPr lang="tr-TR" sz="1250" dirty="0"/>
          </a:p>
        </p:txBody>
      </p:sp>
      <p:sp>
        <p:nvSpPr>
          <p:cNvPr id="11" name="Shape 9"/>
          <p:cNvSpPr/>
          <p:nvPr/>
        </p:nvSpPr>
        <p:spPr>
          <a:xfrm>
            <a:off x="800100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8229600" y="48920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14. haftaya bakış</a:t>
            </a:r>
            <a:endParaRPr lang="tr-TR" sz="1500" dirty="0"/>
          </a:p>
        </p:txBody>
      </p:sp>
      <p:sp>
        <p:nvSpPr>
          <p:cNvPr id="13" name="Text 11"/>
          <p:cNvSpPr txBox="1"/>
          <p:nvPr/>
        </p:nvSpPr>
        <p:spPr>
          <a:xfrm>
            <a:off x="8229600" y="5349240"/>
            <a:ext cx="3200400" cy="77724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#!/bin/bash satırı ("shebang"), dosyayı hangi yorumlayıcının çalıştıracağını çekirdeğe söyler.</a:t>
            </a:r>
            <a:endParaRPr lang="tr-TR"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KOPYA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Şimdiye Kadarki Komutlar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21</a:t>
            </a:r>
            <a:endParaRPr lang="tr-TR"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03120"/>
                <a:gridCol w="4800600"/>
                <a:gridCol w="420624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Komut</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Ne yapar?</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Örnek</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whoami, id, groups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ben kimim, UID/GID'im, gruplarım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id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ls -l  /  ls -ld dir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dosyaların / dizinin kendisinin modu, sahibi, grubu</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ls -ld ~/lab/docs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stat -c '%a %A %n'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sekizli ve sembolik mod, ad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stat -c '%a %A %n'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chmod who±=perm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sembolik değişiklik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u+x,go-w run.sh</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chmod NNN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sekizli: dokuz bitin hepsini ayarla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640 report.txt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chmod -R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özyinelemeli: bütün bir ağaç (dikkat!)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-R go-rwx project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./script.sh</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çalışma dizinindeki bir dosyayı çalıştır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./hello.sh</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chmod -R aynı modu dosyalara VE dizinlere uygular: chmod -R 644 dir her alt dizinden x'i kaldırır ve sizi dışarıda bırakır. -R ile sembolik mod (go-rwx) kullanın.</a:t>
            </a:r>
            <a:endParaRPr lang="tr-T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varsayılan izinler (umask), dizinler, sahiplik, root ve sudo.</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Varsayılanlar, Dizinler, Sahipler ve root</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664 nereden geliyor ve sahibi kim değiştirebilir?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23</a:t>
            </a:r>
            <a:endParaRPr lang="tr-TR"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VARSAYILAN İZİNLER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umask: Yeni Dosyalardan Alınacak Bitler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Programlar 666 (dosyalar) ya da 777 (dizinler) ister. Çekirdek, sürecin umask değerinde kurulu olan her biti temizler.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24</a:t>
            </a:r>
            <a:endParaRPr lang="tr-TR" sz="900" dirty="0"/>
          </a:p>
        </p:txBody>
      </p:sp>
      <p:sp>
        <p:nvSpPr>
          <p:cNvPr id="7" name="Text 5"/>
          <p:cNvSpPr txBox="1"/>
          <p:nvPr/>
        </p:nvSpPr>
        <p:spPr>
          <a:xfrm>
            <a:off x="548640" y="2331720"/>
            <a:ext cx="137160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istenen</a:t>
            </a:r>
            <a:endParaRPr lang="tr-TR" sz="1500" dirty="0"/>
          </a:p>
        </p:txBody>
      </p:sp>
      <p:sp>
        <p:nvSpPr>
          <p:cNvPr id="8" name="Shape 6"/>
          <p:cNvSpPr/>
          <p:nvPr/>
        </p:nvSpPr>
        <p:spPr>
          <a:xfrm>
            <a:off x="1965960" y="2331720"/>
            <a:ext cx="1143000" cy="548640"/>
          </a:xfrm>
          <a:prstGeom prst="roundRect">
            <a:avLst>
              <a:gd name="adj" fmla="val 8333"/>
            </a:avLst>
          </a:prstGeom>
          <a:solidFill>
            <a:srgbClr val="F2F2F2"/>
          </a:solidFill>
          <a:ln/>
        </p:spPr>
      </p:sp>
      <p:sp>
        <p:nvSpPr>
          <p:cNvPr id="9" name="Text 7"/>
          <p:cNvSpPr txBox="1"/>
          <p:nvPr/>
        </p:nvSpPr>
        <p:spPr>
          <a:xfrm>
            <a:off x="1965960" y="2331720"/>
            <a:ext cx="1143000" cy="548640"/>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666</a:t>
            </a:r>
            <a:endParaRPr lang="tr-TR" sz="1800" dirty="0"/>
          </a:p>
        </p:txBody>
      </p:sp>
      <p:sp>
        <p:nvSpPr>
          <p:cNvPr id="10" name="Shape 8"/>
          <p:cNvSpPr/>
          <p:nvPr/>
        </p:nvSpPr>
        <p:spPr>
          <a:xfrm>
            <a:off x="3383280" y="2331720"/>
            <a:ext cx="457200" cy="548640"/>
          </a:xfrm>
          <a:prstGeom prst="roundRect">
            <a:avLst>
              <a:gd name="adj" fmla="val 10000"/>
            </a:avLst>
          </a:prstGeom>
          <a:solidFill>
            <a:srgbClr val="36454F"/>
          </a:solidFill>
          <a:ln/>
        </p:spPr>
      </p:sp>
      <p:sp>
        <p:nvSpPr>
          <p:cNvPr id="11" name="Text 9"/>
          <p:cNvSpPr txBox="1"/>
          <p:nvPr/>
        </p:nvSpPr>
        <p:spPr>
          <a:xfrm>
            <a:off x="3383280"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12" name="Shape 10"/>
          <p:cNvSpPr/>
          <p:nvPr/>
        </p:nvSpPr>
        <p:spPr>
          <a:xfrm>
            <a:off x="3877056" y="2331720"/>
            <a:ext cx="457200" cy="548640"/>
          </a:xfrm>
          <a:prstGeom prst="roundRect">
            <a:avLst>
              <a:gd name="adj" fmla="val 10000"/>
            </a:avLst>
          </a:prstGeom>
          <a:solidFill>
            <a:srgbClr val="36454F"/>
          </a:solidFill>
          <a:ln/>
        </p:spPr>
      </p:sp>
      <p:sp>
        <p:nvSpPr>
          <p:cNvPr id="13" name="Text 11"/>
          <p:cNvSpPr txBox="1"/>
          <p:nvPr/>
        </p:nvSpPr>
        <p:spPr>
          <a:xfrm>
            <a:off x="3877056"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w</a:t>
            </a:r>
            <a:endParaRPr lang="tr-TR" sz="1600" dirty="0"/>
          </a:p>
        </p:txBody>
      </p:sp>
      <p:sp>
        <p:nvSpPr>
          <p:cNvPr id="14" name="Shape 12"/>
          <p:cNvSpPr/>
          <p:nvPr/>
        </p:nvSpPr>
        <p:spPr>
          <a:xfrm>
            <a:off x="4370832" y="2331720"/>
            <a:ext cx="457200" cy="548640"/>
          </a:xfrm>
          <a:prstGeom prst="roundRect">
            <a:avLst>
              <a:gd name="adj" fmla="val 10000"/>
            </a:avLst>
          </a:prstGeom>
          <a:solidFill>
            <a:srgbClr val="E4E8E9"/>
          </a:solidFill>
          <a:ln/>
        </p:spPr>
      </p:sp>
      <p:sp>
        <p:nvSpPr>
          <p:cNvPr id="15" name="Text 13"/>
          <p:cNvSpPr txBox="1"/>
          <p:nvPr/>
        </p:nvSpPr>
        <p:spPr>
          <a:xfrm>
            <a:off x="4370832"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16" name="Shape 14"/>
          <p:cNvSpPr/>
          <p:nvPr/>
        </p:nvSpPr>
        <p:spPr>
          <a:xfrm>
            <a:off x="5010912" y="2331720"/>
            <a:ext cx="457200" cy="548640"/>
          </a:xfrm>
          <a:prstGeom prst="roundRect">
            <a:avLst>
              <a:gd name="adj" fmla="val 10000"/>
            </a:avLst>
          </a:prstGeom>
          <a:solidFill>
            <a:srgbClr val="36454F"/>
          </a:solidFill>
          <a:ln/>
        </p:spPr>
      </p:sp>
      <p:sp>
        <p:nvSpPr>
          <p:cNvPr id="17" name="Text 15"/>
          <p:cNvSpPr txBox="1"/>
          <p:nvPr/>
        </p:nvSpPr>
        <p:spPr>
          <a:xfrm>
            <a:off x="5010912"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18" name="Shape 16"/>
          <p:cNvSpPr/>
          <p:nvPr/>
        </p:nvSpPr>
        <p:spPr>
          <a:xfrm>
            <a:off x="5504688" y="2331720"/>
            <a:ext cx="457200" cy="548640"/>
          </a:xfrm>
          <a:prstGeom prst="roundRect">
            <a:avLst>
              <a:gd name="adj" fmla="val 10000"/>
            </a:avLst>
          </a:prstGeom>
          <a:solidFill>
            <a:srgbClr val="36454F"/>
          </a:solidFill>
          <a:ln/>
        </p:spPr>
      </p:sp>
      <p:sp>
        <p:nvSpPr>
          <p:cNvPr id="19" name="Text 17"/>
          <p:cNvSpPr txBox="1"/>
          <p:nvPr/>
        </p:nvSpPr>
        <p:spPr>
          <a:xfrm>
            <a:off x="5504688"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w</a:t>
            </a:r>
            <a:endParaRPr lang="tr-TR" sz="1600" dirty="0"/>
          </a:p>
        </p:txBody>
      </p:sp>
      <p:sp>
        <p:nvSpPr>
          <p:cNvPr id="20" name="Shape 18"/>
          <p:cNvSpPr/>
          <p:nvPr/>
        </p:nvSpPr>
        <p:spPr>
          <a:xfrm>
            <a:off x="5998464" y="2331720"/>
            <a:ext cx="457200" cy="548640"/>
          </a:xfrm>
          <a:prstGeom prst="roundRect">
            <a:avLst>
              <a:gd name="adj" fmla="val 10000"/>
            </a:avLst>
          </a:prstGeom>
          <a:solidFill>
            <a:srgbClr val="E4E8E9"/>
          </a:solidFill>
          <a:ln/>
        </p:spPr>
      </p:sp>
      <p:sp>
        <p:nvSpPr>
          <p:cNvPr id="21" name="Text 19"/>
          <p:cNvSpPr txBox="1"/>
          <p:nvPr/>
        </p:nvSpPr>
        <p:spPr>
          <a:xfrm>
            <a:off x="5998464"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22" name="Shape 20"/>
          <p:cNvSpPr/>
          <p:nvPr/>
        </p:nvSpPr>
        <p:spPr>
          <a:xfrm>
            <a:off x="6638544" y="2331720"/>
            <a:ext cx="457200" cy="548640"/>
          </a:xfrm>
          <a:prstGeom prst="roundRect">
            <a:avLst>
              <a:gd name="adj" fmla="val 10000"/>
            </a:avLst>
          </a:prstGeom>
          <a:solidFill>
            <a:srgbClr val="36454F"/>
          </a:solidFill>
          <a:ln/>
        </p:spPr>
      </p:sp>
      <p:sp>
        <p:nvSpPr>
          <p:cNvPr id="23" name="Text 21"/>
          <p:cNvSpPr txBox="1"/>
          <p:nvPr/>
        </p:nvSpPr>
        <p:spPr>
          <a:xfrm>
            <a:off x="6638544"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24" name="Shape 22"/>
          <p:cNvSpPr/>
          <p:nvPr/>
        </p:nvSpPr>
        <p:spPr>
          <a:xfrm>
            <a:off x="7132320" y="2331720"/>
            <a:ext cx="457200" cy="548640"/>
          </a:xfrm>
          <a:prstGeom prst="roundRect">
            <a:avLst>
              <a:gd name="adj" fmla="val 10000"/>
            </a:avLst>
          </a:prstGeom>
          <a:solidFill>
            <a:srgbClr val="36454F"/>
          </a:solidFill>
          <a:ln/>
        </p:spPr>
      </p:sp>
      <p:sp>
        <p:nvSpPr>
          <p:cNvPr id="25" name="Text 23"/>
          <p:cNvSpPr txBox="1"/>
          <p:nvPr/>
        </p:nvSpPr>
        <p:spPr>
          <a:xfrm>
            <a:off x="7132320"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w</a:t>
            </a:r>
            <a:endParaRPr lang="tr-TR" sz="1600" dirty="0"/>
          </a:p>
        </p:txBody>
      </p:sp>
      <p:sp>
        <p:nvSpPr>
          <p:cNvPr id="26" name="Shape 24"/>
          <p:cNvSpPr/>
          <p:nvPr/>
        </p:nvSpPr>
        <p:spPr>
          <a:xfrm>
            <a:off x="7626096" y="2331720"/>
            <a:ext cx="457200" cy="548640"/>
          </a:xfrm>
          <a:prstGeom prst="roundRect">
            <a:avLst>
              <a:gd name="adj" fmla="val 10000"/>
            </a:avLst>
          </a:prstGeom>
          <a:solidFill>
            <a:srgbClr val="E4E8E9"/>
          </a:solidFill>
          <a:ln/>
        </p:spPr>
      </p:sp>
      <p:sp>
        <p:nvSpPr>
          <p:cNvPr id="27" name="Text 25"/>
          <p:cNvSpPr txBox="1"/>
          <p:nvPr/>
        </p:nvSpPr>
        <p:spPr>
          <a:xfrm>
            <a:off x="7626096" y="2331720"/>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28" name="Text 26"/>
          <p:cNvSpPr txBox="1"/>
          <p:nvPr/>
        </p:nvSpPr>
        <p:spPr>
          <a:xfrm>
            <a:off x="548640" y="3044952"/>
            <a:ext cx="137160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umask</a:t>
            </a:r>
            <a:endParaRPr lang="tr-TR" sz="1500" dirty="0"/>
          </a:p>
        </p:txBody>
      </p:sp>
      <p:sp>
        <p:nvSpPr>
          <p:cNvPr id="29" name="Shape 27"/>
          <p:cNvSpPr/>
          <p:nvPr/>
        </p:nvSpPr>
        <p:spPr>
          <a:xfrm>
            <a:off x="1965960" y="3044952"/>
            <a:ext cx="1143000" cy="548640"/>
          </a:xfrm>
          <a:prstGeom prst="roundRect">
            <a:avLst>
              <a:gd name="adj" fmla="val 8333"/>
            </a:avLst>
          </a:prstGeom>
          <a:solidFill>
            <a:srgbClr val="F3D9D6"/>
          </a:solidFill>
          <a:ln/>
        </p:spPr>
      </p:sp>
      <p:sp>
        <p:nvSpPr>
          <p:cNvPr id="30" name="Text 28"/>
          <p:cNvSpPr txBox="1"/>
          <p:nvPr/>
        </p:nvSpPr>
        <p:spPr>
          <a:xfrm>
            <a:off x="1965960" y="3044952"/>
            <a:ext cx="1143000" cy="548640"/>
          </a:xfrm>
          <a:prstGeom prst="rect">
            <a:avLst/>
          </a:prstGeom>
          <a:noFill/>
          <a:ln/>
        </p:spPr>
        <p:txBody>
          <a:bodyPr wrap="square" lIns="38100" tIns="38100" rIns="38100" bIns="38100" rtlCol="0" anchor="ctr"/>
          <a:lstStyle/>
          <a:p>
            <a:pPr algn="ctr" indent="0" marL="0">
              <a:buNone/>
            </a:pPr>
            <a:r>
              <a:rPr lang="tr-TR" sz="1800" b="1" dirty="0">
                <a:solidFill>
                  <a:srgbClr val="B5453A"/>
                </a:solidFill>
                <a:latin typeface="Consolas" pitchFamily="34" charset="0"/>
                <a:ea typeface="Consolas" pitchFamily="34" charset="-122"/>
                <a:cs typeface="Consolas" pitchFamily="34" charset="-120"/>
              </a:rPr>
              <a:t>022</a:t>
            </a:r>
            <a:endParaRPr lang="tr-TR" sz="1800" dirty="0"/>
          </a:p>
        </p:txBody>
      </p:sp>
      <p:sp>
        <p:nvSpPr>
          <p:cNvPr id="31" name="Shape 29"/>
          <p:cNvSpPr/>
          <p:nvPr/>
        </p:nvSpPr>
        <p:spPr>
          <a:xfrm>
            <a:off x="3383280" y="3044952"/>
            <a:ext cx="457200" cy="548640"/>
          </a:xfrm>
          <a:prstGeom prst="roundRect">
            <a:avLst>
              <a:gd name="adj" fmla="val 10000"/>
            </a:avLst>
          </a:prstGeom>
          <a:solidFill>
            <a:srgbClr val="E4E8E9"/>
          </a:solidFill>
          <a:ln/>
        </p:spPr>
      </p:sp>
      <p:sp>
        <p:nvSpPr>
          <p:cNvPr id="32" name="Text 30"/>
          <p:cNvSpPr txBox="1"/>
          <p:nvPr/>
        </p:nvSpPr>
        <p:spPr>
          <a:xfrm>
            <a:off x="3383280"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33" name="Shape 31"/>
          <p:cNvSpPr/>
          <p:nvPr/>
        </p:nvSpPr>
        <p:spPr>
          <a:xfrm>
            <a:off x="3877056" y="3044952"/>
            <a:ext cx="457200" cy="548640"/>
          </a:xfrm>
          <a:prstGeom prst="roundRect">
            <a:avLst>
              <a:gd name="adj" fmla="val 10000"/>
            </a:avLst>
          </a:prstGeom>
          <a:solidFill>
            <a:srgbClr val="E4E8E9"/>
          </a:solidFill>
          <a:ln/>
        </p:spPr>
      </p:sp>
      <p:sp>
        <p:nvSpPr>
          <p:cNvPr id="34" name="Text 32"/>
          <p:cNvSpPr txBox="1"/>
          <p:nvPr/>
        </p:nvSpPr>
        <p:spPr>
          <a:xfrm>
            <a:off x="3877056"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35" name="Shape 33"/>
          <p:cNvSpPr/>
          <p:nvPr/>
        </p:nvSpPr>
        <p:spPr>
          <a:xfrm>
            <a:off x="4370832" y="3044952"/>
            <a:ext cx="457200" cy="548640"/>
          </a:xfrm>
          <a:prstGeom prst="roundRect">
            <a:avLst>
              <a:gd name="adj" fmla="val 10000"/>
            </a:avLst>
          </a:prstGeom>
          <a:solidFill>
            <a:srgbClr val="E4E8E9"/>
          </a:solidFill>
          <a:ln/>
        </p:spPr>
      </p:sp>
      <p:sp>
        <p:nvSpPr>
          <p:cNvPr id="36" name="Text 34"/>
          <p:cNvSpPr txBox="1"/>
          <p:nvPr/>
        </p:nvSpPr>
        <p:spPr>
          <a:xfrm>
            <a:off x="4370832"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37" name="Shape 35"/>
          <p:cNvSpPr/>
          <p:nvPr/>
        </p:nvSpPr>
        <p:spPr>
          <a:xfrm>
            <a:off x="5010912" y="3044952"/>
            <a:ext cx="457200" cy="548640"/>
          </a:xfrm>
          <a:prstGeom prst="roundRect">
            <a:avLst>
              <a:gd name="adj" fmla="val 10000"/>
            </a:avLst>
          </a:prstGeom>
          <a:solidFill>
            <a:srgbClr val="E4E8E9"/>
          </a:solidFill>
          <a:ln/>
        </p:spPr>
      </p:sp>
      <p:sp>
        <p:nvSpPr>
          <p:cNvPr id="38" name="Text 36"/>
          <p:cNvSpPr txBox="1"/>
          <p:nvPr/>
        </p:nvSpPr>
        <p:spPr>
          <a:xfrm>
            <a:off x="5010912"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39" name="Shape 37"/>
          <p:cNvSpPr/>
          <p:nvPr/>
        </p:nvSpPr>
        <p:spPr>
          <a:xfrm>
            <a:off x="5504688" y="3044952"/>
            <a:ext cx="457200" cy="548640"/>
          </a:xfrm>
          <a:prstGeom prst="roundRect">
            <a:avLst>
              <a:gd name="adj" fmla="val 10000"/>
            </a:avLst>
          </a:prstGeom>
          <a:solidFill>
            <a:srgbClr val="B5453A"/>
          </a:solidFill>
          <a:ln/>
        </p:spPr>
      </p:sp>
      <p:sp>
        <p:nvSpPr>
          <p:cNvPr id="40" name="Text 38"/>
          <p:cNvSpPr txBox="1"/>
          <p:nvPr/>
        </p:nvSpPr>
        <p:spPr>
          <a:xfrm>
            <a:off x="5504688"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1</a:t>
            </a:r>
            <a:endParaRPr lang="tr-TR" sz="1600" dirty="0"/>
          </a:p>
        </p:txBody>
      </p:sp>
      <p:sp>
        <p:nvSpPr>
          <p:cNvPr id="41" name="Shape 39"/>
          <p:cNvSpPr/>
          <p:nvPr/>
        </p:nvSpPr>
        <p:spPr>
          <a:xfrm>
            <a:off x="5998464" y="3044952"/>
            <a:ext cx="457200" cy="548640"/>
          </a:xfrm>
          <a:prstGeom prst="roundRect">
            <a:avLst>
              <a:gd name="adj" fmla="val 10000"/>
            </a:avLst>
          </a:prstGeom>
          <a:solidFill>
            <a:srgbClr val="E4E8E9"/>
          </a:solidFill>
          <a:ln/>
        </p:spPr>
      </p:sp>
      <p:sp>
        <p:nvSpPr>
          <p:cNvPr id="42" name="Text 40"/>
          <p:cNvSpPr txBox="1"/>
          <p:nvPr/>
        </p:nvSpPr>
        <p:spPr>
          <a:xfrm>
            <a:off x="5998464"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43" name="Shape 41"/>
          <p:cNvSpPr/>
          <p:nvPr/>
        </p:nvSpPr>
        <p:spPr>
          <a:xfrm>
            <a:off x="6638544" y="3044952"/>
            <a:ext cx="457200" cy="548640"/>
          </a:xfrm>
          <a:prstGeom prst="roundRect">
            <a:avLst>
              <a:gd name="adj" fmla="val 10000"/>
            </a:avLst>
          </a:prstGeom>
          <a:solidFill>
            <a:srgbClr val="E4E8E9"/>
          </a:solidFill>
          <a:ln/>
        </p:spPr>
      </p:sp>
      <p:sp>
        <p:nvSpPr>
          <p:cNvPr id="44" name="Text 42"/>
          <p:cNvSpPr txBox="1"/>
          <p:nvPr/>
        </p:nvSpPr>
        <p:spPr>
          <a:xfrm>
            <a:off x="6638544"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45" name="Shape 43"/>
          <p:cNvSpPr/>
          <p:nvPr/>
        </p:nvSpPr>
        <p:spPr>
          <a:xfrm>
            <a:off x="7132320" y="3044952"/>
            <a:ext cx="457200" cy="548640"/>
          </a:xfrm>
          <a:prstGeom prst="roundRect">
            <a:avLst>
              <a:gd name="adj" fmla="val 10000"/>
            </a:avLst>
          </a:prstGeom>
          <a:solidFill>
            <a:srgbClr val="B5453A"/>
          </a:solidFill>
          <a:ln/>
        </p:spPr>
      </p:sp>
      <p:sp>
        <p:nvSpPr>
          <p:cNvPr id="46" name="Text 44"/>
          <p:cNvSpPr txBox="1"/>
          <p:nvPr/>
        </p:nvSpPr>
        <p:spPr>
          <a:xfrm>
            <a:off x="7132320"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1</a:t>
            </a:r>
            <a:endParaRPr lang="tr-TR" sz="1600" dirty="0"/>
          </a:p>
        </p:txBody>
      </p:sp>
      <p:sp>
        <p:nvSpPr>
          <p:cNvPr id="47" name="Shape 45"/>
          <p:cNvSpPr/>
          <p:nvPr/>
        </p:nvSpPr>
        <p:spPr>
          <a:xfrm>
            <a:off x="7626096" y="3044952"/>
            <a:ext cx="457200" cy="548640"/>
          </a:xfrm>
          <a:prstGeom prst="roundRect">
            <a:avLst>
              <a:gd name="adj" fmla="val 10000"/>
            </a:avLst>
          </a:prstGeom>
          <a:solidFill>
            <a:srgbClr val="E4E8E9"/>
          </a:solidFill>
          <a:ln/>
        </p:spPr>
      </p:sp>
      <p:sp>
        <p:nvSpPr>
          <p:cNvPr id="48" name="Text 46"/>
          <p:cNvSpPr txBox="1"/>
          <p:nvPr/>
        </p:nvSpPr>
        <p:spPr>
          <a:xfrm>
            <a:off x="7626096" y="3044952"/>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0</a:t>
            </a:r>
            <a:endParaRPr lang="tr-TR" sz="1600" dirty="0"/>
          </a:p>
        </p:txBody>
      </p:sp>
      <p:sp>
        <p:nvSpPr>
          <p:cNvPr id="49" name="Text 47"/>
          <p:cNvSpPr txBox="1"/>
          <p:nvPr/>
        </p:nvSpPr>
        <p:spPr>
          <a:xfrm>
            <a:off x="548640" y="3758184"/>
            <a:ext cx="137160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sonuç</a:t>
            </a:r>
            <a:endParaRPr lang="tr-TR" sz="1500" dirty="0"/>
          </a:p>
        </p:txBody>
      </p:sp>
      <p:sp>
        <p:nvSpPr>
          <p:cNvPr id="50" name="Shape 48"/>
          <p:cNvSpPr/>
          <p:nvPr/>
        </p:nvSpPr>
        <p:spPr>
          <a:xfrm>
            <a:off x="1965960" y="3758184"/>
            <a:ext cx="1143000" cy="548640"/>
          </a:xfrm>
          <a:prstGeom prst="roundRect">
            <a:avLst>
              <a:gd name="adj" fmla="val 8333"/>
            </a:avLst>
          </a:prstGeom>
          <a:solidFill>
            <a:srgbClr val="02C39A"/>
          </a:solidFill>
          <a:ln/>
        </p:spPr>
      </p:sp>
      <p:sp>
        <p:nvSpPr>
          <p:cNvPr id="51" name="Text 49"/>
          <p:cNvSpPr txBox="1"/>
          <p:nvPr/>
        </p:nvSpPr>
        <p:spPr>
          <a:xfrm>
            <a:off x="1965960" y="3758184"/>
            <a:ext cx="1143000" cy="548640"/>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644</a:t>
            </a:r>
            <a:endParaRPr lang="tr-TR" sz="1800" dirty="0"/>
          </a:p>
        </p:txBody>
      </p:sp>
      <p:sp>
        <p:nvSpPr>
          <p:cNvPr id="52" name="Shape 50"/>
          <p:cNvSpPr/>
          <p:nvPr/>
        </p:nvSpPr>
        <p:spPr>
          <a:xfrm>
            <a:off x="3383280" y="3758184"/>
            <a:ext cx="457200" cy="548640"/>
          </a:xfrm>
          <a:prstGeom prst="roundRect">
            <a:avLst>
              <a:gd name="adj" fmla="val 10000"/>
            </a:avLst>
          </a:prstGeom>
          <a:solidFill>
            <a:srgbClr val="36454F"/>
          </a:solidFill>
          <a:ln/>
        </p:spPr>
      </p:sp>
      <p:sp>
        <p:nvSpPr>
          <p:cNvPr id="53" name="Text 51"/>
          <p:cNvSpPr txBox="1"/>
          <p:nvPr/>
        </p:nvSpPr>
        <p:spPr>
          <a:xfrm>
            <a:off x="3383280"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54" name="Shape 52"/>
          <p:cNvSpPr/>
          <p:nvPr/>
        </p:nvSpPr>
        <p:spPr>
          <a:xfrm>
            <a:off x="3877056" y="3758184"/>
            <a:ext cx="457200" cy="548640"/>
          </a:xfrm>
          <a:prstGeom prst="roundRect">
            <a:avLst>
              <a:gd name="adj" fmla="val 10000"/>
            </a:avLst>
          </a:prstGeom>
          <a:solidFill>
            <a:srgbClr val="36454F"/>
          </a:solidFill>
          <a:ln/>
        </p:spPr>
      </p:sp>
      <p:sp>
        <p:nvSpPr>
          <p:cNvPr id="55" name="Text 53"/>
          <p:cNvSpPr txBox="1"/>
          <p:nvPr/>
        </p:nvSpPr>
        <p:spPr>
          <a:xfrm>
            <a:off x="3877056"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w</a:t>
            </a:r>
            <a:endParaRPr lang="tr-TR" sz="1600" dirty="0"/>
          </a:p>
        </p:txBody>
      </p:sp>
      <p:sp>
        <p:nvSpPr>
          <p:cNvPr id="56" name="Shape 54"/>
          <p:cNvSpPr/>
          <p:nvPr/>
        </p:nvSpPr>
        <p:spPr>
          <a:xfrm>
            <a:off x="4370832" y="3758184"/>
            <a:ext cx="457200" cy="548640"/>
          </a:xfrm>
          <a:prstGeom prst="roundRect">
            <a:avLst>
              <a:gd name="adj" fmla="val 10000"/>
            </a:avLst>
          </a:prstGeom>
          <a:solidFill>
            <a:srgbClr val="E4E8E9"/>
          </a:solidFill>
          <a:ln/>
        </p:spPr>
      </p:sp>
      <p:sp>
        <p:nvSpPr>
          <p:cNvPr id="57" name="Text 55"/>
          <p:cNvSpPr txBox="1"/>
          <p:nvPr/>
        </p:nvSpPr>
        <p:spPr>
          <a:xfrm>
            <a:off x="4370832"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58" name="Shape 56"/>
          <p:cNvSpPr/>
          <p:nvPr/>
        </p:nvSpPr>
        <p:spPr>
          <a:xfrm>
            <a:off x="5010912" y="3758184"/>
            <a:ext cx="457200" cy="548640"/>
          </a:xfrm>
          <a:prstGeom prst="roundRect">
            <a:avLst>
              <a:gd name="adj" fmla="val 10000"/>
            </a:avLst>
          </a:prstGeom>
          <a:solidFill>
            <a:srgbClr val="36454F"/>
          </a:solidFill>
          <a:ln/>
        </p:spPr>
      </p:sp>
      <p:sp>
        <p:nvSpPr>
          <p:cNvPr id="59" name="Text 57"/>
          <p:cNvSpPr txBox="1"/>
          <p:nvPr/>
        </p:nvSpPr>
        <p:spPr>
          <a:xfrm>
            <a:off x="5010912"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60" name="Shape 58"/>
          <p:cNvSpPr/>
          <p:nvPr/>
        </p:nvSpPr>
        <p:spPr>
          <a:xfrm>
            <a:off x="5504688" y="3758184"/>
            <a:ext cx="457200" cy="548640"/>
          </a:xfrm>
          <a:prstGeom prst="roundRect">
            <a:avLst>
              <a:gd name="adj" fmla="val 10000"/>
            </a:avLst>
          </a:prstGeom>
          <a:solidFill>
            <a:srgbClr val="E4E8E9"/>
          </a:solidFill>
          <a:ln/>
        </p:spPr>
      </p:sp>
      <p:sp>
        <p:nvSpPr>
          <p:cNvPr id="61" name="Text 59"/>
          <p:cNvSpPr txBox="1"/>
          <p:nvPr/>
        </p:nvSpPr>
        <p:spPr>
          <a:xfrm>
            <a:off x="5504688"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62" name="Shape 60"/>
          <p:cNvSpPr/>
          <p:nvPr/>
        </p:nvSpPr>
        <p:spPr>
          <a:xfrm>
            <a:off x="5998464" y="3758184"/>
            <a:ext cx="457200" cy="548640"/>
          </a:xfrm>
          <a:prstGeom prst="roundRect">
            <a:avLst>
              <a:gd name="adj" fmla="val 10000"/>
            </a:avLst>
          </a:prstGeom>
          <a:solidFill>
            <a:srgbClr val="E4E8E9"/>
          </a:solidFill>
          <a:ln/>
        </p:spPr>
      </p:sp>
      <p:sp>
        <p:nvSpPr>
          <p:cNvPr id="63" name="Text 61"/>
          <p:cNvSpPr txBox="1"/>
          <p:nvPr/>
        </p:nvSpPr>
        <p:spPr>
          <a:xfrm>
            <a:off x="5998464"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64" name="Shape 62"/>
          <p:cNvSpPr/>
          <p:nvPr/>
        </p:nvSpPr>
        <p:spPr>
          <a:xfrm>
            <a:off x="6638544" y="3758184"/>
            <a:ext cx="457200" cy="548640"/>
          </a:xfrm>
          <a:prstGeom prst="roundRect">
            <a:avLst>
              <a:gd name="adj" fmla="val 10000"/>
            </a:avLst>
          </a:prstGeom>
          <a:solidFill>
            <a:srgbClr val="36454F"/>
          </a:solidFill>
          <a:ln/>
        </p:spPr>
      </p:sp>
      <p:sp>
        <p:nvSpPr>
          <p:cNvPr id="65" name="Text 63"/>
          <p:cNvSpPr txBox="1"/>
          <p:nvPr/>
        </p:nvSpPr>
        <p:spPr>
          <a:xfrm>
            <a:off x="6638544"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onsolas" pitchFamily="34" charset="0"/>
                <a:ea typeface="Consolas" pitchFamily="34" charset="-122"/>
                <a:cs typeface="Consolas" pitchFamily="34" charset="-120"/>
              </a:rPr>
              <a:t>r</a:t>
            </a:r>
            <a:endParaRPr lang="tr-TR" sz="1600" dirty="0"/>
          </a:p>
        </p:txBody>
      </p:sp>
      <p:sp>
        <p:nvSpPr>
          <p:cNvPr id="66" name="Shape 64"/>
          <p:cNvSpPr/>
          <p:nvPr/>
        </p:nvSpPr>
        <p:spPr>
          <a:xfrm>
            <a:off x="7132320" y="3758184"/>
            <a:ext cx="457200" cy="548640"/>
          </a:xfrm>
          <a:prstGeom prst="roundRect">
            <a:avLst>
              <a:gd name="adj" fmla="val 10000"/>
            </a:avLst>
          </a:prstGeom>
          <a:solidFill>
            <a:srgbClr val="E4E8E9"/>
          </a:solidFill>
          <a:ln/>
        </p:spPr>
      </p:sp>
      <p:sp>
        <p:nvSpPr>
          <p:cNvPr id="67" name="Text 65"/>
          <p:cNvSpPr txBox="1"/>
          <p:nvPr/>
        </p:nvSpPr>
        <p:spPr>
          <a:xfrm>
            <a:off x="7132320"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68" name="Shape 66"/>
          <p:cNvSpPr/>
          <p:nvPr/>
        </p:nvSpPr>
        <p:spPr>
          <a:xfrm>
            <a:off x="7626096" y="3758184"/>
            <a:ext cx="457200" cy="548640"/>
          </a:xfrm>
          <a:prstGeom prst="roundRect">
            <a:avLst>
              <a:gd name="adj" fmla="val 10000"/>
            </a:avLst>
          </a:prstGeom>
          <a:solidFill>
            <a:srgbClr val="E4E8E9"/>
          </a:solidFill>
          <a:ln/>
        </p:spPr>
      </p:sp>
      <p:sp>
        <p:nvSpPr>
          <p:cNvPr id="69" name="Text 67"/>
          <p:cNvSpPr txBox="1"/>
          <p:nvPr/>
        </p:nvSpPr>
        <p:spPr>
          <a:xfrm>
            <a:off x="7626096" y="3758184"/>
            <a:ext cx="457200" cy="548640"/>
          </a:xfrm>
          <a:prstGeom prst="rect">
            <a:avLst/>
          </a:prstGeom>
          <a:noFill/>
          <a:ln/>
        </p:spPr>
        <p:txBody>
          <a:bodyPr wrap="square" lIns="38100" tIns="38100" rIns="38100" bIns="38100" rtlCol="0" anchor="ctr"/>
          <a:lstStyle/>
          <a:p>
            <a:pPr algn="ctr" indent="0" marL="0">
              <a:buNone/>
            </a:pPr>
            <a:r>
              <a:rPr lang="tr-TR" sz="1600" b="1" dirty="0">
                <a:solidFill>
                  <a:srgbClr val="9AA5A8"/>
                </a:solidFill>
                <a:latin typeface="Consolas" pitchFamily="34" charset="0"/>
                <a:ea typeface="Consolas" pitchFamily="34" charset="-122"/>
                <a:cs typeface="Consolas" pitchFamily="34" charset="-120"/>
              </a:rPr>
              <a:t>-</a:t>
            </a:r>
            <a:endParaRPr lang="tr-TR" sz="1600" dirty="0"/>
          </a:p>
        </p:txBody>
      </p:sp>
      <p:sp>
        <p:nvSpPr>
          <p:cNvPr id="70" name="Text 68"/>
          <p:cNvSpPr txBox="1"/>
          <p:nvPr/>
        </p:nvSpPr>
        <p:spPr>
          <a:xfrm>
            <a:off x="3383280" y="4480560"/>
            <a:ext cx="4754880" cy="320040"/>
          </a:xfrm>
          <a:prstGeom prst="rect">
            <a:avLst/>
          </a:prstGeom>
          <a:noFill/>
          <a:ln/>
        </p:spPr>
        <p:txBody>
          <a:bodyPr wrap="square" lIns="0" tIns="0" rIns="0" bIns="0" rtlCol="0" anchor="t"/>
          <a:lstStyle/>
          <a:p>
            <a:pPr algn="ctr" indent="0" marL="0">
              <a:buNone/>
            </a:pPr>
            <a:r>
              <a:rPr lang="tr-TR" sz="1200" i="1" dirty="0">
                <a:solidFill>
                  <a:srgbClr val="B5453A"/>
                </a:solidFill>
                <a:latin typeface="Calibri" pitchFamily="34" charset="0"/>
                <a:ea typeface="Calibri" pitchFamily="34" charset="-122"/>
                <a:cs typeface="Calibri" pitchFamily="34" charset="-120"/>
              </a:rPr>
              <a:t>grubun ve diğerlerinin w bitleri temizlenir</a:t>
            </a:r>
            <a:endParaRPr lang="tr-TR" sz="1200" dirty="0"/>
          </a:p>
        </p:txBody>
      </p:sp>
      <p:sp>
        <p:nvSpPr>
          <p:cNvPr id="71" name="Shape 69"/>
          <p:cNvSpPr/>
          <p:nvPr/>
        </p:nvSpPr>
        <p:spPr>
          <a:xfrm>
            <a:off x="8503920" y="2103120"/>
            <a:ext cx="3154680" cy="2880360"/>
          </a:xfrm>
          <a:prstGeom prst="roundRect">
            <a:avLst>
              <a:gd name="adj" fmla="val 1905"/>
            </a:avLst>
          </a:prstGeom>
          <a:solidFill>
            <a:srgbClr val="F2F2F2"/>
          </a:solidFill>
          <a:ln/>
          <a:effectLst>
            <a:outerShdw sx="100000" sy="100000" kx="0" ky="0" algn="bl" rotWithShape="0" blurRad="101600" dist="25400" dir="5400000">
              <a:srgbClr val="000000">
                <a:alpha val="12000"/>
              </a:srgbClr>
            </a:outerShdw>
          </a:effectLst>
        </p:spPr>
      </p:sp>
      <p:sp>
        <p:nvSpPr>
          <p:cNvPr id="72" name="Text 70"/>
          <p:cNvSpPr txBox="1"/>
          <p:nvPr/>
        </p:nvSpPr>
        <p:spPr>
          <a:xfrm>
            <a:off x="8732520" y="2286000"/>
            <a:ext cx="2697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Sözcüklerle</a:t>
            </a:r>
            <a:endParaRPr lang="tr-TR" sz="1500" dirty="0"/>
          </a:p>
        </p:txBody>
      </p:sp>
      <p:sp>
        <p:nvSpPr>
          <p:cNvPr id="73" name="Text 71"/>
          <p:cNvSpPr txBox="1"/>
          <p:nvPr/>
        </p:nvSpPr>
        <p:spPr>
          <a:xfrm>
            <a:off x="8732520" y="2743200"/>
            <a:ext cx="2697480" cy="21031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umask = varsayılan olarak hiç verilmeyen bitlerin "maskesi".</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Süreç başına bir ayardır; çocuk süreçlere aktarılır.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Yalnızca bit kaldırabilir, asla ekleyemez.</a:t>
            </a:r>
            <a:endParaRPr lang="tr-TR" sz="1300" dirty="0"/>
          </a:p>
        </p:txBody>
      </p:sp>
      <p:sp>
        <p:nvSpPr>
          <p:cNvPr id="74" name="Shape 72"/>
          <p:cNvSpPr/>
          <p:nvPr/>
        </p:nvSpPr>
        <p:spPr>
          <a:xfrm>
            <a:off x="548640" y="5212080"/>
            <a:ext cx="1110996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sp>
      <p:sp>
        <p:nvSpPr>
          <p:cNvPr id="75" name="Text 73"/>
          <p:cNvSpPr txBox="1"/>
          <p:nvPr/>
        </p:nvSpPr>
        <p:spPr>
          <a:xfrm>
            <a:off x="777240" y="5212080"/>
            <a:ext cx="10652760" cy="10515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Kural: yeni mod = istenen AND (NOT umask). Dosyalar 666 olarak istenir — asla x ile değil — bu yüzden siz chmod yapana kadar hiçbir yeni dosya çalıştırılabilir değildir. Tipik değerler: Ubuntu kullanıcıları için 002 (→ 664 / 775), root ve birçok sunucu için 022 (→ 644 / 755).</a:t>
            </a:r>
            <a:endParaRPr lang="tr-TR"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VARSAYILAN İZİNLER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umask Değerleri — ve Çıkarma Neden Yanlış Olabilir?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25</a:t>
            </a:r>
            <a:endParaRPr lang="tr-TR"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858000" cy="914400"/>
        </p:xfrm>
        <a:graphic>
          <a:graphicData uri="http://schemas.openxmlformats.org/drawingml/2006/table">
            <a:tbl>
              <a:tblPr/>
              <a:tblGrid>
                <a:gridCol w="868680"/>
                <a:gridCol w="1874520"/>
                <a:gridCol w="2057400"/>
                <a:gridCol w="205740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umask</a:t>
                      </a:r>
                      <a:endParaRPr lang="tr-TR"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Yeni dosya (666)</a:t>
                      </a:r>
                      <a:endParaRPr lang="tr-TR"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Yeni dizin (777)</a:t>
                      </a:r>
                      <a:endParaRPr lang="tr-TR"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Kullanım</a:t>
                      </a:r>
                      <a:endParaRPr lang="tr-TR"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002</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664  rw-rw-r--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775  rwxrwxr-x</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Ubuntu kullanıcıları (özel gruplar)</a:t>
                      </a:r>
                      <a:endParaRPr lang="tr-TR"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022</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644  rw-r--r--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755  rwxr-xr-x</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root, birçok sunucu</a:t>
                      </a:r>
                      <a:endParaRPr lang="tr-TR"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027</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640  rw-r-----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750  rwxr-x---</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grup okur, diğerleri hiçbir şey</a:t>
                      </a:r>
                      <a:endParaRPr lang="tr-TR"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077</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600  rw-------</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700  rwx------</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tamamen özel</a:t>
                      </a:r>
                      <a:endParaRPr lang="tr-TR"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033</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tr-TR" sz="1350" b="1" dirty="0">
                          <a:solidFill>
                            <a:srgbClr val="B5453A"/>
                          </a:solidFill>
                          <a:latin typeface="Consolas" pitchFamily="34" charset="0"/>
                          <a:ea typeface="Consolas" pitchFamily="34" charset="-122"/>
                          <a:cs typeface="Consolas" pitchFamily="34" charset="-120"/>
                        </a:rPr>
                        <a:t>644  rw-r--r--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tr-TR" sz="1350" dirty="0">
                          <a:solidFill>
                            <a:srgbClr val="3A464C"/>
                          </a:solidFill>
                          <a:latin typeface="Consolas" pitchFamily="34" charset="0"/>
                          <a:ea typeface="Consolas" pitchFamily="34" charset="-122"/>
                          <a:cs typeface="Consolas" pitchFamily="34" charset="-120"/>
                        </a:rPr>
                        <a:t>744  rwxr--r--</a:t>
                      </a:r>
                      <a:endParaRPr lang="tr-TR"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çıkarma tuzağı →</a:t>
                      </a:r>
                      <a:endParaRPr lang="tr-TR"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r>
            </a:tbl>
          </a:graphicData>
        </a:graphic>
      </p:graphicFrame>
      <p:sp>
        <p:nvSpPr>
          <p:cNvPr id="7" name="Shape 4"/>
          <p:cNvSpPr/>
          <p:nvPr/>
        </p:nvSpPr>
        <p:spPr>
          <a:xfrm>
            <a:off x="7635240" y="1508760"/>
            <a:ext cx="4023360" cy="3291840"/>
          </a:xfrm>
          <a:prstGeom prst="roundRect">
            <a:avLst>
              <a:gd name="adj" fmla="val 1389"/>
            </a:avLst>
          </a:prstGeom>
          <a:solidFill>
            <a:srgbClr val="212121"/>
          </a:solidFill>
          <a:ln/>
        </p:spPr>
      </p:sp>
      <p:sp>
        <p:nvSpPr>
          <p:cNvPr id="8" name="Text 5"/>
          <p:cNvSpPr txBox="1"/>
          <p:nvPr/>
        </p:nvSpPr>
        <p:spPr>
          <a:xfrm>
            <a:off x="7818120" y="1618488"/>
            <a:ext cx="3657600" cy="307238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bir dosyada umask 033</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666 = 110 110 110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033 = 000 011 011</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~033 = 111 100 100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AND = 110 100 100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644  rw-r--r--</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666 − 033 = 633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633 = rw--wx-wx</a:t>
            </a:r>
            <a:endParaRPr lang="tr-TR" sz="1300" dirty="0"/>
          </a:p>
        </p:txBody>
      </p:sp>
      <p:sp>
        <p:nvSpPr>
          <p:cNvPr id="9" name="Shape 6"/>
          <p:cNvSpPr/>
          <p:nvPr/>
        </p:nvSpPr>
        <p:spPr>
          <a:xfrm>
            <a:off x="548640" y="5029200"/>
            <a:ext cx="11109960" cy="1234440"/>
          </a:xfrm>
          <a:prstGeom prst="roundRect">
            <a:avLst>
              <a:gd name="adj" fmla="val 4444"/>
            </a:avLst>
          </a:prstGeom>
          <a:solidFill>
            <a:srgbClr val="36454F"/>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77240" y="5029200"/>
            <a:ext cx="10652760" cy="123444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Çıkarma yalnızca umask'ın her biti 666 ya da 777'de de kuruluysa doğru sonuç verir. Dosyalarda 666'nın x biti yoktur; bu yüzden x bitleri içeren bir umask (033, 027, 077 …) çıkarmayla yanlış sonuç verir: 666 − 033 = 633, "okuma yok ama yazma ve çalıştırma var" demek olurdu. Çekirdek yalnızca bitleri temizler: 644.</a:t>
            </a:r>
            <a:endParaRPr lang="tr-TR"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umask İş Başında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26</a:t>
            </a:r>
            <a:endParaRPr lang="tr-TR" sz="900" dirty="0"/>
          </a:p>
        </p:txBody>
      </p:sp>
      <p:sp>
        <p:nvSpPr>
          <p:cNvPr id="6" name="Shape 4"/>
          <p:cNvSpPr/>
          <p:nvPr/>
        </p:nvSpPr>
        <p:spPr>
          <a:xfrm>
            <a:off x="548640" y="1508760"/>
            <a:ext cx="6949440" cy="3794760"/>
          </a:xfrm>
          <a:prstGeom prst="roundRect">
            <a:avLst>
              <a:gd name="adj" fmla="val 1205"/>
            </a:avLst>
          </a:prstGeom>
          <a:solidFill>
            <a:srgbClr val="212121"/>
          </a:solidFill>
          <a:ln/>
        </p:spPr>
      </p:sp>
      <p:sp>
        <p:nvSpPr>
          <p:cNvPr id="7" name="Text 5"/>
          <p:cNvSpPr txBox="1"/>
          <p:nvPr/>
        </p:nvSpPr>
        <p:spPr>
          <a:xfrm>
            <a:off x="731520" y="1618488"/>
            <a:ext cx="6583680" cy="3575304"/>
          </a:xfrm>
          <a:prstGeom prst="rect">
            <a:avLst/>
          </a:prstGeom>
          <a:noFill/>
          <a:ln/>
        </p:spPr>
        <p:txBody>
          <a:bodyPr wrap="square" lIns="0" tIns="0" rIns="0" bIns="0" rtlCol="0" anchor="t"/>
          <a:lstStyle/>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student@okan-lab:~/lab/umask_test$ </a:t>
            </a:r>
            <a:r>
              <a:rPr lang="tr-TR" sz="950" b="1" dirty="0">
                <a:solidFill>
                  <a:srgbClr val="FFFFFF"/>
                </a:solidFill>
                <a:latin typeface="Consolas" pitchFamily="34" charset="0"/>
                <a:ea typeface="Consolas" pitchFamily="34" charset="-122"/>
                <a:cs typeface="Consolas" pitchFamily="34" charset="-120"/>
              </a:rPr>
              <a:t>umask</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0002</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student@okan-lab:~/lab/umask_test$ </a:t>
            </a:r>
            <a:r>
              <a:rPr lang="tr-TR" sz="950" b="1" dirty="0">
                <a:solidFill>
                  <a:srgbClr val="FFFFFF"/>
                </a:solidFill>
                <a:latin typeface="Consolas" pitchFamily="34" charset="0"/>
                <a:ea typeface="Consolas" pitchFamily="34" charset="-122"/>
                <a:cs typeface="Consolas" pitchFamily="34" charset="-120"/>
              </a:rPr>
              <a:t>umask -S</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u=rwx,g=rwx,o=rx</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student@okan-lab:~/lab/umask_test$ </a:t>
            </a:r>
            <a:r>
              <a:rPr lang="tr-TR" sz="950" b="1" dirty="0">
                <a:solidFill>
                  <a:srgbClr val="FFFFFF"/>
                </a:solidFill>
                <a:latin typeface="Consolas" pitchFamily="34" charset="0"/>
                <a:ea typeface="Consolas" pitchFamily="34" charset="-122"/>
                <a:cs typeface="Consolas" pitchFamily="34" charset="-120"/>
              </a:rPr>
              <a:t>touch f_002; mkdir d_002   # … 022, 077, 033 için de</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student@okan-lab:~/lab/umask_test$ </a:t>
            </a:r>
            <a:r>
              <a:rPr lang="tr-TR" sz="950" b="1" dirty="0">
                <a:solidFill>
                  <a:srgbClr val="FFFFFF"/>
                </a:solidFill>
                <a:latin typeface="Consolas" pitchFamily="34" charset="0"/>
                <a:ea typeface="Consolas" pitchFamily="34" charset="-122"/>
                <a:cs typeface="Consolas" pitchFamily="34" charset="-120"/>
              </a:rPr>
              <a:t>stat -c '%a  %A  %n' f_* d_*</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664  -rw-rw-r--  f_002</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644  -rw-r--r--  f_022</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644  -rw-r--r--  f_033</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600  -rw-------  f_077</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775  drwxrwxr-x  d_002</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755  drwxr-xr-x  d_022</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744  drwxr--r--  d_033</a:t>
            </a:r>
            <a:endParaRPr lang="tr-TR" sz="950" dirty="0"/>
          </a:p>
          <a:p>
            <a:pPr indent="0" marL="0">
              <a:lnSpc>
                <a:spcPct val="100000"/>
              </a:lnSpc>
              <a:buNone/>
            </a:pPr>
            <a:r>
              <a:rPr lang="tr-TR" sz="950" dirty="0">
                <a:solidFill>
                  <a:srgbClr val="F2F2F2"/>
                </a:solidFill>
                <a:latin typeface="Consolas" pitchFamily="34" charset="0"/>
                <a:ea typeface="Consolas" pitchFamily="34" charset="-122"/>
                <a:cs typeface="Consolas" pitchFamily="34" charset="-120"/>
              </a:rPr>
              <a:t>700  drwx------  d_077</a:t>
            </a:r>
            <a:endParaRPr lang="tr-TR" sz="950" dirty="0"/>
          </a:p>
        </p:txBody>
      </p:sp>
      <p:sp>
        <p:nvSpPr>
          <p:cNvPr id="8" name="Shape 6"/>
          <p:cNvSpPr/>
          <p:nvPr/>
        </p:nvSpPr>
        <p:spPr>
          <a:xfrm>
            <a:off x="7726680" y="1508760"/>
            <a:ext cx="3931920" cy="379476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01752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umask -S, İZİN VERİLENİ gösterir: u=rwx,g=rwx,o=rx.</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Dosyalar varsayılan olarak hiçbir zaman x almaz.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033 → dosya 633 değil 644; dizin 744.</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umask 077 → yeni dosyaları yalnızca siz görebilirsiniz.</a:t>
            </a:r>
            <a:endParaRPr lang="tr-TR" sz="1350" dirty="0"/>
          </a:p>
        </p:txBody>
      </p:sp>
      <p:sp>
        <p:nvSpPr>
          <p:cNvPr id="11" name="Shape 9"/>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umask yalnızca geçerli kabuğu (ve ondan başlatılan programları) etkiler. Kalıcı yapmak için ~/.bashrc dosyasına  umask 027  ekleyin. Var olan dosyalar etkilenmez.</a:t>
            </a:r>
            <a:endParaRPr lang="tr-TR"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x'i ya da r'si Olmayan Dizinler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27</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mkdir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echo "top secret" &gt; box/secret.txt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-ld box</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drwxrwxr-x 2 student student 4096 Oct 12 19:38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chmod u-x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-ld box</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drw-rwxr-x 2 student student 4096 Oct 12 19:38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box</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secret.txt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 box</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ls: cannot access 'box/secret.txt': Permission denied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 ? ? ?            ? secret.txt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cd box</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bash: cd: box: Permission denied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cat box/secret.txt</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cat: box/secret.txt: Permission denied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chmod u-r,u+x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-ld box</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d-wxrwxr-x 2 student student 4096 Oct 12 19:38 box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box</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ls: cannot open directory 'box': Permission denied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cat box/secret.txt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top secret</a:t>
            </a:r>
            <a:endParaRPr lang="tr-TR" sz="12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 var, x yok:</a:t>
            </a:r>
            <a:r>
              <a:rPr lang="tr-TR" sz="1350" dirty="0">
                <a:solidFill>
                  <a:srgbClr val="3A464C"/>
                </a:solidFill>
                <a:latin typeface="Calibri" pitchFamily="34" charset="0"/>
                <a:ea typeface="Calibri" pitchFamily="34" charset="-122"/>
                <a:cs typeface="Calibri" pitchFamily="34" charset="-120"/>
              </a:rPr>
              <a:t> ls adları gösterir, ama ls -l düğümleri okuyamaz (??????); cd ve cat başarısız olur.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x var, r yok:</a:t>
            </a:r>
            <a:r>
              <a:rPr lang="tr-TR" sz="1350" dirty="0">
                <a:solidFill>
                  <a:srgbClr val="3A464C"/>
                </a:solidFill>
                <a:latin typeface="Calibri" pitchFamily="34" charset="0"/>
                <a:ea typeface="Calibri" pitchFamily="34" charset="-122"/>
                <a:cs typeface="Calibri" pitchFamily="34" charset="-120"/>
              </a:rPr>
              <a:t> dizin listelenemez, ama adını bildiğiniz bir dosya açılabilir.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Dizinlerde olağan çiftler: r-x ya da rwx — r ve x birlikte gider.</a:t>
            </a:r>
            <a:endParaRPr lang="tr-TR"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Salt Okunur Bir Dosyayı Silmek: Karar Dizindeki w'nindir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28</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chmod 755 box</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chmod 444 box/secret.txt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ls -l box</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total 4</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-r--r--r-- 1 student student 11 Oct 12 19:38 secret.txt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echo "more" &gt;&gt; box/secret.txt</a:t>
            </a:r>
            <a:endParaRPr lang="tr-TR" sz="1300" dirty="0"/>
          </a:p>
          <a:p>
            <a:pPr indent="0" marL="0">
              <a:lnSpc>
                <a:spcPct val="100000"/>
              </a:lnSpc>
              <a:buNone/>
            </a:pPr>
            <a:r>
              <a:rPr lang="tr-TR" sz="1300" dirty="0">
                <a:solidFill>
                  <a:srgbClr val="F4A79D"/>
                </a:solidFill>
                <a:latin typeface="Consolas" pitchFamily="34" charset="0"/>
                <a:ea typeface="Consolas" pitchFamily="34" charset="-122"/>
                <a:cs typeface="Consolas" pitchFamily="34" charset="-120"/>
              </a:rPr>
              <a:t>bash: box/secret.txt: Permission denied</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rm box/secret.txt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rm: remove write-protected regular file 'box/secret.txt'? y</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ls box</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chmod 555 box</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touch box/new.txt</a:t>
            </a:r>
            <a:endParaRPr lang="tr-TR" sz="1300" dirty="0"/>
          </a:p>
          <a:p>
            <a:pPr indent="0" marL="0">
              <a:lnSpc>
                <a:spcPct val="100000"/>
              </a:lnSpc>
              <a:buNone/>
            </a:pPr>
            <a:r>
              <a:rPr lang="tr-TR" sz="1300" dirty="0">
                <a:solidFill>
                  <a:srgbClr val="F4A79D"/>
                </a:solidFill>
                <a:latin typeface="Consolas" pitchFamily="34" charset="0"/>
                <a:ea typeface="Consolas" pitchFamily="34" charset="-122"/>
                <a:cs typeface="Consolas" pitchFamily="34" charset="-120"/>
              </a:rPr>
              <a:t>touch: cannot touch 'box/new.txt': Permission denied</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chmod 755 box</a:t>
            </a:r>
            <a:endParaRPr lang="tr-TR" sz="1300" dirty="0"/>
          </a:p>
        </p:txBody>
      </p:sp>
      <p:sp>
        <p:nvSpPr>
          <p:cNvPr id="8" name="Shape 6"/>
          <p:cNvSpPr/>
          <p:nvPr/>
        </p:nvSpPr>
        <p:spPr>
          <a:xfrm>
            <a:off x="7726680" y="1508760"/>
            <a:ext cx="393192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22402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444 dosyaya yazmayı durdurur …</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 ama rm yalnızca bir soru sorar ve sonra dosyayı siler: dizin (755) yazılabilir.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Dizin 555: hiçbir şey eklenemez ya da silinemez.</a:t>
            </a:r>
            <a:endParaRPr lang="tr-TR" sz="1350" dirty="0"/>
          </a:p>
        </p:txBody>
      </p:sp>
      <p:sp>
        <p:nvSpPr>
          <p:cNvPr id="11" name="Shape 9"/>
          <p:cNvSpPr/>
          <p:nvPr/>
        </p:nvSpPr>
        <p:spPr>
          <a:xfrm>
            <a:off x="7726680" y="4709160"/>
            <a:ext cx="3931920" cy="1554480"/>
          </a:xfrm>
          <a:prstGeom prst="roundRect">
            <a:avLst>
              <a:gd name="adj" fmla="val 3529"/>
            </a:avLst>
          </a:prstGeom>
          <a:solidFill>
            <a:srgbClr val="F3D9D6"/>
          </a:solidFill>
          <a:ln w="12700">
            <a:solidFill>
              <a:srgbClr val="B5453A"/>
            </a:solidFill>
            <a:prstDash val="solid"/>
          </a:ln>
        </p:spPr>
      </p:sp>
      <p:sp>
        <p:nvSpPr>
          <p:cNvPr id="12" name="Text 10"/>
          <p:cNvSpPr txBox="1"/>
          <p:nvPr/>
        </p:nvSpPr>
        <p:spPr>
          <a:xfrm>
            <a:off x="7909560" y="4709160"/>
            <a:ext cx="3566160" cy="1554480"/>
          </a:xfrm>
          <a:prstGeom prst="rect">
            <a:avLst/>
          </a:prstGeom>
          <a:noFill/>
          <a:ln/>
        </p:spPr>
        <p:txBody>
          <a:bodyPr wrap="square" lIns="0" tIns="0" rIns="0" bIns="0" rtlCol="0" anchor="ctr"/>
          <a:lstStyle/>
          <a:p>
            <a:pPr indent="0" marL="0">
              <a:buNone/>
            </a:pPr>
            <a:r>
              <a:rPr lang="tr-TR" sz="1250" b="1" dirty="0">
                <a:solidFill>
                  <a:srgbClr val="B5453A"/>
                </a:solidFill>
                <a:latin typeface="Calibri" pitchFamily="34" charset="0"/>
                <a:ea typeface="Calibri" pitchFamily="34" charset="-122"/>
                <a:cs typeface="Calibri" pitchFamily="34" charset="-120"/>
              </a:rPr>
              <a:t>Dikkat:  </a:t>
            </a:r>
            <a:r>
              <a:rPr lang="tr-TR" sz="1250" dirty="0">
                <a:solidFill>
                  <a:srgbClr val="5A2A25"/>
                </a:solidFill>
                <a:latin typeface="Calibri" pitchFamily="34" charset="0"/>
                <a:ea typeface="Calibri" pitchFamily="34" charset="-122"/>
                <a:cs typeface="Calibri" pitchFamily="34" charset="-120"/>
              </a:rPr>
              <a:t>rm -f bu soruyu atlar, rm -r'nin de geri dönüşüm kutusu yoktur. Salt okunur bir dosya silinmeye karşı korunmuş DEĞİLDİR.</a:t>
            </a:r>
            <a:endParaRPr lang="tr-TR"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SAHİPLİK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chown ve chgrp: Sahibi Kim Değiştirebilir?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29</a:t>
            </a:r>
            <a:endParaRPr lang="tr-TR" sz="900" dirty="0"/>
          </a:p>
        </p:txBody>
      </p:sp>
      <p:sp>
        <p:nvSpPr>
          <p:cNvPr id="6" name="Shape 4"/>
          <p:cNvSpPr/>
          <p:nvPr/>
        </p:nvSpPr>
        <p:spPr>
          <a:xfrm>
            <a:off x="548640" y="1508760"/>
            <a:ext cx="54864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Komutlar</a:t>
            </a:r>
            <a:endParaRPr lang="tr-TR" sz="1500" dirty="0"/>
          </a:p>
        </p:txBody>
      </p:sp>
      <p:sp>
        <p:nvSpPr>
          <p:cNvPr id="8" name="Text 6"/>
          <p:cNvSpPr txBox="1"/>
          <p:nvPr/>
        </p:nvSpPr>
        <p:spPr>
          <a:xfrm>
            <a:off x="777240" y="2148840"/>
            <a:ext cx="5029200" cy="14630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chown user file</a:t>
            </a:r>
            <a:r>
              <a:rPr lang="tr-TR" sz="1400" dirty="0">
                <a:solidFill>
                  <a:srgbClr val="3A464C"/>
                </a:solidFill>
                <a:latin typeface="Calibri" pitchFamily="34" charset="0"/>
                <a:ea typeface="Calibri" pitchFamily="34" charset="-122"/>
                <a:cs typeface="Calibri" pitchFamily="34" charset="-120"/>
              </a:rPr>
              <a:t> — sahibi değiştirir (chown user:group file de olur).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chgrp group file</a:t>
            </a:r>
            <a:r>
              <a:rPr lang="tr-TR" sz="1400" dirty="0">
                <a:solidFill>
                  <a:srgbClr val="3A464C"/>
                </a:solidFill>
                <a:latin typeface="Calibri" pitchFamily="34" charset="0"/>
                <a:ea typeface="Calibri" pitchFamily="34" charset="-122"/>
                <a:cs typeface="Calibri" pitchFamily="34" charset="-120"/>
              </a:rPr>
              <a:t> — grubu değiştirir.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İkisi de bütün bir ağaç için -R kabul eder.</a:t>
            </a:r>
            <a:endParaRPr lang="tr-TR" sz="1400" dirty="0"/>
          </a:p>
        </p:txBody>
      </p:sp>
      <p:sp>
        <p:nvSpPr>
          <p:cNvPr id="9" name="Shape 7"/>
          <p:cNvSpPr/>
          <p:nvPr/>
        </p:nvSpPr>
        <p:spPr>
          <a:xfrm>
            <a:off x="548640" y="3931920"/>
            <a:ext cx="548640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411480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Linux'taki kurallar</a:t>
            </a:r>
            <a:endParaRPr lang="tr-TR" sz="1500" dirty="0"/>
          </a:p>
        </p:txBody>
      </p:sp>
      <p:sp>
        <p:nvSpPr>
          <p:cNvPr id="11" name="Text 9"/>
          <p:cNvSpPr txBox="1"/>
          <p:nvPr/>
        </p:nvSpPr>
        <p:spPr>
          <a:xfrm>
            <a:off x="777240" y="4572000"/>
            <a:ext cx="5029200" cy="15544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chown:</a:t>
            </a:r>
            <a:r>
              <a:rPr lang="tr-TR" sz="1350" dirty="0">
                <a:solidFill>
                  <a:srgbClr val="3A464C"/>
                </a:solidFill>
                <a:latin typeface="Calibri" pitchFamily="34" charset="0"/>
                <a:ea typeface="Calibri" pitchFamily="34" charset="-122"/>
                <a:cs typeface="Calibri" pitchFamily="34" charset="-120"/>
              </a:rPr>
              <a:t> yalnızca root. Yoksa disk kotasından kaçmak için dosyalarınızı başkasına devredebilir ya da birine hiç oluşturmadığı bir dosyayı verebilirdiniz.</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chgrp:</a:t>
            </a:r>
            <a:r>
              <a:rPr lang="tr-TR" sz="1350" dirty="0">
                <a:solidFill>
                  <a:srgbClr val="3A464C"/>
                </a:solidFill>
                <a:latin typeface="Calibri" pitchFamily="34" charset="0"/>
                <a:ea typeface="Calibri" pitchFamily="34" charset="-122"/>
                <a:cs typeface="Calibri" pitchFamily="34" charset="-120"/>
              </a:rPr>
              <a:t> sahip, grubu yalnızca üyesi olduğu bir gruba değiştirebilir.</a:t>
            </a:r>
            <a:endParaRPr lang="tr-TR" sz="1350" dirty="0"/>
          </a:p>
        </p:txBody>
      </p:sp>
      <p:sp>
        <p:nvSpPr>
          <p:cNvPr id="12" name="Shape 10"/>
          <p:cNvSpPr/>
          <p:nvPr/>
        </p:nvSpPr>
        <p:spPr>
          <a:xfrm>
            <a:off x="6263640" y="1508760"/>
            <a:ext cx="5394960" cy="2743200"/>
          </a:xfrm>
          <a:prstGeom prst="roundRect">
            <a:avLst>
              <a:gd name="adj" fmla="val 1667"/>
            </a:avLst>
          </a:prstGeom>
          <a:solidFill>
            <a:srgbClr val="212121"/>
          </a:solidFill>
          <a:ln/>
        </p:spPr>
      </p:sp>
      <p:sp>
        <p:nvSpPr>
          <p:cNvPr id="13" name="Text 11"/>
          <p:cNvSpPr txBox="1"/>
          <p:nvPr/>
        </p:nvSpPr>
        <p:spPr>
          <a:xfrm>
            <a:off x="6446520" y="1618488"/>
            <a:ext cx="5029200" cy="2523744"/>
          </a:xfrm>
          <a:prstGeom prst="rect">
            <a:avLst/>
          </a:prstGeom>
          <a:noFill/>
          <a:ln/>
        </p:spPr>
        <p:txBody>
          <a:bodyPr wrap="square" lIns="0" tIns="0" rIns="0" bIns="0" rtlCol="0" anchor="t"/>
          <a:lstStyle/>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ls -l docs/notes_01.txt</a:t>
            </a:r>
            <a:endParaRPr lang="tr-TR" sz="900" dirty="0"/>
          </a:p>
          <a:p>
            <a:pPr indent="0" marL="0">
              <a:lnSpc>
                <a:spcPct val="100000"/>
              </a:lnSpc>
              <a:buNone/>
            </a:pPr>
            <a:r>
              <a:rPr lang="tr-TR" sz="900" dirty="0">
                <a:solidFill>
                  <a:srgbClr val="F2F2F2"/>
                </a:solidFill>
                <a:latin typeface="Consolas" pitchFamily="34" charset="0"/>
                <a:ea typeface="Consolas" pitchFamily="34" charset="-122"/>
                <a:cs typeface="Consolas" pitchFamily="34" charset="-120"/>
              </a:rPr>
              <a:t>-rw-rw-r-- 1 student student 16 Oct 12 19:38 docs/notes_01.txt</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chown root docs/notes_01.txt</a:t>
            </a:r>
            <a:endParaRPr lang="tr-TR" sz="900" dirty="0"/>
          </a:p>
          <a:p>
            <a:pPr indent="0" marL="0">
              <a:lnSpc>
                <a:spcPct val="100000"/>
              </a:lnSpc>
              <a:buNone/>
            </a:pPr>
            <a:r>
              <a:rPr lang="tr-TR" sz="900" dirty="0">
                <a:solidFill>
                  <a:srgbClr val="F4A79D"/>
                </a:solidFill>
                <a:latin typeface="Consolas" pitchFamily="34" charset="0"/>
                <a:ea typeface="Consolas" pitchFamily="34" charset="-122"/>
                <a:cs typeface="Consolas" pitchFamily="34" charset="-120"/>
              </a:rPr>
              <a:t>chown: changing ownership of 'docs/notes_01.txt': Operation not permitted</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chgrp students docs/notes_01.txt</a:t>
            </a:r>
            <a:endParaRPr lang="tr-TR" sz="900" dirty="0"/>
          </a:p>
          <a:p>
            <a:pPr indent="0" marL="0">
              <a:lnSpc>
                <a:spcPct val="100000"/>
              </a:lnSpc>
              <a:buNone/>
            </a:pPr>
            <a:r>
              <a:rPr lang="tr-TR" sz="900" dirty="0">
                <a:solidFill>
                  <a:srgbClr val="F4A79D"/>
                </a:solidFill>
                <a:latin typeface="Consolas" pitchFamily="34" charset="0"/>
                <a:ea typeface="Consolas" pitchFamily="34" charset="-122"/>
                <a:cs typeface="Consolas" pitchFamily="34" charset="-120"/>
              </a:rPr>
              <a:t>chgrp: changing group of 'docs/notes_01.txt': Operation not permitted</a:t>
            </a:r>
            <a:endParaRPr lang="tr-TR" sz="900" dirty="0"/>
          </a:p>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chown $USER docs/notes_01.txt</a:t>
            </a:r>
            <a:endParaRPr lang="tr-TR" sz="900" dirty="0"/>
          </a:p>
        </p:txBody>
      </p:sp>
      <p:sp>
        <p:nvSpPr>
          <p:cNvPr id="14" name="Shape 12"/>
          <p:cNvSpPr/>
          <p:nvPr/>
        </p:nvSpPr>
        <p:spPr>
          <a:xfrm>
            <a:off x="6263640" y="4434840"/>
            <a:ext cx="539496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6492240" y="4617720"/>
            <a:ext cx="4937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Hataları okumak</a:t>
            </a:r>
            <a:endParaRPr lang="tr-TR" sz="1500" dirty="0"/>
          </a:p>
        </p:txBody>
      </p:sp>
      <p:sp>
        <p:nvSpPr>
          <p:cNvPr id="16" name="Text 14"/>
          <p:cNvSpPr txBox="1"/>
          <p:nvPr/>
        </p:nvSpPr>
        <p:spPr>
          <a:xfrm>
            <a:off x="6492240" y="5074920"/>
            <a:ext cx="4937760" cy="1051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Operation not permitted (EPERM): bir r/w/x biti değil, ayrıcalık eksik.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chgrp başarısız: student (henüz) students grubunda değil.</a:t>
            </a:r>
            <a:endParaRPr lang="tr-TR"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SAHİPLİK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Klasörü Bir Grupla Paylaşmak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30</a:t>
            </a:r>
            <a:endParaRPr lang="tr-TR" sz="900" dirty="0"/>
          </a:p>
        </p:txBody>
      </p:sp>
      <p:sp>
        <p:nvSpPr>
          <p:cNvPr id="6" name="Shape 4"/>
          <p:cNvSpPr/>
          <p:nvPr/>
        </p:nvSpPr>
        <p:spPr>
          <a:xfrm>
            <a:off x="548640" y="1508760"/>
            <a:ext cx="6949440" cy="3657600"/>
          </a:xfrm>
          <a:prstGeom prst="roundRect">
            <a:avLst>
              <a:gd name="adj" fmla="val 1250"/>
            </a:avLst>
          </a:prstGeom>
          <a:solidFill>
            <a:srgbClr val="212121"/>
          </a:solidFill>
          <a:ln/>
        </p:spPr>
      </p:sp>
      <p:sp>
        <p:nvSpPr>
          <p:cNvPr id="7" name="Text 5"/>
          <p:cNvSpPr txBox="1"/>
          <p:nvPr/>
        </p:nvSpPr>
        <p:spPr>
          <a:xfrm>
            <a:off x="731520" y="1618488"/>
            <a:ext cx="6583680" cy="343814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id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uid=1011(student) gid=1013(student) groups=1013(student),1010(students)</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groups</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student students</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chgrp students docs/notes_01.txt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 docs/notes_01.txt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students 16 Oct 12 19:38 docs/notes_01.txt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mkdir shared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chgrp students shared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chmod 2770 shared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-ld shared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drwxrws--- 2 student students 4096 Oct 12 19:38 shared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touch shared/plan.txt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 shared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students 0 Oct 12 19:38 plan.txt</a:t>
            </a:r>
            <a:endParaRPr lang="tr-TR" sz="1200" dirty="0"/>
          </a:p>
        </p:txBody>
      </p:sp>
      <p:sp>
        <p:nvSpPr>
          <p:cNvPr id="8" name="Shape 6"/>
          <p:cNvSpPr/>
          <p:nvPr/>
        </p:nvSpPr>
        <p:spPr>
          <a:xfrm>
            <a:off x="7726680" y="1508760"/>
            <a:ext cx="3931920" cy="365760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288036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Yönetici  sudo usermod -aG students student  komutunu çalıştırdıktan ve student yeniden oturum açtıktan sonra id yeni grubu listeler.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Artık chgrp çalışıyor.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2770: fazladan 2, dizindeki setgid bitidir — yeni dosyalar students grubunu devralır (s olarak görünür).</a:t>
            </a:r>
            <a:endParaRPr lang="tr-TR" sz="1250" dirty="0"/>
          </a:p>
        </p:txBody>
      </p:sp>
      <p:sp>
        <p:nvSpPr>
          <p:cNvPr id="11" name="Shape 9"/>
          <p:cNvSpPr/>
          <p:nvPr/>
        </p:nvSpPr>
        <p:spPr>
          <a:xfrm>
            <a:off x="548640" y="5349240"/>
            <a:ext cx="11109960" cy="914400"/>
          </a:xfrm>
          <a:prstGeom prst="roundRect">
            <a:avLst>
              <a:gd name="adj" fmla="val 6000"/>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5349240"/>
            <a:ext cx="10652760" cy="91440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Ekip klasörü tarifi: üyeleri tek bir gruba koyun, klasörü chgrp ile bu gruba verin, chmod 2770 yapın (sahip + grup her şey, diğerleri hiçbir şey, setgid sayesinde yeni dosyalar grupta kalır).</a:t>
            </a:r>
            <a:endParaRPr lang="tr-TR"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ROOT VE SUDO</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root ve sudo: Süper Kullanıcı Gücünü Ödünç Almak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31</a:t>
            </a:r>
            <a:endParaRPr lang="tr-TR" sz="900" dirty="0"/>
          </a:p>
        </p:txBody>
      </p:sp>
      <p:sp>
        <p:nvSpPr>
          <p:cNvPr id="6" name="Shape 4"/>
          <p:cNvSpPr/>
          <p:nvPr/>
        </p:nvSpPr>
        <p:spPr>
          <a:xfrm>
            <a:off x="548640" y="1508760"/>
            <a:ext cx="37947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root</a:t>
            </a:r>
            <a:endParaRPr lang="tr-TR" sz="1500" dirty="0"/>
          </a:p>
        </p:txBody>
      </p:sp>
      <p:sp>
        <p:nvSpPr>
          <p:cNvPr id="8" name="Text 6"/>
          <p:cNvSpPr txBox="1"/>
          <p:nvPr/>
        </p:nvSpPr>
        <p:spPr>
          <a:xfrm>
            <a:off x="777240" y="2148840"/>
            <a:ext cx="3337560" cy="22860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UID 0: okuma ve yazma izin denetimleri uygulanmaz.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Ubuntu'da varsayılan olarak root parolası yoktur; yöneticiler sudo kullanır.</a:t>
            </a:r>
            <a:endParaRPr lang="tr-TR" sz="1350" dirty="0"/>
          </a:p>
        </p:txBody>
      </p:sp>
      <p:sp>
        <p:nvSpPr>
          <p:cNvPr id="9" name="Shape 7"/>
          <p:cNvSpPr/>
          <p:nvPr/>
        </p:nvSpPr>
        <p:spPr>
          <a:xfrm>
            <a:off x="4572000" y="1508760"/>
            <a:ext cx="3017520" cy="306324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800600" y="1691640"/>
            <a:ext cx="25603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sudo komut</a:t>
            </a:r>
            <a:endParaRPr lang="tr-TR" sz="1500" dirty="0"/>
          </a:p>
        </p:txBody>
      </p:sp>
      <p:sp>
        <p:nvSpPr>
          <p:cNvPr id="11" name="Text 9"/>
          <p:cNvSpPr txBox="1"/>
          <p:nvPr/>
        </p:nvSpPr>
        <p:spPr>
          <a:xfrm>
            <a:off x="4800600" y="2148840"/>
            <a:ext cx="2560320" cy="22860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TEK bir komutu root olarak çalıştırır.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root'un değil, SİZİN parolanızı sorar.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Yalnızca /etc/sudoers'ta izin verilen kullanıcılar (Ubuntu: sudo grubu).</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Günlüğe kaydedilir.</a:t>
            </a:r>
            <a:endParaRPr lang="tr-TR" sz="1300" dirty="0"/>
          </a:p>
        </p:txBody>
      </p:sp>
      <p:sp>
        <p:nvSpPr>
          <p:cNvPr id="12" name="Shape 10"/>
          <p:cNvSpPr/>
          <p:nvPr/>
        </p:nvSpPr>
        <p:spPr>
          <a:xfrm>
            <a:off x="7818120" y="1508760"/>
            <a:ext cx="3840480" cy="1188720"/>
          </a:xfrm>
          <a:prstGeom prst="roundRect">
            <a:avLst>
              <a:gd name="adj" fmla="val 3846"/>
            </a:avLst>
          </a:prstGeom>
          <a:solidFill>
            <a:srgbClr val="212121"/>
          </a:solidFill>
          <a:ln/>
        </p:spPr>
      </p:sp>
      <p:sp>
        <p:nvSpPr>
          <p:cNvPr id="13" name="Text 11"/>
          <p:cNvSpPr txBox="1"/>
          <p:nvPr/>
        </p:nvSpPr>
        <p:spPr>
          <a:xfrm>
            <a:off x="8001000" y="1618488"/>
            <a:ext cx="3474720" cy="96926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sudo whoami</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[sudo] password for student: </a:t>
            </a:r>
            <a:endParaRPr lang="tr-TR" sz="1200" dirty="0"/>
          </a:p>
          <a:p>
            <a:pPr indent="0" marL="0">
              <a:lnSpc>
                <a:spcPct val="100000"/>
              </a:lnSpc>
              <a:buNone/>
            </a:pPr>
            <a:r>
              <a:rPr lang="tr-TR" sz="1200" dirty="0">
                <a:solidFill>
                  <a:srgbClr val="F4A79D"/>
                </a:solidFill>
                <a:latin typeface="Consolas" pitchFamily="34" charset="0"/>
                <a:ea typeface="Consolas" pitchFamily="34" charset="-122"/>
                <a:cs typeface="Consolas" pitchFamily="34" charset="-120"/>
              </a:rPr>
              <a:t>student is not in the sudoers file.</a:t>
            </a:r>
            <a:endParaRPr lang="tr-TR" sz="1200" dirty="0"/>
          </a:p>
        </p:txBody>
      </p:sp>
      <p:sp>
        <p:nvSpPr>
          <p:cNvPr id="14" name="Text 12"/>
          <p:cNvSpPr txBox="1"/>
          <p:nvPr/>
        </p:nvSpPr>
        <p:spPr>
          <a:xfrm>
            <a:off x="7818120" y="2724912"/>
            <a:ext cx="384048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student bir yönetici değil</a:t>
            </a:r>
            <a:endParaRPr lang="tr-TR" sz="1100" dirty="0"/>
          </a:p>
        </p:txBody>
      </p:sp>
      <p:sp>
        <p:nvSpPr>
          <p:cNvPr id="15" name="Shape 13"/>
          <p:cNvSpPr/>
          <p:nvPr/>
        </p:nvSpPr>
        <p:spPr>
          <a:xfrm>
            <a:off x="7818120" y="3063240"/>
            <a:ext cx="3840480" cy="3200400"/>
          </a:xfrm>
          <a:prstGeom prst="roundRect">
            <a:avLst>
              <a:gd name="adj" fmla="val 1429"/>
            </a:avLst>
          </a:prstGeom>
          <a:solidFill>
            <a:srgbClr val="212121"/>
          </a:solidFill>
          <a:ln/>
        </p:spPr>
      </p:sp>
      <p:sp>
        <p:nvSpPr>
          <p:cNvPr id="16" name="Text 14"/>
          <p:cNvSpPr txBox="1"/>
          <p:nvPr/>
        </p:nvSpPr>
        <p:spPr>
          <a:xfrm>
            <a:off x="8001000" y="3172968"/>
            <a:ext cx="3474720" cy="2980944"/>
          </a:xfrm>
          <a:prstGeom prst="rect">
            <a:avLst/>
          </a:prstGeom>
          <a:noFill/>
          <a:ln/>
        </p:spPr>
        <p:txBody>
          <a:bodyPr wrap="square" lIns="0" tIns="0" rIns="0" bIns="0" rtlCol="0" anchor="t"/>
          <a:lstStyle/>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groups</a:t>
            </a:r>
            <a:endParaRPr lang="tr-TR" sz="800" dirty="0"/>
          </a:p>
          <a:p>
            <a:pPr indent="0" marL="0">
              <a:lnSpc>
                <a:spcPct val="100000"/>
              </a:lnSpc>
              <a:buNone/>
            </a:pPr>
            <a:r>
              <a:rPr lang="tr-TR" sz="800" dirty="0">
                <a:solidFill>
                  <a:srgbClr val="F2F2F2"/>
                </a:solidFill>
                <a:latin typeface="Consolas" pitchFamily="34" charset="0"/>
                <a:ea typeface="Consolas" pitchFamily="34" charset="-122"/>
                <a:cs typeface="Consolas" pitchFamily="34" charset="-120"/>
              </a:rPr>
              <a:t>student sudo students</a:t>
            </a:r>
            <a:endParaRPr lang="tr-TR" sz="800" dirty="0"/>
          </a:p>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sudo whoami</a:t>
            </a:r>
            <a:endParaRPr lang="tr-TR" sz="800" dirty="0"/>
          </a:p>
          <a:p>
            <a:pPr indent="0" marL="0">
              <a:lnSpc>
                <a:spcPct val="100000"/>
              </a:lnSpc>
              <a:buNone/>
            </a:pPr>
            <a:r>
              <a:rPr lang="tr-TR" sz="800" dirty="0">
                <a:solidFill>
                  <a:srgbClr val="F2F2F2"/>
                </a:solidFill>
                <a:latin typeface="Consolas" pitchFamily="34" charset="0"/>
                <a:ea typeface="Consolas" pitchFamily="34" charset="-122"/>
                <a:cs typeface="Consolas" pitchFamily="34" charset="-120"/>
              </a:rPr>
              <a:t>[sudo] password for student: </a:t>
            </a:r>
            <a:endParaRPr lang="tr-TR" sz="800" dirty="0"/>
          </a:p>
          <a:p>
            <a:pPr indent="0" marL="0">
              <a:lnSpc>
                <a:spcPct val="100000"/>
              </a:lnSpc>
              <a:buNone/>
            </a:pPr>
            <a:r>
              <a:rPr lang="tr-TR" sz="800" dirty="0">
                <a:solidFill>
                  <a:srgbClr val="F2F2F2"/>
                </a:solidFill>
                <a:latin typeface="Consolas" pitchFamily="34" charset="0"/>
                <a:ea typeface="Consolas" pitchFamily="34" charset="-122"/>
                <a:cs typeface="Consolas" pitchFamily="34" charset="-120"/>
              </a:rPr>
              <a:t>root</a:t>
            </a:r>
            <a:endParaRPr lang="tr-TR" sz="800" dirty="0"/>
          </a:p>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chown root docs/notes_02.txt</a:t>
            </a:r>
            <a:endParaRPr lang="tr-TR" sz="800" dirty="0"/>
          </a:p>
          <a:p>
            <a:pPr indent="0" marL="0">
              <a:lnSpc>
                <a:spcPct val="100000"/>
              </a:lnSpc>
              <a:buNone/>
            </a:pPr>
            <a:r>
              <a:rPr lang="tr-TR" sz="800" dirty="0">
                <a:solidFill>
                  <a:srgbClr val="F4A79D"/>
                </a:solidFill>
                <a:latin typeface="Consolas" pitchFamily="34" charset="0"/>
                <a:ea typeface="Consolas" pitchFamily="34" charset="-122"/>
                <a:cs typeface="Consolas" pitchFamily="34" charset="-120"/>
              </a:rPr>
              <a:t>chown: changing ownership of 'docs/notes_02.txt': Operation not permitted</a:t>
            </a:r>
            <a:endParaRPr lang="tr-TR" sz="800" dirty="0"/>
          </a:p>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sudo chown root:root docs/notes_02.txt</a:t>
            </a:r>
            <a:endParaRPr lang="tr-TR" sz="800" dirty="0"/>
          </a:p>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ls -l docs/notes_02.txt</a:t>
            </a:r>
            <a:endParaRPr lang="tr-TR" sz="800" dirty="0"/>
          </a:p>
          <a:p>
            <a:pPr indent="0" marL="0">
              <a:lnSpc>
                <a:spcPct val="100000"/>
              </a:lnSpc>
              <a:buNone/>
            </a:pPr>
            <a:r>
              <a:rPr lang="tr-TR" sz="800" dirty="0">
                <a:solidFill>
                  <a:srgbClr val="F2F2F2"/>
                </a:solidFill>
                <a:latin typeface="Consolas" pitchFamily="34" charset="0"/>
                <a:ea typeface="Consolas" pitchFamily="34" charset="-122"/>
                <a:cs typeface="Consolas" pitchFamily="34" charset="-120"/>
              </a:rPr>
              <a:t>-rw-rw-r-- 1 student student 16 Oct 12 19:38 docs/notes_02.txt</a:t>
            </a:r>
            <a:endParaRPr lang="tr-TR" sz="800" dirty="0"/>
          </a:p>
          <a:p>
            <a:pPr indent="0" marL="0">
              <a:lnSpc>
                <a:spcPct val="100000"/>
              </a:lnSpc>
              <a:buNone/>
            </a:pPr>
            <a:r>
              <a:rPr lang="tr-TR" sz="800" dirty="0">
                <a:solidFill>
                  <a:srgbClr val="02C39A"/>
                </a:solidFill>
                <a:latin typeface="Consolas" pitchFamily="34" charset="0"/>
                <a:ea typeface="Consolas" pitchFamily="34" charset="-122"/>
                <a:cs typeface="Consolas" pitchFamily="34" charset="-120"/>
              </a:rPr>
              <a:t>student@okan-lab:~/lab$ </a:t>
            </a:r>
            <a:r>
              <a:rPr lang="tr-TR" sz="800" b="1" dirty="0">
                <a:solidFill>
                  <a:srgbClr val="FFFFFF"/>
                </a:solidFill>
                <a:latin typeface="Consolas" pitchFamily="34" charset="0"/>
                <a:ea typeface="Consolas" pitchFamily="34" charset="-122"/>
                <a:cs typeface="Consolas" pitchFamily="34" charset="-120"/>
              </a:rPr>
              <a:t>echo "more" &gt;&gt; docs/notes_02.txt</a:t>
            </a:r>
            <a:endParaRPr lang="tr-TR" sz="800" dirty="0"/>
          </a:p>
          <a:p>
            <a:pPr indent="0" marL="0">
              <a:lnSpc>
                <a:spcPct val="100000"/>
              </a:lnSpc>
              <a:buNone/>
            </a:pPr>
            <a:r>
              <a:rPr lang="tr-TR" sz="800" dirty="0">
                <a:solidFill>
                  <a:srgbClr val="F4A79D"/>
                </a:solidFill>
                <a:latin typeface="Consolas" pitchFamily="34" charset="0"/>
                <a:ea typeface="Consolas" pitchFamily="34" charset="-122"/>
                <a:cs typeface="Consolas" pitchFamily="34" charset="-120"/>
              </a:rPr>
              <a:t>bash: docs/notes_02.txt: Permission denied</a:t>
            </a:r>
            <a:endParaRPr lang="tr-TR" sz="800" dirty="0"/>
          </a:p>
        </p:txBody>
      </p:sp>
      <p:sp>
        <p:nvSpPr>
          <p:cNvPr id="17" name="Shape 15"/>
          <p:cNvSpPr/>
          <p:nvPr/>
        </p:nvSpPr>
        <p:spPr>
          <a:xfrm>
            <a:off x="548640" y="4754880"/>
            <a:ext cx="7040880" cy="1508760"/>
          </a:xfrm>
          <a:prstGeom prst="roundRect">
            <a:avLst>
              <a:gd name="adj" fmla="val 3636"/>
            </a:avLst>
          </a:prstGeom>
          <a:solidFill>
            <a:srgbClr val="F3D9D6"/>
          </a:solidFill>
          <a:ln w="12700">
            <a:solidFill>
              <a:srgbClr val="B5453A"/>
            </a:solidFill>
            <a:prstDash val="solid"/>
          </a:ln>
        </p:spPr>
      </p:sp>
      <p:sp>
        <p:nvSpPr>
          <p:cNvPr id="18" name="Text 16"/>
          <p:cNvSpPr txBox="1"/>
          <p:nvPr/>
        </p:nvSpPr>
        <p:spPr>
          <a:xfrm>
            <a:off x="731520" y="4754880"/>
            <a:ext cx="6675120" cy="1508760"/>
          </a:xfrm>
          <a:prstGeom prst="rect">
            <a:avLst/>
          </a:prstGeom>
          <a:noFill/>
          <a:ln/>
        </p:spPr>
        <p:txBody>
          <a:bodyPr wrap="square" lIns="0" tIns="0" rIns="0" bIns="0" rtlCol="0" anchor="ctr"/>
          <a:lstStyle/>
          <a:p>
            <a:pPr indent="0" marL="0">
              <a:buNone/>
            </a:pPr>
            <a:r>
              <a:rPr lang="tr-TR" sz="1250" b="1" dirty="0">
                <a:solidFill>
                  <a:srgbClr val="B5453A"/>
                </a:solidFill>
                <a:latin typeface="Calibri" pitchFamily="34" charset="0"/>
                <a:ea typeface="Calibri" pitchFamily="34" charset="-122"/>
                <a:cs typeface="Calibri" pitchFamily="34" charset="-120"/>
              </a:rPr>
              <a:t>Dikkat:  </a:t>
            </a:r>
            <a:r>
              <a:rPr lang="tr-TR" sz="1250" dirty="0">
                <a:solidFill>
                  <a:srgbClr val="5A2A25"/>
                </a:solidFill>
                <a:latin typeface="Calibri" pitchFamily="34" charset="0"/>
                <a:ea typeface="Calibri" pitchFamily="34" charset="-122"/>
                <a:cs typeface="Calibri" pitchFamily="34" charset="-120"/>
              </a:rPr>
              <a:t>Bir sudo komutunu Enter'a basmadan önce iki kez okuyun: root olarak tek bir yazım hatası, örneğin  sudo rm -r / home/x  (boşluğa dikkat), bütün sistemi siler. İnternetten kopyaladığınız, anlamadığınız komutları asla sudo ile çalıştırmayın.</a:t>
            </a:r>
            <a:endParaRPr lang="tr-TR"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ÖZEL BİTLER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setuid: passwd /etc/shadow'a Nasıl Yazabilir?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32</a:t>
            </a:r>
            <a:endParaRPr lang="tr-TR" sz="900" dirty="0"/>
          </a:p>
        </p:txBody>
      </p:sp>
      <p:sp>
        <p:nvSpPr>
          <p:cNvPr id="6" name="Shape 4"/>
          <p:cNvSpPr/>
          <p:nvPr/>
        </p:nvSpPr>
        <p:spPr>
          <a:xfrm>
            <a:off x="548640" y="1828800"/>
            <a:ext cx="2377440" cy="1051560"/>
          </a:xfrm>
          <a:prstGeom prst="roundRect">
            <a:avLst>
              <a:gd name="adj" fmla="val 4348"/>
            </a:avLst>
          </a:prstGeom>
          <a:solidFill>
            <a:srgbClr val="F2F2F2"/>
          </a:solidFill>
          <a:ln/>
        </p:spPr>
      </p:sp>
      <p:sp>
        <p:nvSpPr>
          <p:cNvPr id="7" name="Text 5"/>
          <p:cNvSpPr txBox="1"/>
          <p:nvPr/>
        </p:nvSpPr>
        <p:spPr>
          <a:xfrm>
            <a:off x="548640" y="1828800"/>
            <a:ext cx="2377440" cy="105156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student yazar</a:t>
            </a:r>
            <a:endParaRPr lang="tr-TR" sz="1400" dirty="0"/>
          </a:p>
          <a:p>
            <a:pPr algn="ctr" indent="0" marL="0">
              <a:buNone/>
            </a:pPr>
            <a:r>
              <a:rPr lang="tr-TR" sz="1400" dirty="0">
                <a:solidFill>
                  <a:srgbClr val="36454F"/>
                </a:solidFill>
                <a:latin typeface="Calibri" pitchFamily="34" charset="0"/>
                <a:ea typeface="Calibri" pitchFamily="34" charset="-122"/>
                <a:cs typeface="Calibri" pitchFamily="34" charset="-120"/>
              </a:rPr>
              <a:t>passwd</a:t>
            </a:r>
            <a:endParaRPr lang="tr-TR" sz="1400" dirty="0"/>
          </a:p>
        </p:txBody>
      </p:sp>
      <p:sp>
        <p:nvSpPr>
          <p:cNvPr id="8" name="Shape 6"/>
          <p:cNvSpPr/>
          <p:nvPr/>
        </p:nvSpPr>
        <p:spPr>
          <a:xfrm>
            <a:off x="2944368" y="2359152"/>
            <a:ext cx="694944" cy="91"/>
          </a:xfrm>
          <a:prstGeom prst="line">
            <a:avLst/>
          </a:prstGeom>
          <a:noFill/>
          <a:ln w="25400">
            <a:solidFill>
              <a:srgbClr val="028090"/>
            </a:solidFill>
            <a:prstDash val="solid"/>
            <a:tailEnd type="triangle"/>
          </a:ln>
        </p:spPr>
      </p:sp>
      <p:sp>
        <p:nvSpPr>
          <p:cNvPr id="9" name="Shape 7"/>
          <p:cNvSpPr/>
          <p:nvPr/>
        </p:nvSpPr>
        <p:spPr>
          <a:xfrm>
            <a:off x="3657600" y="1737360"/>
            <a:ext cx="2743200" cy="1234440"/>
          </a:xfrm>
          <a:prstGeom prst="roundRect">
            <a:avLst>
              <a:gd name="adj" fmla="val 3704"/>
            </a:avLst>
          </a:prstGeom>
          <a:solidFill>
            <a:srgbClr val="36454F"/>
          </a:solidFill>
          <a:ln/>
        </p:spPr>
      </p:sp>
      <p:sp>
        <p:nvSpPr>
          <p:cNvPr id="10" name="Text 8"/>
          <p:cNvSpPr txBox="1"/>
          <p:nvPr/>
        </p:nvSpPr>
        <p:spPr>
          <a:xfrm>
            <a:off x="3657600" y="1737360"/>
            <a:ext cx="2743200" cy="123444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passwd süreci</a:t>
            </a:r>
            <a:endParaRPr lang="tr-TR" sz="1400" dirty="0"/>
          </a:p>
          <a:p>
            <a:pPr algn="ctr" indent="0" marL="0">
              <a:buNone/>
            </a:pPr>
            <a:r>
              <a:rPr lang="tr-TR" sz="1200" dirty="0">
                <a:solidFill>
                  <a:srgbClr val="FFFFFF"/>
                </a:solidFill>
                <a:latin typeface="Calibri" pitchFamily="34" charset="0"/>
                <a:ea typeface="Calibri" pitchFamily="34" charset="-122"/>
                <a:cs typeface="Calibri" pitchFamily="34" charset="-120"/>
              </a:rPr>
              <a:t>gerçek UID = student</a:t>
            </a:r>
            <a:endParaRPr lang="tr-TR" sz="1400" dirty="0"/>
          </a:p>
          <a:p>
            <a:pPr algn="ctr" indent="0" marL="0">
              <a:buNone/>
            </a:pPr>
            <a:r>
              <a:rPr lang="tr-TR" sz="1200" dirty="0">
                <a:solidFill>
                  <a:srgbClr val="FFFFFF"/>
                </a:solidFill>
                <a:latin typeface="Calibri" pitchFamily="34" charset="0"/>
                <a:ea typeface="Calibri" pitchFamily="34" charset="-122"/>
                <a:cs typeface="Calibri" pitchFamily="34" charset="-120"/>
              </a:rPr>
              <a:t>etkin UID = root</a:t>
            </a:r>
            <a:endParaRPr lang="tr-TR" sz="1400" dirty="0"/>
          </a:p>
        </p:txBody>
      </p:sp>
      <p:sp>
        <p:nvSpPr>
          <p:cNvPr id="11" name="Shape 9"/>
          <p:cNvSpPr/>
          <p:nvPr/>
        </p:nvSpPr>
        <p:spPr>
          <a:xfrm>
            <a:off x="6419088" y="2359152"/>
            <a:ext cx="694944" cy="91"/>
          </a:xfrm>
          <a:prstGeom prst="line">
            <a:avLst/>
          </a:prstGeom>
          <a:noFill/>
          <a:ln w="25400">
            <a:solidFill>
              <a:srgbClr val="028090"/>
            </a:solidFill>
            <a:prstDash val="solid"/>
            <a:tailEnd type="triangle"/>
          </a:ln>
        </p:spPr>
      </p:sp>
      <p:sp>
        <p:nvSpPr>
          <p:cNvPr id="12" name="Shape 10"/>
          <p:cNvSpPr/>
          <p:nvPr/>
        </p:nvSpPr>
        <p:spPr>
          <a:xfrm>
            <a:off x="7132320" y="1828800"/>
            <a:ext cx="2194560" cy="1051560"/>
          </a:xfrm>
          <a:prstGeom prst="roundRect">
            <a:avLst>
              <a:gd name="adj" fmla="val 4348"/>
            </a:avLst>
          </a:prstGeom>
          <a:solidFill>
            <a:srgbClr val="D7E9E6"/>
          </a:solidFill>
          <a:ln/>
        </p:spPr>
      </p:sp>
      <p:sp>
        <p:nvSpPr>
          <p:cNvPr id="13" name="Text 11"/>
          <p:cNvSpPr txBox="1"/>
          <p:nvPr/>
        </p:nvSpPr>
        <p:spPr>
          <a:xfrm>
            <a:off x="7132320" y="1828800"/>
            <a:ext cx="2194560" cy="10515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/etc/shadow</a:t>
            </a:r>
            <a:endParaRPr lang="tr-TR" sz="1400" dirty="0"/>
          </a:p>
          <a:p>
            <a:pPr algn="ctr" indent="0" marL="0">
              <a:buNone/>
            </a:pPr>
            <a:r>
              <a:rPr lang="tr-TR" sz="1200" dirty="0">
                <a:solidFill>
                  <a:srgbClr val="212121"/>
                </a:solidFill>
                <a:latin typeface="Calibri" pitchFamily="34" charset="0"/>
                <a:ea typeface="Calibri" pitchFamily="34" charset="-122"/>
                <a:cs typeface="Calibri" pitchFamily="34" charset="-120"/>
              </a:rPr>
              <a:t>rw-r-----  root</a:t>
            </a:r>
            <a:endParaRPr lang="tr-TR" sz="1400" dirty="0"/>
          </a:p>
        </p:txBody>
      </p:sp>
      <p:sp>
        <p:nvSpPr>
          <p:cNvPr id="14" name="Text 12"/>
          <p:cNvSpPr txBox="1"/>
          <p:nvPr/>
        </p:nvSpPr>
        <p:spPr>
          <a:xfrm>
            <a:off x="2011680" y="3063240"/>
            <a:ext cx="6217920" cy="320040"/>
          </a:xfrm>
          <a:prstGeom prst="rect">
            <a:avLst/>
          </a:prstGeom>
          <a:noFill/>
          <a:ln/>
        </p:spPr>
        <p:txBody>
          <a:bodyPr wrap="square" lIns="0" tIns="0" rIns="0" bIns="0" rtlCol="0" anchor="t"/>
          <a:lstStyle/>
          <a:p>
            <a:pPr algn="ctr" indent="0" marL="0">
              <a:buNone/>
            </a:pPr>
            <a:r>
              <a:rPr lang="tr-TR" sz="1200" i="1" dirty="0">
                <a:solidFill>
                  <a:srgbClr val="028090"/>
                </a:solidFill>
                <a:latin typeface="Calibri" pitchFamily="34" charset="0"/>
                <a:ea typeface="Calibri" pitchFamily="34" charset="-122"/>
                <a:cs typeface="Calibri" pitchFamily="34" charset="-120"/>
              </a:rPr>
              <a:t>rwsr-xr-x içindeki s: DOSYA SAHİBİNİN (root) haklarıyla çalış</a:t>
            </a:r>
            <a:endParaRPr lang="tr-TR" sz="1200" dirty="0"/>
          </a:p>
        </p:txBody>
      </p:sp>
      <p:sp>
        <p:nvSpPr>
          <p:cNvPr id="15" name="Shape 13"/>
          <p:cNvSpPr/>
          <p:nvPr/>
        </p:nvSpPr>
        <p:spPr>
          <a:xfrm>
            <a:off x="548640" y="3520440"/>
            <a:ext cx="7132320" cy="1600200"/>
          </a:xfrm>
          <a:prstGeom prst="roundRect">
            <a:avLst>
              <a:gd name="adj" fmla="val 2857"/>
            </a:avLst>
          </a:prstGeom>
          <a:solidFill>
            <a:srgbClr val="212121"/>
          </a:solidFill>
          <a:ln/>
        </p:spPr>
      </p:sp>
      <p:sp>
        <p:nvSpPr>
          <p:cNvPr id="16" name="Text 14"/>
          <p:cNvSpPr txBox="1"/>
          <p:nvPr/>
        </p:nvSpPr>
        <p:spPr>
          <a:xfrm>
            <a:off x="731520" y="3630168"/>
            <a:ext cx="6766560" cy="138074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ls -l /usr/bin/passwd /etc/shadow</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-rw-r----- 1 root shadow   884 Oct 12 11:50 /etc/shadow</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-rwsr-xr-x 1 root root   64152 May 30  2024 /usr/bin/passwd</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stat -c '%a  %A  %n' /usr/bin/passwd /tmp</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4755  -rwsr-xr-x  /usr/bin/passwd</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1777  drwxrwxrwt  /tmp</a:t>
            </a:r>
            <a:endParaRPr lang="tr-TR" sz="1250" dirty="0"/>
          </a:p>
        </p:txBody>
      </p:sp>
      <p:sp>
        <p:nvSpPr>
          <p:cNvPr id="17" name="Shape 15"/>
          <p:cNvSpPr/>
          <p:nvPr/>
        </p:nvSpPr>
        <p:spPr>
          <a:xfrm>
            <a:off x="9555480" y="1508760"/>
            <a:ext cx="2103120" cy="361188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9784080" y="1691640"/>
            <a:ext cx="1645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Sekizli</a:t>
            </a:r>
            <a:endParaRPr lang="tr-TR" sz="1500" dirty="0"/>
          </a:p>
        </p:txBody>
      </p:sp>
      <p:sp>
        <p:nvSpPr>
          <p:cNvPr id="19" name="Text 17"/>
          <p:cNvSpPr txBox="1"/>
          <p:nvPr/>
        </p:nvSpPr>
        <p:spPr>
          <a:xfrm>
            <a:off x="9784080" y="2148840"/>
            <a:ext cx="1645920" cy="2834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setuid = 4000</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setgid = 2000</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yapışkan = 1000</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4755 → rwsr-xr-x</a:t>
            </a:r>
            <a:endParaRPr lang="tr-TR" sz="1300" dirty="0"/>
          </a:p>
        </p:txBody>
      </p:sp>
      <p:sp>
        <p:nvSpPr>
          <p:cNvPr id="20" name="Shape 18"/>
          <p:cNvSpPr/>
          <p:nvPr/>
        </p:nvSpPr>
        <p:spPr>
          <a:xfrm>
            <a:off x="548640" y="5303520"/>
            <a:ext cx="11109960" cy="960120"/>
          </a:xfrm>
          <a:prstGeom prst="roundRect">
            <a:avLst>
              <a:gd name="adj" fmla="val 5714"/>
            </a:avLst>
          </a:prstGeom>
          <a:solidFill>
            <a:srgbClr val="36454F"/>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777240" y="5303520"/>
            <a:ext cx="10652760" cy="9601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passwd yalnızca SİZİN satırınızı değiştiren güvenilir bir koddur. Hatalı bir setuid-root programı saldırgana root yetkisi verir; bu yüzden çok azdırlar (passwd, su, sudo …) ve kendi betiklerinizi asla setuid yapmamalısınız.</a:t>
            </a:r>
            <a:endParaRPr lang="tr-T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ÖZEL BİTLER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Yapışkan Bit: /tmp'de Başkalarının Dosyaları Neden Silinemez?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33</a:t>
            </a:r>
            <a:endParaRPr lang="tr-TR" sz="900" dirty="0"/>
          </a:p>
        </p:txBody>
      </p:sp>
      <p:sp>
        <p:nvSpPr>
          <p:cNvPr id="6" name="Shape 4"/>
          <p:cNvSpPr/>
          <p:nvPr/>
        </p:nvSpPr>
        <p:spPr>
          <a:xfrm>
            <a:off x="548640" y="1508760"/>
            <a:ext cx="7132320" cy="3566160"/>
          </a:xfrm>
          <a:prstGeom prst="roundRect">
            <a:avLst>
              <a:gd name="adj" fmla="val 1282"/>
            </a:avLst>
          </a:prstGeom>
          <a:solidFill>
            <a:srgbClr val="212121"/>
          </a:solidFill>
          <a:ln/>
        </p:spPr>
      </p:sp>
      <p:sp>
        <p:nvSpPr>
          <p:cNvPr id="7" name="Text 5"/>
          <p:cNvSpPr txBox="1"/>
          <p:nvPr/>
        </p:nvSpPr>
        <p:spPr>
          <a:xfrm>
            <a:off x="731520" y="1618488"/>
            <a:ext cx="6766560" cy="334670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ls -ld /tmp</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drwxrwxrwt 16 root root 4096 Oct 12 19:38 /tmp</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ls -l /tmp/w11_admin.txt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-rw-rw-rw- 1 root root 12 Oct 12 19:38 /tmp/w11_admin.txt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rm /tmp/w11_admin.txt</a:t>
            </a:r>
            <a:endParaRPr lang="tr-TR" sz="1300" dirty="0"/>
          </a:p>
          <a:p>
            <a:pPr indent="0" marL="0">
              <a:lnSpc>
                <a:spcPct val="100000"/>
              </a:lnSpc>
              <a:buNone/>
            </a:pPr>
            <a:r>
              <a:rPr lang="tr-TR" sz="1300" dirty="0">
                <a:solidFill>
                  <a:srgbClr val="F4A79D"/>
                </a:solidFill>
                <a:latin typeface="Consolas" pitchFamily="34" charset="0"/>
                <a:ea typeface="Consolas" pitchFamily="34" charset="-122"/>
                <a:cs typeface="Consolas" pitchFamily="34" charset="-120"/>
              </a:rPr>
              <a:t>rm: cannot remove '/tmp/w11_admin.txt': Operation not permitted</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echo "my notes" &gt; /tmp/w11_mine.txt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ls -l /tmp/w11_mine.txt</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-rw-rw-r-- 1 student student 9 Oct 12 19:38 /tmp/w11_mine.txt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rm /tmp/w11_mine.txt</a:t>
            </a:r>
            <a:endParaRPr lang="tr-TR" sz="1300" dirty="0"/>
          </a:p>
        </p:txBody>
      </p:sp>
      <p:sp>
        <p:nvSpPr>
          <p:cNvPr id="8" name="Shape 6"/>
          <p:cNvSpPr/>
          <p:nvPr/>
        </p:nvSpPr>
        <p:spPr>
          <a:xfrm>
            <a:off x="7909560" y="1508760"/>
            <a:ext cx="3749040" cy="3566160"/>
          </a:xfrm>
          <a:prstGeom prst="roundRect">
            <a:avLst>
              <a:gd name="adj" fmla="val 153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138160" y="1691640"/>
            <a:ext cx="32918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138160" y="2148840"/>
            <a:ext cx="3291840" cy="278892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/tmp rwxrwxrwt = 1777: herkes dosya oluşturabilir.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t (yapışkan bit, sticky bit): bir dosyayı yalnızca sahibi (ya da root) silebilir ya da yeniden adlandırabilir.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Herkese yazılabilir (rw-rw-rw-) bir dosya bile başkaları tarafından silinemez.</a:t>
            </a:r>
            <a:endParaRPr lang="tr-TR" sz="1250" dirty="0"/>
          </a:p>
        </p:txBody>
      </p:sp>
      <p:sp>
        <p:nvSpPr>
          <p:cNvPr id="11" name="Shape 9"/>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5257800"/>
            <a:ext cx="10652760" cy="10058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Yapışkan bit olmasaydı, /tmp'deki w her kullanıcının herkesin dosyasını silmesine izin verirdi (28. slayt). t, diğerleri üçlüsünde x'in yerini alır; büyük T, x olmadan yapışkan bit demektir.</a:t>
            </a:r>
            <a:endParaRPr lang="tr-TR"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4</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Laboratuvar: Proje Klasörünü Korumak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30–40 dakika. 16 puanlı alıştırma içeren tam laboratuvar föyü ders notlarında.</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34</a:t>
            </a:r>
            <a:endParaRPr lang="tr-TR"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LABORATUVAR · A VE B BÖLÜMLERİ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1–9. Alıştırmalar: Okumak, Çözmek, chmod</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35</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 · Ben kimim? (1–4)</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whoami, id, groups: UID'nizi ve gruplarınızı not edin.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/etc/passwd'deki satırınız: 7 alanı adlandırın.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ls -l docs/syllabus.txt çıktısını sekizliye çevirin.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Kâğıt üzerinde: rwxr-x---, rw-r--r--, 640, 711, 775.</a:t>
            </a:r>
            <a:endParaRPr lang="tr-TR" sz="135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 · chmod (5–7)</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scripts/hello.sh oluşturun, yalnızca sahip için çalıştırılabilir yapın, çalıştırın.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notes_01.txt → rw-r-----, yalnızca sembolik modla.</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notes_02.txt → yalnızca sahip okuyup yazabilsin, sekizli modla.</a:t>
            </a:r>
            <a:endParaRPr lang="tr-TR" sz="135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 · Projeleri koruyun (8–9)</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projects/alpha: yalnızca siz girebilir, listeleyebilir, değiştirebilirsiniz.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projects/beta: grup okuyup girebilir, diğerleri hiçbir şey; README.md → 640.</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Hepsini stat -c '%a %A %n' ile denetleyin.</a:t>
            </a:r>
            <a:endParaRPr lang="tr-TR" sz="135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Puanlar: A bölümü 20, B bölümü 48, C bölümü 32 — toplam 100. Kullandığınız komutu VE işe yaradığını kanıtlayan ls -l / stat satırını yazın.</a:t>
            </a:r>
            <a:endParaRPr lang="tr-T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LABORATUVAR · B VE C BÖLÜMLERİ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10–16. Alıştırmalar: umask, Dizinler, Sahipler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36</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 · Varsayılanlar (10–12)</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umask 027 ile yeni bir dosyanın ve dizinin modunu önce tahmin edin, sonra doğrulayın.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Aynısını umask 033 ile yapın: neden 633 değil?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Kendi dizininizden x'i kaldırın: hangi komutlar başarısız olur?</a:t>
            </a:r>
            <a:endParaRPr lang="tr-TR" sz="135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 · Zorlu (13–15)</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Dizininizdeki salt okunur bir dosyayı silin. Sonra dizini 555 yapıp yeniden deneyin.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chown ve chgrp deneyin: iki hatayı da açıklayın.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passwd ve /tmp: s'yi ve t'yi bulun, açıklayın.</a:t>
            </a:r>
            <a:endParaRPr lang="tr-TR" sz="135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 · Ekip klasörü (16)</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projects/team: dizin 750, deploy.sh 750, notes.txt 640, secret.txt 600.</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./projects/team/deploy.sh çalıştırın.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Dört modu da tek bir stat komutuyla yazdırın.</a:t>
            </a:r>
            <a:endParaRPr lang="tr-TR" sz="135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Erken mi bitirdiniz? Yeni bir terminalde umask 077 yapın, bir dosya oluşturun ve sonucu 666 ile 077'nin ikili gösterimini kullanarak yanınızdakine açıklayın.</a:t>
            </a:r>
            <a:endParaRPr lang="tr-TR"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Hata İletileri ve Anlamları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37</a:t>
            </a:r>
            <a:endParaRPr lang="tr-TR"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069080"/>
                <a:gridCol w="3749040"/>
                <a:gridCol w="329184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Gördüğünüz</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Nedeni</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Çözüm</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bash: ./hello.sh: Permission denied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dosyanın x biti yok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u+x hello.sh</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bash: hello.sh: command not found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 PATH içinde değil</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./hello.sh yazın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bash: cd: box: Permission denied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x'i olmayan dizin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u+x box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ls: cannot open directory 'box'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r'si olmayan dizin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chmod u+r box</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chown: … Operation not permitted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sahibi yalnızca root değiştirebilir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yöneticiye sorun / sudo chown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chmod: invalid mode: '854'</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8 ve 9 sekizli basamak değildir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yalnızca 0–7 basamakları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student is not in the sudoers file.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yönetici değilsiniz</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yöneticiye başvurun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38</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-rwxr-x--- neye izin verir ve sekizli karşılığı nedir?</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report.txt dosyasını sahip için okuma/yazma, grup için salt okunur, diğerleri için erişimsiz yapın — sekizli ve sembolik biçimde.</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umask 027 ile yeni bir dosyanın ve yeni bir dizinin modu nedir? Bir dosyada umask 033 neden 633 değil de 644 verir?</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Dizininizdeki bir dosyanın modu r--r--r--. Onu silebilir misiniz? Sahibi olduğunuz ----rwx--- modlu bir dosyayı okuyabilir misiniz?</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TOPARLAMA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11. Hafta: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11  ·  39</a:t>
            </a:r>
            <a:endParaRPr lang="tr-TR"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Koruma:</a:t>
            </a:r>
            <a:r>
              <a:rPr lang="tr-TR" sz="1750" dirty="0">
                <a:solidFill>
                  <a:srgbClr val="3A464C"/>
                </a:solidFill>
                <a:latin typeface="Calibri" pitchFamily="34" charset="0"/>
                <a:ea typeface="Calibri" pitchFamily="34" charset="-122"/>
                <a:cs typeface="Calibri" pitchFamily="34" charset="-120"/>
              </a:rPr>
              <a:t> her open() çekirdekten geçer (2. hafta); çekirdek sürecin UID/GID'lerini düğümdeki sahip, grup ve modla karşılaştırır (7. hafta).</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Mod dizgesi:</a:t>
            </a:r>
            <a:r>
              <a:rPr lang="tr-TR" sz="1750" dirty="0">
                <a:solidFill>
                  <a:srgbClr val="3A464C"/>
                </a:solidFill>
                <a:latin typeface="Calibri" pitchFamily="34" charset="0"/>
                <a:ea typeface="Calibri" pitchFamily="34" charset="-122"/>
                <a:cs typeface="Calibri" pitchFamily="34" charset="-120"/>
              </a:rPr>
              <a:t> tür + r w x'ten oluşan üç üçlü (kullanıcı, grup, diğerleri); 4 2 1 ağırlıkları sınıf başına bir sekizli basamak verir: 750 = rwxr‑x‑‑‑.</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Yalnızca bir sınıf uygulanır:</a:t>
            </a:r>
            <a:r>
              <a:rPr lang="tr-TR" sz="1750" dirty="0">
                <a:solidFill>
                  <a:srgbClr val="3A464C"/>
                </a:solidFill>
                <a:latin typeface="Calibri" pitchFamily="34" charset="0"/>
                <a:ea typeface="Calibri" pitchFamily="34" charset="-122"/>
                <a:cs typeface="Calibri" pitchFamily="34" charset="-120"/>
              </a:rPr>
              <a:t> sahip, değilse grup, değilse diğerleri.</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Dizinler:</a:t>
            </a:r>
            <a:r>
              <a:rPr lang="tr-TR" sz="1750" dirty="0">
                <a:solidFill>
                  <a:srgbClr val="3A464C"/>
                </a:solidFill>
                <a:latin typeface="Calibri" pitchFamily="34" charset="0"/>
                <a:ea typeface="Calibri" pitchFamily="34" charset="-122"/>
                <a:cs typeface="Calibri" pitchFamily="34" charset="-120"/>
              </a:rPr>
              <a:t> r = listele, w = girdi oluştur/sil, x = gir. Silmek için dizinde w gerekir.</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chmod:</a:t>
            </a:r>
            <a:r>
              <a:rPr lang="tr-TR" sz="1750" dirty="0">
                <a:solidFill>
                  <a:srgbClr val="3A464C"/>
                </a:solidFill>
                <a:latin typeface="Calibri" pitchFamily="34" charset="0"/>
                <a:ea typeface="Calibri" pitchFamily="34" charset="-122"/>
                <a:cs typeface="Calibri" pitchFamily="34" charset="-120"/>
              </a:rPr>
              <a:t> sembolik (u+x, go-w, a=r) ya da sekizli (644, 755, 600). Asla 777.</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umask:</a:t>
            </a:r>
            <a:r>
              <a:rPr lang="tr-TR" sz="1750" dirty="0">
                <a:solidFill>
                  <a:srgbClr val="3A464C"/>
                </a:solidFill>
                <a:latin typeface="Calibri" pitchFamily="34" charset="0"/>
                <a:ea typeface="Calibri" pitchFamily="34" charset="-122"/>
                <a:cs typeface="Calibri" pitchFamily="34" charset="-120"/>
              </a:rPr>
              <a:t> 666/777'den bit temizler: 002 → 664/775, 022 → 644/755, 033 → 644 (çıkarma değil, bit işlemi).</a:t>
            </a:r>
            <a:endParaRPr lang="tr-TR" sz="1750" dirty="0"/>
          </a:p>
          <a:p>
            <a:pPr marL="228600" indent="-228600">
              <a:spcAft>
                <a:spcPts val="1100"/>
              </a:spcAft>
              <a:buSzPct val="100000"/>
              <a:buChar char="•"/>
            </a:pPr>
            <a:r>
              <a:rPr lang="tr-TR" sz="1750" b="1" dirty="0">
                <a:solidFill>
                  <a:srgbClr val="3A464C"/>
                </a:solidFill>
                <a:latin typeface="Calibri" pitchFamily="34" charset="0"/>
                <a:ea typeface="Calibri" pitchFamily="34" charset="-122"/>
                <a:cs typeface="Calibri" pitchFamily="34" charset="-120"/>
              </a:rPr>
              <a:t>Sahipler ve root:</a:t>
            </a:r>
            <a:r>
              <a:rPr lang="tr-TR" sz="1750" dirty="0">
                <a:solidFill>
                  <a:srgbClr val="3A464C"/>
                </a:solidFill>
                <a:latin typeface="Calibri" pitchFamily="34" charset="0"/>
                <a:ea typeface="Calibri" pitchFamily="34" charset="-122"/>
                <a:cs typeface="Calibri" pitchFamily="34" charset="-120"/>
              </a:rPr>
              <a:t> chown root ister; sudo tek bir komutu root olarak çalıştırır; setuid (passwd) ve yapışkan bit (/tmp) özel bitlerdir.</a:t>
            </a:r>
            <a:endParaRPr lang="tr-TR" sz="1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Metin İşleme, Yönlendirme ve Borular</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12.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stdin, stdout, stderr = 0, 1, 2 numaralı dosya tanımlayıcıları (2–3. haftalar)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Yönlendirme (redirection): &gt;  &gt;&gt;  &lt;  2&gt;  2&gt;&amp;1  /dev/null</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Borular (pipes): | kabuğun oluşturduğu süreçleri birbirine bağlar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grep, sort, uniq, cut, wc, tr, tee, find</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logs/access.log ve data/students.csv üzerinde gerçek çözümlemeler</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11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11</dc:title>
  <dc:subject>PptxGenJS Presentation</dc:subject>
  <dc:creator>PptxGenJS</dc:creator>
  <cp:lastModifiedBy>PptxGenJS</cp:lastModifiedBy>
  <cp:revision>1</cp:revision>
  <dcterms:created xsi:type="dcterms:W3CDTF">2026-10-12T17:58:23Z</dcterms:created>
  <dcterms:modified xsi:type="dcterms:W3CDTF">2026-10-12T17:58:23Z</dcterms:modified>
</cp:coreProperties>
</file>