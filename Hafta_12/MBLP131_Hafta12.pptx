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haftaya hoş geldiniz; bu, dördüncü uygulamalı Linux haftamız. Bugünün planı: önce yönlendirmenin ve boruların arkasındaki kuram (standart akışlar = 0, 1, 2 numaralı dosya tanımlayıcıları; kabuk bunları exec'ten önce dup2 ile yeniden bağlar; boru, iki süreç arasındaki bir çekirdek tamponudur). Ardından klasik metin araçları: grep, sort, uniq, cut, wc, tr, head, tail, tee, find, xargs. En sonda ~/lab içindeki web sunucusu günlüğü ve öğrenci listesi hakkındaki gerçek soruları tek satırlık boru hatlarıyla yanıtlıyoruz. Öğrencilerin bir terminal açıp şunları çalıştırmış olması gerekir: bash mcmp117_lab_setup.sh, ardından cd ~/lab.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dakikalık tekrar. Sorun: chmod 640 report.txt neye izin verir? (sahip rw, grup r, diğerleri hiçbir şey: 6 = 4 + 2, 4 = r, 0 = yok.) Bir dizin neden x ister? (içine girmek ve içindeki dosyalara ulaşmak için.) 'Permission denied' iletisiyle bugün yine karşılaşacağız: standart hata (fd 2) üzerinden gelir ve onu başka bir yere göndermeyi öğreneceğiz.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1–4. bölümler moladan önce, 5. bölüm ve gerçek analizler moladan sonra; ardından 30–40 dakika lab çalışması. Slaytlardaki tüm çıktılar gerçektir ve sizdeki ~/lab klasörünün aynısında yakalanmıştır; sizin tarihleriniz ve süreç numaralarınız farklı olacaktır.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Geçiş: yeni komutları öğrenmeden önce, hepsini birbirine bağlanabilir kılan tek fikri öğreniyoruz.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Dosya tanımlayıcı (file descriptor, fd), sürecin açık dosyalar tablosunda bir sıra numarası olan küçük bir tamsayıdır (7. hafta: süreç başına açık dosya tablosu). Çekirdek fd 1'in arkasında ne olduğuyla ilgilenmez: bir terminal, bir dosya, bir boru ya da /dev/null. Program yalnızca write(1, ...) çağırır. Geleneksel olarak her süreç 0, 1, 2 zaten açık olarak başlatılır; bunları ebeveyninden, yani kabuktan miras alır. Kırmızı stderr okunu gösterin: aynı ekrana giden iki ayrı kanal. 2&gt; yönlendirmesinin var olmasının tek nedeni bu ayrımdır.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Gerçek çıktı; strace izini t1.txt dosyasına yazar (-o), böylece ls'in kendi çıktısına karışmaz. ls hatayı dört küçük parça hâlinde yazdı ("ls: ", ad, neden, satır sonu); hepsi fd 2 üzerinde. Sıraya dikkat edin: hata listeden önce görünür, çünkü ls önce tüm argümanları denetler. Ayrıca terminalde ls sütunlar hâlinde yazar, bir dosyada ise satır başına bir ad: ls, fd 1'in bir terminal olup olmadığını denetler (isatty) ve biçimini buna göre ayarlar.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Yönlendirmenin yalnızca dosya tanımlayıcı tablosundaki bir değişiklik olduğunun en doğrudan kanıtı budur. /proc/self, onu açan sürecin /proc/&lt;PID&gt; dizinine giden sembolik bir bağlantıdır. Terminal numarası (pts/1) ve tarihler sizin makinenizde farklı olacaktır. l-wx------ tanımlayıcının yalnızca yazma için açık olduğunu, lrwx------ ise okuma ve yazma için açık olduğunu gösterir.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Canlı: bunları kendiniz yazın. Üçüncü echo iki satırın ikisinin de yerini aldı: &gt; dosyayı kırptı. strace (iki slayt sonra) bunu yapan O_TRUNC bayrağını gösterir. Dikkatli olanlara ipucu: set -o noclobber, bash'in var olan bir dosyanın üzerine &gt; ile yazmayı reddetmesini sağlar; &gt;| zorlar.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/proc/self/fd çıktısı bunu doğrular: &lt; docs/syllabus.txt ile fd 0 dosyayı gösterir. &lt;'nin pratik kullanımı: dosya adı olmadan çıplak bir sayı (300) elde etmek; betiklerde işe yarar (14. hafta). Tipik öğrenci hatası: wc -l &gt; logs/access.log yazmak — bu, günlüğü BOŞALTIR! Okun yönü önemlidir: &lt; okur, &gt; yazar.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komut: &gt; yalnızca stdout'u taşıdı, bu yüzden hata yine ekranda görünür — ayrı kanal iş başında. 2&gt; err.txt: tersi. &gt; all.txt 2&gt;&amp;1: ikisi de dosyada (önce hatalar, çünkü ls önce eksik adı bildirir). &amp;&gt; all.txt bash'te aynı işi yapar; 2&gt;&amp;1 biçimi diğer kabuklarda (sh, dash) da çalışır. /dev/null, find'ın 'Permission denied' satırlarını susturmanın klasik yoludur (bunu moladan sonra yapacağız).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2&gt;&amp;1'i 'fd 2, fd 1'in o andaki hâlinin kopyası olur' diye okuyun — bu kelimenin tam anlamıyla dup2(1, 2) sistem çağrısıdır. İkinci komutta 2&gt;&amp;1 işlendiği anda fd 1 hâlâ terminali gösterir, bu yüzden fd 2 terminale kopyalanır; fd 1 ancak bundan sonra dosyaya taşınır. Gerçek çıktı: hata ekranda göründü, out2.txt yalnızca listeyi içerir. Sınavların gözdesi.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Sıradan bir kullanıcı olarak alınmış gerçek strace çıktısı (süreç numaraları ve ortam adresleri farklı olacaktır; ortamın adresi … olarak kısaltıldı). İlk PID bash'tir, ikincisi onun çocuğu. Çocuk open ve dup2'yi yapar, sonra execve: ls programı çocuğun kodunun yerini alır, ama açık dosya tablosu korunur. close-on-exec'ten söz edin: kabuk normalde fd 3'ü de kapatır, böylece ls fazladan bir kopya miras almaz — çıktı kısa kalsın diye close çağrısını izlemedik.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Yönlendirme bir süreci bir DOSYAYA bağlar. Boru (pipe) ise bir süreci başka bir SÜRECE bağlar.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Boru hattını yüksek sesle okuyun: cut her satırın 9. alanını (HTTP durum kodu) alır, sort eşit kodları bir araya getirir, uniq -c her grubu sayar. Geçici dosya yok: veri çekirdekteki bellek tamponlarından akar. Her kutu kendi PID'i olan ayrı bir süreçtir (3. hafta); üçünü de kabuk başlattı. Hatalar borudan aşağı gönderilmez — bir aşamanın hata iletileri doğrudan ekranda görünür.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Gerçek iz; clone bayrakları ve ortam adresleri … ile kısaltıldı. Satırların başında PID vardır; çıkış ve SIGCHLD satırları atlandı (ham dosyanın tamamı code/out_strace.txt içindedir). İki süreç aynı anda çalıştığında strace bir çağrıyı '&lt;unfinished ...&gt;' ve 'resumed' diye iki yarıda yazabilir — sizin iziniz böyle görünürse şaşırmayın. İlk çocuk grep'tir: dup2(4, 1), sonra exec. İkinci çocuk wc'dir: dup2(3, 0), sonra exec. Yönlendirmeyle birlikte kabuğun ihtiyaç duyduğu HER ŞEY budur: pipe(), fork(), dup2(), exec(). Alttaki kutu: bir boru içinde çalışan ls, fd 1 -&gt; pipe:[N] görür; N, borunun çekirdek içindeki kimliğidir.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5. haftadaki sınırlı tampon (üretici–tüketici) problemidir; çekirdek içinde bloke etmeyle çözülür: zamanlayıcı (4. hafta) bekleyen süreci uyutur. İki gerçek deney: (1) sleep 2 | sleep 2 4 s değil 2,0 s sürer — aşamalar art arda değil eşzamanlı çalışır. (2) yes sonsuza kadar 'y' yazar, ama head 3 satır yazıp çıktığında borunun artık okuyanı kalmaz; yes'in bir sonraki write() çağrısı SIGPIPE sinyalini alır ve bu sinyal onu sonlandırır. Sinyaller 13. haftanın konusudur. 64 KiB'lık varsayılan (16 × 4096 = 65.536 bayt) her boru için fcntl(F_SETPIPE_SZ) ile değiştirilebilir.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Unix felsefesi: her program tek bir işi iyi yapar ve programlar metin akışları üzerinden birlikte çalışır. Bu bölümdeki her araç bir filtredir.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= 'global regular expression print' (ed düzenleyicisinin g/re/p komutundan). -c eşleşme sayısını değil SATIRLARI sayar. Seçenekler birleştirilebilir: -vc = tersine çevir ve say: INFO olmayan 41 satır; 13 + 28 = 41 (ERROR + WARN), bunu ileride doğrulayacağız. system.log'daki dakikaların bir saat içinde sıralı olmadığına dikkat edin — bu üretilmiş deneme verisidir; gerçek günlükler zaman sırasındadır.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Çıktıyı göstermeden önce sorun: grep "Week 1" kaç satır yazdıracak? Pek çok öğrenci bir der. Bir projenin bütün ağacında bir işlev adını grep -rn ad src/ ile aramak, programcının gündelik işidir. grep birden çok dosyada aradığında dosya:satır yazar; -h ile adları gizler.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Düzenli ifadeler (regular expressions) kabuk joker karakterleriyle AYNI şey değildir: düzenli ifadede * 'önceki öğeyi tekrarla', . ise 'herhangi bir karakter' demektir; kabukta * 'herhangi bir dizgi' demektir. 5.38 örneği gerçektir: 10.0.5.38 IP adresini kaçışsız noktayla saymak 37 yerine 39 verir, çünkü . 15:38 saatindeki ':' karakteriyle ve 5438 bayt sayısındaki rakamla da eşleşti (iki satır da out_regex.txt içinde). Son örnek, final notu 90–99 olan ECT öğrencilerini bulur: ',ECT,', ardından vize için rakamlar, bir virgül, sonra 9 ve satır sonunda tek bir rakam. grep -E (genişletilmiş düzenli ifadeler: + ? | ve gruplar) vardır — bu hafta gerekmiyor.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slayttaki tuzak: -n olmadan '100', '35'ten ÖNCE gelir, çünkü sort karakter karakter karşılaştırır. İkinci tuzak, sık yapılan hatalar slaytında geliyor: 'id,name,...' başlık satırı da veridir — tail -n +2 2. satırdan başlar ve onu atlar. -k5 '5. alandan satır sonuna kadar' demektir; final son alan olduğundan sorun yok; genelde -k5,5 yazın. Sıralama yerel ayara (locale) da bağlıdır (labda LC_ALL=C.UTF-8 kullanıyoruz; Türkçe bir yerel ayar harfleri farklı sıralayabilir).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Sıralanmamış dosyada uniq -c, Antalya 6 kez geçtiği hâlde '1 Antalya' bildirir: altı satır yan yana değildir. sort'tan sonra eşit satırlar bitişiktir ve sayılar doğrudur; 2 + 6 + 5 + 5 + 1 + 2 + 4 + 5 = 30 satır, bu da wc -l data/cities.txt ile tutar. Eşitlikler sabit bir sırada kalır: sort -rn ile eşit sayılar satırın geri kalanına göre ters sıralanır (Trabzon, Eskisehir'den önce). students.csv'de dört öğrenci adı iki kez geçer: aynı adı taşıyan farklı öğrenciler (farklı numaralar).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 alanları 1'den sayar. -c için karakterler de 1'den sayılır: '2026-10-12 09:00:00 ...' içinde 12–16. karakterler saat ve dakikadır. Birden çok dosyayla wc bir 'total' satırı ekler. Sorun: syllabus.txt'nin yalnızca sözcüklerini nasıl sayarsınız? (wc -w docs/syllabus.txt.)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 yalnızca stdin'i okur — asla dosya adı almaz; bu yüzden &lt; dosya ya da bir boru kullanın. system.log'da düzey 5 karaktere tamamlanmıştır (INFO ve WARN fazladan bir boşluk alır, ERROR almaz): tek boşluk ayırıcılı bir cut, iki boşluğu aralarında boş bir alan olarak görür. tr -s bunun standart çözümüdür. tr sözcüklerle değil tek tek karakterlerle (baytlarla) çalışır: tr "cat" "dog" her yerde c'yi d, a'yı o, t'yi g yapar.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 bu slaytın fotoğrafını çekebilir; komutların tam başvuru tablosu ders notlarındadır ('Komut Başvuru Tablosu' bölümü). Boru satırının altındakilerin hepsi filtredir: dosyaları ya da stdin'i okur, stdout'a yazar.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dakika. Öğrencilerden mola sırasında bash mcmp117_lab_setup.sh komutunu yeniden çalıştırmalarını isteyin; böylece herkesin taze ve özdeş bir lab klasörü olur.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tee, adını tesisatçıların kullandığı T biçimli boru parçasından alır. Bir boru hattının ara sonucunu kaydedip yine de devam etmenin yolu budur. Tipik bir yönetici kullanımı: root'a ait bir dosyaya yazmak için sudo tee (çünkü sudo komut &gt; dosya yönlendirmesi SİZİN kabuğunuzda, root hakları olmadan uygulanır — 11. haftayla güzel bir bağlantı). tail -f, yöneticilerin günlükleri canlı izleme yoludur; vakit kalırsa bir terminalde tail -f logs/system.log, diğerinde echo test &gt;&gt; logs/system.log ile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"*.txt" çevresindeki tırnaklar şarttır: onlar olmadan kabuk, find başlamadan önce *.txt'yi ŞU ANKİ dizinde genişletir (10. hafta: joker karakterleri kabuk genişletir). -mtime +30'un bulacak bir şeyi olsun diye notes_01.txt'ye touch -d ile eski bir değiştirilme zamanı verdik. find'ın çıktı sırası dizindeki girdilerin sırasıdır, sıralı değildir (sıra gerekiyorsa sort'a boruyla verin). -size +10k: yalnızca access.log (23.604 bayt) 10 KiB = 10.240 bayttan büyüktür. 14 fotoğraf: 12 img0NN.jpg, IMG_014.JPG ve holiday.jpeg; img013.png eşleşmez.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stdin ile argümanlar arasındaki fark: wc stdin'i VERİ olarak okur, oysa biz dosya ADLARINI argüman olarak istiyoruz; bu dönüşümü xargs yapar. Üçüncü komut gerçek bir başarısızlıktır: 'final report.txt' bir boşluk içerir, xargs onu 'docs/final' ve 'report.txt' diye iki ada böldü ve wc yakındı (23 toplamında dosyanın 2 satırı eksik). -print0 adları bir dosya adında bulunamayacak sıfır baytıyla ayırır; xargs -0 yalnızca orada böler: toplam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Şimdi her şeyi birlikte kullanıyoruz. Yöntem komutlardan daha önemlidir: veriye bakın, sütunu bulun, sonra her seferinde bir aşama ekleyin.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access.log'un tek boşluklarda bölünmüş ilk satırıdır — 10 alan. 4. alan tarihi VE saati içerir; cut -d: -f2 saati verir (iki noktadan bölündüğünde 2. alan). system.log'un sütunları sabit genişliktedir (düzey 5 karaktere tamamlanmıştır), bu yüzden doğal araç cut -c'dir. students.csv virgülle ayrılmıştır ve bir başlık satırı vardır: tail -n +2'yi unutmayın.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Gerçek çıktı. Yanıt: 300 isteğin 148'i (%49,3) 200 OK ile başarılı oldu; 57'si 404 Not Found; 24'ü 500 Internal Server Error. Denetim: 148 + 57 + 34 + 24 + 20 + 17 = 300 = wc -l. Alışkanlığı öğretin: 6 aşamalı bir boru hattını asla tek seferde yazmayın. Yukarı oka basın, bir aşama ekleyin, sonuca bakın, tekrarlayın. Durum kodları: 2xx başarı, 3xx yeniden yönlendirme (304 = değişmedi, önbellekteki kopyanızı kullanın), 4xx istemci hatası (403 yasak, 404 bulunamadı), 5xx sunucu hatası.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4 adımlı tarif, farklı sütun: 7. alan = sayfa, 1. alan = IP adresi. Üçüncü boru hattı önce SÜZER (404 satırlarını grep ile alır), sonra sayfayı çıkarır: en sık kırık bağlantı /images/logo.png, 9 kez. Kalıptaki 404'ün çevresindeki boşluklara dikkat: " 404 " — böylece 4042 gibi bir bayt sayısı eşleşemez. Eşitlikler: /index.html ve /images/logo.png'nin ikisi de 33 istek almış; head -n 5 ikisini de gösterir.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Saat başına hatalar: burada uniq -c sort OLMADAN çalışır, çünkü günlük zaten saat sırasındadır — saatler bitişiktir. 11 ve 15'te hata yok, bu yüzden bu saatler yalnızca eksiktir (uniq orada olmayanı sayamaz). 3 + 4 + 1 + 3 + 2 = 13, grep -c ile tutar. WARN: 11 + 17 = 28. Bölümler: 17 + 11 + 10 + 2 = 40 öğrenci, başlık çıkarıldığında 41 satırla tutar. Son boru hattı BÜTÜN satırı 5. alana göre sıralar ve göstermek istediğimiz sütunları ancak ondan sonra keser.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 iki slayt üzerinde 30-40 dakika tek başına ya da ikili çalışır. Tam Lab Föyü (20 puanlanan alıştırma, A-D bölümleri, 100 puan) ve tam çözümleri ders notlarındadır; A4 ve B1 notlara bırakıldı. Sınıfta dolaşın: en sık sorunlar, boşluklu kalıpların tırnaklarını unutmak ve CSV başlığı için tail -n +2'yi unutmaktır. A5 için önce okunamayan klasörü find slaytındaki gibi oluşturun: mkdir secret &amp;&amp; chmod 000 secret (sonra chmod 755 secret; rmdir secret ile kaldırın).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Yanıtlar (notlarla denetleyin): C1 CS 10, ECT 17, EE 2, ME 11. C2 Onur Dogan 100, Elif Yilmaz 99, Emre Dogan 98. C4 /courses/mcmp117 41, /about.html 37, /index.html 33 (/images/logo.png 33 ile eşit). C5 /images/logo.png (9). C6 09:3, 10:4, 12:1, 13:3, 14:2. D1 Elif Yilmaz, Mehmet Aydin, Onur Dogan, Selin Yildiz. D2 grep " 500 " logs/access.log | tee errors_500.txt | wc -l, sonuç 24. D4 6 adres; 37 istekle 10.0.5.38. Öğrencilerin çoğu denemeden yanıtları göstermeyin.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Hepsi gerçek çıktı (code/demo_mistakes.sh). sort c.txt &gt; c.txt: önce yönlendirme işlenir, c.txt'yi 0 bayta kırpar, sonra sort boş bir dosya okur. (sort -o c.txt c.txt güvenli tek yerinde biçimdir, çünkü sort çıktı dosyasını açmadan önce her şeyi okur.) grep user login: 'grep: login: No such file or directory' — ama yine de system.log'da aradı ve dosya adı önekiyle 15 satır yazdırdı. ls data &gt; wc: hiç hata yok, yalnızca wc adında şaşırtıcı yeni bir dosya. find slaytındaki boşluklu adlarla xargs sorununu da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Yanıtlar. (1) İlki hem stdout'u hem stderr'i dosyaya gönderir; ikincisinde fd 2, fd 1 henüz terminalken ondan kopyalanır, bu yüzden hatalar ekranda kalır. (2) uniq yalnızca BİTİŞİK eşit satırları birleştirir; önce sıralayın: sort data/cities.txt | uniq -c. (3) cut -d" " -f1 logs/access.log | sort | uniq -c | sort -rn | head -n 3 (58 10.0.2.17, 56 10.0.4.31, 52 10.0.6.45). (4) pipe() (pipe2), iki kez fork() (clone), her çocukta dup2() (grep: dup2(4,1), wc: dup2(3,0)), her çocukta execve(), sonra ikisini de bekleme (wait).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Bunları hızlıca okuyun. En önemli tek fikir: yönlendirme ve borular tek tek programların özellikleri değildir — program başlamadan önce kabuk tarafından, üç sistem çağrısıyla yapılır.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 bugün oluşturduğumuz süreçlere dışarıdan bakıyoruz: ps onları gösterir, sinyaller onları durdurur, kabuğun iş denetimi (job control) onları ön plan ile arka plan arasında taşır. Bugün yes'i durduran SIGPIPE de bu sinyallerden biridir. Gelecek haftaya kadar: notlardaki Lab Föyü'nü bitirin.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Soruları alın. Öğrencilere Telegram kanalındaki soruların herkese yardımcı olduğunu ve tüm gösterim betiklerinin ve gerçek çıktılarının haftanın code klasöründe bulunduğunu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 ·  HAFTA 12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İşletim Sistemleri</a:t>
            </a:r>
            <a:endParaRPr lang="tr-TR" sz="4000" dirty="0"/>
          </a:p>
          <a:p>
            <a:pPr indent="0" marL="0">
              <a:buNone/>
            </a:pPr>
            <a:r>
              <a:rPr lang="tr-TR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Temelleri</a:t>
            </a:r>
            <a:endParaRPr lang="tr-TR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Metin İşleme, Yönlendirme ve Boru Hatları</a:t>
            </a:r>
            <a:endParaRPr lang="tr-TR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Çekirdeğin birbirine bağladığı küçük programlar, gerçek veriler hakkındaki gerçek soruları yanıtlar.</a:t>
            </a:r>
            <a:endParaRPr lang="tr-T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0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 Haberleşme Teknolojisi Programı  ·  Meslek Yüksekokulu  ·  İstanbul Okan Üniversitesi</a:t>
            </a:r>
            <a:endParaRPr lang="tr-T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Dört Fikirde 11. Hafta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2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06040" cy="2606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Kullanıcılar ve gruplar</a:t>
            </a:r>
            <a:endParaRPr lang="tr-TR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whoami, groups; her kullanıcının ve grubun bir numarası (UID, GID) vardır; /etc/passwd ve /etc/group içinde listelenir.</a:t>
            </a:r>
            <a:endParaRPr lang="tr-TR" sz="14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2606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1188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Kip dizgesi</a:t>
            </a:r>
            <a:endParaRPr lang="tr-TR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46888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-rwxr-x--- : dosya türü, ardından sahip, grup ve diğerleri için rwx. Bir dizinde x, "içine girebilir" demektir.</a:t>
            </a:r>
            <a:endParaRPr lang="tr-TR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06040" cy="2606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chmod</a:t>
            </a:r>
            <a:endParaRPr lang="tr-TR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46888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Sembolik (u+x, go-w) ya da sekizli, r = 4, w = 2, x = 1 ile: 754 = rwx r-x r--.</a:t>
            </a:r>
            <a:endParaRPr lang="tr-TR" sz="1450" dirty="0"/>
          </a:p>
        </p:txBody>
      </p:sp>
      <p:sp>
        <p:nvSpPr>
          <p:cNvPr id="15" name="Shape 13"/>
          <p:cNvSpPr/>
          <p:nvPr/>
        </p:nvSpPr>
        <p:spPr>
          <a:xfrm>
            <a:off x="9052560" y="1828800"/>
            <a:ext cx="2606040" cy="2606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8116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 değiştirebilir?</a:t>
            </a:r>
            <a:endParaRPr lang="tr-TR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46888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umask varsayılanları belirler; chown root ister; sudo tek bir komutu root olarak çalıştırır — dikkatli kullanın.</a:t>
            </a:r>
            <a:endParaRPr lang="tr-TR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 koruduğumuz dosyalar bugün veriye dönüşüyor: içeriklerini arıyor, kesiyor, sıralıyor ve sayıyoruz; programları da birbirine bağlıyoruz.</a:t>
            </a:r>
            <a:endParaRPr lang="tr-TR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Bugünün Gündemi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3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tr-TR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1508760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45920" y="150876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Standart akışlar   </a:t>
            </a: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stdin, stdout, stderr = 0, 1, 2 numaralı dosya tanımlayıcıları (2–3. haftalar: write(1, …)).</a:t>
            </a:r>
            <a:endParaRPr lang="tr-TR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95144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95144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tr-TR" sz="2000" dirty="0"/>
          </a:p>
        </p:txBody>
      </p:sp>
      <p:sp>
        <p:nvSpPr>
          <p:cNvPr id="12" name="Shape 10"/>
          <p:cNvSpPr/>
          <p:nvPr/>
        </p:nvSpPr>
        <p:spPr>
          <a:xfrm>
            <a:off x="1371600" y="2295144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45920" y="2295144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Yönlendirme   </a:t>
            </a: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&gt;&gt; &lt; 2&gt; 2&gt;&amp;1 &amp;&gt; /dev/null — ve kabuğun bunu dup2() ile nasıl yaptığı.</a:t>
            </a:r>
            <a:endParaRPr lang="tr-TR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81528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tr-TR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3081528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645920" y="308152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Borular   </a:t>
            </a: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komut1 | komut2: bir çekirdek tamponuyla bağlanan iki süreç.</a:t>
            </a:r>
            <a:endParaRPr lang="tr-TR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67912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867912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tr-TR" sz="2000" dirty="0"/>
          </a:p>
        </p:txBody>
      </p:sp>
      <p:sp>
        <p:nvSpPr>
          <p:cNvPr id="20" name="Shape 18"/>
          <p:cNvSpPr/>
          <p:nvPr/>
        </p:nvSpPr>
        <p:spPr>
          <a:xfrm>
            <a:off x="1371600" y="3867912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645920" y="386791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Filtreler   </a:t>
            </a: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(basit düzenli ifadelerle), sort, uniq, cut, wc, tr.</a:t>
            </a:r>
            <a:endParaRPr lang="tr-TR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654296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654296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tr-TR" sz="2000" dirty="0"/>
          </a:p>
        </p:txBody>
      </p:sp>
      <p:sp>
        <p:nvSpPr>
          <p:cNvPr id="24" name="Shape 22"/>
          <p:cNvSpPr/>
          <p:nvPr/>
        </p:nvSpPr>
        <p:spPr>
          <a:xfrm>
            <a:off x="1371600" y="4654296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645920" y="465429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Diğer araçlar   </a:t>
            </a: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Boru hatlarında head ve tail, tee, find, xargs.</a:t>
            </a:r>
            <a:endParaRPr lang="tr-TR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440680"/>
            <a:ext cx="658368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tr-TR" sz="2000" dirty="0"/>
          </a:p>
        </p:txBody>
      </p:sp>
      <p:sp>
        <p:nvSpPr>
          <p:cNvPr id="28" name="Shape 26"/>
          <p:cNvSpPr/>
          <p:nvPr/>
        </p:nvSpPr>
        <p:spPr>
          <a:xfrm>
            <a:off x="1371600" y="5440680"/>
            <a:ext cx="10287000" cy="658368"/>
          </a:xfrm>
          <a:prstGeom prst="roundRect">
            <a:avLst>
              <a:gd name="adj" fmla="val 6944"/>
            </a:avLst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645920" y="54406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Gerçek analizler + lab   </a:t>
            </a:r>
            <a:r>
              <a:rPr lang="tr-TR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kodları, en çok istenen sayfalar, saat başına hatalar, notlar — her biri tek satır.</a:t>
            </a:r>
            <a:endParaRPr lang="tr-TR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Standart Akışlar ve Yönlendirme</a:t>
            </a:r>
            <a:endParaRPr lang="tr-TR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süreç hayata üç açık dosyayla başlar.</a:t>
            </a:r>
            <a:endParaRPr lang="tr-T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4</a:t>
            </a:r>
            <a:endParaRPr lang="tr-T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AKIŞLAR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Akış, Üç Küçük Sayı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5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737360" cy="82296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17373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Klavye</a:t>
            </a:r>
            <a:endParaRPr lang="tr-TR" sz="15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(terminal girdisi)</a:t>
            </a:r>
            <a:endParaRPr lang="tr-TR" sz="1500" dirty="0"/>
          </a:p>
        </p:txBody>
      </p:sp>
      <p:sp>
        <p:nvSpPr>
          <p:cNvPr id="8" name="Shape 6"/>
          <p:cNvSpPr/>
          <p:nvPr/>
        </p:nvSpPr>
        <p:spPr>
          <a:xfrm>
            <a:off x="3657600" y="1691640"/>
            <a:ext cx="3291840" cy="2697480"/>
          </a:xfrm>
          <a:prstGeom prst="roundRect">
            <a:avLst>
              <a:gd name="adj" fmla="val 2034"/>
            </a:avLst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490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 (ör. ls, grep, sort)</a:t>
            </a:r>
            <a:endParaRPr lang="tr-TR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130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tanımlayıcı tablosu</a:t>
            </a:r>
            <a:endParaRPr lang="tr-TR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2514600"/>
            <a:ext cx="548640" cy="475488"/>
          </a:xfrm>
          <a:prstGeom prst="roundRect">
            <a:avLst>
              <a:gd name="adj" fmla="val 9615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2514600"/>
            <a:ext cx="548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tr-TR" sz="1600" dirty="0"/>
          </a:p>
        </p:txBody>
      </p:sp>
      <p:sp>
        <p:nvSpPr>
          <p:cNvPr id="13" name="Shape 11"/>
          <p:cNvSpPr/>
          <p:nvPr/>
        </p:nvSpPr>
        <p:spPr>
          <a:xfrm>
            <a:off x="4498848" y="2514600"/>
            <a:ext cx="2240280" cy="475488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98848" y="2514600"/>
            <a:ext cx="22402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stdin</a:t>
            </a:r>
            <a:endParaRPr lang="tr-TR" sz="1300" dirty="0"/>
          </a:p>
          <a:p>
            <a:pPr algn="ctr" indent="0" marL="0">
              <a:buNone/>
            </a:pPr>
            <a:r>
              <a:rPr lang="tr-TR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girdi</a:t>
            </a:r>
            <a:endParaRPr lang="tr-TR" sz="1300" dirty="0"/>
          </a:p>
        </p:txBody>
      </p:sp>
      <p:sp>
        <p:nvSpPr>
          <p:cNvPr id="15" name="Shape 13"/>
          <p:cNvSpPr/>
          <p:nvPr/>
        </p:nvSpPr>
        <p:spPr>
          <a:xfrm>
            <a:off x="3886200" y="3118104"/>
            <a:ext cx="548640" cy="475488"/>
          </a:xfrm>
          <a:prstGeom prst="roundRect">
            <a:avLst>
              <a:gd name="adj" fmla="val 9615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86200" y="3118104"/>
            <a:ext cx="548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tr-TR" sz="1600" dirty="0"/>
          </a:p>
        </p:txBody>
      </p:sp>
      <p:sp>
        <p:nvSpPr>
          <p:cNvPr id="17" name="Shape 15"/>
          <p:cNvSpPr/>
          <p:nvPr/>
        </p:nvSpPr>
        <p:spPr>
          <a:xfrm>
            <a:off x="4498848" y="3118104"/>
            <a:ext cx="2240280" cy="475488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98848" y="3118104"/>
            <a:ext cx="22402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</a:t>
            </a:r>
            <a:endParaRPr lang="tr-TR" sz="1300" dirty="0"/>
          </a:p>
          <a:p>
            <a:pPr algn="ctr" indent="0" marL="0">
              <a:buNone/>
            </a:pPr>
            <a:r>
              <a:rPr lang="tr-TR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çıktı</a:t>
            </a:r>
            <a:endParaRPr lang="tr-TR" sz="1300" dirty="0"/>
          </a:p>
        </p:txBody>
      </p:sp>
      <p:sp>
        <p:nvSpPr>
          <p:cNvPr id="19" name="Shape 17"/>
          <p:cNvSpPr/>
          <p:nvPr/>
        </p:nvSpPr>
        <p:spPr>
          <a:xfrm>
            <a:off x="3886200" y="3721608"/>
            <a:ext cx="548640" cy="475488"/>
          </a:xfrm>
          <a:prstGeom prst="roundRect">
            <a:avLst>
              <a:gd name="adj" fmla="val 9615"/>
            </a:avLst>
          </a:prstGeom>
          <a:solidFill>
            <a:srgbClr val="B545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886200" y="3721608"/>
            <a:ext cx="548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tr-TR" sz="1600" dirty="0"/>
          </a:p>
        </p:txBody>
      </p:sp>
      <p:sp>
        <p:nvSpPr>
          <p:cNvPr id="21" name="Shape 19"/>
          <p:cNvSpPr/>
          <p:nvPr/>
        </p:nvSpPr>
        <p:spPr>
          <a:xfrm>
            <a:off x="4498848" y="3721608"/>
            <a:ext cx="2240280" cy="475488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98848" y="3721608"/>
            <a:ext cx="22402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stderr</a:t>
            </a:r>
            <a:endParaRPr lang="tr-TR" sz="1300" dirty="0"/>
          </a:p>
          <a:p>
            <a:pPr algn="ctr" indent="0" marL="0">
              <a:buNone/>
            </a:pPr>
            <a:r>
              <a:rPr lang="tr-TR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hata</a:t>
            </a:r>
            <a:endParaRPr lang="tr-TR" sz="1300" dirty="0"/>
          </a:p>
        </p:txBody>
      </p:sp>
      <p:sp>
        <p:nvSpPr>
          <p:cNvPr id="23" name="Shape 21"/>
          <p:cNvSpPr/>
          <p:nvPr/>
        </p:nvSpPr>
        <p:spPr>
          <a:xfrm>
            <a:off x="9052560" y="2194560"/>
            <a:ext cx="2606040" cy="1691640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52560" y="2194560"/>
            <a:ext cx="2606040" cy="1691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ekranı</a:t>
            </a:r>
            <a:endParaRPr lang="tr-TR" sz="15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/dev/pts/1</a:t>
            </a:r>
            <a:endParaRPr lang="tr-TR" sz="1500" dirty="0"/>
          </a:p>
        </p:txBody>
      </p:sp>
      <p:sp>
        <p:nvSpPr>
          <p:cNvPr id="25" name="Shape 23"/>
          <p:cNvSpPr/>
          <p:nvPr/>
        </p:nvSpPr>
        <p:spPr>
          <a:xfrm flipV="1">
            <a:off x="2304288" y="2752344"/>
            <a:ext cx="1563624" cy="219456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33172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read(0, …)</a:t>
            </a:r>
            <a:endParaRPr lang="tr-TR" sz="1100" dirty="0"/>
          </a:p>
        </p:txBody>
      </p:sp>
      <p:sp>
        <p:nvSpPr>
          <p:cNvPr id="27" name="Shape 25"/>
          <p:cNvSpPr/>
          <p:nvPr/>
        </p:nvSpPr>
        <p:spPr>
          <a:xfrm flipV="1">
            <a:off x="6967728" y="2834640"/>
            <a:ext cx="2066544" cy="521208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731520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write(1, …)</a:t>
            </a:r>
            <a:endParaRPr lang="tr-TR" sz="1100" dirty="0"/>
          </a:p>
        </p:txBody>
      </p:sp>
      <p:sp>
        <p:nvSpPr>
          <p:cNvPr id="29" name="Shape 27"/>
          <p:cNvSpPr/>
          <p:nvPr/>
        </p:nvSpPr>
        <p:spPr>
          <a:xfrm flipV="1">
            <a:off x="6967728" y="3474720"/>
            <a:ext cx="2066544" cy="484632"/>
          </a:xfrm>
          <a:prstGeom prst="line">
            <a:avLst/>
          </a:prstGeom>
          <a:noFill/>
          <a:ln w="28575">
            <a:solidFill>
              <a:srgbClr val="B5453A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3152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i="1" dirty="0">
                <a:solidFill>
                  <a:srgbClr val="B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write(2, …)</a:t>
            </a:r>
            <a:endParaRPr lang="tr-TR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61772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77240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· stdin</a:t>
            </a:r>
            <a:endParaRPr lang="tr-TR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257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Programın girdisini okuduğu yer. Varsayılan: klavye.</a:t>
            </a:r>
            <a:endParaRPr lang="tr-TR" sz="1400" dirty="0"/>
          </a:p>
        </p:txBody>
      </p:sp>
      <p:sp>
        <p:nvSpPr>
          <p:cNvPr id="34" name="Shape 32"/>
          <p:cNvSpPr/>
          <p:nvPr/>
        </p:nvSpPr>
        <p:spPr>
          <a:xfrm>
            <a:off x="4325112" y="461772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553712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stdout</a:t>
            </a:r>
            <a:endParaRPr lang="tr-TR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553712" y="5257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sonuçlar. Varsayılan: terminal ekranı.</a:t>
            </a:r>
            <a:endParaRPr lang="tr-TR" sz="1400" dirty="0"/>
          </a:p>
        </p:txBody>
      </p:sp>
      <p:sp>
        <p:nvSpPr>
          <p:cNvPr id="37" name="Shape 35"/>
          <p:cNvSpPr/>
          <p:nvPr/>
        </p:nvSpPr>
        <p:spPr>
          <a:xfrm>
            <a:off x="8101584" y="461772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330184" y="4800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stderr</a:t>
            </a:r>
            <a:endParaRPr lang="tr-TR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330184" y="5257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iletileri, ayrı bir kanalda — sonuçlar bir dosyaya gitse bile size ulaşırlar.</a:t>
            </a:r>
            <a:endParaRPr lang="tr-TR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BAĞLANTI: 2–3. HAFTALAR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Bunu Daha Önce Gördünüz: write(1, …)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6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49440" cy="3246120"/>
          </a:xfrm>
          <a:prstGeom prst="roundRect">
            <a:avLst>
              <a:gd name="adj" fmla="val 1408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62025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strace -o t1.txt -e trace=write ls data nosuch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ls: cannot access 'nosuch': No such file or directory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cities.txt  numbers.txt  students.csv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t1.txt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write(2, "ls: ", 4)                     = 4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write(2, "cannot access 'nosuch'", 22)  = 22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write(2, ": No such file or directory", 27) = 27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write(2, "\n", 1)                       = 1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write(1, "data:\n", 6)                  = 6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write(1, "cities.txt  numbers.txt  student"..., 38) = 38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 exited with 2 +++</a:t>
            </a:r>
            <a:endParaRPr lang="tr-TR" sz="1150" dirty="0"/>
          </a:p>
        </p:txBody>
      </p:sp>
      <p:sp>
        <p:nvSpPr>
          <p:cNvPr id="8" name="Shape 6"/>
          <p:cNvSpPr/>
          <p:nvPr/>
        </p:nvSpPr>
        <p:spPr>
          <a:xfrm>
            <a:off x="7726680" y="15087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955280" y="16916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strace ne gösteriyor?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1488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iletisi write(2, …) ile çıkar: fd 2, stderr.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write(1, …) ile çıkar: fd 1, stdout.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ls, 1 ve 2'nin nereye gittiğini hiç sormaz: bu, ls başlamadan önce belirlenmiştir.</a:t>
            </a:r>
            <a:endParaRPr lang="tr-TR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983480"/>
            <a:ext cx="11109960" cy="1280160"/>
          </a:xfrm>
          <a:prstGeom prst="roundRect">
            <a:avLst>
              <a:gd name="adj" fmla="val 4286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hafta: printf() sonunda write(1, "Hello…", n) olur. 3. hafta: sistem çağrısı çekirdeğe bir tuzaktır (trap) ve fd 1 standart çıktı demektir. Bugün: kabuk, ls başlamadan önce fd 1'i bir dosyaya yöneltirse her write(1, …) o dosyaya düşer. Yönlendirme budur.</a:t>
            </a:r>
            <a:endParaRPr lang="tr-TR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AKIŞLAR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Tanımlayıcıları Görmek: ls -l /proc/self/fd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7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98601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/proc/self/fd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0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0 -&gt; /dev/pts/1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1 -&gt; /dev/pts/1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2 -&gt; /dev/pts/1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lr-x------ 1 student student 64 Oct 12 08:48 3 -&gt; /proc/15829/fd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/proc/self/fd &gt; fd.txt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fd.txt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0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0 -&gt; /dev/pts/1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l-wx------ 1 student student 64 Oct 12 08:48 1 -&gt; /home/student/lab/fd.txt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2 -&gt; /dev/pts/1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lr-x------ 1 student student 64 Oct 12 08:48 3 -&gt; /proc/15832/fd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/proc/self/fd 2&gt; /dev/null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0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0 -&gt; /dev/pts/1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1 -&gt; /dev/pts/1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l-wx------ 1 student student 64 Oct 12 08:48 2 -&gt; /dev/null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lr-x------ 1 student student 64 Oct 12 08:48 3 -&gt; /proc/15841/fd</a:t>
            </a:r>
            <a:endParaRPr lang="tr-TR" sz="1100" dirty="0"/>
          </a:p>
        </p:txBody>
      </p:sp>
      <p:sp>
        <p:nvSpPr>
          <p:cNvPr id="8" name="Shape 6"/>
          <p:cNvSpPr/>
          <p:nvPr/>
        </p:nvSpPr>
        <p:spPr>
          <a:xfrm>
            <a:off x="8092440" y="1508760"/>
            <a:ext cx="3566160" cy="4754880"/>
          </a:xfrm>
          <a:prstGeom prst="roundRect">
            <a:avLst>
              <a:gd name="adj" fmla="val 153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321040" y="1691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Neye bakmalı?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2148840"/>
            <a:ext cx="31089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/proc/self, bakan süreçtir — burada ls'in kendisi (3. hafta: /proc).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Normalde 0, 1, 2'nin üçü de /dev/pts/1 terminalini gösterir.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fd.txt ile fd 1 dosyayı gösterir: ls kendi listesini dosyaya yazdı.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2&gt; /dev/null ile fd 2 "kara delik" aygıtını gösterir.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3, ls'in okuduğu dizindir.</a:t>
            </a:r>
            <a:endParaRPr lang="tr-TR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YÖNLENDİRME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Çıktı Yönlendirme: &gt; Üzerine Yazar, &gt;&gt; Sona Ekler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8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3093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59801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"first line" &gt; notes.txt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notes.txt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line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"second line" &gt;&gt; notes.txt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notes.txt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line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 line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"oops" &gt; notes.txt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notes.txt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oops</a:t>
            </a:r>
            <a:endParaRPr lang="tr-TR" sz="1200" dirty="0"/>
          </a:p>
        </p:txBody>
      </p:sp>
      <p:sp>
        <p:nvSpPr>
          <p:cNvPr id="8" name="Shape 6"/>
          <p:cNvSpPr/>
          <p:nvPr/>
        </p:nvSpPr>
        <p:spPr>
          <a:xfrm>
            <a:off x="7086600" y="1508760"/>
            <a:ext cx="4572000" cy="27432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0" y="1691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Kurallar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148840"/>
            <a:ext cx="4114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 &gt; dosya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dosyayı oluşturur ya da önce boşaltır (truncate), sonra stdout'u içine yazar.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 &gt;&gt; dosya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gerekirse oluşturur, sonra sonuna ekler.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Ekranda hiçbir şey görünmez: stdout dosyaya gitti.</a:t>
            </a:r>
            <a:endParaRPr lang="tr-TR" sz="1350" dirty="0"/>
          </a:p>
        </p:txBody>
      </p:sp>
      <p:sp>
        <p:nvSpPr>
          <p:cNvPr id="11" name="Shape 9"/>
          <p:cNvSpPr/>
          <p:nvPr/>
        </p:nvSpPr>
        <p:spPr>
          <a:xfrm>
            <a:off x="7086600" y="4434840"/>
            <a:ext cx="4572000" cy="1828800"/>
          </a:xfrm>
          <a:prstGeom prst="roundRect">
            <a:avLst>
              <a:gd name="adj" fmla="val 3000"/>
            </a:avLst>
          </a:prstGeom>
          <a:solidFill>
            <a:srgbClr val="F3D9D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0" y="4617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Dikkat</a:t>
            </a:r>
            <a:endParaRPr lang="tr-TR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50749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dosyayı komut daha başlamadan boşaltır. Tek bir yanlış &gt; bir dosyayı yok eder — geri alma da çöp kutusu da yoktur (10. hafta).</a:t>
            </a:r>
            <a:endParaRPr lang="tr-TR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YÖNLENDİRME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Girdi Yönlendirme: &lt; Bir Dosyayı stdin'e Verir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9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49440" cy="3108960"/>
          </a:xfrm>
          <a:prstGeom prst="roundRect">
            <a:avLst>
              <a:gd name="adj" fmla="val 1471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6202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logs/access.log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logs/access.log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&lt; logs/access.log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/proc/self/fd &lt; docs/syllabus.txt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0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lr-x------ 1 student student 64 Oct 12 08:48 0 -&gt; /home/student/lab/docs/syllabus.txt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1 -&gt; /dev/pts/1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lrwx------ 1 student student 64 Oct 12 08:48 2 -&gt; /dev/pts/1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lr-x------ 1 student student 64 Oct 12 08:48 3 -&gt; /proc/15838/fd</a:t>
            </a:r>
            <a:endParaRPr lang="tr-TR" sz="1150" dirty="0"/>
          </a:p>
        </p:txBody>
      </p:sp>
      <p:sp>
        <p:nvSpPr>
          <p:cNvPr id="8" name="Shape 6"/>
          <p:cNvSpPr/>
          <p:nvPr/>
        </p:nvSpPr>
        <p:spPr>
          <a:xfrm>
            <a:off x="7726680" y="1508760"/>
            <a:ext cx="3931920" cy="3108960"/>
          </a:xfrm>
          <a:prstGeom prst="roundRect">
            <a:avLst>
              <a:gd name="adj" fmla="val 176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955280" y="16916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dosyayı okumanın iki yolu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14884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-l dosya:</a:t>
            </a: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wc dosyayı kendisi açar ve adını bilir, bu yüzden adı yazar.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-l &lt; dosya:</a:t>
            </a: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dosyayı kabuk fd 0 olarak açar; wc yalnızca bir akış görür, ad yok.</a:t>
            </a:r>
            <a:endParaRPr lang="tr-TR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1109960" cy="1417320"/>
          </a:xfrm>
          <a:prstGeom prst="roundRect">
            <a:avLst>
              <a:gd name="adj" fmla="val 3871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846320"/>
            <a:ext cx="10652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araçlarının çoğu filtre (filter) geleneğine uyar: argüman olarak verilen dosyaları, hiç dosya yoksa stdin'i okur; sonucu stdout'a yazar. Borularla zincirlenebilmelerinin nedeni budur — bugünün ana konusu.</a:t>
            </a:r>
            <a:endParaRPr lang="tr-TR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YÖNLENDİRME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Hataları Yönlendirmek: 2&gt;, 2&gt;&amp;1, &amp;&gt; ve /dev/null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10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3093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59801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&gt; out.txt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ls: cannot access 'nosuch': No such file or directory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2&gt; err.txt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cities.txt  numbers.txt  students.csv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err.txt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ls: cannot access 'nosuch': No such file or directory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&gt; all.txt 2&gt;&amp;1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all.txt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ls: cannot access 'nosuch': No such file or directory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students.csv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2&gt; /dev/null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cities.txt  numbers.txt  students.csv</a:t>
            </a:r>
            <a:endParaRPr lang="tr-TR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508760"/>
          <a:ext cx="4572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Sözdizimi</a:t>
                      </a:r>
                      <a:endParaRPr lang="tr-TR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Anlamı</a:t>
                      </a:r>
                      <a:endParaRPr lang="tr-TR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 f   ya da  1&gt; f</a:t>
                      </a:r>
                      <a:endParaRPr lang="tr-TR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stdout → f</a:t>
                      </a:r>
                      <a:endParaRPr lang="tr-TR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2&gt; f</a:t>
                      </a:r>
                      <a:endParaRPr lang="tr-TR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stderr → f</a:t>
                      </a:r>
                      <a:endParaRPr lang="tr-TR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2&gt;&gt; f</a:t>
                      </a:r>
                      <a:endParaRPr lang="tr-TR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stderr'i f'nin sonuna ekle</a:t>
                      </a:r>
                      <a:endParaRPr lang="tr-TR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 f 2&gt;&amp;1</a:t>
                      </a:r>
                      <a:endParaRPr lang="tr-TR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ikisi de f'ye (fd 2 = fd 1'in kopyası)</a:t>
                      </a:r>
                      <a:endParaRPr lang="tr-TR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&amp;&gt; f</a:t>
                      </a:r>
                      <a:endParaRPr lang="tr-TR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ikisi de f'ye (bash kısaltması)</a:t>
                      </a:r>
                      <a:endParaRPr lang="tr-TR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2&gt; /dev/null</a:t>
                      </a:r>
                      <a:endParaRPr lang="tr-TR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hataları at</a:t>
                      </a:r>
                      <a:endParaRPr lang="tr-TR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086600" y="4800600"/>
            <a:ext cx="45720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0" y="498348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/dev/null bir aygıt dosyasıdır: ona yazılan her şey kaybolur; ondan okumak hemen dosya sonu verir.</a:t>
            </a:r>
            <a:endParaRPr lang="tr-TR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YÖNLENDİRME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Sıra Önemlidir: Yönlendirmeler Soldan Sağa İşlenir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11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&gt; all.txt 2&gt;&amp;1</a:t>
            </a:r>
            <a:endParaRPr lang="tr-TR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645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16916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başlangıç</a:t>
            </a:r>
            <a:endParaRPr lang="tr-TR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196596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7744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1 → terminal</a:t>
            </a:r>
            <a:endParaRPr lang="tr-TR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96596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2 → terminal</a:t>
            </a:r>
            <a:endParaRPr lang="tr-TR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79192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645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679192"/>
            <a:ext cx="16916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all.txt</a:t>
            </a:r>
            <a:endParaRPr lang="tr-TR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2679192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377440" y="2679192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1 → all.txt</a:t>
            </a:r>
            <a:endParaRPr lang="tr-TR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2679192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06240" y="2679192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2 → terminal</a:t>
            </a:r>
            <a:endParaRPr lang="tr-TR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92424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645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2424"/>
            <a:ext cx="16916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2&gt;&amp;1</a:t>
            </a:r>
            <a:endParaRPr lang="tr-TR" sz="1200" dirty="0"/>
          </a:p>
        </p:txBody>
      </p:sp>
      <p:sp>
        <p:nvSpPr>
          <p:cNvPr id="21" name="Shape 19"/>
          <p:cNvSpPr/>
          <p:nvPr/>
        </p:nvSpPr>
        <p:spPr>
          <a:xfrm>
            <a:off x="2377440" y="3392424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377440" y="3392424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1 → all.txt</a:t>
            </a:r>
            <a:endParaRPr lang="tr-TR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3392424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206240" y="3392424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2 → all.txt</a:t>
            </a:r>
            <a:endParaRPr lang="tr-TR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D7E9E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77240" y="43891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akış da all.txt dosyasına gider.</a:t>
            </a:r>
            <a:endParaRPr lang="tr-TR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14630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5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2&gt;&amp;1 &gt; out2.txt</a:t>
            </a:r>
            <a:endParaRPr lang="tr-TR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196596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645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0" y="1965960"/>
            <a:ext cx="16916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başlangıç</a:t>
            </a:r>
            <a:endParaRPr lang="tr-TR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196596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4672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1 → terminal</a:t>
            </a:r>
            <a:endParaRPr lang="tr-TR" sz="1200" dirty="0"/>
          </a:p>
        </p:txBody>
      </p:sp>
      <p:sp>
        <p:nvSpPr>
          <p:cNvPr id="32" name="Shape 30"/>
          <p:cNvSpPr/>
          <p:nvPr/>
        </p:nvSpPr>
        <p:spPr>
          <a:xfrm>
            <a:off x="9875520" y="196596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87552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2 → terminal</a:t>
            </a:r>
            <a:endParaRPr lang="tr-TR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2679192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6454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17920" y="2679192"/>
            <a:ext cx="16916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2&gt;&amp;1</a:t>
            </a:r>
            <a:endParaRPr lang="tr-TR" sz="1200" dirty="0"/>
          </a:p>
        </p:txBody>
      </p:sp>
      <p:sp>
        <p:nvSpPr>
          <p:cNvPr id="36" name="Shape 34"/>
          <p:cNvSpPr/>
          <p:nvPr/>
        </p:nvSpPr>
        <p:spPr>
          <a:xfrm>
            <a:off x="8046720" y="2679192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046720" y="2679192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1 → terminal</a:t>
            </a:r>
            <a:endParaRPr lang="tr-TR" sz="1200" dirty="0"/>
          </a:p>
        </p:txBody>
      </p:sp>
      <p:sp>
        <p:nvSpPr>
          <p:cNvPr id="38" name="Shape 36"/>
          <p:cNvSpPr/>
          <p:nvPr/>
        </p:nvSpPr>
        <p:spPr>
          <a:xfrm>
            <a:off x="9875520" y="2679192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875520" y="2679192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2 → terminal</a:t>
            </a:r>
            <a:endParaRPr lang="tr-TR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3392424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36454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17920" y="3392424"/>
            <a:ext cx="16916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out2.txt</a:t>
            </a:r>
            <a:endParaRPr lang="tr-TR" sz="1200" dirty="0"/>
          </a:p>
        </p:txBody>
      </p:sp>
      <p:sp>
        <p:nvSpPr>
          <p:cNvPr id="42" name="Shape 40"/>
          <p:cNvSpPr/>
          <p:nvPr/>
        </p:nvSpPr>
        <p:spPr>
          <a:xfrm>
            <a:off x="8046720" y="3392424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46720" y="3392424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1 → out2.txt</a:t>
            </a:r>
            <a:endParaRPr lang="tr-TR" sz="1200" dirty="0"/>
          </a:p>
        </p:txBody>
      </p:sp>
      <p:sp>
        <p:nvSpPr>
          <p:cNvPr id="44" name="Shape 42"/>
          <p:cNvSpPr/>
          <p:nvPr/>
        </p:nvSpPr>
        <p:spPr>
          <a:xfrm>
            <a:off x="9875520" y="3392424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2F2F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875520" y="3392424"/>
            <a:ext cx="173736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 2 → terminal</a:t>
            </a:r>
            <a:endParaRPr lang="tr-TR" sz="1200" dirty="0"/>
          </a:p>
        </p:txBody>
      </p:sp>
      <p:sp>
        <p:nvSpPr>
          <p:cNvPr id="46" name="Shape 44"/>
          <p:cNvSpPr/>
          <p:nvPr/>
        </p:nvSpPr>
        <p:spPr>
          <a:xfrm>
            <a:off x="6217920" y="420624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3D9D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6446520" y="43891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yine ekranda görünür!</a:t>
            </a:r>
            <a:endParaRPr lang="tr-TR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5257800"/>
            <a:ext cx="11109960" cy="1005840"/>
          </a:xfrm>
          <a:prstGeom prst="roundRect">
            <a:avLst>
              <a:gd name="adj" fmla="val 4545"/>
            </a:avLst>
          </a:prstGeom>
          <a:solidFill>
            <a:srgbClr val="21212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13232" y="5349240"/>
            <a:ext cx="1078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nosuch 2&gt;&amp;1 &gt; out2.txt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ls: cannot access 'nosuch': No such file or directory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i="1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2&gt;&amp;1 şu demektir: fd 2'yi fd 1'in ŞU ANKİ hâlinin kopyası yap — fd 1'e kalıcı bir bağ değil</a:t>
            </a:r>
            <a:endParaRPr lang="tr-TR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BAĞLANTI: 3. HAFTA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Kabuk Bunu Nasıl Yapar: fork, open, dup2, exec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12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1417320"/>
          </a:xfrm>
          <a:prstGeom prst="roundRect">
            <a:avLst>
              <a:gd name="adj" fmla="val 3226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10780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strace -f -o t2.txt -e trace=openat,dup2,execve bash -c "ls data &gt; list.txt"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-E "list.txt|dup2|execve" t2.txt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15726 execve("/usr/bin/bash", ["bash", "-c", "ls data &gt; list.txt"], …) = 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15727 openat(AT_FDCWD, "list.txt", O_WRONLY|O_CREAT|O_TRUNC, 0666) = 3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15727 dup2(3, 1)                        = 1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15727 execve("/usr/bin/ls", ["ls", "data"], …) = 0</a:t>
            </a:r>
            <a:endParaRPr lang="tr-TR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2615184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3375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fork (clone)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947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bir çocuk oluşturur: aynı 0, 1, 2 tanımlayıcılarına sahip bir kopyası.</a:t>
            </a:r>
            <a:endParaRPr lang="tr-TR" sz="1300" dirty="0"/>
          </a:p>
        </p:txBody>
      </p:sp>
      <p:sp>
        <p:nvSpPr>
          <p:cNvPr id="11" name="Shape 9"/>
          <p:cNvSpPr/>
          <p:nvPr/>
        </p:nvSpPr>
        <p:spPr>
          <a:xfrm>
            <a:off x="3172968" y="4069080"/>
            <a:ext cx="201168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3154680"/>
            <a:ext cx="2615184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11880" y="33375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openat</a:t>
            </a:r>
            <a:endParaRPr lang="tr-TR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7947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Çocuk list.txt'yi yazmak için açar (O_TRUNC = boşalt). Yeni fd: 3.</a:t>
            </a:r>
            <a:endParaRPr lang="tr-TR" sz="1300" dirty="0"/>
          </a:p>
        </p:txBody>
      </p:sp>
      <p:sp>
        <p:nvSpPr>
          <p:cNvPr id="15" name="Shape 13"/>
          <p:cNvSpPr/>
          <p:nvPr/>
        </p:nvSpPr>
        <p:spPr>
          <a:xfrm>
            <a:off x="6007608" y="4069080"/>
            <a:ext cx="201168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3154680"/>
            <a:ext cx="2615184" cy="1828800"/>
          </a:xfrm>
          <a:prstGeom prst="roundRect">
            <a:avLst>
              <a:gd name="adj" fmla="val 3000"/>
            </a:avLst>
          </a:prstGeom>
          <a:solidFill>
            <a:srgbClr val="D7E9E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46520" y="33375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dup2(3, 1)</a:t>
            </a:r>
            <a:endParaRPr lang="tr-TR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7947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1, fd 3'ün kopyası olur: stdout artık list.txt'ye gider.</a:t>
            </a:r>
            <a:endParaRPr lang="tr-TR" sz="1300" dirty="0"/>
          </a:p>
        </p:txBody>
      </p:sp>
      <p:sp>
        <p:nvSpPr>
          <p:cNvPr id="19" name="Shape 17"/>
          <p:cNvSpPr/>
          <p:nvPr/>
        </p:nvSpPr>
        <p:spPr>
          <a:xfrm>
            <a:off x="8842248" y="4069080"/>
            <a:ext cx="201168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52560" y="3154680"/>
            <a:ext cx="2615184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281160" y="33375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execve ls</a:t>
            </a:r>
            <a:endParaRPr lang="tr-TR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7947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Çocuk ls'e dönüşür. fd tablosu exec'ten sağ çıkar — ls fd 1'e yazar.</a:t>
            </a:r>
            <a:endParaRPr lang="tr-TR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7240" y="5212080"/>
            <a:ext cx="10652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hafta sordu: fork() ve exec() neden iki ayrı çağrı? Çünkü ikisinin arasında çocuk kendi dosya tanımlayıcılarını yeniden düzenleyebilir — ve sonra çalıştırdığı program bunu hiç bilmez. Linux fork() çağrısını clone() sistem çağrısıyla gerçekler.</a:t>
            </a:r>
            <a:endParaRPr lang="tr-TR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Borular</a:t>
            </a:r>
            <a:endParaRPr lang="tr-TR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sürecin çıktısı bir sonrakinin girdisi olur.</a:t>
            </a:r>
            <a:endParaRPr lang="tr-T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13</a:t>
            </a:r>
            <a:endParaRPr lang="tr-TR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BORULAR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Boru Hattı: Borularla Bağlanmış Süreçler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14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109960" cy="1005840"/>
          </a:xfrm>
          <a:prstGeom prst="rect">
            <a:avLst/>
          </a:prstGeom>
          <a:solidFill>
            <a:srgbClr val="E9EEEF"/>
          </a:solidFill>
          <a:ln w="9525">
            <a:solidFill>
              <a:srgbClr val="C9D3D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100" b="1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çekirdek: boru tamponları</a:t>
            </a:r>
            <a:endParaRPr lang="tr-TR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600200"/>
            <a:ext cx="160020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access.log</a:t>
            </a:r>
            <a:endParaRPr lang="tr-TR" sz="13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</a:t>
            </a:r>
            <a:endParaRPr lang="tr-TR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6002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3645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14600" y="1600200"/>
            <a:ext cx="2240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-f9</a:t>
            </a:r>
            <a:endParaRPr lang="tr-TR" sz="14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</a:t>
            </a:r>
            <a:endParaRPr lang="tr-TR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160020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3645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60720" y="1600200"/>
            <a:ext cx="15544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endParaRPr lang="tr-TR" sz="14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</a:t>
            </a:r>
            <a:endParaRPr lang="tr-TR" sz="1400" dirty="0"/>
          </a:p>
        </p:txBody>
      </p:sp>
      <p:sp>
        <p:nvSpPr>
          <p:cNvPr id="14" name="Shape 12"/>
          <p:cNvSpPr/>
          <p:nvPr/>
        </p:nvSpPr>
        <p:spPr>
          <a:xfrm>
            <a:off x="8366760" y="160020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3645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600200"/>
            <a:ext cx="15544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 -c</a:t>
            </a:r>
            <a:endParaRPr lang="tr-TR" sz="14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</a:t>
            </a:r>
            <a:endParaRPr lang="tr-TR" sz="1400" dirty="0"/>
          </a:p>
        </p:txBody>
      </p:sp>
      <p:sp>
        <p:nvSpPr>
          <p:cNvPr id="16" name="Shape 14"/>
          <p:cNvSpPr/>
          <p:nvPr/>
        </p:nvSpPr>
        <p:spPr>
          <a:xfrm>
            <a:off x="10469880" y="160020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469880" y="1600200"/>
            <a:ext cx="118872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tr-TR" sz="1300" dirty="0"/>
          </a:p>
        </p:txBody>
      </p:sp>
      <p:sp>
        <p:nvSpPr>
          <p:cNvPr id="18" name="Shape 16"/>
          <p:cNvSpPr/>
          <p:nvPr/>
        </p:nvSpPr>
        <p:spPr>
          <a:xfrm>
            <a:off x="2167128" y="2034540"/>
            <a:ext cx="329184" cy="91"/>
          </a:xfrm>
          <a:prstGeom prst="line">
            <a:avLst/>
          </a:prstGeom>
          <a:noFill/>
          <a:ln w="22225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51960" y="333756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5196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boru</a:t>
            </a:r>
            <a:endParaRPr lang="tr-TR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333756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boru</a:t>
            </a:r>
            <a:endParaRPr lang="tr-TR" sz="1300" dirty="0"/>
          </a:p>
        </p:txBody>
      </p:sp>
      <p:sp>
        <p:nvSpPr>
          <p:cNvPr id="23" name="Shape 21"/>
          <p:cNvSpPr/>
          <p:nvPr/>
        </p:nvSpPr>
        <p:spPr>
          <a:xfrm>
            <a:off x="4480560" y="2487168"/>
            <a:ext cx="91440" cy="8321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5486400" y="2487168"/>
            <a:ext cx="548640" cy="8321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86600" y="2487168"/>
            <a:ext cx="91440" cy="8321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8046720" y="2487168"/>
            <a:ext cx="594360" cy="8321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939528" y="2034540"/>
            <a:ext cx="512064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703320" y="2578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1</a:t>
            </a:r>
            <a:endParaRPr lang="tr-TR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870448" y="25786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0</a:t>
            </a:r>
            <a:endParaRPr lang="tr-TR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25786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1</a:t>
            </a:r>
            <a:endParaRPr lang="tr-TR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5786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0</a:t>
            </a:r>
            <a:endParaRPr lang="tr-TR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1673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1</a:t>
            </a:r>
            <a:endParaRPr lang="tr-TR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343400"/>
            <a:ext cx="6949440" cy="1920240"/>
          </a:xfrm>
          <a:prstGeom prst="roundRect">
            <a:avLst>
              <a:gd name="adj" fmla="val 2381"/>
            </a:avLst>
          </a:prstGeom>
          <a:solidFill>
            <a:srgbClr val="21212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" y="4434840"/>
            <a:ext cx="66202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-f9 logs/access.log | sort | uniq -c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148 200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20 301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34 304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17 403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57 404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24 500</a:t>
            </a:r>
            <a:endParaRPr lang="tr-TR" sz="1050" dirty="0"/>
          </a:p>
        </p:txBody>
      </p:sp>
      <p:sp>
        <p:nvSpPr>
          <p:cNvPr id="35" name="Shape 33"/>
          <p:cNvSpPr/>
          <p:nvPr/>
        </p:nvSpPr>
        <p:spPr>
          <a:xfrm>
            <a:off x="7726680" y="43434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955280" y="452628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süreç aynı anda çalışır; her boru çekirdek içinde bir tampondur.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fd 1'e = boruya yazar; sort fd 0'dan = borudan okur.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aşamanın stderr'i (fd 2) yine terminale gider.</a:t>
            </a:r>
            <a:endParaRPr lang="tr-TR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BAĞLANTI: 3. HAFTA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Boru Kurmak: pipe2, clone, dup2, execve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15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03720" cy="3429000"/>
          </a:xfrm>
          <a:prstGeom prst="roundRect">
            <a:avLst>
              <a:gd name="adj" fmla="val 1333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57453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strace -f -o t3.txt -e trace=pipe2,clone,dup2,execve bash -c "grep ERROR logs/system.log | wc -l"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t3.txt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15736 pipe2([3, 4], 0) = 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15736 clone(…) = 15737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15736 clone(…) = 15738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15737 dup2(4, 1) = 1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15738 dup2(3, 0) = 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15738 execve("/usr/bin/wc", ["wc", "-l"], …) = 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15737 execve("/usr/bin/grep", ["grep", "ERROR", "logs/system.log"], …) = 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tr-TR" sz="1050" dirty="0"/>
          </a:p>
        </p:txBody>
      </p:sp>
      <p:sp>
        <p:nvSpPr>
          <p:cNvPr id="8" name="Shape 6"/>
          <p:cNvSpPr/>
          <p:nvPr/>
        </p:nvSpPr>
        <p:spPr>
          <a:xfrm>
            <a:off x="7680960" y="1508760"/>
            <a:ext cx="3977640" cy="3429000"/>
          </a:xfrm>
          <a:prstGeom prst="roundRect">
            <a:avLst>
              <a:gd name="adj" fmla="val 16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909560" y="1691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İzi okumak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14884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pipe2([3, 4]):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kabuk bir boru alır: fd 3 = okuma ucu, fd 4 = yazma ucu.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× 2: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iki çocuk (fork).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çocuğu: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dup2(4, 1) — stdout boruya.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çocuğu: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dup2(3, 0) — stdin borudan.</a:t>
            </a:r>
            <a:endParaRPr lang="tr-TR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11109960" cy="1143000"/>
          </a:xfrm>
          <a:prstGeom prst="roundRect">
            <a:avLst>
              <a:gd name="adj" fmla="val 4000"/>
            </a:avLst>
          </a:prstGeom>
          <a:solidFill>
            <a:srgbClr val="21212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5212080"/>
            <a:ext cx="10780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/proc/self/fd | cat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l-wx------ 1 student student 64 Oct 12 08:48 1 -&gt; pipe:[29942]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i="1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ls'in fd 1'i artık terminal değil: bir boru (çekirdekteki numarası 29942)</a:t>
            </a:r>
            <a:endParaRPr lang="tr-TR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BAĞLANTI: 5. HAFTA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Boru, Çekirdeğin Yönettiği Sınırlı Bir Tampondur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16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yazan</a:t>
            </a:r>
            <a:endParaRPr lang="tr-TR" sz="15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ör. grep</a:t>
            </a:r>
            <a:endParaRPr lang="tr-TR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346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tr-TR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918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tr-TR" sz="13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490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tr-TR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062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tr-TR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634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tr-TR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206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tr-TR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778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tr-TR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350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tr-TR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tr-TR" sz="1300" dirty="0"/>
          </a:p>
        </p:txBody>
      </p:sp>
      <p:sp>
        <p:nvSpPr>
          <p:cNvPr id="26" name="Shape 24"/>
          <p:cNvSpPr/>
          <p:nvPr/>
        </p:nvSpPr>
        <p:spPr>
          <a:xfrm>
            <a:off x="6949440" y="1874520"/>
            <a:ext cx="420624" cy="548640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49440" y="1874520"/>
            <a:ext cx="420624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tr-TR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boru tamponu: Linux'ta 64 KiB (16 sayfa × 4 KiB)</a:t>
            </a:r>
            <a:endParaRPr lang="tr-TR" sz="1100" dirty="0"/>
          </a:p>
        </p:txBody>
      </p:sp>
      <p:sp>
        <p:nvSpPr>
          <p:cNvPr id="29" name="Shape 27"/>
          <p:cNvSpPr/>
          <p:nvPr/>
        </p:nvSpPr>
        <p:spPr>
          <a:xfrm>
            <a:off x="7726680" y="169164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36454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2668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okuyan</a:t>
            </a:r>
            <a:endParaRPr lang="tr-TR" sz="1500" dirty="0"/>
          </a:p>
          <a:p>
            <a:pPr algn="ctr" indent="0" marL="0">
              <a:buNone/>
            </a:pPr>
            <a:r>
              <a:rPr lang="tr-T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ör. wc</a:t>
            </a:r>
            <a:endParaRPr lang="tr-TR" sz="1500" dirty="0"/>
          </a:p>
        </p:txBody>
      </p:sp>
      <p:sp>
        <p:nvSpPr>
          <p:cNvPr id="31" name="Shape 29"/>
          <p:cNvSpPr/>
          <p:nvPr/>
        </p:nvSpPr>
        <p:spPr>
          <a:xfrm>
            <a:off x="2304288" y="2148840"/>
            <a:ext cx="493776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06640" y="2148840"/>
            <a:ext cx="301752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48640" y="2926080"/>
            <a:ext cx="89154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77240" y="3108960"/>
            <a:ext cx="8458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Tampon dolu:</a:t>
            </a: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write() bloke olur — yazan bekler.   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Tampon boş:</a:t>
            </a: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read() bloke olur — okuyan bekler.</a:t>
            </a:r>
            <a:endParaRPr lang="tr-TR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Yazan kapattı ve tampon boş:</a:t>
            </a:r>
            <a:r>
              <a:rPr lang="tr-TR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read() 0 döndürür = dosya sonu.</a:t>
            </a:r>
            <a:endParaRPr lang="tr-TR" sz="1400" dirty="0"/>
          </a:p>
        </p:txBody>
      </p:sp>
      <p:sp>
        <p:nvSpPr>
          <p:cNvPr id="35" name="Shape 33"/>
          <p:cNvSpPr/>
          <p:nvPr/>
        </p:nvSpPr>
        <p:spPr>
          <a:xfrm>
            <a:off x="9692640" y="1691640"/>
            <a:ext cx="1965960" cy="2697480"/>
          </a:xfrm>
          <a:prstGeom prst="roundRect">
            <a:avLst>
              <a:gd name="adj" fmla="val 279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921240" y="18745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hafta</a:t>
            </a:r>
            <a:endParaRPr lang="tr-TR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921240" y="23317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Üretici–tüketici problemi — sizin yerinize çekirdek çözüyor.</a:t>
            </a:r>
            <a:endParaRPr lang="tr-TR" sz="1350" dirty="0"/>
          </a:p>
        </p:txBody>
      </p:sp>
      <p:sp>
        <p:nvSpPr>
          <p:cNvPr id="38" name="Shape 36"/>
          <p:cNvSpPr/>
          <p:nvPr/>
        </p:nvSpPr>
        <p:spPr>
          <a:xfrm>
            <a:off x="548640" y="4572000"/>
            <a:ext cx="11109960" cy="1691640"/>
          </a:xfrm>
          <a:prstGeom prst="roundRect">
            <a:avLst>
              <a:gd name="adj" fmla="val 2703"/>
            </a:avLst>
          </a:prstGeom>
          <a:solidFill>
            <a:srgbClr val="21212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13232" y="4663440"/>
            <a:ext cx="107807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(sleep 2 | sleep 2)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   0m2.005s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  0m0.003s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    0m0.002s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| head -n 3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tr-TR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Filtreler: grep, sort, uniq, cut, wc, tr</a:t>
            </a:r>
            <a:endParaRPr lang="tr-TR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 dosyalardan ya da stdin'den satır okur, stdout'a satır yazar.</a:t>
            </a:r>
            <a:endParaRPr lang="tr-T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17</a:t>
            </a:r>
            <a:endParaRPr lang="tr-TR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grep: Bir Kalıpla Eşleşen Satırları Yazdırır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18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98601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ERROR logs/system.log | head -n 3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09:12:00 ERROR failed to mount /dev/sdb1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09:56:00 ERROR failed to mount /dev/sdb1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09:07:00 ERROR failed to mount /dev/sdb1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-c ERROR logs/system.log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-i "TALK" docs/linux_quotes.txt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is cheap. Show me the code.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-n "backup" logs/system.log | head -n 4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6:2026-10-12 09:55:00 INFO  backup finished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7:2026-10-12 09:06:00 INFO  backup started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10:2026-10-12 09:39:00 INFO  backup finished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29:2026-10-12 10:08:00 INFO  backup started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-v INFO logs/system.log | head -n 4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09:11:00 WARN  high memory usage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09:22:00 WARN  high memory usage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09:12:00 ERROR failed to mount /dev/sdb1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 09:23:00 WARN  temperature 71C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-vc INFO logs/system.log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tr-TR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508760"/>
          <a:ext cx="35661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606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Seçenek</a:t>
                      </a:r>
                      <a:endParaRPr lang="tr-TR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Anlamı</a:t>
                      </a:r>
                      <a:endParaRPr lang="tr-TR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-i</a:t>
                      </a:r>
                      <a:endParaRPr lang="tr-TR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büyük/küçük harf ayrımı yok</a:t>
                      </a:r>
                      <a:endParaRPr lang="tr-TR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-n</a:t>
                      </a:r>
                      <a:endParaRPr lang="tr-TR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satır numaralarını göster</a:t>
                      </a:r>
                      <a:endParaRPr lang="tr-TR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-v</a:t>
                      </a:r>
                      <a:endParaRPr lang="tr-TR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tersine çevir: eşleşMEYEN satırlar</a:t>
                      </a:r>
                      <a:endParaRPr lang="tr-TR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-c</a:t>
                      </a:r>
                      <a:endParaRPr lang="tr-TR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eşleşen satırları say</a:t>
                      </a:r>
                      <a:endParaRPr lang="tr-TR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-w</a:t>
                      </a:r>
                      <a:endParaRPr lang="tr-TR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yalnızca tam sözcük eşleşmesi</a:t>
                      </a:r>
                      <a:endParaRPr lang="tr-TR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-r</a:t>
                      </a:r>
                      <a:endParaRPr lang="tr-TR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dizinlerde özyinelemeli ara</a:t>
                      </a:r>
                      <a:endParaRPr lang="tr-TR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45720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32104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Biçim: grep [seçenekler] KALIP [dosyalar]. Boşluk ya da özel karakter içeren kalıbı tırnak içine alın.</a:t>
            </a:r>
            <a:endParaRPr lang="tr-TR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Sözcükler (-w) ve Tüm Dizinler (-r)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19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494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62025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"Week 1" docs/syllabus.txt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Introduction and history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10 File and directory operations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11 Permissions, ownership and users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12 Text processing and redirection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13 Processes and job control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14 Introduction to shell scripting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15 Final exam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-w "Week 1" docs/syllabus.txt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Introduction and history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 "Project" projects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projects/beta/README.md:# Project beta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projects/alpha/README.md:# Project alpha</a:t>
            </a:r>
            <a:endParaRPr lang="tr-TR" sz="1200" dirty="0"/>
          </a:p>
        </p:txBody>
      </p:sp>
      <p:sp>
        <p:nvSpPr>
          <p:cNvPr id="8" name="Shape 6"/>
          <p:cNvSpPr/>
          <p:nvPr/>
        </p:nvSpPr>
        <p:spPr>
          <a:xfrm>
            <a:off x="7726680" y="1508760"/>
            <a:ext cx="3931920" cy="2331720"/>
          </a:xfrm>
          <a:prstGeom prst="roundRect">
            <a:avLst>
              <a:gd name="adj" fmla="val 235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955280" y="16916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-w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148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"Week 1", "Week 10" … "Week 15" içinde de eşleşir. -w ile eşleşme tam bir sözcük olmalıdır: önünde ya da arkasında harf, rakam veya _ olamaz.</a:t>
            </a:r>
            <a:endParaRPr lang="tr-TR" sz="1350" dirty="0"/>
          </a:p>
        </p:txBody>
      </p:sp>
      <p:sp>
        <p:nvSpPr>
          <p:cNvPr id="11" name="Shape 9"/>
          <p:cNvSpPr/>
          <p:nvPr/>
        </p:nvSpPr>
        <p:spPr>
          <a:xfrm>
            <a:off x="7726680" y="4023360"/>
            <a:ext cx="3931920" cy="2240280"/>
          </a:xfrm>
          <a:prstGeom prst="roundRect">
            <a:avLst>
              <a:gd name="adj" fmla="val 24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955280" y="4206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</a:t>
            </a:r>
            <a:endParaRPr lang="tr-TR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6634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dizinin altındaki her dosyada arar ve her satırın önüne dosyanın adını yazar. Sıra alfabetik değil, dizindeki sıradır.</a:t>
            </a:r>
            <a:endParaRPr lang="tr-TR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 Düzenli İfadeler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20</a:t>
            </a:r>
            <a:endParaRPr lang="tr-TR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46634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2402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Simge</a:t>
                      </a:r>
                      <a:endParaRPr lang="tr-TR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Eşleştiği</a:t>
                      </a:r>
                      <a:endParaRPr lang="tr-TR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Örnek</a:t>
                      </a:r>
                      <a:endParaRPr lang="tr-TR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</a:t>
                      </a:r>
                      <a:endParaRPr lang="tr-TR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satırın başı</a:t>
                      </a:r>
                      <a:endParaRPr lang="tr-TR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^Week</a:t>
                      </a:r>
                      <a:endParaRPr lang="tr-TR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tr-TR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satırın sonu</a:t>
                      </a:r>
                      <a:endParaRPr lang="tr-TR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s$</a:t>
                      </a:r>
                      <a:endParaRPr lang="tr-TR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</a:t>
                      </a:r>
                      <a:endParaRPr lang="tr-TR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herhangi TEK bir karakter</a:t>
                      </a:r>
                      <a:endParaRPr lang="tr-TR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c.de → code</a:t>
                      </a:r>
                      <a:endParaRPr lang="tr-TR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 ]</a:t>
                      </a:r>
                      <a:endParaRPr lang="tr-TR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kümeden tek karakter</a:t>
                      </a:r>
                      <a:endParaRPr lang="tr-TR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[0-9]  [aeiou]</a:t>
                      </a:r>
                      <a:endParaRPr lang="tr-TR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tr-TR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önündeki öğe, 0 ya da daha çok kez</a:t>
                      </a:r>
                      <a:endParaRPr lang="tr-TR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[0-9]*</a:t>
                      </a:r>
                      <a:endParaRPr lang="tr-TR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\.</a:t>
                      </a:r>
                      <a:endParaRPr lang="tr-TR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bir nokta</a:t>
                      </a:r>
                      <a:endParaRPr lang="tr-TR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350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5\.38</a:t>
                      </a:r>
                      <a:endParaRPr lang="tr-TR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00600"/>
            <a:ext cx="4663440" cy="1463040"/>
          </a:xfrm>
          <a:prstGeom prst="roundRect">
            <a:avLst>
              <a:gd name="adj" fmla="val 375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48006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Kalıbı her zaman tırnak içine alın: yoksa kabuk, grep görmeden önce * ve [ ] karakterlerini dosya adı joker karakterleri olarak genişletebilir (10. hafta).</a:t>
            </a:r>
            <a:endParaRPr lang="tr-TR" sz="1350" dirty="0"/>
          </a:p>
        </p:txBody>
      </p:sp>
      <p:sp>
        <p:nvSpPr>
          <p:cNvPr id="9" name="Shape 6"/>
          <p:cNvSpPr/>
          <p:nvPr/>
        </p:nvSpPr>
        <p:spPr>
          <a:xfrm>
            <a:off x="5440680" y="1508760"/>
            <a:ext cx="621792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05272" y="1600200"/>
            <a:ext cx="588873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"^Week [0-9] " docs/syllabus.txt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Introduction and history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  Definitions, goals, components, structures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3  OS services, system calls, processes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"s$" docs/syllabus.txt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  Definitions, goals, components, structures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3  OS services, system calls, processes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4  Threads and CPU scheduling basics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7  Virtual memory and file systems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10 File and directory operations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11 Permissions, ownership and users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"c.de" docs/linux_quotes.txt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is cheap. Show me the code.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-c "5.38" logs/access.log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-c "5\.38" logs/access.log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",ECT,[0-9]*,9[0-9]$" data/students.csv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2026001,Elif Yilmaz,ECT,96,99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2026015,Deniz Celik,ECT,95,96</a:t>
            </a:r>
            <a:endParaRPr lang="tr-TR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sort: Alfabetik, Sayısal, Sütuna Göre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21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2237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8945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data/cities.txt | head -n 4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Ankara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Ankara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Antalya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Antalya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-n +2 data/students.csv | cut -d, -f5 | sort | head -n 3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-n +2 data/students.csv | cut -d, -f5 | sort -n | head -n 3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-t, -k5 -nr data/students.csv | head -n 3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2026010,Onur Dogan,ME,73,100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2026001,Elif Yilmaz,ECT,96,99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2026020,Emre Dogan,ME,64,98</a:t>
            </a:r>
            <a:endParaRPr lang="tr-TR" sz="1050" dirty="0"/>
          </a:p>
        </p:txBody>
      </p:sp>
      <p:sp>
        <p:nvSpPr>
          <p:cNvPr id="8" name="Shape 6"/>
          <p:cNvSpPr/>
          <p:nvPr/>
        </p:nvSpPr>
        <p:spPr>
          <a:xfrm>
            <a:off x="8001000" y="1508760"/>
            <a:ext cx="3657600" cy="4754880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0" y="1691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Seçenekler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148840"/>
            <a:ext cx="3200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sayısal: 35 &lt; 100 (düz sort karakterleri karşılaştırır: '1' &lt; '3' olduğundan "100" &lt; "35").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ters sıra (en büyük önce).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-t,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alan ayırıcı virgüldür.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-k5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alana göre sırala (burada: final notu).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benzersiz: tekrarlanan satırları at.</a:t>
            </a:r>
            <a:endParaRPr lang="tr-TR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uniq: Bitişik Tekrarları Birleştirir — Önce Sıralayın!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22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76072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543153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 -c data/cities.txt | head -n 4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Antalya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Trabzon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Konya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Bursa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data/cities.txt | uniq -c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 Ankara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6 Antalya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5 Bursa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5 Eskisehir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Istanbul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 Izmir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 Konya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5 Trabzon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data/cities.txt | uniq -c | sort -rn | head -n 3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6 Antalya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5 Trabzon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5 Eskisehir</a:t>
            </a:r>
            <a:endParaRPr lang="tr-TR" sz="1150" dirty="0"/>
          </a:p>
        </p:txBody>
      </p:sp>
      <p:sp>
        <p:nvSpPr>
          <p:cNvPr id="8" name="Shape 6"/>
          <p:cNvSpPr/>
          <p:nvPr/>
        </p:nvSpPr>
        <p:spPr>
          <a:xfrm>
            <a:off x="6537960" y="1508760"/>
            <a:ext cx="5120640" cy="1737360"/>
          </a:xfrm>
          <a:prstGeom prst="roundRect">
            <a:avLst>
              <a:gd name="adj" fmla="val 2632"/>
            </a:avLst>
          </a:prstGeom>
          <a:solidFill>
            <a:srgbClr val="21212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02552" y="1600200"/>
            <a:ext cx="4791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-d, -f2 data/students.csv | sort | uniq -d</a:t>
            </a:r>
            <a:endParaRPr lang="tr-TR" sz="10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Yilmaz</a:t>
            </a:r>
            <a:endParaRPr lang="tr-TR" sz="10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Mehmet Aydin</a:t>
            </a:r>
            <a:endParaRPr lang="tr-TR" sz="10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Onur Dogan</a:t>
            </a:r>
            <a:endParaRPr lang="tr-TR" sz="10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Selin Yildiz</a:t>
            </a:r>
            <a:endParaRPr lang="tr-TR" sz="1000" dirty="0"/>
          </a:p>
        </p:txBody>
      </p:sp>
      <p:sp>
        <p:nvSpPr>
          <p:cNvPr id="10" name="Shape 8"/>
          <p:cNvSpPr/>
          <p:nvPr/>
        </p:nvSpPr>
        <p:spPr>
          <a:xfrm>
            <a:off x="6537960" y="3429000"/>
            <a:ext cx="5120640" cy="2834640"/>
          </a:xfrm>
          <a:prstGeom prst="roundRect">
            <a:avLst>
              <a:gd name="adj" fmla="val 193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766560" y="36118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Unutmayın</a:t>
            </a:r>
            <a:endParaRPr lang="tr-TR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4069080"/>
            <a:ext cx="4663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 bir satırı yalnızca hemen önceki satırla karşılaştırır.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grubu say;  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yalnızca tekrarlanan satırları yaz (burada: iki kez geçen adlar).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| uniq -c | sort -rn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"her birinden kaç tane, en sık olan önce" — günün en yararlı boru hattı.</a:t>
            </a:r>
            <a:endParaRPr lang="tr-TR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· WC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Sütun Alır, wc Sayar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23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7665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4373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3 data/students.csv | cut -d, -f2,5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name,final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Yilmaz,99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Zeynep Dogan,36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2 logs/access.log | cut -d" " -f1,7,9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10.0.1.10 /about.html 404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10.0.1.10 /api/grades 200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3 logs/system.log | cut -c12-16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09:11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09:22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logs/system.log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120  669 5207 logs/system.log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data/*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30 data/cities.txt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 data/numbers.txt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41 data/students.csv</a:t>
            </a:r>
            <a:endParaRPr lang="tr-TR" sz="11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91 total</a:t>
            </a:r>
            <a:endParaRPr lang="tr-TR" sz="1150" dirty="0"/>
          </a:p>
        </p:txBody>
      </p:sp>
      <p:sp>
        <p:nvSpPr>
          <p:cNvPr id="8" name="Shape 6"/>
          <p:cNvSpPr/>
          <p:nvPr/>
        </p:nvSpPr>
        <p:spPr>
          <a:xfrm>
            <a:off x="7543800" y="1508760"/>
            <a:ext cx="4114800" cy="2788920"/>
          </a:xfrm>
          <a:prstGeom prst="roundRect">
            <a:avLst>
              <a:gd name="adj" fmla="val 19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1488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-d','  -f2,5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virgülle ayrılmış 2. ve 5. alanlar.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-d" "  -f7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tek boşlukla ayrılmış 7. alan.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-c12-16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12–16. karakterler (sabit sütunlar).</a:t>
            </a:r>
            <a:endParaRPr lang="tr-TR" sz="1350" dirty="0"/>
          </a:p>
        </p:txBody>
      </p:sp>
      <p:sp>
        <p:nvSpPr>
          <p:cNvPr id="11" name="Shape 9"/>
          <p:cNvSpPr/>
          <p:nvPr/>
        </p:nvSpPr>
        <p:spPr>
          <a:xfrm>
            <a:off x="7543800" y="4480560"/>
            <a:ext cx="4114800" cy="17830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0" y="4663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wc</a:t>
            </a:r>
            <a:endParaRPr lang="tr-TR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5120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Satır, sözcük ve bayt sayısını yazar: 120 satır, 669 sözcük, 5207 bayt. Yalnızca biri için -l, -w, -c.</a:t>
            </a:r>
            <a:endParaRPr lang="tr-TR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tr: Karakterleri Dönüştür, Sil ve Sıkıştır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24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7665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4373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2 docs/linux_quotes.txt | tr a-z A-Z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IS CHEAP. SHOW ME THE CODE.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 ENOUGH EYEBALLS, ALL BUGS ARE SHALLOW.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2 data/students.csv | tr "," ";"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id;name;department;midterm;final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2026001;Elif Yilmaz;ECT;96;99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"Hello, World!" | tr -d ",!"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World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3 logs/system.log | cut -d" " -f4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3 logs/system.log | tr -s " " | cut -d" " -f4-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link up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memory usage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memory usage</a:t>
            </a:r>
            <a:endParaRPr lang="tr-TR" sz="1050" dirty="0"/>
          </a:p>
        </p:txBody>
      </p:sp>
      <p:sp>
        <p:nvSpPr>
          <p:cNvPr id="8" name="Shape 6"/>
          <p:cNvSpPr/>
          <p:nvPr/>
        </p:nvSpPr>
        <p:spPr>
          <a:xfrm>
            <a:off x="7543800" y="1508760"/>
            <a:ext cx="4114800" cy="2377440"/>
          </a:xfrm>
          <a:prstGeom prst="roundRect">
            <a:avLst>
              <a:gd name="adj" fmla="val 230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iş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1488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a-z A-Z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kümenin her karakterini 2. kümedeki karşılığıyla değiştirir.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-d küme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 karakterleri siler.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-s " "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tekrarları teke indirir.</a:t>
            </a:r>
            <a:endParaRPr lang="tr-TR" sz="1300" dirty="0"/>
          </a:p>
        </p:txBody>
      </p:sp>
      <p:sp>
        <p:nvSpPr>
          <p:cNvPr id="11" name="Shape 9"/>
          <p:cNvSpPr/>
          <p:nvPr/>
        </p:nvSpPr>
        <p:spPr>
          <a:xfrm>
            <a:off x="7543800" y="4069080"/>
            <a:ext cx="4114800" cy="2194560"/>
          </a:xfrm>
          <a:prstGeom prst="roundRect">
            <a:avLst>
              <a:gd name="adj" fmla="val 2500"/>
            </a:avLst>
          </a:prstGeom>
          <a:solidFill>
            <a:srgbClr val="F3D9D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0" y="4251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Boş satırlar neden?</a:t>
            </a:r>
            <a:endParaRPr lang="tr-TR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4709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"INFO  network" içinde İKİ boşluk var, bu yüzden cut boş bir 4. alan görür. tr -s " " önce onları sıkıştırır; -f4- 4. alandan sona kadar demektir.</a:t>
            </a:r>
            <a:endParaRPr lang="tr-TR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HIZLI BAŞVURU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Bakışta Yönlendirme ve Filtreler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25</a:t>
            </a:r>
            <a:endParaRPr lang="tr-TR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5440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 yapmak istiyorsunuz?</a:t>
                      </a:r>
                      <a:endParaRPr lang="tr-TR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Kullanın</a:t>
                      </a:r>
                      <a:endParaRPr lang="tr-TR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Bugünden örnek</a:t>
                      </a:r>
                      <a:endParaRPr lang="tr-TR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çıktıyı kaydet / ekle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f   &gt;&gt; f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data &gt; list.txt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girdiyi dosyadan oku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f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 -l &lt; logs/access.log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hataları kaydet ya da gizle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2&gt; f   2&gt; /dev/null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. -name "*.md" 2&gt; /dev/null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şeyi tek dosyaya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f 2&gt;&amp;1   &amp;&gt; f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data nosuch &gt; all.txt 2&gt;&amp;1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iki programı bağla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kmt1 | kmt2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grep ERROR logs/system.log | wc -l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eşleşen satırları bul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grep -i -n -v -c -w -r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grep -c " 404 " logs/access.log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satırları sırala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-n -r -t, -k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-t, -k5 -nr data/students.csv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değeri say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| uniq -c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data/cities.txt | uniq -c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sütun al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-d -f / -c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-d, -f2,5 data/students.csv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karakter değiştir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   tr -d   tr -s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 a-z A-Z &lt; docs/linux_quotes.txt</a:t>
                      </a:r>
                      <a:endParaRPr lang="tr-TR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Dakika Mola</a:t>
            </a:r>
            <a:endParaRPr lang="tr-TR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Sırada: head, tail, tee, find, xargs — ardından gerçek sorular, tek satırlık boru hatlarıyla.</a:t>
            </a:r>
            <a:endParaRPr lang="tr-T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26</a:t>
            </a:r>
            <a:endParaRPr lang="tr-TR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· TAIL · TEE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Boru Hatlarında head, tail ve tee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27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49440" cy="2926080"/>
          </a:xfrm>
          <a:prstGeom prst="roundRect">
            <a:avLst>
              <a:gd name="adj" fmla="val 1563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6202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-n +2 data/students.csv | head -n 2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2026001,Elif Yilmaz,ECT,96,99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2026002,Zeynep Dogan,ME,95,36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120 logs/access.log | tail -n 1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10.0.3.24 - - [12/Oct/2026:12:53:47 +0300] "GET /index.html HTTP/1.1" 404 4270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 500 " logs/access.log | tee errors_500.txt | wc -l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errors_500.txt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errors_500.txt</a:t>
            </a:r>
            <a:endParaRPr lang="tr-TR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709160"/>
            <a:ext cx="14630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tr-TR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470916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0" y="4709160"/>
            <a:ext cx="14630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tee</a:t>
            </a:r>
            <a:endParaRPr lang="tr-TR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470916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3645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4709160"/>
            <a:ext cx="14630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</a:t>
            </a:r>
            <a:endParaRPr lang="tr-TR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5623560"/>
            <a:ext cx="1463040" cy="594360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43200" y="5623560"/>
            <a:ext cx="14630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errors_500.txt</a:t>
            </a:r>
            <a:endParaRPr lang="tr-TR" sz="1100" dirty="0"/>
          </a:p>
        </p:txBody>
      </p:sp>
      <p:sp>
        <p:nvSpPr>
          <p:cNvPr id="16" name="Shape 14"/>
          <p:cNvSpPr/>
          <p:nvPr/>
        </p:nvSpPr>
        <p:spPr>
          <a:xfrm>
            <a:off x="2029968" y="5074920"/>
            <a:ext cx="694944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24528" y="5074920"/>
            <a:ext cx="694944" cy="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474720" y="5458968"/>
            <a:ext cx="91" cy="14630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572000" y="5623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2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= bir T bağlantısı: dosyaya kopyalar VE iletir</a:t>
            </a:r>
            <a:endParaRPr lang="tr-TR" sz="1200" dirty="0"/>
          </a:p>
        </p:txBody>
      </p:sp>
      <p:sp>
        <p:nvSpPr>
          <p:cNvPr id="20" name="Shape 18"/>
          <p:cNvSpPr/>
          <p:nvPr/>
        </p:nvSpPr>
        <p:spPr>
          <a:xfrm>
            <a:off x="7726680" y="1508760"/>
            <a:ext cx="3931920" cy="4754880"/>
          </a:xfrm>
          <a:prstGeom prst="roundRect">
            <a:avLst>
              <a:gd name="adj" fmla="val 139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955280" y="16916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Yararlı biçimler</a:t>
            </a:r>
            <a:endParaRPr lang="tr-TR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2148840"/>
            <a:ext cx="34747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-n 5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ilk 5 satır.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-n 5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son 5 satır.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-n +2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satırdan itibaren: başlığı atlar.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-n 120 | tail -n 1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tam olarak 120. satır.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-f log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büyüyen bir dosyayı izle (durdurmak için Ctrl+C).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-a f</a:t>
            </a: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üzerine yazmak yerine sona ekle.</a:t>
            </a:r>
            <a:endParaRPr lang="tr-TR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find: Dizin Ağacında Ad, Tür, Boyut ve Yaşa Göre Arama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28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07161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docs -name "*.txt"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docs/notes_02.txt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docs/syllabus.txt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docs/notes_01.txt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docs/notes_03.txt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docs/linux_quotes.txt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docs/final report.txt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-type d -name src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./src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./projects/beta/src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./projects/alpha/src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-size +10k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./logs/access.log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photos -iname "*.jp*g" | wc -l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-d "2026-09-01" docs/notes_01.txt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docs -mtime +30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docs/notes_01.txt</a:t>
            </a:r>
            <a:endParaRPr lang="tr-TR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508760"/>
          <a:ext cx="44805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880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Sınama</a:t>
                      </a:r>
                      <a:endParaRPr lang="tr-TR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Anlamı</a:t>
                      </a:r>
                      <a:endParaRPr lang="tr-TR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2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-name "*.txt"</a:t>
                      </a:r>
                      <a:endParaRPr lang="tr-TR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eşleşir (joker karakterler tırnakta)</a:t>
                      </a:r>
                      <a:endParaRPr lang="tr-TR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2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-iname</a:t>
                      </a:r>
                      <a:endParaRPr lang="tr-TR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aynısı, harf büyüklüğüne bakmadan</a:t>
                      </a:r>
                      <a:endParaRPr lang="tr-TR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2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-type f / d</a:t>
                      </a:r>
                      <a:endParaRPr lang="tr-TR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dosya / dizin</a:t>
                      </a:r>
                      <a:endParaRPr lang="tr-TR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2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-size +10k</a:t>
                      </a:r>
                      <a:endParaRPr lang="tr-TR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KiB'tan büyük (-10k: küçük)</a:t>
                      </a:r>
                      <a:endParaRPr lang="tr-TR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2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-mtime +30</a:t>
                      </a:r>
                      <a:endParaRPr lang="tr-TR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günden daha önce değiştirilmiş</a:t>
                      </a:r>
                      <a:endParaRPr lang="tr-TR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250" b="1" dirty="0">
                          <a:solidFill>
                            <a:srgbClr val="3A46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-mtime -1</a:t>
                      </a:r>
                      <a:endParaRPr lang="tr-TR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24 saatte değiştirilmiş</a:t>
                      </a:r>
                      <a:endParaRPr lang="tr-TR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178040" y="4709160"/>
            <a:ext cx="4480560" cy="1554480"/>
          </a:xfrm>
          <a:prstGeom prst="roundRect">
            <a:avLst>
              <a:gd name="adj" fmla="val 352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06640" y="489204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Biçim: find NEREDE SINAMALAR. Birden çok sınama = hepsi sağlanmalı (VE). ls'in aksine find, NEREDE'nin altındaki bütün ağacı dolaşır.</a:t>
            </a:r>
            <a:endParaRPr lang="tr-TR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· XARGS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find'ın Bulduklarıyla İş Yapmak: -exec ve xargs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29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7665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4373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"*.c" -exec wc -l {} \;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./src/hello.c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./projects/beta/src/main.c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./projects/alpha/src/main.c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"*.c" | xargs wc -l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 ./src/hello.c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./projects/beta/src/main.c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./projects/alpha/src/main.c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9 total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docs -name "*.txt" | xargs wc -l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docs/notes_02.txt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15 docs/syllabus.txt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docs/notes_01.txt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docs/notes_03.txt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docs/linux_quotes.txt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wc: docs/final: No such file or directory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wc: report.txt: No such file or directory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23 total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docs -name "*.txt" -print0 | xargs -0 wc -l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docs/notes_02.txt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15 docs/syllabus.txt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docs/notes_01.txt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docs/notes_03.txt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docs/linux_quotes.txt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docs/final report.txt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25 total</a:t>
            </a:r>
            <a:endParaRPr lang="tr-TR" sz="1050" dirty="0"/>
          </a:p>
        </p:txBody>
      </p:sp>
      <p:sp>
        <p:nvSpPr>
          <p:cNvPr id="8" name="Shape 6"/>
          <p:cNvSpPr/>
          <p:nvPr/>
        </p:nvSpPr>
        <p:spPr>
          <a:xfrm>
            <a:off x="7543800" y="1508760"/>
            <a:ext cx="4114800" cy="2788920"/>
          </a:xfrm>
          <a:prstGeom prst="roundRect">
            <a:avLst>
              <a:gd name="adj" fmla="val 19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yol</a:t>
            </a:r>
            <a:endParaRPr lang="tr-T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1488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-exec kmt {} \;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kmt'yi her dosya için bir kez çalıştırır; {} = dosya adı.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xargs kmt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stdin satırlarını ARGÜMANLARA çevirir: tüm adlarla tek bir wc (toplama bakın).</a:t>
            </a:r>
            <a:endParaRPr lang="tr-TR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-print0 | xargs -0</a:t>
            </a: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boşluklu adlar için güvenli.</a:t>
            </a:r>
            <a:endParaRPr lang="tr-TR" sz="1300" dirty="0"/>
          </a:p>
        </p:txBody>
      </p:sp>
      <p:sp>
        <p:nvSpPr>
          <p:cNvPr id="11" name="Shape 9"/>
          <p:cNvSpPr/>
          <p:nvPr/>
        </p:nvSpPr>
        <p:spPr>
          <a:xfrm>
            <a:off x="7543800" y="4480560"/>
            <a:ext cx="4114800" cy="1783080"/>
          </a:xfrm>
          <a:prstGeom prst="roundRect">
            <a:avLst>
              <a:gd name="adj" fmla="val 3077"/>
            </a:avLst>
          </a:prstGeom>
          <a:solidFill>
            <a:srgbClr val="F3D9D6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0" y="4663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</a:t>
            </a:r>
            <a:endParaRPr lang="tr-TR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5120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… -exec rm {} \; ya da … | xargs rm demeden önce aynı satırı rm OLMADAN çalıştırıp listeyi okuyun. rm geri alınamaz.</a:t>
            </a:r>
            <a:endParaRPr lang="tr-TR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Gerçek Veri, Tek Satırlık Yanıtlar</a:t>
            </a:r>
            <a:endParaRPr lang="tr-TR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logs/access.log · logs/system.log · data/students.csv</a:t>
            </a:r>
            <a:endParaRPr lang="tr-T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30</a:t>
            </a:r>
            <a:endParaRPr lang="tr-TR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VERİNİZİ TANIYIN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Hangi Alan Nerede?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31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logs/access.log  —  cut -d" " -fN</a:t>
            </a:r>
            <a:endParaRPr lang="tr-TR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10512"/>
            <a:ext cx="132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-f1</a:t>
            </a:r>
            <a:endParaRPr lang="tr-TR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321468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103120"/>
            <a:ext cx="13214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10.0.1.10</a:t>
            </a:r>
            <a:endParaRPr lang="tr-T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87752"/>
            <a:ext cx="1504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tr-T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935744" y="1810512"/>
            <a:ext cx="341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-f2</a:t>
            </a:r>
            <a:endParaRPr lang="tr-TR" sz="1100" dirty="0"/>
          </a:p>
        </p:txBody>
      </p:sp>
      <p:sp>
        <p:nvSpPr>
          <p:cNvPr id="12" name="Shape 10"/>
          <p:cNvSpPr/>
          <p:nvPr/>
        </p:nvSpPr>
        <p:spPr>
          <a:xfrm>
            <a:off x="1935744" y="2103120"/>
            <a:ext cx="341306" cy="457200"/>
          </a:xfrm>
          <a:prstGeom prst="roundRect">
            <a:avLst>
              <a:gd name="adj" fmla="val 13396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35744" y="2103120"/>
            <a:ext cx="341306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tr-TR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42686" y="1810512"/>
            <a:ext cx="341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-f3</a:t>
            </a:r>
            <a:endParaRPr lang="tr-TR" sz="1100" dirty="0"/>
          </a:p>
        </p:txBody>
      </p:sp>
      <p:sp>
        <p:nvSpPr>
          <p:cNvPr id="15" name="Shape 13"/>
          <p:cNvSpPr/>
          <p:nvPr/>
        </p:nvSpPr>
        <p:spPr>
          <a:xfrm>
            <a:off x="2342686" y="2103120"/>
            <a:ext cx="341306" cy="457200"/>
          </a:xfrm>
          <a:prstGeom prst="roundRect">
            <a:avLst>
              <a:gd name="adj" fmla="val 13396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342686" y="2103120"/>
            <a:ext cx="341306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tr-T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49629" y="1810512"/>
            <a:ext cx="2791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-f4</a:t>
            </a:r>
            <a:endParaRPr lang="tr-TR" sz="1100" dirty="0"/>
          </a:p>
        </p:txBody>
      </p:sp>
      <p:sp>
        <p:nvSpPr>
          <p:cNvPr id="18" name="Shape 16"/>
          <p:cNvSpPr/>
          <p:nvPr/>
        </p:nvSpPr>
        <p:spPr>
          <a:xfrm>
            <a:off x="2749629" y="2103120"/>
            <a:ext cx="2791711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49629" y="2103120"/>
            <a:ext cx="2791711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[12/Oct/2026:08:00:00</a:t>
            </a:r>
            <a:endParaRPr lang="tr-TR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658189" y="2587752"/>
            <a:ext cx="29745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ve saat</a:t>
            </a:r>
            <a:endParaRPr lang="tr-TR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606975" y="1810512"/>
            <a:ext cx="953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-f5</a:t>
            </a:r>
            <a:endParaRPr lang="tr-TR" sz="1100" dirty="0"/>
          </a:p>
        </p:txBody>
      </p:sp>
      <p:sp>
        <p:nvSpPr>
          <p:cNvPr id="22" name="Shape 20"/>
          <p:cNvSpPr/>
          <p:nvPr/>
        </p:nvSpPr>
        <p:spPr>
          <a:xfrm>
            <a:off x="5606975" y="2103120"/>
            <a:ext cx="953908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06975" y="2103120"/>
            <a:ext cx="95390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+0300]</a:t>
            </a:r>
            <a:endParaRPr lang="tr-TR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515535" y="2587752"/>
            <a:ext cx="1136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</a:t>
            </a:r>
            <a:endParaRPr lang="tr-TR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626519" y="1810512"/>
            <a:ext cx="7088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-f6</a:t>
            </a:r>
            <a:endParaRPr lang="tr-TR" sz="1100" dirty="0"/>
          </a:p>
        </p:txBody>
      </p:sp>
      <p:sp>
        <p:nvSpPr>
          <p:cNvPr id="26" name="Shape 24"/>
          <p:cNvSpPr/>
          <p:nvPr/>
        </p:nvSpPr>
        <p:spPr>
          <a:xfrm>
            <a:off x="6626519" y="2103120"/>
            <a:ext cx="708867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26519" y="2103120"/>
            <a:ext cx="708867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</a:t>
            </a:r>
            <a:endParaRPr lang="tr-TR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35079" y="2587752"/>
            <a:ext cx="8917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tr-TR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401022" y="1810512"/>
            <a:ext cx="1566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-f7</a:t>
            </a:r>
            <a:endParaRPr lang="tr-TR" sz="1100" dirty="0"/>
          </a:p>
        </p:txBody>
      </p:sp>
      <p:sp>
        <p:nvSpPr>
          <p:cNvPr id="30" name="Shape 28"/>
          <p:cNvSpPr/>
          <p:nvPr/>
        </p:nvSpPr>
        <p:spPr>
          <a:xfrm>
            <a:off x="7401022" y="2103120"/>
            <a:ext cx="1566509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01022" y="2103120"/>
            <a:ext cx="1566509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/about.html</a:t>
            </a:r>
            <a:endParaRPr lang="tr-TR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309582" y="2587752"/>
            <a:ext cx="1749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</a:t>
            </a:r>
            <a:endParaRPr lang="tr-TR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033166" y="1810512"/>
            <a:ext cx="132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-f8</a:t>
            </a:r>
            <a:endParaRPr lang="tr-TR" sz="1100" dirty="0"/>
          </a:p>
        </p:txBody>
      </p:sp>
      <p:sp>
        <p:nvSpPr>
          <p:cNvPr id="34" name="Shape 32"/>
          <p:cNvSpPr/>
          <p:nvPr/>
        </p:nvSpPr>
        <p:spPr>
          <a:xfrm>
            <a:off x="9033166" y="2103120"/>
            <a:ext cx="1321468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033166" y="2103120"/>
            <a:ext cx="132146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HTTP/1.1"</a:t>
            </a:r>
            <a:endParaRPr lang="tr-TR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941726" y="2587752"/>
            <a:ext cx="1504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</a:t>
            </a:r>
            <a:endParaRPr lang="tr-TR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420270" y="1810512"/>
            <a:ext cx="586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-f9</a:t>
            </a:r>
            <a:endParaRPr lang="tr-TR" sz="1100" dirty="0"/>
          </a:p>
        </p:txBody>
      </p:sp>
      <p:sp>
        <p:nvSpPr>
          <p:cNvPr id="38" name="Shape 36"/>
          <p:cNvSpPr/>
          <p:nvPr/>
        </p:nvSpPr>
        <p:spPr>
          <a:xfrm>
            <a:off x="10420270" y="2103120"/>
            <a:ext cx="586347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420270" y="2103120"/>
            <a:ext cx="586347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tr-TR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328830" y="2587752"/>
            <a:ext cx="769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</a:t>
            </a:r>
            <a:endParaRPr lang="tr-TR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1072253" y="1810512"/>
            <a:ext cx="586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-f10</a:t>
            </a:r>
            <a:endParaRPr lang="tr-TR" sz="1100" dirty="0"/>
          </a:p>
        </p:txBody>
      </p:sp>
      <p:sp>
        <p:nvSpPr>
          <p:cNvPr id="42" name="Shape 40"/>
          <p:cNvSpPr/>
          <p:nvPr/>
        </p:nvSpPr>
        <p:spPr>
          <a:xfrm>
            <a:off x="11072253" y="2103120"/>
            <a:ext cx="586347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1072253" y="2103120"/>
            <a:ext cx="586347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442</a:t>
            </a:r>
            <a:endParaRPr lang="tr-TR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980813" y="2587752"/>
            <a:ext cx="769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bayt</a:t>
            </a:r>
            <a:endParaRPr lang="tr-TR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logs/system.log  —  sabit sütunlar: cut -cA-B</a:t>
            </a:r>
            <a:endParaRPr lang="tr-TR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3410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-c1-10</a:t>
            </a:r>
            <a:endParaRPr lang="tr-TR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370332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4864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2026-10-12</a:t>
            </a:r>
            <a:endParaRPr lang="tr-TR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</a:t>
            </a:r>
            <a:endParaRPr lang="tr-TR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2103120" y="34107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-c12-19</a:t>
            </a:r>
            <a:endParaRPr lang="tr-TR" sz="1100" dirty="0"/>
          </a:p>
        </p:txBody>
      </p:sp>
      <p:sp>
        <p:nvSpPr>
          <p:cNvPr id="51" name="Shape 49"/>
          <p:cNvSpPr/>
          <p:nvPr/>
        </p:nvSpPr>
        <p:spPr>
          <a:xfrm>
            <a:off x="2103120" y="3703320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210312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09:11:00</a:t>
            </a:r>
            <a:endParaRPr lang="tr-TR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2103120" y="4187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(saat: 12-13)</a:t>
            </a:r>
            <a:endParaRPr lang="tr-TR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3794760" y="34107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-c21-25</a:t>
            </a:r>
            <a:endParaRPr lang="tr-TR" sz="1100" dirty="0"/>
          </a:p>
        </p:txBody>
      </p:sp>
      <p:sp>
        <p:nvSpPr>
          <p:cNvPr id="55" name="Shape 53"/>
          <p:cNvSpPr/>
          <p:nvPr/>
        </p:nvSpPr>
        <p:spPr>
          <a:xfrm>
            <a:off x="3794760" y="3703320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794760" y="3703320"/>
            <a:ext cx="10515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 </a:t>
            </a:r>
            <a:endParaRPr lang="tr-TR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3794760" y="4187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düzey</a:t>
            </a:r>
            <a:endParaRPr lang="tr-TR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4937760" y="34107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-c27-</a:t>
            </a:r>
            <a:endParaRPr lang="tr-TR" sz="1100" dirty="0"/>
          </a:p>
        </p:txBody>
      </p:sp>
      <p:sp>
        <p:nvSpPr>
          <p:cNvPr id="59" name="Shape 57"/>
          <p:cNvSpPr/>
          <p:nvPr/>
        </p:nvSpPr>
        <p:spPr>
          <a:xfrm>
            <a:off x="4937760" y="370332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937760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memory usage</a:t>
            </a:r>
            <a:endParaRPr lang="tr-TR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4937760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ileti</a:t>
            </a:r>
            <a:endParaRPr lang="tr-TR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data/students.csv  —  cut -d, -fN  (1. satır başlıktır!)</a:t>
            </a:r>
            <a:endParaRPr lang="tr-TR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4965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-f1</a:t>
            </a:r>
            <a:endParaRPr lang="tr-TR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52578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548640" y="5257800"/>
            <a:ext cx="14630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2026001</a:t>
            </a:r>
            <a:endParaRPr lang="tr-TR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548640" y="5742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numara</a:t>
            </a:r>
            <a:endParaRPr lang="tr-TR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2103120" y="4965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-f2</a:t>
            </a:r>
            <a:endParaRPr lang="tr-TR" sz="1100" dirty="0"/>
          </a:p>
        </p:txBody>
      </p:sp>
      <p:sp>
        <p:nvSpPr>
          <p:cNvPr id="68" name="Shape 66"/>
          <p:cNvSpPr/>
          <p:nvPr/>
        </p:nvSpPr>
        <p:spPr>
          <a:xfrm>
            <a:off x="2103120" y="52578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210312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Yilmaz</a:t>
            </a:r>
            <a:endParaRPr lang="tr-TR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2103120" y="5742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tr-TR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4206240" y="4965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-f3</a:t>
            </a:r>
            <a:endParaRPr lang="tr-TR" sz="1100" dirty="0"/>
          </a:p>
        </p:txBody>
      </p:sp>
      <p:sp>
        <p:nvSpPr>
          <p:cNvPr id="72" name="Shape 70"/>
          <p:cNvSpPr/>
          <p:nvPr/>
        </p:nvSpPr>
        <p:spPr>
          <a:xfrm>
            <a:off x="4206240" y="525780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206240" y="525780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ECT</a:t>
            </a:r>
            <a:endParaRPr lang="tr-TR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4206240" y="5742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</a:t>
            </a:r>
            <a:endParaRPr lang="tr-TR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5577840" y="4965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-f4</a:t>
            </a:r>
            <a:endParaRPr lang="tr-TR" sz="1100" dirty="0"/>
          </a:p>
        </p:txBody>
      </p:sp>
      <p:sp>
        <p:nvSpPr>
          <p:cNvPr id="76" name="Shape 74"/>
          <p:cNvSpPr/>
          <p:nvPr/>
        </p:nvSpPr>
        <p:spPr>
          <a:xfrm>
            <a:off x="5577840" y="525780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5577840" y="525780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</a:t>
            </a:r>
            <a:endParaRPr lang="tr-TR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5577840" y="5742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vize</a:t>
            </a:r>
            <a:endParaRPr lang="tr-TR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6949440" y="4965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-f5</a:t>
            </a:r>
            <a:endParaRPr lang="tr-TR" sz="1100" dirty="0"/>
          </a:p>
        </p:txBody>
      </p:sp>
      <p:sp>
        <p:nvSpPr>
          <p:cNvPr id="80" name="Shape 78"/>
          <p:cNvSpPr/>
          <p:nvPr/>
        </p:nvSpPr>
        <p:spPr>
          <a:xfrm>
            <a:off x="6949440" y="525780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6949440" y="525780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endParaRPr lang="tr-TR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6949440" y="5742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sz="105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tr-TR" sz="1050" dirty="0"/>
          </a:p>
        </p:txBody>
      </p:sp>
      <p:sp>
        <p:nvSpPr>
          <p:cNvPr id="83" name="Shape 81"/>
          <p:cNvSpPr/>
          <p:nvPr/>
        </p:nvSpPr>
        <p:spPr>
          <a:xfrm>
            <a:off x="8412480" y="3063240"/>
            <a:ext cx="3246120" cy="3200400"/>
          </a:xfrm>
          <a:prstGeom prst="roundRect">
            <a:avLst>
              <a:gd name="adj" fmla="val 171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4" name="Text 82"/>
          <p:cNvSpPr txBox="1"/>
          <p:nvPr/>
        </p:nvSpPr>
        <p:spPr>
          <a:xfrm>
            <a:off x="8641080" y="32461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boru hattından önce</a:t>
            </a:r>
            <a:endParaRPr lang="tr-TR" sz="1500" dirty="0"/>
          </a:p>
        </p:txBody>
      </p:sp>
      <p:sp>
        <p:nvSpPr>
          <p:cNvPr id="85" name="Text 83"/>
          <p:cNvSpPr txBox="1"/>
          <p:nvPr/>
        </p:nvSpPr>
        <p:spPr>
          <a:xfrm>
            <a:off x="8641080" y="3703320"/>
            <a:ext cx="2788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Dosyaya head -n 3 ile bakın.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Ayırıcıyı bulun: boşluk, virgül, sabit sütunlar?</a:t>
            </a:r>
            <a:endParaRPr lang="tr-TR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tr-TR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Alanları 1'den sayın.</a:t>
            </a:r>
            <a:endParaRPr lang="tr-TR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Boru Hattını Her Seferinde Bir Aşama Ekleyerek Kurun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32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04088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671169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-f9 logs/access.log | head -n 3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-f9 logs/access.log | sort | head -n 3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-f9 logs/access.log | sort | uniq -c | sort -rn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148 200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57 404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34 304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24 500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20 301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17 403</a:t>
            </a:r>
            <a:endParaRPr lang="tr-TR" sz="1050" dirty="0"/>
          </a:p>
        </p:txBody>
      </p:sp>
      <p:sp>
        <p:nvSpPr>
          <p:cNvPr id="8" name="Shape 6"/>
          <p:cNvSpPr/>
          <p:nvPr/>
        </p:nvSpPr>
        <p:spPr>
          <a:xfrm>
            <a:off x="7818120" y="1508760"/>
            <a:ext cx="548640" cy="1024128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18120" y="1508760"/>
            <a:ext cx="548640" cy="10241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tr-TR" sz="2000" dirty="0"/>
          </a:p>
        </p:txBody>
      </p:sp>
      <p:sp>
        <p:nvSpPr>
          <p:cNvPr id="10" name="Shape 8"/>
          <p:cNvSpPr/>
          <p:nvPr/>
        </p:nvSpPr>
        <p:spPr>
          <a:xfrm>
            <a:off x="8458200" y="1508760"/>
            <a:ext cx="3200400" cy="1024128"/>
          </a:xfrm>
          <a:prstGeom prst="roundRect">
            <a:avLst>
              <a:gd name="adj" fmla="val 53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0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Çıkar</a:t>
            </a:r>
            <a:endParaRPr lang="tr-TR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21488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gereken sütunu cut ile alın; head ile denetleyin.</a:t>
            </a:r>
            <a:endParaRPr lang="tr-TR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2715768"/>
            <a:ext cx="548640" cy="1024128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18120" y="2715768"/>
            <a:ext cx="548640" cy="10241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tr-TR" sz="2000" dirty="0"/>
          </a:p>
        </p:txBody>
      </p:sp>
      <p:sp>
        <p:nvSpPr>
          <p:cNvPr id="15" name="Shape 13"/>
          <p:cNvSpPr/>
          <p:nvPr/>
        </p:nvSpPr>
        <p:spPr>
          <a:xfrm>
            <a:off x="8458200" y="2715768"/>
            <a:ext cx="3200400" cy="1024128"/>
          </a:xfrm>
          <a:prstGeom prst="roundRect">
            <a:avLst>
              <a:gd name="adj" fmla="val 53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0" y="2898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Grupla</a:t>
            </a:r>
            <a:endParaRPr lang="tr-T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33558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eşit değerleri bir araya getirir.</a:t>
            </a:r>
            <a:endParaRPr lang="tr-TR" sz="1300" dirty="0"/>
          </a:p>
        </p:txBody>
      </p:sp>
      <p:sp>
        <p:nvSpPr>
          <p:cNvPr id="18" name="Shape 16"/>
          <p:cNvSpPr/>
          <p:nvPr/>
        </p:nvSpPr>
        <p:spPr>
          <a:xfrm>
            <a:off x="7818120" y="3922776"/>
            <a:ext cx="548640" cy="1024128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18120" y="3922776"/>
            <a:ext cx="548640" cy="10241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tr-TR" sz="2000" dirty="0"/>
          </a:p>
        </p:txBody>
      </p:sp>
      <p:sp>
        <p:nvSpPr>
          <p:cNvPr id="20" name="Shape 18"/>
          <p:cNvSpPr/>
          <p:nvPr/>
        </p:nvSpPr>
        <p:spPr>
          <a:xfrm>
            <a:off x="8458200" y="3922776"/>
            <a:ext cx="3200400" cy="1024128"/>
          </a:xfrm>
          <a:prstGeom prst="roundRect">
            <a:avLst>
              <a:gd name="adj" fmla="val 53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0" y="4105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</a:t>
            </a:r>
            <a:endParaRPr lang="tr-TR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456285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 -c her grubu sayar.</a:t>
            </a:r>
            <a:endParaRPr lang="tr-TR" sz="1300" dirty="0"/>
          </a:p>
        </p:txBody>
      </p:sp>
      <p:sp>
        <p:nvSpPr>
          <p:cNvPr id="23" name="Shape 21"/>
          <p:cNvSpPr/>
          <p:nvPr/>
        </p:nvSpPr>
        <p:spPr>
          <a:xfrm>
            <a:off x="7818120" y="5129784"/>
            <a:ext cx="548640" cy="1024128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8120" y="5129784"/>
            <a:ext cx="548640" cy="10241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tr-TR" sz="2000" dirty="0"/>
          </a:p>
        </p:txBody>
      </p:sp>
      <p:sp>
        <p:nvSpPr>
          <p:cNvPr id="25" name="Shape 23"/>
          <p:cNvSpPr/>
          <p:nvPr/>
        </p:nvSpPr>
        <p:spPr>
          <a:xfrm>
            <a:off x="8458200" y="5129784"/>
            <a:ext cx="3200400" cy="1024128"/>
          </a:xfrm>
          <a:prstGeom prst="roundRect">
            <a:avLst>
              <a:gd name="adj" fmla="val 53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0" y="53126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Sırala</a:t>
            </a:r>
            <a:endParaRPr lang="tr-TR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576986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-rn: en büyük sayı önce; ilk N için head -n N.</a:t>
            </a:r>
            <a:endParaRPr lang="tr-TR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 · ACCESS.LOG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Çok İstenen Sayfalar, En Sık Ziyaretçiler, Kırık Bağlantılar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33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1078077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-f7 logs/access.log | sort | uniq -c | sort -rn | head -n 5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41 /courses/mcmp117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37 /about.html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33 /index.html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33 /images/logo.png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32 /api/grades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-d" " -f1 logs/access.log | sort | uniq -c | sort -rn | head -n 3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58 10.0.2.17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56 10.0.4.31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52 10.0.6.45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 404 " logs/access.log | cut -d" " -f7 | sort | uniq -c | sort -rn | head -n 3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9 /images/logo.png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 /index.html</a:t>
            </a:r>
            <a:endParaRPr lang="tr-TR" sz="12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2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7 /about.html</a:t>
            </a:r>
            <a:endParaRPr lang="tr-TR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 · SYSTEM.LOG VE STUDENTS.CSV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 Başına Hatalar, Uyarılar, Bölümler, En İyi Finaller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34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2514600"/>
          </a:xfrm>
          <a:prstGeom prst="roundRect">
            <a:avLst>
              <a:gd name="adj" fmla="val 1818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107807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-c ERROR logs/system.log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ERROR logs/system.log | cut -c12-13 | uniq -c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3 09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4 10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1 12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3 13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2 14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WARN logs/system.log | cut -c27- | sort | uniq -c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11 high memory usage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17 temperature 71C</a:t>
            </a:r>
            <a:endParaRPr lang="tr-TR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1109960" cy="2057400"/>
          </a:xfrm>
          <a:prstGeom prst="roundRect">
            <a:avLst>
              <a:gd name="adj" fmla="val 2222"/>
            </a:avLst>
          </a:prstGeom>
          <a:solidFill>
            <a:srgbClr val="21212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4297680"/>
            <a:ext cx="107807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-n +2 data/students.csv | cut -d, -f3 | sort | uniq -c | sort -rn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17 ECT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11 ME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10 CS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 EE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-n +2 data/students.csv | sort -t, -k5 -nr | head -n 3 | cut -d, -f2,3,5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Onur Dogan,ME,100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Yilmaz,ECT,99</a:t>
            </a:r>
            <a:endParaRPr lang="tr-TR" sz="110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10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Emre Dogan,ME,98</a:t>
            </a:r>
            <a:endParaRPr lang="tr-TR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SINIF İÇİ LAB · 1 / 2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Yönlendirme ve grep (A ve B bölümleri)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35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09928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09928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tr-TR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5087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dizininin dosya listesini list.txt'ye kaydedin, sonra docs/ listesini ekleyin. Kaç satır?</a:t>
            </a:r>
            <a:endParaRPr lang="tr-TR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709928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1709928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tr-TR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5087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data nosuch komutunu, liste ok.txt'ye, hata err.txt'ye gidecek şekilde çalıştırın.</a:t>
            </a:r>
            <a:endParaRPr lang="tr-TR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15768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916936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916936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tr-T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2715768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logs/system.log'un yalnızca satır sayısını yazdırın — dosya adı olmadan.</a:t>
            </a:r>
            <a:endParaRPr lang="tr-TR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715768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2916936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2916936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A5</a:t>
            </a:r>
            <a:endParaRPr lang="tr-TR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715768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. -name "*.md" okuyamadığınız bir klasör için yakınıyor. Yalnızca hataları gizleyin.</a:t>
            </a:r>
            <a:endParaRPr lang="tr-TR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22776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123944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123944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</a:t>
            </a:r>
            <a:endParaRPr lang="tr-TR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922776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system.log'un INFO OLMAYAN ilk 3 satırını satır numaralarıyla gösterin.</a:t>
            </a:r>
            <a:endParaRPr lang="tr-TR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3922776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5080" y="4123944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4123944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</a:t>
            </a:r>
            <a:endParaRPr lang="tr-TR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922776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access.log'daki kaç istek 404 durumunu aldı?</a:t>
            </a:r>
            <a:endParaRPr lang="tr-TR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129784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5330952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5330952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B4</a:t>
            </a:r>
            <a:endParaRPr lang="tr-TR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129784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öğrenciler EE bölümünde?</a:t>
            </a:r>
            <a:endParaRPr lang="tr-TR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5129784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5330952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5080" y="5330952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B5</a:t>
            </a:r>
            <a:endParaRPr lang="tr-TR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5129784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10.0.5.38 adresinden kaç istek geldi? (Noktalara dikkat!)</a:t>
            </a:r>
            <a:endParaRPr lang="tr-TR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SINIF İÇİ LAB · 2 / 2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Tek Satırlık Boru Hatları (C ve D bölümleri)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36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09928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09928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tr-TR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5087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bölümde kaç öğrenci var?</a:t>
            </a:r>
            <a:endParaRPr lang="tr-TR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709928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1709928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tr-TR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508760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notuna göre ilk 3 öğrencinin adları ve final notları.</a:t>
            </a:r>
            <a:endParaRPr lang="tr-TR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15768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916936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916936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tr-T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2715768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sitesinin en çok istenen 3 sayfası.</a:t>
            </a:r>
            <a:endParaRPr lang="tr-TR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715768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2916936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2916936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tr-TR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715768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404 hatasını hangi sayfa üretti?</a:t>
            </a:r>
            <a:endParaRPr lang="tr-TR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22776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123944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123944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C6</a:t>
            </a:r>
            <a:endParaRPr lang="tr-TR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922776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system.log her saatte kaç ERROR satırı içeriyor?</a:t>
            </a:r>
            <a:endParaRPr lang="tr-TR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3922776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5080" y="4123944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4123944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</a:t>
            </a:r>
            <a:endParaRPr lang="tr-TR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922776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students.csv'de hangi öğrenci adları birden çok kez geçiyor?</a:t>
            </a:r>
            <a:endParaRPr lang="tr-TR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129784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5330952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5330952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</a:t>
            </a:r>
            <a:endParaRPr lang="tr-TR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129784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500 durumlu satırları errors_500.txt'ye kaydedin VE kaç tane olduklarını yazdırın — tek satırda.</a:t>
            </a:r>
            <a:endParaRPr lang="tr-TR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5129784"/>
            <a:ext cx="5440680" cy="1024128"/>
          </a:xfrm>
          <a:prstGeom prst="roundRect">
            <a:avLst>
              <a:gd name="adj" fmla="val 4464"/>
            </a:avLst>
          </a:prstGeom>
          <a:solidFill>
            <a:srgbClr val="F2F2F2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5330952"/>
            <a:ext cx="685800" cy="621792"/>
          </a:xfrm>
          <a:prstGeom prst="roundRect">
            <a:avLst>
              <a:gd name="adj" fmla="val 7353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5080" y="5330952"/>
            <a:ext cx="68580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D4</a:t>
            </a:r>
            <a:endParaRPr lang="tr-TR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5129784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Siteyi kaç farklı IP adresi ziyaret etti? En az isteği hangisi yaptı?</a:t>
            </a:r>
            <a:endParaRPr lang="tr-TR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 YAPILAN HATALAR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Herkesin Bir Kez Yaptığı Altı Hata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37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479145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data/cities.txt c.txt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c.txt &gt; c.txt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c.txt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c.txt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user login logs/system.log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grep: login: No such file or directory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logs/system.log:2026-10-12 09:44:00 INFO  user login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 &gt; wc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README.txt  c.txt  docs  photos    scripts  wc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     data   logs  projects  src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student@okan-lab:~/lab$ </a:t>
            </a:r>
            <a:r>
              <a:rPr lang="tr-TR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-t, -k5 -n data/students.csv | head -n 2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id,name,department,midterm,final</a:t>
            </a:r>
            <a:endParaRPr lang="tr-TR" sz="1050" dirty="0"/>
          </a:p>
          <a:p>
            <a:pPr indent="0" marL="0">
              <a:lnSpc>
                <a:spcPct val="102000"/>
              </a:lnSpc>
              <a:buNone/>
            </a:pPr>
            <a:r>
              <a:rPr lang="tr-TR" sz="1050" dirty="0">
                <a:solidFill>
                  <a:srgbClr val="D0D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2026032,Onur Dogan,ECT,41,35</a:t>
            </a:r>
            <a:endParaRPr lang="tr-TR" sz="1050" dirty="0"/>
          </a:p>
        </p:txBody>
      </p:sp>
      <p:sp>
        <p:nvSpPr>
          <p:cNvPr id="8" name="Shape 6"/>
          <p:cNvSpPr/>
          <p:nvPr/>
        </p:nvSpPr>
        <p:spPr>
          <a:xfrm>
            <a:off x="5897880" y="1508760"/>
            <a:ext cx="28803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126480" y="1691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5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f &gt; f</a:t>
            </a:r>
            <a:endParaRPr lang="tr-TR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148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Kabuk f'yi sort okumadan ÖNCE boşaltır: 0 satır. Yeni dosyaya yazın, sonra mv.</a:t>
            </a:r>
            <a:endParaRPr lang="tr-TR" sz="1250" dirty="0"/>
          </a:p>
        </p:txBody>
      </p:sp>
      <p:sp>
        <p:nvSpPr>
          <p:cNvPr id="11" name="Shape 9"/>
          <p:cNvSpPr/>
          <p:nvPr/>
        </p:nvSpPr>
        <p:spPr>
          <a:xfrm>
            <a:off x="8915400" y="1508760"/>
            <a:ext cx="28803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0" y="1691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5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grep user login f</a:t>
            </a:r>
            <a:endParaRPr lang="tr-TR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2148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Tırnaksız: grep "user"ı login adlı bir dosyada arar. "user login" yazın.</a:t>
            </a:r>
            <a:endParaRPr lang="tr-TR" sz="1250" dirty="0"/>
          </a:p>
        </p:txBody>
      </p:sp>
      <p:sp>
        <p:nvSpPr>
          <p:cNvPr id="14" name="Shape 12"/>
          <p:cNvSpPr/>
          <p:nvPr/>
        </p:nvSpPr>
        <p:spPr>
          <a:xfrm>
            <a:off x="5897880" y="3154680"/>
            <a:ext cx="28803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26480" y="33375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5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 data &gt; wc</a:t>
            </a:r>
            <a:endParaRPr lang="tr-TR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7947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| değildir. Bu, wc adlı bir dosya oluşturur. ls data | wc -l yazın.</a:t>
            </a:r>
            <a:endParaRPr lang="tr-TR" sz="1250" dirty="0"/>
          </a:p>
        </p:txBody>
      </p:sp>
      <p:sp>
        <p:nvSpPr>
          <p:cNvPr id="17" name="Shape 15"/>
          <p:cNvSpPr/>
          <p:nvPr/>
        </p:nvSpPr>
        <p:spPr>
          <a:xfrm>
            <a:off x="8915400" y="3154680"/>
            <a:ext cx="28803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0" y="33375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5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Başlık satırı</a:t>
            </a:r>
            <a:endParaRPr lang="tr-TR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37947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"id,name,…" -n ile 0 gibi sıralanır. Atlayın: tail -n +2.</a:t>
            </a:r>
            <a:endParaRPr lang="tr-TR" sz="1250" dirty="0"/>
          </a:p>
        </p:txBody>
      </p:sp>
      <p:sp>
        <p:nvSpPr>
          <p:cNvPr id="20" name="Shape 18"/>
          <p:cNvSpPr/>
          <p:nvPr/>
        </p:nvSpPr>
        <p:spPr>
          <a:xfrm>
            <a:off x="5897880" y="4800600"/>
            <a:ext cx="28803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126480" y="49834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5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sort'suz uniq</a:t>
            </a:r>
            <a:endParaRPr lang="tr-TR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5440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bitişik tekrarları sayar. sort | uniq -c kullanın.</a:t>
            </a:r>
            <a:endParaRPr lang="tr-TR" sz="1250" dirty="0"/>
          </a:p>
        </p:txBody>
      </p:sp>
      <p:sp>
        <p:nvSpPr>
          <p:cNvPr id="23" name="Shape 21"/>
          <p:cNvSpPr/>
          <p:nvPr/>
        </p:nvSpPr>
        <p:spPr>
          <a:xfrm>
            <a:off x="8915400" y="4800600"/>
            <a:ext cx="288036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0" y="49834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5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2&gt;&amp;1 &gt; f</a:t>
            </a:r>
            <a:endParaRPr lang="tr-TR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5440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 soldan sağadır: hata ekranda kalır. &gt; f 2&gt;&amp;1 yazın.</a:t>
            </a:r>
            <a:endParaRPr lang="tr-TR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SINAV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Kendinizi Sınayın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38</a:t>
            </a:r>
            <a:endParaRPr lang="tr-TR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0794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8079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tr-TR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508760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kmt &gt; out.txt 2&gt;&amp;1  ile  kmt 2&gt;&amp;1 &gt; out.txt  arasındaki fark nedir?</a:t>
            </a:r>
            <a:endParaRPr lang="tr-TR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019806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01980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tr-TR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747772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Antalya 6 kez geçtiği hâlde  uniq -c data/cities.txt  neden "1 Antalya" bildirir? Düzeltin.</a:t>
            </a:r>
            <a:endParaRPr lang="tr-TR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58818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5881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tr-TR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86784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logs/access.log'da en çok istek yapan 3 IP adresini yazdıran bir boru hattı yazın.</a:t>
            </a:r>
            <a:endParaRPr lang="tr-TR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225796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497830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49783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tr-TR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225796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Kabuk  grep ERROR logs/system.log | wc -l  komutunu çalıştırmak için hangi sistem çağrılarını kullanır?</a:t>
            </a:r>
            <a:endParaRPr lang="tr-TR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TOPARLAMA</a:t>
            </a:r>
            <a:endParaRPr lang="tr-TR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Hafta: Akılda Kalması Gerekenler</a:t>
            </a:r>
            <a:endParaRPr lang="tr-T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39</a:t>
            </a:r>
            <a:endParaRPr lang="tr-TR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tr-TR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akışlar:</a:t>
            </a:r>
            <a:r>
              <a:rPr lang="tr-TR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süreç fd 0 (stdin), 1 (stdout), 2 (stderr) ile başlar — 2–3. haftalarda izlediğimiz aynı write(1, …).</a:t>
            </a:r>
            <a:endParaRPr lang="tr-TR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tr-TR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Yönlendirme:</a:t>
            </a:r>
            <a:r>
              <a:rPr lang="tr-TR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&gt;&gt; &lt; 2&gt; 2&gt;&amp;1 &amp;&gt; /dev/null. Kabuk dosyayı açar ve fork() ile exec() arasında dup2() kullanır; program bunu hiç bilmez.</a:t>
            </a:r>
            <a:endParaRPr lang="tr-TR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tr-TR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Sıra:</a:t>
            </a:r>
            <a:r>
              <a:rPr lang="tr-TR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yönlendirmeler soldan sağa uygulanır: &gt; f 2&gt;&amp;1 iki akışı da yakalar, 2&gt;&amp;1 &gt; f yakalamaz.</a:t>
            </a:r>
            <a:endParaRPr lang="tr-TR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tr-TR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Borular:</a:t>
            </a:r>
            <a:r>
              <a:rPr lang="tr-TR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kmt1 | kmt2 iki süreci eşzamanlı çalıştırır; aralarında bir çekirdek tamponu vardır (sınırlı tampon, 5. hafta).</a:t>
            </a:r>
            <a:endParaRPr lang="tr-TR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tr-TR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Filtreler:</a:t>
            </a:r>
            <a:r>
              <a:rPr lang="tr-TR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grep (-i -n -v -c -w -r, ^ $ . [ ] *), sort (-n -r -t -k), uniq (-c -d, sort'tan sonra), cut, wc, tr, head, tail, tee.</a:t>
            </a:r>
            <a:endParaRPr lang="tr-TR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tr-TR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+ xargs:</a:t>
            </a:r>
            <a:r>
              <a:rPr lang="tr-TR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ağaçta ad, tür, boyut ve yaşa göre arama; boşluklu adlar için -print0 | xargs -0.</a:t>
            </a:r>
            <a:endParaRPr lang="tr-TR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tr-TR" sz="19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Yöntem:</a:t>
            </a:r>
            <a:r>
              <a:rPr lang="tr-TR" sz="19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çıkar → sort → uniq -c → sort -rn → head; her seferinde bir aşama.</a:t>
            </a:r>
            <a:endParaRPr lang="tr-TR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Süreçler ve İş Denetimi (13. hafta)</a:t>
            </a:r>
            <a:endParaRPr lang="tr-TR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7680960" cy="2926080"/>
          </a:xfrm>
          <a:prstGeom prst="roundRect">
            <a:avLst>
              <a:gd name="adj" fmla="val 1875"/>
            </a:avLst>
          </a:prstGeom>
          <a:solidFill>
            <a:srgbClr val="3645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017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haftanın konuları:</a:t>
            </a:r>
            <a:endParaRPr lang="tr-T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tr-TR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ps, pstree, top: süreçleri, PID'leri ve durumları izlemek (3. hafta)</a:t>
            </a:r>
            <a:endParaRPr lang="tr-TR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tr-TR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plan ve arka plan: &amp;, jobs, fg, bg, Ctrl+Z, Ctrl+C</a:t>
            </a:r>
            <a:endParaRPr lang="tr-TR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tr-TR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Sinyaller: kill, SIGTERM ile SIGKILL — ve yes | head neden durur?</a:t>
            </a:r>
            <a:endParaRPr lang="tr-TR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tr-TR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ve renice: süreç önceliği (5. hafta)</a:t>
            </a:r>
            <a:endParaRPr lang="tr-TR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tr-TR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gözünüzle görebileceğiniz bir zombi süreç</a:t>
            </a:r>
            <a:endParaRPr lang="tr-T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40</a:t>
            </a:r>
            <a:endParaRPr lang="tr-TR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SORULAR?</a:t>
            </a:r>
            <a:endParaRPr lang="tr-TR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Tartışma</a:t>
            </a:r>
            <a:endParaRPr lang="tr-TR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Dersten sonra sorularınız olursa dersin Telegram kanalında sorun — yanıttan herkes yararlanır.</a:t>
            </a:r>
            <a:endParaRPr lang="tr-TR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108960" y="3703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r-TR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Hasan Oğuz</a:t>
            </a:r>
            <a:endParaRPr lang="tr-TR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MBLP131 — İşletim Sistemleri Temelleri</a:t>
            </a:r>
            <a:endParaRPr lang="tr-TR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tr-TR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 ·  41</a:t>
            </a:r>
            <a:endParaRPr lang="tr-T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MBLP131 Hafta 12</dc:title>
  <dc:subject>PptxGenJS Presentation</dc:subject>
  <dc:creator>PptxGenJS</dc:creator>
  <cp:lastModifiedBy>PptxGenJS</cp:lastModifiedBy>
  <cp:revision>1</cp:revision>
  <dcterms:created xsi:type="dcterms:W3CDTF">2026-10-12T17:57:58Z</dcterms:created>
  <dcterms:modified xsi:type="dcterms:W3CDTF">2026-10-12T17:57:58Z</dcterms:modified>
</cp:coreProperties>
</file>