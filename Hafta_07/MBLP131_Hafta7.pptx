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İşlemci kullanımı</c:v>
                </c:pt>
              </c:strCache>
            </c:strRef>
          </c:tx>
          <c:spPr>
            <a:solidFill>
              <a:srgbClr val="028090"/>
            </a:solidFill>
            <a:ln w="38100" cap="flat">
              <a:solidFill>
                <a:srgbClr val="02809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28090"/>
              </a:solidFill>
              <a:ln w="9525" cap="flat">
                <a:solidFill>
                  <a:srgbClr val="028090"/>
                </a:solidFill>
                <a:prstDash val="solid"/>
                <a:round/>
              </a:ln>
              <a:effectLst/>
            </c:spPr>
          </c:marker>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Sheet1!$B$2:$B$13</c:f>
              <c:numCache>
                <c:formatCode>General</c:formatCode>
                <c:ptCount val="12"/>
                <c:pt idx="0">
                  <c:v>18</c:v>
                </c:pt>
                <c:pt idx="1">
                  <c:v>34</c:v>
                </c:pt>
                <c:pt idx="2">
                  <c:v>48</c:v>
                </c:pt>
                <c:pt idx="3">
                  <c:v>60</c:v>
                </c:pt>
                <c:pt idx="4">
                  <c:v>70</c:v>
                </c:pt>
                <c:pt idx="5">
                  <c:v>77</c:v>
                </c:pt>
                <c:pt idx="6">
                  <c:v>82</c:v>
                </c:pt>
                <c:pt idx="7">
                  <c:v>84</c:v>
                </c:pt>
                <c:pt idx="8">
                  <c:v>76</c:v>
                </c:pt>
                <c:pt idx="9">
                  <c:v>55</c:v>
                </c:pt>
                <c:pt idx="10">
                  <c:v>30</c:v>
                </c:pt>
                <c:pt idx="11">
                  <c:v>14</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3A464C"/>
                    </a:solidFill>
                    <a:latin typeface="Arial"/>
                  </a:defRPr>
                </a:pPr>
                <a:r>
                  <a:rPr sz="1200" b="0" i="0" u="none" strike="noStrike">
                    <a:solidFill>
                      <a:srgbClr val="3A464C"/>
                    </a:solidFill>
                    <a:latin typeface="Arial"/>
                  </a:rPr>
                  <a:t>çoklu programlama derecesi →</a:t>
                </a:r>
              </a:p>
            </c:rich>
          </c:tx>
          <c:layout/>
          <c:overlay val="0"/>
        </c:title>
        <c:numFmt formatCode="General" sourceLinked="1"/>
        <c:majorTickMark val="out"/>
        <c:minorTickMark val="none"/>
        <c:tickLblPos val="low"/>
        <c:spPr>
          <a:ln w="12700" cap="flat">
            <a:solidFill>
              <a:srgbClr val="36454F"/>
            </a:solidFill>
            <a:prstDash val="solid"/>
            <a:round/>
          </a:ln>
        </c:spPr>
        <c:txPr>
          <a:bodyPr/>
          <a:lstStyle/>
          <a:p>
            <a:pPr>
              <a:defRPr sz="8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title>
          <c:tx>
            <c:rich>
              <a:bodyPr/>
              <a:lstStyle/>
              <a:p>
                <a:pPr>
                  <a:defRPr sz="1200" b="0" i="0" u="none" strike="noStrike">
                    <a:solidFill>
                      <a:srgbClr val="3A464C"/>
                    </a:solidFill>
                    <a:latin typeface="Arial"/>
                  </a:defRPr>
                </a:pPr>
                <a:r>
                  <a:rPr sz="1200" b="0" i="0" u="none" strike="noStrike">
                    <a:solidFill>
                      <a:srgbClr val="3A464C"/>
                    </a:solidFill>
                    <a:latin typeface="Arial"/>
                  </a:rPr>
                  <a:t>İşlemci kullanımı</a:t>
                </a:r>
              </a:p>
            </c:rich>
          </c:tx>
          <c:layout/>
          <c:overlay val="0"/>
        </c:title>
        <c:numFmt formatCode="General" sourceLinked="0"/>
        <c:majorTickMark val="out"/>
        <c:minorTickMark val="none"/>
        <c:tickLblPos val="nextTo"/>
        <c:spPr>
          <a:ln w="12700" cap="flat">
            <a:solidFill>
              <a:srgbClr val="36454F"/>
            </a:solidFill>
            <a:prstDash val="solid"/>
            <a:round/>
          </a:ln>
        </c:spPr>
        <c:txPr>
          <a:bodyPr/>
          <a:lstStyle/>
          <a:p>
            <a:pPr>
              <a:defRPr sz="800" b="0" i="0" u="none" strike="noStrike">
                <a:solidFill>
                  <a:srgbClr val="FFFFF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haftaya hoş geldiniz; bu, gelecek haftaki vizeden önceki son dersimiz. İlk saat: sanal bellek (isteğe bağlı sayfalama, sayfa hataları, sayfa değiştirme, boşa çalışma). İkinci saat: dosya sistemleri (dosyalar, erişim yöntemleri, dizinler) ve Linux'taki düğümlere (inode) ve bağlantılara bir bakış. En sonda: vizenin kapsadığı her şeyin bir kontrol listesi.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dakikalık tekrar. Sorun: MMU ne yapar? (Mantıksal adresleri fiziksel adreslere çevirir.) Sayfalama dış parçalanmayı neden önler? (Herhangi bir boş çerçeve herhangi bir sayfayı tutabilir.) 6. haftadaki TLB'li etkin erişim süresi formülünü hatırlatın; bugün aynı fikri sayfa hatalarına genişleteceğiz.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bölümler moladan önce, 4–5. bölümler moladan sonra; ardından uygulamalı gösterimler, kısa bir sınav ve vize kontrol listesi.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Geçiş: geçen hafta sürecin tamamının bellekte olduğunu varsaydık. Bu gerçekten gerekli 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Sanal bellek (virtual memory), programcının gördüğü mantıksal belleği fiziksel bellekten ayırır. A, C ve F sayfaları RAM'de (nane rengi); diğerleri yalnızca diskte. Programcı tek, büyük ve bitişik bir adres alanı görür; hangi sayfanın nerede olduğunu bilmesi gerekmez. 64 bitlik Linux'ta bir sürecin sanal adres alanı 128 TiB'tır; bu, herhangi bir makinenin RAM'inden çok daha fazladır.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Benzetme: kütüphane bütün kitapları aynı anda masanıza getirmez; siz istediğinizde bir kitabı getirir. Bazen 'takasçı' (swapper) sözcüğü de kullanılır, ama takasçı süreçlerin tamamını taşır; sayfalayıcı (pager) ise tek tek sayfaları taşır. Bu yüzden burada doğru terim 'sayfalayıcı'dır.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Bellekte yalnızca A, C ve F sayfaları var (4, 6 ve 9 numaralı çerçeveler). Sekiz sayfanın hepsi diskte bulunur. Program yalnızca A, C ve F'ye dokunduğu sürece, 6. haftadaki gibi tam hızda çalışır. İlginç olan durum geçersiz bir sayfaya erişimdir: sonraki slayt.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Okları sırayla izleyin. 2. adımı vurgulayın: programın dışındaki bir adrese erişim de tuzağa düşer, ama bu durumda işletim sistemi süreci sonlandırır (segmentation fault). 4. adım pahalı olandır: bir disk okuması milisaniyeler sürer, bu yüzden zamanlayıcı (4. hafta) işlemciyi başka bir sürece verir. 6. adım: komut, hata hiç olmamış gibi baştan yeniden çalıştırılır. 3. adımda boş çerçeve yoksa sayfa değiştirme gerekir; bunu bugün ileride göreceğiz.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 code/page_replacement.py ile doğrulandı: EAT(0,001) = 8199,8 ns, yavaşlama çarpanı 41,0; p_maks = 20/7.999.800 = 2,50 × 10⁻⁶, yani 399.990 erişimde bir hata. Disk süresi baskındır: binde bir hata bile belleği kırk kat yavaşlatır. Bir SSD ile (t_fault yaklaşık 0,1 ms) tablo daha iyidir, ama ders aynıdır.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Yazınca kopyala (copy-on-write, COW), 3. haftayı (fork) bugüne bağlar. Tuzak mekanizması isteğe bağlı sayfalamadakiyle aynıdır: geçersiz sayfa yerine bir koruma hatası. Sonraki slaytlardaki cow_fork.c gösterimi bunu gerçek hata sayılarıyla gösterir.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Linux test makinemizden gerçek çıktı. Bunlar KÜÇÜK (minor) hatalardır: çekirdek yalnızca boş bir çerçeve bulup sıfırladı, disk okuması olmadı. BÜYÜK (major) bir hata disk G/Ç'si gerektirir (ör. bir program dosyasının ya da diske takaslanmış bir sayfanın okunması). '/usr/bin/time -v ./page_faults' tüm çalışmayı raporlar: Minor page faults 16463 (bizim 16384 hatamız artı programın ve C kütüphanesinin yüklenmesi için yaklaşık 80), Major 0, en büyük yerleşik küme yaklaşık 67 MB. 'after malloc' satırındaki tek hata, malloc'un kendi kayıt başlığını ilk sayfaya yazmasıdır; döngünün 16384 değil 16383 hata görmesinin nedeni budur. Saydam büyük sayfaların (transparent huge pages) tüm bellek için etkin olduğu sistemlerde çok daha az hata görebilirsiniz (2 MB başına bir hata).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Çocuk 8192 sayfanın hepsini sıfır sayfa hatasıyla okur, çünkü sayfalar ebeveynle paylaşılmaktadır. Yazma, sayfa başına tam olarak bir hata tetikler: yazınca kopyala. Ebeveyn hâlâ 'A' görür, çünkü kendi özgün sayfalarını korumuştur. fork()'un kendisi hızlıydı, çünkü yalnızca sayfa tabloları kopyalandı.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Fazla dağıtma (over-allocation): süreçlerin sanal belleklerinin toplamının fiziksel bellekten büyük olmasına bilerek izin veririz; tüm sayfaların aynı anda gerekmeyeceğine bahse gireriz. Bahis tutmazsa sayfa değiştiririz. Kirli bit, temiz sayfaları değiştirmenin maliyetini yarıya indirir. Bundan sonra algoritmaları adil karşılaştırabilmek için hepsinde aynı başvuru dizisini kullanıyoruz.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İlk birkaç sütunu yavaşça izleyin. 7, 0, 1 boş çerçeveleri doldurur (3 zorunlu hata). 2, 7'nin yerine geçer (en eski). 0 isabettir. 3, 0'ın yerine geçer (artık en eski o); şanssızlık, 0 hemen geri gelir ve 1'in yerine geçer. Toplam 15 hata; code/page_replacement.py ile hesaplandı.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numaralı sayfaya başvuruda (8. sütun) çerçevelerde 2, 0, 3 var. İleriye bakarsak: 2 sonraki kez 9. konumda, 3 10. konumda, 0 11. konumda kullanılacak; bu yüzden gelecekte en geç kullanılacak olan 0 değiştirilir. 9 hata; bunların 3'ü kaçınılmazdır (7, 0, 1'in ilk kullanımı). 3 çerçeveyle hiçbir algoritma daha iyisini yapamaz.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numaralı sayfaya başvuruda (8. sütun) çerçevelerde 2, 0, 3 var; GERİYE bakarsak en uzun süre önce kullanılan 2'dir, bu yüzden 2 değiştirilir (OPT 0'ı değiştirmişti). 12 hata: FIFO (15) ile OPT (9) arasında. LRU yerellik sayesinde iyi çalışır: yakın zamanda kullanılan sayfaların yakında yine kullanılması olasıdır.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tipik bir sınav sorusu türüdür: bir başvuru dizisi ve çerçeve sayısı verilir; FIFO, OPT ve LRU için çerçeve tablosunu çizip hataları sayın. Vizeden önce en az iki diziyle alıştırma yapın. Ders notlarındaki 'yığıt algoritması' (stack algorithm) kavramı, OPT ve LRU'nun neden hiçbir zaman Belady anomalisi göstermediğini açıklar.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László Bélády ve çalışma arkadaşları tarafından 1969'da keşfedildi. Nedeni: FIFO'da 4 çerçeveyle bellekte bulunan sayfalar kümesi, 3 çerçeveyle bulunanların her zaman bir üst kümesi değildir. LRU'da en son kullanılan 3 sayfa her zaman en son kullanılan 4 sayfanın içindedir; bu yüzden bir çerçeve eklemek hiçbir zaman hata eklemez. LRU sayıları (10 ve 8) code/page_replacement.py çıktısındandır.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Saat algoritması LRU'ya sayfa başına tek bir bitle ve neredeyse hiç ek yük olmadan yaklaşır. İbre son geçtiğinden beri kullanılmış sayfalar hayatta kalır; boşta duran sayfalar değiştirilir. Linux bu fikrin daha ayrıntılı bir akrabasını kullanır (etkin ve etkin olmayan listeler). Öğrencilerin yalnızca temel sürümü bilmesi yeterlidir.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Çoklu programlama derecesi = bellekteki süreç sayısı (1. ve 4. haftalar). Belli bir noktaya kadar süreç eklemek işlemci kullanımını artırır; o noktadan sonra kullanım çöker. Boşa çalışmayı (thrashing) yaşamış olabilirsiniz: RAM'i az, tarayıcı sekmesi çok bir bilgisayarda disk ışığı sürekli yanar ve fare zar zor hareket 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t1 anında program 1, 2, 5, 6, 7 sayfalarını kullanan bir yerellikte (çalışma kümesi boyutu 5); t2 anında yalnızca 3 ve 4 sayfalarını kullanan bir döngüye geçmiş (boyut 2). Çalışma kümeleri code/page_replacement.py ile hesaplandı. Yalnızca kavramsal: sınavda bu düzeyin ötesinde hesap beklenmiyor.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dakika. Mola sırasında öğrenciler FIFO tablosunu kâğıt üzerinde yeniden hesaplamayı deneyebilir.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Bellek uçucudur; veriler elektrik kesildikten sonra dosyalar sayesinde hayatta kalır. Dosya sistemi, işletim sisteminin kullanıcıların en doğrudan gördüğü parçasıdır.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sütunu, bugünkü uygulamalı oturumdaki 'stat notes.txt' komutunun gerçek çıktısıdır. Linux'ta öznitelikler düğümde (inode), ad ise dizinde durur. stat'taki 'Blocks: 8' 512 baytlık birimleri sayar; yani 6 baytlık bir dosya için bile 8 blok = bir adet 4 KB'lık dosya sistemi bloğu.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kartın sonunda Linux sistem çağrısının adı var. Silme işlemine unlink denir, çünkü dosyanın bir ADINI (bağlantısını) kaldırır; veri ancak hiçbir ad ve hiçbir açık tanımlayıcı kalmadığında serbest bırakılır. Bunu sabit bağlantılarla göreceğiz. 10. hafta (Linux dosya işlemleri) bunların komut satırı karşılıklarını kullanır: touch, cat, cp, mv, 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 kitabındaki (Silberschatz) modeldir. Linux'ta bir düzey daha vardır: dosya tanımlayıcısı, konumu tutan bir 'açık dosya tanımına' (open file description) işaret eder; o da bellekteki düğüme işaret eder. Öğrencilerin yalnızca iki düzeyli resmi bilmesi yeterlidir: dosya işaretçisini tutan süreç başına girdiler ve açılma sayısını tutan sistem geneli bir girdi.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komutunun gerçek çıktısı; uzun satırlar '…' ile kesildi. Pek çok biçimin ilk baytları sabit bir 'sihirli sayıdır' (magic number): JPEG FF D8 FF ile, ELF çalıştırılabilir dosyaları 7F 45 4C 46 = 0x7F 'E' 'L' 'F' ile başlar. students.dat bugünkü file_access.c programının yazdığı ikili kayıt dosyasıdır; bu yüzden file yalnızca 'data' 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Doğrudan erişimdeki blok numaraları dosyanın başına GÖRELİDİR (0, 1, 2 …); işletim sistemi göreli blok numaralarını fiziksel disk bloklarına eşler, böylece kullanıcının dosyanın diskte nerede olduğunu bilmesi gerekmez. Doğrudan erişimli bir dosyada sıralı erişim, bir geçerli konum (cp) tutularak kolayca taklit edilebilir: sonrakini oku = cp'yi oku; cp = cp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Aritmetik Python ile denetlendi: 1000*100 = 100000; 100000 // 4096 = 24; 100000 % 4096 = 1696; (100000+99)//4096 = 24, yani kayıt bir blok sınırını aşmıyor. Sınav ipucu: üç satırı yazın (bayt konumu, blok = tam bölme, blok içi konum = kalan).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'Kaya' adlı öğrenciyi bulun. İndekste ikili arama (burada 5 girdi, uygulamada binlercesi) 2. bloğu verir; tek bir disk okuması onu getirir. İndeks olmasaydı Kaya'yı bulana kadar dosyayı sırayla okurduk. IBM'in ISAM'ı (indexed sequential access method, indeksli sıralı erişim yöntemi) klasik örnektir.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 düzeyli dizinler ilk kişisel bilgisayarlarda vardı ve basit aygıtlarda (bazı fotoğraf makineleri, gömülü flaş bellekler) hâlâ kullanılır. Kırmızı 'test?' ad çakışmasını gösterir. İki düzeyli dizinler kullanıcıları birbirinden yalıtır: koruma için iyi, iş birliği için kötü.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Tüm modern işletim sistemleri bir ağaç (ya da sonraki slayttaki genellemeleri) kullanır. Öğrencilere yolları sesli söyletin. Windows aynı fikri sürücü harfleri ve ters bölü işaretleriyle kullanır: C:\Users\ayse\os\notes.txt. 9. haftada mutlak ve göreli yollarla cd alıştırması yapacaklar.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Bağlantı sayısı (link count): düğüm, kendisine işaret eden dizin girdilerinin (sabit bağlantıların) sayısını tutar; dosyanın verisi ancak bu sayı 0'a indiğinde ve hiçbir süreç dosyayı açık tutmadığında serbest bırakılır. Linux'taki silme çağrısının adının unlink olmasının nedeni budur. Sembolik bağlantılar dizinlere ve başka dosya sistemlerine işaret edebilir; sabit bağlantılar dosya sistemi sınırını aşamaz.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Linux haftalarına köprüdür: 9. hafta (dizinlerde gezinme), 10. hafta (dosya işlemleri: cp, mv, rm, ln) ve 11. hafta (düğümün kip alanında saklanan izinler). Şuna dikkat çekin: aynı dosya sistemi içinde mv yalnızca bir dizin girdisini değiştirir; düğüm ve veri yer değiştirmez. Dev bir dosyayı taşımanın anında bitmesinin nedeni budur.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Sıradan bir kullanıcı olarak yakalanmış gerçek oturum (betik: code/links_demo.sh; birkaç satır kırpıldı, tam çıktı ders notlarında). ls -li çıktısının ilk sütununu gösterin. Sorun: rm notes.txt'den sonra hard.txt'nin bağlantı sayısı kaçtır? (1; son listede görülüyor.) 10. hafta ln, cp, mv ve rm konularına ayrıntılı olarak döner.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Buradaki dosya işaretçisi, süreç başına açık dosya tablosunda tutulan 'geçerli konumun' ta kendisidir. Dosya 160 bayttır = 5 kayıt × 32 bayt. Sorun: son kaydı hangi lseek() çağrısı okur? (lseek(fd, 4 * 32, SEEK_SET), 128. bayt.)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Yanıtlar. (1) FIFO: 1H 2H 3H 1isabet 4H(1'i çıkarır) 1H(2'yi çıkarır) 2H(3'ü çıkarır) = 6 hata; LRU: 1H 2H 3H 1isabet 4H(2'yi çıkarır) 1isabet 2H(3'ü çıkarır) = 5 hata (page_replacement.py ile denetlendi; OPT 4 verir). (2) EAT = 0,9999 × 200 + 0,0001 × 8.000.000 = 199,98 + 800 = 999,98 ns, yaklaşık 1 mikrosaniye: RAM'den 5 kat yavaş. (3) Bayt 200 × 64 = 12.800; blok ⌊12800/4096⌋ = 3; blok içi konum 12800 − 12288 = 512. (4) Sabit bağlantıda evet (düğümün hâlâ bir adı var); sembolik bağlantıda hayır (artık var olmayan bir yolu gösteriyor).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Bunları hızlıca okuyun; her satır olası bir sınav konusudur.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Sınav 1'den 7'ye kadar tüm haftaları kapsar. Alıştırma yapılacak sayısal soru türleri: Gantt şemaları ve bekleme süreleri (5. hafta), adres çevirisi ve TLB ile EAT (6. hafta), sayfa hatalı EAT ve sayfa değiştirme çerçeve tabloları (7. hafta), doğrudan erişim blok hesabı (7. hafta). Her haftanın ders notları çözümlü yanıtlı tekrar sorularıyla biter; en iyi çalışma malzemesi budur. Kesin saat ve salon Telegram kanalında duyurulacak.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Gelecek hafta vize var; 1. haftadan bugüne kadar her şeyi kapsıyor. Hesap makinesi kuralları ile kesin salon ve saat Telegram'da kesinleşecek. Sınavdan sonra dersin uygulamalı yarısına geçiyoruz: 9. haftadan itibaren her hafta Linux kabuğunu kullanacağız ve işe bugün çizdiğimiz dizin ağacında gezinmekle başlayacağız.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Özellikle vizeyle ilgili sorular için sözü öğrencilere bırakın. Telegram kanalında sorulan soruların herkese yardımcı olduğunu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737360"/>
            <a:ext cx="73152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MBLP131  ·  HAFTA 7</a:t>
            </a:r>
            <a:endParaRPr lang="tr-TR" sz="1300" dirty="0"/>
          </a:p>
        </p:txBody>
      </p:sp>
      <p:sp>
        <p:nvSpPr>
          <p:cNvPr id="3" name="Text 1"/>
          <p:cNvSpPr txBox="1"/>
          <p:nvPr/>
        </p:nvSpPr>
        <p:spPr>
          <a:xfrm>
            <a:off x="548640" y="2148840"/>
            <a:ext cx="8229600" cy="1463040"/>
          </a:xfrm>
          <a:prstGeom prst="rect">
            <a:avLst/>
          </a:prstGeom>
          <a:noFill/>
          <a:ln/>
        </p:spPr>
        <p:txBody>
          <a:bodyPr wrap="square" lIns="0" tIns="0" rIns="0" bIns="0" rtlCol="0" anchor="t"/>
          <a:lstStyle/>
          <a:p>
            <a:pPr indent="0" marL="0">
              <a:buNone/>
            </a:pPr>
            <a:r>
              <a:rPr lang="tr-TR" sz="4000" b="1" dirty="0">
                <a:solidFill>
                  <a:srgbClr val="FFFFFF"/>
                </a:solidFill>
                <a:latin typeface="Cambria" pitchFamily="34" charset="0"/>
                <a:ea typeface="Cambria" pitchFamily="34" charset="-122"/>
                <a:cs typeface="Cambria" pitchFamily="34" charset="-120"/>
              </a:rPr>
              <a:t>İşletim Sistemleri</a:t>
            </a:r>
            <a:endParaRPr lang="tr-TR" sz="4000" dirty="0"/>
          </a:p>
          <a:p>
            <a:pPr indent="0" marL="0">
              <a:buNone/>
            </a:pPr>
            <a:r>
              <a:rPr lang="tr-TR" sz="4000" b="1" dirty="0">
                <a:solidFill>
                  <a:srgbClr val="FFFFFF"/>
                </a:solidFill>
                <a:latin typeface="Cambria" pitchFamily="34" charset="0"/>
                <a:ea typeface="Cambria" pitchFamily="34" charset="-122"/>
                <a:cs typeface="Cambria" pitchFamily="34" charset="-120"/>
              </a:rPr>
              <a:t>Temelleri</a:t>
            </a:r>
            <a:endParaRPr lang="tr-TR" sz="4000" dirty="0"/>
          </a:p>
        </p:txBody>
      </p:sp>
      <p:sp>
        <p:nvSpPr>
          <p:cNvPr id="4" name="Text 2"/>
          <p:cNvSpPr txBox="1"/>
          <p:nvPr/>
        </p:nvSpPr>
        <p:spPr>
          <a:xfrm>
            <a:off x="548640" y="3703320"/>
            <a:ext cx="10058400" cy="457200"/>
          </a:xfrm>
          <a:prstGeom prst="rect">
            <a:avLst/>
          </a:prstGeom>
          <a:noFill/>
          <a:ln/>
        </p:spPr>
        <p:txBody>
          <a:bodyPr wrap="square" lIns="0" tIns="0" rIns="0" bIns="0" rtlCol="0" anchor="ctr"/>
          <a:lstStyle/>
          <a:p>
            <a:pPr indent="0" marL="0">
              <a:buNone/>
            </a:pPr>
            <a:r>
              <a:rPr lang="tr-TR" sz="2000" dirty="0">
                <a:solidFill>
                  <a:srgbClr val="F2F2F2"/>
                </a:solidFill>
                <a:latin typeface="Calibri" pitchFamily="34" charset="0"/>
                <a:ea typeface="Calibri" pitchFamily="34" charset="-122"/>
                <a:cs typeface="Calibri" pitchFamily="34" charset="-120"/>
              </a:rPr>
              <a:t>Hafta 7  ·  Sanal Bellek ve Dosya Sistemleri</a:t>
            </a:r>
            <a:endParaRPr lang="tr-TR" sz="2000" dirty="0"/>
          </a:p>
        </p:txBody>
      </p:sp>
      <p:sp>
        <p:nvSpPr>
          <p:cNvPr id="5" name="Text 3"/>
          <p:cNvSpPr txBox="1"/>
          <p:nvPr/>
        </p:nvSpPr>
        <p:spPr>
          <a:xfrm>
            <a:off x="548640" y="4160520"/>
            <a:ext cx="10058400" cy="365760"/>
          </a:xfrm>
          <a:prstGeom prst="rect">
            <a:avLst/>
          </a:prstGeom>
          <a:noFill/>
          <a:ln/>
        </p:spPr>
        <p:txBody>
          <a:bodyPr wrap="square" lIns="0" tIns="0" rIns="0" bIns="0" rtlCol="0" anchor="ctr"/>
          <a:lstStyle/>
          <a:p>
            <a:pPr indent="0" marL="0">
              <a:buNone/>
            </a:pPr>
            <a:r>
              <a:rPr lang="tr-TR" sz="1400" i="1" dirty="0">
                <a:solidFill>
                  <a:srgbClr val="8A9AA0"/>
                </a:solidFill>
                <a:latin typeface="Calibri" pitchFamily="34" charset="0"/>
                <a:ea typeface="Calibri" pitchFamily="34" charset="-122"/>
                <a:cs typeface="Calibri" pitchFamily="34" charset="-120"/>
              </a:rPr>
              <a:t>4 GB'lık bir program 2 GB RAM'de nasıl çalışır ve dosyalar gerçekte nerede durur?</a:t>
            </a:r>
            <a:endParaRPr lang="tr-TR" sz="1400" dirty="0"/>
          </a:p>
        </p:txBody>
      </p:sp>
      <p:sp>
        <p:nvSpPr>
          <p:cNvPr id="6" name="Text 4"/>
          <p:cNvSpPr txBox="1"/>
          <p:nvPr/>
        </p:nvSpPr>
        <p:spPr>
          <a:xfrm>
            <a:off x="548640" y="6217920"/>
            <a:ext cx="10058400" cy="274320"/>
          </a:xfrm>
          <a:prstGeom prst="rect">
            <a:avLst/>
          </a:prstGeom>
          <a:noFill/>
          <a:ln/>
        </p:spPr>
        <p:txBody>
          <a:bodyPr wrap="square" lIns="0" tIns="0" rIns="0" bIns="0" rtlCol="0" anchor="ctr"/>
          <a:lstStyle/>
          <a:p>
            <a:pPr indent="0" marL="0">
              <a:buNone/>
            </a:pPr>
            <a:r>
              <a:rPr lang="tr-TR" sz="1000" dirty="0">
                <a:solidFill>
                  <a:srgbClr val="8A9AA0"/>
                </a:solidFill>
                <a:latin typeface="Calibri" pitchFamily="34" charset="0"/>
                <a:ea typeface="Calibri" pitchFamily="34" charset="-122"/>
                <a:cs typeface="Calibri" pitchFamily="34" charset="-120"/>
              </a:rPr>
              <a:t>Elektronik Haberleşme Teknolojisi Programı  ·  Meslek Yüksekokulu  ·  İstanbul Okan Üniversitesi</a:t>
            </a:r>
            <a:endParaRPr lang="tr-TR"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GEÇEN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Dört Fikirde 6. Hafta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2</a:t>
            </a:r>
            <a:endParaRPr lang="tr-TR" sz="900" dirty="0"/>
          </a:p>
        </p:txBody>
      </p:sp>
      <p:sp>
        <p:nvSpPr>
          <p:cNvPr id="6" name="Shape 4"/>
          <p:cNvSpPr/>
          <p:nvPr/>
        </p:nvSpPr>
        <p:spPr>
          <a:xfrm>
            <a:off x="54864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İki tür adres</a:t>
            </a:r>
            <a:endParaRPr lang="tr-TR" sz="1600" dirty="0"/>
          </a:p>
        </p:txBody>
      </p:sp>
      <p:sp>
        <p:nvSpPr>
          <p:cNvPr id="8" name="Text 6"/>
          <p:cNvSpPr txBox="1"/>
          <p:nvPr/>
        </p:nvSpPr>
        <p:spPr>
          <a:xfrm>
            <a:off x="777240" y="2148840"/>
            <a:ext cx="2148840" cy="2971800"/>
          </a:xfrm>
          <a:prstGeom prst="rect">
            <a:avLst/>
          </a:prstGeom>
          <a:noFill/>
          <a:ln/>
        </p:spPr>
        <p:txBody>
          <a:bodyPr wrap="square" lIns="0" tIns="0" rIns="0" bIns="0" rtlCol="0" anchor="t"/>
          <a:lstStyle/>
          <a:p>
            <a:pPr indent="0" marL="0">
              <a:spcAft>
                <a:spcPts val="400"/>
              </a:spcAft>
              <a:buNone/>
            </a:pPr>
            <a:r>
              <a:rPr lang="tr-TR" sz="1600" dirty="0">
                <a:solidFill>
                  <a:srgbClr val="3A464C"/>
                </a:solidFill>
                <a:latin typeface="Calibri" pitchFamily="34" charset="0"/>
                <a:ea typeface="Calibri" pitchFamily="34" charset="-122"/>
                <a:cs typeface="Calibri" pitchFamily="34" charset="-120"/>
              </a:rPr>
              <a:t>Programlar mantıksal adres kullanır; MMU bunları çalışma anında fiziksel adrese çevirir.</a:t>
            </a:r>
            <a:endParaRPr lang="tr-TR" sz="1600" dirty="0"/>
          </a:p>
        </p:txBody>
      </p:sp>
      <p:sp>
        <p:nvSpPr>
          <p:cNvPr id="9" name="Shape 7"/>
          <p:cNvSpPr/>
          <p:nvPr/>
        </p:nvSpPr>
        <p:spPr>
          <a:xfrm>
            <a:off x="338328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361188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Bitişik yer ayırma</a:t>
            </a:r>
            <a:endParaRPr lang="tr-TR" sz="1600" dirty="0"/>
          </a:p>
        </p:txBody>
      </p:sp>
      <p:sp>
        <p:nvSpPr>
          <p:cNvPr id="11" name="Text 9"/>
          <p:cNvSpPr txBox="1"/>
          <p:nvPr/>
        </p:nvSpPr>
        <p:spPr>
          <a:xfrm>
            <a:off x="3611880" y="2148840"/>
            <a:ext cx="2148840" cy="2971800"/>
          </a:xfrm>
          <a:prstGeom prst="rect">
            <a:avLst/>
          </a:prstGeom>
          <a:noFill/>
          <a:ln/>
        </p:spPr>
        <p:txBody>
          <a:bodyPr wrap="square" lIns="0" tIns="0" rIns="0" bIns="0" rtlCol="0" anchor="t"/>
          <a:lstStyle/>
          <a:p>
            <a:pPr indent="0" marL="0">
              <a:spcAft>
                <a:spcPts val="400"/>
              </a:spcAft>
              <a:buNone/>
            </a:pPr>
            <a:r>
              <a:rPr lang="tr-TR" sz="1600" dirty="0">
                <a:solidFill>
                  <a:srgbClr val="3A464C"/>
                </a:solidFill>
                <a:latin typeface="Calibri" pitchFamily="34" charset="0"/>
                <a:ea typeface="Calibri" pitchFamily="34" charset="-122"/>
                <a:cs typeface="Calibri" pitchFamily="34" charset="-120"/>
              </a:rPr>
              <a:t>Her sürece tek bir RAM bloğu vermek basittir ama delikler bırakır: dış parçalanma.</a:t>
            </a:r>
            <a:endParaRPr lang="tr-TR" sz="1600" dirty="0"/>
          </a:p>
        </p:txBody>
      </p:sp>
      <p:sp>
        <p:nvSpPr>
          <p:cNvPr id="12" name="Shape 10"/>
          <p:cNvSpPr/>
          <p:nvPr/>
        </p:nvSpPr>
        <p:spPr>
          <a:xfrm>
            <a:off x="621792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644652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Sayfalama</a:t>
            </a:r>
            <a:endParaRPr lang="tr-TR" sz="1600" dirty="0"/>
          </a:p>
        </p:txBody>
      </p:sp>
      <p:sp>
        <p:nvSpPr>
          <p:cNvPr id="14" name="Text 12"/>
          <p:cNvSpPr txBox="1"/>
          <p:nvPr/>
        </p:nvSpPr>
        <p:spPr>
          <a:xfrm>
            <a:off x="6446520" y="2148840"/>
            <a:ext cx="2148840" cy="2971800"/>
          </a:xfrm>
          <a:prstGeom prst="rect">
            <a:avLst/>
          </a:prstGeom>
          <a:noFill/>
          <a:ln/>
        </p:spPr>
        <p:txBody>
          <a:bodyPr wrap="square" lIns="0" tIns="0" rIns="0" bIns="0" rtlCol="0" anchor="t"/>
          <a:lstStyle/>
          <a:p>
            <a:pPr indent="0" marL="0">
              <a:spcAft>
                <a:spcPts val="400"/>
              </a:spcAft>
              <a:buNone/>
            </a:pPr>
            <a:r>
              <a:rPr lang="tr-TR" sz="1600" dirty="0">
                <a:solidFill>
                  <a:srgbClr val="3A464C"/>
                </a:solidFill>
                <a:latin typeface="Calibri" pitchFamily="34" charset="0"/>
                <a:ea typeface="Calibri" pitchFamily="34" charset="-122"/>
                <a:cs typeface="Calibri" pitchFamily="34" charset="-120"/>
              </a:rPr>
              <a:t>Sayfalar (mantıksal) bir sayfa tablosuyla çerçevelere (fiziksel) eşlenir: dış parçalanma olmaz.</a:t>
            </a:r>
            <a:endParaRPr lang="tr-TR" sz="1600" dirty="0"/>
          </a:p>
        </p:txBody>
      </p:sp>
      <p:sp>
        <p:nvSpPr>
          <p:cNvPr id="15" name="Shape 13"/>
          <p:cNvSpPr/>
          <p:nvPr/>
        </p:nvSpPr>
        <p:spPr>
          <a:xfrm>
            <a:off x="905256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928116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TLB</a:t>
            </a:r>
            <a:endParaRPr lang="tr-TR" sz="1600" dirty="0"/>
          </a:p>
        </p:txBody>
      </p:sp>
      <p:sp>
        <p:nvSpPr>
          <p:cNvPr id="17" name="Text 15"/>
          <p:cNvSpPr txBox="1"/>
          <p:nvPr/>
        </p:nvSpPr>
        <p:spPr>
          <a:xfrm>
            <a:off x="9281160" y="2148840"/>
            <a:ext cx="2148840" cy="2971800"/>
          </a:xfrm>
          <a:prstGeom prst="rect">
            <a:avLst/>
          </a:prstGeom>
          <a:noFill/>
          <a:ln/>
        </p:spPr>
        <p:txBody>
          <a:bodyPr wrap="square" lIns="0" tIns="0" rIns="0" bIns="0" rtlCol="0" anchor="t"/>
          <a:lstStyle/>
          <a:p>
            <a:pPr indent="0" marL="0">
              <a:spcAft>
                <a:spcPts val="400"/>
              </a:spcAft>
              <a:buNone/>
            </a:pPr>
            <a:r>
              <a:rPr lang="tr-TR" sz="1600" dirty="0">
                <a:solidFill>
                  <a:srgbClr val="3A464C"/>
                </a:solidFill>
                <a:latin typeface="Calibri" pitchFamily="34" charset="0"/>
                <a:ea typeface="Calibri" pitchFamily="34" charset="-122"/>
                <a:cs typeface="Calibri" pitchFamily="34" charset="-120"/>
              </a:rPr>
              <a:t>Sayfa tablosu girdilerinin küçük bir önbelleği. Etkin erişim süresi isabet oranı α'ya bağlıdır.</a:t>
            </a:r>
            <a:endParaRPr lang="tr-TR" sz="1600" dirty="0"/>
          </a:p>
        </p:txBody>
      </p:sp>
      <p:sp>
        <p:nvSpPr>
          <p:cNvPr id="18" name="Shape 16"/>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9" name="Text 17"/>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Geçen hafta bir sürecin her sayfası RAM'deydi. Bugün bu varsayımı bırakıyoruz: bir sayfa diskte de olabilir.</a:t>
            </a:r>
            <a:endParaRPr lang="tr-TR"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HAFTA 7</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Bugünün Gündemi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3</a:t>
            </a:r>
            <a:endParaRPr lang="tr-TR" sz="900" dirty="0"/>
          </a:p>
        </p:txBody>
      </p:sp>
      <p:sp>
        <p:nvSpPr>
          <p:cNvPr id="6" name="Shape 4"/>
          <p:cNvSpPr/>
          <p:nvPr/>
        </p:nvSpPr>
        <p:spPr>
          <a:xfrm>
            <a:off x="548640" y="1508760"/>
            <a:ext cx="658368" cy="658368"/>
          </a:xfrm>
          <a:prstGeom prst="roundRect">
            <a:avLst>
              <a:gd name="adj" fmla="val 6944"/>
            </a:avLst>
          </a:prstGeom>
          <a:solidFill>
            <a:srgbClr val="02C39A"/>
          </a:solidFill>
          <a:ln/>
        </p:spPr>
      </p:sp>
      <p:sp>
        <p:nvSpPr>
          <p:cNvPr id="7" name="Text 5"/>
          <p:cNvSpPr txBox="1"/>
          <p:nvPr/>
        </p:nvSpPr>
        <p:spPr>
          <a:xfrm>
            <a:off x="548640" y="1508760"/>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1</a:t>
            </a:r>
            <a:endParaRPr lang="tr-TR" sz="2000" dirty="0"/>
          </a:p>
        </p:txBody>
      </p:sp>
      <p:sp>
        <p:nvSpPr>
          <p:cNvPr id="8" name="Shape 6"/>
          <p:cNvSpPr/>
          <p:nvPr/>
        </p:nvSpPr>
        <p:spPr>
          <a:xfrm>
            <a:off x="1371600" y="1508760"/>
            <a:ext cx="10287000" cy="658368"/>
          </a:xfrm>
          <a:prstGeom prst="roundRect">
            <a:avLst>
              <a:gd name="adj" fmla="val 6944"/>
            </a:avLst>
          </a:prstGeom>
          <a:solidFill>
            <a:srgbClr val="F2F2F2"/>
          </a:solidFill>
          <a:ln/>
        </p:spPr>
      </p:sp>
      <p:sp>
        <p:nvSpPr>
          <p:cNvPr id="9" name="Text 7"/>
          <p:cNvSpPr txBox="1"/>
          <p:nvPr/>
        </p:nvSpPr>
        <p:spPr>
          <a:xfrm>
            <a:off x="1645920" y="1508760"/>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Sanal bellek   </a:t>
            </a:r>
            <a:r>
              <a:rPr lang="tr-TR" sz="1500" dirty="0">
                <a:solidFill>
                  <a:srgbClr val="3A464C"/>
                </a:solidFill>
                <a:latin typeface="Calibri" pitchFamily="34" charset="0"/>
                <a:ea typeface="Calibri" pitchFamily="34" charset="-122"/>
                <a:cs typeface="Calibri" pitchFamily="34" charset="-120"/>
              </a:rPr>
              <a:t>Programın yalnızca bir kısmının RAM'de olması yeter: isteğe bağlı sayfalama, sayfa hataları.</a:t>
            </a:r>
            <a:endParaRPr lang="tr-TR" sz="1400" dirty="0"/>
          </a:p>
        </p:txBody>
      </p:sp>
      <p:sp>
        <p:nvSpPr>
          <p:cNvPr id="10" name="Shape 8"/>
          <p:cNvSpPr/>
          <p:nvPr/>
        </p:nvSpPr>
        <p:spPr>
          <a:xfrm>
            <a:off x="548640" y="2295144"/>
            <a:ext cx="658368" cy="658368"/>
          </a:xfrm>
          <a:prstGeom prst="roundRect">
            <a:avLst>
              <a:gd name="adj" fmla="val 6944"/>
            </a:avLst>
          </a:prstGeom>
          <a:solidFill>
            <a:srgbClr val="02C39A"/>
          </a:solidFill>
          <a:ln/>
        </p:spPr>
      </p:sp>
      <p:sp>
        <p:nvSpPr>
          <p:cNvPr id="11" name="Text 9"/>
          <p:cNvSpPr txBox="1"/>
          <p:nvPr/>
        </p:nvSpPr>
        <p:spPr>
          <a:xfrm>
            <a:off x="548640" y="2295144"/>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2</a:t>
            </a:r>
            <a:endParaRPr lang="tr-TR" sz="2000" dirty="0"/>
          </a:p>
        </p:txBody>
      </p:sp>
      <p:sp>
        <p:nvSpPr>
          <p:cNvPr id="12" name="Shape 10"/>
          <p:cNvSpPr/>
          <p:nvPr/>
        </p:nvSpPr>
        <p:spPr>
          <a:xfrm>
            <a:off x="1371600" y="2295144"/>
            <a:ext cx="10287000" cy="658368"/>
          </a:xfrm>
          <a:prstGeom prst="roundRect">
            <a:avLst>
              <a:gd name="adj" fmla="val 6944"/>
            </a:avLst>
          </a:prstGeom>
          <a:solidFill>
            <a:srgbClr val="F2F2F2"/>
          </a:solidFill>
          <a:ln/>
        </p:spPr>
      </p:sp>
      <p:sp>
        <p:nvSpPr>
          <p:cNvPr id="13" name="Text 11"/>
          <p:cNvSpPr txBox="1"/>
          <p:nvPr/>
        </p:nvSpPr>
        <p:spPr>
          <a:xfrm>
            <a:off x="1645920" y="2295144"/>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Sayfa değiştirme   </a:t>
            </a:r>
            <a:r>
              <a:rPr lang="tr-TR" sz="1500" dirty="0">
                <a:solidFill>
                  <a:srgbClr val="3A464C"/>
                </a:solidFill>
                <a:latin typeface="Calibri" pitchFamily="34" charset="0"/>
                <a:ea typeface="Calibri" pitchFamily="34" charset="-122"/>
                <a:cs typeface="Calibri" pitchFamily="34" charset="-120"/>
              </a:rPr>
              <a:t>Bellek dolunca kim çıkar? FIFO, OPT, LRU, Belady anomalisi, saat algoritması.</a:t>
            </a:r>
            <a:endParaRPr lang="tr-TR" sz="1400" dirty="0"/>
          </a:p>
        </p:txBody>
      </p:sp>
      <p:sp>
        <p:nvSpPr>
          <p:cNvPr id="14" name="Shape 12"/>
          <p:cNvSpPr/>
          <p:nvPr/>
        </p:nvSpPr>
        <p:spPr>
          <a:xfrm>
            <a:off x="548640" y="3081528"/>
            <a:ext cx="658368" cy="658368"/>
          </a:xfrm>
          <a:prstGeom prst="roundRect">
            <a:avLst>
              <a:gd name="adj" fmla="val 6944"/>
            </a:avLst>
          </a:prstGeom>
          <a:solidFill>
            <a:srgbClr val="02C39A"/>
          </a:solidFill>
          <a:ln/>
        </p:spPr>
      </p:sp>
      <p:sp>
        <p:nvSpPr>
          <p:cNvPr id="15" name="Text 13"/>
          <p:cNvSpPr txBox="1"/>
          <p:nvPr/>
        </p:nvSpPr>
        <p:spPr>
          <a:xfrm>
            <a:off x="548640" y="3081528"/>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3</a:t>
            </a:r>
            <a:endParaRPr lang="tr-TR" sz="2000" dirty="0"/>
          </a:p>
        </p:txBody>
      </p:sp>
      <p:sp>
        <p:nvSpPr>
          <p:cNvPr id="16" name="Shape 14"/>
          <p:cNvSpPr/>
          <p:nvPr/>
        </p:nvSpPr>
        <p:spPr>
          <a:xfrm>
            <a:off x="1371600" y="3081528"/>
            <a:ext cx="10287000" cy="658368"/>
          </a:xfrm>
          <a:prstGeom prst="roundRect">
            <a:avLst>
              <a:gd name="adj" fmla="val 6944"/>
            </a:avLst>
          </a:prstGeom>
          <a:solidFill>
            <a:srgbClr val="F2F2F2"/>
          </a:solidFill>
          <a:ln/>
        </p:spPr>
      </p:sp>
      <p:sp>
        <p:nvSpPr>
          <p:cNvPr id="17" name="Text 15"/>
          <p:cNvSpPr txBox="1"/>
          <p:nvPr/>
        </p:nvSpPr>
        <p:spPr>
          <a:xfrm>
            <a:off x="1645920" y="3081528"/>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Boşa çalışma   </a:t>
            </a:r>
            <a:r>
              <a:rPr lang="tr-TR" sz="1500" dirty="0">
                <a:solidFill>
                  <a:srgbClr val="3A464C"/>
                </a:solidFill>
                <a:latin typeface="Calibri" pitchFamily="34" charset="0"/>
                <a:ea typeface="Calibri" pitchFamily="34" charset="-122"/>
                <a:cs typeface="Calibri" pitchFamily="34" charset="-120"/>
              </a:rPr>
              <a:t>Çok fazla süreç, çok az çerçeve ve çalışma kümesi fikri.</a:t>
            </a:r>
            <a:endParaRPr lang="tr-TR" sz="1400" dirty="0"/>
          </a:p>
        </p:txBody>
      </p:sp>
      <p:sp>
        <p:nvSpPr>
          <p:cNvPr id="18" name="Shape 16"/>
          <p:cNvSpPr/>
          <p:nvPr/>
        </p:nvSpPr>
        <p:spPr>
          <a:xfrm>
            <a:off x="548640" y="3867912"/>
            <a:ext cx="658368" cy="658368"/>
          </a:xfrm>
          <a:prstGeom prst="roundRect">
            <a:avLst>
              <a:gd name="adj" fmla="val 6944"/>
            </a:avLst>
          </a:prstGeom>
          <a:solidFill>
            <a:srgbClr val="02C39A"/>
          </a:solidFill>
          <a:ln/>
        </p:spPr>
      </p:sp>
      <p:sp>
        <p:nvSpPr>
          <p:cNvPr id="19" name="Text 17"/>
          <p:cNvSpPr txBox="1"/>
          <p:nvPr/>
        </p:nvSpPr>
        <p:spPr>
          <a:xfrm>
            <a:off x="548640" y="3867912"/>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4</a:t>
            </a:r>
            <a:endParaRPr lang="tr-TR" sz="2000" dirty="0"/>
          </a:p>
        </p:txBody>
      </p:sp>
      <p:sp>
        <p:nvSpPr>
          <p:cNvPr id="20" name="Shape 18"/>
          <p:cNvSpPr/>
          <p:nvPr/>
        </p:nvSpPr>
        <p:spPr>
          <a:xfrm>
            <a:off x="1371600" y="3867912"/>
            <a:ext cx="10287000" cy="658368"/>
          </a:xfrm>
          <a:prstGeom prst="roundRect">
            <a:avLst>
              <a:gd name="adj" fmla="val 6944"/>
            </a:avLst>
          </a:prstGeom>
          <a:solidFill>
            <a:srgbClr val="F2F2F2"/>
          </a:solidFill>
          <a:ln/>
        </p:spPr>
      </p:sp>
      <p:sp>
        <p:nvSpPr>
          <p:cNvPr id="21" name="Text 19"/>
          <p:cNvSpPr txBox="1"/>
          <p:nvPr/>
        </p:nvSpPr>
        <p:spPr>
          <a:xfrm>
            <a:off x="1645920" y="3867912"/>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Dosya sistemleri   </a:t>
            </a:r>
            <a:r>
              <a:rPr lang="tr-TR" sz="1500" dirty="0">
                <a:solidFill>
                  <a:srgbClr val="3A464C"/>
                </a:solidFill>
                <a:latin typeface="Calibri" pitchFamily="34" charset="0"/>
                <a:ea typeface="Calibri" pitchFamily="34" charset="-122"/>
                <a:cs typeface="Calibri" pitchFamily="34" charset="-120"/>
              </a:rPr>
              <a:t>Dosyalar, öznitelikler, işlemler, erişim yöntemleri.</a:t>
            </a:r>
            <a:endParaRPr lang="tr-TR" sz="1400" dirty="0"/>
          </a:p>
        </p:txBody>
      </p:sp>
      <p:sp>
        <p:nvSpPr>
          <p:cNvPr id="22" name="Shape 20"/>
          <p:cNvSpPr/>
          <p:nvPr/>
        </p:nvSpPr>
        <p:spPr>
          <a:xfrm>
            <a:off x="548640" y="4654296"/>
            <a:ext cx="658368" cy="658368"/>
          </a:xfrm>
          <a:prstGeom prst="roundRect">
            <a:avLst>
              <a:gd name="adj" fmla="val 6944"/>
            </a:avLst>
          </a:prstGeom>
          <a:solidFill>
            <a:srgbClr val="02C39A"/>
          </a:solidFill>
          <a:ln/>
        </p:spPr>
      </p:sp>
      <p:sp>
        <p:nvSpPr>
          <p:cNvPr id="23" name="Text 21"/>
          <p:cNvSpPr txBox="1"/>
          <p:nvPr/>
        </p:nvSpPr>
        <p:spPr>
          <a:xfrm>
            <a:off x="548640" y="4654296"/>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5</a:t>
            </a:r>
            <a:endParaRPr lang="tr-TR" sz="2000" dirty="0"/>
          </a:p>
        </p:txBody>
      </p:sp>
      <p:sp>
        <p:nvSpPr>
          <p:cNvPr id="24" name="Shape 22"/>
          <p:cNvSpPr/>
          <p:nvPr/>
        </p:nvSpPr>
        <p:spPr>
          <a:xfrm>
            <a:off x="1371600" y="4654296"/>
            <a:ext cx="10287000" cy="658368"/>
          </a:xfrm>
          <a:prstGeom prst="roundRect">
            <a:avLst>
              <a:gd name="adj" fmla="val 6944"/>
            </a:avLst>
          </a:prstGeom>
          <a:solidFill>
            <a:srgbClr val="F2F2F2"/>
          </a:solidFill>
          <a:ln/>
        </p:spPr>
      </p:sp>
      <p:sp>
        <p:nvSpPr>
          <p:cNvPr id="25" name="Text 23"/>
          <p:cNvSpPr txBox="1"/>
          <p:nvPr/>
        </p:nvSpPr>
        <p:spPr>
          <a:xfrm>
            <a:off x="1645920" y="4654296"/>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Dizinler ve Linux   </a:t>
            </a:r>
            <a:r>
              <a:rPr lang="tr-TR" sz="1500" dirty="0">
                <a:solidFill>
                  <a:srgbClr val="3A464C"/>
                </a:solidFill>
                <a:latin typeface="Calibri" pitchFamily="34" charset="0"/>
                <a:ea typeface="Calibri" pitchFamily="34" charset="-122"/>
                <a:cs typeface="Calibri" pitchFamily="34" charset="-120"/>
              </a:rPr>
              <a:t>Dizin yapıları, yollar, düğümler (inode), sabit ve sembolik bağlantılar.</a:t>
            </a:r>
            <a:endParaRPr lang="tr-TR" sz="1400" dirty="0"/>
          </a:p>
        </p:txBody>
      </p:sp>
      <p:sp>
        <p:nvSpPr>
          <p:cNvPr id="26" name="Shape 24"/>
          <p:cNvSpPr/>
          <p:nvPr/>
        </p:nvSpPr>
        <p:spPr>
          <a:xfrm>
            <a:off x="548640" y="5440680"/>
            <a:ext cx="658368" cy="658368"/>
          </a:xfrm>
          <a:prstGeom prst="roundRect">
            <a:avLst>
              <a:gd name="adj" fmla="val 6944"/>
            </a:avLst>
          </a:prstGeom>
          <a:solidFill>
            <a:srgbClr val="02C39A"/>
          </a:solidFill>
          <a:ln/>
        </p:spPr>
      </p:sp>
      <p:sp>
        <p:nvSpPr>
          <p:cNvPr id="27" name="Text 25"/>
          <p:cNvSpPr txBox="1"/>
          <p:nvPr/>
        </p:nvSpPr>
        <p:spPr>
          <a:xfrm>
            <a:off x="548640" y="5440680"/>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6</a:t>
            </a:r>
            <a:endParaRPr lang="tr-TR" sz="2000" dirty="0"/>
          </a:p>
        </p:txBody>
      </p:sp>
      <p:sp>
        <p:nvSpPr>
          <p:cNvPr id="28" name="Shape 26"/>
          <p:cNvSpPr/>
          <p:nvPr/>
        </p:nvSpPr>
        <p:spPr>
          <a:xfrm>
            <a:off x="1371600" y="5440680"/>
            <a:ext cx="10287000" cy="658368"/>
          </a:xfrm>
          <a:prstGeom prst="roundRect">
            <a:avLst>
              <a:gd name="adj" fmla="val 6944"/>
            </a:avLst>
          </a:prstGeom>
          <a:solidFill>
            <a:srgbClr val="F2F2F2"/>
          </a:solidFill>
          <a:ln/>
        </p:spPr>
      </p:sp>
      <p:sp>
        <p:nvSpPr>
          <p:cNvPr id="29" name="Text 27"/>
          <p:cNvSpPr txBox="1"/>
          <p:nvPr/>
        </p:nvSpPr>
        <p:spPr>
          <a:xfrm>
            <a:off x="1645920" y="5440680"/>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Vize kontrol listesi   </a:t>
            </a:r>
            <a:r>
              <a:rPr lang="tr-TR" sz="1500" dirty="0">
                <a:solidFill>
                  <a:srgbClr val="3A464C"/>
                </a:solidFill>
                <a:latin typeface="Calibri" pitchFamily="34" charset="0"/>
                <a:ea typeface="Calibri" pitchFamily="34" charset="-122"/>
                <a:cs typeface="Calibri" pitchFamily="34" charset="-120"/>
              </a:rPr>
              <a:t>Gelecek haftaki sınav için neleri tekrar etmeli (1–7. haftalar).</a:t>
            </a:r>
            <a:endParaRPr lang="tr-TR"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1</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Sanal Bellek</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Bir programın çalışması için bütün sayfalarının RAM'de olması gerekmez.</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7  ·  4</a:t>
            </a:r>
            <a:endParaRPr lang="tr-TR"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SANAL BELLEK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Fikir: Programın Görüşünü RAM'den Ayırmak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5</a:t>
            </a:r>
            <a:endParaRPr lang="tr-TR" sz="900" dirty="0"/>
          </a:p>
        </p:txBody>
      </p:sp>
      <p:sp>
        <p:nvSpPr>
          <p:cNvPr id="6" name="Text 4"/>
          <p:cNvSpPr txBox="1"/>
          <p:nvPr/>
        </p:nvSpPr>
        <p:spPr>
          <a:xfrm>
            <a:off x="548640" y="1508760"/>
            <a:ext cx="1828800" cy="411480"/>
          </a:xfrm>
          <a:prstGeom prst="rect">
            <a:avLst/>
          </a:prstGeom>
          <a:noFill/>
          <a:ln/>
        </p:spPr>
        <p:txBody>
          <a:bodyPr wrap="square" lIns="0" tIns="0" rIns="0" bIns="0" rtlCol="0" anchor="b"/>
          <a:lstStyle/>
          <a:p>
            <a:pPr algn="ctr" indent="0" marL="0">
              <a:buNone/>
            </a:pPr>
            <a:r>
              <a:rPr lang="tr-TR" sz="1200" b="1" dirty="0">
                <a:solidFill>
                  <a:srgbClr val="36454F"/>
                </a:solidFill>
                <a:latin typeface="Calibri" pitchFamily="34" charset="0"/>
                <a:ea typeface="Calibri" pitchFamily="34" charset="-122"/>
                <a:cs typeface="Calibri" pitchFamily="34" charset="-120"/>
              </a:rPr>
              <a:t>Sanal adres alanı</a:t>
            </a:r>
            <a:endParaRPr lang="tr-TR" sz="1200" dirty="0"/>
          </a:p>
        </p:txBody>
      </p:sp>
      <p:sp>
        <p:nvSpPr>
          <p:cNvPr id="7" name="Shape 5"/>
          <p:cNvSpPr/>
          <p:nvPr/>
        </p:nvSpPr>
        <p:spPr>
          <a:xfrm>
            <a:off x="640080" y="1965960"/>
            <a:ext cx="1645920" cy="402336"/>
          </a:xfrm>
          <a:prstGeom prst="roundRect">
            <a:avLst>
              <a:gd name="adj" fmla="val 11364"/>
            </a:avLst>
          </a:prstGeom>
          <a:solidFill>
            <a:srgbClr val="02C39A"/>
          </a:solidFill>
          <a:ln/>
        </p:spPr>
      </p:sp>
      <p:sp>
        <p:nvSpPr>
          <p:cNvPr id="8" name="Text 6"/>
          <p:cNvSpPr txBox="1"/>
          <p:nvPr/>
        </p:nvSpPr>
        <p:spPr>
          <a:xfrm>
            <a:off x="640080" y="1965960"/>
            <a:ext cx="1645920" cy="402336"/>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sayfa 0  ·  A</a:t>
            </a:r>
            <a:endParaRPr lang="tr-TR" sz="1200" dirty="0"/>
          </a:p>
        </p:txBody>
      </p:sp>
      <p:sp>
        <p:nvSpPr>
          <p:cNvPr id="9" name="Shape 7"/>
          <p:cNvSpPr/>
          <p:nvPr/>
        </p:nvSpPr>
        <p:spPr>
          <a:xfrm>
            <a:off x="640080" y="2423160"/>
            <a:ext cx="1645920" cy="402336"/>
          </a:xfrm>
          <a:prstGeom prst="roundRect">
            <a:avLst>
              <a:gd name="adj" fmla="val 11364"/>
            </a:avLst>
          </a:prstGeom>
          <a:solidFill>
            <a:srgbClr val="F2F2F2"/>
          </a:solidFill>
          <a:ln/>
        </p:spPr>
      </p:sp>
      <p:sp>
        <p:nvSpPr>
          <p:cNvPr id="10" name="Text 8"/>
          <p:cNvSpPr txBox="1"/>
          <p:nvPr/>
        </p:nvSpPr>
        <p:spPr>
          <a:xfrm>
            <a:off x="640080" y="2423160"/>
            <a:ext cx="1645920" cy="402336"/>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sayfa 1  ·  B</a:t>
            </a:r>
            <a:endParaRPr lang="tr-TR" sz="1200" dirty="0"/>
          </a:p>
        </p:txBody>
      </p:sp>
      <p:sp>
        <p:nvSpPr>
          <p:cNvPr id="11" name="Shape 9"/>
          <p:cNvSpPr/>
          <p:nvPr/>
        </p:nvSpPr>
        <p:spPr>
          <a:xfrm>
            <a:off x="640080" y="2880360"/>
            <a:ext cx="1645920" cy="402336"/>
          </a:xfrm>
          <a:prstGeom prst="roundRect">
            <a:avLst>
              <a:gd name="adj" fmla="val 11364"/>
            </a:avLst>
          </a:prstGeom>
          <a:solidFill>
            <a:srgbClr val="02C39A"/>
          </a:solidFill>
          <a:ln/>
        </p:spPr>
      </p:sp>
      <p:sp>
        <p:nvSpPr>
          <p:cNvPr id="12" name="Text 10"/>
          <p:cNvSpPr txBox="1"/>
          <p:nvPr/>
        </p:nvSpPr>
        <p:spPr>
          <a:xfrm>
            <a:off x="640080" y="2880360"/>
            <a:ext cx="1645920" cy="402336"/>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sayfa 2  ·  C</a:t>
            </a:r>
            <a:endParaRPr lang="tr-TR" sz="1200" dirty="0"/>
          </a:p>
        </p:txBody>
      </p:sp>
      <p:sp>
        <p:nvSpPr>
          <p:cNvPr id="13" name="Shape 11"/>
          <p:cNvSpPr/>
          <p:nvPr/>
        </p:nvSpPr>
        <p:spPr>
          <a:xfrm>
            <a:off x="640080" y="3337560"/>
            <a:ext cx="1645920" cy="402336"/>
          </a:xfrm>
          <a:prstGeom prst="roundRect">
            <a:avLst>
              <a:gd name="adj" fmla="val 11364"/>
            </a:avLst>
          </a:prstGeom>
          <a:solidFill>
            <a:srgbClr val="F2F2F2"/>
          </a:solidFill>
          <a:ln/>
        </p:spPr>
      </p:sp>
      <p:sp>
        <p:nvSpPr>
          <p:cNvPr id="14" name="Text 12"/>
          <p:cNvSpPr txBox="1"/>
          <p:nvPr/>
        </p:nvSpPr>
        <p:spPr>
          <a:xfrm>
            <a:off x="640080" y="3337560"/>
            <a:ext cx="1645920" cy="402336"/>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sayfa 3  ·  D</a:t>
            </a:r>
            <a:endParaRPr lang="tr-TR" sz="1200" dirty="0"/>
          </a:p>
        </p:txBody>
      </p:sp>
      <p:sp>
        <p:nvSpPr>
          <p:cNvPr id="15" name="Shape 13"/>
          <p:cNvSpPr/>
          <p:nvPr/>
        </p:nvSpPr>
        <p:spPr>
          <a:xfrm>
            <a:off x="640080" y="3794760"/>
            <a:ext cx="1645920" cy="402336"/>
          </a:xfrm>
          <a:prstGeom prst="roundRect">
            <a:avLst>
              <a:gd name="adj" fmla="val 11364"/>
            </a:avLst>
          </a:prstGeom>
          <a:solidFill>
            <a:srgbClr val="F2F2F2"/>
          </a:solidFill>
          <a:ln/>
        </p:spPr>
      </p:sp>
      <p:sp>
        <p:nvSpPr>
          <p:cNvPr id="16" name="Text 14"/>
          <p:cNvSpPr txBox="1"/>
          <p:nvPr/>
        </p:nvSpPr>
        <p:spPr>
          <a:xfrm>
            <a:off x="640080" y="3794760"/>
            <a:ext cx="1645920" cy="402336"/>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sayfa 4  ·  E</a:t>
            </a:r>
            <a:endParaRPr lang="tr-TR" sz="1200" dirty="0"/>
          </a:p>
        </p:txBody>
      </p:sp>
      <p:sp>
        <p:nvSpPr>
          <p:cNvPr id="17" name="Shape 15"/>
          <p:cNvSpPr/>
          <p:nvPr/>
        </p:nvSpPr>
        <p:spPr>
          <a:xfrm>
            <a:off x="640080" y="4251960"/>
            <a:ext cx="1645920" cy="402336"/>
          </a:xfrm>
          <a:prstGeom prst="roundRect">
            <a:avLst>
              <a:gd name="adj" fmla="val 11364"/>
            </a:avLst>
          </a:prstGeom>
          <a:solidFill>
            <a:srgbClr val="02C39A"/>
          </a:solidFill>
          <a:ln/>
        </p:spPr>
      </p:sp>
      <p:sp>
        <p:nvSpPr>
          <p:cNvPr id="18" name="Text 16"/>
          <p:cNvSpPr txBox="1"/>
          <p:nvPr/>
        </p:nvSpPr>
        <p:spPr>
          <a:xfrm>
            <a:off x="640080" y="4251960"/>
            <a:ext cx="1645920" cy="402336"/>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sayfa 5  ·  F</a:t>
            </a:r>
            <a:endParaRPr lang="tr-TR" sz="1200" dirty="0"/>
          </a:p>
        </p:txBody>
      </p:sp>
      <p:sp>
        <p:nvSpPr>
          <p:cNvPr id="19" name="Shape 17"/>
          <p:cNvSpPr/>
          <p:nvPr/>
        </p:nvSpPr>
        <p:spPr>
          <a:xfrm>
            <a:off x="640080" y="4709160"/>
            <a:ext cx="1645920" cy="402336"/>
          </a:xfrm>
          <a:prstGeom prst="roundRect">
            <a:avLst>
              <a:gd name="adj" fmla="val 11364"/>
            </a:avLst>
          </a:prstGeom>
          <a:solidFill>
            <a:srgbClr val="F2F2F2"/>
          </a:solidFill>
          <a:ln/>
        </p:spPr>
      </p:sp>
      <p:sp>
        <p:nvSpPr>
          <p:cNvPr id="20" name="Text 18"/>
          <p:cNvSpPr txBox="1"/>
          <p:nvPr/>
        </p:nvSpPr>
        <p:spPr>
          <a:xfrm>
            <a:off x="640080" y="4709160"/>
            <a:ext cx="1645920" cy="402336"/>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sayfa 6  ·  G</a:t>
            </a:r>
            <a:endParaRPr lang="tr-TR" sz="1200" dirty="0"/>
          </a:p>
        </p:txBody>
      </p:sp>
      <p:sp>
        <p:nvSpPr>
          <p:cNvPr id="21" name="Shape 19"/>
          <p:cNvSpPr/>
          <p:nvPr/>
        </p:nvSpPr>
        <p:spPr>
          <a:xfrm>
            <a:off x="640080" y="5166360"/>
            <a:ext cx="1645920" cy="402336"/>
          </a:xfrm>
          <a:prstGeom prst="roundRect">
            <a:avLst>
              <a:gd name="adj" fmla="val 11364"/>
            </a:avLst>
          </a:prstGeom>
          <a:solidFill>
            <a:srgbClr val="F2F2F2"/>
          </a:solidFill>
          <a:ln/>
        </p:spPr>
      </p:sp>
      <p:sp>
        <p:nvSpPr>
          <p:cNvPr id="22" name="Text 20"/>
          <p:cNvSpPr txBox="1"/>
          <p:nvPr/>
        </p:nvSpPr>
        <p:spPr>
          <a:xfrm>
            <a:off x="640080" y="5166360"/>
            <a:ext cx="1645920" cy="402336"/>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sayfa 7  ·  H</a:t>
            </a:r>
            <a:endParaRPr lang="tr-TR" sz="1200" dirty="0"/>
          </a:p>
        </p:txBody>
      </p:sp>
      <p:sp>
        <p:nvSpPr>
          <p:cNvPr id="23" name="Text 21"/>
          <p:cNvSpPr txBox="1"/>
          <p:nvPr/>
        </p:nvSpPr>
        <p:spPr>
          <a:xfrm>
            <a:off x="548640" y="5641848"/>
            <a:ext cx="1828800" cy="457200"/>
          </a:xfrm>
          <a:prstGeom prst="rect">
            <a:avLst/>
          </a:prstGeom>
          <a:noFill/>
          <a:ln/>
        </p:spPr>
        <p:txBody>
          <a:bodyPr wrap="square" lIns="0" tIns="0" rIns="0" bIns="0" rtlCol="0" anchor="t"/>
          <a:lstStyle/>
          <a:p>
            <a:pPr algn="ctr" indent="0" marL="0">
              <a:buNone/>
            </a:pPr>
            <a:r>
              <a:rPr lang="tr-TR" sz="1050" i="1" dirty="0">
                <a:solidFill>
                  <a:srgbClr val="6B7679"/>
                </a:solidFill>
                <a:latin typeface="Calibri" pitchFamily="34" charset="0"/>
                <a:ea typeface="Calibri" pitchFamily="34" charset="-122"/>
                <a:cs typeface="Calibri" pitchFamily="34" charset="-120"/>
              </a:rPr>
              <a:t>programın görüşü: büyük ve bitişik</a:t>
            </a:r>
            <a:endParaRPr lang="tr-TR" sz="1050" dirty="0"/>
          </a:p>
        </p:txBody>
      </p:sp>
      <p:sp>
        <p:nvSpPr>
          <p:cNvPr id="24" name="Text 22"/>
          <p:cNvSpPr txBox="1"/>
          <p:nvPr/>
        </p:nvSpPr>
        <p:spPr>
          <a:xfrm>
            <a:off x="3703320" y="1508760"/>
            <a:ext cx="1828800" cy="411480"/>
          </a:xfrm>
          <a:prstGeom prst="rect">
            <a:avLst/>
          </a:prstGeom>
          <a:noFill/>
          <a:ln/>
        </p:spPr>
        <p:txBody>
          <a:bodyPr wrap="square" lIns="0" tIns="0" rIns="0" bIns="0" rtlCol="0" anchor="b"/>
          <a:lstStyle/>
          <a:p>
            <a:pPr algn="ctr" indent="0" marL="0">
              <a:buNone/>
            </a:pPr>
            <a:r>
              <a:rPr lang="tr-TR" sz="1200" b="1" dirty="0">
                <a:solidFill>
                  <a:srgbClr val="36454F"/>
                </a:solidFill>
                <a:latin typeface="Calibri" pitchFamily="34" charset="0"/>
                <a:ea typeface="Calibri" pitchFamily="34" charset="-122"/>
                <a:cs typeface="Calibri" pitchFamily="34" charset="-120"/>
              </a:rPr>
              <a:t>Fiziksel bellek (RAM)</a:t>
            </a:r>
            <a:endParaRPr lang="tr-TR" sz="1200" dirty="0"/>
          </a:p>
        </p:txBody>
      </p:sp>
      <p:sp>
        <p:nvSpPr>
          <p:cNvPr id="25" name="Shape 23"/>
          <p:cNvSpPr/>
          <p:nvPr/>
        </p:nvSpPr>
        <p:spPr>
          <a:xfrm>
            <a:off x="3794760" y="1965960"/>
            <a:ext cx="1645920" cy="402336"/>
          </a:xfrm>
          <a:prstGeom prst="roundRect">
            <a:avLst>
              <a:gd name="adj" fmla="val 11364"/>
            </a:avLst>
          </a:prstGeom>
          <a:solidFill>
            <a:srgbClr val="02C39A"/>
          </a:solidFill>
          <a:ln/>
        </p:spPr>
      </p:sp>
      <p:sp>
        <p:nvSpPr>
          <p:cNvPr id="26" name="Text 24"/>
          <p:cNvSpPr txBox="1"/>
          <p:nvPr/>
        </p:nvSpPr>
        <p:spPr>
          <a:xfrm>
            <a:off x="3794760" y="1965960"/>
            <a:ext cx="1645920" cy="402336"/>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çerçeve 0  ·  F</a:t>
            </a:r>
            <a:endParaRPr lang="tr-TR" sz="1200" dirty="0"/>
          </a:p>
        </p:txBody>
      </p:sp>
      <p:sp>
        <p:nvSpPr>
          <p:cNvPr id="27" name="Shape 25"/>
          <p:cNvSpPr/>
          <p:nvPr/>
        </p:nvSpPr>
        <p:spPr>
          <a:xfrm>
            <a:off x="3794760" y="2423160"/>
            <a:ext cx="1645920" cy="402336"/>
          </a:xfrm>
          <a:prstGeom prst="roundRect">
            <a:avLst>
              <a:gd name="adj" fmla="val 11364"/>
            </a:avLst>
          </a:prstGeom>
          <a:solidFill>
            <a:srgbClr val="E4E8E9"/>
          </a:solidFill>
          <a:ln/>
        </p:spPr>
      </p:sp>
      <p:sp>
        <p:nvSpPr>
          <p:cNvPr id="28" name="Text 26"/>
          <p:cNvSpPr txBox="1"/>
          <p:nvPr/>
        </p:nvSpPr>
        <p:spPr>
          <a:xfrm>
            <a:off x="3794760" y="2423160"/>
            <a:ext cx="1645920" cy="402336"/>
          </a:xfrm>
          <a:prstGeom prst="rect">
            <a:avLst/>
          </a:prstGeom>
          <a:noFill/>
          <a:ln/>
        </p:spPr>
        <p:txBody>
          <a:bodyPr wrap="square" lIns="38100" tIns="38100" rIns="38100" bIns="38100" rtlCol="0" anchor="ctr"/>
          <a:lstStyle/>
          <a:p>
            <a:pPr algn="ctr" indent="0" marL="0">
              <a:buNone/>
            </a:pPr>
            <a:r>
              <a:rPr lang="tr-TR" sz="1200" dirty="0">
                <a:solidFill>
                  <a:srgbClr val="6B7679"/>
                </a:solidFill>
                <a:latin typeface="Calibri" pitchFamily="34" charset="0"/>
                <a:ea typeface="Calibri" pitchFamily="34" charset="-122"/>
                <a:cs typeface="Calibri" pitchFamily="34" charset="-120"/>
              </a:rPr>
              <a:t>başka süreç</a:t>
            </a:r>
            <a:endParaRPr lang="tr-TR" sz="1200" dirty="0"/>
          </a:p>
        </p:txBody>
      </p:sp>
      <p:sp>
        <p:nvSpPr>
          <p:cNvPr id="29" name="Shape 27"/>
          <p:cNvSpPr/>
          <p:nvPr/>
        </p:nvSpPr>
        <p:spPr>
          <a:xfrm>
            <a:off x="3794760" y="2880360"/>
            <a:ext cx="1645920" cy="402336"/>
          </a:xfrm>
          <a:prstGeom prst="roundRect">
            <a:avLst>
              <a:gd name="adj" fmla="val 11364"/>
            </a:avLst>
          </a:prstGeom>
          <a:solidFill>
            <a:srgbClr val="02C39A"/>
          </a:solidFill>
          <a:ln/>
        </p:spPr>
      </p:sp>
      <p:sp>
        <p:nvSpPr>
          <p:cNvPr id="30" name="Text 28"/>
          <p:cNvSpPr txBox="1"/>
          <p:nvPr/>
        </p:nvSpPr>
        <p:spPr>
          <a:xfrm>
            <a:off x="3794760" y="2880360"/>
            <a:ext cx="1645920" cy="402336"/>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çerçeve 2  ·  A</a:t>
            </a:r>
            <a:endParaRPr lang="tr-TR" sz="1200" dirty="0"/>
          </a:p>
        </p:txBody>
      </p:sp>
      <p:sp>
        <p:nvSpPr>
          <p:cNvPr id="31" name="Shape 29"/>
          <p:cNvSpPr/>
          <p:nvPr/>
        </p:nvSpPr>
        <p:spPr>
          <a:xfrm>
            <a:off x="3794760" y="3337560"/>
            <a:ext cx="1645920" cy="402336"/>
          </a:xfrm>
          <a:prstGeom prst="roundRect">
            <a:avLst>
              <a:gd name="adj" fmla="val 11364"/>
            </a:avLst>
          </a:prstGeom>
          <a:solidFill>
            <a:srgbClr val="E4E8E9"/>
          </a:solidFill>
          <a:ln/>
        </p:spPr>
      </p:sp>
      <p:sp>
        <p:nvSpPr>
          <p:cNvPr id="32" name="Text 30"/>
          <p:cNvSpPr txBox="1"/>
          <p:nvPr/>
        </p:nvSpPr>
        <p:spPr>
          <a:xfrm>
            <a:off x="3794760" y="3337560"/>
            <a:ext cx="1645920" cy="402336"/>
          </a:xfrm>
          <a:prstGeom prst="rect">
            <a:avLst/>
          </a:prstGeom>
          <a:noFill/>
          <a:ln/>
        </p:spPr>
        <p:txBody>
          <a:bodyPr wrap="square" lIns="38100" tIns="38100" rIns="38100" bIns="38100" rtlCol="0" anchor="ctr"/>
          <a:lstStyle/>
          <a:p>
            <a:pPr algn="ctr" indent="0" marL="0">
              <a:buNone/>
            </a:pPr>
            <a:r>
              <a:rPr lang="tr-TR" sz="1200" dirty="0">
                <a:solidFill>
                  <a:srgbClr val="6B7679"/>
                </a:solidFill>
                <a:latin typeface="Calibri" pitchFamily="34" charset="0"/>
                <a:ea typeface="Calibri" pitchFamily="34" charset="-122"/>
                <a:cs typeface="Calibri" pitchFamily="34" charset="-120"/>
              </a:rPr>
              <a:t>başka süreç</a:t>
            </a:r>
            <a:endParaRPr lang="tr-TR" sz="1200" dirty="0"/>
          </a:p>
        </p:txBody>
      </p:sp>
      <p:sp>
        <p:nvSpPr>
          <p:cNvPr id="33" name="Shape 31"/>
          <p:cNvSpPr/>
          <p:nvPr/>
        </p:nvSpPr>
        <p:spPr>
          <a:xfrm>
            <a:off x="3794760" y="3794760"/>
            <a:ext cx="1645920" cy="402336"/>
          </a:xfrm>
          <a:prstGeom prst="roundRect">
            <a:avLst>
              <a:gd name="adj" fmla="val 11364"/>
            </a:avLst>
          </a:prstGeom>
          <a:solidFill>
            <a:srgbClr val="02C39A"/>
          </a:solidFill>
          <a:ln/>
        </p:spPr>
      </p:sp>
      <p:sp>
        <p:nvSpPr>
          <p:cNvPr id="34" name="Text 32"/>
          <p:cNvSpPr txBox="1"/>
          <p:nvPr/>
        </p:nvSpPr>
        <p:spPr>
          <a:xfrm>
            <a:off x="3794760" y="3794760"/>
            <a:ext cx="1645920" cy="402336"/>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çerçeve 4  ·  C</a:t>
            </a:r>
            <a:endParaRPr lang="tr-TR" sz="1200" dirty="0"/>
          </a:p>
        </p:txBody>
      </p:sp>
      <p:sp>
        <p:nvSpPr>
          <p:cNvPr id="35" name="Shape 33"/>
          <p:cNvSpPr/>
          <p:nvPr/>
        </p:nvSpPr>
        <p:spPr>
          <a:xfrm>
            <a:off x="2304288" y="2167128"/>
            <a:ext cx="1472184" cy="914400"/>
          </a:xfrm>
          <a:prstGeom prst="line">
            <a:avLst/>
          </a:prstGeom>
          <a:noFill/>
          <a:ln w="19050">
            <a:solidFill>
              <a:srgbClr val="028090"/>
            </a:solidFill>
            <a:prstDash val="solid"/>
            <a:tailEnd type="triangle"/>
          </a:ln>
        </p:spPr>
      </p:sp>
      <p:sp>
        <p:nvSpPr>
          <p:cNvPr id="36" name="Shape 34"/>
          <p:cNvSpPr/>
          <p:nvPr/>
        </p:nvSpPr>
        <p:spPr>
          <a:xfrm>
            <a:off x="2304288" y="3081528"/>
            <a:ext cx="1472184" cy="914400"/>
          </a:xfrm>
          <a:prstGeom prst="line">
            <a:avLst/>
          </a:prstGeom>
          <a:noFill/>
          <a:ln w="19050">
            <a:solidFill>
              <a:srgbClr val="028090"/>
            </a:solidFill>
            <a:prstDash val="solid"/>
            <a:tailEnd type="triangle"/>
          </a:ln>
        </p:spPr>
      </p:sp>
      <p:sp>
        <p:nvSpPr>
          <p:cNvPr id="37" name="Shape 35"/>
          <p:cNvSpPr/>
          <p:nvPr/>
        </p:nvSpPr>
        <p:spPr>
          <a:xfrm flipV="1">
            <a:off x="2304288" y="2167128"/>
            <a:ext cx="1472184" cy="2286000"/>
          </a:xfrm>
          <a:prstGeom prst="line">
            <a:avLst/>
          </a:prstGeom>
          <a:noFill/>
          <a:ln w="19050">
            <a:solidFill>
              <a:srgbClr val="028090"/>
            </a:solidFill>
            <a:prstDash val="solid"/>
            <a:tailEnd type="triangle"/>
          </a:ln>
        </p:spPr>
      </p:sp>
      <p:sp>
        <p:nvSpPr>
          <p:cNvPr id="38" name="Shape 36"/>
          <p:cNvSpPr/>
          <p:nvPr/>
        </p:nvSpPr>
        <p:spPr>
          <a:xfrm>
            <a:off x="3749040" y="4480560"/>
            <a:ext cx="1737360" cy="1417320"/>
          </a:xfrm>
          <a:prstGeom prst="can">
            <a:avLst/>
          </a:prstGeom>
          <a:solidFill>
            <a:srgbClr val="50808E"/>
          </a:solidFill>
          <a:ln/>
        </p:spPr>
      </p:sp>
      <p:sp>
        <p:nvSpPr>
          <p:cNvPr id="39" name="Text 37"/>
          <p:cNvSpPr txBox="1"/>
          <p:nvPr/>
        </p:nvSpPr>
        <p:spPr>
          <a:xfrm>
            <a:off x="3749040" y="4764024"/>
            <a:ext cx="1737360" cy="1133856"/>
          </a:xfrm>
          <a:prstGeom prst="rect">
            <a:avLst/>
          </a:prstGeom>
          <a:noFill/>
          <a:ln/>
        </p:spPr>
        <p:txBody>
          <a:bodyPr wrap="square" lIns="0" tIns="0" rIns="0" bIns="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Disk</a:t>
            </a:r>
            <a:endParaRPr lang="tr-TR" sz="1300" dirty="0"/>
          </a:p>
          <a:p>
            <a:pPr algn="ctr" indent="0" marL="0">
              <a:buNone/>
            </a:pPr>
            <a:r>
              <a:rPr lang="tr-TR" sz="1100" dirty="0">
                <a:solidFill>
                  <a:srgbClr val="FFFFFF"/>
                </a:solidFill>
                <a:latin typeface="Calibri" pitchFamily="34" charset="0"/>
                <a:ea typeface="Calibri" pitchFamily="34" charset="-122"/>
                <a:cs typeface="Calibri" pitchFamily="34" charset="-120"/>
              </a:rPr>
              <a:t>yedek depo: B D E G H</a:t>
            </a:r>
            <a:endParaRPr lang="tr-TR" sz="1300" dirty="0"/>
          </a:p>
        </p:txBody>
      </p:sp>
      <p:sp>
        <p:nvSpPr>
          <p:cNvPr id="40" name="Shape 38"/>
          <p:cNvSpPr/>
          <p:nvPr/>
        </p:nvSpPr>
        <p:spPr>
          <a:xfrm>
            <a:off x="2304288" y="3566160"/>
            <a:ext cx="1444752" cy="1600200"/>
          </a:xfrm>
          <a:prstGeom prst="line">
            <a:avLst/>
          </a:prstGeom>
          <a:noFill/>
          <a:ln w="15875">
            <a:solidFill>
              <a:srgbClr val="50808E"/>
            </a:solidFill>
            <a:prstDash val="dash"/>
          </a:ln>
        </p:spPr>
      </p:sp>
      <p:sp>
        <p:nvSpPr>
          <p:cNvPr id="41" name="Shape 39"/>
          <p:cNvSpPr/>
          <p:nvPr/>
        </p:nvSpPr>
        <p:spPr>
          <a:xfrm>
            <a:off x="6035040" y="1508760"/>
            <a:ext cx="5623560" cy="4754880"/>
          </a:xfrm>
          <a:prstGeom prst="roundRect">
            <a:avLst>
              <a:gd name="adj" fmla="val 1154"/>
            </a:avLst>
          </a:prstGeom>
          <a:solidFill>
            <a:srgbClr val="F2F2F2"/>
          </a:solidFill>
          <a:ln/>
          <a:effectLst>
            <a:outerShdw sx="100000" sy="100000" kx="0" ky="0" algn="bl" rotWithShape="0" blurRad="101600" dist="25400" dir="5400000">
              <a:srgbClr val="000000">
                <a:alpha val="12000"/>
              </a:srgbClr>
            </a:outerShdw>
          </a:effectLst>
        </p:spPr>
      </p:sp>
      <p:sp>
        <p:nvSpPr>
          <p:cNvPr id="42" name="Text 40"/>
          <p:cNvSpPr txBox="1"/>
          <p:nvPr/>
        </p:nvSpPr>
        <p:spPr>
          <a:xfrm>
            <a:off x="6263640" y="1691640"/>
            <a:ext cx="51663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Neden işe yarar?</a:t>
            </a:r>
            <a:endParaRPr lang="tr-TR" sz="1500" dirty="0"/>
          </a:p>
        </p:txBody>
      </p:sp>
      <p:sp>
        <p:nvSpPr>
          <p:cNvPr id="43" name="Text 41"/>
          <p:cNvSpPr txBox="1"/>
          <p:nvPr/>
        </p:nvSpPr>
        <p:spPr>
          <a:xfrm>
            <a:off x="6263640" y="2148840"/>
            <a:ext cx="5166360" cy="3977640"/>
          </a:xfrm>
          <a:prstGeom prst="rect">
            <a:avLst/>
          </a:prstGeom>
          <a:noFill/>
          <a:ln/>
        </p:spPr>
        <p:txBody>
          <a:bodyPr wrap="square" lIns="0" tIns="0" rIns="0" bIns="0" rtlCol="0" anchor="t"/>
          <a:lstStyle/>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Bir programın büyük kısmı nadiren kullanılır: hata işleyicileri, sıra dışı menü seçenekleri, gerekenden büyük tanımlanmış diziler.</a:t>
            </a:r>
            <a:endParaRPr lang="tr-TR" sz="1500" dirty="0"/>
          </a:p>
          <a:p>
            <a:pPr marL="228600" indent="-228600">
              <a:spcAft>
                <a:spcPts val="400"/>
              </a:spcAft>
              <a:buSzPct val="100000"/>
              <a:buChar char="•"/>
            </a:pPr>
            <a:r>
              <a:rPr lang="tr-TR" sz="1500" b="1" dirty="0">
                <a:solidFill>
                  <a:srgbClr val="3A464C"/>
                </a:solidFill>
                <a:latin typeface="Calibri" pitchFamily="34" charset="0"/>
                <a:ea typeface="Calibri" pitchFamily="34" charset="-122"/>
                <a:cs typeface="Calibri" pitchFamily="34" charset="-120"/>
              </a:rPr>
              <a:t>Yerellik (locality):</a:t>
            </a:r>
            <a:r>
              <a:rPr lang="tr-TR" sz="1500" dirty="0">
                <a:solidFill>
                  <a:srgbClr val="3A464C"/>
                </a:solidFill>
                <a:latin typeface="Calibri" pitchFamily="34" charset="0"/>
                <a:ea typeface="Calibri" pitchFamily="34" charset="-122"/>
                <a:cs typeface="Calibri" pitchFamily="34" charset="-120"/>
              </a:rPr>
              <a:t> kısa bir süre içinde program sayfalarının yalnızca birkaçını kullanır.</a:t>
            </a:r>
            <a:endParaRPr lang="tr-TR" sz="1500" dirty="0"/>
          </a:p>
          <a:p>
            <a:pPr marL="228600" indent="-228600">
              <a:spcAft>
                <a:spcPts val="400"/>
              </a:spcAft>
              <a:buSzPct val="100000"/>
              <a:buChar char="•"/>
            </a:pPr>
            <a:r>
              <a:rPr lang="tr-TR" sz="1500" b="1" dirty="0">
                <a:solidFill>
                  <a:srgbClr val="3A464C"/>
                </a:solidFill>
                <a:latin typeface="Calibri" pitchFamily="34" charset="0"/>
                <a:ea typeface="Calibri" pitchFamily="34" charset="-122"/>
                <a:cs typeface="Calibri" pitchFamily="34" charset="-120"/>
              </a:rPr>
              <a:t>Öyleyse:</a:t>
            </a:r>
            <a:r>
              <a:rPr lang="tr-TR" sz="1500" dirty="0">
                <a:solidFill>
                  <a:srgbClr val="3A464C"/>
                </a:solidFill>
                <a:latin typeface="Calibri" pitchFamily="34" charset="0"/>
                <a:ea typeface="Calibri" pitchFamily="34" charset="-122"/>
                <a:cs typeface="Calibri" pitchFamily="34" charset="-120"/>
              </a:rPr>
              <a:t> yalnızca kullanılan sayfaları RAM'de tut; gerisi diskte beklesin.</a:t>
            </a:r>
            <a:endParaRPr lang="tr-TR" sz="1500" dirty="0"/>
          </a:p>
          <a:p>
            <a:pPr marL="228600" indent="-228600">
              <a:spcAft>
                <a:spcPts val="400"/>
              </a:spcAft>
              <a:buSzPct val="100000"/>
              <a:buChar char="•"/>
            </a:pPr>
            <a:r>
              <a:rPr lang="tr-TR" sz="1500" b="1" dirty="0">
                <a:solidFill>
                  <a:srgbClr val="3A464C"/>
                </a:solidFill>
                <a:latin typeface="Calibri" pitchFamily="34" charset="0"/>
                <a:ea typeface="Calibri" pitchFamily="34" charset="-122"/>
                <a:cs typeface="Calibri" pitchFamily="34" charset="-120"/>
              </a:rPr>
              <a:t>Kazançlar:</a:t>
            </a:r>
            <a:r>
              <a:rPr lang="tr-TR" sz="1500" dirty="0">
                <a:solidFill>
                  <a:srgbClr val="3A464C"/>
                </a:solidFill>
                <a:latin typeface="Calibri" pitchFamily="34" charset="0"/>
                <a:ea typeface="Calibri" pitchFamily="34" charset="-122"/>
                <a:cs typeface="Calibri" pitchFamily="34" charset="-120"/>
              </a:rPr>
              <a:t> RAM'den büyük programlar çalışabilir; belleğe daha çok süreç sığar (daha yüksek işlemci kullanımı); daha az şey yüklendiği için programlar daha hızlı başlar.</a:t>
            </a:r>
            <a:endParaRPr lang="tr-TR"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İSTEĞE BAĞLI SAYFALAMA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Hepsini mi Yükleyelim, Yalnızca Gerekeni mi?</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İsteğe bağlı sayfalama (demand paging) = sayfalama + tembel yükleme: bir sayfa ancak ilk kullanıldığında RAM'e getirilir.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6</a:t>
            </a:r>
            <a:endParaRPr lang="tr-TR" sz="900" dirty="0"/>
          </a:p>
        </p:txBody>
      </p:sp>
      <p:sp>
        <p:nvSpPr>
          <p:cNvPr id="7" name="Shape 5"/>
          <p:cNvSpPr/>
          <p:nvPr/>
        </p:nvSpPr>
        <p:spPr>
          <a:xfrm>
            <a:off x="548640" y="2103120"/>
            <a:ext cx="544068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8" name="Text 6"/>
          <p:cNvSpPr txBox="1"/>
          <p:nvPr/>
        </p:nvSpPr>
        <p:spPr>
          <a:xfrm>
            <a:off x="777240" y="2286000"/>
            <a:ext cx="4983480" cy="384048"/>
          </a:xfrm>
          <a:prstGeom prst="rect">
            <a:avLst/>
          </a:prstGeom>
          <a:noFill/>
          <a:ln/>
        </p:spPr>
        <p:txBody>
          <a:bodyPr wrap="square" lIns="0" tIns="0" rIns="0" bIns="0" rtlCol="0" anchor="ctr"/>
          <a:lstStyle/>
          <a:p>
            <a:pPr indent="0" marL="0">
              <a:buNone/>
            </a:pPr>
            <a:r>
              <a:rPr lang="tr-TR" sz="1500" b="1" dirty="0">
                <a:solidFill>
                  <a:srgbClr val="B5453A"/>
                </a:solidFill>
                <a:latin typeface="Cambria" pitchFamily="34" charset="0"/>
                <a:ea typeface="Cambria" pitchFamily="34" charset="-122"/>
                <a:cs typeface="Cambria" pitchFamily="34" charset="-120"/>
              </a:rPr>
              <a:t>Hevesli: programın tamamını yükle</a:t>
            </a:r>
            <a:endParaRPr lang="tr-TR" sz="1500" dirty="0"/>
          </a:p>
        </p:txBody>
      </p:sp>
      <p:sp>
        <p:nvSpPr>
          <p:cNvPr id="9" name="Text 7"/>
          <p:cNvSpPr txBox="1"/>
          <p:nvPr/>
        </p:nvSpPr>
        <p:spPr>
          <a:xfrm>
            <a:off x="777240" y="2743200"/>
            <a:ext cx="4983480" cy="237744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Program başlamadan önce tüm sayfalar diskten okunur.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Kullanıcı tek bir menü açacak olsa bile başlangıç yavaştır.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Hiç kullanılmayan sayfalar için RAM harcanır.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Bellekte aynı anda daha az program yer alır.</a:t>
            </a:r>
            <a:endParaRPr lang="tr-TR" sz="1400" dirty="0"/>
          </a:p>
        </p:txBody>
      </p:sp>
      <p:sp>
        <p:nvSpPr>
          <p:cNvPr id="10" name="Shape 8"/>
          <p:cNvSpPr/>
          <p:nvPr/>
        </p:nvSpPr>
        <p:spPr>
          <a:xfrm>
            <a:off x="6217920" y="2103120"/>
            <a:ext cx="544068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6446520" y="228600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Tembel: isteğe bağlı sayfalama</a:t>
            </a:r>
            <a:endParaRPr lang="tr-TR" sz="1500" dirty="0"/>
          </a:p>
        </p:txBody>
      </p:sp>
      <p:sp>
        <p:nvSpPr>
          <p:cNvPr id="12" name="Text 10"/>
          <p:cNvSpPr txBox="1"/>
          <p:nvPr/>
        </p:nvSpPr>
        <p:spPr>
          <a:xfrm>
            <a:off x="6446520" y="2743200"/>
            <a:ext cx="4983480" cy="237744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Az sayıda (ya da hiç) sayfayla başla.</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Bir sayfayı ona ilk başvurulduğunda yükle.</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Daha az G/Ç, daha az bellek, hızlı başlangıç, daha çok süreç.</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Bedeli: her sayfanın ilk kullanımı bir sayfa hatasına yol açar.</a:t>
            </a:r>
            <a:endParaRPr lang="tr-TR" sz="1400" dirty="0"/>
          </a:p>
        </p:txBody>
      </p:sp>
      <p:sp>
        <p:nvSpPr>
          <p:cNvPr id="13" name="Shape 11"/>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4" name="Text 12"/>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Sayfaları disk ile RAM arasında taşıyan işletim sistemi parçasına sayfalayıcı (pager) denir. "Saf" isteğe bağlı sayfalamada program bellekte hiç sayfa olmadan başlar.</a:t>
            </a:r>
            <a:endParaRPr lang="tr-TR"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İSTEĞE BAĞLI SAYFALAMA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Geçerli–Geçersiz Biti: Sayfa Bellekte mi?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7</a:t>
            </a:r>
            <a:endParaRPr lang="tr-TR" sz="900" dirty="0"/>
          </a:p>
        </p:txBody>
      </p:sp>
      <p:sp>
        <p:nvSpPr>
          <p:cNvPr id="6" name="Text 4"/>
          <p:cNvSpPr txBox="1"/>
          <p:nvPr/>
        </p:nvSpPr>
        <p:spPr>
          <a:xfrm>
            <a:off x="457200" y="1508760"/>
            <a:ext cx="1554480" cy="411480"/>
          </a:xfrm>
          <a:prstGeom prst="rect">
            <a:avLst/>
          </a:prstGeom>
          <a:noFill/>
          <a:ln/>
        </p:spPr>
        <p:txBody>
          <a:bodyPr wrap="square" lIns="0" tIns="0" rIns="0" bIns="0" rtlCol="0" anchor="b"/>
          <a:lstStyle/>
          <a:p>
            <a:pPr algn="ctr" indent="0" marL="0">
              <a:buNone/>
            </a:pPr>
            <a:r>
              <a:rPr lang="tr-TR" sz="1200" b="1" dirty="0">
                <a:solidFill>
                  <a:srgbClr val="36454F"/>
                </a:solidFill>
                <a:latin typeface="Calibri" pitchFamily="34" charset="0"/>
                <a:ea typeface="Calibri" pitchFamily="34" charset="-122"/>
                <a:cs typeface="Calibri" pitchFamily="34" charset="-120"/>
              </a:rPr>
              <a:t>Mantıksal bellek</a:t>
            </a:r>
            <a:endParaRPr lang="tr-TR" sz="1200" dirty="0"/>
          </a:p>
        </p:txBody>
      </p:sp>
      <p:sp>
        <p:nvSpPr>
          <p:cNvPr id="7" name="Text 5"/>
          <p:cNvSpPr txBox="1"/>
          <p:nvPr/>
        </p:nvSpPr>
        <p:spPr>
          <a:xfrm>
            <a:off x="502920" y="1965960"/>
            <a:ext cx="274320" cy="402336"/>
          </a:xfrm>
          <a:prstGeom prst="rect">
            <a:avLst/>
          </a:prstGeom>
          <a:noFill/>
          <a:ln/>
        </p:spPr>
        <p:txBody>
          <a:bodyPr wrap="square" lIns="0" tIns="0" rIns="0" bIns="0" rtlCol="0" anchor="ctr"/>
          <a:lstStyle/>
          <a:p>
            <a:pPr indent="0" marL="0">
              <a:buNone/>
            </a:pPr>
            <a:r>
              <a:rPr lang="tr-TR" sz="1100" dirty="0">
                <a:solidFill>
                  <a:srgbClr val="6B7679"/>
                </a:solidFill>
                <a:latin typeface="Calibri" pitchFamily="34" charset="0"/>
                <a:ea typeface="Calibri" pitchFamily="34" charset="-122"/>
                <a:cs typeface="Calibri" pitchFamily="34" charset="-120"/>
              </a:rPr>
              <a:t>0</a:t>
            </a:r>
            <a:endParaRPr lang="tr-TR" sz="1100" dirty="0"/>
          </a:p>
        </p:txBody>
      </p:sp>
      <p:sp>
        <p:nvSpPr>
          <p:cNvPr id="8" name="Shape 6"/>
          <p:cNvSpPr/>
          <p:nvPr/>
        </p:nvSpPr>
        <p:spPr>
          <a:xfrm>
            <a:off x="777240" y="1965960"/>
            <a:ext cx="1097280" cy="402336"/>
          </a:xfrm>
          <a:prstGeom prst="roundRect">
            <a:avLst>
              <a:gd name="adj" fmla="val 11364"/>
            </a:avLst>
          </a:prstGeom>
          <a:solidFill>
            <a:srgbClr val="F2F2F2"/>
          </a:solidFill>
          <a:ln/>
        </p:spPr>
      </p:sp>
      <p:sp>
        <p:nvSpPr>
          <p:cNvPr id="9" name="Text 7"/>
          <p:cNvSpPr txBox="1"/>
          <p:nvPr/>
        </p:nvSpPr>
        <p:spPr>
          <a:xfrm>
            <a:off x="777240" y="1965960"/>
            <a:ext cx="1097280" cy="402336"/>
          </a:xfrm>
          <a:prstGeom prst="rect">
            <a:avLst/>
          </a:prstGeom>
          <a:noFill/>
          <a:ln/>
        </p:spPr>
        <p:txBody>
          <a:bodyPr wrap="square" lIns="38100" tIns="38100" rIns="38100" bIns="38100" rtlCol="0" anchor="ctr"/>
          <a:lstStyle/>
          <a:p>
            <a:pPr algn="ctr" indent="0" marL="0">
              <a:buNone/>
            </a:pPr>
            <a:r>
              <a:rPr lang="tr-TR" sz="1400" b="1" dirty="0">
                <a:solidFill>
                  <a:srgbClr val="36454F"/>
                </a:solidFill>
                <a:latin typeface="Calibri" pitchFamily="34" charset="0"/>
                <a:ea typeface="Calibri" pitchFamily="34" charset="-122"/>
                <a:cs typeface="Calibri" pitchFamily="34" charset="-120"/>
              </a:rPr>
              <a:t>A</a:t>
            </a:r>
            <a:endParaRPr lang="tr-TR" sz="1400" dirty="0"/>
          </a:p>
        </p:txBody>
      </p:sp>
      <p:sp>
        <p:nvSpPr>
          <p:cNvPr id="10" name="Text 8"/>
          <p:cNvSpPr txBox="1"/>
          <p:nvPr/>
        </p:nvSpPr>
        <p:spPr>
          <a:xfrm>
            <a:off x="502920" y="2423160"/>
            <a:ext cx="274320" cy="402336"/>
          </a:xfrm>
          <a:prstGeom prst="rect">
            <a:avLst/>
          </a:prstGeom>
          <a:noFill/>
          <a:ln/>
        </p:spPr>
        <p:txBody>
          <a:bodyPr wrap="square" lIns="0" tIns="0" rIns="0" bIns="0" rtlCol="0" anchor="ctr"/>
          <a:lstStyle/>
          <a:p>
            <a:pPr indent="0" marL="0">
              <a:buNone/>
            </a:pPr>
            <a:r>
              <a:rPr lang="tr-TR" sz="1100" dirty="0">
                <a:solidFill>
                  <a:srgbClr val="6B7679"/>
                </a:solidFill>
                <a:latin typeface="Calibri" pitchFamily="34" charset="0"/>
                <a:ea typeface="Calibri" pitchFamily="34" charset="-122"/>
                <a:cs typeface="Calibri" pitchFamily="34" charset="-120"/>
              </a:rPr>
              <a:t>1</a:t>
            </a:r>
            <a:endParaRPr lang="tr-TR" sz="1100" dirty="0"/>
          </a:p>
        </p:txBody>
      </p:sp>
      <p:sp>
        <p:nvSpPr>
          <p:cNvPr id="11" name="Shape 9"/>
          <p:cNvSpPr/>
          <p:nvPr/>
        </p:nvSpPr>
        <p:spPr>
          <a:xfrm>
            <a:off x="777240" y="2423160"/>
            <a:ext cx="1097280" cy="402336"/>
          </a:xfrm>
          <a:prstGeom prst="roundRect">
            <a:avLst>
              <a:gd name="adj" fmla="val 11364"/>
            </a:avLst>
          </a:prstGeom>
          <a:solidFill>
            <a:srgbClr val="F2F2F2"/>
          </a:solidFill>
          <a:ln/>
        </p:spPr>
      </p:sp>
      <p:sp>
        <p:nvSpPr>
          <p:cNvPr id="12" name="Text 10"/>
          <p:cNvSpPr txBox="1"/>
          <p:nvPr/>
        </p:nvSpPr>
        <p:spPr>
          <a:xfrm>
            <a:off x="777240" y="2423160"/>
            <a:ext cx="1097280" cy="402336"/>
          </a:xfrm>
          <a:prstGeom prst="rect">
            <a:avLst/>
          </a:prstGeom>
          <a:noFill/>
          <a:ln/>
        </p:spPr>
        <p:txBody>
          <a:bodyPr wrap="square" lIns="38100" tIns="38100" rIns="38100" bIns="38100" rtlCol="0" anchor="ctr"/>
          <a:lstStyle/>
          <a:p>
            <a:pPr algn="ctr" indent="0" marL="0">
              <a:buNone/>
            </a:pPr>
            <a:r>
              <a:rPr lang="tr-TR" sz="1400" b="1" dirty="0">
                <a:solidFill>
                  <a:srgbClr val="36454F"/>
                </a:solidFill>
                <a:latin typeface="Calibri" pitchFamily="34" charset="0"/>
                <a:ea typeface="Calibri" pitchFamily="34" charset="-122"/>
                <a:cs typeface="Calibri" pitchFamily="34" charset="-120"/>
              </a:rPr>
              <a:t>B</a:t>
            </a:r>
            <a:endParaRPr lang="tr-TR" sz="1400" dirty="0"/>
          </a:p>
        </p:txBody>
      </p:sp>
      <p:sp>
        <p:nvSpPr>
          <p:cNvPr id="13" name="Text 11"/>
          <p:cNvSpPr txBox="1"/>
          <p:nvPr/>
        </p:nvSpPr>
        <p:spPr>
          <a:xfrm>
            <a:off x="502920" y="2880360"/>
            <a:ext cx="274320" cy="402336"/>
          </a:xfrm>
          <a:prstGeom prst="rect">
            <a:avLst/>
          </a:prstGeom>
          <a:noFill/>
          <a:ln/>
        </p:spPr>
        <p:txBody>
          <a:bodyPr wrap="square" lIns="0" tIns="0" rIns="0" bIns="0" rtlCol="0" anchor="ctr"/>
          <a:lstStyle/>
          <a:p>
            <a:pPr indent="0" marL="0">
              <a:buNone/>
            </a:pPr>
            <a:r>
              <a:rPr lang="tr-TR" sz="1100" dirty="0">
                <a:solidFill>
                  <a:srgbClr val="6B7679"/>
                </a:solidFill>
                <a:latin typeface="Calibri" pitchFamily="34" charset="0"/>
                <a:ea typeface="Calibri" pitchFamily="34" charset="-122"/>
                <a:cs typeface="Calibri" pitchFamily="34" charset="-120"/>
              </a:rPr>
              <a:t>2</a:t>
            </a:r>
            <a:endParaRPr lang="tr-TR" sz="1100" dirty="0"/>
          </a:p>
        </p:txBody>
      </p:sp>
      <p:sp>
        <p:nvSpPr>
          <p:cNvPr id="14" name="Shape 12"/>
          <p:cNvSpPr/>
          <p:nvPr/>
        </p:nvSpPr>
        <p:spPr>
          <a:xfrm>
            <a:off x="777240" y="2880360"/>
            <a:ext cx="1097280" cy="402336"/>
          </a:xfrm>
          <a:prstGeom prst="roundRect">
            <a:avLst>
              <a:gd name="adj" fmla="val 11364"/>
            </a:avLst>
          </a:prstGeom>
          <a:solidFill>
            <a:srgbClr val="F2F2F2"/>
          </a:solidFill>
          <a:ln/>
        </p:spPr>
      </p:sp>
      <p:sp>
        <p:nvSpPr>
          <p:cNvPr id="15" name="Text 13"/>
          <p:cNvSpPr txBox="1"/>
          <p:nvPr/>
        </p:nvSpPr>
        <p:spPr>
          <a:xfrm>
            <a:off x="777240" y="2880360"/>
            <a:ext cx="1097280" cy="402336"/>
          </a:xfrm>
          <a:prstGeom prst="rect">
            <a:avLst/>
          </a:prstGeom>
          <a:noFill/>
          <a:ln/>
        </p:spPr>
        <p:txBody>
          <a:bodyPr wrap="square" lIns="38100" tIns="38100" rIns="38100" bIns="38100" rtlCol="0" anchor="ctr"/>
          <a:lstStyle/>
          <a:p>
            <a:pPr algn="ctr" indent="0" marL="0">
              <a:buNone/>
            </a:pPr>
            <a:r>
              <a:rPr lang="tr-TR" sz="1400" b="1" dirty="0">
                <a:solidFill>
                  <a:srgbClr val="36454F"/>
                </a:solidFill>
                <a:latin typeface="Calibri" pitchFamily="34" charset="0"/>
                <a:ea typeface="Calibri" pitchFamily="34" charset="-122"/>
                <a:cs typeface="Calibri" pitchFamily="34" charset="-120"/>
              </a:rPr>
              <a:t>C</a:t>
            </a:r>
            <a:endParaRPr lang="tr-TR" sz="1400" dirty="0"/>
          </a:p>
        </p:txBody>
      </p:sp>
      <p:sp>
        <p:nvSpPr>
          <p:cNvPr id="16" name="Text 14"/>
          <p:cNvSpPr txBox="1"/>
          <p:nvPr/>
        </p:nvSpPr>
        <p:spPr>
          <a:xfrm>
            <a:off x="502920" y="3337560"/>
            <a:ext cx="274320" cy="402336"/>
          </a:xfrm>
          <a:prstGeom prst="rect">
            <a:avLst/>
          </a:prstGeom>
          <a:noFill/>
          <a:ln/>
        </p:spPr>
        <p:txBody>
          <a:bodyPr wrap="square" lIns="0" tIns="0" rIns="0" bIns="0" rtlCol="0" anchor="ctr"/>
          <a:lstStyle/>
          <a:p>
            <a:pPr indent="0" marL="0">
              <a:buNone/>
            </a:pPr>
            <a:r>
              <a:rPr lang="tr-TR" sz="1100" dirty="0">
                <a:solidFill>
                  <a:srgbClr val="6B7679"/>
                </a:solidFill>
                <a:latin typeface="Calibri" pitchFamily="34" charset="0"/>
                <a:ea typeface="Calibri" pitchFamily="34" charset="-122"/>
                <a:cs typeface="Calibri" pitchFamily="34" charset="-120"/>
              </a:rPr>
              <a:t>3</a:t>
            </a:r>
            <a:endParaRPr lang="tr-TR" sz="1100" dirty="0"/>
          </a:p>
        </p:txBody>
      </p:sp>
      <p:sp>
        <p:nvSpPr>
          <p:cNvPr id="17" name="Shape 15"/>
          <p:cNvSpPr/>
          <p:nvPr/>
        </p:nvSpPr>
        <p:spPr>
          <a:xfrm>
            <a:off x="777240" y="3337560"/>
            <a:ext cx="1097280" cy="402336"/>
          </a:xfrm>
          <a:prstGeom prst="roundRect">
            <a:avLst>
              <a:gd name="adj" fmla="val 11364"/>
            </a:avLst>
          </a:prstGeom>
          <a:solidFill>
            <a:srgbClr val="F2F2F2"/>
          </a:solidFill>
          <a:ln/>
        </p:spPr>
      </p:sp>
      <p:sp>
        <p:nvSpPr>
          <p:cNvPr id="18" name="Text 16"/>
          <p:cNvSpPr txBox="1"/>
          <p:nvPr/>
        </p:nvSpPr>
        <p:spPr>
          <a:xfrm>
            <a:off x="777240" y="3337560"/>
            <a:ext cx="1097280" cy="402336"/>
          </a:xfrm>
          <a:prstGeom prst="rect">
            <a:avLst/>
          </a:prstGeom>
          <a:noFill/>
          <a:ln/>
        </p:spPr>
        <p:txBody>
          <a:bodyPr wrap="square" lIns="38100" tIns="38100" rIns="38100" bIns="38100" rtlCol="0" anchor="ctr"/>
          <a:lstStyle/>
          <a:p>
            <a:pPr algn="ctr" indent="0" marL="0">
              <a:buNone/>
            </a:pPr>
            <a:r>
              <a:rPr lang="tr-TR" sz="1400" b="1" dirty="0">
                <a:solidFill>
                  <a:srgbClr val="36454F"/>
                </a:solidFill>
                <a:latin typeface="Calibri" pitchFamily="34" charset="0"/>
                <a:ea typeface="Calibri" pitchFamily="34" charset="-122"/>
                <a:cs typeface="Calibri" pitchFamily="34" charset="-120"/>
              </a:rPr>
              <a:t>D</a:t>
            </a:r>
            <a:endParaRPr lang="tr-TR" sz="1400" dirty="0"/>
          </a:p>
        </p:txBody>
      </p:sp>
      <p:sp>
        <p:nvSpPr>
          <p:cNvPr id="19" name="Text 17"/>
          <p:cNvSpPr txBox="1"/>
          <p:nvPr/>
        </p:nvSpPr>
        <p:spPr>
          <a:xfrm>
            <a:off x="502920" y="3794760"/>
            <a:ext cx="274320" cy="402336"/>
          </a:xfrm>
          <a:prstGeom prst="rect">
            <a:avLst/>
          </a:prstGeom>
          <a:noFill/>
          <a:ln/>
        </p:spPr>
        <p:txBody>
          <a:bodyPr wrap="square" lIns="0" tIns="0" rIns="0" bIns="0" rtlCol="0" anchor="ctr"/>
          <a:lstStyle/>
          <a:p>
            <a:pPr indent="0" marL="0">
              <a:buNone/>
            </a:pPr>
            <a:r>
              <a:rPr lang="tr-TR" sz="1100" dirty="0">
                <a:solidFill>
                  <a:srgbClr val="6B7679"/>
                </a:solidFill>
                <a:latin typeface="Calibri" pitchFamily="34" charset="0"/>
                <a:ea typeface="Calibri" pitchFamily="34" charset="-122"/>
                <a:cs typeface="Calibri" pitchFamily="34" charset="-120"/>
              </a:rPr>
              <a:t>4</a:t>
            </a:r>
            <a:endParaRPr lang="tr-TR" sz="1100" dirty="0"/>
          </a:p>
        </p:txBody>
      </p:sp>
      <p:sp>
        <p:nvSpPr>
          <p:cNvPr id="20" name="Shape 18"/>
          <p:cNvSpPr/>
          <p:nvPr/>
        </p:nvSpPr>
        <p:spPr>
          <a:xfrm>
            <a:off x="777240" y="3794760"/>
            <a:ext cx="1097280" cy="402336"/>
          </a:xfrm>
          <a:prstGeom prst="roundRect">
            <a:avLst>
              <a:gd name="adj" fmla="val 11364"/>
            </a:avLst>
          </a:prstGeom>
          <a:solidFill>
            <a:srgbClr val="F2F2F2"/>
          </a:solidFill>
          <a:ln/>
        </p:spPr>
      </p:sp>
      <p:sp>
        <p:nvSpPr>
          <p:cNvPr id="21" name="Text 19"/>
          <p:cNvSpPr txBox="1"/>
          <p:nvPr/>
        </p:nvSpPr>
        <p:spPr>
          <a:xfrm>
            <a:off x="777240" y="3794760"/>
            <a:ext cx="1097280" cy="402336"/>
          </a:xfrm>
          <a:prstGeom prst="rect">
            <a:avLst/>
          </a:prstGeom>
          <a:noFill/>
          <a:ln/>
        </p:spPr>
        <p:txBody>
          <a:bodyPr wrap="square" lIns="38100" tIns="38100" rIns="38100" bIns="38100" rtlCol="0" anchor="ctr"/>
          <a:lstStyle/>
          <a:p>
            <a:pPr algn="ctr" indent="0" marL="0">
              <a:buNone/>
            </a:pPr>
            <a:r>
              <a:rPr lang="tr-TR" sz="1400" b="1" dirty="0">
                <a:solidFill>
                  <a:srgbClr val="36454F"/>
                </a:solidFill>
                <a:latin typeface="Calibri" pitchFamily="34" charset="0"/>
                <a:ea typeface="Calibri" pitchFamily="34" charset="-122"/>
                <a:cs typeface="Calibri" pitchFamily="34" charset="-120"/>
              </a:rPr>
              <a:t>E</a:t>
            </a:r>
            <a:endParaRPr lang="tr-TR" sz="1400" dirty="0"/>
          </a:p>
        </p:txBody>
      </p:sp>
      <p:sp>
        <p:nvSpPr>
          <p:cNvPr id="22" name="Text 20"/>
          <p:cNvSpPr txBox="1"/>
          <p:nvPr/>
        </p:nvSpPr>
        <p:spPr>
          <a:xfrm>
            <a:off x="502920" y="4251960"/>
            <a:ext cx="274320" cy="402336"/>
          </a:xfrm>
          <a:prstGeom prst="rect">
            <a:avLst/>
          </a:prstGeom>
          <a:noFill/>
          <a:ln/>
        </p:spPr>
        <p:txBody>
          <a:bodyPr wrap="square" lIns="0" tIns="0" rIns="0" bIns="0" rtlCol="0" anchor="ctr"/>
          <a:lstStyle/>
          <a:p>
            <a:pPr indent="0" marL="0">
              <a:buNone/>
            </a:pPr>
            <a:r>
              <a:rPr lang="tr-TR" sz="1100" dirty="0">
                <a:solidFill>
                  <a:srgbClr val="6B7679"/>
                </a:solidFill>
                <a:latin typeface="Calibri" pitchFamily="34" charset="0"/>
                <a:ea typeface="Calibri" pitchFamily="34" charset="-122"/>
                <a:cs typeface="Calibri" pitchFamily="34" charset="-120"/>
              </a:rPr>
              <a:t>5</a:t>
            </a:r>
            <a:endParaRPr lang="tr-TR" sz="1100" dirty="0"/>
          </a:p>
        </p:txBody>
      </p:sp>
      <p:sp>
        <p:nvSpPr>
          <p:cNvPr id="23" name="Shape 21"/>
          <p:cNvSpPr/>
          <p:nvPr/>
        </p:nvSpPr>
        <p:spPr>
          <a:xfrm>
            <a:off x="777240" y="4251960"/>
            <a:ext cx="1097280" cy="402336"/>
          </a:xfrm>
          <a:prstGeom prst="roundRect">
            <a:avLst>
              <a:gd name="adj" fmla="val 11364"/>
            </a:avLst>
          </a:prstGeom>
          <a:solidFill>
            <a:srgbClr val="F2F2F2"/>
          </a:solidFill>
          <a:ln/>
        </p:spPr>
      </p:sp>
      <p:sp>
        <p:nvSpPr>
          <p:cNvPr id="24" name="Text 22"/>
          <p:cNvSpPr txBox="1"/>
          <p:nvPr/>
        </p:nvSpPr>
        <p:spPr>
          <a:xfrm>
            <a:off x="777240" y="4251960"/>
            <a:ext cx="1097280" cy="402336"/>
          </a:xfrm>
          <a:prstGeom prst="rect">
            <a:avLst/>
          </a:prstGeom>
          <a:noFill/>
          <a:ln/>
        </p:spPr>
        <p:txBody>
          <a:bodyPr wrap="square" lIns="38100" tIns="38100" rIns="38100" bIns="38100" rtlCol="0" anchor="ctr"/>
          <a:lstStyle/>
          <a:p>
            <a:pPr algn="ctr" indent="0" marL="0">
              <a:buNone/>
            </a:pPr>
            <a:r>
              <a:rPr lang="tr-TR" sz="1400" b="1" dirty="0">
                <a:solidFill>
                  <a:srgbClr val="36454F"/>
                </a:solidFill>
                <a:latin typeface="Calibri" pitchFamily="34" charset="0"/>
                <a:ea typeface="Calibri" pitchFamily="34" charset="-122"/>
                <a:cs typeface="Calibri" pitchFamily="34" charset="-120"/>
              </a:rPr>
              <a:t>F</a:t>
            </a:r>
            <a:endParaRPr lang="tr-TR" sz="1400" dirty="0"/>
          </a:p>
        </p:txBody>
      </p:sp>
      <p:sp>
        <p:nvSpPr>
          <p:cNvPr id="25" name="Text 23"/>
          <p:cNvSpPr txBox="1"/>
          <p:nvPr/>
        </p:nvSpPr>
        <p:spPr>
          <a:xfrm>
            <a:off x="502920" y="4709160"/>
            <a:ext cx="274320" cy="402336"/>
          </a:xfrm>
          <a:prstGeom prst="rect">
            <a:avLst/>
          </a:prstGeom>
          <a:noFill/>
          <a:ln/>
        </p:spPr>
        <p:txBody>
          <a:bodyPr wrap="square" lIns="0" tIns="0" rIns="0" bIns="0" rtlCol="0" anchor="ctr"/>
          <a:lstStyle/>
          <a:p>
            <a:pPr indent="0" marL="0">
              <a:buNone/>
            </a:pPr>
            <a:r>
              <a:rPr lang="tr-TR" sz="1100" dirty="0">
                <a:solidFill>
                  <a:srgbClr val="6B7679"/>
                </a:solidFill>
                <a:latin typeface="Calibri" pitchFamily="34" charset="0"/>
                <a:ea typeface="Calibri" pitchFamily="34" charset="-122"/>
                <a:cs typeface="Calibri" pitchFamily="34" charset="-120"/>
              </a:rPr>
              <a:t>6</a:t>
            </a:r>
            <a:endParaRPr lang="tr-TR" sz="1100" dirty="0"/>
          </a:p>
        </p:txBody>
      </p:sp>
      <p:sp>
        <p:nvSpPr>
          <p:cNvPr id="26" name="Shape 24"/>
          <p:cNvSpPr/>
          <p:nvPr/>
        </p:nvSpPr>
        <p:spPr>
          <a:xfrm>
            <a:off x="777240" y="4709160"/>
            <a:ext cx="1097280" cy="402336"/>
          </a:xfrm>
          <a:prstGeom prst="roundRect">
            <a:avLst>
              <a:gd name="adj" fmla="val 11364"/>
            </a:avLst>
          </a:prstGeom>
          <a:solidFill>
            <a:srgbClr val="F2F2F2"/>
          </a:solidFill>
          <a:ln/>
        </p:spPr>
      </p:sp>
      <p:sp>
        <p:nvSpPr>
          <p:cNvPr id="27" name="Text 25"/>
          <p:cNvSpPr txBox="1"/>
          <p:nvPr/>
        </p:nvSpPr>
        <p:spPr>
          <a:xfrm>
            <a:off x="777240" y="4709160"/>
            <a:ext cx="1097280" cy="402336"/>
          </a:xfrm>
          <a:prstGeom prst="rect">
            <a:avLst/>
          </a:prstGeom>
          <a:noFill/>
          <a:ln/>
        </p:spPr>
        <p:txBody>
          <a:bodyPr wrap="square" lIns="38100" tIns="38100" rIns="38100" bIns="38100" rtlCol="0" anchor="ctr"/>
          <a:lstStyle/>
          <a:p>
            <a:pPr algn="ctr" indent="0" marL="0">
              <a:buNone/>
            </a:pPr>
            <a:r>
              <a:rPr lang="tr-TR" sz="1400" b="1" dirty="0">
                <a:solidFill>
                  <a:srgbClr val="36454F"/>
                </a:solidFill>
                <a:latin typeface="Calibri" pitchFamily="34" charset="0"/>
                <a:ea typeface="Calibri" pitchFamily="34" charset="-122"/>
                <a:cs typeface="Calibri" pitchFamily="34" charset="-120"/>
              </a:rPr>
              <a:t>G</a:t>
            </a:r>
            <a:endParaRPr lang="tr-TR" sz="1400" dirty="0"/>
          </a:p>
        </p:txBody>
      </p:sp>
      <p:sp>
        <p:nvSpPr>
          <p:cNvPr id="28" name="Text 26"/>
          <p:cNvSpPr txBox="1"/>
          <p:nvPr/>
        </p:nvSpPr>
        <p:spPr>
          <a:xfrm>
            <a:off x="502920" y="5166360"/>
            <a:ext cx="274320" cy="402336"/>
          </a:xfrm>
          <a:prstGeom prst="rect">
            <a:avLst/>
          </a:prstGeom>
          <a:noFill/>
          <a:ln/>
        </p:spPr>
        <p:txBody>
          <a:bodyPr wrap="square" lIns="0" tIns="0" rIns="0" bIns="0" rtlCol="0" anchor="ctr"/>
          <a:lstStyle/>
          <a:p>
            <a:pPr indent="0" marL="0">
              <a:buNone/>
            </a:pPr>
            <a:r>
              <a:rPr lang="tr-TR" sz="1100" dirty="0">
                <a:solidFill>
                  <a:srgbClr val="6B7679"/>
                </a:solidFill>
                <a:latin typeface="Calibri" pitchFamily="34" charset="0"/>
                <a:ea typeface="Calibri" pitchFamily="34" charset="-122"/>
                <a:cs typeface="Calibri" pitchFamily="34" charset="-120"/>
              </a:rPr>
              <a:t>7</a:t>
            </a:r>
            <a:endParaRPr lang="tr-TR" sz="1100" dirty="0"/>
          </a:p>
        </p:txBody>
      </p:sp>
      <p:sp>
        <p:nvSpPr>
          <p:cNvPr id="29" name="Shape 27"/>
          <p:cNvSpPr/>
          <p:nvPr/>
        </p:nvSpPr>
        <p:spPr>
          <a:xfrm>
            <a:off x="777240" y="5166360"/>
            <a:ext cx="1097280" cy="402336"/>
          </a:xfrm>
          <a:prstGeom prst="roundRect">
            <a:avLst>
              <a:gd name="adj" fmla="val 11364"/>
            </a:avLst>
          </a:prstGeom>
          <a:solidFill>
            <a:srgbClr val="F2F2F2"/>
          </a:solidFill>
          <a:ln/>
        </p:spPr>
      </p:sp>
      <p:sp>
        <p:nvSpPr>
          <p:cNvPr id="30" name="Text 28"/>
          <p:cNvSpPr txBox="1"/>
          <p:nvPr/>
        </p:nvSpPr>
        <p:spPr>
          <a:xfrm>
            <a:off x="777240" y="5166360"/>
            <a:ext cx="1097280" cy="402336"/>
          </a:xfrm>
          <a:prstGeom prst="rect">
            <a:avLst/>
          </a:prstGeom>
          <a:noFill/>
          <a:ln/>
        </p:spPr>
        <p:txBody>
          <a:bodyPr wrap="square" lIns="38100" tIns="38100" rIns="38100" bIns="38100" rtlCol="0" anchor="ctr"/>
          <a:lstStyle/>
          <a:p>
            <a:pPr algn="ctr" indent="0" marL="0">
              <a:buNone/>
            </a:pPr>
            <a:r>
              <a:rPr lang="tr-TR" sz="1400" b="1" dirty="0">
                <a:solidFill>
                  <a:srgbClr val="36454F"/>
                </a:solidFill>
                <a:latin typeface="Calibri" pitchFamily="34" charset="0"/>
                <a:ea typeface="Calibri" pitchFamily="34" charset="-122"/>
                <a:cs typeface="Calibri" pitchFamily="34" charset="-120"/>
              </a:rPr>
              <a:t>H</a:t>
            </a:r>
            <a:endParaRPr lang="tr-TR" sz="1400" dirty="0"/>
          </a:p>
        </p:txBody>
      </p:sp>
      <p:sp>
        <p:nvSpPr>
          <p:cNvPr id="31" name="Text 29"/>
          <p:cNvSpPr txBox="1"/>
          <p:nvPr/>
        </p:nvSpPr>
        <p:spPr>
          <a:xfrm>
            <a:off x="2377440" y="1508760"/>
            <a:ext cx="1737360" cy="411480"/>
          </a:xfrm>
          <a:prstGeom prst="rect">
            <a:avLst/>
          </a:prstGeom>
          <a:noFill/>
          <a:ln/>
        </p:spPr>
        <p:txBody>
          <a:bodyPr wrap="square" lIns="0" tIns="0" rIns="0" bIns="0" rtlCol="0" anchor="b"/>
          <a:lstStyle/>
          <a:p>
            <a:pPr algn="ctr" indent="0" marL="0">
              <a:buNone/>
            </a:pPr>
            <a:r>
              <a:rPr lang="tr-TR" sz="1200" b="1" dirty="0">
                <a:solidFill>
                  <a:srgbClr val="36454F"/>
                </a:solidFill>
                <a:latin typeface="Calibri" pitchFamily="34" charset="0"/>
                <a:ea typeface="Calibri" pitchFamily="34" charset="-122"/>
                <a:cs typeface="Calibri" pitchFamily="34" charset="-120"/>
              </a:rPr>
              <a:t>Sayfa tablosu</a:t>
            </a:r>
            <a:endParaRPr lang="tr-TR" sz="1200" dirty="0"/>
          </a:p>
        </p:txBody>
      </p:sp>
      <p:sp>
        <p:nvSpPr>
          <p:cNvPr id="32" name="Shape 30"/>
          <p:cNvSpPr/>
          <p:nvPr/>
        </p:nvSpPr>
        <p:spPr>
          <a:xfrm>
            <a:off x="2377440" y="1965960"/>
            <a:ext cx="1005840" cy="402336"/>
          </a:xfrm>
          <a:prstGeom prst="roundRect">
            <a:avLst>
              <a:gd name="adj" fmla="val 11364"/>
            </a:avLst>
          </a:prstGeom>
          <a:solidFill>
            <a:srgbClr val="36454F"/>
          </a:solidFill>
          <a:ln/>
        </p:spPr>
      </p:sp>
      <p:sp>
        <p:nvSpPr>
          <p:cNvPr id="33" name="Text 31"/>
          <p:cNvSpPr txBox="1"/>
          <p:nvPr/>
        </p:nvSpPr>
        <p:spPr>
          <a:xfrm>
            <a:off x="2377440" y="1965960"/>
            <a:ext cx="1005840" cy="402336"/>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4</a:t>
            </a:r>
            <a:endParaRPr lang="tr-TR" sz="1400" dirty="0"/>
          </a:p>
        </p:txBody>
      </p:sp>
      <p:sp>
        <p:nvSpPr>
          <p:cNvPr id="34" name="Shape 32"/>
          <p:cNvSpPr/>
          <p:nvPr/>
        </p:nvSpPr>
        <p:spPr>
          <a:xfrm>
            <a:off x="3429000" y="1965960"/>
            <a:ext cx="685800" cy="402336"/>
          </a:xfrm>
          <a:prstGeom prst="roundRect">
            <a:avLst>
              <a:gd name="adj" fmla="val 11364"/>
            </a:avLst>
          </a:prstGeom>
          <a:solidFill>
            <a:srgbClr val="02C39A"/>
          </a:solidFill>
          <a:ln/>
        </p:spPr>
      </p:sp>
      <p:sp>
        <p:nvSpPr>
          <p:cNvPr id="35" name="Text 33"/>
          <p:cNvSpPr txBox="1"/>
          <p:nvPr/>
        </p:nvSpPr>
        <p:spPr>
          <a:xfrm>
            <a:off x="3429000" y="1965960"/>
            <a:ext cx="685800" cy="402336"/>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v</a:t>
            </a:r>
            <a:endParaRPr lang="tr-TR" sz="1400" dirty="0"/>
          </a:p>
        </p:txBody>
      </p:sp>
      <p:sp>
        <p:nvSpPr>
          <p:cNvPr id="36" name="Shape 34"/>
          <p:cNvSpPr/>
          <p:nvPr/>
        </p:nvSpPr>
        <p:spPr>
          <a:xfrm>
            <a:off x="2377440" y="2423160"/>
            <a:ext cx="1005840" cy="402336"/>
          </a:xfrm>
          <a:prstGeom prst="roundRect">
            <a:avLst>
              <a:gd name="adj" fmla="val 11364"/>
            </a:avLst>
          </a:prstGeom>
          <a:solidFill>
            <a:srgbClr val="F2F2F2"/>
          </a:solidFill>
          <a:ln/>
        </p:spPr>
      </p:sp>
      <p:sp>
        <p:nvSpPr>
          <p:cNvPr id="37" name="Text 35"/>
          <p:cNvSpPr txBox="1"/>
          <p:nvPr/>
        </p:nvSpPr>
        <p:spPr>
          <a:xfrm>
            <a:off x="2377440" y="2423160"/>
            <a:ext cx="1005840" cy="402336"/>
          </a:xfrm>
          <a:prstGeom prst="rect">
            <a:avLst/>
          </a:prstGeom>
          <a:noFill/>
          <a:ln/>
        </p:spPr>
        <p:txBody>
          <a:bodyPr wrap="square" lIns="38100" tIns="38100" rIns="38100" bIns="38100" rtlCol="0" anchor="ctr"/>
          <a:lstStyle/>
          <a:p>
            <a:pPr algn="ctr" indent="0" marL="0">
              <a:buNone/>
            </a:pPr>
            <a:endParaRPr lang="tr-TR" sz="1400" dirty="0"/>
          </a:p>
        </p:txBody>
      </p:sp>
      <p:sp>
        <p:nvSpPr>
          <p:cNvPr id="38" name="Shape 36"/>
          <p:cNvSpPr/>
          <p:nvPr/>
        </p:nvSpPr>
        <p:spPr>
          <a:xfrm>
            <a:off x="3429000" y="2423160"/>
            <a:ext cx="685800" cy="402336"/>
          </a:xfrm>
          <a:prstGeom prst="roundRect">
            <a:avLst>
              <a:gd name="adj" fmla="val 11364"/>
            </a:avLst>
          </a:prstGeom>
          <a:solidFill>
            <a:srgbClr val="F3D9D6"/>
          </a:solidFill>
          <a:ln/>
        </p:spPr>
      </p:sp>
      <p:sp>
        <p:nvSpPr>
          <p:cNvPr id="39" name="Text 37"/>
          <p:cNvSpPr txBox="1"/>
          <p:nvPr/>
        </p:nvSpPr>
        <p:spPr>
          <a:xfrm>
            <a:off x="3429000" y="2423160"/>
            <a:ext cx="685800" cy="402336"/>
          </a:xfrm>
          <a:prstGeom prst="rect">
            <a:avLst/>
          </a:prstGeom>
          <a:noFill/>
          <a:ln/>
        </p:spPr>
        <p:txBody>
          <a:bodyPr wrap="square" lIns="38100" tIns="38100" rIns="38100" bIns="3810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i</a:t>
            </a:r>
            <a:endParaRPr lang="tr-TR" sz="1400" dirty="0"/>
          </a:p>
        </p:txBody>
      </p:sp>
      <p:sp>
        <p:nvSpPr>
          <p:cNvPr id="40" name="Shape 38"/>
          <p:cNvSpPr/>
          <p:nvPr/>
        </p:nvSpPr>
        <p:spPr>
          <a:xfrm>
            <a:off x="2377440" y="2880360"/>
            <a:ext cx="1005840" cy="402336"/>
          </a:xfrm>
          <a:prstGeom prst="roundRect">
            <a:avLst>
              <a:gd name="adj" fmla="val 11364"/>
            </a:avLst>
          </a:prstGeom>
          <a:solidFill>
            <a:srgbClr val="36454F"/>
          </a:solidFill>
          <a:ln/>
        </p:spPr>
      </p:sp>
      <p:sp>
        <p:nvSpPr>
          <p:cNvPr id="41" name="Text 39"/>
          <p:cNvSpPr txBox="1"/>
          <p:nvPr/>
        </p:nvSpPr>
        <p:spPr>
          <a:xfrm>
            <a:off x="2377440" y="2880360"/>
            <a:ext cx="1005840" cy="402336"/>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6</a:t>
            </a:r>
            <a:endParaRPr lang="tr-TR" sz="1400" dirty="0"/>
          </a:p>
        </p:txBody>
      </p:sp>
      <p:sp>
        <p:nvSpPr>
          <p:cNvPr id="42" name="Shape 40"/>
          <p:cNvSpPr/>
          <p:nvPr/>
        </p:nvSpPr>
        <p:spPr>
          <a:xfrm>
            <a:off x="3429000" y="2880360"/>
            <a:ext cx="685800" cy="402336"/>
          </a:xfrm>
          <a:prstGeom prst="roundRect">
            <a:avLst>
              <a:gd name="adj" fmla="val 11364"/>
            </a:avLst>
          </a:prstGeom>
          <a:solidFill>
            <a:srgbClr val="02C39A"/>
          </a:solidFill>
          <a:ln/>
        </p:spPr>
      </p:sp>
      <p:sp>
        <p:nvSpPr>
          <p:cNvPr id="43" name="Text 41"/>
          <p:cNvSpPr txBox="1"/>
          <p:nvPr/>
        </p:nvSpPr>
        <p:spPr>
          <a:xfrm>
            <a:off x="3429000" y="2880360"/>
            <a:ext cx="685800" cy="402336"/>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v</a:t>
            </a:r>
            <a:endParaRPr lang="tr-TR" sz="1400" dirty="0"/>
          </a:p>
        </p:txBody>
      </p:sp>
      <p:sp>
        <p:nvSpPr>
          <p:cNvPr id="44" name="Shape 42"/>
          <p:cNvSpPr/>
          <p:nvPr/>
        </p:nvSpPr>
        <p:spPr>
          <a:xfrm>
            <a:off x="2377440" y="3337560"/>
            <a:ext cx="1005840" cy="402336"/>
          </a:xfrm>
          <a:prstGeom prst="roundRect">
            <a:avLst>
              <a:gd name="adj" fmla="val 11364"/>
            </a:avLst>
          </a:prstGeom>
          <a:solidFill>
            <a:srgbClr val="F2F2F2"/>
          </a:solidFill>
          <a:ln/>
        </p:spPr>
      </p:sp>
      <p:sp>
        <p:nvSpPr>
          <p:cNvPr id="45" name="Text 43"/>
          <p:cNvSpPr txBox="1"/>
          <p:nvPr/>
        </p:nvSpPr>
        <p:spPr>
          <a:xfrm>
            <a:off x="2377440" y="3337560"/>
            <a:ext cx="1005840" cy="402336"/>
          </a:xfrm>
          <a:prstGeom prst="rect">
            <a:avLst/>
          </a:prstGeom>
          <a:noFill/>
          <a:ln/>
        </p:spPr>
        <p:txBody>
          <a:bodyPr wrap="square" lIns="38100" tIns="38100" rIns="38100" bIns="38100" rtlCol="0" anchor="ctr"/>
          <a:lstStyle/>
          <a:p>
            <a:pPr algn="ctr" indent="0" marL="0">
              <a:buNone/>
            </a:pPr>
            <a:endParaRPr lang="tr-TR" sz="1400" dirty="0"/>
          </a:p>
        </p:txBody>
      </p:sp>
      <p:sp>
        <p:nvSpPr>
          <p:cNvPr id="46" name="Shape 44"/>
          <p:cNvSpPr/>
          <p:nvPr/>
        </p:nvSpPr>
        <p:spPr>
          <a:xfrm>
            <a:off x="3429000" y="3337560"/>
            <a:ext cx="685800" cy="402336"/>
          </a:xfrm>
          <a:prstGeom prst="roundRect">
            <a:avLst>
              <a:gd name="adj" fmla="val 11364"/>
            </a:avLst>
          </a:prstGeom>
          <a:solidFill>
            <a:srgbClr val="F3D9D6"/>
          </a:solidFill>
          <a:ln/>
        </p:spPr>
      </p:sp>
      <p:sp>
        <p:nvSpPr>
          <p:cNvPr id="47" name="Text 45"/>
          <p:cNvSpPr txBox="1"/>
          <p:nvPr/>
        </p:nvSpPr>
        <p:spPr>
          <a:xfrm>
            <a:off x="3429000" y="3337560"/>
            <a:ext cx="685800" cy="402336"/>
          </a:xfrm>
          <a:prstGeom prst="rect">
            <a:avLst/>
          </a:prstGeom>
          <a:noFill/>
          <a:ln/>
        </p:spPr>
        <p:txBody>
          <a:bodyPr wrap="square" lIns="38100" tIns="38100" rIns="38100" bIns="3810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i</a:t>
            </a:r>
            <a:endParaRPr lang="tr-TR" sz="1400" dirty="0"/>
          </a:p>
        </p:txBody>
      </p:sp>
      <p:sp>
        <p:nvSpPr>
          <p:cNvPr id="48" name="Shape 46"/>
          <p:cNvSpPr/>
          <p:nvPr/>
        </p:nvSpPr>
        <p:spPr>
          <a:xfrm>
            <a:off x="2377440" y="3794760"/>
            <a:ext cx="1005840" cy="402336"/>
          </a:xfrm>
          <a:prstGeom prst="roundRect">
            <a:avLst>
              <a:gd name="adj" fmla="val 11364"/>
            </a:avLst>
          </a:prstGeom>
          <a:solidFill>
            <a:srgbClr val="F2F2F2"/>
          </a:solidFill>
          <a:ln/>
        </p:spPr>
      </p:sp>
      <p:sp>
        <p:nvSpPr>
          <p:cNvPr id="49" name="Text 47"/>
          <p:cNvSpPr txBox="1"/>
          <p:nvPr/>
        </p:nvSpPr>
        <p:spPr>
          <a:xfrm>
            <a:off x="2377440" y="3794760"/>
            <a:ext cx="1005840" cy="402336"/>
          </a:xfrm>
          <a:prstGeom prst="rect">
            <a:avLst/>
          </a:prstGeom>
          <a:noFill/>
          <a:ln/>
        </p:spPr>
        <p:txBody>
          <a:bodyPr wrap="square" lIns="38100" tIns="38100" rIns="38100" bIns="38100" rtlCol="0" anchor="ctr"/>
          <a:lstStyle/>
          <a:p>
            <a:pPr algn="ctr" indent="0" marL="0">
              <a:buNone/>
            </a:pPr>
            <a:endParaRPr lang="tr-TR" sz="1400" dirty="0"/>
          </a:p>
        </p:txBody>
      </p:sp>
      <p:sp>
        <p:nvSpPr>
          <p:cNvPr id="50" name="Shape 48"/>
          <p:cNvSpPr/>
          <p:nvPr/>
        </p:nvSpPr>
        <p:spPr>
          <a:xfrm>
            <a:off x="3429000" y="3794760"/>
            <a:ext cx="685800" cy="402336"/>
          </a:xfrm>
          <a:prstGeom prst="roundRect">
            <a:avLst>
              <a:gd name="adj" fmla="val 11364"/>
            </a:avLst>
          </a:prstGeom>
          <a:solidFill>
            <a:srgbClr val="F3D9D6"/>
          </a:solidFill>
          <a:ln/>
        </p:spPr>
      </p:sp>
      <p:sp>
        <p:nvSpPr>
          <p:cNvPr id="51" name="Text 49"/>
          <p:cNvSpPr txBox="1"/>
          <p:nvPr/>
        </p:nvSpPr>
        <p:spPr>
          <a:xfrm>
            <a:off x="3429000" y="3794760"/>
            <a:ext cx="685800" cy="402336"/>
          </a:xfrm>
          <a:prstGeom prst="rect">
            <a:avLst/>
          </a:prstGeom>
          <a:noFill/>
          <a:ln/>
        </p:spPr>
        <p:txBody>
          <a:bodyPr wrap="square" lIns="38100" tIns="38100" rIns="38100" bIns="3810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i</a:t>
            </a:r>
            <a:endParaRPr lang="tr-TR" sz="1400" dirty="0"/>
          </a:p>
        </p:txBody>
      </p:sp>
      <p:sp>
        <p:nvSpPr>
          <p:cNvPr id="52" name="Shape 50"/>
          <p:cNvSpPr/>
          <p:nvPr/>
        </p:nvSpPr>
        <p:spPr>
          <a:xfrm>
            <a:off x="2377440" y="4251960"/>
            <a:ext cx="1005840" cy="402336"/>
          </a:xfrm>
          <a:prstGeom prst="roundRect">
            <a:avLst>
              <a:gd name="adj" fmla="val 11364"/>
            </a:avLst>
          </a:prstGeom>
          <a:solidFill>
            <a:srgbClr val="36454F"/>
          </a:solidFill>
          <a:ln/>
        </p:spPr>
      </p:sp>
      <p:sp>
        <p:nvSpPr>
          <p:cNvPr id="53" name="Text 51"/>
          <p:cNvSpPr txBox="1"/>
          <p:nvPr/>
        </p:nvSpPr>
        <p:spPr>
          <a:xfrm>
            <a:off x="2377440" y="4251960"/>
            <a:ext cx="1005840" cy="402336"/>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9</a:t>
            </a:r>
            <a:endParaRPr lang="tr-TR" sz="1400" dirty="0"/>
          </a:p>
        </p:txBody>
      </p:sp>
      <p:sp>
        <p:nvSpPr>
          <p:cNvPr id="54" name="Shape 52"/>
          <p:cNvSpPr/>
          <p:nvPr/>
        </p:nvSpPr>
        <p:spPr>
          <a:xfrm>
            <a:off x="3429000" y="4251960"/>
            <a:ext cx="685800" cy="402336"/>
          </a:xfrm>
          <a:prstGeom prst="roundRect">
            <a:avLst>
              <a:gd name="adj" fmla="val 11364"/>
            </a:avLst>
          </a:prstGeom>
          <a:solidFill>
            <a:srgbClr val="02C39A"/>
          </a:solidFill>
          <a:ln/>
        </p:spPr>
      </p:sp>
      <p:sp>
        <p:nvSpPr>
          <p:cNvPr id="55" name="Text 53"/>
          <p:cNvSpPr txBox="1"/>
          <p:nvPr/>
        </p:nvSpPr>
        <p:spPr>
          <a:xfrm>
            <a:off x="3429000" y="4251960"/>
            <a:ext cx="685800" cy="402336"/>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v</a:t>
            </a:r>
            <a:endParaRPr lang="tr-TR" sz="1400" dirty="0"/>
          </a:p>
        </p:txBody>
      </p:sp>
      <p:sp>
        <p:nvSpPr>
          <p:cNvPr id="56" name="Shape 54"/>
          <p:cNvSpPr/>
          <p:nvPr/>
        </p:nvSpPr>
        <p:spPr>
          <a:xfrm>
            <a:off x="2377440" y="4709160"/>
            <a:ext cx="1005840" cy="402336"/>
          </a:xfrm>
          <a:prstGeom prst="roundRect">
            <a:avLst>
              <a:gd name="adj" fmla="val 11364"/>
            </a:avLst>
          </a:prstGeom>
          <a:solidFill>
            <a:srgbClr val="F2F2F2"/>
          </a:solidFill>
          <a:ln/>
        </p:spPr>
      </p:sp>
      <p:sp>
        <p:nvSpPr>
          <p:cNvPr id="57" name="Text 55"/>
          <p:cNvSpPr txBox="1"/>
          <p:nvPr/>
        </p:nvSpPr>
        <p:spPr>
          <a:xfrm>
            <a:off x="2377440" y="4709160"/>
            <a:ext cx="1005840" cy="402336"/>
          </a:xfrm>
          <a:prstGeom prst="rect">
            <a:avLst/>
          </a:prstGeom>
          <a:noFill/>
          <a:ln/>
        </p:spPr>
        <p:txBody>
          <a:bodyPr wrap="square" lIns="38100" tIns="38100" rIns="38100" bIns="38100" rtlCol="0" anchor="ctr"/>
          <a:lstStyle/>
          <a:p>
            <a:pPr algn="ctr" indent="0" marL="0">
              <a:buNone/>
            </a:pPr>
            <a:endParaRPr lang="tr-TR" sz="1400" dirty="0"/>
          </a:p>
        </p:txBody>
      </p:sp>
      <p:sp>
        <p:nvSpPr>
          <p:cNvPr id="58" name="Shape 56"/>
          <p:cNvSpPr/>
          <p:nvPr/>
        </p:nvSpPr>
        <p:spPr>
          <a:xfrm>
            <a:off x="3429000" y="4709160"/>
            <a:ext cx="685800" cy="402336"/>
          </a:xfrm>
          <a:prstGeom prst="roundRect">
            <a:avLst>
              <a:gd name="adj" fmla="val 11364"/>
            </a:avLst>
          </a:prstGeom>
          <a:solidFill>
            <a:srgbClr val="F3D9D6"/>
          </a:solidFill>
          <a:ln/>
        </p:spPr>
      </p:sp>
      <p:sp>
        <p:nvSpPr>
          <p:cNvPr id="59" name="Text 57"/>
          <p:cNvSpPr txBox="1"/>
          <p:nvPr/>
        </p:nvSpPr>
        <p:spPr>
          <a:xfrm>
            <a:off x="3429000" y="4709160"/>
            <a:ext cx="685800" cy="402336"/>
          </a:xfrm>
          <a:prstGeom prst="rect">
            <a:avLst/>
          </a:prstGeom>
          <a:noFill/>
          <a:ln/>
        </p:spPr>
        <p:txBody>
          <a:bodyPr wrap="square" lIns="38100" tIns="38100" rIns="38100" bIns="3810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i</a:t>
            </a:r>
            <a:endParaRPr lang="tr-TR" sz="1400" dirty="0"/>
          </a:p>
        </p:txBody>
      </p:sp>
      <p:sp>
        <p:nvSpPr>
          <p:cNvPr id="60" name="Shape 58"/>
          <p:cNvSpPr/>
          <p:nvPr/>
        </p:nvSpPr>
        <p:spPr>
          <a:xfrm>
            <a:off x="2377440" y="5166360"/>
            <a:ext cx="1005840" cy="402336"/>
          </a:xfrm>
          <a:prstGeom prst="roundRect">
            <a:avLst>
              <a:gd name="adj" fmla="val 11364"/>
            </a:avLst>
          </a:prstGeom>
          <a:solidFill>
            <a:srgbClr val="F2F2F2"/>
          </a:solidFill>
          <a:ln/>
        </p:spPr>
      </p:sp>
      <p:sp>
        <p:nvSpPr>
          <p:cNvPr id="61" name="Text 59"/>
          <p:cNvSpPr txBox="1"/>
          <p:nvPr/>
        </p:nvSpPr>
        <p:spPr>
          <a:xfrm>
            <a:off x="2377440" y="5166360"/>
            <a:ext cx="1005840" cy="402336"/>
          </a:xfrm>
          <a:prstGeom prst="rect">
            <a:avLst/>
          </a:prstGeom>
          <a:noFill/>
          <a:ln/>
        </p:spPr>
        <p:txBody>
          <a:bodyPr wrap="square" lIns="38100" tIns="38100" rIns="38100" bIns="38100" rtlCol="0" anchor="ctr"/>
          <a:lstStyle/>
          <a:p>
            <a:pPr algn="ctr" indent="0" marL="0">
              <a:buNone/>
            </a:pPr>
            <a:endParaRPr lang="tr-TR" sz="1400" dirty="0"/>
          </a:p>
        </p:txBody>
      </p:sp>
      <p:sp>
        <p:nvSpPr>
          <p:cNvPr id="62" name="Shape 60"/>
          <p:cNvSpPr/>
          <p:nvPr/>
        </p:nvSpPr>
        <p:spPr>
          <a:xfrm>
            <a:off x="3429000" y="5166360"/>
            <a:ext cx="685800" cy="402336"/>
          </a:xfrm>
          <a:prstGeom prst="roundRect">
            <a:avLst>
              <a:gd name="adj" fmla="val 11364"/>
            </a:avLst>
          </a:prstGeom>
          <a:solidFill>
            <a:srgbClr val="F3D9D6"/>
          </a:solidFill>
          <a:ln/>
        </p:spPr>
      </p:sp>
      <p:sp>
        <p:nvSpPr>
          <p:cNvPr id="63" name="Text 61"/>
          <p:cNvSpPr txBox="1"/>
          <p:nvPr/>
        </p:nvSpPr>
        <p:spPr>
          <a:xfrm>
            <a:off x="3429000" y="5166360"/>
            <a:ext cx="685800" cy="402336"/>
          </a:xfrm>
          <a:prstGeom prst="rect">
            <a:avLst/>
          </a:prstGeom>
          <a:noFill/>
          <a:ln/>
        </p:spPr>
        <p:txBody>
          <a:bodyPr wrap="square" lIns="38100" tIns="38100" rIns="38100" bIns="3810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i</a:t>
            </a:r>
            <a:endParaRPr lang="tr-TR" sz="1400" dirty="0"/>
          </a:p>
        </p:txBody>
      </p:sp>
      <p:sp>
        <p:nvSpPr>
          <p:cNvPr id="64" name="Text 62"/>
          <p:cNvSpPr txBox="1"/>
          <p:nvPr/>
        </p:nvSpPr>
        <p:spPr>
          <a:xfrm>
            <a:off x="2468880" y="5623560"/>
            <a:ext cx="1737360" cy="274320"/>
          </a:xfrm>
          <a:prstGeom prst="rect">
            <a:avLst/>
          </a:prstGeom>
          <a:noFill/>
          <a:ln/>
        </p:spPr>
        <p:txBody>
          <a:bodyPr wrap="square" lIns="0" tIns="0" rIns="0" bIns="0" rtlCol="0" anchor="t"/>
          <a:lstStyle/>
          <a:p>
            <a:pPr indent="0" marL="0">
              <a:buNone/>
            </a:pPr>
            <a:r>
              <a:rPr lang="tr-TR" sz="1050" i="1" dirty="0">
                <a:solidFill>
                  <a:srgbClr val="6B7679"/>
                </a:solidFill>
                <a:latin typeface="Calibri" pitchFamily="34" charset="0"/>
                <a:ea typeface="Calibri" pitchFamily="34" charset="-122"/>
                <a:cs typeface="Calibri" pitchFamily="34" charset="-120"/>
              </a:rPr>
              <a:t>çerçeve      bit</a:t>
            </a:r>
            <a:endParaRPr lang="tr-TR" sz="1050" dirty="0"/>
          </a:p>
        </p:txBody>
      </p:sp>
      <p:sp>
        <p:nvSpPr>
          <p:cNvPr id="65" name="Text 63"/>
          <p:cNvSpPr txBox="1"/>
          <p:nvPr/>
        </p:nvSpPr>
        <p:spPr>
          <a:xfrm>
            <a:off x="4663440" y="1508760"/>
            <a:ext cx="1554480" cy="411480"/>
          </a:xfrm>
          <a:prstGeom prst="rect">
            <a:avLst/>
          </a:prstGeom>
          <a:noFill/>
          <a:ln/>
        </p:spPr>
        <p:txBody>
          <a:bodyPr wrap="square" lIns="0" tIns="0" rIns="0" bIns="0" rtlCol="0" anchor="b"/>
          <a:lstStyle/>
          <a:p>
            <a:pPr algn="ctr" indent="0" marL="0">
              <a:buNone/>
            </a:pPr>
            <a:r>
              <a:rPr lang="tr-TR" sz="1200" b="1" dirty="0">
                <a:solidFill>
                  <a:srgbClr val="36454F"/>
                </a:solidFill>
                <a:latin typeface="Calibri" pitchFamily="34" charset="0"/>
                <a:ea typeface="Calibri" pitchFamily="34" charset="-122"/>
                <a:cs typeface="Calibri" pitchFamily="34" charset="-120"/>
              </a:rPr>
              <a:t>Fiziksel bellek</a:t>
            </a:r>
            <a:endParaRPr lang="tr-TR" sz="1200" dirty="0"/>
          </a:p>
        </p:txBody>
      </p:sp>
      <p:sp>
        <p:nvSpPr>
          <p:cNvPr id="66" name="Text 64"/>
          <p:cNvSpPr txBox="1"/>
          <p:nvPr/>
        </p:nvSpPr>
        <p:spPr>
          <a:xfrm>
            <a:off x="4462272" y="1965960"/>
            <a:ext cx="274320" cy="320040"/>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0</a:t>
            </a:r>
            <a:endParaRPr lang="tr-TR" sz="1000" dirty="0"/>
          </a:p>
        </p:txBody>
      </p:sp>
      <p:sp>
        <p:nvSpPr>
          <p:cNvPr id="67" name="Shape 65"/>
          <p:cNvSpPr/>
          <p:nvPr/>
        </p:nvSpPr>
        <p:spPr>
          <a:xfrm>
            <a:off x="4754880" y="1965960"/>
            <a:ext cx="1371600" cy="320040"/>
          </a:xfrm>
          <a:prstGeom prst="roundRect">
            <a:avLst>
              <a:gd name="adj" fmla="val 14286"/>
            </a:avLst>
          </a:prstGeom>
          <a:solidFill>
            <a:srgbClr val="F2F2F2"/>
          </a:solidFill>
          <a:ln/>
        </p:spPr>
      </p:sp>
      <p:sp>
        <p:nvSpPr>
          <p:cNvPr id="68" name="Text 66"/>
          <p:cNvSpPr txBox="1"/>
          <p:nvPr/>
        </p:nvSpPr>
        <p:spPr>
          <a:xfrm>
            <a:off x="4754880" y="1965960"/>
            <a:ext cx="1371600" cy="320040"/>
          </a:xfrm>
          <a:prstGeom prst="rect">
            <a:avLst/>
          </a:prstGeom>
          <a:noFill/>
          <a:ln/>
        </p:spPr>
        <p:txBody>
          <a:bodyPr wrap="square" lIns="38100" tIns="38100" rIns="38100" bIns="38100" rtlCol="0" anchor="ctr"/>
          <a:lstStyle/>
          <a:p>
            <a:pPr algn="ctr" indent="0" marL="0">
              <a:buNone/>
            </a:pPr>
            <a:endParaRPr lang="tr-TR" sz="1300" dirty="0"/>
          </a:p>
        </p:txBody>
      </p:sp>
      <p:sp>
        <p:nvSpPr>
          <p:cNvPr id="69" name="Text 67"/>
          <p:cNvSpPr txBox="1"/>
          <p:nvPr/>
        </p:nvSpPr>
        <p:spPr>
          <a:xfrm>
            <a:off x="4462272" y="2331720"/>
            <a:ext cx="274320" cy="320040"/>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1</a:t>
            </a:r>
            <a:endParaRPr lang="tr-TR" sz="1000" dirty="0"/>
          </a:p>
        </p:txBody>
      </p:sp>
      <p:sp>
        <p:nvSpPr>
          <p:cNvPr id="70" name="Shape 68"/>
          <p:cNvSpPr/>
          <p:nvPr/>
        </p:nvSpPr>
        <p:spPr>
          <a:xfrm>
            <a:off x="4754880" y="2331720"/>
            <a:ext cx="1371600" cy="320040"/>
          </a:xfrm>
          <a:prstGeom prst="roundRect">
            <a:avLst>
              <a:gd name="adj" fmla="val 14286"/>
            </a:avLst>
          </a:prstGeom>
          <a:solidFill>
            <a:srgbClr val="F2F2F2"/>
          </a:solidFill>
          <a:ln/>
        </p:spPr>
      </p:sp>
      <p:sp>
        <p:nvSpPr>
          <p:cNvPr id="71" name="Text 69"/>
          <p:cNvSpPr txBox="1"/>
          <p:nvPr/>
        </p:nvSpPr>
        <p:spPr>
          <a:xfrm>
            <a:off x="4754880" y="2331720"/>
            <a:ext cx="1371600" cy="320040"/>
          </a:xfrm>
          <a:prstGeom prst="rect">
            <a:avLst/>
          </a:prstGeom>
          <a:noFill/>
          <a:ln/>
        </p:spPr>
        <p:txBody>
          <a:bodyPr wrap="square" lIns="38100" tIns="38100" rIns="38100" bIns="38100" rtlCol="0" anchor="ctr"/>
          <a:lstStyle/>
          <a:p>
            <a:pPr algn="ctr" indent="0" marL="0">
              <a:buNone/>
            </a:pPr>
            <a:endParaRPr lang="tr-TR" sz="1300" dirty="0"/>
          </a:p>
        </p:txBody>
      </p:sp>
      <p:sp>
        <p:nvSpPr>
          <p:cNvPr id="72" name="Text 70"/>
          <p:cNvSpPr txBox="1"/>
          <p:nvPr/>
        </p:nvSpPr>
        <p:spPr>
          <a:xfrm>
            <a:off x="4462272" y="2697480"/>
            <a:ext cx="274320" cy="320040"/>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2</a:t>
            </a:r>
            <a:endParaRPr lang="tr-TR" sz="1000" dirty="0"/>
          </a:p>
        </p:txBody>
      </p:sp>
      <p:sp>
        <p:nvSpPr>
          <p:cNvPr id="73" name="Shape 71"/>
          <p:cNvSpPr/>
          <p:nvPr/>
        </p:nvSpPr>
        <p:spPr>
          <a:xfrm>
            <a:off x="4754880" y="2697480"/>
            <a:ext cx="1371600" cy="320040"/>
          </a:xfrm>
          <a:prstGeom prst="roundRect">
            <a:avLst>
              <a:gd name="adj" fmla="val 14286"/>
            </a:avLst>
          </a:prstGeom>
          <a:solidFill>
            <a:srgbClr val="F2F2F2"/>
          </a:solidFill>
          <a:ln/>
        </p:spPr>
      </p:sp>
      <p:sp>
        <p:nvSpPr>
          <p:cNvPr id="74" name="Text 72"/>
          <p:cNvSpPr txBox="1"/>
          <p:nvPr/>
        </p:nvSpPr>
        <p:spPr>
          <a:xfrm>
            <a:off x="4754880" y="2697480"/>
            <a:ext cx="1371600" cy="320040"/>
          </a:xfrm>
          <a:prstGeom prst="rect">
            <a:avLst/>
          </a:prstGeom>
          <a:noFill/>
          <a:ln/>
        </p:spPr>
        <p:txBody>
          <a:bodyPr wrap="square" lIns="38100" tIns="38100" rIns="38100" bIns="38100" rtlCol="0" anchor="ctr"/>
          <a:lstStyle/>
          <a:p>
            <a:pPr algn="ctr" indent="0" marL="0">
              <a:buNone/>
            </a:pPr>
            <a:endParaRPr lang="tr-TR" sz="1300" dirty="0"/>
          </a:p>
        </p:txBody>
      </p:sp>
      <p:sp>
        <p:nvSpPr>
          <p:cNvPr id="75" name="Text 73"/>
          <p:cNvSpPr txBox="1"/>
          <p:nvPr/>
        </p:nvSpPr>
        <p:spPr>
          <a:xfrm>
            <a:off x="4462272" y="3063240"/>
            <a:ext cx="274320" cy="320040"/>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3</a:t>
            </a:r>
            <a:endParaRPr lang="tr-TR" sz="1000" dirty="0"/>
          </a:p>
        </p:txBody>
      </p:sp>
      <p:sp>
        <p:nvSpPr>
          <p:cNvPr id="76" name="Shape 74"/>
          <p:cNvSpPr/>
          <p:nvPr/>
        </p:nvSpPr>
        <p:spPr>
          <a:xfrm>
            <a:off x="4754880" y="3063240"/>
            <a:ext cx="1371600" cy="320040"/>
          </a:xfrm>
          <a:prstGeom prst="roundRect">
            <a:avLst>
              <a:gd name="adj" fmla="val 14286"/>
            </a:avLst>
          </a:prstGeom>
          <a:solidFill>
            <a:srgbClr val="F2F2F2"/>
          </a:solidFill>
          <a:ln/>
        </p:spPr>
      </p:sp>
      <p:sp>
        <p:nvSpPr>
          <p:cNvPr id="77" name="Text 75"/>
          <p:cNvSpPr txBox="1"/>
          <p:nvPr/>
        </p:nvSpPr>
        <p:spPr>
          <a:xfrm>
            <a:off x="4754880" y="3063240"/>
            <a:ext cx="1371600" cy="320040"/>
          </a:xfrm>
          <a:prstGeom prst="rect">
            <a:avLst/>
          </a:prstGeom>
          <a:noFill/>
          <a:ln/>
        </p:spPr>
        <p:txBody>
          <a:bodyPr wrap="square" lIns="38100" tIns="38100" rIns="38100" bIns="38100" rtlCol="0" anchor="ctr"/>
          <a:lstStyle/>
          <a:p>
            <a:pPr algn="ctr" indent="0" marL="0">
              <a:buNone/>
            </a:pPr>
            <a:endParaRPr lang="tr-TR" sz="1300" dirty="0"/>
          </a:p>
        </p:txBody>
      </p:sp>
      <p:sp>
        <p:nvSpPr>
          <p:cNvPr id="78" name="Text 76"/>
          <p:cNvSpPr txBox="1"/>
          <p:nvPr/>
        </p:nvSpPr>
        <p:spPr>
          <a:xfrm>
            <a:off x="4462272" y="3429000"/>
            <a:ext cx="274320" cy="320040"/>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4</a:t>
            </a:r>
            <a:endParaRPr lang="tr-TR" sz="1000" dirty="0"/>
          </a:p>
        </p:txBody>
      </p:sp>
      <p:sp>
        <p:nvSpPr>
          <p:cNvPr id="79" name="Shape 77"/>
          <p:cNvSpPr/>
          <p:nvPr/>
        </p:nvSpPr>
        <p:spPr>
          <a:xfrm>
            <a:off x="4754880" y="3429000"/>
            <a:ext cx="1371600" cy="320040"/>
          </a:xfrm>
          <a:prstGeom prst="roundRect">
            <a:avLst>
              <a:gd name="adj" fmla="val 14286"/>
            </a:avLst>
          </a:prstGeom>
          <a:solidFill>
            <a:srgbClr val="02C39A"/>
          </a:solidFill>
          <a:ln/>
        </p:spPr>
      </p:sp>
      <p:sp>
        <p:nvSpPr>
          <p:cNvPr id="80" name="Text 78"/>
          <p:cNvSpPr txBox="1"/>
          <p:nvPr/>
        </p:nvSpPr>
        <p:spPr>
          <a:xfrm>
            <a:off x="4754880" y="3429000"/>
            <a:ext cx="1371600" cy="32004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A</a:t>
            </a:r>
            <a:endParaRPr lang="tr-TR" sz="1300" dirty="0"/>
          </a:p>
        </p:txBody>
      </p:sp>
      <p:sp>
        <p:nvSpPr>
          <p:cNvPr id="81" name="Text 79"/>
          <p:cNvSpPr txBox="1"/>
          <p:nvPr/>
        </p:nvSpPr>
        <p:spPr>
          <a:xfrm>
            <a:off x="4462272" y="3794760"/>
            <a:ext cx="274320" cy="320040"/>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5</a:t>
            </a:r>
            <a:endParaRPr lang="tr-TR" sz="1000" dirty="0"/>
          </a:p>
        </p:txBody>
      </p:sp>
      <p:sp>
        <p:nvSpPr>
          <p:cNvPr id="82" name="Shape 80"/>
          <p:cNvSpPr/>
          <p:nvPr/>
        </p:nvSpPr>
        <p:spPr>
          <a:xfrm>
            <a:off x="4754880" y="3794760"/>
            <a:ext cx="1371600" cy="320040"/>
          </a:xfrm>
          <a:prstGeom prst="roundRect">
            <a:avLst>
              <a:gd name="adj" fmla="val 14286"/>
            </a:avLst>
          </a:prstGeom>
          <a:solidFill>
            <a:srgbClr val="F2F2F2"/>
          </a:solidFill>
          <a:ln/>
        </p:spPr>
      </p:sp>
      <p:sp>
        <p:nvSpPr>
          <p:cNvPr id="83" name="Text 81"/>
          <p:cNvSpPr txBox="1"/>
          <p:nvPr/>
        </p:nvSpPr>
        <p:spPr>
          <a:xfrm>
            <a:off x="4754880" y="3794760"/>
            <a:ext cx="1371600" cy="320040"/>
          </a:xfrm>
          <a:prstGeom prst="rect">
            <a:avLst/>
          </a:prstGeom>
          <a:noFill/>
          <a:ln/>
        </p:spPr>
        <p:txBody>
          <a:bodyPr wrap="square" lIns="38100" tIns="38100" rIns="38100" bIns="38100" rtlCol="0" anchor="ctr"/>
          <a:lstStyle/>
          <a:p>
            <a:pPr algn="ctr" indent="0" marL="0">
              <a:buNone/>
            </a:pPr>
            <a:endParaRPr lang="tr-TR" sz="1300" dirty="0"/>
          </a:p>
        </p:txBody>
      </p:sp>
      <p:sp>
        <p:nvSpPr>
          <p:cNvPr id="84" name="Text 82"/>
          <p:cNvSpPr txBox="1"/>
          <p:nvPr/>
        </p:nvSpPr>
        <p:spPr>
          <a:xfrm>
            <a:off x="4462272" y="4160520"/>
            <a:ext cx="274320" cy="320040"/>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6</a:t>
            </a:r>
            <a:endParaRPr lang="tr-TR" sz="1000" dirty="0"/>
          </a:p>
        </p:txBody>
      </p:sp>
      <p:sp>
        <p:nvSpPr>
          <p:cNvPr id="85" name="Shape 83"/>
          <p:cNvSpPr/>
          <p:nvPr/>
        </p:nvSpPr>
        <p:spPr>
          <a:xfrm>
            <a:off x="4754880" y="4160520"/>
            <a:ext cx="1371600" cy="320040"/>
          </a:xfrm>
          <a:prstGeom prst="roundRect">
            <a:avLst>
              <a:gd name="adj" fmla="val 14286"/>
            </a:avLst>
          </a:prstGeom>
          <a:solidFill>
            <a:srgbClr val="02C39A"/>
          </a:solidFill>
          <a:ln/>
        </p:spPr>
      </p:sp>
      <p:sp>
        <p:nvSpPr>
          <p:cNvPr id="86" name="Text 84"/>
          <p:cNvSpPr txBox="1"/>
          <p:nvPr/>
        </p:nvSpPr>
        <p:spPr>
          <a:xfrm>
            <a:off x="4754880" y="4160520"/>
            <a:ext cx="1371600" cy="32004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C</a:t>
            </a:r>
            <a:endParaRPr lang="tr-TR" sz="1300" dirty="0"/>
          </a:p>
        </p:txBody>
      </p:sp>
      <p:sp>
        <p:nvSpPr>
          <p:cNvPr id="87" name="Text 85"/>
          <p:cNvSpPr txBox="1"/>
          <p:nvPr/>
        </p:nvSpPr>
        <p:spPr>
          <a:xfrm>
            <a:off x="4462272" y="4526280"/>
            <a:ext cx="274320" cy="320040"/>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7</a:t>
            </a:r>
            <a:endParaRPr lang="tr-TR" sz="1000" dirty="0"/>
          </a:p>
        </p:txBody>
      </p:sp>
      <p:sp>
        <p:nvSpPr>
          <p:cNvPr id="88" name="Shape 86"/>
          <p:cNvSpPr/>
          <p:nvPr/>
        </p:nvSpPr>
        <p:spPr>
          <a:xfrm>
            <a:off x="4754880" y="4526280"/>
            <a:ext cx="1371600" cy="320040"/>
          </a:xfrm>
          <a:prstGeom prst="roundRect">
            <a:avLst>
              <a:gd name="adj" fmla="val 14286"/>
            </a:avLst>
          </a:prstGeom>
          <a:solidFill>
            <a:srgbClr val="F2F2F2"/>
          </a:solidFill>
          <a:ln/>
        </p:spPr>
      </p:sp>
      <p:sp>
        <p:nvSpPr>
          <p:cNvPr id="89" name="Text 87"/>
          <p:cNvSpPr txBox="1"/>
          <p:nvPr/>
        </p:nvSpPr>
        <p:spPr>
          <a:xfrm>
            <a:off x="4754880" y="4526280"/>
            <a:ext cx="1371600" cy="320040"/>
          </a:xfrm>
          <a:prstGeom prst="rect">
            <a:avLst/>
          </a:prstGeom>
          <a:noFill/>
          <a:ln/>
        </p:spPr>
        <p:txBody>
          <a:bodyPr wrap="square" lIns="38100" tIns="38100" rIns="38100" bIns="38100" rtlCol="0" anchor="ctr"/>
          <a:lstStyle/>
          <a:p>
            <a:pPr algn="ctr" indent="0" marL="0">
              <a:buNone/>
            </a:pPr>
            <a:endParaRPr lang="tr-TR" sz="1300" dirty="0"/>
          </a:p>
        </p:txBody>
      </p:sp>
      <p:sp>
        <p:nvSpPr>
          <p:cNvPr id="90" name="Text 88"/>
          <p:cNvSpPr txBox="1"/>
          <p:nvPr/>
        </p:nvSpPr>
        <p:spPr>
          <a:xfrm>
            <a:off x="4462272" y="4892040"/>
            <a:ext cx="274320" cy="320040"/>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8</a:t>
            </a:r>
            <a:endParaRPr lang="tr-TR" sz="1000" dirty="0"/>
          </a:p>
        </p:txBody>
      </p:sp>
      <p:sp>
        <p:nvSpPr>
          <p:cNvPr id="91" name="Shape 89"/>
          <p:cNvSpPr/>
          <p:nvPr/>
        </p:nvSpPr>
        <p:spPr>
          <a:xfrm>
            <a:off x="4754880" y="4892040"/>
            <a:ext cx="1371600" cy="320040"/>
          </a:xfrm>
          <a:prstGeom prst="roundRect">
            <a:avLst>
              <a:gd name="adj" fmla="val 14286"/>
            </a:avLst>
          </a:prstGeom>
          <a:solidFill>
            <a:srgbClr val="F2F2F2"/>
          </a:solidFill>
          <a:ln/>
        </p:spPr>
      </p:sp>
      <p:sp>
        <p:nvSpPr>
          <p:cNvPr id="92" name="Text 90"/>
          <p:cNvSpPr txBox="1"/>
          <p:nvPr/>
        </p:nvSpPr>
        <p:spPr>
          <a:xfrm>
            <a:off x="4754880" y="4892040"/>
            <a:ext cx="1371600" cy="320040"/>
          </a:xfrm>
          <a:prstGeom prst="rect">
            <a:avLst/>
          </a:prstGeom>
          <a:noFill/>
          <a:ln/>
        </p:spPr>
        <p:txBody>
          <a:bodyPr wrap="square" lIns="38100" tIns="38100" rIns="38100" bIns="38100" rtlCol="0" anchor="ctr"/>
          <a:lstStyle/>
          <a:p>
            <a:pPr algn="ctr" indent="0" marL="0">
              <a:buNone/>
            </a:pPr>
            <a:endParaRPr lang="tr-TR" sz="1300" dirty="0"/>
          </a:p>
        </p:txBody>
      </p:sp>
      <p:sp>
        <p:nvSpPr>
          <p:cNvPr id="93" name="Text 91"/>
          <p:cNvSpPr txBox="1"/>
          <p:nvPr/>
        </p:nvSpPr>
        <p:spPr>
          <a:xfrm>
            <a:off x="4462272" y="5257800"/>
            <a:ext cx="274320" cy="320040"/>
          </a:xfrm>
          <a:prstGeom prst="rect">
            <a:avLst/>
          </a:prstGeom>
          <a:noFill/>
          <a:ln/>
        </p:spPr>
        <p:txBody>
          <a:bodyPr wrap="square" lIns="0" tIns="0" rIns="0" bIns="0" rtlCol="0" anchor="ctr"/>
          <a:lstStyle/>
          <a:p>
            <a:pPr algn="r" indent="0" marL="0">
              <a:buNone/>
            </a:pPr>
            <a:r>
              <a:rPr lang="tr-TR" sz="1000" dirty="0">
                <a:solidFill>
                  <a:srgbClr val="6B7679"/>
                </a:solidFill>
                <a:latin typeface="Calibri" pitchFamily="34" charset="0"/>
                <a:ea typeface="Calibri" pitchFamily="34" charset="-122"/>
                <a:cs typeface="Calibri" pitchFamily="34" charset="-120"/>
              </a:rPr>
              <a:t>9</a:t>
            </a:r>
            <a:endParaRPr lang="tr-TR" sz="1000" dirty="0"/>
          </a:p>
        </p:txBody>
      </p:sp>
      <p:sp>
        <p:nvSpPr>
          <p:cNvPr id="94" name="Shape 92"/>
          <p:cNvSpPr/>
          <p:nvPr/>
        </p:nvSpPr>
        <p:spPr>
          <a:xfrm>
            <a:off x="4754880" y="5257800"/>
            <a:ext cx="1371600" cy="320040"/>
          </a:xfrm>
          <a:prstGeom prst="roundRect">
            <a:avLst>
              <a:gd name="adj" fmla="val 14286"/>
            </a:avLst>
          </a:prstGeom>
          <a:solidFill>
            <a:srgbClr val="02C39A"/>
          </a:solidFill>
          <a:ln/>
        </p:spPr>
      </p:sp>
      <p:sp>
        <p:nvSpPr>
          <p:cNvPr id="95" name="Text 93"/>
          <p:cNvSpPr txBox="1"/>
          <p:nvPr/>
        </p:nvSpPr>
        <p:spPr>
          <a:xfrm>
            <a:off x="4754880" y="5257800"/>
            <a:ext cx="1371600" cy="32004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F</a:t>
            </a:r>
            <a:endParaRPr lang="tr-TR" sz="1300" dirty="0"/>
          </a:p>
        </p:txBody>
      </p:sp>
      <p:sp>
        <p:nvSpPr>
          <p:cNvPr id="96" name="Shape 94"/>
          <p:cNvSpPr/>
          <p:nvPr/>
        </p:nvSpPr>
        <p:spPr>
          <a:xfrm>
            <a:off x="6446520" y="2377440"/>
            <a:ext cx="1600200" cy="2377440"/>
          </a:xfrm>
          <a:prstGeom prst="can">
            <a:avLst/>
          </a:prstGeom>
          <a:solidFill>
            <a:srgbClr val="50808E"/>
          </a:solidFill>
          <a:ln/>
        </p:spPr>
      </p:sp>
      <p:sp>
        <p:nvSpPr>
          <p:cNvPr id="97" name="Text 95"/>
          <p:cNvSpPr txBox="1"/>
          <p:nvPr/>
        </p:nvSpPr>
        <p:spPr>
          <a:xfrm>
            <a:off x="6446520" y="2852928"/>
            <a:ext cx="1600200" cy="1901952"/>
          </a:xfrm>
          <a:prstGeom prst="rect">
            <a:avLst/>
          </a:prstGeom>
          <a:noFill/>
          <a:ln/>
        </p:spPr>
        <p:txBody>
          <a:bodyPr wrap="square" lIns="0" tIns="0" rIns="0" bIns="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Disk</a:t>
            </a:r>
            <a:endParaRPr lang="tr-TR" sz="1300" dirty="0"/>
          </a:p>
          <a:p>
            <a:pPr algn="ctr" indent="0" marL="0">
              <a:buNone/>
            </a:pPr>
            <a:r>
              <a:rPr lang="tr-TR" sz="1100" dirty="0">
                <a:solidFill>
                  <a:srgbClr val="FFFFFF"/>
                </a:solidFill>
                <a:latin typeface="Calibri" pitchFamily="34" charset="0"/>
                <a:ea typeface="Calibri" pitchFamily="34" charset="-122"/>
                <a:cs typeface="Calibri" pitchFamily="34" charset="-120"/>
              </a:rPr>
              <a:t>A B C D</a:t>
            </a:r>
            <a:endParaRPr lang="tr-TR" sz="1300" dirty="0"/>
          </a:p>
          <a:p>
            <a:pPr algn="ctr" indent="0" marL="0">
              <a:buNone/>
            </a:pPr>
            <a:r>
              <a:rPr lang="tr-TR" sz="1100" dirty="0">
                <a:solidFill>
                  <a:srgbClr val="FFFFFF"/>
                </a:solidFill>
                <a:latin typeface="Calibri" pitchFamily="34" charset="0"/>
                <a:ea typeface="Calibri" pitchFamily="34" charset="-122"/>
                <a:cs typeface="Calibri" pitchFamily="34" charset="-120"/>
              </a:rPr>
              <a:t>E F G H</a:t>
            </a:r>
            <a:endParaRPr lang="tr-TR" sz="1300" dirty="0"/>
          </a:p>
        </p:txBody>
      </p:sp>
      <p:sp>
        <p:nvSpPr>
          <p:cNvPr id="98" name="Shape 96"/>
          <p:cNvSpPr/>
          <p:nvPr/>
        </p:nvSpPr>
        <p:spPr>
          <a:xfrm>
            <a:off x="8366760" y="1508760"/>
            <a:ext cx="3291840" cy="4754880"/>
          </a:xfrm>
          <a:prstGeom prst="roundRect">
            <a:avLst>
              <a:gd name="adj" fmla="val 1667"/>
            </a:avLst>
          </a:prstGeom>
          <a:solidFill>
            <a:srgbClr val="F2F2F2"/>
          </a:solidFill>
          <a:ln/>
          <a:effectLst>
            <a:outerShdw sx="100000" sy="100000" kx="0" ky="0" algn="bl" rotWithShape="0" blurRad="101600" dist="25400" dir="5400000">
              <a:srgbClr val="000000">
                <a:alpha val="12000"/>
              </a:srgbClr>
            </a:outerShdw>
          </a:effectLst>
        </p:spPr>
      </p:sp>
      <p:sp>
        <p:nvSpPr>
          <p:cNvPr id="99" name="Text 97"/>
          <p:cNvSpPr txBox="1"/>
          <p:nvPr/>
        </p:nvSpPr>
        <p:spPr>
          <a:xfrm>
            <a:off x="8595360" y="1691640"/>
            <a:ext cx="28346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Biti okumak</a:t>
            </a:r>
            <a:endParaRPr lang="tr-TR" sz="1500" dirty="0"/>
          </a:p>
        </p:txBody>
      </p:sp>
      <p:sp>
        <p:nvSpPr>
          <p:cNvPr id="100" name="Text 98"/>
          <p:cNvSpPr txBox="1"/>
          <p:nvPr/>
        </p:nvSpPr>
        <p:spPr>
          <a:xfrm>
            <a:off x="8595360" y="2148840"/>
            <a:ext cx="2834640" cy="3977640"/>
          </a:xfrm>
          <a:prstGeom prst="rect">
            <a:avLst/>
          </a:prstGeom>
          <a:noFill/>
          <a:ln/>
        </p:spPr>
        <p:txBody>
          <a:bodyPr wrap="square" lIns="0" tIns="0" rIns="0" bIns="0" rtlCol="0" anchor="t"/>
          <a:lstStyle/>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v (valid, geçerli):</a:t>
            </a:r>
            <a:r>
              <a:rPr lang="tr-TR" sz="1400" dirty="0">
                <a:solidFill>
                  <a:srgbClr val="3A464C"/>
                </a:solidFill>
                <a:latin typeface="Calibri" pitchFamily="34" charset="0"/>
                <a:ea typeface="Calibri" pitchFamily="34" charset="-122"/>
                <a:cs typeface="Calibri" pitchFamily="34" charset="-120"/>
              </a:rPr>
              <a:t> sayfa yasaldır ve bir çerçevededir.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i (invalid, geçersiz):</a:t>
            </a:r>
            <a:r>
              <a:rPr lang="tr-TR" sz="1400" dirty="0">
                <a:solidFill>
                  <a:srgbClr val="3A464C"/>
                </a:solidFill>
                <a:latin typeface="Calibri" pitchFamily="34" charset="0"/>
                <a:ea typeface="Calibri" pitchFamily="34" charset="-122"/>
                <a:cs typeface="Calibri" pitchFamily="34" charset="-120"/>
              </a:rPr>
              <a:t> sayfa bellekte değildir (ya da programın parçası bile değildir).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Başlangıçta her girdi i'dir.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i olan bir sayfaya dokunulunca MMU işletim sistemine tuzak (trap) üretir: sayfa hatası.</a:t>
            </a:r>
            <a:endParaRPr lang="tr-TR"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SAYFA HATALARI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Bir Sayfa Hatasının Adım Adım İşlenmesi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8</a:t>
            </a:r>
            <a:endParaRPr lang="tr-TR" sz="900" dirty="0"/>
          </a:p>
        </p:txBody>
      </p:sp>
      <p:sp>
        <p:nvSpPr>
          <p:cNvPr id="6" name="Shape 4"/>
          <p:cNvSpPr/>
          <p:nvPr/>
        </p:nvSpPr>
        <p:spPr>
          <a:xfrm>
            <a:off x="548640" y="1783080"/>
            <a:ext cx="1600200" cy="868680"/>
          </a:xfrm>
          <a:prstGeom prst="roundRect">
            <a:avLst>
              <a:gd name="adj" fmla="val 5263"/>
            </a:avLst>
          </a:prstGeom>
          <a:solidFill>
            <a:srgbClr val="F2F2F2"/>
          </a:solidFill>
          <a:ln/>
        </p:spPr>
      </p:sp>
      <p:sp>
        <p:nvSpPr>
          <p:cNvPr id="7" name="Text 5"/>
          <p:cNvSpPr txBox="1"/>
          <p:nvPr/>
        </p:nvSpPr>
        <p:spPr>
          <a:xfrm>
            <a:off x="548640" y="1783080"/>
            <a:ext cx="1600200" cy="868680"/>
          </a:xfrm>
          <a:prstGeom prst="rect">
            <a:avLst/>
          </a:prstGeom>
          <a:noFill/>
          <a:ln/>
        </p:spPr>
        <p:txBody>
          <a:bodyPr wrap="square" lIns="38100" tIns="38100" rIns="38100" bIns="38100" rtlCol="0" anchor="ctr"/>
          <a:lstStyle/>
          <a:p>
            <a:pPr algn="ctr" indent="0" marL="0">
              <a:buNone/>
            </a:pPr>
            <a:r>
              <a:rPr lang="tr-TR" sz="1400" b="1" dirty="0">
                <a:solidFill>
                  <a:srgbClr val="36454F"/>
                </a:solidFill>
                <a:latin typeface="Calibri" pitchFamily="34" charset="0"/>
                <a:ea typeface="Calibri" pitchFamily="34" charset="-122"/>
                <a:cs typeface="Calibri" pitchFamily="34" charset="-120"/>
              </a:rPr>
              <a:t>Süreç</a:t>
            </a:r>
            <a:endParaRPr lang="tr-TR" sz="1400" dirty="0"/>
          </a:p>
          <a:p>
            <a:pPr algn="ctr" indent="0" marL="0">
              <a:buNone/>
            </a:pPr>
            <a:r>
              <a:rPr lang="tr-TR" sz="1100" dirty="0">
                <a:solidFill>
                  <a:srgbClr val="36454F"/>
                </a:solidFill>
                <a:latin typeface="Calibri" pitchFamily="34" charset="0"/>
                <a:ea typeface="Calibri" pitchFamily="34" charset="-122"/>
                <a:cs typeface="Calibri" pitchFamily="34" charset="-120"/>
              </a:rPr>
              <a:t>load M</a:t>
            </a:r>
            <a:endParaRPr lang="tr-TR" sz="1400" dirty="0"/>
          </a:p>
        </p:txBody>
      </p:sp>
      <p:sp>
        <p:nvSpPr>
          <p:cNvPr id="8" name="Text 6"/>
          <p:cNvSpPr txBox="1"/>
          <p:nvPr/>
        </p:nvSpPr>
        <p:spPr>
          <a:xfrm>
            <a:off x="2788920" y="1490472"/>
            <a:ext cx="1554480" cy="274320"/>
          </a:xfrm>
          <a:prstGeom prst="rect">
            <a:avLst/>
          </a:prstGeom>
          <a:noFill/>
          <a:ln/>
        </p:spPr>
        <p:txBody>
          <a:bodyPr wrap="square" lIns="0" tIns="0" rIns="0" bIns="0" rtlCol="0" anchor="t"/>
          <a:lstStyle/>
          <a:p>
            <a:pPr algn="ctr" indent="0" marL="0">
              <a:buNone/>
            </a:pPr>
            <a:r>
              <a:rPr lang="tr-TR" sz="1100" i="1" dirty="0">
                <a:solidFill>
                  <a:srgbClr val="6B7679"/>
                </a:solidFill>
                <a:latin typeface="Calibri" pitchFamily="34" charset="0"/>
                <a:ea typeface="Calibri" pitchFamily="34" charset="-122"/>
                <a:cs typeface="Calibri" pitchFamily="34" charset="-120"/>
              </a:rPr>
              <a:t>sayfa tablosu</a:t>
            </a:r>
            <a:endParaRPr lang="tr-TR" sz="1100" dirty="0"/>
          </a:p>
        </p:txBody>
      </p:sp>
      <p:sp>
        <p:nvSpPr>
          <p:cNvPr id="9" name="Shape 7"/>
          <p:cNvSpPr/>
          <p:nvPr/>
        </p:nvSpPr>
        <p:spPr>
          <a:xfrm>
            <a:off x="2880360" y="1783080"/>
            <a:ext cx="868680" cy="347472"/>
          </a:xfrm>
          <a:prstGeom prst="roundRect">
            <a:avLst>
              <a:gd name="adj" fmla="val 13158"/>
            </a:avLst>
          </a:prstGeom>
          <a:solidFill>
            <a:srgbClr val="F2F2F2"/>
          </a:solidFill>
          <a:ln/>
        </p:spPr>
      </p:sp>
      <p:sp>
        <p:nvSpPr>
          <p:cNvPr id="10" name="Text 8"/>
          <p:cNvSpPr txBox="1"/>
          <p:nvPr/>
        </p:nvSpPr>
        <p:spPr>
          <a:xfrm>
            <a:off x="2880360" y="1783080"/>
            <a:ext cx="868680" cy="347472"/>
          </a:xfrm>
          <a:prstGeom prst="rect">
            <a:avLst/>
          </a:prstGeom>
          <a:noFill/>
          <a:ln/>
        </p:spPr>
        <p:txBody>
          <a:bodyPr wrap="square" lIns="38100" tIns="38100" rIns="38100" bIns="38100" rtlCol="0" anchor="ctr"/>
          <a:lstStyle/>
          <a:p>
            <a:pPr algn="ctr" indent="0" marL="0">
              <a:buNone/>
            </a:pPr>
            <a:endParaRPr lang="tr-TR" sz="1200" dirty="0"/>
          </a:p>
        </p:txBody>
      </p:sp>
      <p:sp>
        <p:nvSpPr>
          <p:cNvPr id="11" name="Shape 9"/>
          <p:cNvSpPr/>
          <p:nvPr/>
        </p:nvSpPr>
        <p:spPr>
          <a:xfrm>
            <a:off x="3776472" y="1783080"/>
            <a:ext cx="457200" cy="347472"/>
          </a:xfrm>
          <a:prstGeom prst="roundRect">
            <a:avLst>
              <a:gd name="adj" fmla="val 13158"/>
            </a:avLst>
          </a:prstGeom>
          <a:solidFill>
            <a:srgbClr val="F2F2F2"/>
          </a:solidFill>
          <a:ln/>
        </p:spPr>
      </p:sp>
      <p:sp>
        <p:nvSpPr>
          <p:cNvPr id="12" name="Text 10"/>
          <p:cNvSpPr txBox="1"/>
          <p:nvPr/>
        </p:nvSpPr>
        <p:spPr>
          <a:xfrm>
            <a:off x="3776472" y="1783080"/>
            <a:ext cx="457200" cy="347472"/>
          </a:xfrm>
          <a:prstGeom prst="rect">
            <a:avLst/>
          </a:prstGeom>
          <a:noFill/>
          <a:ln/>
        </p:spPr>
        <p:txBody>
          <a:bodyPr wrap="square" lIns="38100" tIns="38100" rIns="38100" bIns="38100" rtlCol="0" anchor="ctr"/>
          <a:lstStyle/>
          <a:p>
            <a:pPr algn="ctr" indent="0" marL="0">
              <a:buNone/>
            </a:pPr>
            <a:r>
              <a:rPr lang="tr-TR" sz="1200" b="1" dirty="0">
                <a:solidFill>
                  <a:srgbClr val="6B7679"/>
                </a:solidFill>
                <a:latin typeface="Calibri" pitchFamily="34" charset="0"/>
                <a:ea typeface="Calibri" pitchFamily="34" charset="-122"/>
                <a:cs typeface="Calibri" pitchFamily="34" charset="-120"/>
              </a:rPr>
              <a:t>v</a:t>
            </a:r>
            <a:endParaRPr lang="tr-TR" sz="1200" dirty="0"/>
          </a:p>
        </p:txBody>
      </p:sp>
      <p:sp>
        <p:nvSpPr>
          <p:cNvPr id="13" name="Shape 11"/>
          <p:cNvSpPr/>
          <p:nvPr/>
        </p:nvSpPr>
        <p:spPr>
          <a:xfrm>
            <a:off x="2880360" y="2167128"/>
            <a:ext cx="868680" cy="347472"/>
          </a:xfrm>
          <a:prstGeom prst="roundRect">
            <a:avLst>
              <a:gd name="adj" fmla="val 13158"/>
            </a:avLst>
          </a:prstGeom>
          <a:solidFill>
            <a:srgbClr val="D7E9E6"/>
          </a:solidFill>
          <a:ln/>
        </p:spPr>
      </p:sp>
      <p:sp>
        <p:nvSpPr>
          <p:cNvPr id="14" name="Text 12"/>
          <p:cNvSpPr txBox="1"/>
          <p:nvPr/>
        </p:nvSpPr>
        <p:spPr>
          <a:xfrm>
            <a:off x="2880360" y="2167128"/>
            <a:ext cx="868680" cy="347472"/>
          </a:xfrm>
          <a:prstGeom prst="rect">
            <a:avLst/>
          </a:prstGeom>
          <a:noFill/>
          <a:ln/>
        </p:spPr>
        <p:txBody>
          <a:bodyPr wrap="square" lIns="38100" tIns="38100" rIns="38100" bIns="3810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M</a:t>
            </a:r>
            <a:endParaRPr lang="tr-TR" sz="1200" dirty="0"/>
          </a:p>
        </p:txBody>
      </p:sp>
      <p:sp>
        <p:nvSpPr>
          <p:cNvPr id="15" name="Shape 13"/>
          <p:cNvSpPr/>
          <p:nvPr/>
        </p:nvSpPr>
        <p:spPr>
          <a:xfrm>
            <a:off x="3776472" y="2167128"/>
            <a:ext cx="457200" cy="347472"/>
          </a:xfrm>
          <a:prstGeom prst="roundRect">
            <a:avLst>
              <a:gd name="adj" fmla="val 13158"/>
            </a:avLst>
          </a:prstGeom>
          <a:solidFill>
            <a:srgbClr val="F3D9D6"/>
          </a:solidFill>
          <a:ln/>
        </p:spPr>
      </p:sp>
      <p:sp>
        <p:nvSpPr>
          <p:cNvPr id="16" name="Text 14"/>
          <p:cNvSpPr txBox="1"/>
          <p:nvPr/>
        </p:nvSpPr>
        <p:spPr>
          <a:xfrm>
            <a:off x="3776472" y="2167128"/>
            <a:ext cx="457200" cy="347472"/>
          </a:xfrm>
          <a:prstGeom prst="rect">
            <a:avLst/>
          </a:prstGeom>
          <a:noFill/>
          <a:ln/>
        </p:spPr>
        <p:txBody>
          <a:bodyPr wrap="square" lIns="38100" tIns="38100" rIns="38100" bIns="38100" rtlCol="0" anchor="ctr"/>
          <a:lstStyle/>
          <a:p>
            <a:pPr algn="ctr" indent="0" marL="0">
              <a:buNone/>
            </a:pPr>
            <a:r>
              <a:rPr lang="tr-TR" sz="1200" b="1" dirty="0">
                <a:solidFill>
                  <a:srgbClr val="B5453A"/>
                </a:solidFill>
                <a:latin typeface="Calibri" pitchFamily="34" charset="0"/>
                <a:ea typeface="Calibri" pitchFamily="34" charset="-122"/>
                <a:cs typeface="Calibri" pitchFamily="34" charset="-120"/>
              </a:rPr>
              <a:t>i</a:t>
            </a:r>
            <a:endParaRPr lang="tr-TR" sz="1200" dirty="0"/>
          </a:p>
        </p:txBody>
      </p:sp>
      <p:sp>
        <p:nvSpPr>
          <p:cNvPr id="17" name="Shape 15"/>
          <p:cNvSpPr/>
          <p:nvPr/>
        </p:nvSpPr>
        <p:spPr>
          <a:xfrm>
            <a:off x="2880360" y="2551176"/>
            <a:ext cx="868680" cy="347472"/>
          </a:xfrm>
          <a:prstGeom prst="roundRect">
            <a:avLst>
              <a:gd name="adj" fmla="val 13158"/>
            </a:avLst>
          </a:prstGeom>
          <a:solidFill>
            <a:srgbClr val="F2F2F2"/>
          </a:solidFill>
          <a:ln/>
        </p:spPr>
      </p:sp>
      <p:sp>
        <p:nvSpPr>
          <p:cNvPr id="18" name="Text 16"/>
          <p:cNvSpPr txBox="1"/>
          <p:nvPr/>
        </p:nvSpPr>
        <p:spPr>
          <a:xfrm>
            <a:off x="2880360" y="2551176"/>
            <a:ext cx="868680" cy="347472"/>
          </a:xfrm>
          <a:prstGeom prst="rect">
            <a:avLst/>
          </a:prstGeom>
          <a:noFill/>
          <a:ln/>
        </p:spPr>
        <p:txBody>
          <a:bodyPr wrap="square" lIns="38100" tIns="38100" rIns="38100" bIns="38100" rtlCol="0" anchor="ctr"/>
          <a:lstStyle/>
          <a:p>
            <a:pPr algn="ctr" indent="0" marL="0">
              <a:buNone/>
            </a:pPr>
            <a:endParaRPr lang="tr-TR" sz="1200" dirty="0"/>
          </a:p>
        </p:txBody>
      </p:sp>
      <p:sp>
        <p:nvSpPr>
          <p:cNvPr id="19" name="Shape 17"/>
          <p:cNvSpPr/>
          <p:nvPr/>
        </p:nvSpPr>
        <p:spPr>
          <a:xfrm>
            <a:off x="3776472" y="2551176"/>
            <a:ext cx="457200" cy="347472"/>
          </a:xfrm>
          <a:prstGeom prst="roundRect">
            <a:avLst>
              <a:gd name="adj" fmla="val 13158"/>
            </a:avLst>
          </a:prstGeom>
          <a:solidFill>
            <a:srgbClr val="F2F2F2"/>
          </a:solidFill>
          <a:ln/>
        </p:spPr>
      </p:sp>
      <p:sp>
        <p:nvSpPr>
          <p:cNvPr id="20" name="Text 18"/>
          <p:cNvSpPr txBox="1"/>
          <p:nvPr/>
        </p:nvSpPr>
        <p:spPr>
          <a:xfrm>
            <a:off x="3776472" y="2551176"/>
            <a:ext cx="457200" cy="347472"/>
          </a:xfrm>
          <a:prstGeom prst="rect">
            <a:avLst/>
          </a:prstGeom>
          <a:noFill/>
          <a:ln/>
        </p:spPr>
        <p:txBody>
          <a:bodyPr wrap="square" lIns="38100" tIns="38100" rIns="38100" bIns="38100" rtlCol="0" anchor="ctr"/>
          <a:lstStyle/>
          <a:p>
            <a:pPr algn="ctr" indent="0" marL="0">
              <a:buNone/>
            </a:pPr>
            <a:r>
              <a:rPr lang="tr-TR" sz="1200" b="1" dirty="0">
                <a:solidFill>
                  <a:srgbClr val="6B7679"/>
                </a:solidFill>
                <a:latin typeface="Calibri" pitchFamily="34" charset="0"/>
                <a:ea typeface="Calibri" pitchFamily="34" charset="-122"/>
                <a:cs typeface="Calibri" pitchFamily="34" charset="-120"/>
              </a:rPr>
              <a:t>v</a:t>
            </a:r>
            <a:endParaRPr lang="tr-TR" sz="1200" dirty="0"/>
          </a:p>
        </p:txBody>
      </p:sp>
      <p:sp>
        <p:nvSpPr>
          <p:cNvPr id="21" name="Shape 19"/>
          <p:cNvSpPr/>
          <p:nvPr/>
        </p:nvSpPr>
        <p:spPr>
          <a:xfrm>
            <a:off x="5120640" y="1783080"/>
            <a:ext cx="1554480" cy="868680"/>
          </a:xfrm>
          <a:prstGeom prst="roundRect">
            <a:avLst>
              <a:gd name="adj" fmla="val 5263"/>
            </a:avLst>
          </a:prstGeom>
          <a:solidFill>
            <a:srgbClr val="36454F"/>
          </a:solidFill>
          <a:ln/>
        </p:spPr>
      </p:sp>
      <p:sp>
        <p:nvSpPr>
          <p:cNvPr id="22" name="Text 20"/>
          <p:cNvSpPr txBox="1"/>
          <p:nvPr/>
        </p:nvSpPr>
        <p:spPr>
          <a:xfrm>
            <a:off x="5120640" y="1783080"/>
            <a:ext cx="1554480" cy="86868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İşletim sistemi</a:t>
            </a:r>
            <a:endParaRPr lang="tr-TR" sz="1300" dirty="0"/>
          </a:p>
        </p:txBody>
      </p:sp>
      <p:sp>
        <p:nvSpPr>
          <p:cNvPr id="23" name="Text 21"/>
          <p:cNvSpPr txBox="1"/>
          <p:nvPr/>
        </p:nvSpPr>
        <p:spPr>
          <a:xfrm>
            <a:off x="2743200" y="3474720"/>
            <a:ext cx="1737360" cy="274320"/>
          </a:xfrm>
          <a:prstGeom prst="rect">
            <a:avLst/>
          </a:prstGeom>
          <a:noFill/>
          <a:ln/>
        </p:spPr>
        <p:txBody>
          <a:bodyPr wrap="square" lIns="0" tIns="0" rIns="0" bIns="0" rtlCol="0" anchor="t"/>
          <a:lstStyle/>
          <a:p>
            <a:pPr algn="ctr" indent="0" marL="0">
              <a:buNone/>
            </a:pPr>
            <a:r>
              <a:rPr lang="tr-TR" sz="1100" i="1" dirty="0">
                <a:solidFill>
                  <a:srgbClr val="6B7679"/>
                </a:solidFill>
                <a:latin typeface="Calibri" pitchFamily="34" charset="0"/>
                <a:ea typeface="Calibri" pitchFamily="34" charset="-122"/>
                <a:cs typeface="Calibri" pitchFamily="34" charset="-120"/>
              </a:rPr>
              <a:t>fiziksel bellek</a:t>
            </a:r>
            <a:endParaRPr lang="tr-TR" sz="1100" dirty="0"/>
          </a:p>
        </p:txBody>
      </p:sp>
      <p:sp>
        <p:nvSpPr>
          <p:cNvPr id="24" name="Shape 22"/>
          <p:cNvSpPr/>
          <p:nvPr/>
        </p:nvSpPr>
        <p:spPr>
          <a:xfrm>
            <a:off x="2834640" y="3794760"/>
            <a:ext cx="1463040" cy="384048"/>
          </a:xfrm>
          <a:prstGeom prst="roundRect">
            <a:avLst>
              <a:gd name="adj" fmla="val 11905"/>
            </a:avLst>
          </a:prstGeom>
          <a:solidFill>
            <a:srgbClr val="F2F2F2"/>
          </a:solidFill>
          <a:ln/>
        </p:spPr>
      </p:sp>
      <p:sp>
        <p:nvSpPr>
          <p:cNvPr id="25" name="Text 23"/>
          <p:cNvSpPr txBox="1"/>
          <p:nvPr/>
        </p:nvSpPr>
        <p:spPr>
          <a:xfrm>
            <a:off x="2834640" y="3794760"/>
            <a:ext cx="1463040" cy="384048"/>
          </a:xfrm>
          <a:prstGeom prst="rect">
            <a:avLst/>
          </a:prstGeom>
          <a:noFill/>
          <a:ln/>
        </p:spPr>
        <p:txBody>
          <a:bodyPr wrap="square" lIns="38100" tIns="38100" rIns="38100" bIns="38100" rtlCol="0" anchor="ctr"/>
          <a:lstStyle/>
          <a:p>
            <a:pPr algn="ctr" indent="0" marL="0">
              <a:buNone/>
            </a:pPr>
            <a:endParaRPr lang="tr-TR" sz="1100" dirty="0"/>
          </a:p>
        </p:txBody>
      </p:sp>
      <p:sp>
        <p:nvSpPr>
          <p:cNvPr id="26" name="Shape 24"/>
          <p:cNvSpPr/>
          <p:nvPr/>
        </p:nvSpPr>
        <p:spPr>
          <a:xfrm>
            <a:off x="2834640" y="4233672"/>
            <a:ext cx="1463040" cy="384048"/>
          </a:xfrm>
          <a:prstGeom prst="roundRect">
            <a:avLst>
              <a:gd name="adj" fmla="val 11905"/>
            </a:avLst>
          </a:prstGeom>
          <a:solidFill>
            <a:srgbClr val="F2F2F2"/>
          </a:solidFill>
          <a:ln/>
        </p:spPr>
      </p:sp>
      <p:sp>
        <p:nvSpPr>
          <p:cNvPr id="27" name="Text 25"/>
          <p:cNvSpPr txBox="1"/>
          <p:nvPr/>
        </p:nvSpPr>
        <p:spPr>
          <a:xfrm>
            <a:off x="2834640" y="4233672"/>
            <a:ext cx="1463040" cy="384048"/>
          </a:xfrm>
          <a:prstGeom prst="rect">
            <a:avLst/>
          </a:prstGeom>
          <a:noFill/>
          <a:ln/>
        </p:spPr>
        <p:txBody>
          <a:bodyPr wrap="square" lIns="38100" tIns="38100" rIns="38100" bIns="38100" rtlCol="0" anchor="ctr"/>
          <a:lstStyle/>
          <a:p>
            <a:pPr algn="ctr" indent="0" marL="0">
              <a:buNone/>
            </a:pPr>
            <a:endParaRPr lang="tr-TR" sz="1100" dirty="0"/>
          </a:p>
        </p:txBody>
      </p:sp>
      <p:sp>
        <p:nvSpPr>
          <p:cNvPr id="28" name="Shape 26"/>
          <p:cNvSpPr/>
          <p:nvPr/>
        </p:nvSpPr>
        <p:spPr>
          <a:xfrm>
            <a:off x="2834640" y="4672584"/>
            <a:ext cx="1463040" cy="384048"/>
          </a:xfrm>
          <a:prstGeom prst="roundRect">
            <a:avLst>
              <a:gd name="adj" fmla="val 11905"/>
            </a:avLst>
          </a:prstGeom>
          <a:solidFill>
            <a:srgbClr val="F2F2F2"/>
          </a:solidFill>
          <a:ln/>
        </p:spPr>
      </p:sp>
      <p:sp>
        <p:nvSpPr>
          <p:cNvPr id="29" name="Text 27"/>
          <p:cNvSpPr txBox="1"/>
          <p:nvPr/>
        </p:nvSpPr>
        <p:spPr>
          <a:xfrm>
            <a:off x="2834640" y="4672584"/>
            <a:ext cx="1463040" cy="384048"/>
          </a:xfrm>
          <a:prstGeom prst="rect">
            <a:avLst/>
          </a:prstGeom>
          <a:noFill/>
          <a:ln/>
        </p:spPr>
        <p:txBody>
          <a:bodyPr wrap="square" lIns="38100" tIns="38100" rIns="38100" bIns="38100" rtlCol="0" anchor="ctr"/>
          <a:lstStyle/>
          <a:p>
            <a:pPr algn="ctr" indent="0" marL="0">
              <a:buNone/>
            </a:pPr>
            <a:endParaRPr lang="tr-TR" sz="1100" dirty="0"/>
          </a:p>
        </p:txBody>
      </p:sp>
      <p:sp>
        <p:nvSpPr>
          <p:cNvPr id="30" name="Shape 28"/>
          <p:cNvSpPr/>
          <p:nvPr/>
        </p:nvSpPr>
        <p:spPr>
          <a:xfrm>
            <a:off x="2834640" y="5111496"/>
            <a:ext cx="1463040" cy="384048"/>
          </a:xfrm>
          <a:prstGeom prst="roundRect">
            <a:avLst>
              <a:gd name="adj" fmla="val 11905"/>
            </a:avLst>
          </a:prstGeom>
          <a:solidFill>
            <a:srgbClr val="02C39A"/>
          </a:solidFill>
          <a:ln/>
        </p:spPr>
      </p:sp>
      <p:sp>
        <p:nvSpPr>
          <p:cNvPr id="31" name="Text 29"/>
          <p:cNvSpPr txBox="1"/>
          <p:nvPr/>
        </p:nvSpPr>
        <p:spPr>
          <a:xfrm>
            <a:off x="2834640" y="5111496"/>
            <a:ext cx="1463040" cy="384048"/>
          </a:xfrm>
          <a:prstGeom prst="rect">
            <a:avLst/>
          </a:prstGeom>
          <a:noFill/>
          <a:ln/>
        </p:spPr>
        <p:txBody>
          <a:bodyPr wrap="square" lIns="38100" tIns="38100" rIns="38100" bIns="38100" rtlCol="0" anchor="ctr"/>
          <a:lstStyle/>
          <a:p>
            <a:pPr algn="ctr" indent="0" marL="0">
              <a:buNone/>
            </a:pPr>
            <a:r>
              <a:rPr lang="tr-TR" sz="1100" b="1" dirty="0">
                <a:solidFill>
                  <a:srgbClr val="212121"/>
                </a:solidFill>
                <a:latin typeface="Calibri" pitchFamily="34" charset="0"/>
                <a:ea typeface="Calibri" pitchFamily="34" charset="-122"/>
                <a:cs typeface="Calibri" pitchFamily="34" charset="-120"/>
              </a:rPr>
              <a:t>boş çerçeve → M</a:t>
            </a:r>
            <a:endParaRPr lang="tr-TR" sz="1100" dirty="0"/>
          </a:p>
        </p:txBody>
      </p:sp>
      <p:sp>
        <p:nvSpPr>
          <p:cNvPr id="32" name="Shape 30"/>
          <p:cNvSpPr/>
          <p:nvPr/>
        </p:nvSpPr>
        <p:spPr>
          <a:xfrm>
            <a:off x="2834640" y="5550408"/>
            <a:ext cx="1463040" cy="384048"/>
          </a:xfrm>
          <a:prstGeom prst="roundRect">
            <a:avLst>
              <a:gd name="adj" fmla="val 11905"/>
            </a:avLst>
          </a:prstGeom>
          <a:solidFill>
            <a:srgbClr val="F2F2F2"/>
          </a:solidFill>
          <a:ln/>
        </p:spPr>
      </p:sp>
      <p:sp>
        <p:nvSpPr>
          <p:cNvPr id="33" name="Text 31"/>
          <p:cNvSpPr txBox="1"/>
          <p:nvPr/>
        </p:nvSpPr>
        <p:spPr>
          <a:xfrm>
            <a:off x="2834640" y="5550408"/>
            <a:ext cx="1463040" cy="384048"/>
          </a:xfrm>
          <a:prstGeom prst="rect">
            <a:avLst/>
          </a:prstGeom>
          <a:noFill/>
          <a:ln/>
        </p:spPr>
        <p:txBody>
          <a:bodyPr wrap="square" lIns="38100" tIns="38100" rIns="38100" bIns="38100" rtlCol="0" anchor="ctr"/>
          <a:lstStyle/>
          <a:p>
            <a:pPr algn="ctr" indent="0" marL="0">
              <a:buNone/>
            </a:pPr>
            <a:endParaRPr lang="tr-TR" sz="1100" dirty="0"/>
          </a:p>
        </p:txBody>
      </p:sp>
      <p:sp>
        <p:nvSpPr>
          <p:cNvPr id="34" name="Shape 32"/>
          <p:cNvSpPr/>
          <p:nvPr/>
        </p:nvSpPr>
        <p:spPr>
          <a:xfrm>
            <a:off x="5120640" y="4114800"/>
            <a:ext cx="1554480" cy="1600200"/>
          </a:xfrm>
          <a:prstGeom prst="can">
            <a:avLst/>
          </a:prstGeom>
          <a:solidFill>
            <a:srgbClr val="50808E"/>
          </a:solidFill>
          <a:ln/>
        </p:spPr>
      </p:sp>
      <p:sp>
        <p:nvSpPr>
          <p:cNvPr id="35" name="Text 33"/>
          <p:cNvSpPr txBox="1"/>
          <p:nvPr/>
        </p:nvSpPr>
        <p:spPr>
          <a:xfrm>
            <a:off x="5120640" y="4434840"/>
            <a:ext cx="1554480" cy="1280160"/>
          </a:xfrm>
          <a:prstGeom prst="rect">
            <a:avLst/>
          </a:prstGeom>
          <a:noFill/>
          <a:ln/>
        </p:spPr>
        <p:txBody>
          <a:bodyPr wrap="square" lIns="0" tIns="0" rIns="0" bIns="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Yedek</a:t>
            </a:r>
            <a:endParaRPr lang="tr-TR" sz="1300" dirty="0"/>
          </a:p>
          <a:p>
            <a:pPr algn="ctr" indent="0" marL="0">
              <a:buNone/>
            </a:pPr>
            <a:r>
              <a:rPr lang="tr-TR" sz="1100" dirty="0">
                <a:solidFill>
                  <a:srgbClr val="FFFFFF"/>
                </a:solidFill>
                <a:latin typeface="Calibri" pitchFamily="34" charset="0"/>
                <a:ea typeface="Calibri" pitchFamily="34" charset="-122"/>
                <a:cs typeface="Calibri" pitchFamily="34" charset="-120"/>
              </a:rPr>
              <a:t>depo (disk)</a:t>
            </a:r>
            <a:endParaRPr lang="tr-TR" sz="1300" dirty="0"/>
          </a:p>
        </p:txBody>
      </p:sp>
      <p:sp>
        <p:nvSpPr>
          <p:cNvPr id="36" name="Shape 34"/>
          <p:cNvSpPr/>
          <p:nvPr/>
        </p:nvSpPr>
        <p:spPr>
          <a:xfrm>
            <a:off x="2167128" y="2194560"/>
            <a:ext cx="694944" cy="91"/>
          </a:xfrm>
          <a:prstGeom prst="line">
            <a:avLst/>
          </a:prstGeom>
          <a:noFill/>
          <a:ln w="25400">
            <a:solidFill>
              <a:srgbClr val="028090"/>
            </a:solidFill>
            <a:prstDash val="solid"/>
            <a:tailEnd type="triangle"/>
          </a:ln>
        </p:spPr>
      </p:sp>
      <p:sp>
        <p:nvSpPr>
          <p:cNvPr id="37" name="Shape 35"/>
          <p:cNvSpPr/>
          <p:nvPr/>
        </p:nvSpPr>
        <p:spPr>
          <a:xfrm>
            <a:off x="4251960" y="2167128"/>
            <a:ext cx="850392" cy="91"/>
          </a:xfrm>
          <a:prstGeom prst="line">
            <a:avLst/>
          </a:prstGeom>
          <a:noFill/>
          <a:ln w="25400">
            <a:solidFill>
              <a:srgbClr val="B5453A"/>
            </a:solidFill>
            <a:prstDash val="solid"/>
            <a:tailEnd type="triangle"/>
          </a:ln>
        </p:spPr>
      </p:sp>
      <p:sp>
        <p:nvSpPr>
          <p:cNvPr id="38" name="Shape 36"/>
          <p:cNvSpPr/>
          <p:nvPr/>
        </p:nvSpPr>
        <p:spPr>
          <a:xfrm>
            <a:off x="5897880" y="2670048"/>
            <a:ext cx="91" cy="1426464"/>
          </a:xfrm>
          <a:prstGeom prst="line">
            <a:avLst/>
          </a:prstGeom>
          <a:noFill/>
          <a:ln w="25400">
            <a:solidFill>
              <a:srgbClr val="028090"/>
            </a:solidFill>
            <a:prstDash val="solid"/>
            <a:tailEnd type="triangle"/>
          </a:ln>
        </p:spPr>
      </p:sp>
      <p:sp>
        <p:nvSpPr>
          <p:cNvPr id="39" name="Shape 37"/>
          <p:cNvSpPr/>
          <p:nvPr/>
        </p:nvSpPr>
        <p:spPr>
          <a:xfrm flipH="1">
            <a:off x="4315968" y="5303520"/>
            <a:ext cx="786384" cy="91"/>
          </a:xfrm>
          <a:prstGeom prst="line">
            <a:avLst/>
          </a:prstGeom>
          <a:noFill/>
          <a:ln w="25400">
            <a:solidFill>
              <a:srgbClr val="028090"/>
            </a:solidFill>
            <a:prstDash val="solid"/>
            <a:tailEnd type="triangle"/>
          </a:ln>
        </p:spPr>
      </p:sp>
      <p:sp>
        <p:nvSpPr>
          <p:cNvPr id="40" name="Shape 38"/>
          <p:cNvSpPr/>
          <p:nvPr/>
        </p:nvSpPr>
        <p:spPr>
          <a:xfrm flipV="1">
            <a:off x="3291840" y="2944368"/>
            <a:ext cx="91" cy="832104"/>
          </a:xfrm>
          <a:prstGeom prst="line">
            <a:avLst/>
          </a:prstGeom>
          <a:noFill/>
          <a:ln w="25400">
            <a:solidFill>
              <a:srgbClr val="028090"/>
            </a:solidFill>
            <a:prstDash val="solid"/>
            <a:tailEnd type="triangle"/>
          </a:ln>
        </p:spPr>
      </p:sp>
      <p:sp>
        <p:nvSpPr>
          <p:cNvPr id="41" name="Shape 39"/>
          <p:cNvSpPr/>
          <p:nvPr/>
        </p:nvSpPr>
        <p:spPr>
          <a:xfrm flipH="1">
            <a:off x="2167128" y="2514600"/>
            <a:ext cx="694944" cy="91"/>
          </a:xfrm>
          <a:prstGeom prst="line">
            <a:avLst/>
          </a:prstGeom>
          <a:noFill/>
          <a:ln w="25400">
            <a:solidFill>
              <a:srgbClr val="028090"/>
            </a:solidFill>
            <a:prstDash val="solid"/>
            <a:tailEnd type="triangle"/>
          </a:ln>
        </p:spPr>
      </p:sp>
      <p:sp>
        <p:nvSpPr>
          <p:cNvPr id="42" name="Shape 40"/>
          <p:cNvSpPr/>
          <p:nvPr/>
        </p:nvSpPr>
        <p:spPr>
          <a:xfrm>
            <a:off x="2350008" y="1755648"/>
            <a:ext cx="329184" cy="329184"/>
          </a:xfrm>
          <a:prstGeom prst="ellipse">
            <a:avLst/>
          </a:prstGeom>
          <a:solidFill>
            <a:srgbClr val="02C39A"/>
          </a:solidFill>
          <a:ln/>
        </p:spPr>
      </p:sp>
      <p:sp>
        <p:nvSpPr>
          <p:cNvPr id="43" name="Text 41"/>
          <p:cNvSpPr txBox="1"/>
          <p:nvPr/>
        </p:nvSpPr>
        <p:spPr>
          <a:xfrm>
            <a:off x="2350008" y="1755648"/>
            <a:ext cx="329184" cy="329184"/>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1</a:t>
            </a:r>
            <a:endParaRPr lang="tr-TR" sz="1200" dirty="0"/>
          </a:p>
        </p:txBody>
      </p:sp>
      <p:sp>
        <p:nvSpPr>
          <p:cNvPr id="44" name="Shape 42"/>
          <p:cNvSpPr/>
          <p:nvPr/>
        </p:nvSpPr>
        <p:spPr>
          <a:xfrm>
            <a:off x="4507992" y="1737360"/>
            <a:ext cx="329184" cy="329184"/>
          </a:xfrm>
          <a:prstGeom prst="ellipse">
            <a:avLst/>
          </a:prstGeom>
          <a:solidFill>
            <a:srgbClr val="B5453A"/>
          </a:solidFill>
          <a:ln/>
        </p:spPr>
      </p:sp>
      <p:sp>
        <p:nvSpPr>
          <p:cNvPr id="45" name="Text 43"/>
          <p:cNvSpPr txBox="1"/>
          <p:nvPr/>
        </p:nvSpPr>
        <p:spPr>
          <a:xfrm>
            <a:off x="4507992" y="1737360"/>
            <a:ext cx="329184" cy="329184"/>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2</a:t>
            </a:r>
            <a:endParaRPr lang="tr-TR" sz="1200" dirty="0"/>
          </a:p>
        </p:txBody>
      </p:sp>
      <p:sp>
        <p:nvSpPr>
          <p:cNvPr id="46" name="Shape 44"/>
          <p:cNvSpPr/>
          <p:nvPr/>
        </p:nvSpPr>
        <p:spPr>
          <a:xfrm>
            <a:off x="5989320" y="3200400"/>
            <a:ext cx="329184" cy="329184"/>
          </a:xfrm>
          <a:prstGeom prst="ellipse">
            <a:avLst/>
          </a:prstGeom>
          <a:solidFill>
            <a:srgbClr val="02C39A"/>
          </a:solidFill>
          <a:ln/>
        </p:spPr>
      </p:sp>
      <p:sp>
        <p:nvSpPr>
          <p:cNvPr id="47" name="Text 45"/>
          <p:cNvSpPr txBox="1"/>
          <p:nvPr/>
        </p:nvSpPr>
        <p:spPr>
          <a:xfrm>
            <a:off x="5989320" y="3200400"/>
            <a:ext cx="329184" cy="329184"/>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3</a:t>
            </a:r>
            <a:endParaRPr lang="tr-TR" sz="1200" dirty="0"/>
          </a:p>
        </p:txBody>
      </p:sp>
      <p:sp>
        <p:nvSpPr>
          <p:cNvPr id="48" name="Shape 46"/>
          <p:cNvSpPr/>
          <p:nvPr/>
        </p:nvSpPr>
        <p:spPr>
          <a:xfrm>
            <a:off x="4544568" y="4846320"/>
            <a:ext cx="329184" cy="329184"/>
          </a:xfrm>
          <a:prstGeom prst="ellipse">
            <a:avLst/>
          </a:prstGeom>
          <a:solidFill>
            <a:srgbClr val="02C39A"/>
          </a:solidFill>
          <a:ln/>
        </p:spPr>
      </p:sp>
      <p:sp>
        <p:nvSpPr>
          <p:cNvPr id="49" name="Text 47"/>
          <p:cNvSpPr txBox="1"/>
          <p:nvPr/>
        </p:nvSpPr>
        <p:spPr>
          <a:xfrm>
            <a:off x="4544568" y="4846320"/>
            <a:ext cx="329184" cy="329184"/>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4</a:t>
            </a:r>
            <a:endParaRPr lang="tr-TR" sz="1200" dirty="0"/>
          </a:p>
        </p:txBody>
      </p:sp>
      <p:sp>
        <p:nvSpPr>
          <p:cNvPr id="50" name="Shape 48"/>
          <p:cNvSpPr/>
          <p:nvPr/>
        </p:nvSpPr>
        <p:spPr>
          <a:xfrm>
            <a:off x="3401568" y="3200400"/>
            <a:ext cx="329184" cy="329184"/>
          </a:xfrm>
          <a:prstGeom prst="ellipse">
            <a:avLst/>
          </a:prstGeom>
          <a:solidFill>
            <a:srgbClr val="02C39A"/>
          </a:solidFill>
          <a:ln/>
        </p:spPr>
      </p:sp>
      <p:sp>
        <p:nvSpPr>
          <p:cNvPr id="51" name="Text 49"/>
          <p:cNvSpPr txBox="1"/>
          <p:nvPr/>
        </p:nvSpPr>
        <p:spPr>
          <a:xfrm>
            <a:off x="3401568" y="3200400"/>
            <a:ext cx="329184" cy="329184"/>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5</a:t>
            </a:r>
            <a:endParaRPr lang="tr-TR" sz="1200" dirty="0"/>
          </a:p>
        </p:txBody>
      </p:sp>
      <p:sp>
        <p:nvSpPr>
          <p:cNvPr id="52" name="Shape 50"/>
          <p:cNvSpPr/>
          <p:nvPr/>
        </p:nvSpPr>
        <p:spPr>
          <a:xfrm>
            <a:off x="2350008" y="2624328"/>
            <a:ext cx="329184" cy="329184"/>
          </a:xfrm>
          <a:prstGeom prst="ellipse">
            <a:avLst/>
          </a:prstGeom>
          <a:solidFill>
            <a:srgbClr val="02C39A"/>
          </a:solidFill>
          <a:ln/>
        </p:spPr>
      </p:sp>
      <p:sp>
        <p:nvSpPr>
          <p:cNvPr id="53" name="Text 51"/>
          <p:cNvSpPr txBox="1"/>
          <p:nvPr/>
        </p:nvSpPr>
        <p:spPr>
          <a:xfrm>
            <a:off x="2350008" y="2624328"/>
            <a:ext cx="329184" cy="329184"/>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6</a:t>
            </a:r>
            <a:endParaRPr lang="tr-TR" sz="1200" dirty="0"/>
          </a:p>
        </p:txBody>
      </p:sp>
      <p:sp>
        <p:nvSpPr>
          <p:cNvPr id="54" name="Shape 52"/>
          <p:cNvSpPr/>
          <p:nvPr/>
        </p:nvSpPr>
        <p:spPr>
          <a:xfrm>
            <a:off x="7132320" y="1508760"/>
            <a:ext cx="4526280" cy="4754880"/>
          </a:xfrm>
          <a:prstGeom prst="roundRect">
            <a:avLst>
              <a:gd name="adj" fmla="val 1212"/>
            </a:avLst>
          </a:prstGeom>
          <a:solidFill>
            <a:srgbClr val="F2F2F2"/>
          </a:solidFill>
          <a:ln/>
          <a:effectLst>
            <a:outerShdw sx="100000" sy="100000" kx="0" ky="0" algn="bl" rotWithShape="0" blurRad="101600" dist="25400" dir="5400000">
              <a:srgbClr val="000000">
                <a:alpha val="12000"/>
              </a:srgbClr>
            </a:outerShdw>
          </a:effectLst>
        </p:spPr>
      </p:sp>
      <p:sp>
        <p:nvSpPr>
          <p:cNvPr id="55" name="Text 53"/>
          <p:cNvSpPr txBox="1"/>
          <p:nvPr/>
        </p:nvSpPr>
        <p:spPr>
          <a:xfrm>
            <a:off x="7360920" y="1691640"/>
            <a:ext cx="40690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Altı adım</a:t>
            </a:r>
            <a:endParaRPr lang="tr-TR" sz="1500" dirty="0"/>
          </a:p>
        </p:txBody>
      </p:sp>
      <p:sp>
        <p:nvSpPr>
          <p:cNvPr id="56" name="Text 54"/>
          <p:cNvSpPr txBox="1"/>
          <p:nvPr/>
        </p:nvSpPr>
        <p:spPr>
          <a:xfrm>
            <a:off x="7360920" y="2148840"/>
            <a:ext cx="4069080" cy="3977640"/>
          </a:xfrm>
          <a:prstGeom prst="rect">
            <a:avLst/>
          </a:prstGeom>
          <a:noFill/>
          <a:ln/>
        </p:spPr>
        <p:txBody>
          <a:bodyPr wrap="square" lIns="0" tIns="0" rIns="0" bIns="0" rtlCol="0" anchor="t"/>
          <a:lstStyle/>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1 Başvuru:</a:t>
            </a:r>
            <a:r>
              <a:rPr lang="tr-TR" sz="1400" dirty="0">
                <a:solidFill>
                  <a:srgbClr val="3A464C"/>
                </a:solidFill>
                <a:latin typeface="Calibri" pitchFamily="34" charset="0"/>
                <a:ea typeface="Calibri" pitchFamily="34" charset="-122"/>
                <a:cs typeface="Calibri" pitchFamily="34" charset="-120"/>
              </a:rPr>
              <a:t> süreç M sayfasına dokunur; biti i'dir.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2 Tuzak:</a:t>
            </a:r>
            <a:r>
              <a:rPr lang="tr-TR" sz="1400" dirty="0">
                <a:solidFill>
                  <a:srgbClr val="3A464C"/>
                </a:solidFill>
                <a:latin typeface="Calibri" pitchFamily="34" charset="0"/>
                <a:ea typeface="Calibri" pitchFamily="34" charset="-122"/>
                <a:cs typeface="Calibri" pitchFamily="34" charset="-120"/>
              </a:rPr>
              <a:t> MMU sayfa hatası üretir; işletim sistemi adresin yasal olup olmadığına bakar (değilse: çökme).</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3 Bulma:</a:t>
            </a:r>
            <a:r>
              <a:rPr lang="tr-TR" sz="1400" dirty="0">
                <a:solidFill>
                  <a:srgbClr val="3A464C"/>
                </a:solidFill>
                <a:latin typeface="Calibri" pitchFamily="34" charset="0"/>
                <a:ea typeface="Calibri" pitchFamily="34" charset="-122"/>
                <a:cs typeface="Calibri" pitchFamily="34" charset="-120"/>
              </a:rPr>
              <a:t> işletim sistemi M sayfasını diskte ve boş bir çerçeve bulur.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4 Okuma:</a:t>
            </a:r>
            <a:r>
              <a:rPr lang="tr-TR" sz="1400" dirty="0">
                <a:solidFill>
                  <a:srgbClr val="3A464C"/>
                </a:solidFill>
                <a:latin typeface="Calibri" pitchFamily="34" charset="0"/>
                <a:ea typeface="Calibri" pitchFamily="34" charset="-122"/>
                <a:cs typeface="Calibri" pitchFamily="34" charset="-120"/>
              </a:rPr>
              <a:t> disk → çerçeve (milisaniyeler; bu arada başka bir süreç çalışır).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5 Güncelleme:</a:t>
            </a:r>
            <a:r>
              <a:rPr lang="tr-TR" sz="1400" dirty="0">
                <a:solidFill>
                  <a:srgbClr val="3A464C"/>
                </a:solidFill>
                <a:latin typeface="Calibri" pitchFamily="34" charset="0"/>
                <a:ea typeface="Calibri" pitchFamily="34" charset="-122"/>
                <a:cs typeface="Calibri" pitchFamily="34" charset="-120"/>
              </a:rPr>
              <a:t> sayfa tablosu girdisi = çerçeve numarası, bit = v.</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6 Yeniden başlatma:</a:t>
            </a:r>
            <a:r>
              <a:rPr lang="tr-TR" sz="1400" dirty="0">
                <a:solidFill>
                  <a:srgbClr val="3A464C"/>
                </a:solidFill>
                <a:latin typeface="Calibri" pitchFamily="34" charset="0"/>
                <a:ea typeface="Calibri" pitchFamily="34" charset="-122"/>
                <a:cs typeface="Calibri" pitchFamily="34" charset="-120"/>
              </a:rPr>
              <a:t> aynı komut yeniden çalışır ve bu kez başarılı olur.</a:t>
            </a:r>
            <a:endParaRPr lang="tr-TR"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BAŞARIM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Sayfa Hatalarıyla Etkin Erişim Süresi</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p sayfa hatası oranı olsun (0 ≤ p ≤ 1): tek bir bellek erişiminin sayfa hatasına yol açma olasılığı.</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9</a:t>
            </a:r>
            <a:endParaRPr lang="tr-TR" sz="900" dirty="0"/>
          </a:p>
        </p:txBody>
      </p:sp>
      <p:sp>
        <p:nvSpPr>
          <p:cNvPr id="7" name="Shape 5"/>
          <p:cNvSpPr/>
          <p:nvPr/>
        </p:nvSpPr>
        <p:spPr>
          <a:xfrm>
            <a:off x="548640" y="2103120"/>
            <a:ext cx="4846320" cy="3108960"/>
          </a:xfrm>
          <a:prstGeom prst="roundRect">
            <a:avLst>
              <a:gd name="adj" fmla="val 1765"/>
            </a:avLst>
          </a:prstGeom>
          <a:solidFill>
            <a:srgbClr val="F2F2F2"/>
          </a:solidFill>
          <a:ln/>
          <a:effectLst>
            <a:outerShdw sx="100000" sy="100000" kx="0" ky="0" algn="bl" rotWithShape="0" blurRad="101600" dist="25400" dir="5400000">
              <a:srgbClr val="000000">
                <a:alpha val="12000"/>
              </a:srgbClr>
            </a:outerShdw>
          </a:effectLst>
        </p:spPr>
      </p:sp>
      <p:sp>
        <p:nvSpPr>
          <p:cNvPr id="8" name="Text 6"/>
          <p:cNvSpPr txBox="1"/>
          <p:nvPr/>
        </p:nvSpPr>
        <p:spPr>
          <a:xfrm>
            <a:off x="777240" y="2286000"/>
            <a:ext cx="43891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Formül</a:t>
            </a:r>
            <a:endParaRPr lang="tr-TR" sz="1500" dirty="0"/>
          </a:p>
        </p:txBody>
      </p:sp>
      <p:sp>
        <p:nvSpPr>
          <p:cNvPr id="9" name="Text 7"/>
          <p:cNvSpPr txBox="1"/>
          <p:nvPr/>
        </p:nvSpPr>
        <p:spPr>
          <a:xfrm>
            <a:off x="777240" y="2743200"/>
            <a:ext cx="4389120" cy="2331720"/>
          </a:xfrm>
          <a:prstGeom prst="rect">
            <a:avLst/>
          </a:prstGeom>
          <a:noFill/>
          <a:ln/>
        </p:spPr>
        <p:txBody>
          <a:bodyPr wrap="square" lIns="0" tIns="0" rIns="0" bIns="0" rtlCol="0" anchor="t"/>
          <a:lstStyle/>
          <a:p>
            <a:pPr marL="228600" indent="-228600">
              <a:spcAft>
                <a:spcPts val="400"/>
              </a:spcAft>
              <a:buSzPct val="100000"/>
              <a:buChar char="•"/>
            </a:pPr>
            <a:r>
              <a:rPr lang="tr-TR" sz="1500" b="1" dirty="0">
                <a:solidFill>
                  <a:srgbClr val="3A464C"/>
                </a:solidFill>
                <a:latin typeface="Calibri" pitchFamily="34" charset="0"/>
                <a:ea typeface="Calibri" pitchFamily="34" charset="-122"/>
                <a:cs typeface="Calibri" pitchFamily="34" charset="-120"/>
              </a:rPr>
              <a:t>EAT = (1 − p) × tₘ + p × t_fault</a:t>
            </a:r>
            <a:endParaRPr lang="tr-TR" sz="1500" dirty="0"/>
          </a:p>
          <a:p>
            <a:pPr marL="228600" indent="-228600">
              <a:spcAft>
                <a:spcPts val="400"/>
              </a:spcAft>
              <a:buSzPct val="100000"/>
              <a:buChar char="•"/>
            </a:pPr>
            <a:r>
              <a:rPr lang="tr-TR" sz="1500" b="1" dirty="0">
                <a:solidFill>
                  <a:srgbClr val="3A464C"/>
                </a:solidFill>
                <a:latin typeface="Calibri" pitchFamily="34" charset="0"/>
                <a:ea typeface="Calibri" pitchFamily="34" charset="-122"/>
                <a:cs typeface="Calibri" pitchFamily="34" charset="-120"/>
              </a:rPr>
              <a:t>tₘ:</a:t>
            </a:r>
            <a:r>
              <a:rPr lang="tr-TR" sz="1500" dirty="0">
                <a:solidFill>
                  <a:srgbClr val="3A464C"/>
                </a:solidFill>
                <a:latin typeface="Calibri" pitchFamily="34" charset="0"/>
                <a:ea typeface="Calibri" pitchFamily="34" charset="-122"/>
                <a:cs typeface="Calibri" pitchFamily="34" charset="-120"/>
              </a:rPr>
              <a:t> bellek erişim süresi (burada 200 ns).</a:t>
            </a:r>
            <a:endParaRPr lang="tr-TR" sz="1500" dirty="0"/>
          </a:p>
          <a:p>
            <a:pPr marL="228600" indent="-228600">
              <a:spcAft>
                <a:spcPts val="400"/>
              </a:spcAft>
              <a:buSzPct val="100000"/>
              <a:buChar char="•"/>
            </a:pPr>
            <a:r>
              <a:rPr lang="tr-TR" sz="1500" b="1" dirty="0">
                <a:solidFill>
                  <a:srgbClr val="3A464C"/>
                </a:solidFill>
                <a:latin typeface="Calibri" pitchFamily="34" charset="0"/>
                <a:ea typeface="Calibri" pitchFamily="34" charset="-122"/>
                <a:cs typeface="Calibri" pitchFamily="34" charset="-120"/>
              </a:rPr>
              <a:t>t_fault:</a:t>
            </a:r>
            <a:r>
              <a:rPr lang="tr-TR" sz="1500" dirty="0">
                <a:solidFill>
                  <a:srgbClr val="3A464C"/>
                </a:solidFill>
                <a:latin typeface="Calibri" pitchFamily="34" charset="0"/>
                <a:ea typeface="Calibri" pitchFamily="34" charset="-122"/>
                <a:cs typeface="Calibri" pitchFamily="34" charset="-120"/>
              </a:rPr>
              <a:t> sayfa hatası hizmet süresi: tuzak, disk okuması, yeniden başlatma (burada 8 ms; süreyi disk belirler).</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6. haftadaki TLB formülü gibi ağırlıklı bir ortalama.</a:t>
            </a:r>
            <a:endParaRPr lang="tr-TR" sz="1500" dirty="0"/>
          </a:p>
        </p:txBody>
      </p:sp>
      <p:sp>
        <p:nvSpPr>
          <p:cNvPr id="10" name="Shape 8"/>
          <p:cNvSpPr/>
          <p:nvPr/>
        </p:nvSpPr>
        <p:spPr>
          <a:xfrm>
            <a:off x="5623560" y="2103120"/>
            <a:ext cx="6035040" cy="4160520"/>
          </a:xfrm>
          <a:prstGeom prst="roundRect">
            <a:avLst>
              <a:gd name="adj" fmla="val 1099"/>
            </a:avLst>
          </a:prstGeom>
          <a:solidFill>
            <a:srgbClr val="212121"/>
          </a:solidFill>
          <a:ln/>
        </p:spPr>
      </p:sp>
      <p:sp>
        <p:nvSpPr>
          <p:cNvPr id="11" name="Text 9"/>
          <p:cNvSpPr txBox="1"/>
          <p:nvPr/>
        </p:nvSpPr>
        <p:spPr>
          <a:xfrm>
            <a:off x="5806440" y="2212848"/>
            <a:ext cx="5669280" cy="3941064"/>
          </a:xfrm>
          <a:prstGeom prst="rect">
            <a:avLst/>
          </a:prstGeom>
          <a:noFill/>
          <a:ln/>
        </p:spPr>
        <p:txBody>
          <a:bodyPr wrap="square" lIns="0" tIns="0" rIns="0" bIns="0" rtlCol="0" anchor="t"/>
          <a:lstStyle/>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tₘ = 200 ns,  t_fault = 8 ms = 8 000 000 ns</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a:t>
            </a:r>
            <a:endParaRPr lang="tr-TR" sz="1350" dirty="0"/>
          </a:p>
          <a:p>
            <a:pPr indent="0" marL="0">
              <a:lnSpc>
                <a:spcPct val="105000"/>
              </a:lnSpc>
              <a:buNone/>
            </a:pPr>
            <a:r>
              <a:rPr lang="tr-TR" sz="1350" dirty="0">
                <a:solidFill>
                  <a:srgbClr val="8A9AA0"/>
                </a:solidFill>
                <a:latin typeface="Consolas" pitchFamily="34" charset="0"/>
                <a:ea typeface="Consolas" pitchFamily="34" charset="-122"/>
                <a:cs typeface="Consolas" pitchFamily="34" charset="-120"/>
              </a:rPr>
              <a:t># Örnek: p = 0.001 (1000 erişimde 1 hata)</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EAT = 0.999 × 200 + 0.001 × 8 000 000</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 199.8 + 8 000 = 8 199.8 ns ≈ 8.2 µs</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RAM'den 41 kat yavaş!</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a:t>
            </a:r>
            <a:endParaRPr lang="tr-TR" sz="1350" dirty="0"/>
          </a:p>
          <a:p>
            <a:pPr indent="0" marL="0">
              <a:lnSpc>
                <a:spcPct val="105000"/>
              </a:lnSpc>
              <a:buNone/>
            </a:pPr>
            <a:r>
              <a:rPr lang="tr-TR" sz="1350" dirty="0">
                <a:solidFill>
                  <a:srgbClr val="8A9AA0"/>
                </a:solidFill>
                <a:latin typeface="Consolas" pitchFamily="34" charset="0"/>
                <a:ea typeface="Consolas" pitchFamily="34" charset="-122"/>
                <a:cs typeface="Consolas" pitchFamily="34" charset="-120"/>
              </a:rPr>
              <a:t># Yavaşlama %10'un altında  ⇔  EAT &lt; 220 ns</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200 + p × (8 000 000 − 200) &lt; 220</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p &lt; 20 / 7 999 800 ≈ 2.5 × 10⁻⁶</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en fazla ≈ 400 000 erişimde 1 hata</a:t>
            </a:r>
            <a:endParaRPr lang="tr-TR" sz="1350" dirty="0"/>
          </a:p>
        </p:txBody>
      </p:sp>
      <p:sp>
        <p:nvSpPr>
          <p:cNvPr id="12" name="Shape 10"/>
          <p:cNvSpPr/>
          <p:nvPr/>
        </p:nvSpPr>
        <p:spPr>
          <a:xfrm>
            <a:off x="548640" y="5440680"/>
            <a:ext cx="4846320" cy="822960"/>
          </a:xfrm>
          <a:prstGeom prst="roundRect">
            <a:avLst>
              <a:gd name="adj" fmla="val 6667"/>
            </a:avLst>
          </a:prstGeom>
          <a:solidFill>
            <a:srgbClr val="36454F"/>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777240" y="5440680"/>
            <a:ext cx="4389120" cy="82296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Ders: sayfa hatası oranı çok küçük olmalıdır. Onu küçük tutan şey yerelliktir.</a:t>
            </a:r>
            <a:endParaRPr lang="tr-TR"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SANAL BELLEK HİLESİ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Yazınca Kopyala: fork() Çağrısını Ucuzlatmak</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3. hafta: fork(), ebeveyninin kopyası olan bir çocuk oluşturur. Her sayfayı kopyalamak yavaş olurdu ve çoğu zaman boşa giderdi.</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10</a:t>
            </a:r>
            <a:endParaRPr lang="tr-TR" sz="900" dirty="0"/>
          </a:p>
        </p:txBody>
      </p:sp>
      <p:sp>
        <p:nvSpPr>
          <p:cNvPr id="7" name="Text 5"/>
          <p:cNvSpPr txBox="1"/>
          <p:nvPr/>
        </p:nvSpPr>
        <p:spPr>
          <a:xfrm>
            <a:off x="548640" y="2148840"/>
            <a:ext cx="5394960" cy="320040"/>
          </a:xfrm>
          <a:prstGeom prst="rect">
            <a:avLst/>
          </a:prstGeom>
          <a:noFill/>
          <a:ln/>
        </p:spPr>
        <p:txBody>
          <a:bodyPr wrap="square" lIns="0" tIns="0" rIns="0" bIns="0" rtlCol="0" anchor="t"/>
          <a:lstStyle/>
          <a:p>
            <a:pPr indent="0" marL="0">
              <a:buNone/>
            </a:pPr>
            <a:r>
              <a:rPr lang="tr-TR" sz="1400" b="1" dirty="0">
                <a:solidFill>
                  <a:srgbClr val="028090"/>
                </a:solidFill>
                <a:latin typeface="Calibri" pitchFamily="34" charset="0"/>
                <a:ea typeface="Calibri" pitchFamily="34" charset="-122"/>
                <a:cs typeface="Calibri" pitchFamily="34" charset="-120"/>
              </a:rPr>
              <a:t>1. fork()'tan hemen sonra: sayfalar ortak, salt okunur</a:t>
            </a:r>
            <a:endParaRPr lang="tr-TR" sz="1400" dirty="0"/>
          </a:p>
        </p:txBody>
      </p:sp>
      <p:sp>
        <p:nvSpPr>
          <p:cNvPr id="8" name="Shape 6"/>
          <p:cNvSpPr/>
          <p:nvPr/>
        </p:nvSpPr>
        <p:spPr>
          <a:xfrm>
            <a:off x="548640" y="2926080"/>
            <a:ext cx="1143000" cy="1645920"/>
          </a:xfrm>
          <a:prstGeom prst="roundRect">
            <a:avLst>
              <a:gd name="adj" fmla="val 4000"/>
            </a:avLst>
          </a:prstGeom>
          <a:solidFill>
            <a:srgbClr val="36454F"/>
          </a:solidFill>
          <a:ln/>
        </p:spPr>
      </p:sp>
      <p:sp>
        <p:nvSpPr>
          <p:cNvPr id="9" name="Text 7"/>
          <p:cNvSpPr txBox="1"/>
          <p:nvPr/>
        </p:nvSpPr>
        <p:spPr>
          <a:xfrm>
            <a:off x="548640" y="2926080"/>
            <a:ext cx="1143000" cy="164592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Ebeveyn</a:t>
            </a:r>
            <a:endParaRPr lang="tr-TR" sz="1300" dirty="0"/>
          </a:p>
        </p:txBody>
      </p:sp>
      <p:sp>
        <p:nvSpPr>
          <p:cNvPr id="10" name="Shape 8"/>
          <p:cNvSpPr/>
          <p:nvPr/>
        </p:nvSpPr>
        <p:spPr>
          <a:xfrm>
            <a:off x="4754880" y="2926080"/>
            <a:ext cx="1143000" cy="1645920"/>
          </a:xfrm>
          <a:prstGeom prst="roundRect">
            <a:avLst>
              <a:gd name="adj" fmla="val 4000"/>
            </a:avLst>
          </a:prstGeom>
          <a:solidFill>
            <a:srgbClr val="36454F"/>
          </a:solidFill>
          <a:ln/>
        </p:spPr>
      </p:sp>
      <p:sp>
        <p:nvSpPr>
          <p:cNvPr id="11" name="Text 9"/>
          <p:cNvSpPr txBox="1"/>
          <p:nvPr/>
        </p:nvSpPr>
        <p:spPr>
          <a:xfrm>
            <a:off x="4754880" y="2926080"/>
            <a:ext cx="1143000" cy="164592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Çocuk</a:t>
            </a:r>
            <a:endParaRPr lang="tr-TR" sz="1300" dirty="0"/>
          </a:p>
        </p:txBody>
      </p:sp>
      <p:sp>
        <p:nvSpPr>
          <p:cNvPr id="12" name="Shape 10"/>
          <p:cNvSpPr/>
          <p:nvPr/>
        </p:nvSpPr>
        <p:spPr>
          <a:xfrm>
            <a:off x="2514600" y="2651760"/>
            <a:ext cx="1417320" cy="457200"/>
          </a:xfrm>
          <a:prstGeom prst="roundRect">
            <a:avLst>
              <a:gd name="adj" fmla="val 10000"/>
            </a:avLst>
          </a:prstGeom>
          <a:solidFill>
            <a:srgbClr val="F2F2F2"/>
          </a:solidFill>
          <a:ln/>
        </p:spPr>
      </p:sp>
      <p:sp>
        <p:nvSpPr>
          <p:cNvPr id="13" name="Text 11"/>
          <p:cNvSpPr txBox="1"/>
          <p:nvPr/>
        </p:nvSpPr>
        <p:spPr>
          <a:xfrm>
            <a:off x="2514600" y="2651760"/>
            <a:ext cx="1417320" cy="45720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sayfa A</a:t>
            </a:r>
            <a:endParaRPr lang="tr-TR" sz="1200" dirty="0"/>
          </a:p>
        </p:txBody>
      </p:sp>
      <p:sp>
        <p:nvSpPr>
          <p:cNvPr id="14" name="Shape 12"/>
          <p:cNvSpPr/>
          <p:nvPr/>
        </p:nvSpPr>
        <p:spPr>
          <a:xfrm>
            <a:off x="2514600" y="3218688"/>
            <a:ext cx="1417320" cy="457200"/>
          </a:xfrm>
          <a:prstGeom prst="roundRect">
            <a:avLst>
              <a:gd name="adj" fmla="val 10000"/>
            </a:avLst>
          </a:prstGeom>
          <a:solidFill>
            <a:srgbClr val="F2F2F2"/>
          </a:solidFill>
          <a:ln/>
        </p:spPr>
      </p:sp>
      <p:sp>
        <p:nvSpPr>
          <p:cNvPr id="15" name="Text 13"/>
          <p:cNvSpPr txBox="1"/>
          <p:nvPr/>
        </p:nvSpPr>
        <p:spPr>
          <a:xfrm>
            <a:off x="2514600" y="3218688"/>
            <a:ext cx="1417320" cy="45720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sayfa B</a:t>
            </a:r>
            <a:endParaRPr lang="tr-TR" sz="1200" dirty="0"/>
          </a:p>
        </p:txBody>
      </p:sp>
      <p:sp>
        <p:nvSpPr>
          <p:cNvPr id="16" name="Shape 14"/>
          <p:cNvSpPr/>
          <p:nvPr/>
        </p:nvSpPr>
        <p:spPr>
          <a:xfrm>
            <a:off x="2514600" y="3785616"/>
            <a:ext cx="1417320" cy="457200"/>
          </a:xfrm>
          <a:prstGeom prst="roundRect">
            <a:avLst>
              <a:gd name="adj" fmla="val 10000"/>
            </a:avLst>
          </a:prstGeom>
          <a:solidFill>
            <a:srgbClr val="F2F2F2"/>
          </a:solidFill>
          <a:ln/>
        </p:spPr>
      </p:sp>
      <p:sp>
        <p:nvSpPr>
          <p:cNvPr id="17" name="Text 15"/>
          <p:cNvSpPr txBox="1"/>
          <p:nvPr/>
        </p:nvSpPr>
        <p:spPr>
          <a:xfrm>
            <a:off x="2514600" y="3785616"/>
            <a:ext cx="1417320" cy="45720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sayfa C</a:t>
            </a:r>
            <a:endParaRPr lang="tr-TR" sz="1200" dirty="0"/>
          </a:p>
        </p:txBody>
      </p:sp>
      <p:sp>
        <p:nvSpPr>
          <p:cNvPr id="18" name="Text 16"/>
          <p:cNvSpPr txBox="1"/>
          <p:nvPr/>
        </p:nvSpPr>
        <p:spPr>
          <a:xfrm>
            <a:off x="2377440" y="4343400"/>
            <a:ext cx="1691640" cy="274320"/>
          </a:xfrm>
          <a:prstGeom prst="rect">
            <a:avLst/>
          </a:prstGeom>
          <a:noFill/>
          <a:ln/>
        </p:spPr>
        <p:txBody>
          <a:bodyPr wrap="square" lIns="0" tIns="0" rIns="0" bIns="0" rtlCol="0" anchor="t"/>
          <a:lstStyle/>
          <a:p>
            <a:pPr algn="ctr" indent="0" marL="0">
              <a:buNone/>
            </a:pPr>
            <a:r>
              <a:rPr lang="tr-TR" sz="1050" i="1" dirty="0">
                <a:solidFill>
                  <a:srgbClr val="6B7679"/>
                </a:solidFill>
                <a:latin typeface="Calibri" pitchFamily="34" charset="0"/>
                <a:ea typeface="Calibri" pitchFamily="34" charset="-122"/>
                <a:cs typeface="Calibri" pitchFamily="34" charset="-120"/>
              </a:rPr>
              <a:t>fiziksel bellek</a:t>
            </a:r>
            <a:endParaRPr lang="tr-TR" sz="1050" dirty="0"/>
          </a:p>
        </p:txBody>
      </p:sp>
      <p:sp>
        <p:nvSpPr>
          <p:cNvPr id="19" name="Shape 17"/>
          <p:cNvSpPr/>
          <p:nvPr/>
        </p:nvSpPr>
        <p:spPr>
          <a:xfrm flipV="1">
            <a:off x="1709928" y="2880360"/>
            <a:ext cx="786384" cy="868680"/>
          </a:xfrm>
          <a:prstGeom prst="line">
            <a:avLst/>
          </a:prstGeom>
          <a:noFill/>
          <a:ln w="15875">
            <a:solidFill>
              <a:srgbClr val="50808E"/>
            </a:solidFill>
            <a:prstDash val="solid"/>
            <a:tailEnd type="triangle"/>
          </a:ln>
        </p:spPr>
      </p:sp>
      <p:sp>
        <p:nvSpPr>
          <p:cNvPr id="20" name="Shape 18"/>
          <p:cNvSpPr/>
          <p:nvPr/>
        </p:nvSpPr>
        <p:spPr>
          <a:xfrm flipV="1">
            <a:off x="1709928" y="3447288"/>
            <a:ext cx="786384" cy="301752"/>
          </a:xfrm>
          <a:prstGeom prst="line">
            <a:avLst/>
          </a:prstGeom>
          <a:noFill/>
          <a:ln w="15875">
            <a:solidFill>
              <a:srgbClr val="50808E"/>
            </a:solidFill>
            <a:prstDash val="solid"/>
            <a:tailEnd type="triangle"/>
          </a:ln>
        </p:spPr>
      </p:sp>
      <p:sp>
        <p:nvSpPr>
          <p:cNvPr id="21" name="Shape 19"/>
          <p:cNvSpPr/>
          <p:nvPr/>
        </p:nvSpPr>
        <p:spPr>
          <a:xfrm>
            <a:off x="1709928" y="3749040"/>
            <a:ext cx="786384" cy="265176"/>
          </a:xfrm>
          <a:prstGeom prst="line">
            <a:avLst/>
          </a:prstGeom>
          <a:noFill/>
          <a:ln w="15875">
            <a:solidFill>
              <a:srgbClr val="50808E"/>
            </a:solidFill>
            <a:prstDash val="solid"/>
            <a:tailEnd type="triangle"/>
          </a:ln>
        </p:spPr>
      </p:sp>
      <p:sp>
        <p:nvSpPr>
          <p:cNvPr id="22" name="Shape 20"/>
          <p:cNvSpPr/>
          <p:nvPr/>
        </p:nvSpPr>
        <p:spPr>
          <a:xfrm flipH="1" flipV="1">
            <a:off x="3950208" y="2880360"/>
            <a:ext cx="786384" cy="868680"/>
          </a:xfrm>
          <a:prstGeom prst="line">
            <a:avLst/>
          </a:prstGeom>
          <a:noFill/>
          <a:ln w="15875">
            <a:solidFill>
              <a:srgbClr val="50808E"/>
            </a:solidFill>
            <a:prstDash val="solid"/>
            <a:tailEnd type="triangle"/>
          </a:ln>
        </p:spPr>
      </p:sp>
      <p:sp>
        <p:nvSpPr>
          <p:cNvPr id="23" name="Shape 21"/>
          <p:cNvSpPr/>
          <p:nvPr/>
        </p:nvSpPr>
        <p:spPr>
          <a:xfrm flipH="1" flipV="1">
            <a:off x="3950208" y="3447288"/>
            <a:ext cx="786384" cy="301752"/>
          </a:xfrm>
          <a:prstGeom prst="line">
            <a:avLst/>
          </a:prstGeom>
          <a:noFill/>
          <a:ln w="15875">
            <a:solidFill>
              <a:srgbClr val="50808E"/>
            </a:solidFill>
            <a:prstDash val="solid"/>
            <a:tailEnd type="triangle"/>
          </a:ln>
        </p:spPr>
      </p:sp>
      <p:sp>
        <p:nvSpPr>
          <p:cNvPr id="24" name="Shape 22"/>
          <p:cNvSpPr/>
          <p:nvPr/>
        </p:nvSpPr>
        <p:spPr>
          <a:xfrm flipH="1">
            <a:off x="3950208" y="3749040"/>
            <a:ext cx="786384" cy="265176"/>
          </a:xfrm>
          <a:prstGeom prst="line">
            <a:avLst/>
          </a:prstGeom>
          <a:noFill/>
          <a:ln w="15875">
            <a:solidFill>
              <a:srgbClr val="50808E"/>
            </a:solidFill>
            <a:prstDash val="solid"/>
            <a:tailEnd type="triangle"/>
          </a:ln>
        </p:spPr>
      </p:sp>
      <p:sp>
        <p:nvSpPr>
          <p:cNvPr id="25" name="Text 23"/>
          <p:cNvSpPr txBox="1"/>
          <p:nvPr/>
        </p:nvSpPr>
        <p:spPr>
          <a:xfrm>
            <a:off x="6309360" y="2148840"/>
            <a:ext cx="5394960" cy="320040"/>
          </a:xfrm>
          <a:prstGeom prst="rect">
            <a:avLst/>
          </a:prstGeom>
          <a:noFill/>
          <a:ln/>
        </p:spPr>
        <p:txBody>
          <a:bodyPr wrap="square" lIns="0" tIns="0" rIns="0" bIns="0" rtlCol="0" anchor="t"/>
          <a:lstStyle/>
          <a:p>
            <a:pPr indent="0" marL="0">
              <a:buNone/>
            </a:pPr>
            <a:r>
              <a:rPr lang="tr-TR" sz="1400" b="1" dirty="0">
                <a:solidFill>
                  <a:srgbClr val="028090"/>
                </a:solidFill>
                <a:latin typeface="Calibri" pitchFamily="34" charset="0"/>
                <a:ea typeface="Calibri" pitchFamily="34" charset="-122"/>
                <a:cs typeface="Calibri" pitchFamily="34" charset="-120"/>
              </a:rPr>
              <a:t>2. Çocuk C'ye yazar: yalnızca C kopyalanır</a:t>
            </a:r>
            <a:endParaRPr lang="tr-TR" sz="1400" dirty="0"/>
          </a:p>
        </p:txBody>
      </p:sp>
      <p:sp>
        <p:nvSpPr>
          <p:cNvPr id="26" name="Shape 24"/>
          <p:cNvSpPr/>
          <p:nvPr/>
        </p:nvSpPr>
        <p:spPr>
          <a:xfrm>
            <a:off x="6309360" y="2926080"/>
            <a:ext cx="1143000" cy="1645920"/>
          </a:xfrm>
          <a:prstGeom prst="roundRect">
            <a:avLst>
              <a:gd name="adj" fmla="val 4000"/>
            </a:avLst>
          </a:prstGeom>
          <a:solidFill>
            <a:srgbClr val="36454F"/>
          </a:solidFill>
          <a:ln/>
        </p:spPr>
      </p:sp>
      <p:sp>
        <p:nvSpPr>
          <p:cNvPr id="27" name="Text 25"/>
          <p:cNvSpPr txBox="1"/>
          <p:nvPr/>
        </p:nvSpPr>
        <p:spPr>
          <a:xfrm>
            <a:off x="6309360" y="2926080"/>
            <a:ext cx="1143000" cy="164592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Ebeveyn</a:t>
            </a:r>
            <a:endParaRPr lang="tr-TR" sz="1300" dirty="0"/>
          </a:p>
        </p:txBody>
      </p:sp>
      <p:sp>
        <p:nvSpPr>
          <p:cNvPr id="28" name="Shape 26"/>
          <p:cNvSpPr/>
          <p:nvPr/>
        </p:nvSpPr>
        <p:spPr>
          <a:xfrm>
            <a:off x="10515600" y="2926080"/>
            <a:ext cx="1143000" cy="1645920"/>
          </a:xfrm>
          <a:prstGeom prst="roundRect">
            <a:avLst>
              <a:gd name="adj" fmla="val 4000"/>
            </a:avLst>
          </a:prstGeom>
          <a:solidFill>
            <a:srgbClr val="36454F"/>
          </a:solidFill>
          <a:ln/>
        </p:spPr>
      </p:sp>
      <p:sp>
        <p:nvSpPr>
          <p:cNvPr id="29" name="Text 27"/>
          <p:cNvSpPr txBox="1"/>
          <p:nvPr/>
        </p:nvSpPr>
        <p:spPr>
          <a:xfrm>
            <a:off x="10515600" y="2926080"/>
            <a:ext cx="1143000" cy="164592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Çocuk</a:t>
            </a:r>
            <a:endParaRPr lang="tr-TR" sz="1300" dirty="0"/>
          </a:p>
        </p:txBody>
      </p:sp>
      <p:sp>
        <p:nvSpPr>
          <p:cNvPr id="30" name="Shape 28"/>
          <p:cNvSpPr/>
          <p:nvPr/>
        </p:nvSpPr>
        <p:spPr>
          <a:xfrm>
            <a:off x="8275320" y="2651760"/>
            <a:ext cx="1417320" cy="457200"/>
          </a:xfrm>
          <a:prstGeom prst="roundRect">
            <a:avLst>
              <a:gd name="adj" fmla="val 10000"/>
            </a:avLst>
          </a:prstGeom>
          <a:solidFill>
            <a:srgbClr val="F2F2F2"/>
          </a:solidFill>
          <a:ln/>
        </p:spPr>
      </p:sp>
      <p:sp>
        <p:nvSpPr>
          <p:cNvPr id="31" name="Text 29"/>
          <p:cNvSpPr txBox="1"/>
          <p:nvPr/>
        </p:nvSpPr>
        <p:spPr>
          <a:xfrm>
            <a:off x="8275320" y="2651760"/>
            <a:ext cx="1417320" cy="45720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sayfa A</a:t>
            </a:r>
            <a:endParaRPr lang="tr-TR" sz="1200" dirty="0"/>
          </a:p>
        </p:txBody>
      </p:sp>
      <p:sp>
        <p:nvSpPr>
          <p:cNvPr id="32" name="Shape 30"/>
          <p:cNvSpPr/>
          <p:nvPr/>
        </p:nvSpPr>
        <p:spPr>
          <a:xfrm>
            <a:off x="8275320" y="3218688"/>
            <a:ext cx="1417320" cy="457200"/>
          </a:xfrm>
          <a:prstGeom prst="roundRect">
            <a:avLst>
              <a:gd name="adj" fmla="val 10000"/>
            </a:avLst>
          </a:prstGeom>
          <a:solidFill>
            <a:srgbClr val="F2F2F2"/>
          </a:solidFill>
          <a:ln/>
        </p:spPr>
      </p:sp>
      <p:sp>
        <p:nvSpPr>
          <p:cNvPr id="33" name="Text 31"/>
          <p:cNvSpPr txBox="1"/>
          <p:nvPr/>
        </p:nvSpPr>
        <p:spPr>
          <a:xfrm>
            <a:off x="8275320" y="3218688"/>
            <a:ext cx="1417320" cy="45720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sayfa B</a:t>
            </a:r>
            <a:endParaRPr lang="tr-TR" sz="1200" dirty="0"/>
          </a:p>
        </p:txBody>
      </p:sp>
      <p:sp>
        <p:nvSpPr>
          <p:cNvPr id="34" name="Shape 32"/>
          <p:cNvSpPr/>
          <p:nvPr/>
        </p:nvSpPr>
        <p:spPr>
          <a:xfrm>
            <a:off x="8275320" y="3785616"/>
            <a:ext cx="1417320" cy="457200"/>
          </a:xfrm>
          <a:prstGeom prst="roundRect">
            <a:avLst>
              <a:gd name="adj" fmla="val 10000"/>
            </a:avLst>
          </a:prstGeom>
          <a:solidFill>
            <a:srgbClr val="D7E9E6"/>
          </a:solidFill>
          <a:ln/>
        </p:spPr>
      </p:sp>
      <p:sp>
        <p:nvSpPr>
          <p:cNvPr id="35" name="Text 33"/>
          <p:cNvSpPr txBox="1"/>
          <p:nvPr/>
        </p:nvSpPr>
        <p:spPr>
          <a:xfrm>
            <a:off x="8275320" y="3785616"/>
            <a:ext cx="1417320" cy="45720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sayfa C</a:t>
            </a:r>
            <a:endParaRPr lang="tr-TR" sz="1200" dirty="0"/>
          </a:p>
        </p:txBody>
      </p:sp>
      <p:sp>
        <p:nvSpPr>
          <p:cNvPr id="36" name="Shape 34"/>
          <p:cNvSpPr/>
          <p:nvPr/>
        </p:nvSpPr>
        <p:spPr>
          <a:xfrm>
            <a:off x="8275320" y="4352544"/>
            <a:ext cx="1417320" cy="457200"/>
          </a:xfrm>
          <a:prstGeom prst="roundRect">
            <a:avLst>
              <a:gd name="adj" fmla="val 10000"/>
            </a:avLst>
          </a:prstGeom>
          <a:solidFill>
            <a:srgbClr val="02C39A"/>
          </a:solidFill>
          <a:ln/>
        </p:spPr>
      </p:sp>
      <p:sp>
        <p:nvSpPr>
          <p:cNvPr id="37" name="Text 35"/>
          <p:cNvSpPr txBox="1"/>
          <p:nvPr/>
        </p:nvSpPr>
        <p:spPr>
          <a:xfrm>
            <a:off x="8275320" y="4352544"/>
            <a:ext cx="1417320" cy="45720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C'nin kopyası</a:t>
            </a:r>
            <a:endParaRPr lang="tr-TR" sz="1200" dirty="0"/>
          </a:p>
        </p:txBody>
      </p:sp>
      <p:sp>
        <p:nvSpPr>
          <p:cNvPr id="38" name="Text 36"/>
          <p:cNvSpPr txBox="1"/>
          <p:nvPr/>
        </p:nvSpPr>
        <p:spPr>
          <a:xfrm>
            <a:off x="8138160" y="4892040"/>
            <a:ext cx="1691640" cy="274320"/>
          </a:xfrm>
          <a:prstGeom prst="rect">
            <a:avLst/>
          </a:prstGeom>
          <a:noFill/>
          <a:ln/>
        </p:spPr>
        <p:txBody>
          <a:bodyPr wrap="square" lIns="0" tIns="0" rIns="0" bIns="0" rtlCol="0" anchor="t"/>
          <a:lstStyle/>
          <a:p>
            <a:pPr algn="ctr" indent="0" marL="0">
              <a:buNone/>
            </a:pPr>
            <a:r>
              <a:rPr lang="tr-TR" sz="1050" i="1" dirty="0">
                <a:solidFill>
                  <a:srgbClr val="6B7679"/>
                </a:solidFill>
                <a:latin typeface="Calibri" pitchFamily="34" charset="0"/>
                <a:ea typeface="Calibri" pitchFamily="34" charset="-122"/>
                <a:cs typeface="Calibri" pitchFamily="34" charset="-120"/>
              </a:rPr>
              <a:t>fiziksel bellek</a:t>
            </a:r>
            <a:endParaRPr lang="tr-TR" sz="1050" dirty="0"/>
          </a:p>
        </p:txBody>
      </p:sp>
      <p:sp>
        <p:nvSpPr>
          <p:cNvPr id="39" name="Shape 37"/>
          <p:cNvSpPr/>
          <p:nvPr/>
        </p:nvSpPr>
        <p:spPr>
          <a:xfrm flipV="1">
            <a:off x="7470648" y="2880360"/>
            <a:ext cx="786384" cy="868680"/>
          </a:xfrm>
          <a:prstGeom prst="line">
            <a:avLst/>
          </a:prstGeom>
          <a:noFill/>
          <a:ln w="15875">
            <a:solidFill>
              <a:srgbClr val="50808E"/>
            </a:solidFill>
            <a:prstDash val="solid"/>
            <a:tailEnd type="triangle"/>
          </a:ln>
        </p:spPr>
      </p:sp>
      <p:sp>
        <p:nvSpPr>
          <p:cNvPr id="40" name="Shape 38"/>
          <p:cNvSpPr/>
          <p:nvPr/>
        </p:nvSpPr>
        <p:spPr>
          <a:xfrm flipV="1">
            <a:off x="7470648" y="3447288"/>
            <a:ext cx="786384" cy="301752"/>
          </a:xfrm>
          <a:prstGeom prst="line">
            <a:avLst/>
          </a:prstGeom>
          <a:noFill/>
          <a:ln w="15875">
            <a:solidFill>
              <a:srgbClr val="50808E"/>
            </a:solidFill>
            <a:prstDash val="solid"/>
            <a:tailEnd type="triangle"/>
          </a:ln>
        </p:spPr>
      </p:sp>
      <p:sp>
        <p:nvSpPr>
          <p:cNvPr id="41" name="Shape 39"/>
          <p:cNvSpPr/>
          <p:nvPr/>
        </p:nvSpPr>
        <p:spPr>
          <a:xfrm>
            <a:off x="7470648" y="3749040"/>
            <a:ext cx="786384" cy="265176"/>
          </a:xfrm>
          <a:prstGeom prst="line">
            <a:avLst/>
          </a:prstGeom>
          <a:noFill/>
          <a:ln w="15875">
            <a:solidFill>
              <a:srgbClr val="50808E"/>
            </a:solidFill>
            <a:prstDash val="solid"/>
            <a:tailEnd type="triangle"/>
          </a:ln>
        </p:spPr>
      </p:sp>
      <p:sp>
        <p:nvSpPr>
          <p:cNvPr id="42" name="Shape 40"/>
          <p:cNvSpPr/>
          <p:nvPr/>
        </p:nvSpPr>
        <p:spPr>
          <a:xfrm flipH="1" flipV="1">
            <a:off x="9710928" y="2880360"/>
            <a:ext cx="786384" cy="868680"/>
          </a:xfrm>
          <a:prstGeom prst="line">
            <a:avLst/>
          </a:prstGeom>
          <a:noFill/>
          <a:ln w="15875">
            <a:solidFill>
              <a:srgbClr val="50808E"/>
            </a:solidFill>
            <a:prstDash val="solid"/>
            <a:tailEnd type="triangle"/>
          </a:ln>
        </p:spPr>
      </p:sp>
      <p:sp>
        <p:nvSpPr>
          <p:cNvPr id="43" name="Shape 41"/>
          <p:cNvSpPr/>
          <p:nvPr/>
        </p:nvSpPr>
        <p:spPr>
          <a:xfrm flipH="1" flipV="1">
            <a:off x="9710928" y="3447288"/>
            <a:ext cx="786384" cy="301752"/>
          </a:xfrm>
          <a:prstGeom prst="line">
            <a:avLst/>
          </a:prstGeom>
          <a:noFill/>
          <a:ln w="15875">
            <a:solidFill>
              <a:srgbClr val="50808E"/>
            </a:solidFill>
            <a:prstDash val="solid"/>
            <a:tailEnd type="triangle"/>
          </a:ln>
        </p:spPr>
      </p:sp>
      <p:sp>
        <p:nvSpPr>
          <p:cNvPr id="44" name="Shape 42"/>
          <p:cNvSpPr/>
          <p:nvPr/>
        </p:nvSpPr>
        <p:spPr>
          <a:xfrm flipH="1">
            <a:off x="9710928" y="3749040"/>
            <a:ext cx="786384" cy="832104"/>
          </a:xfrm>
          <a:prstGeom prst="line">
            <a:avLst/>
          </a:prstGeom>
          <a:noFill/>
          <a:ln w="15875">
            <a:solidFill>
              <a:srgbClr val="028090"/>
            </a:solidFill>
            <a:prstDash val="solid"/>
            <a:tailEnd type="triangle"/>
          </a:ln>
        </p:spPr>
      </p:sp>
      <p:sp>
        <p:nvSpPr>
          <p:cNvPr id="45" name="Shape 43"/>
          <p:cNvSpPr/>
          <p:nvPr/>
        </p:nvSpPr>
        <p:spPr>
          <a:xfrm>
            <a:off x="548640" y="5257800"/>
            <a:ext cx="11109960" cy="1005840"/>
          </a:xfrm>
          <a:prstGeom prst="roundRect">
            <a:avLst>
              <a:gd name="adj" fmla="val 5455"/>
            </a:avLst>
          </a:prstGeom>
          <a:solidFill>
            <a:srgbClr val="36454F"/>
          </a:solidFill>
          <a:ln/>
          <a:effectLst>
            <a:outerShdw sx="100000" sy="100000" kx="0" ky="0" algn="bl" rotWithShape="0" blurRad="101600" dist="25400" dir="5400000">
              <a:srgbClr val="000000">
                <a:alpha val="12000"/>
              </a:srgbClr>
            </a:outerShdw>
          </a:effectLst>
        </p:spPr>
      </p:sp>
      <p:sp>
        <p:nvSpPr>
          <p:cNvPr id="46" name="Text 44"/>
          <p:cNvSpPr txBox="1"/>
          <p:nvPr/>
        </p:nvSpPr>
        <p:spPr>
          <a:xfrm>
            <a:off x="777240" y="5257800"/>
            <a:ext cx="10652760" cy="10058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fork()'tan sonra iki süreç tüm sayfaları salt okunur olarak paylaşır. Bir sayfaya ilk yazma bir sayfa hatasına yol açar; işletim sistemi yalnızca o sayfayı kopyalar. Hiç yazılmayan sayfalar (çoğu zaman sayfaların çoğu, özellikle çocuk hemen exec() çağırırsa) hiç kopyalanmaz.</a:t>
            </a:r>
            <a:endParaRPr lang="tr-TR"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Örnek 1: İsteğe Bağlı Sayfalamayı İzlemek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11</a:t>
            </a:r>
            <a:endParaRPr lang="tr-TR" sz="900" dirty="0"/>
          </a:p>
        </p:txBody>
      </p:sp>
      <p:sp>
        <p:nvSpPr>
          <p:cNvPr id="6" name="Shape 4"/>
          <p:cNvSpPr/>
          <p:nvPr/>
        </p:nvSpPr>
        <p:spPr>
          <a:xfrm>
            <a:off x="548640" y="1508760"/>
            <a:ext cx="6492240" cy="4754880"/>
          </a:xfrm>
          <a:prstGeom prst="roundRect">
            <a:avLst>
              <a:gd name="adj" fmla="val 962"/>
            </a:avLst>
          </a:prstGeom>
          <a:solidFill>
            <a:srgbClr val="212121"/>
          </a:solidFill>
          <a:ln/>
        </p:spPr>
      </p:sp>
      <p:sp>
        <p:nvSpPr>
          <p:cNvPr id="7" name="Text 5"/>
          <p:cNvSpPr txBox="1"/>
          <p:nvPr/>
        </p:nvSpPr>
        <p:spPr>
          <a:xfrm>
            <a:off x="731520" y="1618488"/>
            <a:ext cx="6126480" cy="4535424"/>
          </a:xfrm>
          <a:prstGeom prst="rect">
            <a:avLst/>
          </a:prstGeom>
          <a:noFill/>
          <a:ln/>
        </p:spPr>
        <p:txBody>
          <a:bodyPr wrap="square" lIns="0" tIns="0" rIns="0" bIns="0" rtlCol="0" anchor="t"/>
          <a:lstStyle/>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static long minor_faults(void)          /* çekirdeğin sayacı */</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struct rusage ru;</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getrusage(RUSAGE_SELF, &amp;ru);</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return ru.ru_minflt;</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int main(void)</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long page = sysconf(_SC_PAGESIZE);  /* 4096 bayt    */</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long size = 64 * MB;                /* 16384 sayfa  */</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long f0 = minor_faults();</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char *a = malloc(size);             /* yalnızca sanal */</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long f1 = minor_faults();</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for (long i = 0; i &lt; size; i += page)</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a[i] = 1;                       /* ilk dokunuş  */</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long f2 = minor_faults();</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for (long i = 0; i &lt; size; i += page)</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a[i] += 1;                      /* artık bellekte */</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long f3 = minor_faults();</a:t>
            </a:r>
            <a:endParaRPr lang="tr-TR" sz="1150" dirty="0"/>
          </a:p>
          <a:p>
            <a:pPr indent="0" marL="0">
              <a:lnSpc>
                <a:spcPct val="105000"/>
              </a:lnSpc>
              <a:buNone/>
            </a:pPr>
            <a:r>
              <a:rPr lang="tr-TR" sz="1150" dirty="0">
                <a:solidFill>
                  <a:srgbClr val="8A9AA0"/>
                </a:solidFill>
                <a:latin typeface="Consolas" pitchFamily="34" charset="0"/>
                <a:ea typeface="Consolas" pitchFamily="34" charset="-122"/>
                <a:cs typeface="Consolas" pitchFamily="34" charset="-120"/>
              </a:rPr>
              <a:t>    /* f1-f0, f2-f1, f3-f2 yazdırılır */</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a:t>
            </a:r>
            <a:endParaRPr lang="tr-TR" sz="1150" dirty="0"/>
          </a:p>
          <a:p>
            <a:pPr indent="0" marL="0">
              <a:lnSpc>
                <a:spcPct val="105000"/>
              </a:lnSpc>
              <a:buNone/>
            </a:pPr>
            <a:r>
              <a:rPr lang="tr-TR" sz="1150" dirty="0">
                <a:solidFill>
                  <a:srgbClr val="8A9AA0"/>
                </a:solidFill>
                <a:latin typeface="Consolas" pitchFamily="34" charset="0"/>
                <a:ea typeface="Consolas" pitchFamily="34" charset="-122"/>
                <a:cs typeface="Consolas" pitchFamily="34" charset="-120"/>
              </a:rPr>
              <a:t>/* programın tamamı: code/page_faults.c */</a:t>
            </a:r>
            <a:endParaRPr lang="tr-TR" sz="1150" dirty="0"/>
          </a:p>
        </p:txBody>
      </p:sp>
      <p:sp>
        <p:nvSpPr>
          <p:cNvPr id="8" name="Shape 6"/>
          <p:cNvSpPr/>
          <p:nvPr/>
        </p:nvSpPr>
        <p:spPr>
          <a:xfrm>
            <a:off x="7315200" y="1508760"/>
            <a:ext cx="4343400" cy="2971800"/>
          </a:xfrm>
          <a:prstGeom prst="roundRect">
            <a:avLst>
              <a:gd name="adj" fmla="val 1846"/>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543800" y="1691640"/>
            <a:ext cx="38862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edelim?</a:t>
            </a:r>
            <a:endParaRPr lang="tr-TR" sz="1500" dirty="0"/>
          </a:p>
        </p:txBody>
      </p:sp>
      <p:sp>
        <p:nvSpPr>
          <p:cNvPr id="10" name="Text 8"/>
          <p:cNvSpPr txBox="1"/>
          <p:nvPr/>
        </p:nvSpPr>
        <p:spPr>
          <a:xfrm>
            <a:off x="7543800" y="2148840"/>
            <a:ext cx="3886200" cy="219456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malloc() yalnızca sanal alan ayırır: neredeyse hiç hata yok.</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Her sayfaya ilk yazma bir kez hata verir: 16.383 + 1 = 16.384 sayfa.</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İkinci geçiş: 0 hata; sayfalar artık bellekte.</a:t>
            </a:r>
            <a:endParaRPr lang="tr-TR" sz="1300" dirty="0"/>
          </a:p>
        </p:txBody>
      </p:sp>
      <p:sp>
        <p:nvSpPr>
          <p:cNvPr id="11" name="Shape 9"/>
          <p:cNvSpPr/>
          <p:nvPr/>
        </p:nvSpPr>
        <p:spPr>
          <a:xfrm>
            <a:off x="7315200" y="4709160"/>
            <a:ext cx="4343400" cy="1554480"/>
          </a:xfrm>
          <a:prstGeom prst="roundRect">
            <a:avLst>
              <a:gd name="adj" fmla="val 2941"/>
            </a:avLst>
          </a:prstGeom>
          <a:solidFill>
            <a:srgbClr val="212121"/>
          </a:solidFill>
          <a:ln/>
        </p:spPr>
      </p:sp>
      <p:sp>
        <p:nvSpPr>
          <p:cNvPr id="12" name="Text 10"/>
          <p:cNvSpPr txBox="1"/>
          <p:nvPr/>
        </p:nvSpPr>
        <p:spPr>
          <a:xfrm>
            <a:off x="7498080" y="4818888"/>
            <a:ext cx="3977640" cy="1335024"/>
          </a:xfrm>
          <a:prstGeom prst="rect">
            <a:avLst/>
          </a:prstGeom>
          <a:noFill/>
          <a:ln/>
        </p:spPr>
        <p:txBody>
          <a:bodyPr wrap="square" lIns="0" tIns="0" rIns="0" bIns="0" rtlCol="0" anchor="t"/>
          <a:lstStyle/>
          <a:p>
            <a:pPr indent="0" marL="0">
              <a:lnSpc>
                <a:spcPct val="105000"/>
              </a:lnSpc>
              <a:buNone/>
            </a:pPr>
            <a:r>
              <a:rPr lang="tr-TR" sz="1050" dirty="0">
                <a:solidFill>
                  <a:srgbClr val="02C39A"/>
                </a:solidFill>
                <a:latin typeface="Consolas" pitchFamily="34" charset="0"/>
                <a:ea typeface="Consolas" pitchFamily="34" charset="-122"/>
                <a:cs typeface="Consolas" pitchFamily="34" charset="-120"/>
              </a:rPr>
              <a:t>$ ./page_faults</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page size 4096 bytes; array 64 MB = 16384 pages</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after malloc       :      1 new faults</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first touch (write):  16383 new faults</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second touch       :      0 new faults</a:t>
            </a:r>
            <a:endParaRPr lang="tr-TR"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Örnek 2: Yazınca Kopyala, Ölçülmüş Hâliyle</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12</a:t>
            </a:r>
            <a:endParaRPr lang="tr-TR" sz="900" dirty="0"/>
          </a:p>
        </p:txBody>
      </p:sp>
      <p:sp>
        <p:nvSpPr>
          <p:cNvPr id="6" name="Shape 4"/>
          <p:cNvSpPr/>
          <p:nvPr/>
        </p:nvSpPr>
        <p:spPr>
          <a:xfrm>
            <a:off x="548640" y="1508760"/>
            <a:ext cx="6492240" cy="4754880"/>
          </a:xfrm>
          <a:prstGeom prst="roundRect">
            <a:avLst>
              <a:gd name="adj" fmla="val 962"/>
            </a:avLst>
          </a:prstGeom>
          <a:solidFill>
            <a:srgbClr val="212121"/>
          </a:solidFill>
          <a:ln/>
        </p:spPr>
      </p:sp>
      <p:sp>
        <p:nvSpPr>
          <p:cNvPr id="7" name="Text 5"/>
          <p:cNvSpPr txBox="1"/>
          <p:nvPr/>
        </p:nvSpPr>
        <p:spPr>
          <a:xfrm>
            <a:off x="731520" y="1618488"/>
            <a:ext cx="6126480" cy="4535424"/>
          </a:xfrm>
          <a:prstGeom prst="rect">
            <a:avLst/>
          </a:prstGeom>
          <a:noFill/>
          <a:ln/>
        </p:spPr>
        <p:txBody>
          <a:bodyPr wrap="square" lIns="0" tIns="0" rIns="0" bIns="0" rtlCol="0" anchor="t"/>
          <a:lstStyle/>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char *buf = malloc(SIZE);              /* 32 MB = 8192 sayfa */</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memset(buf, 'A', SIZE);                /* sayfalar ebeveynin */</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pid_t pid = fork();</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if (pid == 0) {                        /* ---- çocuk ----    */</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long f0 = minor_faults();</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for (long i = 0; i &lt; SIZE; i += page)</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sum += buf[i];                 /* OKU: paylaşılan    */</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long f1 = minor_faults();</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for (long i = 0; i &lt; SIZE; i += page)</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buf[i] = 'B';                  /* YAZ: sayfa kopyası */</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long f2 = minor_faults();</a:t>
            </a:r>
            <a:endParaRPr lang="tr-TR" sz="1150" dirty="0"/>
          </a:p>
          <a:p>
            <a:pPr indent="0" marL="0">
              <a:lnSpc>
                <a:spcPct val="105000"/>
              </a:lnSpc>
              <a:buNone/>
            </a:pPr>
            <a:r>
              <a:rPr lang="tr-TR" sz="1150" dirty="0">
                <a:solidFill>
                  <a:srgbClr val="8A9AA0"/>
                </a:solidFill>
                <a:latin typeface="Consolas" pitchFamily="34" charset="0"/>
                <a:ea typeface="Consolas" pitchFamily="34" charset="-122"/>
                <a:cs typeface="Consolas" pitchFamily="34" charset="-120"/>
              </a:rPr>
              <a:t>    /* f1 - f0 ve f2 - f1 yazdırılır */</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    exit(0);</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wait(NULL);</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printf("parent still sees '%c'\n", buf[0]);</a:t>
            </a:r>
            <a:endParaRPr lang="tr-TR" sz="1150" dirty="0"/>
          </a:p>
          <a:p>
            <a:pPr indent="0" marL="0">
              <a:lnSpc>
                <a:spcPct val="105000"/>
              </a:lnSpc>
              <a:buNone/>
            </a:pPr>
            <a:r>
              <a:rPr lang="tr-TR" sz="1150" dirty="0">
                <a:solidFill>
                  <a:srgbClr val="8A9AA0"/>
                </a:solidFill>
                <a:latin typeface="Consolas" pitchFamily="34" charset="0"/>
                <a:ea typeface="Consolas" pitchFamily="34" charset="-122"/>
                <a:cs typeface="Consolas" pitchFamily="34" charset="-120"/>
              </a:rPr>
              <a:t>/* programın tamamı: code/cow_fork.c */</a:t>
            </a:r>
            <a:endParaRPr lang="tr-TR" sz="1150" dirty="0"/>
          </a:p>
        </p:txBody>
      </p:sp>
      <p:sp>
        <p:nvSpPr>
          <p:cNvPr id="8" name="Shape 6"/>
          <p:cNvSpPr/>
          <p:nvPr/>
        </p:nvSpPr>
        <p:spPr>
          <a:xfrm>
            <a:off x="7315200" y="1508760"/>
            <a:ext cx="4343400" cy="2743200"/>
          </a:xfrm>
          <a:prstGeom prst="roundRect">
            <a:avLst>
              <a:gd name="adj" fmla="val 2000"/>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543800" y="1691640"/>
            <a:ext cx="38862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edelim?</a:t>
            </a:r>
            <a:endParaRPr lang="tr-TR" sz="1500" dirty="0"/>
          </a:p>
        </p:txBody>
      </p:sp>
      <p:sp>
        <p:nvSpPr>
          <p:cNvPr id="10" name="Text 8"/>
          <p:cNvSpPr txBox="1"/>
          <p:nvPr/>
        </p:nvSpPr>
        <p:spPr>
          <a:xfrm>
            <a:off x="7543800" y="2148840"/>
            <a:ext cx="3886200" cy="196596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Paylaşılan sayfaları okumak: hiç hata yok.</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Yazmak: sayfa başına bir hata (8192); her sayfa ilk yazmada kopyalanır.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Ebeveynin verisine dokunulmaz.</a:t>
            </a:r>
            <a:endParaRPr lang="tr-TR" sz="1300" dirty="0"/>
          </a:p>
        </p:txBody>
      </p:sp>
      <p:sp>
        <p:nvSpPr>
          <p:cNvPr id="11" name="Shape 9"/>
          <p:cNvSpPr/>
          <p:nvPr/>
        </p:nvSpPr>
        <p:spPr>
          <a:xfrm>
            <a:off x="7315200" y="4480560"/>
            <a:ext cx="4343400" cy="1783080"/>
          </a:xfrm>
          <a:prstGeom prst="roundRect">
            <a:avLst>
              <a:gd name="adj" fmla="val 2564"/>
            </a:avLst>
          </a:prstGeom>
          <a:solidFill>
            <a:srgbClr val="212121"/>
          </a:solidFill>
          <a:ln/>
        </p:spPr>
      </p:sp>
      <p:sp>
        <p:nvSpPr>
          <p:cNvPr id="12" name="Text 10"/>
          <p:cNvSpPr txBox="1"/>
          <p:nvPr/>
        </p:nvSpPr>
        <p:spPr>
          <a:xfrm>
            <a:off x="7498080" y="4590288"/>
            <a:ext cx="3977640" cy="1563624"/>
          </a:xfrm>
          <a:prstGeom prst="rect">
            <a:avLst/>
          </a:prstGeom>
          <a:noFill/>
          <a:ln/>
        </p:spPr>
        <p:txBody>
          <a:bodyPr wrap="square" lIns="0" tIns="0" rIns="0" bIns="0" rtlCol="0" anchor="t"/>
          <a:lstStyle/>
          <a:p>
            <a:pPr indent="0" marL="0">
              <a:lnSpc>
                <a:spcPct val="105000"/>
              </a:lnSpc>
              <a:buNone/>
            </a:pPr>
            <a:r>
              <a:rPr lang="tr-TR" sz="1000" dirty="0">
                <a:solidFill>
                  <a:srgbClr val="02C39A"/>
                </a:solidFill>
                <a:latin typeface="Consolas" pitchFamily="34" charset="0"/>
                <a:ea typeface="Consolas" pitchFamily="34" charset="-122"/>
                <a:cs typeface="Consolas" pitchFamily="34" charset="-120"/>
              </a:rPr>
              <a:t>$ ./cow_fork</a:t>
            </a:r>
            <a:endParaRPr lang="tr-TR" sz="1000" dirty="0"/>
          </a:p>
          <a:p>
            <a:pPr indent="0" marL="0">
              <a:lnSpc>
                <a:spcPct val="105000"/>
              </a:lnSpc>
              <a:buNone/>
            </a:pPr>
            <a:r>
              <a:rPr lang="tr-TR" sz="1000" dirty="0">
                <a:solidFill>
                  <a:srgbClr val="F2F2F2"/>
                </a:solidFill>
                <a:latin typeface="Consolas" pitchFamily="34" charset="0"/>
                <a:ea typeface="Consolas" pitchFamily="34" charset="-122"/>
                <a:cs typeface="Consolas" pitchFamily="34" charset="-120"/>
              </a:rPr>
              <a:t>buffer: 8192 pages of 4096 bytes</a:t>
            </a:r>
            <a:endParaRPr lang="tr-TR" sz="1000" dirty="0"/>
          </a:p>
          <a:p>
            <a:pPr indent="0" marL="0">
              <a:lnSpc>
                <a:spcPct val="105000"/>
              </a:lnSpc>
              <a:buNone/>
            </a:pPr>
            <a:r>
              <a:rPr lang="tr-TR" sz="1000" dirty="0">
                <a:solidFill>
                  <a:srgbClr val="F2F2F2"/>
                </a:solidFill>
                <a:latin typeface="Consolas" pitchFamily="34" charset="0"/>
                <a:ea typeface="Consolas" pitchFamily="34" charset="-122"/>
                <a:cs typeface="Consolas" pitchFamily="34" charset="-120"/>
              </a:rPr>
              <a:t>child read  all pages:      0 faults</a:t>
            </a:r>
            <a:endParaRPr lang="tr-TR" sz="1000" dirty="0"/>
          </a:p>
          <a:p>
            <a:pPr indent="0" marL="0">
              <a:lnSpc>
                <a:spcPct val="105000"/>
              </a:lnSpc>
              <a:buNone/>
            </a:pPr>
            <a:r>
              <a:rPr lang="tr-TR" sz="1000" dirty="0">
                <a:solidFill>
                  <a:srgbClr val="F2F2F2"/>
                </a:solidFill>
                <a:latin typeface="Consolas" pitchFamily="34" charset="0"/>
                <a:ea typeface="Consolas" pitchFamily="34" charset="-122"/>
                <a:cs typeface="Consolas" pitchFamily="34" charset="-120"/>
              </a:rPr>
              <a:t>child write all pages:   8192 faults</a:t>
            </a:r>
            <a:endParaRPr lang="tr-TR" sz="1000" dirty="0"/>
          </a:p>
          <a:p>
            <a:pPr indent="0" marL="0">
              <a:lnSpc>
                <a:spcPct val="105000"/>
              </a:lnSpc>
              <a:buNone/>
            </a:pPr>
            <a:r>
              <a:rPr lang="tr-TR" sz="1000" dirty="0">
                <a:solidFill>
                  <a:srgbClr val="F2F2F2"/>
                </a:solidFill>
                <a:latin typeface="Consolas" pitchFamily="34" charset="0"/>
                <a:ea typeface="Consolas" pitchFamily="34" charset="-122"/>
                <a:cs typeface="Consolas" pitchFamily="34" charset="-120"/>
              </a:rPr>
              <a:t>                      (copy-on-write)</a:t>
            </a:r>
            <a:endParaRPr lang="tr-TR" sz="1000" dirty="0"/>
          </a:p>
          <a:p>
            <a:pPr indent="0" marL="0">
              <a:lnSpc>
                <a:spcPct val="105000"/>
              </a:lnSpc>
              <a:buNone/>
            </a:pPr>
            <a:r>
              <a:rPr lang="tr-TR" sz="1000" dirty="0">
                <a:solidFill>
                  <a:srgbClr val="F2F2F2"/>
                </a:solidFill>
                <a:latin typeface="Consolas" pitchFamily="34" charset="0"/>
                <a:ea typeface="Consolas" pitchFamily="34" charset="-122"/>
                <a:cs typeface="Consolas" pitchFamily="34" charset="-120"/>
              </a:rPr>
              <a:t>parent still sees  'A'</a:t>
            </a:r>
            <a:endParaRPr lang="tr-TR"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SAYFA DEĞİŞTİRME</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Boş Çerçeve Yok mu? Biri Çıkmak Zorunda</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Bellek bilerek fazla dağıtılır. Bir sayfa hatası tüm çerçeveleri dolu bulursa işletim sistemi bir kurban sayfa seçmelidir.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13</a:t>
            </a:r>
            <a:endParaRPr lang="tr-TR" sz="900" dirty="0"/>
          </a:p>
        </p:txBody>
      </p:sp>
      <p:sp>
        <p:nvSpPr>
          <p:cNvPr id="7" name="Shape 5"/>
          <p:cNvSpPr/>
          <p:nvPr/>
        </p:nvSpPr>
        <p:spPr>
          <a:xfrm>
            <a:off x="548640" y="2148840"/>
            <a:ext cx="2057400" cy="1828800"/>
          </a:xfrm>
          <a:prstGeom prst="roundRect">
            <a:avLst>
              <a:gd name="adj" fmla="val 3000"/>
            </a:avLst>
          </a:prstGeom>
          <a:solidFill>
            <a:srgbClr val="F2F2F2"/>
          </a:solidFill>
          <a:ln/>
          <a:effectLst>
            <a:outerShdw sx="100000" sy="100000" kx="0" ky="0" algn="bl" rotWithShape="0" blurRad="101600" dist="25400" dir="5400000">
              <a:srgbClr val="000000">
                <a:alpha val="12000"/>
              </a:srgbClr>
            </a:outerShdw>
          </a:effectLst>
        </p:spPr>
      </p:sp>
      <p:sp>
        <p:nvSpPr>
          <p:cNvPr id="8" name="Text 6"/>
          <p:cNvSpPr txBox="1"/>
          <p:nvPr/>
        </p:nvSpPr>
        <p:spPr>
          <a:xfrm>
            <a:off x="777240" y="2331720"/>
            <a:ext cx="16002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1. Sayfayı bul</a:t>
            </a:r>
            <a:endParaRPr lang="tr-TR" sz="1500" dirty="0"/>
          </a:p>
        </p:txBody>
      </p:sp>
      <p:sp>
        <p:nvSpPr>
          <p:cNvPr id="9" name="Text 7"/>
          <p:cNvSpPr txBox="1"/>
          <p:nvPr/>
        </p:nvSpPr>
        <p:spPr>
          <a:xfrm>
            <a:off x="777240" y="2788920"/>
            <a:ext cx="1600200" cy="105156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İstenen sayfanın diskteki yerini bul.</a:t>
            </a:r>
            <a:endParaRPr lang="tr-TR" sz="1400" dirty="0"/>
          </a:p>
        </p:txBody>
      </p:sp>
      <p:sp>
        <p:nvSpPr>
          <p:cNvPr id="10" name="Shape 8"/>
          <p:cNvSpPr/>
          <p:nvPr/>
        </p:nvSpPr>
        <p:spPr>
          <a:xfrm>
            <a:off x="2615184" y="3063240"/>
            <a:ext cx="182880" cy="91"/>
          </a:xfrm>
          <a:prstGeom prst="line">
            <a:avLst/>
          </a:prstGeom>
          <a:noFill/>
          <a:ln w="19050">
            <a:solidFill>
              <a:srgbClr val="50808E"/>
            </a:solidFill>
            <a:prstDash val="solid"/>
            <a:tailEnd type="triangle"/>
          </a:ln>
        </p:spPr>
      </p:sp>
      <p:sp>
        <p:nvSpPr>
          <p:cNvPr id="11" name="Shape 9"/>
          <p:cNvSpPr/>
          <p:nvPr/>
        </p:nvSpPr>
        <p:spPr>
          <a:xfrm>
            <a:off x="2807208" y="2148840"/>
            <a:ext cx="2057400" cy="1828800"/>
          </a:xfrm>
          <a:prstGeom prst="roundRect">
            <a:avLst>
              <a:gd name="adj" fmla="val 3000"/>
            </a:avLst>
          </a:prstGeom>
          <a:solidFill>
            <a:srgbClr val="D7E9E6"/>
          </a:solidFill>
          <a:ln/>
          <a:effectLst>
            <a:outerShdw sx="100000" sy="100000" kx="0" ky="0" algn="bl" rotWithShape="0" blurRad="101600" dist="25400" dir="5400000">
              <a:srgbClr val="000000">
                <a:alpha val="12000"/>
              </a:srgbClr>
            </a:outerShdw>
          </a:effectLst>
        </p:spPr>
      </p:sp>
      <p:sp>
        <p:nvSpPr>
          <p:cNvPr id="12" name="Text 10"/>
          <p:cNvSpPr txBox="1"/>
          <p:nvPr/>
        </p:nvSpPr>
        <p:spPr>
          <a:xfrm>
            <a:off x="3035808" y="2331720"/>
            <a:ext cx="16002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2. Kurban seç</a:t>
            </a:r>
            <a:endParaRPr lang="tr-TR" sz="1500" dirty="0"/>
          </a:p>
        </p:txBody>
      </p:sp>
      <p:sp>
        <p:nvSpPr>
          <p:cNvPr id="13" name="Text 11"/>
          <p:cNvSpPr txBox="1"/>
          <p:nvPr/>
        </p:nvSpPr>
        <p:spPr>
          <a:xfrm>
            <a:off x="3035808" y="2788920"/>
            <a:ext cx="1600200" cy="105156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Boş çerçeve yok → bir değiştirme algoritması birini seçer.</a:t>
            </a:r>
            <a:endParaRPr lang="tr-TR" sz="1400" dirty="0"/>
          </a:p>
        </p:txBody>
      </p:sp>
      <p:sp>
        <p:nvSpPr>
          <p:cNvPr id="14" name="Shape 12"/>
          <p:cNvSpPr/>
          <p:nvPr/>
        </p:nvSpPr>
        <p:spPr>
          <a:xfrm>
            <a:off x="4873752" y="3063240"/>
            <a:ext cx="182880" cy="91"/>
          </a:xfrm>
          <a:prstGeom prst="line">
            <a:avLst/>
          </a:prstGeom>
          <a:noFill/>
          <a:ln w="19050">
            <a:solidFill>
              <a:srgbClr val="50808E"/>
            </a:solidFill>
            <a:prstDash val="solid"/>
            <a:tailEnd type="triangle"/>
          </a:ln>
        </p:spPr>
      </p:sp>
      <p:sp>
        <p:nvSpPr>
          <p:cNvPr id="15" name="Shape 13"/>
          <p:cNvSpPr/>
          <p:nvPr/>
        </p:nvSpPr>
        <p:spPr>
          <a:xfrm>
            <a:off x="5065776" y="2148840"/>
            <a:ext cx="2057400" cy="1828800"/>
          </a:xfrm>
          <a:prstGeom prst="roundRect">
            <a:avLst>
              <a:gd name="adj" fmla="val 3000"/>
            </a:avLst>
          </a:prstGeom>
          <a:solidFill>
            <a:srgbClr val="F2F2F2"/>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5294376" y="2331720"/>
            <a:ext cx="16002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3. Diske yaz?</a:t>
            </a:r>
            <a:endParaRPr lang="tr-TR" sz="1500" dirty="0"/>
          </a:p>
        </p:txBody>
      </p:sp>
      <p:sp>
        <p:nvSpPr>
          <p:cNvPr id="17" name="Text 15"/>
          <p:cNvSpPr txBox="1"/>
          <p:nvPr/>
        </p:nvSpPr>
        <p:spPr>
          <a:xfrm>
            <a:off x="5294376" y="2788920"/>
            <a:ext cx="1600200" cy="105156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Yalnızca kurban kirliyse (değiştirilmişse).</a:t>
            </a:r>
            <a:endParaRPr lang="tr-TR" sz="1400" dirty="0"/>
          </a:p>
        </p:txBody>
      </p:sp>
      <p:sp>
        <p:nvSpPr>
          <p:cNvPr id="18" name="Shape 16"/>
          <p:cNvSpPr/>
          <p:nvPr/>
        </p:nvSpPr>
        <p:spPr>
          <a:xfrm>
            <a:off x="7132320" y="3063240"/>
            <a:ext cx="182880" cy="91"/>
          </a:xfrm>
          <a:prstGeom prst="line">
            <a:avLst/>
          </a:prstGeom>
          <a:noFill/>
          <a:ln w="19050">
            <a:solidFill>
              <a:srgbClr val="50808E"/>
            </a:solidFill>
            <a:prstDash val="solid"/>
            <a:tailEnd type="triangle"/>
          </a:ln>
        </p:spPr>
      </p:sp>
      <p:sp>
        <p:nvSpPr>
          <p:cNvPr id="19" name="Shape 17"/>
          <p:cNvSpPr/>
          <p:nvPr/>
        </p:nvSpPr>
        <p:spPr>
          <a:xfrm>
            <a:off x="7324344" y="2148840"/>
            <a:ext cx="2057400" cy="1828800"/>
          </a:xfrm>
          <a:prstGeom prst="roundRect">
            <a:avLst>
              <a:gd name="adj" fmla="val 3000"/>
            </a:avLst>
          </a:prstGeom>
          <a:solidFill>
            <a:srgbClr val="F2F2F2"/>
          </a:solidFill>
          <a:ln/>
          <a:effectLst>
            <a:outerShdw sx="100000" sy="100000" kx="0" ky="0" algn="bl" rotWithShape="0" blurRad="101600" dist="25400" dir="5400000">
              <a:srgbClr val="000000">
                <a:alpha val="12000"/>
              </a:srgbClr>
            </a:outerShdw>
          </a:effectLst>
        </p:spPr>
      </p:sp>
      <p:sp>
        <p:nvSpPr>
          <p:cNvPr id="20" name="Text 18"/>
          <p:cNvSpPr txBox="1"/>
          <p:nvPr/>
        </p:nvSpPr>
        <p:spPr>
          <a:xfrm>
            <a:off x="7552944" y="2331720"/>
            <a:ext cx="16002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4. İçeri oku</a:t>
            </a:r>
            <a:endParaRPr lang="tr-TR" sz="1500" dirty="0"/>
          </a:p>
        </p:txBody>
      </p:sp>
      <p:sp>
        <p:nvSpPr>
          <p:cNvPr id="21" name="Text 19"/>
          <p:cNvSpPr txBox="1"/>
          <p:nvPr/>
        </p:nvSpPr>
        <p:spPr>
          <a:xfrm>
            <a:off x="7552944" y="2788920"/>
            <a:ext cx="1600200" cy="105156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İstenen sayfayı yükle; iki sayfa tablosunu güncelle.</a:t>
            </a:r>
            <a:endParaRPr lang="tr-TR" sz="1400" dirty="0"/>
          </a:p>
        </p:txBody>
      </p:sp>
      <p:sp>
        <p:nvSpPr>
          <p:cNvPr id="22" name="Shape 20"/>
          <p:cNvSpPr/>
          <p:nvPr/>
        </p:nvSpPr>
        <p:spPr>
          <a:xfrm>
            <a:off x="9390888" y="3063240"/>
            <a:ext cx="182880" cy="91"/>
          </a:xfrm>
          <a:prstGeom prst="line">
            <a:avLst/>
          </a:prstGeom>
          <a:noFill/>
          <a:ln w="19050">
            <a:solidFill>
              <a:srgbClr val="50808E"/>
            </a:solidFill>
            <a:prstDash val="solid"/>
            <a:tailEnd type="triangle"/>
          </a:ln>
        </p:spPr>
      </p:sp>
      <p:sp>
        <p:nvSpPr>
          <p:cNvPr id="23" name="Shape 21"/>
          <p:cNvSpPr/>
          <p:nvPr/>
        </p:nvSpPr>
        <p:spPr>
          <a:xfrm>
            <a:off x="9582912" y="2148840"/>
            <a:ext cx="2057400" cy="1828800"/>
          </a:xfrm>
          <a:prstGeom prst="roundRect">
            <a:avLst>
              <a:gd name="adj" fmla="val 3000"/>
            </a:avLst>
          </a:prstGeom>
          <a:solidFill>
            <a:srgbClr val="F2F2F2"/>
          </a:solidFill>
          <a:ln/>
          <a:effectLst>
            <a:outerShdw sx="100000" sy="100000" kx="0" ky="0" algn="bl" rotWithShape="0" blurRad="101600" dist="25400" dir="5400000">
              <a:srgbClr val="000000">
                <a:alpha val="12000"/>
              </a:srgbClr>
            </a:outerShdw>
          </a:effectLst>
        </p:spPr>
      </p:sp>
      <p:sp>
        <p:nvSpPr>
          <p:cNvPr id="24" name="Text 22"/>
          <p:cNvSpPr txBox="1"/>
          <p:nvPr/>
        </p:nvSpPr>
        <p:spPr>
          <a:xfrm>
            <a:off x="9811512" y="2331720"/>
            <a:ext cx="16002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5. Sürdür</a:t>
            </a:r>
            <a:endParaRPr lang="tr-TR" sz="1500" dirty="0"/>
          </a:p>
        </p:txBody>
      </p:sp>
      <p:sp>
        <p:nvSpPr>
          <p:cNvPr id="25" name="Text 23"/>
          <p:cNvSpPr txBox="1"/>
          <p:nvPr/>
        </p:nvSpPr>
        <p:spPr>
          <a:xfrm>
            <a:off x="9811512" y="2788920"/>
            <a:ext cx="1600200" cy="105156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Hata veren süreci kaldığı yerden sürdür.</a:t>
            </a:r>
            <a:endParaRPr lang="tr-TR" sz="1400" dirty="0"/>
          </a:p>
        </p:txBody>
      </p:sp>
      <p:sp>
        <p:nvSpPr>
          <p:cNvPr id="26" name="Shape 24"/>
          <p:cNvSpPr/>
          <p:nvPr/>
        </p:nvSpPr>
        <p:spPr>
          <a:xfrm>
            <a:off x="548640" y="4206240"/>
            <a:ext cx="5440680" cy="2057400"/>
          </a:xfrm>
          <a:prstGeom prst="roundRect">
            <a:avLst>
              <a:gd name="adj" fmla="val 2667"/>
            </a:avLst>
          </a:prstGeom>
          <a:solidFill>
            <a:srgbClr val="F2F2F2"/>
          </a:solidFill>
          <a:ln/>
          <a:effectLst>
            <a:outerShdw sx="100000" sy="100000" kx="0" ky="0" algn="bl" rotWithShape="0" blurRad="101600" dist="25400" dir="5400000">
              <a:srgbClr val="000000">
                <a:alpha val="12000"/>
              </a:srgbClr>
            </a:outerShdw>
          </a:effectLst>
        </p:spPr>
      </p:sp>
      <p:sp>
        <p:nvSpPr>
          <p:cNvPr id="27" name="Text 25"/>
          <p:cNvSpPr txBox="1"/>
          <p:nvPr/>
        </p:nvSpPr>
        <p:spPr>
          <a:xfrm>
            <a:off x="777240" y="438912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Değişiklik (kirli) biti</a:t>
            </a:r>
            <a:endParaRPr lang="tr-TR" sz="1500" dirty="0"/>
          </a:p>
        </p:txBody>
      </p:sp>
      <p:sp>
        <p:nvSpPr>
          <p:cNvPr id="28" name="Text 26"/>
          <p:cNvSpPr txBox="1"/>
          <p:nvPr/>
        </p:nvSpPr>
        <p:spPr>
          <a:xfrm>
            <a:off x="777240" y="4846320"/>
            <a:ext cx="4983480" cy="128016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Bir sayfaya yazıldığında donanım bu biti kurar. Temiz bir kurbanın (ör. program kodu) diskte aynısı zaten vardır, bu yüzden atılabilir: iki yerine tek disk aktarımı.</a:t>
            </a:r>
            <a:endParaRPr lang="tr-TR" sz="1400" dirty="0"/>
          </a:p>
        </p:txBody>
      </p:sp>
      <p:sp>
        <p:nvSpPr>
          <p:cNvPr id="29" name="Shape 27"/>
          <p:cNvSpPr/>
          <p:nvPr/>
        </p:nvSpPr>
        <p:spPr>
          <a:xfrm>
            <a:off x="6217920" y="4206240"/>
            <a:ext cx="5440680" cy="2057400"/>
          </a:xfrm>
          <a:prstGeom prst="roundRect">
            <a:avLst>
              <a:gd name="adj" fmla="val 2667"/>
            </a:avLst>
          </a:prstGeom>
          <a:solidFill>
            <a:srgbClr val="F2F2F2"/>
          </a:solidFill>
          <a:ln/>
          <a:effectLst>
            <a:outerShdw sx="100000" sy="100000" kx="0" ky="0" algn="bl" rotWithShape="0" blurRad="101600" dist="25400" dir="5400000">
              <a:srgbClr val="000000">
                <a:alpha val="12000"/>
              </a:srgbClr>
            </a:outerShdw>
          </a:effectLst>
        </p:spPr>
      </p:sp>
      <p:sp>
        <p:nvSpPr>
          <p:cNvPr id="30" name="Text 28"/>
          <p:cNvSpPr txBox="1"/>
          <p:nvPr/>
        </p:nvSpPr>
        <p:spPr>
          <a:xfrm>
            <a:off x="6446520" y="438912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Algoritmaları nasıl karşılaştırırız?</a:t>
            </a:r>
            <a:endParaRPr lang="tr-TR" sz="1500" dirty="0"/>
          </a:p>
        </p:txBody>
      </p:sp>
      <p:sp>
        <p:nvSpPr>
          <p:cNvPr id="31" name="Text 29"/>
          <p:cNvSpPr txBox="1"/>
          <p:nvPr/>
        </p:nvSpPr>
        <p:spPr>
          <a:xfrm>
            <a:off x="6446520" y="4846320"/>
            <a:ext cx="4983480" cy="128016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Her birini aynı başvuru dizisi (reference string: programın dokunduğu sayfa numaraları dizisi) ve aynı çerçeve sayısıyla çalıştırıp sayfa hatalarını sayarız. Az olan iyidir.</a:t>
            </a:r>
            <a:endParaRPr lang="tr-TR"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SAYFA DEĞİŞTİRME · FIFO</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FIFO: En Eski Sayfayı Değiştir</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İlk giren ilk çıkar (First-In, First-Out): kurban, bellekte en uzun süredir duran sayfadır. Bir kuyrukla kolayca gerçeklenir.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14</a:t>
            </a:r>
            <a:endParaRPr lang="tr-TR" sz="900" dirty="0"/>
          </a:p>
        </p:txBody>
      </p:sp>
      <p:sp>
        <p:nvSpPr>
          <p:cNvPr id="7" name="Text 5"/>
          <p:cNvSpPr txBox="1"/>
          <p:nvPr/>
        </p:nvSpPr>
        <p:spPr>
          <a:xfrm>
            <a:off x="548640" y="2011680"/>
            <a:ext cx="11109960" cy="320040"/>
          </a:xfrm>
          <a:prstGeom prst="rect">
            <a:avLst/>
          </a:prstGeom>
          <a:noFill/>
          <a:ln/>
        </p:spPr>
        <p:txBody>
          <a:bodyPr wrap="square" lIns="0" tIns="0" rIns="0" bIns="0" rtlCol="0" anchor="t"/>
          <a:lstStyle/>
          <a:p>
            <a:pPr indent="0" marL="0">
              <a:buNone/>
            </a:pPr>
            <a:r>
              <a:rPr lang="tr-TR" sz="1300" i="1" dirty="0">
                <a:solidFill>
                  <a:srgbClr val="6B7679"/>
                </a:solidFill>
                <a:latin typeface="Calibri" pitchFamily="34" charset="0"/>
                <a:ea typeface="Calibri" pitchFamily="34" charset="-122"/>
                <a:cs typeface="Calibri" pitchFamily="34" charset="-120"/>
              </a:rPr>
              <a:t>Başvuru dizisi: 7, 0, 1, 2, 0, 3, 0, 4, 2, 3, 0, 3, 2, 1, 2, 0, 1, 7, 0, 1   ·   3 çerçeve</a:t>
            </a:r>
            <a:endParaRPr lang="tr-TR" sz="1300" dirty="0"/>
          </a:p>
        </p:txBody>
      </p:sp>
      <p:sp>
        <p:nvSpPr>
          <p:cNvPr id="8" name="Text 6"/>
          <p:cNvSpPr txBox="1"/>
          <p:nvPr/>
        </p:nvSpPr>
        <p:spPr>
          <a:xfrm>
            <a:off x="548640" y="2377440"/>
            <a:ext cx="841248" cy="420624"/>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başvuru</a:t>
            </a:r>
            <a:endParaRPr lang="tr-TR" sz="1100" dirty="0"/>
          </a:p>
        </p:txBody>
      </p:sp>
      <p:sp>
        <p:nvSpPr>
          <p:cNvPr id="9" name="Text 7"/>
          <p:cNvSpPr txBox="1"/>
          <p:nvPr/>
        </p:nvSpPr>
        <p:spPr>
          <a:xfrm>
            <a:off x="548640" y="2798064"/>
            <a:ext cx="841248" cy="420624"/>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çerçeve 0</a:t>
            </a:r>
            <a:endParaRPr lang="tr-TR" sz="1100" dirty="0"/>
          </a:p>
        </p:txBody>
      </p:sp>
      <p:sp>
        <p:nvSpPr>
          <p:cNvPr id="10" name="Text 8"/>
          <p:cNvSpPr txBox="1"/>
          <p:nvPr/>
        </p:nvSpPr>
        <p:spPr>
          <a:xfrm>
            <a:off x="548640" y="3218688"/>
            <a:ext cx="841248" cy="420624"/>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çerçeve 1</a:t>
            </a:r>
            <a:endParaRPr lang="tr-TR" sz="1100" dirty="0"/>
          </a:p>
        </p:txBody>
      </p:sp>
      <p:sp>
        <p:nvSpPr>
          <p:cNvPr id="11" name="Text 9"/>
          <p:cNvSpPr txBox="1"/>
          <p:nvPr/>
        </p:nvSpPr>
        <p:spPr>
          <a:xfrm>
            <a:off x="548640" y="3639312"/>
            <a:ext cx="841248" cy="420624"/>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çerçeve 2</a:t>
            </a:r>
            <a:endParaRPr lang="tr-TR" sz="1100" dirty="0"/>
          </a:p>
        </p:txBody>
      </p:sp>
      <p:sp>
        <p:nvSpPr>
          <p:cNvPr id="12" name="Text 10"/>
          <p:cNvSpPr txBox="1"/>
          <p:nvPr/>
        </p:nvSpPr>
        <p:spPr>
          <a:xfrm>
            <a:off x="548640" y="4059936"/>
            <a:ext cx="841248" cy="420624"/>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hata?</a:t>
            </a:r>
            <a:endParaRPr lang="tr-TR" sz="1100" dirty="0"/>
          </a:p>
        </p:txBody>
      </p:sp>
      <p:sp>
        <p:nvSpPr>
          <p:cNvPr id="13" name="Shape 11"/>
          <p:cNvSpPr/>
          <p:nvPr/>
        </p:nvSpPr>
        <p:spPr>
          <a:xfrm>
            <a:off x="1481328" y="2395728"/>
            <a:ext cx="473202" cy="384048"/>
          </a:xfrm>
          <a:prstGeom prst="roundRect">
            <a:avLst>
              <a:gd name="adj" fmla="val 11905"/>
            </a:avLst>
          </a:prstGeom>
          <a:solidFill>
            <a:srgbClr val="36454F"/>
          </a:solidFill>
          <a:ln/>
        </p:spPr>
      </p:sp>
      <p:sp>
        <p:nvSpPr>
          <p:cNvPr id="14" name="Text 12"/>
          <p:cNvSpPr txBox="1"/>
          <p:nvPr/>
        </p:nvSpPr>
        <p:spPr>
          <a:xfrm>
            <a:off x="1481328"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7</a:t>
            </a:r>
            <a:endParaRPr lang="tr-TR" sz="1400" dirty="0"/>
          </a:p>
        </p:txBody>
      </p:sp>
      <p:sp>
        <p:nvSpPr>
          <p:cNvPr id="15" name="Shape 13"/>
          <p:cNvSpPr/>
          <p:nvPr/>
        </p:nvSpPr>
        <p:spPr>
          <a:xfrm>
            <a:off x="1481328" y="2816352"/>
            <a:ext cx="473202" cy="384048"/>
          </a:xfrm>
          <a:prstGeom prst="roundRect">
            <a:avLst>
              <a:gd name="adj" fmla="val 11905"/>
            </a:avLst>
          </a:prstGeom>
          <a:solidFill>
            <a:srgbClr val="02C39A"/>
          </a:solidFill>
          <a:ln/>
        </p:spPr>
      </p:sp>
      <p:sp>
        <p:nvSpPr>
          <p:cNvPr id="16" name="Text 14"/>
          <p:cNvSpPr txBox="1"/>
          <p:nvPr/>
        </p:nvSpPr>
        <p:spPr>
          <a:xfrm>
            <a:off x="1481328" y="2816352"/>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7</a:t>
            </a:r>
            <a:endParaRPr lang="tr-TR" sz="1400" dirty="0"/>
          </a:p>
        </p:txBody>
      </p:sp>
      <p:sp>
        <p:nvSpPr>
          <p:cNvPr id="17" name="Shape 15"/>
          <p:cNvSpPr/>
          <p:nvPr/>
        </p:nvSpPr>
        <p:spPr>
          <a:xfrm>
            <a:off x="1481328" y="3236976"/>
            <a:ext cx="473202" cy="384048"/>
          </a:xfrm>
          <a:prstGeom prst="roundRect">
            <a:avLst>
              <a:gd name="adj" fmla="val 11905"/>
            </a:avLst>
          </a:prstGeom>
          <a:solidFill>
            <a:srgbClr val="D7E9E6"/>
          </a:solidFill>
          <a:ln/>
        </p:spPr>
      </p:sp>
      <p:sp>
        <p:nvSpPr>
          <p:cNvPr id="18" name="Text 16"/>
          <p:cNvSpPr txBox="1"/>
          <p:nvPr/>
        </p:nvSpPr>
        <p:spPr>
          <a:xfrm>
            <a:off x="1481328" y="3236976"/>
            <a:ext cx="473202" cy="384048"/>
          </a:xfrm>
          <a:prstGeom prst="rect">
            <a:avLst/>
          </a:prstGeom>
          <a:noFill/>
          <a:ln/>
        </p:spPr>
        <p:txBody>
          <a:bodyPr wrap="square" lIns="38100" tIns="38100" rIns="38100" bIns="38100" rtlCol="0" anchor="ctr"/>
          <a:lstStyle/>
          <a:p>
            <a:pPr algn="ctr" indent="0" marL="0">
              <a:buNone/>
            </a:pPr>
            <a:endParaRPr lang="tr-TR" sz="1400" dirty="0"/>
          </a:p>
        </p:txBody>
      </p:sp>
      <p:sp>
        <p:nvSpPr>
          <p:cNvPr id="19" name="Shape 17"/>
          <p:cNvSpPr/>
          <p:nvPr/>
        </p:nvSpPr>
        <p:spPr>
          <a:xfrm>
            <a:off x="1481328" y="3657600"/>
            <a:ext cx="473202" cy="384048"/>
          </a:xfrm>
          <a:prstGeom prst="roundRect">
            <a:avLst>
              <a:gd name="adj" fmla="val 11905"/>
            </a:avLst>
          </a:prstGeom>
          <a:solidFill>
            <a:srgbClr val="D7E9E6"/>
          </a:solidFill>
          <a:ln/>
        </p:spPr>
      </p:sp>
      <p:sp>
        <p:nvSpPr>
          <p:cNvPr id="20" name="Text 18"/>
          <p:cNvSpPr txBox="1"/>
          <p:nvPr/>
        </p:nvSpPr>
        <p:spPr>
          <a:xfrm>
            <a:off x="1481328" y="3657600"/>
            <a:ext cx="473202" cy="384048"/>
          </a:xfrm>
          <a:prstGeom prst="rect">
            <a:avLst/>
          </a:prstGeom>
          <a:noFill/>
          <a:ln/>
        </p:spPr>
        <p:txBody>
          <a:bodyPr wrap="square" lIns="38100" tIns="38100" rIns="38100" bIns="38100" rtlCol="0" anchor="ctr"/>
          <a:lstStyle/>
          <a:p>
            <a:pPr algn="ctr" indent="0" marL="0">
              <a:buNone/>
            </a:pPr>
            <a:endParaRPr lang="tr-TR" sz="1400" dirty="0"/>
          </a:p>
        </p:txBody>
      </p:sp>
      <p:sp>
        <p:nvSpPr>
          <p:cNvPr id="21" name="Text 19"/>
          <p:cNvSpPr txBox="1"/>
          <p:nvPr/>
        </p:nvSpPr>
        <p:spPr>
          <a:xfrm>
            <a:off x="1463040"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22" name="Shape 20"/>
          <p:cNvSpPr/>
          <p:nvPr/>
        </p:nvSpPr>
        <p:spPr>
          <a:xfrm>
            <a:off x="1991106" y="2395728"/>
            <a:ext cx="473202" cy="384048"/>
          </a:xfrm>
          <a:prstGeom prst="roundRect">
            <a:avLst>
              <a:gd name="adj" fmla="val 11905"/>
            </a:avLst>
          </a:prstGeom>
          <a:solidFill>
            <a:srgbClr val="36454F"/>
          </a:solidFill>
          <a:ln/>
        </p:spPr>
      </p:sp>
      <p:sp>
        <p:nvSpPr>
          <p:cNvPr id="23" name="Text 21"/>
          <p:cNvSpPr txBox="1"/>
          <p:nvPr/>
        </p:nvSpPr>
        <p:spPr>
          <a:xfrm>
            <a:off x="1991106"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0</a:t>
            </a:r>
            <a:endParaRPr lang="tr-TR" sz="1400" dirty="0"/>
          </a:p>
        </p:txBody>
      </p:sp>
      <p:sp>
        <p:nvSpPr>
          <p:cNvPr id="24" name="Shape 22"/>
          <p:cNvSpPr/>
          <p:nvPr/>
        </p:nvSpPr>
        <p:spPr>
          <a:xfrm>
            <a:off x="1991106" y="2816352"/>
            <a:ext cx="473202" cy="384048"/>
          </a:xfrm>
          <a:prstGeom prst="roundRect">
            <a:avLst>
              <a:gd name="adj" fmla="val 11905"/>
            </a:avLst>
          </a:prstGeom>
          <a:solidFill>
            <a:srgbClr val="D7E9E6"/>
          </a:solidFill>
          <a:ln/>
        </p:spPr>
      </p:sp>
      <p:sp>
        <p:nvSpPr>
          <p:cNvPr id="25" name="Text 23"/>
          <p:cNvSpPr txBox="1"/>
          <p:nvPr/>
        </p:nvSpPr>
        <p:spPr>
          <a:xfrm>
            <a:off x="1991106"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7</a:t>
            </a:r>
            <a:endParaRPr lang="tr-TR" sz="1400" dirty="0"/>
          </a:p>
        </p:txBody>
      </p:sp>
      <p:sp>
        <p:nvSpPr>
          <p:cNvPr id="26" name="Shape 24"/>
          <p:cNvSpPr/>
          <p:nvPr/>
        </p:nvSpPr>
        <p:spPr>
          <a:xfrm>
            <a:off x="1991106" y="3236976"/>
            <a:ext cx="473202" cy="384048"/>
          </a:xfrm>
          <a:prstGeom prst="roundRect">
            <a:avLst>
              <a:gd name="adj" fmla="val 11905"/>
            </a:avLst>
          </a:prstGeom>
          <a:solidFill>
            <a:srgbClr val="02C39A"/>
          </a:solidFill>
          <a:ln/>
        </p:spPr>
      </p:sp>
      <p:sp>
        <p:nvSpPr>
          <p:cNvPr id="27" name="Text 25"/>
          <p:cNvSpPr txBox="1"/>
          <p:nvPr/>
        </p:nvSpPr>
        <p:spPr>
          <a:xfrm>
            <a:off x="1991106" y="3236976"/>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0</a:t>
            </a:r>
            <a:endParaRPr lang="tr-TR" sz="1400" dirty="0"/>
          </a:p>
        </p:txBody>
      </p:sp>
      <p:sp>
        <p:nvSpPr>
          <p:cNvPr id="28" name="Shape 26"/>
          <p:cNvSpPr/>
          <p:nvPr/>
        </p:nvSpPr>
        <p:spPr>
          <a:xfrm>
            <a:off x="1991106" y="3657600"/>
            <a:ext cx="473202" cy="384048"/>
          </a:xfrm>
          <a:prstGeom prst="roundRect">
            <a:avLst>
              <a:gd name="adj" fmla="val 11905"/>
            </a:avLst>
          </a:prstGeom>
          <a:solidFill>
            <a:srgbClr val="D7E9E6"/>
          </a:solidFill>
          <a:ln/>
        </p:spPr>
      </p:sp>
      <p:sp>
        <p:nvSpPr>
          <p:cNvPr id="29" name="Text 27"/>
          <p:cNvSpPr txBox="1"/>
          <p:nvPr/>
        </p:nvSpPr>
        <p:spPr>
          <a:xfrm>
            <a:off x="1991106" y="3657600"/>
            <a:ext cx="473202" cy="384048"/>
          </a:xfrm>
          <a:prstGeom prst="rect">
            <a:avLst/>
          </a:prstGeom>
          <a:noFill/>
          <a:ln/>
        </p:spPr>
        <p:txBody>
          <a:bodyPr wrap="square" lIns="38100" tIns="38100" rIns="38100" bIns="38100" rtlCol="0" anchor="ctr"/>
          <a:lstStyle/>
          <a:p>
            <a:pPr algn="ctr" indent="0" marL="0">
              <a:buNone/>
            </a:pPr>
            <a:endParaRPr lang="tr-TR" sz="1400" dirty="0"/>
          </a:p>
        </p:txBody>
      </p:sp>
      <p:sp>
        <p:nvSpPr>
          <p:cNvPr id="30" name="Text 28"/>
          <p:cNvSpPr txBox="1"/>
          <p:nvPr/>
        </p:nvSpPr>
        <p:spPr>
          <a:xfrm>
            <a:off x="1972818"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31" name="Shape 29"/>
          <p:cNvSpPr/>
          <p:nvPr/>
        </p:nvSpPr>
        <p:spPr>
          <a:xfrm>
            <a:off x="2500884" y="2395728"/>
            <a:ext cx="473202" cy="384048"/>
          </a:xfrm>
          <a:prstGeom prst="roundRect">
            <a:avLst>
              <a:gd name="adj" fmla="val 11905"/>
            </a:avLst>
          </a:prstGeom>
          <a:solidFill>
            <a:srgbClr val="36454F"/>
          </a:solidFill>
          <a:ln/>
        </p:spPr>
      </p:sp>
      <p:sp>
        <p:nvSpPr>
          <p:cNvPr id="32" name="Text 30"/>
          <p:cNvSpPr txBox="1"/>
          <p:nvPr/>
        </p:nvSpPr>
        <p:spPr>
          <a:xfrm>
            <a:off x="2500884"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1</a:t>
            </a:r>
            <a:endParaRPr lang="tr-TR" sz="1400" dirty="0"/>
          </a:p>
        </p:txBody>
      </p:sp>
      <p:sp>
        <p:nvSpPr>
          <p:cNvPr id="33" name="Shape 31"/>
          <p:cNvSpPr/>
          <p:nvPr/>
        </p:nvSpPr>
        <p:spPr>
          <a:xfrm>
            <a:off x="2500884" y="2816352"/>
            <a:ext cx="473202" cy="384048"/>
          </a:xfrm>
          <a:prstGeom prst="roundRect">
            <a:avLst>
              <a:gd name="adj" fmla="val 11905"/>
            </a:avLst>
          </a:prstGeom>
          <a:solidFill>
            <a:srgbClr val="D7E9E6"/>
          </a:solidFill>
          <a:ln/>
        </p:spPr>
      </p:sp>
      <p:sp>
        <p:nvSpPr>
          <p:cNvPr id="34" name="Text 32"/>
          <p:cNvSpPr txBox="1"/>
          <p:nvPr/>
        </p:nvSpPr>
        <p:spPr>
          <a:xfrm>
            <a:off x="2500884"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7</a:t>
            </a:r>
            <a:endParaRPr lang="tr-TR" sz="1400" dirty="0"/>
          </a:p>
        </p:txBody>
      </p:sp>
      <p:sp>
        <p:nvSpPr>
          <p:cNvPr id="35" name="Shape 33"/>
          <p:cNvSpPr/>
          <p:nvPr/>
        </p:nvSpPr>
        <p:spPr>
          <a:xfrm>
            <a:off x="2500884" y="3236976"/>
            <a:ext cx="473202" cy="384048"/>
          </a:xfrm>
          <a:prstGeom prst="roundRect">
            <a:avLst>
              <a:gd name="adj" fmla="val 11905"/>
            </a:avLst>
          </a:prstGeom>
          <a:solidFill>
            <a:srgbClr val="D7E9E6"/>
          </a:solidFill>
          <a:ln/>
        </p:spPr>
      </p:sp>
      <p:sp>
        <p:nvSpPr>
          <p:cNvPr id="36" name="Text 34"/>
          <p:cNvSpPr txBox="1"/>
          <p:nvPr/>
        </p:nvSpPr>
        <p:spPr>
          <a:xfrm>
            <a:off x="2500884"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0</a:t>
            </a:r>
            <a:endParaRPr lang="tr-TR" sz="1400" dirty="0"/>
          </a:p>
        </p:txBody>
      </p:sp>
      <p:sp>
        <p:nvSpPr>
          <p:cNvPr id="37" name="Shape 35"/>
          <p:cNvSpPr/>
          <p:nvPr/>
        </p:nvSpPr>
        <p:spPr>
          <a:xfrm>
            <a:off x="2500884" y="3657600"/>
            <a:ext cx="473202" cy="384048"/>
          </a:xfrm>
          <a:prstGeom prst="roundRect">
            <a:avLst>
              <a:gd name="adj" fmla="val 11905"/>
            </a:avLst>
          </a:prstGeom>
          <a:solidFill>
            <a:srgbClr val="02C39A"/>
          </a:solidFill>
          <a:ln/>
        </p:spPr>
      </p:sp>
      <p:sp>
        <p:nvSpPr>
          <p:cNvPr id="38" name="Text 36"/>
          <p:cNvSpPr txBox="1"/>
          <p:nvPr/>
        </p:nvSpPr>
        <p:spPr>
          <a:xfrm>
            <a:off x="2500884" y="3657600"/>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1</a:t>
            </a:r>
            <a:endParaRPr lang="tr-TR" sz="1400" dirty="0"/>
          </a:p>
        </p:txBody>
      </p:sp>
      <p:sp>
        <p:nvSpPr>
          <p:cNvPr id="39" name="Text 37"/>
          <p:cNvSpPr txBox="1"/>
          <p:nvPr/>
        </p:nvSpPr>
        <p:spPr>
          <a:xfrm>
            <a:off x="2482596"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40" name="Shape 38"/>
          <p:cNvSpPr/>
          <p:nvPr/>
        </p:nvSpPr>
        <p:spPr>
          <a:xfrm>
            <a:off x="3010662" y="2395728"/>
            <a:ext cx="473202" cy="384048"/>
          </a:xfrm>
          <a:prstGeom prst="roundRect">
            <a:avLst>
              <a:gd name="adj" fmla="val 11905"/>
            </a:avLst>
          </a:prstGeom>
          <a:solidFill>
            <a:srgbClr val="36454F"/>
          </a:solidFill>
          <a:ln/>
        </p:spPr>
      </p:sp>
      <p:sp>
        <p:nvSpPr>
          <p:cNvPr id="41" name="Text 39"/>
          <p:cNvSpPr txBox="1"/>
          <p:nvPr/>
        </p:nvSpPr>
        <p:spPr>
          <a:xfrm>
            <a:off x="3010662"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2</a:t>
            </a:r>
            <a:endParaRPr lang="tr-TR" sz="1400" dirty="0"/>
          </a:p>
        </p:txBody>
      </p:sp>
      <p:sp>
        <p:nvSpPr>
          <p:cNvPr id="42" name="Shape 40"/>
          <p:cNvSpPr/>
          <p:nvPr/>
        </p:nvSpPr>
        <p:spPr>
          <a:xfrm>
            <a:off x="3010662" y="2816352"/>
            <a:ext cx="473202" cy="384048"/>
          </a:xfrm>
          <a:prstGeom prst="roundRect">
            <a:avLst>
              <a:gd name="adj" fmla="val 11905"/>
            </a:avLst>
          </a:prstGeom>
          <a:solidFill>
            <a:srgbClr val="02C39A"/>
          </a:solidFill>
          <a:ln/>
        </p:spPr>
      </p:sp>
      <p:sp>
        <p:nvSpPr>
          <p:cNvPr id="43" name="Text 41"/>
          <p:cNvSpPr txBox="1"/>
          <p:nvPr/>
        </p:nvSpPr>
        <p:spPr>
          <a:xfrm>
            <a:off x="3010662" y="2816352"/>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2</a:t>
            </a:r>
            <a:endParaRPr lang="tr-TR" sz="1400" dirty="0"/>
          </a:p>
        </p:txBody>
      </p:sp>
      <p:sp>
        <p:nvSpPr>
          <p:cNvPr id="44" name="Shape 42"/>
          <p:cNvSpPr/>
          <p:nvPr/>
        </p:nvSpPr>
        <p:spPr>
          <a:xfrm>
            <a:off x="3010662" y="3236976"/>
            <a:ext cx="473202" cy="384048"/>
          </a:xfrm>
          <a:prstGeom prst="roundRect">
            <a:avLst>
              <a:gd name="adj" fmla="val 11905"/>
            </a:avLst>
          </a:prstGeom>
          <a:solidFill>
            <a:srgbClr val="D7E9E6"/>
          </a:solidFill>
          <a:ln/>
        </p:spPr>
      </p:sp>
      <p:sp>
        <p:nvSpPr>
          <p:cNvPr id="45" name="Text 43"/>
          <p:cNvSpPr txBox="1"/>
          <p:nvPr/>
        </p:nvSpPr>
        <p:spPr>
          <a:xfrm>
            <a:off x="3010662"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0</a:t>
            </a:r>
            <a:endParaRPr lang="tr-TR" sz="1400" dirty="0"/>
          </a:p>
        </p:txBody>
      </p:sp>
      <p:sp>
        <p:nvSpPr>
          <p:cNvPr id="46" name="Shape 44"/>
          <p:cNvSpPr/>
          <p:nvPr/>
        </p:nvSpPr>
        <p:spPr>
          <a:xfrm>
            <a:off x="3010662" y="3657600"/>
            <a:ext cx="473202" cy="384048"/>
          </a:xfrm>
          <a:prstGeom prst="roundRect">
            <a:avLst>
              <a:gd name="adj" fmla="val 11905"/>
            </a:avLst>
          </a:prstGeom>
          <a:solidFill>
            <a:srgbClr val="D7E9E6"/>
          </a:solidFill>
          <a:ln/>
        </p:spPr>
      </p:sp>
      <p:sp>
        <p:nvSpPr>
          <p:cNvPr id="47" name="Text 45"/>
          <p:cNvSpPr txBox="1"/>
          <p:nvPr/>
        </p:nvSpPr>
        <p:spPr>
          <a:xfrm>
            <a:off x="3010662"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1</a:t>
            </a:r>
            <a:endParaRPr lang="tr-TR" sz="1400" dirty="0"/>
          </a:p>
        </p:txBody>
      </p:sp>
      <p:sp>
        <p:nvSpPr>
          <p:cNvPr id="48" name="Text 46"/>
          <p:cNvSpPr txBox="1"/>
          <p:nvPr/>
        </p:nvSpPr>
        <p:spPr>
          <a:xfrm>
            <a:off x="2992374"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49" name="Shape 47"/>
          <p:cNvSpPr/>
          <p:nvPr/>
        </p:nvSpPr>
        <p:spPr>
          <a:xfrm>
            <a:off x="3520440" y="2395728"/>
            <a:ext cx="473202" cy="384048"/>
          </a:xfrm>
          <a:prstGeom prst="roundRect">
            <a:avLst>
              <a:gd name="adj" fmla="val 11905"/>
            </a:avLst>
          </a:prstGeom>
          <a:solidFill>
            <a:srgbClr val="36454F"/>
          </a:solidFill>
          <a:ln/>
        </p:spPr>
      </p:sp>
      <p:sp>
        <p:nvSpPr>
          <p:cNvPr id="50" name="Text 48"/>
          <p:cNvSpPr txBox="1"/>
          <p:nvPr/>
        </p:nvSpPr>
        <p:spPr>
          <a:xfrm>
            <a:off x="3520440"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0</a:t>
            </a:r>
            <a:endParaRPr lang="tr-TR" sz="1400" dirty="0"/>
          </a:p>
        </p:txBody>
      </p:sp>
      <p:sp>
        <p:nvSpPr>
          <p:cNvPr id="51" name="Shape 49"/>
          <p:cNvSpPr/>
          <p:nvPr/>
        </p:nvSpPr>
        <p:spPr>
          <a:xfrm>
            <a:off x="3520440" y="2816352"/>
            <a:ext cx="473202" cy="384048"/>
          </a:xfrm>
          <a:prstGeom prst="roundRect">
            <a:avLst>
              <a:gd name="adj" fmla="val 11905"/>
            </a:avLst>
          </a:prstGeom>
          <a:solidFill>
            <a:srgbClr val="F2F2F2"/>
          </a:solidFill>
          <a:ln/>
        </p:spPr>
      </p:sp>
      <p:sp>
        <p:nvSpPr>
          <p:cNvPr id="52" name="Text 50"/>
          <p:cNvSpPr txBox="1"/>
          <p:nvPr/>
        </p:nvSpPr>
        <p:spPr>
          <a:xfrm>
            <a:off x="3520440"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2</a:t>
            </a:r>
            <a:endParaRPr lang="tr-TR" sz="1400" dirty="0"/>
          </a:p>
        </p:txBody>
      </p:sp>
      <p:sp>
        <p:nvSpPr>
          <p:cNvPr id="53" name="Shape 51"/>
          <p:cNvSpPr/>
          <p:nvPr/>
        </p:nvSpPr>
        <p:spPr>
          <a:xfrm>
            <a:off x="3520440" y="3236976"/>
            <a:ext cx="473202" cy="384048"/>
          </a:xfrm>
          <a:prstGeom prst="roundRect">
            <a:avLst>
              <a:gd name="adj" fmla="val 11905"/>
            </a:avLst>
          </a:prstGeom>
          <a:solidFill>
            <a:srgbClr val="F2F2F2"/>
          </a:solidFill>
          <a:ln/>
        </p:spPr>
      </p:sp>
      <p:sp>
        <p:nvSpPr>
          <p:cNvPr id="54" name="Text 52"/>
          <p:cNvSpPr txBox="1"/>
          <p:nvPr/>
        </p:nvSpPr>
        <p:spPr>
          <a:xfrm>
            <a:off x="3520440"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0</a:t>
            </a:r>
            <a:endParaRPr lang="tr-TR" sz="1400" dirty="0"/>
          </a:p>
        </p:txBody>
      </p:sp>
      <p:sp>
        <p:nvSpPr>
          <p:cNvPr id="55" name="Shape 53"/>
          <p:cNvSpPr/>
          <p:nvPr/>
        </p:nvSpPr>
        <p:spPr>
          <a:xfrm>
            <a:off x="3520440" y="3657600"/>
            <a:ext cx="473202" cy="384048"/>
          </a:xfrm>
          <a:prstGeom prst="roundRect">
            <a:avLst>
              <a:gd name="adj" fmla="val 11905"/>
            </a:avLst>
          </a:prstGeom>
          <a:solidFill>
            <a:srgbClr val="F2F2F2"/>
          </a:solidFill>
          <a:ln/>
        </p:spPr>
      </p:sp>
      <p:sp>
        <p:nvSpPr>
          <p:cNvPr id="56" name="Text 54"/>
          <p:cNvSpPr txBox="1"/>
          <p:nvPr/>
        </p:nvSpPr>
        <p:spPr>
          <a:xfrm>
            <a:off x="3520440"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1</a:t>
            </a:r>
            <a:endParaRPr lang="tr-TR" sz="1400" dirty="0"/>
          </a:p>
        </p:txBody>
      </p:sp>
      <p:sp>
        <p:nvSpPr>
          <p:cNvPr id="57" name="Text 55"/>
          <p:cNvSpPr txBox="1"/>
          <p:nvPr/>
        </p:nvSpPr>
        <p:spPr>
          <a:xfrm>
            <a:off x="3502152" y="4059936"/>
            <a:ext cx="509778" cy="420624"/>
          </a:xfrm>
          <a:prstGeom prst="rect">
            <a:avLst/>
          </a:prstGeom>
          <a:noFill/>
          <a:ln/>
        </p:spPr>
        <p:txBody>
          <a:bodyPr wrap="square" lIns="0" tIns="0" rIns="0" bIns="0" rtlCol="0" anchor="ctr"/>
          <a:lstStyle/>
          <a:p>
            <a:pPr algn="ctr" indent="0" marL="0">
              <a:buNone/>
            </a:pPr>
            <a:endParaRPr lang="tr-TR" sz="1400" dirty="0"/>
          </a:p>
        </p:txBody>
      </p:sp>
      <p:sp>
        <p:nvSpPr>
          <p:cNvPr id="58" name="Shape 56"/>
          <p:cNvSpPr/>
          <p:nvPr/>
        </p:nvSpPr>
        <p:spPr>
          <a:xfrm>
            <a:off x="4030218" y="2395728"/>
            <a:ext cx="473202" cy="384048"/>
          </a:xfrm>
          <a:prstGeom prst="roundRect">
            <a:avLst>
              <a:gd name="adj" fmla="val 11905"/>
            </a:avLst>
          </a:prstGeom>
          <a:solidFill>
            <a:srgbClr val="36454F"/>
          </a:solidFill>
          <a:ln/>
        </p:spPr>
      </p:sp>
      <p:sp>
        <p:nvSpPr>
          <p:cNvPr id="59" name="Text 57"/>
          <p:cNvSpPr txBox="1"/>
          <p:nvPr/>
        </p:nvSpPr>
        <p:spPr>
          <a:xfrm>
            <a:off x="4030218"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3</a:t>
            </a:r>
            <a:endParaRPr lang="tr-TR" sz="1400" dirty="0"/>
          </a:p>
        </p:txBody>
      </p:sp>
      <p:sp>
        <p:nvSpPr>
          <p:cNvPr id="60" name="Shape 58"/>
          <p:cNvSpPr/>
          <p:nvPr/>
        </p:nvSpPr>
        <p:spPr>
          <a:xfrm>
            <a:off x="4030218" y="2816352"/>
            <a:ext cx="473202" cy="384048"/>
          </a:xfrm>
          <a:prstGeom prst="roundRect">
            <a:avLst>
              <a:gd name="adj" fmla="val 11905"/>
            </a:avLst>
          </a:prstGeom>
          <a:solidFill>
            <a:srgbClr val="D7E9E6"/>
          </a:solidFill>
          <a:ln/>
        </p:spPr>
      </p:sp>
      <p:sp>
        <p:nvSpPr>
          <p:cNvPr id="61" name="Text 59"/>
          <p:cNvSpPr txBox="1"/>
          <p:nvPr/>
        </p:nvSpPr>
        <p:spPr>
          <a:xfrm>
            <a:off x="4030218"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2</a:t>
            </a:r>
            <a:endParaRPr lang="tr-TR" sz="1400" dirty="0"/>
          </a:p>
        </p:txBody>
      </p:sp>
      <p:sp>
        <p:nvSpPr>
          <p:cNvPr id="62" name="Shape 60"/>
          <p:cNvSpPr/>
          <p:nvPr/>
        </p:nvSpPr>
        <p:spPr>
          <a:xfrm>
            <a:off x="4030218" y="3236976"/>
            <a:ext cx="473202" cy="384048"/>
          </a:xfrm>
          <a:prstGeom prst="roundRect">
            <a:avLst>
              <a:gd name="adj" fmla="val 11905"/>
            </a:avLst>
          </a:prstGeom>
          <a:solidFill>
            <a:srgbClr val="02C39A"/>
          </a:solidFill>
          <a:ln/>
        </p:spPr>
      </p:sp>
      <p:sp>
        <p:nvSpPr>
          <p:cNvPr id="63" name="Text 61"/>
          <p:cNvSpPr txBox="1"/>
          <p:nvPr/>
        </p:nvSpPr>
        <p:spPr>
          <a:xfrm>
            <a:off x="4030218" y="3236976"/>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3</a:t>
            </a:r>
            <a:endParaRPr lang="tr-TR" sz="1400" dirty="0"/>
          </a:p>
        </p:txBody>
      </p:sp>
      <p:sp>
        <p:nvSpPr>
          <p:cNvPr id="64" name="Shape 62"/>
          <p:cNvSpPr/>
          <p:nvPr/>
        </p:nvSpPr>
        <p:spPr>
          <a:xfrm>
            <a:off x="4030218" y="3657600"/>
            <a:ext cx="473202" cy="384048"/>
          </a:xfrm>
          <a:prstGeom prst="roundRect">
            <a:avLst>
              <a:gd name="adj" fmla="val 11905"/>
            </a:avLst>
          </a:prstGeom>
          <a:solidFill>
            <a:srgbClr val="D7E9E6"/>
          </a:solidFill>
          <a:ln/>
        </p:spPr>
      </p:sp>
      <p:sp>
        <p:nvSpPr>
          <p:cNvPr id="65" name="Text 63"/>
          <p:cNvSpPr txBox="1"/>
          <p:nvPr/>
        </p:nvSpPr>
        <p:spPr>
          <a:xfrm>
            <a:off x="4030218"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1</a:t>
            </a:r>
            <a:endParaRPr lang="tr-TR" sz="1400" dirty="0"/>
          </a:p>
        </p:txBody>
      </p:sp>
      <p:sp>
        <p:nvSpPr>
          <p:cNvPr id="66" name="Text 64"/>
          <p:cNvSpPr txBox="1"/>
          <p:nvPr/>
        </p:nvSpPr>
        <p:spPr>
          <a:xfrm>
            <a:off x="4011930"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67" name="Shape 65"/>
          <p:cNvSpPr/>
          <p:nvPr/>
        </p:nvSpPr>
        <p:spPr>
          <a:xfrm>
            <a:off x="4539996" y="2395728"/>
            <a:ext cx="473202" cy="384048"/>
          </a:xfrm>
          <a:prstGeom prst="roundRect">
            <a:avLst>
              <a:gd name="adj" fmla="val 11905"/>
            </a:avLst>
          </a:prstGeom>
          <a:solidFill>
            <a:srgbClr val="36454F"/>
          </a:solidFill>
          <a:ln/>
        </p:spPr>
      </p:sp>
      <p:sp>
        <p:nvSpPr>
          <p:cNvPr id="68" name="Text 66"/>
          <p:cNvSpPr txBox="1"/>
          <p:nvPr/>
        </p:nvSpPr>
        <p:spPr>
          <a:xfrm>
            <a:off x="4539996"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0</a:t>
            </a:r>
            <a:endParaRPr lang="tr-TR" sz="1400" dirty="0"/>
          </a:p>
        </p:txBody>
      </p:sp>
      <p:sp>
        <p:nvSpPr>
          <p:cNvPr id="69" name="Shape 67"/>
          <p:cNvSpPr/>
          <p:nvPr/>
        </p:nvSpPr>
        <p:spPr>
          <a:xfrm>
            <a:off x="4539996" y="2816352"/>
            <a:ext cx="473202" cy="384048"/>
          </a:xfrm>
          <a:prstGeom prst="roundRect">
            <a:avLst>
              <a:gd name="adj" fmla="val 11905"/>
            </a:avLst>
          </a:prstGeom>
          <a:solidFill>
            <a:srgbClr val="D7E9E6"/>
          </a:solidFill>
          <a:ln/>
        </p:spPr>
      </p:sp>
      <p:sp>
        <p:nvSpPr>
          <p:cNvPr id="70" name="Text 68"/>
          <p:cNvSpPr txBox="1"/>
          <p:nvPr/>
        </p:nvSpPr>
        <p:spPr>
          <a:xfrm>
            <a:off x="4539996"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2</a:t>
            </a:r>
            <a:endParaRPr lang="tr-TR" sz="1400" dirty="0"/>
          </a:p>
        </p:txBody>
      </p:sp>
      <p:sp>
        <p:nvSpPr>
          <p:cNvPr id="71" name="Shape 69"/>
          <p:cNvSpPr/>
          <p:nvPr/>
        </p:nvSpPr>
        <p:spPr>
          <a:xfrm>
            <a:off x="4539996" y="3236976"/>
            <a:ext cx="473202" cy="384048"/>
          </a:xfrm>
          <a:prstGeom prst="roundRect">
            <a:avLst>
              <a:gd name="adj" fmla="val 11905"/>
            </a:avLst>
          </a:prstGeom>
          <a:solidFill>
            <a:srgbClr val="D7E9E6"/>
          </a:solidFill>
          <a:ln/>
        </p:spPr>
      </p:sp>
      <p:sp>
        <p:nvSpPr>
          <p:cNvPr id="72" name="Text 70"/>
          <p:cNvSpPr txBox="1"/>
          <p:nvPr/>
        </p:nvSpPr>
        <p:spPr>
          <a:xfrm>
            <a:off x="4539996"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3</a:t>
            </a:r>
            <a:endParaRPr lang="tr-TR" sz="1400" dirty="0"/>
          </a:p>
        </p:txBody>
      </p:sp>
      <p:sp>
        <p:nvSpPr>
          <p:cNvPr id="73" name="Shape 71"/>
          <p:cNvSpPr/>
          <p:nvPr/>
        </p:nvSpPr>
        <p:spPr>
          <a:xfrm>
            <a:off x="4539996" y="3657600"/>
            <a:ext cx="473202" cy="384048"/>
          </a:xfrm>
          <a:prstGeom prst="roundRect">
            <a:avLst>
              <a:gd name="adj" fmla="val 11905"/>
            </a:avLst>
          </a:prstGeom>
          <a:solidFill>
            <a:srgbClr val="02C39A"/>
          </a:solidFill>
          <a:ln/>
        </p:spPr>
      </p:sp>
      <p:sp>
        <p:nvSpPr>
          <p:cNvPr id="74" name="Text 72"/>
          <p:cNvSpPr txBox="1"/>
          <p:nvPr/>
        </p:nvSpPr>
        <p:spPr>
          <a:xfrm>
            <a:off x="4539996" y="3657600"/>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0</a:t>
            </a:r>
            <a:endParaRPr lang="tr-TR" sz="1400" dirty="0"/>
          </a:p>
        </p:txBody>
      </p:sp>
      <p:sp>
        <p:nvSpPr>
          <p:cNvPr id="75" name="Text 73"/>
          <p:cNvSpPr txBox="1"/>
          <p:nvPr/>
        </p:nvSpPr>
        <p:spPr>
          <a:xfrm>
            <a:off x="4521708"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76" name="Shape 74"/>
          <p:cNvSpPr/>
          <p:nvPr/>
        </p:nvSpPr>
        <p:spPr>
          <a:xfrm>
            <a:off x="5049774" y="2395728"/>
            <a:ext cx="473202" cy="384048"/>
          </a:xfrm>
          <a:prstGeom prst="roundRect">
            <a:avLst>
              <a:gd name="adj" fmla="val 11905"/>
            </a:avLst>
          </a:prstGeom>
          <a:solidFill>
            <a:srgbClr val="36454F"/>
          </a:solidFill>
          <a:ln/>
        </p:spPr>
      </p:sp>
      <p:sp>
        <p:nvSpPr>
          <p:cNvPr id="77" name="Text 75"/>
          <p:cNvSpPr txBox="1"/>
          <p:nvPr/>
        </p:nvSpPr>
        <p:spPr>
          <a:xfrm>
            <a:off x="5049774"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4</a:t>
            </a:r>
            <a:endParaRPr lang="tr-TR" sz="1400" dirty="0"/>
          </a:p>
        </p:txBody>
      </p:sp>
      <p:sp>
        <p:nvSpPr>
          <p:cNvPr id="78" name="Shape 76"/>
          <p:cNvSpPr/>
          <p:nvPr/>
        </p:nvSpPr>
        <p:spPr>
          <a:xfrm>
            <a:off x="5049774" y="2816352"/>
            <a:ext cx="473202" cy="384048"/>
          </a:xfrm>
          <a:prstGeom prst="roundRect">
            <a:avLst>
              <a:gd name="adj" fmla="val 11905"/>
            </a:avLst>
          </a:prstGeom>
          <a:solidFill>
            <a:srgbClr val="02C39A"/>
          </a:solidFill>
          <a:ln/>
        </p:spPr>
      </p:sp>
      <p:sp>
        <p:nvSpPr>
          <p:cNvPr id="79" name="Text 77"/>
          <p:cNvSpPr txBox="1"/>
          <p:nvPr/>
        </p:nvSpPr>
        <p:spPr>
          <a:xfrm>
            <a:off x="5049774" y="2816352"/>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4</a:t>
            </a:r>
            <a:endParaRPr lang="tr-TR" sz="1400" dirty="0"/>
          </a:p>
        </p:txBody>
      </p:sp>
      <p:sp>
        <p:nvSpPr>
          <p:cNvPr id="80" name="Shape 78"/>
          <p:cNvSpPr/>
          <p:nvPr/>
        </p:nvSpPr>
        <p:spPr>
          <a:xfrm>
            <a:off x="5049774" y="3236976"/>
            <a:ext cx="473202" cy="384048"/>
          </a:xfrm>
          <a:prstGeom prst="roundRect">
            <a:avLst>
              <a:gd name="adj" fmla="val 11905"/>
            </a:avLst>
          </a:prstGeom>
          <a:solidFill>
            <a:srgbClr val="D7E9E6"/>
          </a:solidFill>
          <a:ln/>
        </p:spPr>
      </p:sp>
      <p:sp>
        <p:nvSpPr>
          <p:cNvPr id="81" name="Text 79"/>
          <p:cNvSpPr txBox="1"/>
          <p:nvPr/>
        </p:nvSpPr>
        <p:spPr>
          <a:xfrm>
            <a:off x="5049774"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3</a:t>
            </a:r>
            <a:endParaRPr lang="tr-TR" sz="1400" dirty="0"/>
          </a:p>
        </p:txBody>
      </p:sp>
      <p:sp>
        <p:nvSpPr>
          <p:cNvPr id="82" name="Shape 80"/>
          <p:cNvSpPr/>
          <p:nvPr/>
        </p:nvSpPr>
        <p:spPr>
          <a:xfrm>
            <a:off x="5049774" y="3657600"/>
            <a:ext cx="473202" cy="384048"/>
          </a:xfrm>
          <a:prstGeom prst="roundRect">
            <a:avLst>
              <a:gd name="adj" fmla="val 11905"/>
            </a:avLst>
          </a:prstGeom>
          <a:solidFill>
            <a:srgbClr val="D7E9E6"/>
          </a:solidFill>
          <a:ln/>
        </p:spPr>
      </p:sp>
      <p:sp>
        <p:nvSpPr>
          <p:cNvPr id="83" name="Text 81"/>
          <p:cNvSpPr txBox="1"/>
          <p:nvPr/>
        </p:nvSpPr>
        <p:spPr>
          <a:xfrm>
            <a:off x="5049774"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0</a:t>
            </a:r>
            <a:endParaRPr lang="tr-TR" sz="1400" dirty="0"/>
          </a:p>
        </p:txBody>
      </p:sp>
      <p:sp>
        <p:nvSpPr>
          <p:cNvPr id="84" name="Text 82"/>
          <p:cNvSpPr txBox="1"/>
          <p:nvPr/>
        </p:nvSpPr>
        <p:spPr>
          <a:xfrm>
            <a:off x="5031486"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85" name="Shape 83"/>
          <p:cNvSpPr/>
          <p:nvPr/>
        </p:nvSpPr>
        <p:spPr>
          <a:xfrm>
            <a:off x="5559552" y="2395728"/>
            <a:ext cx="473202" cy="384048"/>
          </a:xfrm>
          <a:prstGeom prst="roundRect">
            <a:avLst>
              <a:gd name="adj" fmla="val 11905"/>
            </a:avLst>
          </a:prstGeom>
          <a:solidFill>
            <a:srgbClr val="36454F"/>
          </a:solidFill>
          <a:ln/>
        </p:spPr>
      </p:sp>
      <p:sp>
        <p:nvSpPr>
          <p:cNvPr id="86" name="Text 84"/>
          <p:cNvSpPr txBox="1"/>
          <p:nvPr/>
        </p:nvSpPr>
        <p:spPr>
          <a:xfrm>
            <a:off x="5559552"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2</a:t>
            </a:r>
            <a:endParaRPr lang="tr-TR" sz="1400" dirty="0"/>
          </a:p>
        </p:txBody>
      </p:sp>
      <p:sp>
        <p:nvSpPr>
          <p:cNvPr id="87" name="Shape 85"/>
          <p:cNvSpPr/>
          <p:nvPr/>
        </p:nvSpPr>
        <p:spPr>
          <a:xfrm>
            <a:off x="5559552" y="2816352"/>
            <a:ext cx="473202" cy="384048"/>
          </a:xfrm>
          <a:prstGeom prst="roundRect">
            <a:avLst>
              <a:gd name="adj" fmla="val 11905"/>
            </a:avLst>
          </a:prstGeom>
          <a:solidFill>
            <a:srgbClr val="D7E9E6"/>
          </a:solidFill>
          <a:ln/>
        </p:spPr>
      </p:sp>
      <p:sp>
        <p:nvSpPr>
          <p:cNvPr id="88" name="Text 86"/>
          <p:cNvSpPr txBox="1"/>
          <p:nvPr/>
        </p:nvSpPr>
        <p:spPr>
          <a:xfrm>
            <a:off x="5559552"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4</a:t>
            </a:r>
            <a:endParaRPr lang="tr-TR" sz="1400" dirty="0"/>
          </a:p>
        </p:txBody>
      </p:sp>
      <p:sp>
        <p:nvSpPr>
          <p:cNvPr id="89" name="Shape 87"/>
          <p:cNvSpPr/>
          <p:nvPr/>
        </p:nvSpPr>
        <p:spPr>
          <a:xfrm>
            <a:off x="5559552" y="3236976"/>
            <a:ext cx="473202" cy="384048"/>
          </a:xfrm>
          <a:prstGeom prst="roundRect">
            <a:avLst>
              <a:gd name="adj" fmla="val 11905"/>
            </a:avLst>
          </a:prstGeom>
          <a:solidFill>
            <a:srgbClr val="02C39A"/>
          </a:solidFill>
          <a:ln/>
        </p:spPr>
      </p:sp>
      <p:sp>
        <p:nvSpPr>
          <p:cNvPr id="90" name="Text 88"/>
          <p:cNvSpPr txBox="1"/>
          <p:nvPr/>
        </p:nvSpPr>
        <p:spPr>
          <a:xfrm>
            <a:off x="5559552" y="3236976"/>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2</a:t>
            </a:r>
            <a:endParaRPr lang="tr-TR" sz="1400" dirty="0"/>
          </a:p>
        </p:txBody>
      </p:sp>
      <p:sp>
        <p:nvSpPr>
          <p:cNvPr id="91" name="Shape 89"/>
          <p:cNvSpPr/>
          <p:nvPr/>
        </p:nvSpPr>
        <p:spPr>
          <a:xfrm>
            <a:off x="5559552" y="3657600"/>
            <a:ext cx="473202" cy="384048"/>
          </a:xfrm>
          <a:prstGeom prst="roundRect">
            <a:avLst>
              <a:gd name="adj" fmla="val 11905"/>
            </a:avLst>
          </a:prstGeom>
          <a:solidFill>
            <a:srgbClr val="D7E9E6"/>
          </a:solidFill>
          <a:ln/>
        </p:spPr>
      </p:sp>
      <p:sp>
        <p:nvSpPr>
          <p:cNvPr id="92" name="Text 90"/>
          <p:cNvSpPr txBox="1"/>
          <p:nvPr/>
        </p:nvSpPr>
        <p:spPr>
          <a:xfrm>
            <a:off x="5559552"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0</a:t>
            </a:r>
            <a:endParaRPr lang="tr-TR" sz="1400" dirty="0"/>
          </a:p>
        </p:txBody>
      </p:sp>
      <p:sp>
        <p:nvSpPr>
          <p:cNvPr id="93" name="Text 91"/>
          <p:cNvSpPr txBox="1"/>
          <p:nvPr/>
        </p:nvSpPr>
        <p:spPr>
          <a:xfrm>
            <a:off x="5541264"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94" name="Shape 92"/>
          <p:cNvSpPr/>
          <p:nvPr/>
        </p:nvSpPr>
        <p:spPr>
          <a:xfrm>
            <a:off x="6069330" y="2395728"/>
            <a:ext cx="473202" cy="384048"/>
          </a:xfrm>
          <a:prstGeom prst="roundRect">
            <a:avLst>
              <a:gd name="adj" fmla="val 11905"/>
            </a:avLst>
          </a:prstGeom>
          <a:solidFill>
            <a:srgbClr val="36454F"/>
          </a:solidFill>
          <a:ln/>
        </p:spPr>
      </p:sp>
      <p:sp>
        <p:nvSpPr>
          <p:cNvPr id="95" name="Text 93"/>
          <p:cNvSpPr txBox="1"/>
          <p:nvPr/>
        </p:nvSpPr>
        <p:spPr>
          <a:xfrm>
            <a:off x="6069330"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3</a:t>
            </a:r>
            <a:endParaRPr lang="tr-TR" sz="1400" dirty="0"/>
          </a:p>
        </p:txBody>
      </p:sp>
      <p:sp>
        <p:nvSpPr>
          <p:cNvPr id="96" name="Shape 94"/>
          <p:cNvSpPr/>
          <p:nvPr/>
        </p:nvSpPr>
        <p:spPr>
          <a:xfrm>
            <a:off x="6069330" y="2816352"/>
            <a:ext cx="473202" cy="384048"/>
          </a:xfrm>
          <a:prstGeom prst="roundRect">
            <a:avLst>
              <a:gd name="adj" fmla="val 11905"/>
            </a:avLst>
          </a:prstGeom>
          <a:solidFill>
            <a:srgbClr val="D7E9E6"/>
          </a:solidFill>
          <a:ln/>
        </p:spPr>
      </p:sp>
      <p:sp>
        <p:nvSpPr>
          <p:cNvPr id="97" name="Text 95"/>
          <p:cNvSpPr txBox="1"/>
          <p:nvPr/>
        </p:nvSpPr>
        <p:spPr>
          <a:xfrm>
            <a:off x="6069330"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4</a:t>
            </a:r>
            <a:endParaRPr lang="tr-TR" sz="1400" dirty="0"/>
          </a:p>
        </p:txBody>
      </p:sp>
      <p:sp>
        <p:nvSpPr>
          <p:cNvPr id="98" name="Shape 96"/>
          <p:cNvSpPr/>
          <p:nvPr/>
        </p:nvSpPr>
        <p:spPr>
          <a:xfrm>
            <a:off x="6069330" y="3236976"/>
            <a:ext cx="473202" cy="384048"/>
          </a:xfrm>
          <a:prstGeom prst="roundRect">
            <a:avLst>
              <a:gd name="adj" fmla="val 11905"/>
            </a:avLst>
          </a:prstGeom>
          <a:solidFill>
            <a:srgbClr val="D7E9E6"/>
          </a:solidFill>
          <a:ln/>
        </p:spPr>
      </p:sp>
      <p:sp>
        <p:nvSpPr>
          <p:cNvPr id="99" name="Text 97"/>
          <p:cNvSpPr txBox="1"/>
          <p:nvPr/>
        </p:nvSpPr>
        <p:spPr>
          <a:xfrm>
            <a:off x="6069330"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2</a:t>
            </a:r>
            <a:endParaRPr lang="tr-TR" sz="1400" dirty="0"/>
          </a:p>
        </p:txBody>
      </p:sp>
      <p:sp>
        <p:nvSpPr>
          <p:cNvPr id="100" name="Shape 98"/>
          <p:cNvSpPr/>
          <p:nvPr/>
        </p:nvSpPr>
        <p:spPr>
          <a:xfrm>
            <a:off x="6069330" y="3657600"/>
            <a:ext cx="473202" cy="384048"/>
          </a:xfrm>
          <a:prstGeom prst="roundRect">
            <a:avLst>
              <a:gd name="adj" fmla="val 11905"/>
            </a:avLst>
          </a:prstGeom>
          <a:solidFill>
            <a:srgbClr val="02C39A"/>
          </a:solidFill>
          <a:ln/>
        </p:spPr>
      </p:sp>
      <p:sp>
        <p:nvSpPr>
          <p:cNvPr id="101" name="Text 99"/>
          <p:cNvSpPr txBox="1"/>
          <p:nvPr/>
        </p:nvSpPr>
        <p:spPr>
          <a:xfrm>
            <a:off x="6069330" y="3657600"/>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3</a:t>
            </a:r>
            <a:endParaRPr lang="tr-TR" sz="1400" dirty="0"/>
          </a:p>
        </p:txBody>
      </p:sp>
      <p:sp>
        <p:nvSpPr>
          <p:cNvPr id="102" name="Text 100"/>
          <p:cNvSpPr txBox="1"/>
          <p:nvPr/>
        </p:nvSpPr>
        <p:spPr>
          <a:xfrm>
            <a:off x="6051042"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103" name="Shape 101"/>
          <p:cNvSpPr/>
          <p:nvPr/>
        </p:nvSpPr>
        <p:spPr>
          <a:xfrm>
            <a:off x="6579108" y="2395728"/>
            <a:ext cx="473202" cy="384048"/>
          </a:xfrm>
          <a:prstGeom prst="roundRect">
            <a:avLst>
              <a:gd name="adj" fmla="val 11905"/>
            </a:avLst>
          </a:prstGeom>
          <a:solidFill>
            <a:srgbClr val="36454F"/>
          </a:solidFill>
          <a:ln/>
        </p:spPr>
      </p:sp>
      <p:sp>
        <p:nvSpPr>
          <p:cNvPr id="104" name="Text 102"/>
          <p:cNvSpPr txBox="1"/>
          <p:nvPr/>
        </p:nvSpPr>
        <p:spPr>
          <a:xfrm>
            <a:off x="6579108"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0</a:t>
            </a:r>
            <a:endParaRPr lang="tr-TR" sz="1400" dirty="0"/>
          </a:p>
        </p:txBody>
      </p:sp>
      <p:sp>
        <p:nvSpPr>
          <p:cNvPr id="105" name="Shape 103"/>
          <p:cNvSpPr/>
          <p:nvPr/>
        </p:nvSpPr>
        <p:spPr>
          <a:xfrm>
            <a:off x="6579108" y="2816352"/>
            <a:ext cx="473202" cy="384048"/>
          </a:xfrm>
          <a:prstGeom prst="roundRect">
            <a:avLst>
              <a:gd name="adj" fmla="val 11905"/>
            </a:avLst>
          </a:prstGeom>
          <a:solidFill>
            <a:srgbClr val="02C39A"/>
          </a:solidFill>
          <a:ln/>
        </p:spPr>
      </p:sp>
      <p:sp>
        <p:nvSpPr>
          <p:cNvPr id="106" name="Text 104"/>
          <p:cNvSpPr txBox="1"/>
          <p:nvPr/>
        </p:nvSpPr>
        <p:spPr>
          <a:xfrm>
            <a:off x="6579108" y="2816352"/>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0</a:t>
            </a:r>
            <a:endParaRPr lang="tr-TR" sz="1400" dirty="0"/>
          </a:p>
        </p:txBody>
      </p:sp>
      <p:sp>
        <p:nvSpPr>
          <p:cNvPr id="107" name="Shape 105"/>
          <p:cNvSpPr/>
          <p:nvPr/>
        </p:nvSpPr>
        <p:spPr>
          <a:xfrm>
            <a:off x="6579108" y="3236976"/>
            <a:ext cx="473202" cy="384048"/>
          </a:xfrm>
          <a:prstGeom prst="roundRect">
            <a:avLst>
              <a:gd name="adj" fmla="val 11905"/>
            </a:avLst>
          </a:prstGeom>
          <a:solidFill>
            <a:srgbClr val="D7E9E6"/>
          </a:solidFill>
          <a:ln/>
        </p:spPr>
      </p:sp>
      <p:sp>
        <p:nvSpPr>
          <p:cNvPr id="108" name="Text 106"/>
          <p:cNvSpPr txBox="1"/>
          <p:nvPr/>
        </p:nvSpPr>
        <p:spPr>
          <a:xfrm>
            <a:off x="6579108"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2</a:t>
            </a:r>
            <a:endParaRPr lang="tr-TR" sz="1400" dirty="0"/>
          </a:p>
        </p:txBody>
      </p:sp>
      <p:sp>
        <p:nvSpPr>
          <p:cNvPr id="109" name="Shape 107"/>
          <p:cNvSpPr/>
          <p:nvPr/>
        </p:nvSpPr>
        <p:spPr>
          <a:xfrm>
            <a:off x="6579108" y="3657600"/>
            <a:ext cx="473202" cy="384048"/>
          </a:xfrm>
          <a:prstGeom prst="roundRect">
            <a:avLst>
              <a:gd name="adj" fmla="val 11905"/>
            </a:avLst>
          </a:prstGeom>
          <a:solidFill>
            <a:srgbClr val="D7E9E6"/>
          </a:solidFill>
          <a:ln/>
        </p:spPr>
      </p:sp>
      <p:sp>
        <p:nvSpPr>
          <p:cNvPr id="110" name="Text 108"/>
          <p:cNvSpPr txBox="1"/>
          <p:nvPr/>
        </p:nvSpPr>
        <p:spPr>
          <a:xfrm>
            <a:off x="6579108"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3</a:t>
            </a:r>
            <a:endParaRPr lang="tr-TR" sz="1400" dirty="0"/>
          </a:p>
        </p:txBody>
      </p:sp>
      <p:sp>
        <p:nvSpPr>
          <p:cNvPr id="111" name="Text 109"/>
          <p:cNvSpPr txBox="1"/>
          <p:nvPr/>
        </p:nvSpPr>
        <p:spPr>
          <a:xfrm>
            <a:off x="6560820"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112" name="Shape 110"/>
          <p:cNvSpPr/>
          <p:nvPr/>
        </p:nvSpPr>
        <p:spPr>
          <a:xfrm>
            <a:off x="7088886" y="2395728"/>
            <a:ext cx="473202" cy="384048"/>
          </a:xfrm>
          <a:prstGeom prst="roundRect">
            <a:avLst>
              <a:gd name="adj" fmla="val 11905"/>
            </a:avLst>
          </a:prstGeom>
          <a:solidFill>
            <a:srgbClr val="36454F"/>
          </a:solidFill>
          <a:ln/>
        </p:spPr>
      </p:sp>
      <p:sp>
        <p:nvSpPr>
          <p:cNvPr id="113" name="Text 111"/>
          <p:cNvSpPr txBox="1"/>
          <p:nvPr/>
        </p:nvSpPr>
        <p:spPr>
          <a:xfrm>
            <a:off x="7088886"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3</a:t>
            </a:r>
            <a:endParaRPr lang="tr-TR" sz="1400" dirty="0"/>
          </a:p>
        </p:txBody>
      </p:sp>
      <p:sp>
        <p:nvSpPr>
          <p:cNvPr id="114" name="Shape 112"/>
          <p:cNvSpPr/>
          <p:nvPr/>
        </p:nvSpPr>
        <p:spPr>
          <a:xfrm>
            <a:off x="7088886" y="2816352"/>
            <a:ext cx="473202" cy="384048"/>
          </a:xfrm>
          <a:prstGeom prst="roundRect">
            <a:avLst>
              <a:gd name="adj" fmla="val 11905"/>
            </a:avLst>
          </a:prstGeom>
          <a:solidFill>
            <a:srgbClr val="F2F2F2"/>
          </a:solidFill>
          <a:ln/>
        </p:spPr>
      </p:sp>
      <p:sp>
        <p:nvSpPr>
          <p:cNvPr id="115" name="Text 113"/>
          <p:cNvSpPr txBox="1"/>
          <p:nvPr/>
        </p:nvSpPr>
        <p:spPr>
          <a:xfrm>
            <a:off x="7088886"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0</a:t>
            </a:r>
            <a:endParaRPr lang="tr-TR" sz="1400" dirty="0"/>
          </a:p>
        </p:txBody>
      </p:sp>
      <p:sp>
        <p:nvSpPr>
          <p:cNvPr id="116" name="Shape 114"/>
          <p:cNvSpPr/>
          <p:nvPr/>
        </p:nvSpPr>
        <p:spPr>
          <a:xfrm>
            <a:off x="7088886" y="3236976"/>
            <a:ext cx="473202" cy="384048"/>
          </a:xfrm>
          <a:prstGeom prst="roundRect">
            <a:avLst>
              <a:gd name="adj" fmla="val 11905"/>
            </a:avLst>
          </a:prstGeom>
          <a:solidFill>
            <a:srgbClr val="F2F2F2"/>
          </a:solidFill>
          <a:ln/>
        </p:spPr>
      </p:sp>
      <p:sp>
        <p:nvSpPr>
          <p:cNvPr id="117" name="Text 115"/>
          <p:cNvSpPr txBox="1"/>
          <p:nvPr/>
        </p:nvSpPr>
        <p:spPr>
          <a:xfrm>
            <a:off x="7088886"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2</a:t>
            </a:r>
            <a:endParaRPr lang="tr-TR" sz="1400" dirty="0"/>
          </a:p>
        </p:txBody>
      </p:sp>
      <p:sp>
        <p:nvSpPr>
          <p:cNvPr id="118" name="Shape 116"/>
          <p:cNvSpPr/>
          <p:nvPr/>
        </p:nvSpPr>
        <p:spPr>
          <a:xfrm>
            <a:off x="7088886" y="3657600"/>
            <a:ext cx="473202" cy="384048"/>
          </a:xfrm>
          <a:prstGeom prst="roundRect">
            <a:avLst>
              <a:gd name="adj" fmla="val 11905"/>
            </a:avLst>
          </a:prstGeom>
          <a:solidFill>
            <a:srgbClr val="F2F2F2"/>
          </a:solidFill>
          <a:ln/>
        </p:spPr>
      </p:sp>
      <p:sp>
        <p:nvSpPr>
          <p:cNvPr id="119" name="Text 117"/>
          <p:cNvSpPr txBox="1"/>
          <p:nvPr/>
        </p:nvSpPr>
        <p:spPr>
          <a:xfrm>
            <a:off x="7088886"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3</a:t>
            </a:r>
            <a:endParaRPr lang="tr-TR" sz="1400" dirty="0"/>
          </a:p>
        </p:txBody>
      </p:sp>
      <p:sp>
        <p:nvSpPr>
          <p:cNvPr id="120" name="Text 118"/>
          <p:cNvSpPr txBox="1"/>
          <p:nvPr/>
        </p:nvSpPr>
        <p:spPr>
          <a:xfrm>
            <a:off x="7070598" y="4059936"/>
            <a:ext cx="509778" cy="420624"/>
          </a:xfrm>
          <a:prstGeom prst="rect">
            <a:avLst/>
          </a:prstGeom>
          <a:noFill/>
          <a:ln/>
        </p:spPr>
        <p:txBody>
          <a:bodyPr wrap="square" lIns="0" tIns="0" rIns="0" bIns="0" rtlCol="0" anchor="ctr"/>
          <a:lstStyle/>
          <a:p>
            <a:pPr algn="ctr" indent="0" marL="0">
              <a:buNone/>
            </a:pPr>
            <a:endParaRPr lang="tr-TR" sz="1400" dirty="0"/>
          </a:p>
        </p:txBody>
      </p:sp>
      <p:sp>
        <p:nvSpPr>
          <p:cNvPr id="121" name="Shape 119"/>
          <p:cNvSpPr/>
          <p:nvPr/>
        </p:nvSpPr>
        <p:spPr>
          <a:xfrm>
            <a:off x="7598664" y="2395728"/>
            <a:ext cx="473202" cy="384048"/>
          </a:xfrm>
          <a:prstGeom prst="roundRect">
            <a:avLst>
              <a:gd name="adj" fmla="val 11905"/>
            </a:avLst>
          </a:prstGeom>
          <a:solidFill>
            <a:srgbClr val="36454F"/>
          </a:solidFill>
          <a:ln/>
        </p:spPr>
      </p:sp>
      <p:sp>
        <p:nvSpPr>
          <p:cNvPr id="122" name="Text 120"/>
          <p:cNvSpPr txBox="1"/>
          <p:nvPr/>
        </p:nvSpPr>
        <p:spPr>
          <a:xfrm>
            <a:off x="7598664"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2</a:t>
            </a:r>
            <a:endParaRPr lang="tr-TR" sz="1400" dirty="0"/>
          </a:p>
        </p:txBody>
      </p:sp>
      <p:sp>
        <p:nvSpPr>
          <p:cNvPr id="123" name="Shape 121"/>
          <p:cNvSpPr/>
          <p:nvPr/>
        </p:nvSpPr>
        <p:spPr>
          <a:xfrm>
            <a:off x="7598664" y="2816352"/>
            <a:ext cx="473202" cy="384048"/>
          </a:xfrm>
          <a:prstGeom prst="roundRect">
            <a:avLst>
              <a:gd name="adj" fmla="val 11905"/>
            </a:avLst>
          </a:prstGeom>
          <a:solidFill>
            <a:srgbClr val="F2F2F2"/>
          </a:solidFill>
          <a:ln/>
        </p:spPr>
      </p:sp>
      <p:sp>
        <p:nvSpPr>
          <p:cNvPr id="124" name="Text 122"/>
          <p:cNvSpPr txBox="1"/>
          <p:nvPr/>
        </p:nvSpPr>
        <p:spPr>
          <a:xfrm>
            <a:off x="7598664"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0</a:t>
            </a:r>
            <a:endParaRPr lang="tr-TR" sz="1400" dirty="0"/>
          </a:p>
        </p:txBody>
      </p:sp>
      <p:sp>
        <p:nvSpPr>
          <p:cNvPr id="125" name="Shape 123"/>
          <p:cNvSpPr/>
          <p:nvPr/>
        </p:nvSpPr>
        <p:spPr>
          <a:xfrm>
            <a:off x="7598664" y="3236976"/>
            <a:ext cx="473202" cy="384048"/>
          </a:xfrm>
          <a:prstGeom prst="roundRect">
            <a:avLst>
              <a:gd name="adj" fmla="val 11905"/>
            </a:avLst>
          </a:prstGeom>
          <a:solidFill>
            <a:srgbClr val="F2F2F2"/>
          </a:solidFill>
          <a:ln/>
        </p:spPr>
      </p:sp>
      <p:sp>
        <p:nvSpPr>
          <p:cNvPr id="126" name="Text 124"/>
          <p:cNvSpPr txBox="1"/>
          <p:nvPr/>
        </p:nvSpPr>
        <p:spPr>
          <a:xfrm>
            <a:off x="7598664"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2</a:t>
            </a:r>
            <a:endParaRPr lang="tr-TR" sz="1400" dirty="0"/>
          </a:p>
        </p:txBody>
      </p:sp>
      <p:sp>
        <p:nvSpPr>
          <p:cNvPr id="127" name="Shape 125"/>
          <p:cNvSpPr/>
          <p:nvPr/>
        </p:nvSpPr>
        <p:spPr>
          <a:xfrm>
            <a:off x="7598664" y="3657600"/>
            <a:ext cx="473202" cy="384048"/>
          </a:xfrm>
          <a:prstGeom prst="roundRect">
            <a:avLst>
              <a:gd name="adj" fmla="val 11905"/>
            </a:avLst>
          </a:prstGeom>
          <a:solidFill>
            <a:srgbClr val="F2F2F2"/>
          </a:solidFill>
          <a:ln/>
        </p:spPr>
      </p:sp>
      <p:sp>
        <p:nvSpPr>
          <p:cNvPr id="128" name="Text 126"/>
          <p:cNvSpPr txBox="1"/>
          <p:nvPr/>
        </p:nvSpPr>
        <p:spPr>
          <a:xfrm>
            <a:off x="7598664"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3</a:t>
            </a:r>
            <a:endParaRPr lang="tr-TR" sz="1400" dirty="0"/>
          </a:p>
        </p:txBody>
      </p:sp>
      <p:sp>
        <p:nvSpPr>
          <p:cNvPr id="129" name="Text 127"/>
          <p:cNvSpPr txBox="1"/>
          <p:nvPr/>
        </p:nvSpPr>
        <p:spPr>
          <a:xfrm>
            <a:off x="7580376" y="4059936"/>
            <a:ext cx="509778" cy="420624"/>
          </a:xfrm>
          <a:prstGeom prst="rect">
            <a:avLst/>
          </a:prstGeom>
          <a:noFill/>
          <a:ln/>
        </p:spPr>
        <p:txBody>
          <a:bodyPr wrap="square" lIns="0" tIns="0" rIns="0" bIns="0" rtlCol="0" anchor="ctr"/>
          <a:lstStyle/>
          <a:p>
            <a:pPr algn="ctr" indent="0" marL="0">
              <a:buNone/>
            </a:pPr>
            <a:endParaRPr lang="tr-TR" sz="1400" dirty="0"/>
          </a:p>
        </p:txBody>
      </p:sp>
      <p:sp>
        <p:nvSpPr>
          <p:cNvPr id="130" name="Shape 128"/>
          <p:cNvSpPr/>
          <p:nvPr/>
        </p:nvSpPr>
        <p:spPr>
          <a:xfrm>
            <a:off x="8108442" y="2395728"/>
            <a:ext cx="473202" cy="384048"/>
          </a:xfrm>
          <a:prstGeom prst="roundRect">
            <a:avLst>
              <a:gd name="adj" fmla="val 11905"/>
            </a:avLst>
          </a:prstGeom>
          <a:solidFill>
            <a:srgbClr val="36454F"/>
          </a:solidFill>
          <a:ln/>
        </p:spPr>
      </p:sp>
      <p:sp>
        <p:nvSpPr>
          <p:cNvPr id="131" name="Text 129"/>
          <p:cNvSpPr txBox="1"/>
          <p:nvPr/>
        </p:nvSpPr>
        <p:spPr>
          <a:xfrm>
            <a:off x="8108442"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1</a:t>
            </a:r>
            <a:endParaRPr lang="tr-TR" sz="1400" dirty="0"/>
          </a:p>
        </p:txBody>
      </p:sp>
      <p:sp>
        <p:nvSpPr>
          <p:cNvPr id="132" name="Shape 130"/>
          <p:cNvSpPr/>
          <p:nvPr/>
        </p:nvSpPr>
        <p:spPr>
          <a:xfrm>
            <a:off x="8108442" y="2816352"/>
            <a:ext cx="473202" cy="384048"/>
          </a:xfrm>
          <a:prstGeom prst="roundRect">
            <a:avLst>
              <a:gd name="adj" fmla="val 11905"/>
            </a:avLst>
          </a:prstGeom>
          <a:solidFill>
            <a:srgbClr val="D7E9E6"/>
          </a:solidFill>
          <a:ln/>
        </p:spPr>
      </p:sp>
      <p:sp>
        <p:nvSpPr>
          <p:cNvPr id="133" name="Text 131"/>
          <p:cNvSpPr txBox="1"/>
          <p:nvPr/>
        </p:nvSpPr>
        <p:spPr>
          <a:xfrm>
            <a:off x="8108442"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0</a:t>
            </a:r>
            <a:endParaRPr lang="tr-TR" sz="1400" dirty="0"/>
          </a:p>
        </p:txBody>
      </p:sp>
      <p:sp>
        <p:nvSpPr>
          <p:cNvPr id="134" name="Shape 132"/>
          <p:cNvSpPr/>
          <p:nvPr/>
        </p:nvSpPr>
        <p:spPr>
          <a:xfrm>
            <a:off x="8108442" y="3236976"/>
            <a:ext cx="473202" cy="384048"/>
          </a:xfrm>
          <a:prstGeom prst="roundRect">
            <a:avLst>
              <a:gd name="adj" fmla="val 11905"/>
            </a:avLst>
          </a:prstGeom>
          <a:solidFill>
            <a:srgbClr val="02C39A"/>
          </a:solidFill>
          <a:ln/>
        </p:spPr>
      </p:sp>
      <p:sp>
        <p:nvSpPr>
          <p:cNvPr id="135" name="Text 133"/>
          <p:cNvSpPr txBox="1"/>
          <p:nvPr/>
        </p:nvSpPr>
        <p:spPr>
          <a:xfrm>
            <a:off x="8108442" y="3236976"/>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1</a:t>
            </a:r>
            <a:endParaRPr lang="tr-TR" sz="1400" dirty="0"/>
          </a:p>
        </p:txBody>
      </p:sp>
      <p:sp>
        <p:nvSpPr>
          <p:cNvPr id="136" name="Shape 134"/>
          <p:cNvSpPr/>
          <p:nvPr/>
        </p:nvSpPr>
        <p:spPr>
          <a:xfrm>
            <a:off x="8108442" y="3657600"/>
            <a:ext cx="473202" cy="384048"/>
          </a:xfrm>
          <a:prstGeom prst="roundRect">
            <a:avLst>
              <a:gd name="adj" fmla="val 11905"/>
            </a:avLst>
          </a:prstGeom>
          <a:solidFill>
            <a:srgbClr val="D7E9E6"/>
          </a:solidFill>
          <a:ln/>
        </p:spPr>
      </p:sp>
      <p:sp>
        <p:nvSpPr>
          <p:cNvPr id="137" name="Text 135"/>
          <p:cNvSpPr txBox="1"/>
          <p:nvPr/>
        </p:nvSpPr>
        <p:spPr>
          <a:xfrm>
            <a:off x="8108442"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3</a:t>
            </a:r>
            <a:endParaRPr lang="tr-TR" sz="1400" dirty="0"/>
          </a:p>
        </p:txBody>
      </p:sp>
      <p:sp>
        <p:nvSpPr>
          <p:cNvPr id="138" name="Text 136"/>
          <p:cNvSpPr txBox="1"/>
          <p:nvPr/>
        </p:nvSpPr>
        <p:spPr>
          <a:xfrm>
            <a:off x="8090154"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139" name="Shape 137"/>
          <p:cNvSpPr/>
          <p:nvPr/>
        </p:nvSpPr>
        <p:spPr>
          <a:xfrm>
            <a:off x="8618220" y="2395728"/>
            <a:ext cx="473202" cy="384048"/>
          </a:xfrm>
          <a:prstGeom prst="roundRect">
            <a:avLst>
              <a:gd name="adj" fmla="val 11905"/>
            </a:avLst>
          </a:prstGeom>
          <a:solidFill>
            <a:srgbClr val="36454F"/>
          </a:solidFill>
          <a:ln/>
        </p:spPr>
      </p:sp>
      <p:sp>
        <p:nvSpPr>
          <p:cNvPr id="140" name="Text 138"/>
          <p:cNvSpPr txBox="1"/>
          <p:nvPr/>
        </p:nvSpPr>
        <p:spPr>
          <a:xfrm>
            <a:off x="8618220"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2</a:t>
            </a:r>
            <a:endParaRPr lang="tr-TR" sz="1400" dirty="0"/>
          </a:p>
        </p:txBody>
      </p:sp>
      <p:sp>
        <p:nvSpPr>
          <p:cNvPr id="141" name="Shape 139"/>
          <p:cNvSpPr/>
          <p:nvPr/>
        </p:nvSpPr>
        <p:spPr>
          <a:xfrm>
            <a:off x="8618220" y="2816352"/>
            <a:ext cx="473202" cy="384048"/>
          </a:xfrm>
          <a:prstGeom prst="roundRect">
            <a:avLst>
              <a:gd name="adj" fmla="val 11905"/>
            </a:avLst>
          </a:prstGeom>
          <a:solidFill>
            <a:srgbClr val="D7E9E6"/>
          </a:solidFill>
          <a:ln/>
        </p:spPr>
      </p:sp>
      <p:sp>
        <p:nvSpPr>
          <p:cNvPr id="142" name="Text 140"/>
          <p:cNvSpPr txBox="1"/>
          <p:nvPr/>
        </p:nvSpPr>
        <p:spPr>
          <a:xfrm>
            <a:off x="8618220"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0</a:t>
            </a:r>
            <a:endParaRPr lang="tr-TR" sz="1400" dirty="0"/>
          </a:p>
        </p:txBody>
      </p:sp>
      <p:sp>
        <p:nvSpPr>
          <p:cNvPr id="143" name="Shape 141"/>
          <p:cNvSpPr/>
          <p:nvPr/>
        </p:nvSpPr>
        <p:spPr>
          <a:xfrm>
            <a:off x="8618220" y="3236976"/>
            <a:ext cx="473202" cy="384048"/>
          </a:xfrm>
          <a:prstGeom prst="roundRect">
            <a:avLst>
              <a:gd name="adj" fmla="val 11905"/>
            </a:avLst>
          </a:prstGeom>
          <a:solidFill>
            <a:srgbClr val="D7E9E6"/>
          </a:solidFill>
          <a:ln/>
        </p:spPr>
      </p:sp>
      <p:sp>
        <p:nvSpPr>
          <p:cNvPr id="144" name="Text 142"/>
          <p:cNvSpPr txBox="1"/>
          <p:nvPr/>
        </p:nvSpPr>
        <p:spPr>
          <a:xfrm>
            <a:off x="8618220"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1</a:t>
            </a:r>
            <a:endParaRPr lang="tr-TR" sz="1400" dirty="0"/>
          </a:p>
        </p:txBody>
      </p:sp>
      <p:sp>
        <p:nvSpPr>
          <p:cNvPr id="145" name="Shape 143"/>
          <p:cNvSpPr/>
          <p:nvPr/>
        </p:nvSpPr>
        <p:spPr>
          <a:xfrm>
            <a:off x="8618220" y="3657600"/>
            <a:ext cx="473202" cy="384048"/>
          </a:xfrm>
          <a:prstGeom prst="roundRect">
            <a:avLst>
              <a:gd name="adj" fmla="val 11905"/>
            </a:avLst>
          </a:prstGeom>
          <a:solidFill>
            <a:srgbClr val="02C39A"/>
          </a:solidFill>
          <a:ln/>
        </p:spPr>
      </p:sp>
      <p:sp>
        <p:nvSpPr>
          <p:cNvPr id="146" name="Text 144"/>
          <p:cNvSpPr txBox="1"/>
          <p:nvPr/>
        </p:nvSpPr>
        <p:spPr>
          <a:xfrm>
            <a:off x="8618220" y="3657600"/>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2</a:t>
            </a:r>
            <a:endParaRPr lang="tr-TR" sz="1400" dirty="0"/>
          </a:p>
        </p:txBody>
      </p:sp>
      <p:sp>
        <p:nvSpPr>
          <p:cNvPr id="147" name="Text 145"/>
          <p:cNvSpPr txBox="1"/>
          <p:nvPr/>
        </p:nvSpPr>
        <p:spPr>
          <a:xfrm>
            <a:off x="8599932"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148" name="Shape 146"/>
          <p:cNvSpPr/>
          <p:nvPr/>
        </p:nvSpPr>
        <p:spPr>
          <a:xfrm>
            <a:off x="9127998" y="2395728"/>
            <a:ext cx="473202" cy="384048"/>
          </a:xfrm>
          <a:prstGeom prst="roundRect">
            <a:avLst>
              <a:gd name="adj" fmla="val 11905"/>
            </a:avLst>
          </a:prstGeom>
          <a:solidFill>
            <a:srgbClr val="36454F"/>
          </a:solidFill>
          <a:ln/>
        </p:spPr>
      </p:sp>
      <p:sp>
        <p:nvSpPr>
          <p:cNvPr id="149" name="Text 147"/>
          <p:cNvSpPr txBox="1"/>
          <p:nvPr/>
        </p:nvSpPr>
        <p:spPr>
          <a:xfrm>
            <a:off x="9127998"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0</a:t>
            </a:r>
            <a:endParaRPr lang="tr-TR" sz="1400" dirty="0"/>
          </a:p>
        </p:txBody>
      </p:sp>
      <p:sp>
        <p:nvSpPr>
          <p:cNvPr id="150" name="Shape 148"/>
          <p:cNvSpPr/>
          <p:nvPr/>
        </p:nvSpPr>
        <p:spPr>
          <a:xfrm>
            <a:off x="9127998" y="2816352"/>
            <a:ext cx="473202" cy="384048"/>
          </a:xfrm>
          <a:prstGeom prst="roundRect">
            <a:avLst>
              <a:gd name="adj" fmla="val 11905"/>
            </a:avLst>
          </a:prstGeom>
          <a:solidFill>
            <a:srgbClr val="F2F2F2"/>
          </a:solidFill>
          <a:ln/>
        </p:spPr>
      </p:sp>
      <p:sp>
        <p:nvSpPr>
          <p:cNvPr id="151" name="Text 149"/>
          <p:cNvSpPr txBox="1"/>
          <p:nvPr/>
        </p:nvSpPr>
        <p:spPr>
          <a:xfrm>
            <a:off x="9127998"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0</a:t>
            </a:r>
            <a:endParaRPr lang="tr-TR" sz="1400" dirty="0"/>
          </a:p>
        </p:txBody>
      </p:sp>
      <p:sp>
        <p:nvSpPr>
          <p:cNvPr id="152" name="Shape 150"/>
          <p:cNvSpPr/>
          <p:nvPr/>
        </p:nvSpPr>
        <p:spPr>
          <a:xfrm>
            <a:off x="9127998" y="3236976"/>
            <a:ext cx="473202" cy="384048"/>
          </a:xfrm>
          <a:prstGeom prst="roundRect">
            <a:avLst>
              <a:gd name="adj" fmla="val 11905"/>
            </a:avLst>
          </a:prstGeom>
          <a:solidFill>
            <a:srgbClr val="F2F2F2"/>
          </a:solidFill>
          <a:ln/>
        </p:spPr>
      </p:sp>
      <p:sp>
        <p:nvSpPr>
          <p:cNvPr id="153" name="Text 151"/>
          <p:cNvSpPr txBox="1"/>
          <p:nvPr/>
        </p:nvSpPr>
        <p:spPr>
          <a:xfrm>
            <a:off x="9127998"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1</a:t>
            </a:r>
            <a:endParaRPr lang="tr-TR" sz="1400" dirty="0"/>
          </a:p>
        </p:txBody>
      </p:sp>
      <p:sp>
        <p:nvSpPr>
          <p:cNvPr id="154" name="Shape 152"/>
          <p:cNvSpPr/>
          <p:nvPr/>
        </p:nvSpPr>
        <p:spPr>
          <a:xfrm>
            <a:off x="9127998" y="3657600"/>
            <a:ext cx="473202" cy="384048"/>
          </a:xfrm>
          <a:prstGeom prst="roundRect">
            <a:avLst>
              <a:gd name="adj" fmla="val 11905"/>
            </a:avLst>
          </a:prstGeom>
          <a:solidFill>
            <a:srgbClr val="F2F2F2"/>
          </a:solidFill>
          <a:ln/>
        </p:spPr>
      </p:sp>
      <p:sp>
        <p:nvSpPr>
          <p:cNvPr id="155" name="Text 153"/>
          <p:cNvSpPr txBox="1"/>
          <p:nvPr/>
        </p:nvSpPr>
        <p:spPr>
          <a:xfrm>
            <a:off x="9127998"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2</a:t>
            </a:r>
            <a:endParaRPr lang="tr-TR" sz="1400" dirty="0"/>
          </a:p>
        </p:txBody>
      </p:sp>
      <p:sp>
        <p:nvSpPr>
          <p:cNvPr id="156" name="Text 154"/>
          <p:cNvSpPr txBox="1"/>
          <p:nvPr/>
        </p:nvSpPr>
        <p:spPr>
          <a:xfrm>
            <a:off x="9109710" y="4059936"/>
            <a:ext cx="509778" cy="420624"/>
          </a:xfrm>
          <a:prstGeom prst="rect">
            <a:avLst/>
          </a:prstGeom>
          <a:noFill/>
          <a:ln/>
        </p:spPr>
        <p:txBody>
          <a:bodyPr wrap="square" lIns="0" tIns="0" rIns="0" bIns="0" rtlCol="0" anchor="ctr"/>
          <a:lstStyle/>
          <a:p>
            <a:pPr algn="ctr" indent="0" marL="0">
              <a:buNone/>
            </a:pPr>
            <a:endParaRPr lang="tr-TR" sz="1400" dirty="0"/>
          </a:p>
        </p:txBody>
      </p:sp>
      <p:sp>
        <p:nvSpPr>
          <p:cNvPr id="157" name="Shape 155"/>
          <p:cNvSpPr/>
          <p:nvPr/>
        </p:nvSpPr>
        <p:spPr>
          <a:xfrm>
            <a:off x="9637776" y="2395728"/>
            <a:ext cx="473202" cy="384048"/>
          </a:xfrm>
          <a:prstGeom prst="roundRect">
            <a:avLst>
              <a:gd name="adj" fmla="val 11905"/>
            </a:avLst>
          </a:prstGeom>
          <a:solidFill>
            <a:srgbClr val="36454F"/>
          </a:solidFill>
          <a:ln/>
        </p:spPr>
      </p:sp>
      <p:sp>
        <p:nvSpPr>
          <p:cNvPr id="158" name="Text 156"/>
          <p:cNvSpPr txBox="1"/>
          <p:nvPr/>
        </p:nvSpPr>
        <p:spPr>
          <a:xfrm>
            <a:off x="9637776"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1</a:t>
            </a:r>
            <a:endParaRPr lang="tr-TR" sz="1400" dirty="0"/>
          </a:p>
        </p:txBody>
      </p:sp>
      <p:sp>
        <p:nvSpPr>
          <p:cNvPr id="159" name="Shape 157"/>
          <p:cNvSpPr/>
          <p:nvPr/>
        </p:nvSpPr>
        <p:spPr>
          <a:xfrm>
            <a:off x="9637776" y="2816352"/>
            <a:ext cx="473202" cy="384048"/>
          </a:xfrm>
          <a:prstGeom prst="roundRect">
            <a:avLst>
              <a:gd name="adj" fmla="val 11905"/>
            </a:avLst>
          </a:prstGeom>
          <a:solidFill>
            <a:srgbClr val="F2F2F2"/>
          </a:solidFill>
          <a:ln/>
        </p:spPr>
      </p:sp>
      <p:sp>
        <p:nvSpPr>
          <p:cNvPr id="160" name="Text 158"/>
          <p:cNvSpPr txBox="1"/>
          <p:nvPr/>
        </p:nvSpPr>
        <p:spPr>
          <a:xfrm>
            <a:off x="9637776"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0</a:t>
            </a:r>
            <a:endParaRPr lang="tr-TR" sz="1400" dirty="0"/>
          </a:p>
        </p:txBody>
      </p:sp>
      <p:sp>
        <p:nvSpPr>
          <p:cNvPr id="161" name="Shape 159"/>
          <p:cNvSpPr/>
          <p:nvPr/>
        </p:nvSpPr>
        <p:spPr>
          <a:xfrm>
            <a:off x="9637776" y="3236976"/>
            <a:ext cx="473202" cy="384048"/>
          </a:xfrm>
          <a:prstGeom prst="roundRect">
            <a:avLst>
              <a:gd name="adj" fmla="val 11905"/>
            </a:avLst>
          </a:prstGeom>
          <a:solidFill>
            <a:srgbClr val="F2F2F2"/>
          </a:solidFill>
          <a:ln/>
        </p:spPr>
      </p:sp>
      <p:sp>
        <p:nvSpPr>
          <p:cNvPr id="162" name="Text 160"/>
          <p:cNvSpPr txBox="1"/>
          <p:nvPr/>
        </p:nvSpPr>
        <p:spPr>
          <a:xfrm>
            <a:off x="9637776"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1</a:t>
            </a:r>
            <a:endParaRPr lang="tr-TR" sz="1400" dirty="0"/>
          </a:p>
        </p:txBody>
      </p:sp>
      <p:sp>
        <p:nvSpPr>
          <p:cNvPr id="163" name="Shape 161"/>
          <p:cNvSpPr/>
          <p:nvPr/>
        </p:nvSpPr>
        <p:spPr>
          <a:xfrm>
            <a:off x="9637776" y="3657600"/>
            <a:ext cx="473202" cy="384048"/>
          </a:xfrm>
          <a:prstGeom prst="roundRect">
            <a:avLst>
              <a:gd name="adj" fmla="val 11905"/>
            </a:avLst>
          </a:prstGeom>
          <a:solidFill>
            <a:srgbClr val="F2F2F2"/>
          </a:solidFill>
          <a:ln/>
        </p:spPr>
      </p:sp>
      <p:sp>
        <p:nvSpPr>
          <p:cNvPr id="164" name="Text 162"/>
          <p:cNvSpPr txBox="1"/>
          <p:nvPr/>
        </p:nvSpPr>
        <p:spPr>
          <a:xfrm>
            <a:off x="9637776"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2</a:t>
            </a:r>
            <a:endParaRPr lang="tr-TR" sz="1400" dirty="0"/>
          </a:p>
        </p:txBody>
      </p:sp>
      <p:sp>
        <p:nvSpPr>
          <p:cNvPr id="165" name="Text 163"/>
          <p:cNvSpPr txBox="1"/>
          <p:nvPr/>
        </p:nvSpPr>
        <p:spPr>
          <a:xfrm>
            <a:off x="9619488" y="4059936"/>
            <a:ext cx="509778" cy="420624"/>
          </a:xfrm>
          <a:prstGeom prst="rect">
            <a:avLst/>
          </a:prstGeom>
          <a:noFill/>
          <a:ln/>
        </p:spPr>
        <p:txBody>
          <a:bodyPr wrap="square" lIns="0" tIns="0" rIns="0" bIns="0" rtlCol="0" anchor="ctr"/>
          <a:lstStyle/>
          <a:p>
            <a:pPr algn="ctr" indent="0" marL="0">
              <a:buNone/>
            </a:pPr>
            <a:endParaRPr lang="tr-TR" sz="1400" dirty="0"/>
          </a:p>
        </p:txBody>
      </p:sp>
      <p:sp>
        <p:nvSpPr>
          <p:cNvPr id="166" name="Shape 164"/>
          <p:cNvSpPr/>
          <p:nvPr/>
        </p:nvSpPr>
        <p:spPr>
          <a:xfrm>
            <a:off x="10147554" y="2395728"/>
            <a:ext cx="473202" cy="384048"/>
          </a:xfrm>
          <a:prstGeom prst="roundRect">
            <a:avLst>
              <a:gd name="adj" fmla="val 11905"/>
            </a:avLst>
          </a:prstGeom>
          <a:solidFill>
            <a:srgbClr val="36454F"/>
          </a:solidFill>
          <a:ln/>
        </p:spPr>
      </p:sp>
      <p:sp>
        <p:nvSpPr>
          <p:cNvPr id="167" name="Text 165"/>
          <p:cNvSpPr txBox="1"/>
          <p:nvPr/>
        </p:nvSpPr>
        <p:spPr>
          <a:xfrm>
            <a:off x="10147554"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7</a:t>
            </a:r>
            <a:endParaRPr lang="tr-TR" sz="1400" dirty="0"/>
          </a:p>
        </p:txBody>
      </p:sp>
      <p:sp>
        <p:nvSpPr>
          <p:cNvPr id="168" name="Shape 166"/>
          <p:cNvSpPr/>
          <p:nvPr/>
        </p:nvSpPr>
        <p:spPr>
          <a:xfrm>
            <a:off x="10147554" y="2816352"/>
            <a:ext cx="473202" cy="384048"/>
          </a:xfrm>
          <a:prstGeom prst="roundRect">
            <a:avLst>
              <a:gd name="adj" fmla="val 11905"/>
            </a:avLst>
          </a:prstGeom>
          <a:solidFill>
            <a:srgbClr val="02C39A"/>
          </a:solidFill>
          <a:ln/>
        </p:spPr>
      </p:sp>
      <p:sp>
        <p:nvSpPr>
          <p:cNvPr id="169" name="Text 167"/>
          <p:cNvSpPr txBox="1"/>
          <p:nvPr/>
        </p:nvSpPr>
        <p:spPr>
          <a:xfrm>
            <a:off x="10147554" y="2816352"/>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7</a:t>
            </a:r>
            <a:endParaRPr lang="tr-TR" sz="1400" dirty="0"/>
          </a:p>
        </p:txBody>
      </p:sp>
      <p:sp>
        <p:nvSpPr>
          <p:cNvPr id="170" name="Shape 168"/>
          <p:cNvSpPr/>
          <p:nvPr/>
        </p:nvSpPr>
        <p:spPr>
          <a:xfrm>
            <a:off x="10147554" y="3236976"/>
            <a:ext cx="473202" cy="384048"/>
          </a:xfrm>
          <a:prstGeom prst="roundRect">
            <a:avLst>
              <a:gd name="adj" fmla="val 11905"/>
            </a:avLst>
          </a:prstGeom>
          <a:solidFill>
            <a:srgbClr val="D7E9E6"/>
          </a:solidFill>
          <a:ln/>
        </p:spPr>
      </p:sp>
      <p:sp>
        <p:nvSpPr>
          <p:cNvPr id="171" name="Text 169"/>
          <p:cNvSpPr txBox="1"/>
          <p:nvPr/>
        </p:nvSpPr>
        <p:spPr>
          <a:xfrm>
            <a:off x="10147554"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1</a:t>
            </a:r>
            <a:endParaRPr lang="tr-TR" sz="1400" dirty="0"/>
          </a:p>
        </p:txBody>
      </p:sp>
      <p:sp>
        <p:nvSpPr>
          <p:cNvPr id="172" name="Shape 170"/>
          <p:cNvSpPr/>
          <p:nvPr/>
        </p:nvSpPr>
        <p:spPr>
          <a:xfrm>
            <a:off x="10147554" y="3657600"/>
            <a:ext cx="473202" cy="384048"/>
          </a:xfrm>
          <a:prstGeom prst="roundRect">
            <a:avLst>
              <a:gd name="adj" fmla="val 11905"/>
            </a:avLst>
          </a:prstGeom>
          <a:solidFill>
            <a:srgbClr val="D7E9E6"/>
          </a:solidFill>
          <a:ln/>
        </p:spPr>
      </p:sp>
      <p:sp>
        <p:nvSpPr>
          <p:cNvPr id="173" name="Text 171"/>
          <p:cNvSpPr txBox="1"/>
          <p:nvPr/>
        </p:nvSpPr>
        <p:spPr>
          <a:xfrm>
            <a:off x="10147554"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2</a:t>
            </a:r>
            <a:endParaRPr lang="tr-TR" sz="1400" dirty="0"/>
          </a:p>
        </p:txBody>
      </p:sp>
      <p:sp>
        <p:nvSpPr>
          <p:cNvPr id="174" name="Text 172"/>
          <p:cNvSpPr txBox="1"/>
          <p:nvPr/>
        </p:nvSpPr>
        <p:spPr>
          <a:xfrm>
            <a:off x="10129266"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175" name="Shape 173"/>
          <p:cNvSpPr/>
          <p:nvPr/>
        </p:nvSpPr>
        <p:spPr>
          <a:xfrm>
            <a:off x="10657332" y="2395728"/>
            <a:ext cx="473202" cy="384048"/>
          </a:xfrm>
          <a:prstGeom prst="roundRect">
            <a:avLst>
              <a:gd name="adj" fmla="val 11905"/>
            </a:avLst>
          </a:prstGeom>
          <a:solidFill>
            <a:srgbClr val="36454F"/>
          </a:solidFill>
          <a:ln/>
        </p:spPr>
      </p:sp>
      <p:sp>
        <p:nvSpPr>
          <p:cNvPr id="176" name="Text 174"/>
          <p:cNvSpPr txBox="1"/>
          <p:nvPr/>
        </p:nvSpPr>
        <p:spPr>
          <a:xfrm>
            <a:off x="10657332"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0</a:t>
            </a:r>
            <a:endParaRPr lang="tr-TR" sz="1400" dirty="0"/>
          </a:p>
        </p:txBody>
      </p:sp>
      <p:sp>
        <p:nvSpPr>
          <p:cNvPr id="177" name="Shape 175"/>
          <p:cNvSpPr/>
          <p:nvPr/>
        </p:nvSpPr>
        <p:spPr>
          <a:xfrm>
            <a:off x="10657332" y="2816352"/>
            <a:ext cx="473202" cy="384048"/>
          </a:xfrm>
          <a:prstGeom prst="roundRect">
            <a:avLst>
              <a:gd name="adj" fmla="val 11905"/>
            </a:avLst>
          </a:prstGeom>
          <a:solidFill>
            <a:srgbClr val="D7E9E6"/>
          </a:solidFill>
          <a:ln/>
        </p:spPr>
      </p:sp>
      <p:sp>
        <p:nvSpPr>
          <p:cNvPr id="178" name="Text 176"/>
          <p:cNvSpPr txBox="1"/>
          <p:nvPr/>
        </p:nvSpPr>
        <p:spPr>
          <a:xfrm>
            <a:off x="10657332"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7</a:t>
            </a:r>
            <a:endParaRPr lang="tr-TR" sz="1400" dirty="0"/>
          </a:p>
        </p:txBody>
      </p:sp>
      <p:sp>
        <p:nvSpPr>
          <p:cNvPr id="179" name="Shape 177"/>
          <p:cNvSpPr/>
          <p:nvPr/>
        </p:nvSpPr>
        <p:spPr>
          <a:xfrm>
            <a:off x="10657332" y="3236976"/>
            <a:ext cx="473202" cy="384048"/>
          </a:xfrm>
          <a:prstGeom prst="roundRect">
            <a:avLst>
              <a:gd name="adj" fmla="val 11905"/>
            </a:avLst>
          </a:prstGeom>
          <a:solidFill>
            <a:srgbClr val="02C39A"/>
          </a:solidFill>
          <a:ln/>
        </p:spPr>
      </p:sp>
      <p:sp>
        <p:nvSpPr>
          <p:cNvPr id="180" name="Text 178"/>
          <p:cNvSpPr txBox="1"/>
          <p:nvPr/>
        </p:nvSpPr>
        <p:spPr>
          <a:xfrm>
            <a:off x="10657332" y="3236976"/>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0</a:t>
            </a:r>
            <a:endParaRPr lang="tr-TR" sz="1400" dirty="0"/>
          </a:p>
        </p:txBody>
      </p:sp>
      <p:sp>
        <p:nvSpPr>
          <p:cNvPr id="181" name="Shape 179"/>
          <p:cNvSpPr/>
          <p:nvPr/>
        </p:nvSpPr>
        <p:spPr>
          <a:xfrm>
            <a:off x="10657332" y="3657600"/>
            <a:ext cx="473202" cy="384048"/>
          </a:xfrm>
          <a:prstGeom prst="roundRect">
            <a:avLst>
              <a:gd name="adj" fmla="val 11905"/>
            </a:avLst>
          </a:prstGeom>
          <a:solidFill>
            <a:srgbClr val="D7E9E6"/>
          </a:solidFill>
          <a:ln/>
        </p:spPr>
      </p:sp>
      <p:sp>
        <p:nvSpPr>
          <p:cNvPr id="182" name="Text 180"/>
          <p:cNvSpPr txBox="1"/>
          <p:nvPr/>
        </p:nvSpPr>
        <p:spPr>
          <a:xfrm>
            <a:off x="10657332"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2</a:t>
            </a:r>
            <a:endParaRPr lang="tr-TR" sz="1400" dirty="0"/>
          </a:p>
        </p:txBody>
      </p:sp>
      <p:sp>
        <p:nvSpPr>
          <p:cNvPr id="183" name="Text 181"/>
          <p:cNvSpPr txBox="1"/>
          <p:nvPr/>
        </p:nvSpPr>
        <p:spPr>
          <a:xfrm>
            <a:off x="10639044"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184" name="Shape 182"/>
          <p:cNvSpPr/>
          <p:nvPr/>
        </p:nvSpPr>
        <p:spPr>
          <a:xfrm>
            <a:off x="11167110" y="2395728"/>
            <a:ext cx="473202" cy="384048"/>
          </a:xfrm>
          <a:prstGeom prst="roundRect">
            <a:avLst>
              <a:gd name="adj" fmla="val 11905"/>
            </a:avLst>
          </a:prstGeom>
          <a:solidFill>
            <a:srgbClr val="36454F"/>
          </a:solidFill>
          <a:ln/>
        </p:spPr>
      </p:sp>
      <p:sp>
        <p:nvSpPr>
          <p:cNvPr id="185" name="Text 183"/>
          <p:cNvSpPr txBox="1"/>
          <p:nvPr/>
        </p:nvSpPr>
        <p:spPr>
          <a:xfrm>
            <a:off x="11167110"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1</a:t>
            </a:r>
            <a:endParaRPr lang="tr-TR" sz="1400" dirty="0"/>
          </a:p>
        </p:txBody>
      </p:sp>
      <p:sp>
        <p:nvSpPr>
          <p:cNvPr id="186" name="Shape 184"/>
          <p:cNvSpPr/>
          <p:nvPr/>
        </p:nvSpPr>
        <p:spPr>
          <a:xfrm>
            <a:off x="11167110" y="2816352"/>
            <a:ext cx="473202" cy="384048"/>
          </a:xfrm>
          <a:prstGeom prst="roundRect">
            <a:avLst>
              <a:gd name="adj" fmla="val 11905"/>
            </a:avLst>
          </a:prstGeom>
          <a:solidFill>
            <a:srgbClr val="D7E9E6"/>
          </a:solidFill>
          <a:ln/>
        </p:spPr>
      </p:sp>
      <p:sp>
        <p:nvSpPr>
          <p:cNvPr id="187" name="Text 185"/>
          <p:cNvSpPr txBox="1"/>
          <p:nvPr/>
        </p:nvSpPr>
        <p:spPr>
          <a:xfrm>
            <a:off x="11167110"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7</a:t>
            </a:r>
            <a:endParaRPr lang="tr-TR" sz="1400" dirty="0"/>
          </a:p>
        </p:txBody>
      </p:sp>
      <p:sp>
        <p:nvSpPr>
          <p:cNvPr id="188" name="Shape 186"/>
          <p:cNvSpPr/>
          <p:nvPr/>
        </p:nvSpPr>
        <p:spPr>
          <a:xfrm>
            <a:off x="11167110" y="3236976"/>
            <a:ext cx="473202" cy="384048"/>
          </a:xfrm>
          <a:prstGeom prst="roundRect">
            <a:avLst>
              <a:gd name="adj" fmla="val 11905"/>
            </a:avLst>
          </a:prstGeom>
          <a:solidFill>
            <a:srgbClr val="D7E9E6"/>
          </a:solidFill>
          <a:ln/>
        </p:spPr>
      </p:sp>
      <p:sp>
        <p:nvSpPr>
          <p:cNvPr id="189" name="Text 187"/>
          <p:cNvSpPr txBox="1"/>
          <p:nvPr/>
        </p:nvSpPr>
        <p:spPr>
          <a:xfrm>
            <a:off x="11167110"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0</a:t>
            </a:r>
            <a:endParaRPr lang="tr-TR" sz="1400" dirty="0"/>
          </a:p>
        </p:txBody>
      </p:sp>
      <p:sp>
        <p:nvSpPr>
          <p:cNvPr id="190" name="Shape 188"/>
          <p:cNvSpPr/>
          <p:nvPr/>
        </p:nvSpPr>
        <p:spPr>
          <a:xfrm>
            <a:off x="11167110" y="3657600"/>
            <a:ext cx="473202" cy="384048"/>
          </a:xfrm>
          <a:prstGeom prst="roundRect">
            <a:avLst>
              <a:gd name="adj" fmla="val 11905"/>
            </a:avLst>
          </a:prstGeom>
          <a:solidFill>
            <a:srgbClr val="02C39A"/>
          </a:solidFill>
          <a:ln/>
        </p:spPr>
      </p:sp>
      <p:sp>
        <p:nvSpPr>
          <p:cNvPr id="191" name="Text 189"/>
          <p:cNvSpPr txBox="1"/>
          <p:nvPr/>
        </p:nvSpPr>
        <p:spPr>
          <a:xfrm>
            <a:off x="11167110" y="3657600"/>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1</a:t>
            </a:r>
            <a:endParaRPr lang="tr-TR" sz="1400" dirty="0"/>
          </a:p>
        </p:txBody>
      </p:sp>
      <p:sp>
        <p:nvSpPr>
          <p:cNvPr id="192" name="Text 190"/>
          <p:cNvSpPr txBox="1"/>
          <p:nvPr/>
        </p:nvSpPr>
        <p:spPr>
          <a:xfrm>
            <a:off x="11148822"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193" name="Shape 191"/>
          <p:cNvSpPr/>
          <p:nvPr/>
        </p:nvSpPr>
        <p:spPr>
          <a:xfrm>
            <a:off x="548640" y="5029200"/>
            <a:ext cx="8092440" cy="1234440"/>
          </a:xfrm>
          <a:prstGeom prst="roundRect">
            <a:avLst>
              <a:gd name="adj" fmla="val 4444"/>
            </a:avLst>
          </a:prstGeom>
          <a:solidFill>
            <a:srgbClr val="F2F2F2"/>
          </a:solidFill>
          <a:ln/>
          <a:effectLst>
            <a:outerShdw sx="100000" sy="100000" kx="0" ky="0" algn="bl" rotWithShape="0" blurRad="101600" dist="25400" dir="5400000">
              <a:srgbClr val="000000">
                <a:alpha val="12000"/>
              </a:srgbClr>
            </a:outerShdw>
          </a:effectLst>
        </p:spPr>
      </p:sp>
      <p:sp>
        <p:nvSpPr>
          <p:cNvPr id="194" name="Text 192"/>
          <p:cNvSpPr txBox="1"/>
          <p:nvPr/>
        </p:nvSpPr>
        <p:spPr>
          <a:xfrm>
            <a:off x="777240" y="5212080"/>
            <a:ext cx="7635240" cy="384048"/>
          </a:xfrm>
          <a:prstGeom prst="rect">
            <a:avLst/>
          </a:prstGeom>
          <a:noFill/>
          <a:ln/>
        </p:spPr>
        <p:txBody>
          <a:bodyPr wrap="square" lIns="0" tIns="0" rIns="0" bIns="0" rtlCol="0" anchor="ctr"/>
          <a:lstStyle/>
          <a:p>
            <a:pPr indent="0" marL="0">
              <a:buNone/>
            </a:pPr>
            <a:r>
              <a:rPr lang="tr-TR" sz="1400" b="1" dirty="0">
                <a:solidFill>
                  <a:srgbClr val="028090"/>
                </a:solidFill>
                <a:latin typeface="Cambria" pitchFamily="34" charset="0"/>
                <a:ea typeface="Cambria" pitchFamily="34" charset="-122"/>
                <a:cs typeface="Cambria" pitchFamily="34" charset="-120"/>
              </a:rPr>
              <a:t>Not</a:t>
            </a:r>
            <a:endParaRPr lang="tr-TR" sz="1400" dirty="0"/>
          </a:p>
        </p:txBody>
      </p:sp>
      <p:sp>
        <p:nvSpPr>
          <p:cNvPr id="195" name="Text 193"/>
          <p:cNvSpPr txBox="1"/>
          <p:nvPr/>
        </p:nvSpPr>
        <p:spPr>
          <a:xfrm>
            <a:off x="777240" y="5669280"/>
            <a:ext cx="7635240" cy="457200"/>
          </a:xfrm>
          <a:prstGeom prst="rect">
            <a:avLst/>
          </a:prstGeom>
          <a:noFill/>
          <a:ln/>
        </p:spPr>
        <p:txBody>
          <a:bodyPr wrap="square" lIns="0" tIns="0" rIns="0" bIns="0" rtlCol="0" anchor="t"/>
          <a:lstStyle/>
          <a:p>
            <a:pPr indent="0" marL="0">
              <a:spcAft>
                <a:spcPts val="400"/>
              </a:spcAft>
              <a:buNone/>
            </a:pPr>
            <a:r>
              <a:rPr lang="tr-TR" sz="1350" dirty="0">
                <a:solidFill>
                  <a:srgbClr val="3A464C"/>
                </a:solidFill>
                <a:latin typeface="Calibri" pitchFamily="34" charset="0"/>
                <a:ea typeface="Calibri" pitchFamily="34" charset="-122"/>
                <a:cs typeface="Calibri" pitchFamily="34" charset="-120"/>
              </a:rPr>
              <a:t>FIFO bir sayfanın ne sıklıkla kullanıldığına bakmaz: 7. başvuruda 0 sayfasını atar, oysa o hemen yine gerekir (11. başvuru). Nane = yeni yüklenen sayfa; soluk sütunlar = hatalar.</a:t>
            </a:r>
            <a:endParaRPr lang="tr-TR" sz="1350" dirty="0"/>
          </a:p>
        </p:txBody>
      </p:sp>
      <p:sp>
        <p:nvSpPr>
          <p:cNvPr id="196" name="Shape 194"/>
          <p:cNvSpPr/>
          <p:nvPr/>
        </p:nvSpPr>
        <p:spPr>
          <a:xfrm>
            <a:off x="8869680" y="5029200"/>
            <a:ext cx="2788920" cy="1234440"/>
          </a:xfrm>
          <a:prstGeom prst="roundRect">
            <a:avLst>
              <a:gd name="adj" fmla="val 4444"/>
            </a:avLst>
          </a:prstGeom>
          <a:solidFill>
            <a:srgbClr val="36454F"/>
          </a:solidFill>
          <a:ln/>
        </p:spPr>
      </p:sp>
      <p:sp>
        <p:nvSpPr>
          <p:cNvPr id="197" name="Text 195"/>
          <p:cNvSpPr txBox="1"/>
          <p:nvPr/>
        </p:nvSpPr>
        <p:spPr>
          <a:xfrm>
            <a:off x="9052560" y="5029200"/>
            <a:ext cx="2423160" cy="1234440"/>
          </a:xfrm>
          <a:prstGeom prst="rect">
            <a:avLst/>
          </a:prstGeom>
          <a:noFill/>
          <a:ln/>
        </p:spPr>
        <p:txBody>
          <a:bodyPr wrap="square" lIns="0" tIns="0" rIns="0" bIns="0" rtlCol="0" anchor="ctr"/>
          <a:lstStyle/>
          <a:p>
            <a:pPr algn="ctr" indent="0" marL="0">
              <a:buNone/>
            </a:pPr>
            <a:r>
              <a:rPr lang="tr-TR" sz="4000" b="1" dirty="0">
                <a:solidFill>
                  <a:srgbClr val="02C39A"/>
                </a:solidFill>
                <a:latin typeface="Cambria" pitchFamily="34" charset="0"/>
                <a:ea typeface="Cambria" pitchFamily="34" charset="-122"/>
                <a:cs typeface="Cambria" pitchFamily="34" charset="-120"/>
              </a:rPr>
              <a:t>15</a:t>
            </a:r>
            <a:endParaRPr lang="tr-TR" sz="1400" dirty="0"/>
          </a:p>
          <a:p>
            <a:pPr algn="ctr" indent="0" marL="0">
              <a:buNone/>
            </a:pPr>
            <a:r>
              <a:rPr lang="tr-TR" sz="1300" dirty="0">
                <a:solidFill>
                  <a:srgbClr val="F2F2F2"/>
                </a:solidFill>
                <a:latin typeface="Calibri" pitchFamily="34" charset="0"/>
                <a:ea typeface="Calibri" pitchFamily="34" charset="-122"/>
                <a:cs typeface="Calibri" pitchFamily="34" charset="-120"/>
              </a:rPr>
              <a:t>FIFO ile sayfa hatası</a:t>
            </a:r>
            <a:endParaRPr lang="tr-TR"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SAYFA DEĞİŞTİRME · OPT</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OPT: Gelecekte En Geç Kullanılacak Sayfayı Değiştir</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En iyi (optimal; Belady, 1966): kurban, en uzun süre kullanılmayacak olan sayfadır. Olası en düşük hata sayısını verir.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15</a:t>
            </a:r>
            <a:endParaRPr lang="tr-TR" sz="900" dirty="0"/>
          </a:p>
        </p:txBody>
      </p:sp>
      <p:sp>
        <p:nvSpPr>
          <p:cNvPr id="7" name="Text 5"/>
          <p:cNvSpPr txBox="1"/>
          <p:nvPr/>
        </p:nvSpPr>
        <p:spPr>
          <a:xfrm>
            <a:off x="548640" y="2011680"/>
            <a:ext cx="11109960" cy="320040"/>
          </a:xfrm>
          <a:prstGeom prst="rect">
            <a:avLst/>
          </a:prstGeom>
          <a:noFill/>
          <a:ln/>
        </p:spPr>
        <p:txBody>
          <a:bodyPr wrap="square" lIns="0" tIns="0" rIns="0" bIns="0" rtlCol="0" anchor="t"/>
          <a:lstStyle/>
          <a:p>
            <a:pPr indent="0" marL="0">
              <a:buNone/>
            </a:pPr>
            <a:r>
              <a:rPr lang="tr-TR" sz="1300" i="1" dirty="0">
                <a:solidFill>
                  <a:srgbClr val="6B7679"/>
                </a:solidFill>
                <a:latin typeface="Calibri" pitchFamily="34" charset="0"/>
                <a:ea typeface="Calibri" pitchFamily="34" charset="-122"/>
                <a:cs typeface="Calibri" pitchFamily="34" charset="-120"/>
              </a:rPr>
              <a:t>Başvuru dizisi: 7, 0, 1, 2, 0, 3, 0, 4, 2, 3, 0, 3, 2, 1, 2, 0, 1, 7, 0, 1   ·   3 çerçeve</a:t>
            </a:r>
            <a:endParaRPr lang="tr-TR" sz="1300" dirty="0"/>
          </a:p>
        </p:txBody>
      </p:sp>
      <p:sp>
        <p:nvSpPr>
          <p:cNvPr id="8" name="Text 6"/>
          <p:cNvSpPr txBox="1"/>
          <p:nvPr/>
        </p:nvSpPr>
        <p:spPr>
          <a:xfrm>
            <a:off x="548640" y="2377440"/>
            <a:ext cx="841248" cy="420624"/>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başvuru</a:t>
            </a:r>
            <a:endParaRPr lang="tr-TR" sz="1100" dirty="0"/>
          </a:p>
        </p:txBody>
      </p:sp>
      <p:sp>
        <p:nvSpPr>
          <p:cNvPr id="9" name="Text 7"/>
          <p:cNvSpPr txBox="1"/>
          <p:nvPr/>
        </p:nvSpPr>
        <p:spPr>
          <a:xfrm>
            <a:off x="548640" y="2798064"/>
            <a:ext cx="841248" cy="420624"/>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çerçeve 0</a:t>
            </a:r>
            <a:endParaRPr lang="tr-TR" sz="1100" dirty="0"/>
          </a:p>
        </p:txBody>
      </p:sp>
      <p:sp>
        <p:nvSpPr>
          <p:cNvPr id="10" name="Text 8"/>
          <p:cNvSpPr txBox="1"/>
          <p:nvPr/>
        </p:nvSpPr>
        <p:spPr>
          <a:xfrm>
            <a:off x="548640" y="3218688"/>
            <a:ext cx="841248" cy="420624"/>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çerçeve 1</a:t>
            </a:r>
            <a:endParaRPr lang="tr-TR" sz="1100" dirty="0"/>
          </a:p>
        </p:txBody>
      </p:sp>
      <p:sp>
        <p:nvSpPr>
          <p:cNvPr id="11" name="Text 9"/>
          <p:cNvSpPr txBox="1"/>
          <p:nvPr/>
        </p:nvSpPr>
        <p:spPr>
          <a:xfrm>
            <a:off x="548640" y="3639312"/>
            <a:ext cx="841248" cy="420624"/>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çerçeve 2</a:t>
            </a:r>
            <a:endParaRPr lang="tr-TR" sz="1100" dirty="0"/>
          </a:p>
        </p:txBody>
      </p:sp>
      <p:sp>
        <p:nvSpPr>
          <p:cNvPr id="12" name="Text 10"/>
          <p:cNvSpPr txBox="1"/>
          <p:nvPr/>
        </p:nvSpPr>
        <p:spPr>
          <a:xfrm>
            <a:off x="548640" y="4059936"/>
            <a:ext cx="841248" cy="420624"/>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hata?</a:t>
            </a:r>
            <a:endParaRPr lang="tr-TR" sz="1100" dirty="0"/>
          </a:p>
        </p:txBody>
      </p:sp>
      <p:sp>
        <p:nvSpPr>
          <p:cNvPr id="13" name="Shape 11"/>
          <p:cNvSpPr/>
          <p:nvPr/>
        </p:nvSpPr>
        <p:spPr>
          <a:xfrm>
            <a:off x="1481328" y="2395728"/>
            <a:ext cx="473202" cy="384048"/>
          </a:xfrm>
          <a:prstGeom prst="roundRect">
            <a:avLst>
              <a:gd name="adj" fmla="val 11905"/>
            </a:avLst>
          </a:prstGeom>
          <a:solidFill>
            <a:srgbClr val="36454F"/>
          </a:solidFill>
          <a:ln/>
        </p:spPr>
      </p:sp>
      <p:sp>
        <p:nvSpPr>
          <p:cNvPr id="14" name="Text 12"/>
          <p:cNvSpPr txBox="1"/>
          <p:nvPr/>
        </p:nvSpPr>
        <p:spPr>
          <a:xfrm>
            <a:off x="1481328"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7</a:t>
            </a:r>
            <a:endParaRPr lang="tr-TR" sz="1400" dirty="0"/>
          </a:p>
        </p:txBody>
      </p:sp>
      <p:sp>
        <p:nvSpPr>
          <p:cNvPr id="15" name="Shape 13"/>
          <p:cNvSpPr/>
          <p:nvPr/>
        </p:nvSpPr>
        <p:spPr>
          <a:xfrm>
            <a:off x="1481328" y="2816352"/>
            <a:ext cx="473202" cy="384048"/>
          </a:xfrm>
          <a:prstGeom prst="roundRect">
            <a:avLst>
              <a:gd name="adj" fmla="val 11905"/>
            </a:avLst>
          </a:prstGeom>
          <a:solidFill>
            <a:srgbClr val="02C39A"/>
          </a:solidFill>
          <a:ln/>
        </p:spPr>
      </p:sp>
      <p:sp>
        <p:nvSpPr>
          <p:cNvPr id="16" name="Text 14"/>
          <p:cNvSpPr txBox="1"/>
          <p:nvPr/>
        </p:nvSpPr>
        <p:spPr>
          <a:xfrm>
            <a:off x="1481328" y="2816352"/>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7</a:t>
            </a:r>
            <a:endParaRPr lang="tr-TR" sz="1400" dirty="0"/>
          </a:p>
        </p:txBody>
      </p:sp>
      <p:sp>
        <p:nvSpPr>
          <p:cNvPr id="17" name="Shape 15"/>
          <p:cNvSpPr/>
          <p:nvPr/>
        </p:nvSpPr>
        <p:spPr>
          <a:xfrm>
            <a:off x="1481328" y="3236976"/>
            <a:ext cx="473202" cy="384048"/>
          </a:xfrm>
          <a:prstGeom prst="roundRect">
            <a:avLst>
              <a:gd name="adj" fmla="val 11905"/>
            </a:avLst>
          </a:prstGeom>
          <a:solidFill>
            <a:srgbClr val="D7E9E6"/>
          </a:solidFill>
          <a:ln/>
        </p:spPr>
      </p:sp>
      <p:sp>
        <p:nvSpPr>
          <p:cNvPr id="18" name="Text 16"/>
          <p:cNvSpPr txBox="1"/>
          <p:nvPr/>
        </p:nvSpPr>
        <p:spPr>
          <a:xfrm>
            <a:off x="1481328" y="3236976"/>
            <a:ext cx="473202" cy="384048"/>
          </a:xfrm>
          <a:prstGeom prst="rect">
            <a:avLst/>
          </a:prstGeom>
          <a:noFill/>
          <a:ln/>
        </p:spPr>
        <p:txBody>
          <a:bodyPr wrap="square" lIns="38100" tIns="38100" rIns="38100" bIns="38100" rtlCol="0" anchor="ctr"/>
          <a:lstStyle/>
          <a:p>
            <a:pPr algn="ctr" indent="0" marL="0">
              <a:buNone/>
            </a:pPr>
            <a:endParaRPr lang="tr-TR" sz="1400" dirty="0"/>
          </a:p>
        </p:txBody>
      </p:sp>
      <p:sp>
        <p:nvSpPr>
          <p:cNvPr id="19" name="Shape 17"/>
          <p:cNvSpPr/>
          <p:nvPr/>
        </p:nvSpPr>
        <p:spPr>
          <a:xfrm>
            <a:off x="1481328" y="3657600"/>
            <a:ext cx="473202" cy="384048"/>
          </a:xfrm>
          <a:prstGeom prst="roundRect">
            <a:avLst>
              <a:gd name="adj" fmla="val 11905"/>
            </a:avLst>
          </a:prstGeom>
          <a:solidFill>
            <a:srgbClr val="D7E9E6"/>
          </a:solidFill>
          <a:ln/>
        </p:spPr>
      </p:sp>
      <p:sp>
        <p:nvSpPr>
          <p:cNvPr id="20" name="Text 18"/>
          <p:cNvSpPr txBox="1"/>
          <p:nvPr/>
        </p:nvSpPr>
        <p:spPr>
          <a:xfrm>
            <a:off x="1481328" y="3657600"/>
            <a:ext cx="473202" cy="384048"/>
          </a:xfrm>
          <a:prstGeom prst="rect">
            <a:avLst/>
          </a:prstGeom>
          <a:noFill/>
          <a:ln/>
        </p:spPr>
        <p:txBody>
          <a:bodyPr wrap="square" lIns="38100" tIns="38100" rIns="38100" bIns="38100" rtlCol="0" anchor="ctr"/>
          <a:lstStyle/>
          <a:p>
            <a:pPr algn="ctr" indent="0" marL="0">
              <a:buNone/>
            </a:pPr>
            <a:endParaRPr lang="tr-TR" sz="1400" dirty="0"/>
          </a:p>
        </p:txBody>
      </p:sp>
      <p:sp>
        <p:nvSpPr>
          <p:cNvPr id="21" name="Text 19"/>
          <p:cNvSpPr txBox="1"/>
          <p:nvPr/>
        </p:nvSpPr>
        <p:spPr>
          <a:xfrm>
            <a:off x="1463040"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22" name="Shape 20"/>
          <p:cNvSpPr/>
          <p:nvPr/>
        </p:nvSpPr>
        <p:spPr>
          <a:xfrm>
            <a:off x="1991106" y="2395728"/>
            <a:ext cx="473202" cy="384048"/>
          </a:xfrm>
          <a:prstGeom prst="roundRect">
            <a:avLst>
              <a:gd name="adj" fmla="val 11905"/>
            </a:avLst>
          </a:prstGeom>
          <a:solidFill>
            <a:srgbClr val="36454F"/>
          </a:solidFill>
          <a:ln/>
        </p:spPr>
      </p:sp>
      <p:sp>
        <p:nvSpPr>
          <p:cNvPr id="23" name="Text 21"/>
          <p:cNvSpPr txBox="1"/>
          <p:nvPr/>
        </p:nvSpPr>
        <p:spPr>
          <a:xfrm>
            <a:off x="1991106"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0</a:t>
            </a:r>
            <a:endParaRPr lang="tr-TR" sz="1400" dirty="0"/>
          </a:p>
        </p:txBody>
      </p:sp>
      <p:sp>
        <p:nvSpPr>
          <p:cNvPr id="24" name="Shape 22"/>
          <p:cNvSpPr/>
          <p:nvPr/>
        </p:nvSpPr>
        <p:spPr>
          <a:xfrm>
            <a:off x="1991106" y="2816352"/>
            <a:ext cx="473202" cy="384048"/>
          </a:xfrm>
          <a:prstGeom prst="roundRect">
            <a:avLst>
              <a:gd name="adj" fmla="val 11905"/>
            </a:avLst>
          </a:prstGeom>
          <a:solidFill>
            <a:srgbClr val="D7E9E6"/>
          </a:solidFill>
          <a:ln/>
        </p:spPr>
      </p:sp>
      <p:sp>
        <p:nvSpPr>
          <p:cNvPr id="25" name="Text 23"/>
          <p:cNvSpPr txBox="1"/>
          <p:nvPr/>
        </p:nvSpPr>
        <p:spPr>
          <a:xfrm>
            <a:off x="1991106"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7</a:t>
            </a:r>
            <a:endParaRPr lang="tr-TR" sz="1400" dirty="0"/>
          </a:p>
        </p:txBody>
      </p:sp>
      <p:sp>
        <p:nvSpPr>
          <p:cNvPr id="26" name="Shape 24"/>
          <p:cNvSpPr/>
          <p:nvPr/>
        </p:nvSpPr>
        <p:spPr>
          <a:xfrm>
            <a:off x="1991106" y="3236976"/>
            <a:ext cx="473202" cy="384048"/>
          </a:xfrm>
          <a:prstGeom prst="roundRect">
            <a:avLst>
              <a:gd name="adj" fmla="val 11905"/>
            </a:avLst>
          </a:prstGeom>
          <a:solidFill>
            <a:srgbClr val="02C39A"/>
          </a:solidFill>
          <a:ln/>
        </p:spPr>
      </p:sp>
      <p:sp>
        <p:nvSpPr>
          <p:cNvPr id="27" name="Text 25"/>
          <p:cNvSpPr txBox="1"/>
          <p:nvPr/>
        </p:nvSpPr>
        <p:spPr>
          <a:xfrm>
            <a:off x="1991106" y="3236976"/>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0</a:t>
            </a:r>
            <a:endParaRPr lang="tr-TR" sz="1400" dirty="0"/>
          </a:p>
        </p:txBody>
      </p:sp>
      <p:sp>
        <p:nvSpPr>
          <p:cNvPr id="28" name="Shape 26"/>
          <p:cNvSpPr/>
          <p:nvPr/>
        </p:nvSpPr>
        <p:spPr>
          <a:xfrm>
            <a:off x="1991106" y="3657600"/>
            <a:ext cx="473202" cy="384048"/>
          </a:xfrm>
          <a:prstGeom prst="roundRect">
            <a:avLst>
              <a:gd name="adj" fmla="val 11905"/>
            </a:avLst>
          </a:prstGeom>
          <a:solidFill>
            <a:srgbClr val="D7E9E6"/>
          </a:solidFill>
          <a:ln/>
        </p:spPr>
      </p:sp>
      <p:sp>
        <p:nvSpPr>
          <p:cNvPr id="29" name="Text 27"/>
          <p:cNvSpPr txBox="1"/>
          <p:nvPr/>
        </p:nvSpPr>
        <p:spPr>
          <a:xfrm>
            <a:off x="1991106" y="3657600"/>
            <a:ext cx="473202" cy="384048"/>
          </a:xfrm>
          <a:prstGeom prst="rect">
            <a:avLst/>
          </a:prstGeom>
          <a:noFill/>
          <a:ln/>
        </p:spPr>
        <p:txBody>
          <a:bodyPr wrap="square" lIns="38100" tIns="38100" rIns="38100" bIns="38100" rtlCol="0" anchor="ctr"/>
          <a:lstStyle/>
          <a:p>
            <a:pPr algn="ctr" indent="0" marL="0">
              <a:buNone/>
            </a:pPr>
            <a:endParaRPr lang="tr-TR" sz="1400" dirty="0"/>
          </a:p>
        </p:txBody>
      </p:sp>
      <p:sp>
        <p:nvSpPr>
          <p:cNvPr id="30" name="Text 28"/>
          <p:cNvSpPr txBox="1"/>
          <p:nvPr/>
        </p:nvSpPr>
        <p:spPr>
          <a:xfrm>
            <a:off x="1972818"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31" name="Shape 29"/>
          <p:cNvSpPr/>
          <p:nvPr/>
        </p:nvSpPr>
        <p:spPr>
          <a:xfrm>
            <a:off x="2500884" y="2395728"/>
            <a:ext cx="473202" cy="384048"/>
          </a:xfrm>
          <a:prstGeom prst="roundRect">
            <a:avLst>
              <a:gd name="adj" fmla="val 11905"/>
            </a:avLst>
          </a:prstGeom>
          <a:solidFill>
            <a:srgbClr val="36454F"/>
          </a:solidFill>
          <a:ln/>
        </p:spPr>
      </p:sp>
      <p:sp>
        <p:nvSpPr>
          <p:cNvPr id="32" name="Text 30"/>
          <p:cNvSpPr txBox="1"/>
          <p:nvPr/>
        </p:nvSpPr>
        <p:spPr>
          <a:xfrm>
            <a:off x="2500884"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1</a:t>
            </a:r>
            <a:endParaRPr lang="tr-TR" sz="1400" dirty="0"/>
          </a:p>
        </p:txBody>
      </p:sp>
      <p:sp>
        <p:nvSpPr>
          <p:cNvPr id="33" name="Shape 31"/>
          <p:cNvSpPr/>
          <p:nvPr/>
        </p:nvSpPr>
        <p:spPr>
          <a:xfrm>
            <a:off x="2500884" y="2816352"/>
            <a:ext cx="473202" cy="384048"/>
          </a:xfrm>
          <a:prstGeom prst="roundRect">
            <a:avLst>
              <a:gd name="adj" fmla="val 11905"/>
            </a:avLst>
          </a:prstGeom>
          <a:solidFill>
            <a:srgbClr val="D7E9E6"/>
          </a:solidFill>
          <a:ln/>
        </p:spPr>
      </p:sp>
      <p:sp>
        <p:nvSpPr>
          <p:cNvPr id="34" name="Text 32"/>
          <p:cNvSpPr txBox="1"/>
          <p:nvPr/>
        </p:nvSpPr>
        <p:spPr>
          <a:xfrm>
            <a:off x="2500884"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7</a:t>
            </a:r>
            <a:endParaRPr lang="tr-TR" sz="1400" dirty="0"/>
          </a:p>
        </p:txBody>
      </p:sp>
      <p:sp>
        <p:nvSpPr>
          <p:cNvPr id="35" name="Shape 33"/>
          <p:cNvSpPr/>
          <p:nvPr/>
        </p:nvSpPr>
        <p:spPr>
          <a:xfrm>
            <a:off x="2500884" y="3236976"/>
            <a:ext cx="473202" cy="384048"/>
          </a:xfrm>
          <a:prstGeom prst="roundRect">
            <a:avLst>
              <a:gd name="adj" fmla="val 11905"/>
            </a:avLst>
          </a:prstGeom>
          <a:solidFill>
            <a:srgbClr val="D7E9E6"/>
          </a:solidFill>
          <a:ln/>
        </p:spPr>
      </p:sp>
      <p:sp>
        <p:nvSpPr>
          <p:cNvPr id="36" name="Text 34"/>
          <p:cNvSpPr txBox="1"/>
          <p:nvPr/>
        </p:nvSpPr>
        <p:spPr>
          <a:xfrm>
            <a:off x="2500884"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0</a:t>
            </a:r>
            <a:endParaRPr lang="tr-TR" sz="1400" dirty="0"/>
          </a:p>
        </p:txBody>
      </p:sp>
      <p:sp>
        <p:nvSpPr>
          <p:cNvPr id="37" name="Shape 35"/>
          <p:cNvSpPr/>
          <p:nvPr/>
        </p:nvSpPr>
        <p:spPr>
          <a:xfrm>
            <a:off x="2500884" y="3657600"/>
            <a:ext cx="473202" cy="384048"/>
          </a:xfrm>
          <a:prstGeom prst="roundRect">
            <a:avLst>
              <a:gd name="adj" fmla="val 11905"/>
            </a:avLst>
          </a:prstGeom>
          <a:solidFill>
            <a:srgbClr val="02C39A"/>
          </a:solidFill>
          <a:ln/>
        </p:spPr>
      </p:sp>
      <p:sp>
        <p:nvSpPr>
          <p:cNvPr id="38" name="Text 36"/>
          <p:cNvSpPr txBox="1"/>
          <p:nvPr/>
        </p:nvSpPr>
        <p:spPr>
          <a:xfrm>
            <a:off x="2500884" y="3657600"/>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1</a:t>
            </a:r>
            <a:endParaRPr lang="tr-TR" sz="1400" dirty="0"/>
          </a:p>
        </p:txBody>
      </p:sp>
      <p:sp>
        <p:nvSpPr>
          <p:cNvPr id="39" name="Text 37"/>
          <p:cNvSpPr txBox="1"/>
          <p:nvPr/>
        </p:nvSpPr>
        <p:spPr>
          <a:xfrm>
            <a:off x="2482596"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40" name="Shape 38"/>
          <p:cNvSpPr/>
          <p:nvPr/>
        </p:nvSpPr>
        <p:spPr>
          <a:xfrm>
            <a:off x="3010662" y="2395728"/>
            <a:ext cx="473202" cy="384048"/>
          </a:xfrm>
          <a:prstGeom prst="roundRect">
            <a:avLst>
              <a:gd name="adj" fmla="val 11905"/>
            </a:avLst>
          </a:prstGeom>
          <a:solidFill>
            <a:srgbClr val="36454F"/>
          </a:solidFill>
          <a:ln/>
        </p:spPr>
      </p:sp>
      <p:sp>
        <p:nvSpPr>
          <p:cNvPr id="41" name="Text 39"/>
          <p:cNvSpPr txBox="1"/>
          <p:nvPr/>
        </p:nvSpPr>
        <p:spPr>
          <a:xfrm>
            <a:off x="3010662"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2</a:t>
            </a:r>
            <a:endParaRPr lang="tr-TR" sz="1400" dirty="0"/>
          </a:p>
        </p:txBody>
      </p:sp>
      <p:sp>
        <p:nvSpPr>
          <p:cNvPr id="42" name="Shape 40"/>
          <p:cNvSpPr/>
          <p:nvPr/>
        </p:nvSpPr>
        <p:spPr>
          <a:xfrm>
            <a:off x="3010662" y="2816352"/>
            <a:ext cx="473202" cy="384048"/>
          </a:xfrm>
          <a:prstGeom prst="roundRect">
            <a:avLst>
              <a:gd name="adj" fmla="val 11905"/>
            </a:avLst>
          </a:prstGeom>
          <a:solidFill>
            <a:srgbClr val="02C39A"/>
          </a:solidFill>
          <a:ln/>
        </p:spPr>
      </p:sp>
      <p:sp>
        <p:nvSpPr>
          <p:cNvPr id="43" name="Text 41"/>
          <p:cNvSpPr txBox="1"/>
          <p:nvPr/>
        </p:nvSpPr>
        <p:spPr>
          <a:xfrm>
            <a:off x="3010662" y="2816352"/>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2</a:t>
            </a:r>
            <a:endParaRPr lang="tr-TR" sz="1400" dirty="0"/>
          </a:p>
        </p:txBody>
      </p:sp>
      <p:sp>
        <p:nvSpPr>
          <p:cNvPr id="44" name="Shape 42"/>
          <p:cNvSpPr/>
          <p:nvPr/>
        </p:nvSpPr>
        <p:spPr>
          <a:xfrm>
            <a:off x="3010662" y="3236976"/>
            <a:ext cx="473202" cy="384048"/>
          </a:xfrm>
          <a:prstGeom prst="roundRect">
            <a:avLst>
              <a:gd name="adj" fmla="val 11905"/>
            </a:avLst>
          </a:prstGeom>
          <a:solidFill>
            <a:srgbClr val="D7E9E6"/>
          </a:solidFill>
          <a:ln/>
        </p:spPr>
      </p:sp>
      <p:sp>
        <p:nvSpPr>
          <p:cNvPr id="45" name="Text 43"/>
          <p:cNvSpPr txBox="1"/>
          <p:nvPr/>
        </p:nvSpPr>
        <p:spPr>
          <a:xfrm>
            <a:off x="3010662"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0</a:t>
            </a:r>
            <a:endParaRPr lang="tr-TR" sz="1400" dirty="0"/>
          </a:p>
        </p:txBody>
      </p:sp>
      <p:sp>
        <p:nvSpPr>
          <p:cNvPr id="46" name="Shape 44"/>
          <p:cNvSpPr/>
          <p:nvPr/>
        </p:nvSpPr>
        <p:spPr>
          <a:xfrm>
            <a:off x="3010662" y="3657600"/>
            <a:ext cx="473202" cy="384048"/>
          </a:xfrm>
          <a:prstGeom prst="roundRect">
            <a:avLst>
              <a:gd name="adj" fmla="val 11905"/>
            </a:avLst>
          </a:prstGeom>
          <a:solidFill>
            <a:srgbClr val="D7E9E6"/>
          </a:solidFill>
          <a:ln/>
        </p:spPr>
      </p:sp>
      <p:sp>
        <p:nvSpPr>
          <p:cNvPr id="47" name="Text 45"/>
          <p:cNvSpPr txBox="1"/>
          <p:nvPr/>
        </p:nvSpPr>
        <p:spPr>
          <a:xfrm>
            <a:off x="3010662"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1</a:t>
            </a:r>
            <a:endParaRPr lang="tr-TR" sz="1400" dirty="0"/>
          </a:p>
        </p:txBody>
      </p:sp>
      <p:sp>
        <p:nvSpPr>
          <p:cNvPr id="48" name="Text 46"/>
          <p:cNvSpPr txBox="1"/>
          <p:nvPr/>
        </p:nvSpPr>
        <p:spPr>
          <a:xfrm>
            <a:off x="2992374"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49" name="Shape 47"/>
          <p:cNvSpPr/>
          <p:nvPr/>
        </p:nvSpPr>
        <p:spPr>
          <a:xfrm>
            <a:off x="3520440" y="2395728"/>
            <a:ext cx="473202" cy="384048"/>
          </a:xfrm>
          <a:prstGeom prst="roundRect">
            <a:avLst>
              <a:gd name="adj" fmla="val 11905"/>
            </a:avLst>
          </a:prstGeom>
          <a:solidFill>
            <a:srgbClr val="36454F"/>
          </a:solidFill>
          <a:ln/>
        </p:spPr>
      </p:sp>
      <p:sp>
        <p:nvSpPr>
          <p:cNvPr id="50" name="Text 48"/>
          <p:cNvSpPr txBox="1"/>
          <p:nvPr/>
        </p:nvSpPr>
        <p:spPr>
          <a:xfrm>
            <a:off x="3520440"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0</a:t>
            </a:r>
            <a:endParaRPr lang="tr-TR" sz="1400" dirty="0"/>
          </a:p>
        </p:txBody>
      </p:sp>
      <p:sp>
        <p:nvSpPr>
          <p:cNvPr id="51" name="Shape 49"/>
          <p:cNvSpPr/>
          <p:nvPr/>
        </p:nvSpPr>
        <p:spPr>
          <a:xfrm>
            <a:off x="3520440" y="2816352"/>
            <a:ext cx="473202" cy="384048"/>
          </a:xfrm>
          <a:prstGeom prst="roundRect">
            <a:avLst>
              <a:gd name="adj" fmla="val 11905"/>
            </a:avLst>
          </a:prstGeom>
          <a:solidFill>
            <a:srgbClr val="F2F2F2"/>
          </a:solidFill>
          <a:ln/>
        </p:spPr>
      </p:sp>
      <p:sp>
        <p:nvSpPr>
          <p:cNvPr id="52" name="Text 50"/>
          <p:cNvSpPr txBox="1"/>
          <p:nvPr/>
        </p:nvSpPr>
        <p:spPr>
          <a:xfrm>
            <a:off x="3520440"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2</a:t>
            </a:r>
            <a:endParaRPr lang="tr-TR" sz="1400" dirty="0"/>
          </a:p>
        </p:txBody>
      </p:sp>
      <p:sp>
        <p:nvSpPr>
          <p:cNvPr id="53" name="Shape 51"/>
          <p:cNvSpPr/>
          <p:nvPr/>
        </p:nvSpPr>
        <p:spPr>
          <a:xfrm>
            <a:off x="3520440" y="3236976"/>
            <a:ext cx="473202" cy="384048"/>
          </a:xfrm>
          <a:prstGeom prst="roundRect">
            <a:avLst>
              <a:gd name="adj" fmla="val 11905"/>
            </a:avLst>
          </a:prstGeom>
          <a:solidFill>
            <a:srgbClr val="F2F2F2"/>
          </a:solidFill>
          <a:ln/>
        </p:spPr>
      </p:sp>
      <p:sp>
        <p:nvSpPr>
          <p:cNvPr id="54" name="Text 52"/>
          <p:cNvSpPr txBox="1"/>
          <p:nvPr/>
        </p:nvSpPr>
        <p:spPr>
          <a:xfrm>
            <a:off x="3520440"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0</a:t>
            </a:r>
            <a:endParaRPr lang="tr-TR" sz="1400" dirty="0"/>
          </a:p>
        </p:txBody>
      </p:sp>
      <p:sp>
        <p:nvSpPr>
          <p:cNvPr id="55" name="Shape 53"/>
          <p:cNvSpPr/>
          <p:nvPr/>
        </p:nvSpPr>
        <p:spPr>
          <a:xfrm>
            <a:off x="3520440" y="3657600"/>
            <a:ext cx="473202" cy="384048"/>
          </a:xfrm>
          <a:prstGeom prst="roundRect">
            <a:avLst>
              <a:gd name="adj" fmla="val 11905"/>
            </a:avLst>
          </a:prstGeom>
          <a:solidFill>
            <a:srgbClr val="F2F2F2"/>
          </a:solidFill>
          <a:ln/>
        </p:spPr>
      </p:sp>
      <p:sp>
        <p:nvSpPr>
          <p:cNvPr id="56" name="Text 54"/>
          <p:cNvSpPr txBox="1"/>
          <p:nvPr/>
        </p:nvSpPr>
        <p:spPr>
          <a:xfrm>
            <a:off x="3520440"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1</a:t>
            </a:r>
            <a:endParaRPr lang="tr-TR" sz="1400" dirty="0"/>
          </a:p>
        </p:txBody>
      </p:sp>
      <p:sp>
        <p:nvSpPr>
          <p:cNvPr id="57" name="Text 55"/>
          <p:cNvSpPr txBox="1"/>
          <p:nvPr/>
        </p:nvSpPr>
        <p:spPr>
          <a:xfrm>
            <a:off x="3502152" y="4059936"/>
            <a:ext cx="509778" cy="420624"/>
          </a:xfrm>
          <a:prstGeom prst="rect">
            <a:avLst/>
          </a:prstGeom>
          <a:noFill/>
          <a:ln/>
        </p:spPr>
        <p:txBody>
          <a:bodyPr wrap="square" lIns="0" tIns="0" rIns="0" bIns="0" rtlCol="0" anchor="ctr"/>
          <a:lstStyle/>
          <a:p>
            <a:pPr algn="ctr" indent="0" marL="0">
              <a:buNone/>
            </a:pPr>
            <a:endParaRPr lang="tr-TR" sz="1400" dirty="0"/>
          </a:p>
        </p:txBody>
      </p:sp>
      <p:sp>
        <p:nvSpPr>
          <p:cNvPr id="58" name="Shape 56"/>
          <p:cNvSpPr/>
          <p:nvPr/>
        </p:nvSpPr>
        <p:spPr>
          <a:xfrm>
            <a:off x="4030218" y="2395728"/>
            <a:ext cx="473202" cy="384048"/>
          </a:xfrm>
          <a:prstGeom prst="roundRect">
            <a:avLst>
              <a:gd name="adj" fmla="val 11905"/>
            </a:avLst>
          </a:prstGeom>
          <a:solidFill>
            <a:srgbClr val="36454F"/>
          </a:solidFill>
          <a:ln/>
        </p:spPr>
      </p:sp>
      <p:sp>
        <p:nvSpPr>
          <p:cNvPr id="59" name="Text 57"/>
          <p:cNvSpPr txBox="1"/>
          <p:nvPr/>
        </p:nvSpPr>
        <p:spPr>
          <a:xfrm>
            <a:off x="4030218"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3</a:t>
            </a:r>
            <a:endParaRPr lang="tr-TR" sz="1400" dirty="0"/>
          </a:p>
        </p:txBody>
      </p:sp>
      <p:sp>
        <p:nvSpPr>
          <p:cNvPr id="60" name="Shape 58"/>
          <p:cNvSpPr/>
          <p:nvPr/>
        </p:nvSpPr>
        <p:spPr>
          <a:xfrm>
            <a:off x="4030218" y="2816352"/>
            <a:ext cx="473202" cy="384048"/>
          </a:xfrm>
          <a:prstGeom prst="roundRect">
            <a:avLst>
              <a:gd name="adj" fmla="val 11905"/>
            </a:avLst>
          </a:prstGeom>
          <a:solidFill>
            <a:srgbClr val="D7E9E6"/>
          </a:solidFill>
          <a:ln/>
        </p:spPr>
      </p:sp>
      <p:sp>
        <p:nvSpPr>
          <p:cNvPr id="61" name="Text 59"/>
          <p:cNvSpPr txBox="1"/>
          <p:nvPr/>
        </p:nvSpPr>
        <p:spPr>
          <a:xfrm>
            <a:off x="4030218"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2</a:t>
            </a:r>
            <a:endParaRPr lang="tr-TR" sz="1400" dirty="0"/>
          </a:p>
        </p:txBody>
      </p:sp>
      <p:sp>
        <p:nvSpPr>
          <p:cNvPr id="62" name="Shape 60"/>
          <p:cNvSpPr/>
          <p:nvPr/>
        </p:nvSpPr>
        <p:spPr>
          <a:xfrm>
            <a:off x="4030218" y="3236976"/>
            <a:ext cx="473202" cy="384048"/>
          </a:xfrm>
          <a:prstGeom prst="roundRect">
            <a:avLst>
              <a:gd name="adj" fmla="val 11905"/>
            </a:avLst>
          </a:prstGeom>
          <a:solidFill>
            <a:srgbClr val="D7E9E6"/>
          </a:solidFill>
          <a:ln/>
        </p:spPr>
      </p:sp>
      <p:sp>
        <p:nvSpPr>
          <p:cNvPr id="63" name="Text 61"/>
          <p:cNvSpPr txBox="1"/>
          <p:nvPr/>
        </p:nvSpPr>
        <p:spPr>
          <a:xfrm>
            <a:off x="4030218"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0</a:t>
            </a:r>
            <a:endParaRPr lang="tr-TR" sz="1400" dirty="0"/>
          </a:p>
        </p:txBody>
      </p:sp>
      <p:sp>
        <p:nvSpPr>
          <p:cNvPr id="64" name="Shape 62"/>
          <p:cNvSpPr/>
          <p:nvPr/>
        </p:nvSpPr>
        <p:spPr>
          <a:xfrm>
            <a:off x="4030218" y="3657600"/>
            <a:ext cx="473202" cy="384048"/>
          </a:xfrm>
          <a:prstGeom prst="roundRect">
            <a:avLst>
              <a:gd name="adj" fmla="val 11905"/>
            </a:avLst>
          </a:prstGeom>
          <a:solidFill>
            <a:srgbClr val="02C39A"/>
          </a:solidFill>
          <a:ln/>
        </p:spPr>
      </p:sp>
      <p:sp>
        <p:nvSpPr>
          <p:cNvPr id="65" name="Text 63"/>
          <p:cNvSpPr txBox="1"/>
          <p:nvPr/>
        </p:nvSpPr>
        <p:spPr>
          <a:xfrm>
            <a:off x="4030218" y="3657600"/>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3</a:t>
            </a:r>
            <a:endParaRPr lang="tr-TR" sz="1400" dirty="0"/>
          </a:p>
        </p:txBody>
      </p:sp>
      <p:sp>
        <p:nvSpPr>
          <p:cNvPr id="66" name="Text 64"/>
          <p:cNvSpPr txBox="1"/>
          <p:nvPr/>
        </p:nvSpPr>
        <p:spPr>
          <a:xfrm>
            <a:off x="4011930"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67" name="Shape 65"/>
          <p:cNvSpPr/>
          <p:nvPr/>
        </p:nvSpPr>
        <p:spPr>
          <a:xfrm>
            <a:off x="4539996" y="2395728"/>
            <a:ext cx="473202" cy="384048"/>
          </a:xfrm>
          <a:prstGeom prst="roundRect">
            <a:avLst>
              <a:gd name="adj" fmla="val 11905"/>
            </a:avLst>
          </a:prstGeom>
          <a:solidFill>
            <a:srgbClr val="36454F"/>
          </a:solidFill>
          <a:ln/>
        </p:spPr>
      </p:sp>
      <p:sp>
        <p:nvSpPr>
          <p:cNvPr id="68" name="Text 66"/>
          <p:cNvSpPr txBox="1"/>
          <p:nvPr/>
        </p:nvSpPr>
        <p:spPr>
          <a:xfrm>
            <a:off x="4539996"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0</a:t>
            </a:r>
            <a:endParaRPr lang="tr-TR" sz="1400" dirty="0"/>
          </a:p>
        </p:txBody>
      </p:sp>
      <p:sp>
        <p:nvSpPr>
          <p:cNvPr id="69" name="Shape 67"/>
          <p:cNvSpPr/>
          <p:nvPr/>
        </p:nvSpPr>
        <p:spPr>
          <a:xfrm>
            <a:off x="4539996" y="2816352"/>
            <a:ext cx="473202" cy="384048"/>
          </a:xfrm>
          <a:prstGeom prst="roundRect">
            <a:avLst>
              <a:gd name="adj" fmla="val 11905"/>
            </a:avLst>
          </a:prstGeom>
          <a:solidFill>
            <a:srgbClr val="F2F2F2"/>
          </a:solidFill>
          <a:ln/>
        </p:spPr>
      </p:sp>
      <p:sp>
        <p:nvSpPr>
          <p:cNvPr id="70" name="Text 68"/>
          <p:cNvSpPr txBox="1"/>
          <p:nvPr/>
        </p:nvSpPr>
        <p:spPr>
          <a:xfrm>
            <a:off x="4539996"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2</a:t>
            </a:r>
            <a:endParaRPr lang="tr-TR" sz="1400" dirty="0"/>
          </a:p>
        </p:txBody>
      </p:sp>
      <p:sp>
        <p:nvSpPr>
          <p:cNvPr id="71" name="Shape 69"/>
          <p:cNvSpPr/>
          <p:nvPr/>
        </p:nvSpPr>
        <p:spPr>
          <a:xfrm>
            <a:off x="4539996" y="3236976"/>
            <a:ext cx="473202" cy="384048"/>
          </a:xfrm>
          <a:prstGeom prst="roundRect">
            <a:avLst>
              <a:gd name="adj" fmla="val 11905"/>
            </a:avLst>
          </a:prstGeom>
          <a:solidFill>
            <a:srgbClr val="F2F2F2"/>
          </a:solidFill>
          <a:ln/>
        </p:spPr>
      </p:sp>
      <p:sp>
        <p:nvSpPr>
          <p:cNvPr id="72" name="Text 70"/>
          <p:cNvSpPr txBox="1"/>
          <p:nvPr/>
        </p:nvSpPr>
        <p:spPr>
          <a:xfrm>
            <a:off x="4539996"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0</a:t>
            </a:r>
            <a:endParaRPr lang="tr-TR" sz="1400" dirty="0"/>
          </a:p>
        </p:txBody>
      </p:sp>
      <p:sp>
        <p:nvSpPr>
          <p:cNvPr id="73" name="Shape 71"/>
          <p:cNvSpPr/>
          <p:nvPr/>
        </p:nvSpPr>
        <p:spPr>
          <a:xfrm>
            <a:off x="4539996" y="3657600"/>
            <a:ext cx="473202" cy="384048"/>
          </a:xfrm>
          <a:prstGeom prst="roundRect">
            <a:avLst>
              <a:gd name="adj" fmla="val 11905"/>
            </a:avLst>
          </a:prstGeom>
          <a:solidFill>
            <a:srgbClr val="F2F2F2"/>
          </a:solidFill>
          <a:ln/>
        </p:spPr>
      </p:sp>
      <p:sp>
        <p:nvSpPr>
          <p:cNvPr id="74" name="Text 72"/>
          <p:cNvSpPr txBox="1"/>
          <p:nvPr/>
        </p:nvSpPr>
        <p:spPr>
          <a:xfrm>
            <a:off x="4539996"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3</a:t>
            </a:r>
            <a:endParaRPr lang="tr-TR" sz="1400" dirty="0"/>
          </a:p>
        </p:txBody>
      </p:sp>
      <p:sp>
        <p:nvSpPr>
          <p:cNvPr id="75" name="Text 73"/>
          <p:cNvSpPr txBox="1"/>
          <p:nvPr/>
        </p:nvSpPr>
        <p:spPr>
          <a:xfrm>
            <a:off x="4521708" y="4059936"/>
            <a:ext cx="509778" cy="420624"/>
          </a:xfrm>
          <a:prstGeom prst="rect">
            <a:avLst/>
          </a:prstGeom>
          <a:noFill/>
          <a:ln/>
        </p:spPr>
        <p:txBody>
          <a:bodyPr wrap="square" lIns="0" tIns="0" rIns="0" bIns="0" rtlCol="0" anchor="ctr"/>
          <a:lstStyle/>
          <a:p>
            <a:pPr algn="ctr" indent="0" marL="0">
              <a:buNone/>
            </a:pPr>
            <a:endParaRPr lang="tr-TR" sz="1400" dirty="0"/>
          </a:p>
        </p:txBody>
      </p:sp>
      <p:sp>
        <p:nvSpPr>
          <p:cNvPr id="76" name="Shape 74"/>
          <p:cNvSpPr/>
          <p:nvPr/>
        </p:nvSpPr>
        <p:spPr>
          <a:xfrm>
            <a:off x="5049774" y="2395728"/>
            <a:ext cx="473202" cy="384048"/>
          </a:xfrm>
          <a:prstGeom prst="roundRect">
            <a:avLst>
              <a:gd name="adj" fmla="val 11905"/>
            </a:avLst>
          </a:prstGeom>
          <a:solidFill>
            <a:srgbClr val="36454F"/>
          </a:solidFill>
          <a:ln/>
        </p:spPr>
      </p:sp>
      <p:sp>
        <p:nvSpPr>
          <p:cNvPr id="77" name="Text 75"/>
          <p:cNvSpPr txBox="1"/>
          <p:nvPr/>
        </p:nvSpPr>
        <p:spPr>
          <a:xfrm>
            <a:off x="5049774"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4</a:t>
            </a:r>
            <a:endParaRPr lang="tr-TR" sz="1400" dirty="0"/>
          </a:p>
        </p:txBody>
      </p:sp>
      <p:sp>
        <p:nvSpPr>
          <p:cNvPr id="78" name="Shape 76"/>
          <p:cNvSpPr/>
          <p:nvPr/>
        </p:nvSpPr>
        <p:spPr>
          <a:xfrm>
            <a:off x="5049774" y="2816352"/>
            <a:ext cx="473202" cy="384048"/>
          </a:xfrm>
          <a:prstGeom prst="roundRect">
            <a:avLst>
              <a:gd name="adj" fmla="val 11905"/>
            </a:avLst>
          </a:prstGeom>
          <a:solidFill>
            <a:srgbClr val="D7E9E6"/>
          </a:solidFill>
          <a:ln/>
        </p:spPr>
      </p:sp>
      <p:sp>
        <p:nvSpPr>
          <p:cNvPr id="79" name="Text 77"/>
          <p:cNvSpPr txBox="1"/>
          <p:nvPr/>
        </p:nvSpPr>
        <p:spPr>
          <a:xfrm>
            <a:off x="5049774"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2</a:t>
            </a:r>
            <a:endParaRPr lang="tr-TR" sz="1400" dirty="0"/>
          </a:p>
        </p:txBody>
      </p:sp>
      <p:sp>
        <p:nvSpPr>
          <p:cNvPr id="80" name="Shape 78"/>
          <p:cNvSpPr/>
          <p:nvPr/>
        </p:nvSpPr>
        <p:spPr>
          <a:xfrm>
            <a:off x="5049774" y="3236976"/>
            <a:ext cx="473202" cy="384048"/>
          </a:xfrm>
          <a:prstGeom prst="roundRect">
            <a:avLst>
              <a:gd name="adj" fmla="val 11905"/>
            </a:avLst>
          </a:prstGeom>
          <a:solidFill>
            <a:srgbClr val="02C39A"/>
          </a:solidFill>
          <a:ln/>
        </p:spPr>
      </p:sp>
      <p:sp>
        <p:nvSpPr>
          <p:cNvPr id="81" name="Text 79"/>
          <p:cNvSpPr txBox="1"/>
          <p:nvPr/>
        </p:nvSpPr>
        <p:spPr>
          <a:xfrm>
            <a:off x="5049774" y="3236976"/>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4</a:t>
            </a:r>
            <a:endParaRPr lang="tr-TR" sz="1400" dirty="0"/>
          </a:p>
        </p:txBody>
      </p:sp>
      <p:sp>
        <p:nvSpPr>
          <p:cNvPr id="82" name="Shape 80"/>
          <p:cNvSpPr/>
          <p:nvPr/>
        </p:nvSpPr>
        <p:spPr>
          <a:xfrm>
            <a:off x="5049774" y="3657600"/>
            <a:ext cx="473202" cy="384048"/>
          </a:xfrm>
          <a:prstGeom prst="roundRect">
            <a:avLst>
              <a:gd name="adj" fmla="val 11905"/>
            </a:avLst>
          </a:prstGeom>
          <a:solidFill>
            <a:srgbClr val="D7E9E6"/>
          </a:solidFill>
          <a:ln/>
        </p:spPr>
      </p:sp>
      <p:sp>
        <p:nvSpPr>
          <p:cNvPr id="83" name="Text 81"/>
          <p:cNvSpPr txBox="1"/>
          <p:nvPr/>
        </p:nvSpPr>
        <p:spPr>
          <a:xfrm>
            <a:off x="5049774"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3</a:t>
            </a:r>
            <a:endParaRPr lang="tr-TR" sz="1400" dirty="0"/>
          </a:p>
        </p:txBody>
      </p:sp>
      <p:sp>
        <p:nvSpPr>
          <p:cNvPr id="84" name="Text 82"/>
          <p:cNvSpPr txBox="1"/>
          <p:nvPr/>
        </p:nvSpPr>
        <p:spPr>
          <a:xfrm>
            <a:off x="5031486"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85" name="Shape 83"/>
          <p:cNvSpPr/>
          <p:nvPr/>
        </p:nvSpPr>
        <p:spPr>
          <a:xfrm>
            <a:off x="5559552" y="2395728"/>
            <a:ext cx="473202" cy="384048"/>
          </a:xfrm>
          <a:prstGeom prst="roundRect">
            <a:avLst>
              <a:gd name="adj" fmla="val 11905"/>
            </a:avLst>
          </a:prstGeom>
          <a:solidFill>
            <a:srgbClr val="36454F"/>
          </a:solidFill>
          <a:ln/>
        </p:spPr>
      </p:sp>
      <p:sp>
        <p:nvSpPr>
          <p:cNvPr id="86" name="Text 84"/>
          <p:cNvSpPr txBox="1"/>
          <p:nvPr/>
        </p:nvSpPr>
        <p:spPr>
          <a:xfrm>
            <a:off x="5559552"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2</a:t>
            </a:r>
            <a:endParaRPr lang="tr-TR" sz="1400" dirty="0"/>
          </a:p>
        </p:txBody>
      </p:sp>
      <p:sp>
        <p:nvSpPr>
          <p:cNvPr id="87" name="Shape 85"/>
          <p:cNvSpPr/>
          <p:nvPr/>
        </p:nvSpPr>
        <p:spPr>
          <a:xfrm>
            <a:off x="5559552" y="2816352"/>
            <a:ext cx="473202" cy="384048"/>
          </a:xfrm>
          <a:prstGeom prst="roundRect">
            <a:avLst>
              <a:gd name="adj" fmla="val 11905"/>
            </a:avLst>
          </a:prstGeom>
          <a:solidFill>
            <a:srgbClr val="F2F2F2"/>
          </a:solidFill>
          <a:ln/>
        </p:spPr>
      </p:sp>
      <p:sp>
        <p:nvSpPr>
          <p:cNvPr id="88" name="Text 86"/>
          <p:cNvSpPr txBox="1"/>
          <p:nvPr/>
        </p:nvSpPr>
        <p:spPr>
          <a:xfrm>
            <a:off x="5559552"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2</a:t>
            </a:r>
            <a:endParaRPr lang="tr-TR" sz="1400" dirty="0"/>
          </a:p>
        </p:txBody>
      </p:sp>
      <p:sp>
        <p:nvSpPr>
          <p:cNvPr id="89" name="Shape 87"/>
          <p:cNvSpPr/>
          <p:nvPr/>
        </p:nvSpPr>
        <p:spPr>
          <a:xfrm>
            <a:off x="5559552" y="3236976"/>
            <a:ext cx="473202" cy="384048"/>
          </a:xfrm>
          <a:prstGeom prst="roundRect">
            <a:avLst>
              <a:gd name="adj" fmla="val 11905"/>
            </a:avLst>
          </a:prstGeom>
          <a:solidFill>
            <a:srgbClr val="F2F2F2"/>
          </a:solidFill>
          <a:ln/>
        </p:spPr>
      </p:sp>
      <p:sp>
        <p:nvSpPr>
          <p:cNvPr id="90" name="Text 88"/>
          <p:cNvSpPr txBox="1"/>
          <p:nvPr/>
        </p:nvSpPr>
        <p:spPr>
          <a:xfrm>
            <a:off x="5559552"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4</a:t>
            </a:r>
            <a:endParaRPr lang="tr-TR" sz="1400" dirty="0"/>
          </a:p>
        </p:txBody>
      </p:sp>
      <p:sp>
        <p:nvSpPr>
          <p:cNvPr id="91" name="Shape 89"/>
          <p:cNvSpPr/>
          <p:nvPr/>
        </p:nvSpPr>
        <p:spPr>
          <a:xfrm>
            <a:off x="5559552" y="3657600"/>
            <a:ext cx="473202" cy="384048"/>
          </a:xfrm>
          <a:prstGeom prst="roundRect">
            <a:avLst>
              <a:gd name="adj" fmla="val 11905"/>
            </a:avLst>
          </a:prstGeom>
          <a:solidFill>
            <a:srgbClr val="F2F2F2"/>
          </a:solidFill>
          <a:ln/>
        </p:spPr>
      </p:sp>
      <p:sp>
        <p:nvSpPr>
          <p:cNvPr id="92" name="Text 90"/>
          <p:cNvSpPr txBox="1"/>
          <p:nvPr/>
        </p:nvSpPr>
        <p:spPr>
          <a:xfrm>
            <a:off x="5559552"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3</a:t>
            </a:r>
            <a:endParaRPr lang="tr-TR" sz="1400" dirty="0"/>
          </a:p>
        </p:txBody>
      </p:sp>
      <p:sp>
        <p:nvSpPr>
          <p:cNvPr id="93" name="Text 91"/>
          <p:cNvSpPr txBox="1"/>
          <p:nvPr/>
        </p:nvSpPr>
        <p:spPr>
          <a:xfrm>
            <a:off x="5541264" y="4059936"/>
            <a:ext cx="509778" cy="420624"/>
          </a:xfrm>
          <a:prstGeom prst="rect">
            <a:avLst/>
          </a:prstGeom>
          <a:noFill/>
          <a:ln/>
        </p:spPr>
        <p:txBody>
          <a:bodyPr wrap="square" lIns="0" tIns="0" rIns="0" bIns="0" rtlCol="0" anchor="ctr"/>
          <a:lstStyle/>
          <a:p>
            <a:pPr algn="ctr" indent="0" marL="0">
              <a:buNone/>
            </a:pPr>
            <a:endParaRPr lang="tr-TR" sz="1400" dirty="0"/>
          </a:p>
        </p:txBody>
      </p:sp>
      <p:sp>
        <p:nvSpPr>
          <p:cNvPr id="94" name="Shape 92"/>
          <p:cNvSpPr/>
          <p:nvPr/>
        </p:nvSpPr>
        <p:spPr>
          <a:xfrm>
            <a:off x="6069330" y="2395728"/>
            <a:ext cx="473202" cy="384048"/>
          </a:xfrm>
          <a:prstGeom prst="roundRect">
            <a:avLst>
              <a:gd name="adj" fmla="val 11905"/>
            </a:avLst>
          </a:prstGeom>
          <a:solidFill>
            <a:srgbClr val="36454F"/>
          </a:solidFill>
          <a:ln/>
        </p:spPr>
      </p:sp>
      <p:sp>
        <p:nvSpPr>
          <p:cNvPr id="95" name="Text 93"/>
          <p:cNvSpPr txBox="1"/>
          <p:nvPr/>
        </p:nvSpPr>
        <p:spPr>
          <a:xfrm>
            <a:off x="6069330"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3</a:t>
            </a:r>
            <a:endParaRPr lang="tr-TR" sz="1400" dirty="0"/>
          </a:p>
        </p:txBody>
      </p:sp>
      <p:sp>
        <p:nvSpPr>
          <p:cNvPr id="96" name="Shape 94"/>
          <p:cNvSpPr/>
          <p:nvPr/>
        </p:nvSpPr>
        <p:spPr>
          <a:xfrm>
            <a:off x="6069330" y="2816352"/>
            <a:ext cx="473202" cy="384048"/>
          </a:xfrm>
          <a:prstGeom prst="roundRect">
            <a:avLst>
              <a:gd name="adj" fmla="val 11905"/>
            </a:avLst>
          </a:prstGeom>
          <a:solidFill>
            <a:srgbClr val="F2F2F2"/>
          </a:solidFill>
          <a:ln/>
        </p:spPr>
      </p:sp>
      <p:sp>
        <p:nvSpPr>
          <p:cNvPr id="97" name="Text 95"/>
          <p:cNvSpPr txBox="1"/>
          <p:nvPr/>
        </p:nvSpPr>
        <p:spPr>
          <a:xfrm>
            <a:off x="6069330"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2</a:t>
            </a:r>
            <a:endParaRPr lang="tr-TR" sz="1400" dirty="0"/>
          </a:p>
        </p:txBody>
      </p:sp>
      <p:sp>
        <p:nvSpPr>
          <p:cNvPr id="98" name="Shape 96"/>
          <p:cNvSpPr/>
          <p:nvPr/>
        </p:nvSpPr>
        <p:spPr>
          <a:xfrm>
            <a:off x="6069330" y="3236976"/>
            <a:ext cx="473202" cy="384048"/>
          </a:xfrm>
          <a:prstGeom prst="roundRect">
            <a:avLst>
              <a:gd name="adj" fmla="val 11905"/>
            </a:avLst>
          </a:prstGeom>
          <a:solidFill>
            <a:srgbClr val="F2F2F2"/>
          </a:solidFill>
          <a:ln/>
        </p:spPr>
      </p:sp>
      <p:sp>
        <p:nvSpPr>
          <p:cNvPr id="99" name="Text 97"/>
          <p:cNvSpPr txBox="1"/>
          <p:nvPr/>
        </p:nvSpPr>
        <p:spPr>
          <a:xfrm>
            <a:off x="6069330"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4</a:t>
            </a:r>
            <a:endParaRPr lang="tr-TR" sz="1400" dirty="0"/>
          </a:p>
        </p:txBody>
      </p:sp>
      <p:sp>
        <p:nvSpPr>
          <p:cNvPr id="100" name="Shape 98"/>
          <p:cNvSpPr/>
          <p:nvPr/>
        </p:nvSpPr>
        <p:spPr>
          <a:xfrm>
            <a:off x="6069330" y="3657600"/>
            <a:ext cx="473202" cy="384048"/>
          </a:xfrm>
          <a:prstGeom prst="roundRect">
            <a:avLst>
              <a:gd name="adj" fmla="val 11905"/>
            </a:avLst>
          </a:prstGeom>
          <a:solidFill>
            <a:srgbClr val="F2F2F2"/>
          </a:solidFill>
          <a:ln/>
        </p:spPr>
      </p:sp>
      <p:sp>
        <p:nvSpPr>
          <p:cNvPr id="101" name="Text 99"/>
          <p:cNvSpPr txBox="1"/>
          <p:nvPr/>
        </p:nvSpPr>
        <p:spPr>
          <a:xfrm>
            <a:off x="6069330"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3</a:t>
            </a:r>
            <a:endParaRPr lang="tr-TR" sz="1400" dirty="0"/>
          </a:p>
        </p:txBody>
      </p:sp>
      <p:sp>
        <p:nvSpPr>
          <p:cNvPr id="102" name="Text 100"/>
          <p:cNvSpPr txBox="1"/>
          <p:nvPr/>
        </p:nvSpPr>
        <p:spPr>
          <a:xfrm>
            <a:off x="6051042" y="4059936"/>
            <a:ext cx="509778" cy="420624"/>
          </a:xfrm>
          <a:prstGeom prst="rect">
            <a:avLst/>
          </a:prstGeom>
          <a:noFill/>
          <a:ln/>
        </p:spPr>
        <p:txBody>
          <a:bodyPr wrap="square" lIns="0" tIns="0" rIns="0" bIns="0" rtlCol="0" anchor="ctr"/>
          <a:lstStyle/>
          <a:p>
            <a:pPr algn="ctr" indent="0" marL="0">
              <a:buNone/>
            </a:pPr>
            <a:endParaRPr lang="tr-TR" sz="1400" dirty="0"/>
          </a:p>
        </p:txBody>
      </p:sp>
      <p:sp>
        <p:nvSpPr>
          <p:cNvPr id="103" name="Shape 101"/>
          <p:cNvSpPr/>
          <p:nvPr/>
        </p:nvSpPr>
        <p:spPr>
          <a:xfrm>
            <a:off x="6579108" y="2395728"/>
            <a:ext cx="473202" cy="384048"/>
          </a:xfrm>
          <a:prstGeom prst="roundRect">
            <a:avLst>
              <a:gd name="adj" fmla="val 11905"/>
            </a:avLst>
          </a:prstGeom>
          <a:solidFill>
            <a:srgbClr val="36454F"/>
          </a:solidFill>
          <a:ln/>
        </p:spPr>
      </p:sp>
      <p:sp>
        <p:nvSpPr>
          <p:cNvPr id="104" name="Text 102"/>
          <p:cNvSpPr txBox="1"/>
          <p:nvPr/>
        </p:nvSpPr>
        <p:spPr>
          <a:xfrm>
            <a:off x="6579108"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0</a:t>
            </a:r>
            <a:endParaRPr lang="tr-TR" sz="1400" dirty="0"/>
          </a:p>
        </p:txBody>
      </p:sp>
      <p:sp>
        <p:nvSpPr>
          <p:cNvPr id="105" name="Shape 103"/>
          <p:cNvSpPr/>
          <p:nvPr/>
        </p:nvSpPr>
        <p:spPr>
          <a:xfrm>
            <a:off x="6579108" y="2816352"/>
            <a:ext cx="473202" cy="384048"/>
          </a:xfrm>
          <a:prstGeom prst="roundRect">
            <a:avLst>
              <a:gd name="adj" fmla="val 11905"/>
            </a:avLst>
          </a:prstGeom>
          <a:solidFill>
            <a:srgbClr val="D7E9E6"/>
          </a:solidFill>
          <a:ln/>
        </p:spPr>
      </p:sp>
      <p:sp>
        <p:nvSpPr>
          <p:cNvPr id="106" name="Text 104"/>
          <p:cNvSpPr txBox="1"/>
          <p:nvPr/>
        </p:nvSpPr>
        <p:spPr>
          <a:xfrm>
            <a:off x="6579108"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2</a:t>
            </a:r>
            <a:endParaRPr lang="tr-TR" sz="1400" dirty="0"/>
          </a:p>
        </p:txBody>
      </p:sp>
      <p:sp>
        <p:nvSpPr>
          <p:cNvPr id="107" name="Shape 105"/>
          <p:cNvSpPr/>
          <p:nvPr/>
        </p:nvSpPr>
        <p:spPr>
          <a:xfrm>
            <a:off x="6579108" y="3236976"/>
            <a:ext cx="473202" cy="384048"/>
          </a:xfrm>
          <a:prstGeom prst="roundRect">
            <a:avLst>
              <a:gd name="adj" fmla="val 11905"/>
            </a:avLst>
          </a:prstGeom>
          <a:solidFill>
            <a:srgbClr val="02C39A"/>
          </a:solidFill>
          <a:ln/>
        </p:spPr>
      </p:sp>
      <p:sp>
        <p:nvSpPr>
          <p:cNvPr id="108" name="Text 106"/>
          <p:cNvSpPr txBox="1"/>
          <p:nvPr/>
        </p:nvSpPr>
        <p:spPr>
          <a:xfrm>
            <a:off x="6579108" y="3236976"/>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0</a:t>
            </a:r>
            <a:endParaRPr lang="tr-TR" sz="1400" dirty="0"/>
          </a:p>
        </p:txBody>
      </p:sp>
      <p:sp>
        <p:nvSpPr>
          <p:cNvPr id="109" name="Shape 107"/>
          <p:cNvSpPr/>
          <p:nvPr/>
        </p:nvSpPr>
        <p:spPr>
          <a:xfrm>
            <a:off x="6579108" y="3657600"/>
            <a:ext cx="473202" cy="384048"/>
          </a:xfrm>
          <a:prstGeom prst="roundRect">
            <a:avLst>
              <a:gd name="adj" fmla="val 11905"/>
            </a:avLst>
          </a:prstGeom>
          <a:solidFill>
            <a:srgbClr val="D7E9E6"/>
          </a:solidFill>
          <a:ln/>
        </p:spPr>
      </p:sp>
      <p:sp>
        <p:nvSpPr>
          <p:cNvPr id="110" name="Text 108"/>
          <p:cNvSpPr txBox="1"/>
          <p:nvPr/>
        </p:nvSpPr>
        <p:spPr>
          <a:xfrm>
            <a:off x="6579108"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3</a:t>
            </a:r>
            <a:endParaRPr lang="tr-TR" sz="1400" dirty="0"/>
          </a:p>
        </p:txBody>
      </p:sp>
      <p:sp>
        <p:nvSpPr>
          <p:cNvPr id="111" name="Text 109"/>
          <p:cNvSpPr txBox="1"/>
          <p:nvPr/>
        </p:nvSpPr>
        <p:spPr>
          <a:xfrm>
            <a:off x="6560820"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112" name="Shape 110"/>
          <p:cNvSpPr/>
          <p:nvPr/>
        </p:nvSpPr>
        <p:spPr>
          <a:xfrm>
            <a:off x="7088886" y="2395728"/>
            <a:ext cx="473202" cy="384048"/>
          </a:xfrm>
          <a:prstGeom prst="roundRect">
            <a:avLst>
              <a:gd name="adj" fmla="val 11905"/>
            </a:avLst>
          </a:prstGeom>
          <a:solidFill>
            <a:srgbClr val="36454F"/>
          </a:solidFill>
          <a:ln/>
        </p:spPr>
      </p:sp>
      <p:sp>
        <p:nvSpPr>
          <p:cNvPr id="113" name="Text 111"/>
          <p:cNvSpPr txBox="1"/>
          <p:nvPr/>
        </p:nvSpPr>
        <p:spPr>
          <a:xfrm>
            <a:off x="7088886"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3</a:t>
            </a:r>
            <a:endParaRPr lang="tr-TR" sz="1400" dirty="0"/>
          </a:p>
        </p:txBody>
      </p:sp>
      <p:sp>
        <p:nvSpPr>
          <p:cNvPr id="114" name="Shape 112"/>
          <p:cNvSpPr/>
          <p:nvPr/>
        </p:nvSpPr>
        <p:spPr>
          <a:xfrm>
            <a:off x="7088886" y="2816352"/>
            <a:ext cx="473202" cy="384048"/>
          </a:xfrm>
          <a:prstGeom prst="roundRect">
            <a:avLst>
              <a:gd name="adj" fmla="val 11905"/>
            </a:avLst>
          </a:prstGeom>
          <a:solidFill>
            <a:srgbClr val="F2F2F2"/>
          </a:solidFill>
          <a:ln/>
        </p:spPr>
      </p:sp>
      <p:sp>
        <p:nvSpPr>
          <p:cNvPr id="115" name="Text 113"/>
          <p:cNvSpPr txBox="1"/>
          <p:nvPr/>
        </p:nvSpPr>
        <p:spPr>
          <a:xfrm>
            <a:off x="7088886"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2</a:t>
            </a:r>
            <a:endParaRPr lang="tr-TR" sz="1400" dirty="0"/>
          </a:p>
        </p:txBody>
      </p:sp>
      <p:sp>
        <p:nvSpPr>
          <p:cNvPr id="116" name="Shape 114"/>
          <p:cNvSpPr/>
          <p:nvPr/>
        </p:nvSpPr>
        <p:spPr>
          <a:xfrm>
            <a:off x="7088886" y="3236976"/>
            <a:ext cx="473202" cy="384048"/>
          </a:xfrm>
          <a:prstGeom prst="roundRect">
            <a:avLst>
              <a:gd name="adj" fmla="val 11905"/>
            </a:avLst>
          </a:prstGeom>
          <a:solidFill>
            <a:srgbClr val="F2F2F2"/>
          </a:solidFill>
          <a:ln/>
        </p:spPr>
      </p:sp>
      <p:sp>
        <p:nvSpPr>
          <p:cNvPr id="117" name="Text 115"/>
          <p:cNvSpPr txBox="1"/>
          <p:nvPr/>
        </p:nvSpPr>
        <p:spPr>
          <a:xfrm>
            <a:off x="7088886"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0</a:t>
            </a:r>
            <a:endParaRPr lang="tr-TR" sz="1400" dirty="0"/>
          </a:p>
        </p:txBody>
      </p:sp>
      <p:sp>
        <p:nvSpPr>
          <p:cNvPr id="118" name="Shape 116"/>
          <p:cNvSpPr/>
          <p:nvPr/>
        </p:nvSpPr>
        <p:spPr>
          <a:xfrm>
            <a:off x="7088886" y="3657600"/>
            <a:ext cx="473202" cy="384048"/>
          </a:xfrm>
          <a:prstGeom prst="roundRect">
            <a:avLst>
              <a:gd name="adj" fmla="val 11905"/>
            </a:avLst>
          </a:prstGeom>
          <a:solidFill>
            <a:srgbClr val="F2F2F2"/>
          </a:solidFill>
          <a:ln/>
        </p:spPr>
      </p:sp>
      <p:sp>
        <p:nvSpPr>
          <p:cNvPr id="119" name="Text 117"/>
          <p:cNvSpPr txBox="1"/>
          <p:nvPr/>
        </p:nvSpPr>
        <p:spPr>
          <a:xfrm>
            <a:off x="7088886"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3</a:t>
            </a:r>
            <a:endParaRPr lang="tr-TR" sz="1400" dirty="0"/>
          </a:p>
        </p:txBody>
      </p:sp>
      <p:sp>
        <p:nvSpPr>
          <p:cNvPr id="120" name="Text 118"/>
          <p:cNvSpPr txBox="1"/>
          <p:nvPr/>
        </p:nvSpPr>
        <p:spPr>
          <a:xfrm>
            <a:off x="7070598" y="4059936"/>
            <a:ext cx="509778" cy="420624"/>
          </a:xfrm>
          <a:prstGeom prst="rect">
            <a:avLst/>
          </a:prstGeom>
          <a:noFill/>
          <a:ln/>
        </p:spPr>
        <p:txBody>
          <a:bodyPr wrap="square" lIns="0" tIns="0" rIns="0" bIns="0" rtlCol="0" anchor="ctr"/>
          <a:lstStyle/>
          <a:p>
            <a:pPr algn="ctr" indent="0" marL="0">
              <a:buNone/>
            </a:pPr>
            <a:endParaRPr lang="tr-TR" sz="1400" dirty="0"/>
          </a:p>
        </p:txBody>
      </p:sp>
      <p:sp>
        <p:nvSpPr>
          <p:cNvPr id="121" name="Shape 119"/>
          <p:cNvSpPr/>
          <p:nvPr/>
        </p:nvSpPr>
        <p:spPr>
          <a:xfrm>
            <a:off x="7598664" y="2395728"/>
            <a:ext cx="473202" cy="384048"/>
          </a:xfrm>
          <a:prstGeom prst="roundRect">
            <a:avLst>
              <a:gd name="adj" fmla="val 11905"/>
            </a:avLst>
          </a:prstGeom>
          <a:solidFill>
            <a:srgbClr val="36454F"/>
          </a:solidFill>
          <a:ln/>
        </p:spPr>
      </p:sp>
      <p:sp>
        <p:nvSpPr>
          <p:cNvPr id="122" name="Text 120"/>
          <p:cNvSpPr txBox="1"/>
          <p:nvPr/>
        </p:nvSpPr>
        <p:spPr>
          <a:xfrm>
            <a:off x="7598664"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2</a:t>
            </a:r>
            <a:endParaRPr lang="tr-TR" sz="1400" dirty="0"/>
          </a:p>
        </p:txBody>
      </p:sp>
      <p:sp>
        <p:nvSpPr>
          <p:cNvPr id="123" name="Shape 121"/>
          <p:cNvSpPr/>
          <p:nvPr/>
        </p:nvSpPr>
        <p:spPr>
          <a:xfrm>
            <a:off x="7598664" y="2816352"/>
            <a:ext cx="473202" cy="384048"/>
          </a:xfrm>
          <a:prstGeom prst="roundRect">
            <a:avLst>
              <a:gd name="adj" fmla="val 11905"/>
            </a:avLst>
          </a:prstGeom>
          <a:solidFill>
            <a:srgbClr val="F2F2F2"/>
          </a:solidFill>
          <a:ln/>
        </p:spPr>
      </p:sp>
      <p:sp>
        <p:nvSpPr>
          <p:cNvPr id="124" name="Text 122"/>
          <p:cNvSpPr txBox="1"/>
          <p:nvPr/>
        </p:nvSpPr>
        <p:spPr>
          <a:xfrm>
            <a:off x="7598664"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2</a:t>
            </a:r>
            <a:endParaRPr lang="tr-TR" sz="1400" dirty="0"/>
          </a:p>
        </p:txBody>
      </p:sp>
      <p:sp>
        <p:nvSpPr>
          <p:cNvPr id="125" name="Shape 123"/>
          <p:cNvSpPr/>
          <p:nvPr/>
        </p:nvSpPr>
        <p:spPr>
          <a:xfrm>
            <a:off x="7598664" y="3236976"/>
            <a:ext cx="473202" cy="384048"/>
          </a:xfrm>
          <a:prstGeom prst="roundRect">
            <a:avLst>
              <a:gd name="adj" fmla="val 11905"/>
            </a:avLst>
          </a:prstGeom>
          <a:solidFill>
            <a:srgbClr val="F2F2F2"/>
          </a:solidFill>
          <a:ln/>
        </p:spPr>
      </p:sp>
      <p:sp>
        <p:nvSpPr>
          <p:cNvPr id="126" name="Text 124"/>
          <p:cNvSpPr txBox="1"/>
          <p:nvPr/>
        </p:nvSpPr>
        <p:spPr>
          <a:xfrm>
            <a:off x="7598664"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0</a:t>
            </a:r>
            <a:endParaRPr lang="tr-TR" sz="1400" dirty="0"/>
          </a:p>
        </p:txBody>
      </p:sp>
      <p:sp>
        <p:nvSpPr>
          <p:cNvPr id="127" name="Shape 125"/>
          <p:cNvSpPr/>
          <p:nvPr/>
        </p:nvSpPr>
        <p:spPr>
          <a:xfrm>
            <a:off x="7598664" y="3657600"/>
            <a:ext cx="473202" cy="384048"/>
          </a:xfrm>
          <a:prstGeom prst="roundRect">
            <a:avLst>
              <a:gd name="adj" fmla="val 11905"/>
            </a:avLst>
          </a:prstGeom>
          <a:solidFill>
            <a:srgbClr val="F2F2F2"/>
          </a:solidFill>
          <a:ln/>
        </p:spPr>
      </p:sp>
      <p:sp>
        <p:nvSpPr>
          <p:cNvPr id="128" name="Text 126"/>
          <p:cNvSpPr txBox="1"/>
          <p:nvPr/>
        </p:nvSpPr>
        <p:spPr>
          <a:xfrm>
            <a:off x="7598664"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3</a:t>
            </a:r>
            <a:endParaRPr lang="tr-TR" sz="1400" dirty="0"/>
          </a:p>
        </p:txBody>
      </p:sp>
      <p:sp>
        <p:nvSpPr>
          <p:cNvPr id="129" name="Text 127"/>
          <p:cNvSpPr txBox="1"/>
          <p:nvPr/>
        </p:nvSpPr>
        <p:spPr>
          <a:xfrm>
            <a:off x="7580376" y="4059936"/>
            <a:ext cx="509778" cy="420624"/>
          </a:xfrm>
          <a:prstGeom prst="rect">
            <a:avLst/>
          </a:prstGeom>
          <a:noFill/>
          <a:ln/>
        </p:spPr>
        <p:txBody>
          <a:bodyPr wrap="square" lIns="0" tIns="0" rIns="0" bIns="0" rtlCol="0" anchor="ctr"/>
          <a:lstStyle/>
          <a:p>
            <a:pPr algn="ctr" indent="0" marL="0">
              <a:buNone/>
            </a:pPr>
            <a:endParaRPr lang="tr-TR" sz="1400" dirty="0"/>
          </a:p>
        </p:txBody>
      </p:sp>
      <p:sp>
        <p:nvSpPr>
          <p:cNvPr id="130" name="Shape 128"/>
          <p:cNvSpPr/>
          <p:nvPr/>
        </p:nvSpPr>
        <p:spPr>
          <a:xfrm>
            <a:off x="8108442" y="2395728"/>
            <a:ext cx="473202" cy="384048"/>
          </a:xfrm>
          <a:prstGeom prst="roundRect">
            <a:avLst>
              <a:gd name="adj" fmla="val 11905"/>
            </a:avLst>
          </a:prstGeom>
          <a:solidFill>
            <a:srgbClr val="36454F"/>
          </a:solidFill>
          <a:ln/>
        </p:spPr>
      </p:sp>
      <p:sp>
        <p:nvSpPr>
          <p:cNvPr id="131" name="Text 129"/>
          <p:cNvSpPr txBox="1"/>
          <p:nvPr/>
        </p:nvSpPr>
        <p:spPr>
          <a:xfrm>
            <a:off x="8108442"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1</a:t>
            </a:r>
            <a:endParaRPr lang="tr-TR" sz="1400" dirty="0"/>
          </a:p>
        </p:txBody>
      </p:sp>
      <p:sp>
        <p:nvSpPr>
          <p:cNvPr id="132" name="Shape 130"/>
          <p:cNvSpPr/>
          <p:nvPr/>
        </p:nvSpPr>
        <p:spPr>
          <a:xfrm>
            <a:off x="8108442" y="2816352"/>
            <a:ext cx="473202" cy="384048"/>
          </a:xfrm>
          <a:prstGeom prst="roundRect">
            <a:avLst>
              <a:gd name="adj" fmla="val 11905"/>
            </a:avLst>
          </a:prstGeom>
          <a:solidFill>
            <a:srgbClr val="D7E9E6"/>
          </a:solidFill>
          <a:ln/>
        </p:spPr>
      </p:sp>
      <p:sp>
        <p:nvSpPr>
          <p:cNvPr id="133" name="Text 131"/>
          <p:cNvSpPr txBox="1"/>
          <p:nvPr/>
        </p:nvSpPr>
        <p:spPr>
          <a:xfrm>
            <a:off x="8108442"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2</a:t>
            </a:r>
            <a:endParaRPr lang="tr-TR" sz="1400" dirty="0"/>
          </a:p>
        </p:txBody>
      </p:sp>
      <p:sp>
        <p:nvSpPr>
          <p:cNvPr id="134" name="Shape 132"/>
          <p:cNvSpPr/>
          <p:nvPr/>
        </p:nvSpPr>
        <p:spPr>
          <a:xfrm>
            <a:off x="8108442" y="3236976"/>
            <a:ext cx="473202" cy="384048"/>
          </a:xfrm>
          <a:prstGeom prst="roundRect">
            <a:avLst>
              <a:gd name="adj" fmla="val 11905"/>
            </a:avLst>
          </a:prstGeom>
          <a:solidFill>
            <a:srgbClr val="D7E9E6"/>
          </a:solidFill>
          <a:ln/>
        </p:spPr>
      </p:sp>
      <p:sp>
        <p:nvSpPr>
          <p:cNvPr id="135" name="Text 133"/>
          <p:cNvSpPr txBox="1"/>
          <p:nvPr/>
        </p:nvSpPr>
        <p:spPr>
          <a:xfrm>
            <a:off x="8108442"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0</a:t>
            </a:r>
            <a:endParaRPr lang="tr-TR" sz="1400" dirty="0"/>
          </a:p>
        </p:txBody>
      </p:sp>
      <p:sp>
        <p:nvSpPr>
          <p:cNvPr id="136" name="Shape 134"/>
          <p:cNvSpPr/>
          <p:nvPr/>
        </p:nvSpPr>
        <p:spPr>
          <a:xfrm>
            <a:off x="8108442" y="3657600"/>
            <a:ext cx="473202" cy="384048"/>
          </a:xfrm>
          <a:prstGeom prst="roundRect">
            <a:avLst>
              <a:gd name="adj" fmla="val 11905"/>
            </a:avLst>
          </a:prstGeom>
          <a:solidFill>
            <a:srgbClr val="02C39A"/>
          </a:solidFill>
          <a:ln/>
        </p:spPr>
      </p:sp>
      <p:sp>
        <p:nvSpPr>
          <p:cNvPr id="137" name="Text 135"/>
          <p:cNvSpPr txBox="1"/>
          <p:nvPr/>
        </p:nvSpPr>
        <p:spPr>
          <a:xfrm>
            <a:off x="8108442" y="3657600"/>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1</a:t>
            </a:r>
            <a:endParaRPr lang="tr-TR" sz="1400" dirty="0"/>
          </a:p>
        </p:txBody>
      </p:sp>
      <p:sp>
        <p:nvSpPr>
          <p:cNvPr id="138" name="Text 136"/>
          <p:cNvSpPr txBox="1"/>
          <p:nvPr/>
        </p:nvSpPr>
        <p:spPr>
          <a:xfrm>
            <a:off x="8090154"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139" name="Shape 137"/>
          <p:cNvSpPr/>
          <p:nvPr/>
        </p:nvSpPr>
        <p:spPr>
          <a:xfrm>
            <a:off x="8618220" y="2395728"/>
            <a:ext cx="473202" cy="384048"/>
          </a:xfrm>
          <a:prstGeom prst="roundRect">
            <a:avLst>
              <a:gd name="adj" fmla="val 11905"/>
            </a:avLst>
          </a:prstGeom>
          <a:solidFill>
            <a:srgbClr val="36454F"/>
          </a:solidFill>
          <a:ln/>
        </p:spPr>
      </p:sp>
      <p:sp>
        <p:nvSpPr>
          <p:cNvPr id="140" name="Text 138"/>
          <p:cNvSpPr txBox="1"/>
          <p:nvPr/>
        </p:nvSpPr>
        <p:spPr>
          <a:xfrm>
            <a:off x="8618220"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2</a:t>
            </a:r>
            <a:endParaRPr lang="tr-TR" sz="1400" dirty="0"/>
          </a:p>
        </p:txBody>
      </p:sp>
      <p:sp>
        <p:nvSpPr>
          <p:cNvPr id="141" name="Shape 139"/>
          <p:cNvSpPr/>
          <p:nvPr/>
        </p:nvSpPr>
        <p:spPr>
          <a:xfrm>
            <a:off x="8618220" y="2816352"/>
            <a:ext cx="473202" cy="384048"/>
          </a:xfrm>
          <a:prstGeom prst="roundRect">
            <a:avLst>
              <a:gd name="adj" fmla="val 11905"/>
            </a:avLst>
          </a:prstGeom>
          <a:solidFill>
            <a:srgbClr val="F2F2F2"/>
          </a:solidFill>
          <a:ln/>
        </p:spPr>
      </p:sp>
      <p:sp>
        <p:nvSpPr>
          <p:cNvPr id="142" name="Text 140"/>
          <p:cNvSpPr txBox="1"/>
          <p:nvPr/>
        </p:nvSpPr>
        <p:spPr>
          <a:xfrm>
            <a:off x="8618220"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2</a:t>
            </a:r>
            <a:endParaRPr lang="tr-TR" sz="1400" dirty="0"/>
          </a:p>
        </p:txBody>
      </p:sp>
      <p:sp>
        <p:nvSpPr>
          <p:cNvPr id="143" name="Shape 141"/>
          <p:cNvSpPr/>
          <p:nvPr/>
        </p:nvSpPr>
        <p:spPr>
          <a:xfrm>
            <a:off x="8618220" y="3236976"/>
            <a:ext cx="473202" cy="384048"/>
          </a:xfrm>
          <a:prstGeom prst="roundRect">
            <a:avLst>
              <a:gd name="adj" fmla="val 11905"/>
            </a:avLst>
          </a:prstGeom>
          <a:solidFill>
            <a:srgbClr val="F2F2F2"/>
          </a:solidFill>
          <a:ln/>
        </p:spPr>
      </p:sp>
      <p:sp>
        <p:nvSpPr>
          <p:cNvPr id="144" name="Text 142"/>
          <p:cNvSpPr txBox="1"/>
          <p:nvPr/>
        </p:nvSpPr>
        <p:spPr>
          <a:xfrm>
            <a:off x="8618220"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0</a:t>
            </a:r>
            <a:endParaRPr lang="tr-TR" sz="1400" dirty="0"/>
          </a:p>
        </p:txBody>
      </p:sp>
      <p:sp>
        <p:nvSpPr>
          <p:cNvPr id="145" name="Shape 143"/>
          <p:cNvSpPr/>
          <p:nvPr/>
        </p:nvSpPr>
        <p:spPr>
          <a:xfrm>
            <a:off x="8618220" y="3657600"/>
            <a:ext cx="473202" cy="384048"/>
          </a:xfrm>
          <a:prstGeom prst="roundRect">
            <a:avLst>
              <a:gd name="adj" fmla="val 11905"/>
            </a:avLst>
          </a:prstGeom>
          <a:solidFill>
            <a:srgbClr val="F2F2F2"/>
          </a:solidFill>
          <a:ln/>
        </p:spPr>
      </p:sp>
      <p:sp>
        <p:nvSpPr>
          <p:cNvPr id="146" name="Text 144"/>
          <p:cNvSpPr txBox="1"/>
          <p:nvPr/>
        </p:nvSpPr>
        <p:spPr>
          <a:xfrm>
            <a:off x="8618220"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1</a:t>
            </a:r>
            <a:endParaRPr lang="tr-TR" sz="1400" dirty="0"/>
          </a:p>
        </p:txBody>
      </p:sp>
      <p:sp>
        <p:nvSpPr>
          <p:cNvPr id="147" name="Text 145"/>
          <p:cNvSpPr txBox="1"/>
          <p:nvPr/>
        </p:nvSpPr>
        <p:spPr>
          <a:xfrm>
            <a:off x="8599932" y="4059936"/>
            <a:ext cx="509778" cy="420624"/>
          </a:xfrm>
          <a:prstGeom prst="rect">
            <a:avLst/>
          </a:prstGeom>
          <a:noFill/>
          <a:ln/>
        </p:spPr>
        <p:txBody>
          <a:bodyPr wrap="square" lIns="0" tIns="0" rIns="0" bIns="0" rtlCol="0" anchor="ctr"/>
          <a:lstStyle/>
          <a:p>
            <a:pPr algn="ctr" indent="0" marL="0">
              <a:buNone/>
            </a:pPr>
            <a:endParaRPr lang="tr-TR" sz="1400" dirty="0"/>
          </a:p>
        </p:txBody>
      </p:sp>
      <p:sp>
        <p:nvSpPr>
          <p:cNvPr id="148" name="Shape 146"/>
          <p:cNvSpPr/>
          <p:nvPr/>
        </p:nvSpPr>
        <p:spPr>
          <a:xfrm>
            <a:off x="9127998" y="2395728"/>
            <a:ext cx="473202" cy="384048"/>
          </a:xfrm>
          <a:prstGeom prst="roundRect">
            <a:avLst>
              <a:gd name="adj" fmla="val 11905"/>
            </a:avLst>
          </a:prstGeom>
          <a:solidFill>
            <a:srgbClr val="36454F"/>
          </a:solidFill>
          <a:ln/>
        </p:spPr>
      </p:sp>
      <p:sp>
        <p:nvSpPr>
          <p:cNvPr id="149" name="Text 147"/>
          <p:cNvSpPr txBox="1"/>
          <p:nvPr/>
        </p:nvSpPr>
        <p:spPr>
          <a:xfrm>
            <a:off x="9127998"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0</a:t>
            </a:r>
            <a:endParaRPr lang="tr-TR" sz="1400" dirty="0"/>
          </a:p>
        </p:txBody>
      </p:sp>
      <p:sp>
        <p:nvSpPr>
          <p:cNvPr id="150" name="Shape 148"/>
          <p:cNvSpPr/>
          <p:nvPr/>
        </p:nvSpPr>
        <p:spPr>
          <a:xfrm>
            <a:off x="9127998" y="2816352"/>
            <a:ext cx="473202" cy="384048"/>
          </a:xfrm>
          <a:prstGeom prst="roundRect">
            <a:avLst>
              <a:gd name="adj" fmla="val 11905"/>
            </a:avLst>
          </a:prstGeom>
          <a:solidFill>
            <a:srgbClr val="F2F2F2"/>
          </a:solidFill>
          <a:ln/>
        </p:spPr>
      </p:sp>
      <p:sp>
        <p:nvSpPr>
          <p:cNvPr id="151" name="Text 149"/>
          <p:cNvSpPr txBox="1"/>
          <p:nvPr/>
        </p:nvSpPr>
        <p:spPr>
          <a:xfrm>
            <a:off x="9127998"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2</a:t>
            </a:r>
            <a:endParaRPr lang="tr-TR" sz="1400" dirty="0"/>
          </a:p>
        </p:txBody>
      </p:sp>
      <p:sp>
        <p:nvSpPr>
          <p:cNvPr id="152" name="Shape 150"/>
          <p:cNvSpPr/>
          <p:nvPr/>
        </p:nvSpPr>
        <p:spPr>
          <a:xfrm>
            <a:off x="9127998" y="3236976"/>
            <a:ext cx="473202" cy="384048"/>
          </a:xfrm>
          <a:prstGeom prst="roundRect">
            <a:avLst>
              <a:gd name="adj" fmla="val 11905"/>
            </a:avLst>
          </a:prstGeom>
          <a:solidFill>
            <a:srgbClr val="F2F2F2"/>
          </a:solidFill>
          <a:ln/>
        </p:spPr>
      </p:sp>
      <p:sp>
        <p:nvSpPr>
          <p:cNvPr id="153" name="Text 151"/>
          <p:cNvSpPr txBox="1"/>
          <p:nvPr/>
        </p:nvSpPr>
        <p:spPr>
          <a:xfrm>
            <a:off x="9127998"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0</a:t>
            </a:r>
            <a:endParaRPr lang="tr-TR" sz="1400" dirty="0"/>
          </a:p>
        </p:txBody>
      </p:sp>
      <p:sp>
        <p:nvSpPr>
          <p:cNvPr id="154" name="Shape 152"/>
          <p:cNvSpPr/>
          <p:nvPr/>
        </p:nvSpPr>
        <p:spPr>
          <a:xfrm>
            <a:off x="9127998" y="3657600"/>
            <a:ext cx="473202" cy="384048"/>
          </a:xfrm>
          <a:prstGeom prst="roundRect">
            <a:avLst>
              <a:gd name="adj" fmla="val 11905"/>
            </a:avLst>
          </a:prstGeom>
          <a:solidFill>
            <a:srgbClr val="F2F2F2"/>
          </a:solidFill>
          <a:ln/>
        </p:spPr>
      </p:sp>
      <p:sp>
        <p:nvSpPr>
          <p:cNvPr id="155" name="Text 153"/>
          <p:cNvSpPr txBox="1"/>
          <p:nvPr/>
        </p:nvSpPr>
        <p:spPr>
          <a:xfrm>
            <a:off x="9127998"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1</a:t>
            </a:r>
            <a:endParaRPr lang="tr-TR" sz="1400" dirty="0"/>
          </a:p>
        </p:txBody>
      </p:sp>
      <p:sp>
        <p:nvSpPr>
          <p:cNvPr id="156" name="Text 154"/>
          <p:cNvSpPr txBox="1"/>
          <p:nvPr/>
        </p:nvSpPr>
        <p:spPr>
          <a:xfrm>
            <a:off x="9109710" y="4059936"/>
            <a:ext cx="509778" cy="420624"/>
          </a:xfrm>
          <a:prstGeom prst="rect">
            <a:avLst/>
          </a:prstGeom>
          <a:noFill/>
          <a:ln/>
        </p:spPr>
        <p:txBody>
          <a:bodyPr wrap="square" lIns="0" tIns="0" rIns="0" bIns="0" rtlCol="0" anchor="ctr"/>
          <a:lstStyle/>
          <a:p>
            <a:pPr algn="ctr" indent="0" marL="0">
              <a:buNone/>
            </a:pPr>
            <a:endParaRPr lang="tr-TR" sz="1400" dirty="0"/>
          </a:p>
        </p:txBody>
      </p:sp>
      <p:sp>
        <p:nvSpPr>
          <p:cNvPr id="157" name="Shape 155"/>
          <p:cNvSpPr/>
          <p:nvPr/>
        </p:nvSpPr>
        <p:spPr>
          <a:xfrm>
            <a:off x="9637776" y="2395728"/>
            <a:ext cx="473202" cy="384048"/>
          </a:xfrm>
          <a:prstGeom prst="roundRect">
            <a:avLst>
              <a:gd name="adj" fmla="val 11905"/>
            </a:avLst>
          </a:prstGeom>
          <a:solidFill>
            <a:srgbClr val="36454F"/>
          </a:solidFill>
          <a:ln/>
        </p:spPr>
      </p:sp>
      <p:sp>
        <p:nvSpPr>
          <p:cNvPr id="158" name="Text 156"/>
          <p:cNvSpPr txBox="1"/>
          <p:nvPr/>
        </p:nvSpPr>
        <p:spPr>
          <a:xfrm>
            <a:off x="9637776"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1</a:t>
            </a:r>
            <a:endParaRPr lang="tr-TR" sz="1400" dirty="0"/>
          </a:p>
        </p:txBody>
      </p:sp>
      <p:sp>
        <p:nvSpPr>
          <p:cNvPr id="159" name="Shape 157"/>
          <p:cNvSpPr/>
          <p:nvPr/>
        </p:nvSpPr>
        <p:spPr>
          <a:xfrm>
            <a:off x="9637776" y="2816352"/>
            <a:ext cx="473202" cy="384048"/>
          </a:xfrm>
          <a:prstGeom prst="roundRect">
            <a:avLst>
              <a:gd name="adj" fmla="val 11905"/>
            </a:avLst>
          </a:prstGeom>
          <a:solidFill>
            <a:srgbClr val="F2F2F2"/>
          </a:solidFill>
          <a:ln/>
        </p:spPr>
      </p:sp>
      <p:sp>
        <p:nvSpPr>
          <p:cNvPr id="160" name="Text 158"/>
          <p:cNvSpPr txBox="1"/>
          <p:nvPr/>
        </p:nvSpPr>
        <p:spPr>
          <a:xfrm>
            <a:off x="9637776"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2</a:t>
            </a:r>
            <a:endParaRPr lang="tr-TR" sz="1400" dirty="0"/>
          </a:p>
        </p:txBody>
      </p:sp>
      <p:sp>
        <p:nvSpPr>
          <p:cNvPr id="161" name="Shape 159"/>
          <p:cNvSpPr/>
          <p:nvPr/>
        </p:nvSpPr>
        <p:spPr>
          <a:xfrm>
            <a:off x="9637776" y="3236976"/>
            <a:ext cx="473202" cy="384048"/>
          </a:xfrm>
          <a:prstGeom prst="roundRect">
            <a:avLst>
              <a:gd name="adj" fmla="val 11905"/>
            </a:avLst>
          </a:prstGeom>
          <a:solidFill>
            <a:srgbClr val="F2F2F2"/>
          </a:solidFill>
          <a:ln/>
        </p:spPr>
      </p:sp>
      <p:sp>
        <p:nvSpPr>
          <p:cNvPr id="162" name="Text 160"/>
          <p:cNvSpPr txBox="1"/>
          <p:nvPr/>
        </p:nvSpPr>
        <p:spPr>
          <a:xfrm>
            <a:off x="9637776"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0</a:t>
            </a:r>
            <a:endParaRPr lang="tr-TR" sz="1400" dirty="0"/>
          </a:p>
        </p:txBody>
      </p:sp>
      <p:sp>
        <p:nvSpPr>
          <p:cNvPr id="163" name="Shape 161"/>
          <p:cNvSpPr/>
          <p:nvPr/>
        </p:nvSpPr>
        <p:spPr>
          <a:xfrm>
            <a:off x="9637776" y="3657600"/>
            <a:ext cx="473202" cy="384048"/>
          </a:xfrm>
          <a:prstGeom prst="roundRect">
            <a:avLst>
              <a:gd name="adj" fmla="val 11905"/>
            </a:avLst>
          </a:prstGeom>
          <a:solidFill>
            <a:srgbClr val="F2F2F2"/>
          </a:solidFill>
          <a:ln/>
        </p:spPr>
      </p:sp>
      <p:sp>
        <p:nvSpPr>
          <p:cNvPr id="164" name="Text 162"/>
          <p:cNvSpPr txBox="1"/>
          <p:nvPr/>
        </p:nvSpPr>
        <p:spPr>
          <a:xfrm>
            <a:off x="9637776"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1</a:t>
            </a:r>
            <a:endParaRPr lang="tr-TR" sz="1400" dirty="0"/>
          </a:p>
        </p:txBody>
      </p:sp>
      <p:sp>
        <p:nvSpPr>
          <p:cNvPr id="165" name="Text 163"/>
          <p:cNvSpPr txBox="1"/>
          <p:nvPr/>
        </p:nvSpPr>
        <p:spPr>
          <a:xfrm>
            <a:off x="9619488" y="4059936"/>
            <a:ext cx="509778" cy="420624"/>
          </a:xfrm>
          <a:prstGeom prst="rect">
            <a:avLst/>
          </a:prstGeom>
          <a:noFill/>
          <a:ln/>
        </p:spPr>
        <p:txBody>
          <a:bodyPr wrap="square" lIns="0" tIns="0" rIns="0" bIns="0" rtlCol="0" anchor="ctr"/>
          <a:lstStyle/>
          <a:p>
            <a:pPr algn="ctr" indent="0" marL="0">
              <a:buNone/>
            </a:pPr>
            <a:endParaRPr lang="tr-TR" sz="1400" dirty="0"/>
          </a:p>
        </p:txBody>
      </p:sp>
      <p:sp>
        <p:nvSpPr>
          <p:cNvPr id="166" name="Shape 164"/>
          <p:cNvSpPr/>
          <p:nvPr/>
        </p:nvSpPr>
        <p:spPr>
          <a:xfrm>
            <a:off x="10147554" y="2395728"/>
            <a:ext cx="473202" cy="384048"/>
          </a:xfrm>
          <a:prstGeom prst="roundRect">
            <a:avLst>
              <a:gd name="adj" fmla="val 11905"/>
            </a:avLst>
          </a:prstGeom>
          <a:solidFill>
            <a:srgbClr val="36454F"/>
          </a:solidFill>
          <a:ln/>
        </p:spPr>
      </p:sp>
      <p:sp>
        <p:nvSpPr>
          <p:cNvPr id="167" name="Text 165"/>
          <p:cNvSpPr txBox="1"/>
          <p:nvPr/>
        </p:nvSpPr>
        <p:spPr>
          <a:xfrm>
            <a:off x="10147554"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7</a:t>
            </a:r>
            <a:endParaRPr lang="tr-TR" sz="1400" dirty="0"/>
          </a:p>
        </p:txBody>
      </p:sp>
      <p:sp>
        <p:nvSpPr>
          <p:cNvPr id="168" name="Shape 166"/>
          <p:cNvSpPr/>
          <p:nvPr/>
        </p:nvSpPr>
        <p:spPr>
          <a:xfrm>
            <a:off x="10147554" y="2816352"/>
            <a:ext cx="473202" cy="384048"/>
          </a:xfrm>
          <a:prstGeom prst="roundRect">
            <a:avLst>
              <a:gd name="adj" fmla="val 11905"/>
            </a:avLst>
          </a:prstGeom>
          <a:solidFill>
            <a:srgbClr val="02C39A"/>
          </a:solidFill>
          <a:ln/>
        </p:spPr>
      </p:sp>
      <p:sp>
        <p:nvSpPr>
          <p:cNvPr id="169" name="Text 167"/>
          <p:cNvSpPr txBox="1"/>
          <p:nvPr/>
        </p:nvSpPr>
        <p:spPr>
          <a:xfrm>
            <a:off x="10147554" y="2816352"/>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7</a:t>
            </a:r>
            <a:endParaRPr lang="tr-TR" sz="1400" dirty="0"/>
          </a:p>
        </p:txBody>
      </p:sp>
      <p:sp>
        <p:nvSpPr>
          <p:cNvPr id="170" name="Shape 168"/>
          <p:cNvSpPr/>
          <p:nvPr/>
        </p:nvSpPr>
        <p:spPr>
          <a:xfrm>
            <a:off x="10147554" y="3236976"/>
            <a:ext cx="473202" cy="384048"/>
          </a:xfrm>
          <a:prstGeom prst="roundRect">
            <a:avLst>
              <a:gd name="adj" fmla="val 11905"/>
            </a:avLst>
          </a:prstGeom>
          <a:solidFill>
            <a:srgbClr val="D7E9E6"/>
          </a:solidFill>
          <a:ln/>
        </p:spPr>
      </p:sp>
      <p:sp>
        <p:nvSpPr>
          <p:cNvPr id="171" name="Text 169"/>
          <p:cNvSpPr txBox="1"/>
          <p:nvPr/>
        </p:nvSpPr>
        <p:spPr>
          <a:xfrm>
            <a:off x="10147554"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0</a:t>
            </a:r>
            <a:endParaRPr lang="tr-TR" sz="1400" dirty="0"/>
          </a:p>
        </p:txBody>
      </p:sp>
      <p:sp>
        <p:nvSpPr>
          <p:cNvPr id="172" name="Shape 170"/>
          <p:cNvSpPr/>
          <p:nvPr/>
        </p:nvSpPr>
        <p:spPr>
          <a:xfrm>
            <a:off x="10147554" y="3657600"/>
            <a:ext cx="473202" cy="384048"/>
          </a:xfrm>
          <a:prstGeom prst="roundRect">
            <a:avLst>
              <a:gd name="adj" fmla="val 11905"/>
            </a:avLst>
          </a:prstGeom>
          <a:solidFill>
            <a:srgbClr val="D7E9E6"/>
          </a:solidFill>
          <a:ln/>
        </p:spPr>
      </p:sp>
      <p:sp>
        <p:nvSpPr>
          <p:cNvPr id="173" name="Text 171"/>
          <p:cNvSpPr txBox="1"/>
          <p:nvPr/>
        </p:nvSpPr>
        <p:spPr>
          <a:xfrm>
            <a:off x="10147554"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1</a:t>
            </a:r>
            <a:endParaRPr lang="tr-TR" sz="1400" dirty="0"/>
          </a:p>
        </p:txBody>
      </p:sp>
      <p:sp>
        <p:nvSpPr>
          <p:cNvPr id="174" name="Text 172"/>
          <p:cNvSpPr txBox="1"/>
          <p:nvPr/>
        </p:nvSpPr>
        <p:spPr>
          <a:xfrm>
            <a:off x="10129266"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175" name="Shape 173"/>
          <p:cNvSpPr/>
          <p:nvPr/>
        </p:nvSpPr>
        <p:spPr>
          <a:xfrm>
            <a:off x="10657332" y="2395728"/>
            <a:ext cx="473202" cy="384048"/>
          </a:xfrm>
          <a:prstGeom prst="roundRect">
            <a:avLst>
              <a:gd name="adj" fmla="val 11905"/>
            </a:avLst>
          </a:prstGeom>
          <a:solidFill>
            <a:srgbClr val="36454F"/>
          </a:solidFill>
          <a:ln/>
        </p:spPr>
      </p:sp>
      <p:sp>
        <p:nvSpPr>
          <p:cNvPr id="176" name="Text 174"/>
          <p:cNvSpPr txBox="1"/>
          <p:nvPr/>
        </p:nvSpPr>
        <p:spPr>
          <a:xfrm>
            <a:off x="10657332"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0</a:t>
            </a:r>
            <a:endParaRPr lang="tr-TR" sz="1400" dirty="0"/>
          </a:p>
        </p:txBody>
      </p:sp>
      <p:sp>
        <p:nvSpPr>
          <p:cNvPr id="177" name="Shape 175"/>
          <p:cNvSpPr/>
          <p:nvPr/>
        </p:nvSpPr>
        <p:spPr>
          <a:xfrm>
            <a:off x="10657332" y="2816352"/>
            <a:ext cx="473202" cy="384048"/>
          </a:xfrm>
          <a:prstGeom prst="roundRect">
            <a:avLst>
              <a:gd name="adj" fmla="val 11905"/>
            </a:avLst>
          </a:prstGeom>
          <a:solidFill>
            <a:srgbClr val="F2F2F2"/>
          </a:solidFill>
          <a:ln/>
        </p:spPr>
      </p:sp>
      <p:sp>
        <p:nvSpPr>
          <p:cNvPr id="178" name="Text 176"/>
          <p:cNvSpPr txBox="1"/>
          <p:nvPr/>
        </p:nvSpPr>
        <p:spPr>
          <a:xfrm>
            <a:off x="10657332"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7</a:t>
            </a:r>
            <a:endParaRPr lang="tr-TR" sz="1400" dirty="0"/>
          </a:p>
        </p:txBody>
      </p:sp>
      <p:sp>
        <p:nvSpPr>
          <p:cNvPr id="179" name="Shape 177"/>
          <p:cNvSpPr/>
          <p:nvPr/>
        </p:nvSpPr>
        <p:spPr>
          <a:xfrm>
            <a:off x="10657332" y="3236976"/>
            <a:ext cx="473202" cy="384048"/>
          </a:xfrm>
          <a:prstGeom prst="roundRect">
            <a:avLst>
              <a:gd name="adj" fmla="val 11905"/>
            </a:avLst>
          </a:prstGeom>
          <a:solidFill>
            <a:srgbClr val="F2F2F2"/>
          </a:solidFill>
          <a:ln/>
        </p:spPr>
      </p:sp>
      <p:sp>
        <p:nvSpPr>
          <p:cNvPr id="180" name="Text 178"/>
          <p:cNvSpPr txBox="1"/>
          <p:nvPr/>
        </p:nvSpPr>
        <p:spPr>
          <a:xfrm>
            <a:off x="10657332"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0</a:t>
            </a:r>
            <a:endParaRPr lang="tr-TR" sz="1400" dirty="0"/>
          </a:p>
        </p:txBody>
      </p:sp>
      <p:sp>
        <p:nvSpPr>
          <p:cNvPr id="181" name="Shape 179"/>
          <p:cNvSpPr/>
          <p:nvPr/>
        </p:nvSpPr>
        <p:spPr>
          <a:xfrm>
            <a:off x="10657332" y="3657600"/>
            <a:ext cx="473202" cy="384048"/>
          </a:xfrm>
          <a:prstGeom prst="roundRect">
            <a:avLst>
              <a:gd name="adj" fmla="val 11905"/>
            </a:avLst>
          </a:prstGeom>
          <a:solidFill>
            <a:srgbClr val="F2F2F2"/>
          </a:solidFill>
          <a:ln/>
        </p:spPr>
      </p:sp>
      <p:sp>
        <p:nvSpPr>
          <p:cNvPr id="182" name="Text 180"/>
          <p:cNvSpPr txBox="1"/>
          <p:nvPr/>
        </p:nvSpPr>
        <p:spPr>
          <a:xfrm>
            <a:off x="10657332"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1</a:t>
            </a:r>
            <a:endParaRPr lang="tr-TR" sz="1400" dirty="0"/>
          </a:p>
        </p:txBody>
      </p:sp>
      <p:sp>
        <p:nvSpPr>
          <p:cNvPr id="183" name="Text 181"/>
          <p:cNvSpPr txBox="1"/>
          <p:nvPr/>
        </p:nvSpPr>
        <p:spPr>
          <a:xfrm>
            <a:off x="10639044" y="4059936"/>
            <a:ext cx="509778" cy="420624"/>
          </a:xfrm>
          <a:prstGeom prst="rect">
            <a:avLst/>
          </a:prstGeom>
          <a:noFill/>
          <a:ln/>
        </p:spPr>
        <p:txBody>
          <a:bodyPr wrap="square" lIns="0" tIns="0" rIns="0" bIns="0" rtlCol="0" anchor="ctr"/>
          <a:lstStyle/>
          <a:p>
            <a:pPr algn="ctr" indent="0" marL="0">
              <a:buNone/>
            </a:pPr>
            <a:endParaRPr lang="tr-TR" sz="1400" dirty="0"/>
          </a:p>
        </p:txBody>
      </p:sp>
      <p:sp>
        <p:nvSpPr>
          <p:cNvPr id="184" name="Shape 182"/>
          <p:cNvSpPr/>
          <p:nvPr/>
        </p:nvSpPr>
        <p:spPr>
          <a:xfrm>
            <a:off x="11167110" y="2395728"/>
            <a:ext cx="473202" cy="384048"/>
          </a:xfrm>
          <a:prstGeom prst="roundRect">
            <a:avLst>
              <a:gd name="adj" fmla="val 11905"/>
            </a:avLst>
          </a:prstGeom>
          <a:solidFill>
            <a:srgbClr val="36454F"/>
          </a:solidFill>
          <a:ln/>
        </p:spPr>
      </p:sp>
      <p:sp>
        <p:nvSpPr>
          <p:cNvPr id="185" name="Text 183"/>
          <p:cNvSpPr txBox="1"/>
          <p:nvPr/>
        </p:nvSpPr>
        <p:spPr>
          <a:xfrm>
            <a:off x="11167110"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1</a:t>
            </a:r>
            <a:endParaRPr lang="tr-TR" sz="1400" dirty="0"/>
          </a:p>
        </p:txBody>
      </p:sp>
      <p:sp>
        <p:nvSpPr>
          <p:cNvPr id="186" name="Shape 184"/>
          <p:cNvSpPr/>
          <p:nvPr/>
        </p:nvSpPr>
        <p:spPr>
          <a:xfrm>
            <a:off x="11167110" y="2816352"/>
            <a:ext cx="473202" cy="384048"/>
          </a:xfrm>
          <a:prstGeom prst="roundRect">
            <a:avLst>
              <a:gd name="adj" fmla="val 11905"/>
            </a:avLst>
          </a:prstGeom>
          <a:solidFill>
            <a:srgbClr val="F2F2F2"/>
          </a:solidFill>
          <a:ln/>
        </p:spPr>
      </p:sp>
      <p:sp>
        <p:nvSpPr>
          <p:cNvPr id="187" name="Text 185"/>
          <p:cNvSpPr txBox="1"/>
          <p:nvPr/>
        </p:nvSpPr>
        <p:spPr>
          <a:xfrm>
            <a:off x="11167110"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7</a:t>
            </a:r>
            <a:endParaRPr lang="tr-TR" sz="1400" dirty="0"/>
          </a:p>
        </p:txBody>
      </p:sp>
      <p:sp>
        <p:nvSpPr>
          <p:cNvPr id="188" name="Shape 186"/>
          <p:cNvSpPr/>
          <p:nvPr/>
        </p:nvSpPr>
        <p:spPr>
          <a:xfrm>
            <a:off x="11167110" y="3236976"/>
            <a:ext cx="473202" cy="384048"/>
          </a:xfrm>
          <a:prstGeom prst="roundRect">
            <a:avLst>
              <a:gd name="adj" fmla="val 11905"/>
            </a:avLst>
          </a:prstGeom>
          <a:solidFill>
            <a:srgbClr val="F2F2F2"/>
          </a:solidFill>
          <a:ln/>
        </p:spPr>
      </p:sp>
      <p:sp>
        <p:nvSpPr>
          <p:cNvPr id="189" name="Text 187"/>
          <p:cNvSpPr txBox="1"/>
          <p:nvPr/>
        </p:nvSpPr>
        <p:spPr>
          <a:xfrm>
            <a:off x="11167110"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0</a:t>
            </a:r>
            <a:endParaRPr lang="tr-TR" sz="1400" dirty="0"/>
          </a:p>
        </p:txBody>
      </p:sp>
      <p:sp>
        <p:nvSpPr>
          <p:cNvPr id="190" name="Shape 188"/>
          <p:cNvSpPr/>
          <p:nvPr/>
        </p:nvSpPr>
        <p:spPr>
          <a:xfrm>
            <a:off x="11167110" y="3657600"/>
            <a:ext cx="473202" cy="384048"/>
          </a:xfrm>
          <a:prstGeom prst="roundRect">
            <a:avLst>
              <a:gd name="adj" fmla="val 11905"/>
            </a:avLst>
          </a:prstGeom>
          <a:solidFill>
            <a:srgbClr val="F2F2F2"/>
          </a:solidFill>
          <a:ln/>
        </p:spPr>
      </p:sp>
      <p:sp>
        <p:nvSpPr>
          <p:cNvPr id="191" name="Text 189"/>
          <p:cNvSpPr txBox="1"/>
          <p:nvPr/>
        </p:nvSpPr>
        <p:spPr>
          <a:xfrm>
            <a:off x="11167110"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1</a:t>
            </a:r>
            <a:endParaRPr lang="tr-TR" sz="1400" dirty="0"/>
          </a:p>
        </p:txBody>
      </p:sp>
      <p:sp>
        <p:nvSpPr>
          <p:cNvPr id="192" name="Text 190"/>
          <p:cNvSpPr txBox="1"/>
          <p:nvPr/>
        </p:nvSpPr>
        <p:spPr>
          <a:xfrm>
            <a:off x="11148822" y="4059936"/>
            <a:ext cx="509778" cy="420624"/>
          </a:xfrm>
          <a:prstGeom prst="rect">
            <a:avLst/>
          </a:prstGeom>
          <a:noFill/>
          <a:ln/>
        </p:spPr>
        <p:txBody>
          <a:bodyPr wrap="square" lIns="0" tIns="0" rIns="0" bIns="0" rtlCol="0" anchor="ctr"/>
          <a:lstStyle/>
          <a:p>
            <a:pPr algn="ctr" indent="0" marL="0">
              <a:buNone/>
            </a:pPr>
            <a:endParaRPr lang="tr-TR" sz="1400" dirty="0"/>
          </a:p>
        </p:txBody>
      </p:sp>
      <p:sp>
        <p:nvSpPr>
          <p:cNvPr id="193" name="Shape 191"/>
          <p:cNvSpPr/>
          <p:nvPr/>
        </p:nvSpPr>
        <p:spPr>
          <a:xfrm>
            <a:off x="548640" y="5029200"/>
            <a:ext cx="8092440" cy="1234440"/>
          </a:xfrm>
          <a:prstGeom prst="roundRect">
            <a:avLst>
              <a:gd name="adj" fmla="val 4444"/>
            </a:avLst>
          </a:prstGeom>
          <a:solidFill>
            <a:srgbClr val="F2F2F2"/>
          </a:solidFill>
          <a:ln/>
          <a:effectLst>
            <a:outerShdw sx="100000" sy="100000" kx="0" ky="0" algn="bl" rotWithShape="0" blurRad="101600" dist="25400" dir="5400000">
              <a:srgbClr val="000000">
                <a:alpha val="12000"/>
              </a:srgbClr>
            </a:outerShdw>
          </a:effectLst>
        </p:spPr>
      </p:sp>
      <p:sp>
        <p:nvSpPr>
          <p:cNvPr id="194" name="Text 192"/>
          <p:cNvSpPr txBox="1"/>
          <p:nvPr/>
        </p:nvSpPr>
        <p:spPr>
          <a:xfrm>
            <a:off x="777240" y="5212080"/>
            <a:ext cx="7635240" cy="384048"/>
          </a:xfrm>
          <a:prstGeom prst="rect">
            <a:avLst/>
          </a:prstGeom>
          <a:noFill/>
          <a:ln/>
        </p:spPr>
        <p:txBody>
          <a:bodyPr wrap="square" lIns="0" tIns="0" rIns="0" bIns="0" rtlCol="0" anchor="ctr"/>
          <a:lstStyle/>
          <a:p>
            <a:pPr indent="0" marL="0">
              <a:buNone/>
            </a:pPr>
            <a:r>
              <a:rPr lang="tr-TR" sz="1400" b="1" dirty="0">
                <a:solidFill>
                  <a:srgbClr val="028090"/>
                </a:solidFill>
                <a:latin typeface="Cambria" pitchFamily="34" charset="0"/>
                <a:ea typeface="Cambria" pitchFamily="34" charset="-122"/>
                <a:cs typeface="Cambria" pitchFamily="34" charset="-120"/>
              </a:rPr>
              <a:t>Sorun</a:t>
            </a:r>
            <a:endParaRPr lang="tr-TR" sz="1400" dirty="0"/>
          </a:p>
        </p:txBody>
      </p:sp>
      <p:sp>
        <p:nvSpPr>
          <p:cNvPr id="195" name="Text 193"/>
          <p:cNvSpPr txBox="1"/>
          <p:nvPr/>
        </p:nvSpPr>
        <p:spPr>
          <a:xfrm>
            <a:off x="777240" y="5669280"/>
            <a:ext cx="7635240" cy="457200"/>
          </a:xfrm>
          <a:prstGeom prst="rect">
            <a:avLst/>
          </a:prstGeom>
          <a:noFill/>
          <a:ln/>
        </p:spPr>
        <p:txBody>
          <a:bodyPr wrap="square" lIns="0" tIns="0" rIns="0" bIns="0" rtlCol="0" anchor="t"/>
          <a:lstStyle/>
          <a:p>
            <a:pPr indent="0" marL="0">
              <a:spcAft>
                <a:spcPts val="400"/>
              </a:spcAft>
              <a:buNone/>
            </a:pPr>
            <a:r>
              <a:rPr lang="tr-TR" sz="1350" dirty="0">
                <a:solidFill>
                  <a:srgbClr val="3A464C"/>
                </a:solidFill>
                <a:latin typeface="Calibri" pitchFamily="34" charset="0"/>
                <a:ea typeface="Calibri" pitchFamily="34" charset="-122"/>
                <a:cs typeface="Calibri" pitchFamily="34" charset="-120"/>
              </a:rPr>
              <a:t>OPT gelecekteki başvuru dizisini bilmeyi gerektirir; bu yüzden hiçbir gerçek işletim sistemi onu gerçekleyemez. Bir ölçüttür: "algoritmamız en iyinin %10 yakınında".</a:t>
            </a:r>
            <a:endParaRPr lang="tr-TR" sz="1350" dirty="0"/>
          </a:p>
        </p:txBody>
      </p:sp>
      <p:sp>
        <p:nvSpPr>
          <p:cNvPr id="196" name="Shape 194"/>
          <p:cNvSpPr/>
          <p:nvPr/>
        </p:nvSpPr>
        <p:spPr>
          <a:xfrm>
            <a:off x="8869680" y="5029200"/>
            <a:ext cx="2788920" cy="1234440"/>
          </a:xfrm>
          <a:prstGeom prst="roundRect">
            <a:avLst>
              <a:gd name="adj" fmla="val 4444"/>
            </a:avLst>
          </a:prstGeom>
          <a:solidFill>
            <a:srgbClr val="36454F"/>
          </a:solidFill>
          <a:ln/>
        </p:spPr>
      </p:sp>
      <p:sp>
        <p:nvSpPr>
          <p:cNvPr id="197" name="Text 195"/>
          <p:cNvSpPr txBox="1"/>
          <p:nvPr/>
        </p:nvSpPr>
        <p:spPr>
          <a:xfrm>
            <a:off x="9052560" y="5029200"/>
            <a:ext cx="2423160" cy="1234440"/>
          </a:xfrm>
          <a:prstGeom prst="rect">
            <a:avLst/>
          </a:prstGeom>
          <a:noFill/>
          <a:ln/>
        </p:spPr>
        <p:txBody>
          <a:bodyPr wrap="square" lIns="0" tIns="0" rIns="0" bIns="0" rtlCol="0" anchor="ctr"/>
          <a:lstStyle/>
          <a:p>
            <a:pPr algn="ctr" indent="0" marL="0">
              <a:buNone/>
            </a:pPr>
            <a:r>
              <a:rPr lang="tr-TR" sz="4000" b="1" dirty="0">
                <a:solidFill>
                  <a:srgbClr val="02C39A"/>
                </a:solidFill>
                <a:latin typeface="Cambria" pitchFamily="34" charset="0"/>
                <a:ea typeface="Cambria" pitchFamily="34" charset="-122"/>
                <a:cs typeface="Cambria" pitchFamily="34" charset="-120"/>
              </a:rPr>
              <a:t>9</a:t>
            </a:r>
            <a:endParaRPr lang="tr-TR" sz="1400" dirty="0"/>
          </a:p>
          <a:p>
            <a:pPr algn="ctr" indent="0" marL="0">
              <a:buNone/>
            </a:pPr>
            <a:r>
              <a:rPr lang="tr-TR" sz="1300" dirty="0">
                <a:solidFill>
                  <a:srgbClr val="F2F2F2"/>
                </a:solidFill>
                <a:latin typeface="Calibri" pitchFamily="34" charset="0"/>
                <a:ea typeface="Calibri" pitchFamily="34" charset="-122"/>
                <a:cs typeface="Calibri" pitchFamily="34" charset="-120"/>
              </a:rPr>
              <a:t>OPT ile sayfa hatası (en az)</a:t>
            </a:r>
            <a:endParaRPr lang="tr-TR"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SAYFA DEĞİŞTİRME · LRU</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LRU: En Uzun Süredir Kullanılmayan Sayfayı Değiştir</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En uzun süredir kullanılmayan (Least Recently Used): kurban, en uzun süredir kullanılmamış sayfadır. Geçmişi geleceğin tahmini olarak kullanır.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16</a:t>
            </a:r>
            <a:endParaRPr lang="tr-TR" sz="900" dirty="0"/>
          </a:p>
        </p:txBody>
      </p:sp>
      <p:sp>
        <p:nvSpPr>
          <p:cNvPr id="7" name="Text 5"/>
          <p:cNvSpPr txBox="1"/>
          <p:nvPr/>
        </p:nvSpPr>
        <p:spPr>
          <a:xfrm>
            <a:off x="548640" y="2011680"/>
            <a:ext cx="11109960" cy="320040"/>
          </a:xfrm>
          <a:prstGeom prst="rect">
            <a:avLst/>
          </a:prstGeom>
          <a:noFill/>
          <a:ln/>
        </p:spPr>
        <p:txBody>
          <a:bodyPr wrap="square" lIns="0" tIns="0" rIns="0" bIns="0" rtlCol="0" anchor="t"/>
          <a:lstStyle/>
          <a:p>
            <a:pPr indent="0" marL="0">
              <a:buNone/>
            </a:pPr>
            <a:r>
              <a:rPr lang="tr-TR" sz="1300" i="1" dirty="0">
                <a:solidFill>
                  <a:srgbClr val="6B7679"/>
                </a:solidFill>
                <a:latin typeface="Calibri" pitchFamily="34" charset="0"/>
                <a:ea typeface="Calibri" pitchFamily="34" charset="-122"/>
                <a:cs typeface="Calibri" pitchFamily="34" charset="-120"/>
              </a:rPr>
              <a:t>Başvuru dizisi: 7, 0, 1, 2, 0, 3, 0, 4, 2, 3, 0, 3, 2, 1, 2, 0, 1, 7, 0, 1   ·   3 çerçeve</a:t>
            </a:r>
            <a:endParaRPr lang="tr-TR" sz="1300" dirty="0"/>
          </a:p>
        </p:txBody>
      </p:sp>
      <p:sp>
        <p:nvSpPr>
          <p:cNvPr id="8" name="Text 6"/>
          <p:cNvSpPr txBox="1"/>
          <p:nvPr/>
        </p:nvSpPr>
        <p:spPr>
          <a:xfrm>
            <a:off x="548640" y="2377440"/>
            <a:ext cx="841248" cy="420624"/>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başvuru</a:t>
            </a:r>
            <a:endParaRPr lang="tr-TR" sz="1100" dirty="0"/>
          </a:p>
        </p:txBody>
      </p:sp>
      <p:sp>
        <p:nvSpPr>
          <p:cNvPr id="9" name="Text 7"/>
          <p:cNvSpPr txBox="1"/>
          <p:nvPr/>
        </p:nvSpPr>
        <p:spPr>
          <a:xfrm>
            <a:off x="548640" y="2798064"/>
            <a:ext cx="841248" cy="420624"/>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çerçeve 0</a:t>
            </a:r>
            <a:endParaRPr lang="tr-TR" sz="1100" dirty="0"/>
          </a:p>
        </p:txBody>
      </p:sp>
      <p:sp>
        <p:nvSpPr>
          <p:cNvPr id="10" name="Text 8"/>
          <p:cNvSpPr txBox="1"/>
          <p:nvPr/>
        </p:nvSpPr>
        <p:spPr>
          <a:xfrm>
            <a:off x="548640" y="3218688"/>
            <a:ext cx="841248" cy="420624"/>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çerçeve 1</a:t>
            </a:r>
            <a:endParaRPr lang="tr-TR" sz="1100" dirty="0"/>
          </a:p>
        </p:txBody>
      </p:sp>
      <p:sp>
        <p:nvSpPr>
          <p:cNvPr id="11" name="Text 9"/>
          <p:cNvSpPr txBox="1"/>
          <p:nvPr/>
        </p:nvSpPr>
        <p:spPr>
          <a:xfrm>
            <a:off x="548640" y="3639312"/>
            <a:ext cx="841248" cy="420624"/>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çerçeve 2</a:t>
            </a:r>
            <a:endParaRPr lang="tr-TR" sz="1100" dirty="0"/>
          </a:p>
        </p:txBody>
      </p:sp>
      <p:sp>
        <p:nvSpPr>
          <p:cNvPr id="12" name="Text 10"/>
          <p:cNvSpPr txBox="1"/>
          <p:nvPr/>
        </p:nvSpPr>
        <p:spPr>
          <a:xfrm>
            <a:off x="548640" y="4059936"/>
            <a:ext cx="841248" cy="420624"/>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hata?</a:t>
            </a:r>
            <a:endParaRPr lang="tr-TR" sz="1100" dirty="0"/>
          </a:p>
        </p:txBody>
      </p:sp>
      <p:sp>
        <p:nvSpPr>
          <p:cNvPr id="13" name="Shape 11"/>
          <p:cNvSpPr/>
          <p:nvPr/>
        </p:nvSpPr>
        <p:spPr>
          <a:xfrm>
            <a:off x="1481328" y="2395728"/>
            <a:ext cx="473202" cy="384048"/>
          </a:xfrm>
          <a:prstGeom prst="roundRect">
            <a:avLst>
              <a:gd name="adj" fmla="val 11905"/>
            </a:avLst>
          </a:prstGeom>
          <a:solidFill>
            <a:srgbClr val="36454F"/>
          </a:solidFill>
          <a:ln/>
        </p:spPr>
      </p:sp>
      <p:sp>
        <p:nvSpPr>
          <p:cNvPr id="14" name="Text 12"/>
          <p:cNvSpPr txBox="1"/>
          <p:nvPr/>
        </p:nvSpPr>
        <p:spPr>
          <a:xfrm>
            <a:off x="1481328"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7</a:t>
            </a:r>
            <a:endParaRPr lang="tr-TR" sz="1400" dirty="0"/>
          </a:p>
        </p:txBody>
      </p:sp>
      <p:sp>
        <p:nvSpPr>
          <p:cNvPr id="15" name="Shape 13"/>
          <p:cNvSpPr/>
          <p:nvPr/>
        </p:nvSpPr>
        <p:spPr>
          <a:xfrm>
            <a:off x="1481328" y="2816352"/>
            <a:ext cx="473202" cy="384048"/>
          </a:xfrm>
          <a:prstGeom prst="roundRect">
            <a:avLst>
              <a:gd name="adj" fmla="val 11905"/>
            </a:avLst>
          </a:prstGeom>
          <a:solidFill>
            <a:srgbClr val="02C39A"/>
          </a:solidFill>
          <a:ln/>
        </p:spPr>
      </p:sp>
      <p:sp>
        <p:nvSpPr>
          <p:cNvPr id="16" name="Text 14"/>
          <p:cNvSpPr txBox="1"/>
          <p:nvPr/>
        </p:nvSpPr>
        <p:spPr>
          <a:xfrm>
            <a:off x="1481328" y="2816352"/>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7</a:t>
            </a:r>
            <a:endParaRPr lang="tr-TR" sz="1400" dirty="0"/>
          </a:p>
        </p:txBody>
      </p:sp>
      <p:sp>
        <p:nvSpPr>
          <p:cNvPr id="17" name="Shape 15"/>
          <p:cNvSpPr/>
          <p:nvPr/>
        </p:nvSpPr>
        <p:spPr>
          <a:xfrm>
            <a:off x="1481328" y="3236976"/>
            <a:ext cx="473202" cy="384048"/>
          </a:xfrm>
          <a:prstGeom prst="roundRect">
            <a:avLst>
              <a:gd name="adj" fmla="val 11905"/>
            </a:avLst>
          </a:prstGeom>
          <a:solidFill>
            <a:srgbClr val="D7E9E6"/>
          </a:solidFill>
          <a:ln/>
        </p:spPr>
      </p:sp>
      <p:sp>
        <p:nvSpPr>
          <p:cNvPr id="18" name="Text 16"/>
          <p:cNvSpPr txBox="1"/>
          <p:nvPr/>
        </p:nvSpPr>
        <p:spPr>
          <a:xfrm>
            <a:off x="1481328" y="3236976"/>
            <a:ext cx="473202" cy="384048"/>
          </a:xfrm>
          <a:prstGeom prst="rect">
            <a:avLst/>
          </a:prstGeom>
          <a:noFill/>
          <a:ln/>
        </p:spPr>
        <p:txBody>
          <a:bodyPr wrap="square" lIns="38100" tIns="38100" rIns="38100" bIns="38100" rtlCol="0" anchor="ctr"/>
          <a:lstStyle/>
          <a:p>
            <a:pPr algn="ctr" indent="0" marL="0">
              <a:buNone/>
            </a:pPr>
            <a:endParaRPr lang="tr-TR" sz="1400" dirty="0"/>
          </a:p>
        </p:txBody>
      </p:sp>
      <p:sp>
        <p:nvSpPr>
          <p:cNvPr id="19" name="Shape 17"/>
          <p:cNvSpPr/>
          <p:nvPr/>
        </p:nvSpPr>
        <p:spPr>
          <a:xfrm>
            <a:off x="1481328" y="3657600"/>
            <a:ext cx="473202" cy="384048"/>
          </a:xfrm>
          <a:prstGeom prst="roundRect">
            <a:avLst>
              <a:gd name="adj" fmla="val 11905"/>
            </a:avLst>
          </a:prstGeom>
          <a:solidFill>
            <a:srgbClr val="D7E9E6"/>
          </a:solidFill>
          <a:ln/>
        </p:spPr>
      </p:sp>
      <p:sp>
        <p:nvSpPr>
          <p:cNvPr id="20" name="Text 18"/>
          <p:cNvSpPr txBox="1"/>
          <p:nvPr/>
        </p:nvSpPr>
        <p:spPr>
          <a:xfrm>
            <a:off x="1481328" y="3657600"/>
            <a:ext cx="473202" cy="384048"/>
          </a:xfrm>
          <a:prstGeom prst="rect">
            <a:avLst/>
          </a:prstGeom>
          <a:noFill/>
          <a:ln/>
        </p:spPr>
        <p:txBody>
          <a:bodyPr wrap="square" lIns="38100" tIns="38100" rIns="38100" bIns="38100" rtlCol="0" anchor="ctr"/>
          <a:lstStyle/>
          <a:p>
            <a:pPr algn="ctr" indent="0" marL="0">
              <a:buNone/>
            </a:pPr>
            <a:endParaRPr lang="tr-TR" sz="1400" dirty="0"/>
          </a:p>
        </p:txBody>
      </p:sp>
      <p:sp>
        <p:nvSpPr>
          <p:cNvPr id="21" name="Text 19"/>
          <p:cNvSpPr txBox="1"/>
          <p:nvPr/>
        </p:nvSpPr>
        <p:spPr>
          <a:xfrm>
            <a:off x="1463040"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22" name="Shape 20"/>
          <p:cNvSpPr/>
          <p:nvPr/>
        </p:nvSpPr>
        <p:spPr>
          <a:xfrm>
            <a:off x="1991106" y="2395728"/>
            <a:ext cx="473202" cy="384048"/>
          </a:xfrm>
          <a:prstGeom prst="roundRect">
            <a:avLst>
              <a:gd name="adj" fmla="val 11905"/>
            </a:avLst>
          </a:prstGeom>
          <a:solidFill>
            <a:srgbClr val="36454F"/>
          </a:solidFill>
          <a:ln/>
        </p:spPr>
      </p:sp>
      <p:sp>
        <p:nvSpPr>
          <p:cNvPr id="23" name="Text 21"/>
          <p:cNvSpPr txBox="1"/>
          <p:nvPr/>
        </p:nvSpPr>
        <p:spPr>
          <a:xfrm>
            <a:off x="1991106"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0</a:t>
            </a:r>
            <a:endParaRPr lang="tr-TR" sz="1400" dirty="0"/>
          </a:p>
        </p:txBody>
      </p:sp>
      <p:sp>
        <p:nvSpPr>
          <p:cNvPr id="24" name="Shape 22"/>
          <p:cNvSpPr/>
          <p:nvPr/>
        </p:nvSpPr>
        <p:spPr>
          <a:xfrm>
            <a:off x="1991106" y="2816352"/>
            <a:ext cx="473202" cy="384048"/>
          </a:xfrm>
          <a:prstGeom prst="roundRect">
            <a:avLst>
              <a:gd name="adj" fmla="val 11905"/>
            </a:avLst>
          </a:prstGeom>
          <a:solidFill>
            <a:srgbClr val="D7E9E6"/>
          </a:solidFill>
          <a:ln/>
        </p:spPr>
      </p:sp>
      <p:sp>
        <p:nvSpPr>
          <p:cNvPr id="25" name="Text 23"/>
          <p:cNvSpPr txBox="1"/>
          <p:nvPr/>
        </p:nvSpPr>
        <p:spPr>
          <a:xfrm>
            <a:off x="1991106"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7</a:t>
            </a:r>
            <a:endParaRPr lang="tr-TR" sz="1400" dirty="0"/>
          </a:p>
        </p:txBody>
      </p:sp>
      <p:sp>
        <p:nvSpPr>
          <p:cNvPr id="26" name="Shape 24"/>
          <p:cNvSpPr/>
          <p:nvPr/>
        </p:nvSpPr>
        <p:spPr>
          <a:xfrm>
            <a:off x="1991106" y="3236976"/>
            <a:ext cx="473202" cy="384048"/>
          </a:xfrm>
          <a:prstGeom prst="roundRect">
            <a:avLst>
              <a:gd name="adj" fmla="val 11905"/>
            </a:avLst>
          </a:prstGeom>
          <a:solidFill>
            <a:srgbClr val="02C39A"/>
          </a:solidFill>
          <a:ln/>
        </p:spPr>
      </p:sp>
      <p:sp>
        <p:nvSpPr>
          <p:cNvPr id="27" name="Text 25"/>
          <p:cNvSpPr txBox="1"/>
          <p:nvPr/>
        </p:nvSpPr>
        <p:spPr>
          <a:xfrm>
            <a:off x="1991106" y="3236976"/>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0</a:t>
            </a:r>
            <a:endParaRPr lang="tr-TR" sz="1400" dirty="0"/>
          </a:p>
        </p:txBody>
      </p:sp>
      <p:sp>
        <p:nvSpPr>
          <p:cNvPr id="28" name="Shape 26"/>
          <p:cNvSpPr/>
          <p:nvPr/>
        </p:nvSpPr>
        <p:spPr>
          <a:xfrm>
            <a:off x="1991106" y="3657600"/>
            <a:ext cx="473202" cy="384048"/>
          </a:xfrm>
          <a:prstGeom prst="roundRect">
            <a:avLst>
              <a:gd name="adj" fmla="val 11905"/>
            </a:avLst>
          </a:prstGeom>
          <a:solidFill>
            <a:srgbClr val="D7E9E6"/>
          </a:solidFill>
          <a:ln/>
        </p:spPr>
      </p:sp>
      <p:sp>
        <p:nvSpPr>
          <p:cNvPr id="29" name="Text 27"/>
          <p:cNvSpPr txBox="1"/>
          <p:nvPr/>
        </p:nvSpPr>
        <p:spPr>
          <a:xfrm>
            <a:off x="1991106" y="3657600"/>
            <a:ext cx="473202" cy="384048"/>
          </a:xfrm>
          <a:prstGeom prst="rect">
            <a:avLst/>
          </a:prstGeom>
          <a:noFill/>
          <a:ln/>
        </p:spPr>
        <p:txBody>
          <a:bodyPr wrap="square" lIns="38100" tIns="38100" rIns="38100" bIns="38100" rtlCol="0" anchor="ctr"/>
          <a:lstStyle/>
          <a:p>
            <a:pPr algn="ctr" indent="0" marL="0">
              <a:buNone/>
            </a:pPr>
            <a:endParaRPr lang="tr-TR" sz="1400" dirty="0"/>
          </a:p>
        </p:txBody>
      </p:sp>
      <p:sp>
        <p:nvSpPr>
          <p:cNvPr id="30" name="Text 28"/>
          <p:cNvSpPr txBox="1"/>
          <p:nvPr/>
        </p:nvSpPr>
        <p:spPr>
          <a:xfrm>
            <a:off x="1972818"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31" name="Shape 29"/>
          <p:cNvSpPr/>
          <p:nvPr/>
        </p:nvSpPr>
        <p:spPr>
          <a:xfrm>
            <a:off x="2500884" y="2395728"/>
            <a:ext cx="473202" cy="384048"/>
          </a:xfrm>
          <a:prstGeom prst="roundRect">
            <a:avLst>
              <a:gd name="adj" fmla="val 11905"/>
            </a:avLst>
          </a:prstGeom>
          <a:solidFill>
            <a:srgbClr val="36454F"/>
          </a:solidFill>
          <a:ln/>
        </p:spPr>
      </p:sp>
      <p:sp>
        <p:nvSpPr>
          <p:cNvPr id="32" name="Text 30"/>
          <p:cNvSpPr txBox="1"/>
          <p:nvPr/>
        </p:nvSpPr>
        <p:spPr>
          <a:xfrm>
            <a:off x="2500884"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1</a:t>
            </a:r>
            <a:endParaRPr lang="tr-TR" sz="1400" dirty="0"/>
          </a:p>
        </p:txBody>
      </p:sp>
      <p:sp>
        <p:nvSpPr>
          <p:cNvPr id="33" name="Shape 31"/>
          <p:cNvSpPr/>
          <p:nvPr/>
        </p:nvSpPr>
        <p:spPr>
          <a:xfrm>
            <a:off x="2500884" y="2816352"/>
            <a:ext cx="473202" cy="384048"/>
          </a:xfrm>
          <a:prstGeom prst="roundRect">
            <a:avLst>
              <a:gd name="adj" fmla="val 11905"/>
            </a:avLst>
          </a:prstGeom>
          <a:solidFill>
            <a:srgbClr val="D7E9E6"/>
          </a:solidFill>
          <a:ln/>
        </p:spPr>
      </p:sp>
      <p:sp>
        <p:nvSpPr>
          <p:cNvPr id="34" name="Text 32"/>
          <p:cNvSpPr txBox="1"/>
          <p:nvPr/>
        </p:nvSpPr>
        <p:spPr>
          <a:xfrm>
            <a:off x="2500884"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7</a:t>
            </a:r>
            <a:endParaRPr lang="tr-TR" sz="1400" dirty="0"/>
          </a:p>
        </p:txBody>
      </p:sp>
      <p:sp>
        <p:nvSpPr>
          <p:cNvPr id="35" name="Shape 33"/>
          <p:cNvSpPr/>
          <p:nvPr/>
        </p:nvSpPr>
        <p:spPr>
          <a:xfrm>
            <a:off x="2500884" y="3236976"/>
            <a:ext cx="473202" cy="384048"/>
          </a:xfrm>
          <a:prstGeom prst="roundRect">
            <a:avLst>
              <a:gd name="adj" fmla="val 11905"/>
            </a:avLst>
          </a:prstGeom>
          <a:solidFill>
            <a:srgbClr val="D7E9E6"/>
          </a:solidFill>
          <a:ln/>
        </p:spPr>
      </p:sp>
      <p:sp>
        <p:nvSpPr>
          <p:cNvPr id="36" name="Text 34"/>
          <p:cNvSpPr txBox="1"/>
          <p:nvPr/>
        </p:nvSpPr>
        <p:spPr>
          <a:xfrm>
            <a:off x="2500884"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0</a:t>
            </a:r>
            <a:endParaRPr lang="tr-TR" sz="1400" dirty="0"/>
          </a:p>
        </p:txBody>
      </p:sp>
      <p:sp>
        <p:nvSpPr>
          <p:cNvPr id="37" name="Shape 35"/>
          <p:cNvSpPr/>
          <p:nvPr/>
        </p:nvSpPr>
        <p:spPr>
          <a:xfrm>
            <a:off x="2500884" y="3657600"/>
            <a:ext cx="473202" cy="384048"/>
          </a:xfrm>
          <a:prstGeom prst="roundRect">
            <a:avLst>
              <a:gd name="adj" fmla="val 11905"/>
            </a:avLst>
          </a:prstGeom>
          <a:solidFill>
            <a:srgbClr val="02C39A"/>
          </a:solidFill>
          <a:ln/>
        </p:spPr>
      </p:sp>
      <p:sp>
        <p:nvSpPr>
          <p:cNvPr id="38" name="Text 36"/>
          <p:cNvSpPr txBox="1"/>
          <p:nvPr/>
        </p:nvSpPr>
        <p:spPr>
          <a:xfrm>
            <a:off x="2500884" y="3657600"/>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1</a:t>
            </a:r>
            <a:endParaRPr lang="tr-TR" sz="1400" dirty="0"/>
          </a:p>
        </p:txBody>
      </p:sp>
      <p:sp>
        <p:nvSpPr>
          <p:cNvPr id="39" name="Text 37"/>
          <p:cNvSpPr txBox="1"/>
          <p:nvPr/>
        </p:nvSpPr>
        <p:spPr>
          <a:xfrm>
            <a:off x="2482596"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40" name="Shape 38"/>
          <p:cNvSpPr/>
          <p:nvPr/>
        </p:nvSpPr>
        <p:spPr>
          <a:xfrm>
            <a:off x="3010662" y="2395728"/>
            <a:ext cx="473202" cy="384048"/>
          </a:xfrm>
          <a:prstGeom prst="roundRect">
            <a:avLst>
              <a:gd name="adj" fmla="val 11905"/>
            </a:avLst>
          </a:prstGeom>
          <a:solidFill>
            <a:srgbClr val="36454F"/>
          </a:solidFill>
          <a:ln/>
        </p:spPr>
      </p:sp>
      <p:sp>
        <p:nvSpPr>
          <p:cNvPr id="41" name="Text 39"/>
          <p:cNvSpPr txBox="1"/>
          <p:nvPr/>
        </p:nvSpPr>
        <p:spPr>
          <a:xfrm>
            <a:off x="3010662"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2</a:t>
            </a:r>
            <a:endParaRPr lang="tr-TR" sz="1400" dirty="0"/>
          </a:p>
        </p:txBody>
      </p:sp>
      <p:sp>
        <p:nvSpPr>
          <p:cNvPr id="42" name="Shape 40"/>
          <p:cNvSpPr/>
          <p:nvPr/>
        </p:nvSpPr>
        <p:spPr>
          <a:xfrm>
            <a:off x="3010662" y="2816352"/>
            <a:ext cx="473202" cy="384048"/>
          </a:xfrm>
          <a:prstGeom prst="roundRect">
            <a:avLst>
              <a:gd name="adj" fmla="val 11905"/>
            </a:avLst>
          </a:prstGeom>
          <a:solidFill>
            <a:srgbClr val="02C39A"/>
          </a:solidFill>
          <a:ln/>
        </p:spPr>
      </p:sp>
      <p:sp>
        <p:nvSpPr>
          <p:cNvPr id="43" name="Text 41"/>
          <p:cNvSpPr txBox="1"/>
          <p:nvPr/>
        </p:nvSpPr>
        <p:spPr>
          <a:xfrm>
            <a:off x="3010662" y="2816352"/>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2</a:t>
            </a:r>
            <a:endParaRPr lang="tr-TR" sz="1400" dirty="0"/>
          </a:p>
        </p:txBody>
      </p:sp>
      <p:sp>
        <p:nvSpPr>
          <p:cNvPr id="44" name="Shape 42"/>
          <p:cNvSpPr/>
          <p:nvPr/>
        </p:nvSpPr>
        <p:spPr>
          <a:xfrm>
            <a:off x="3010662" y="3236976"/>
            <a:ext cx="473202" cy="384048"/>
          </a:xfrm>
          <a:prstGeom prst="roundRect">
            <a:avLst>
              <a:gd name="adj" fmla="val 11905"/>
            </a:avLst>
          </a:prstGeom>
          <a:solidFill>
            <a:srgbClr val="D7E9E6"/>
          </a:solidFill>
          <a:ln/>
        </p:spPr>
      </p:sp>
      <p:sp>
        <p:nvSpPr>
          <p:cNvPr id="45" name="Text 43"/>
          <p:cNvSpPr txBox="1"/>
          <p:nvPr/>
        </p:nvSpPr>
        <p:spPr>
          <a:xfrm>
            <a:off x="3010662"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0</a:t>
            </a:r>
            <a:endParaRPr lang="tr-TR" sz="1400" dirty="0"/>
          </a:p>
        </p:txBody>
      </p:sp>
      <p:sp>
        <p:nvSpPr>
          <p:cNvPr id="46" name="Shape 44"/>
          <p:cNvSpPr/>
          <p:nvPr/>
        </p:nvSpPr>
        <p:spPr>
          <a:xfrm>
            <a:off x="3010662" y="3657600"/>
            <a:ext cx="473202" cy="384048"/>
          </a:xfrm>
          <a:prstGeom prst="roundRect">
            <a:avLst>
              <a:gd name="adj" fmla="val 11905"/>
            </a:avLst>
          </a:prstGeom>
          <a:solidFill>
            <a:srgbClr val="D7E9E6"/>
          </a:solidFill>
          <a:ln/>
        </p:spPr>
      </p:sp>
      <p:sp>
        <p:nvSpPr>
          <p:cNvPr id="47" name="Text 45"/>
          <p:cNvSpPr txBox="1"/>
          <p:nvPr/>
        </p:nvSpPr>
        <p:spPr>
          <a:xfrm>
            <a:off x="3010662"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1</a:t>
            </a:r>
            <a:endParaRPr lang="tr-TR" sz="1400" dirty="0"/>
          </a:p>
        </p:txBody>
      </p:sp>
      <p:sp>
        <p:nvSpPr>
          <p:cNvPr id="48" name="Text 46"/>
          <p:cNvSpPr txBox="1"/>
          <p:nvPr/>
        </p:nvSpPr>
        <p:spPr>
          <a:xfrm>
            <a:off x="2992374"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49" name="Shape 47"/>
          <p:cNvSpPr/>
          <p:nvPr/>
        </p:nvSpPr>
        <p:spPr>
          <a:xfrm>
            <a:off x="3520440" y="2395728"/>
            <a:ext cx="473202" cy="384048"/>
          </a:xfrm>
          <a:prstGeom prst="roundRect">
            <a:avLst>
              <a:gd name="adj" fmla="val 11905"/>
            </a:avLst>
          </a:prstGeom>
          <a:solidFill>
            <a:srgbClr val="36454F"/>
          </a:solidFill>
          <a:ln/>
        </p:spPr>
      </p:sp>
      <p:sp>
        <p:nvSpPr>
          <p:cNvPr id="50" name="Text 48"/>
          <p:cNvSpPr txBox="1"/>
          <p:nvPr/>
        </p:nvSpPr>
        <p:spPr>
          <a:xfrm>
            <a:off x="3520440"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0</a:t>
            </a:r>
            <a:endParaRPr lang="tr-TR" sz="1400" dirty="0"/>
          </a:p>
        </p:txBody>
      </p:sp>
      <p:sp>
        <p:nvSpPr>
          <p:cNvPr id="51" name="Shape 49"/>
          <p:cNvSpPr/>
          <p:nvPr/>
        </p:nvSpPr>
        <p:spPr>
          <a:xfrm>
            <a:off x="3520440" y="2816352"/>
            <a:ext cx="473202" cy="384048"/>
          </a:xfrm>
          <a:prstGeom prst="roundRect">
            <a:avLst>
              <a:gd name="adj" fmla="val 11905"/>
            </a:avLst>
          </a:prstGeom>
          <a:solidFill>
            <a:srgbClr val="F2F2F2"/>
          </a:solidFill>
          <a:ln/>
        </p:spPr>
      </p:sp>
      <p:sp>
        <p:nvSpPr>
          <p:cNvPr id="52" name="Text 50"/>
          <p:cNvSpPr txBox="1"/>
          <p:nvPr/>
        </p:nvSpPr>
        <p:spPr>
          <a:xfrm>
            <a:off x="3520440"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2</a:t>
            </a:r>
            <a:endParaRPr lang="tr-TR" sz="1400" dirty="0"/>
          </a:p>
        </p:txBody>
      </p:sp>
      <p:sp>
        <p:nvSpPr>
          <p:cNvPr id="53" name="Shape 51"/>
          <p:cNvSpPr/>
          <p:nvPr/>
        </p:nvSpPr>
        <p:spPr>
          <a:xfrm>
            <a:off x="3520440" y="3236976"/>
            <a:ext cx="473202" cy="384048"/>
          </a:xfrm>
          <a:prstGeom prst="roundRect">
            <a:avLst>
              <a:gd name="adj" fmla="val 11905"/>
            </a:avLst>
          </a:prstGeom>
          <a:solidFill>
            <a:srgbClr val="F2F2F2"/>
          </a:solidFill>
          <a:ln/>
        </p:spPr>
      </p:sp>
      <p:sp>
        <p:nvSpPr>
          <p:cNvPr id="54" name="Text 52"/>
          <p:cNvSpPr txBox="1"/>
          <p:nvPr/>
        </p:nvSpPr>
        <p:spPr>
          <a:xfrm>
            <a:off x="3520440"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0</a:t>
            </a:r>
            <a:endParaRPr lang="tr-TR" sz="1400" dirty="0"/>
          </a:p>
        </p:txBody>
      </p:sp>
      <p:sp>
        <p:nvSpPr>
          <p:cNvPr id="55" name="Shape 53"/>
          <p:cNvSpPr/>
          <p:nvPr/>
        </p:nvSpPr>
        <p:spPr>
          <a:xfrm>
            <a:off x="3520440" y="3657600"/>
            <a:ext cx="473202" cy="384048"/>
          </a:xfrm>
          <a:prstGeom prst="roundRect">
            <a:avLst>
              <a:gd name="adj" fmla="val 11905"/>
            </a:avLst>
          </a:prstGeom>
          <a:solidFill>
            <a:srgbClr val="F2F2F2"/>
          </a:solidFill>
          <a:ln/>
        </p:spPr>
      </p:sp>
      <p:sp>
        <p:nvSpPr>
          <p:cNvPr id="56" name="Text 54"/>
          <p:cNvSpPr txBox="1"/>
          <p:nvPr/>
        </p:nvSpPr>
        <p:spPr>
          <a:xfrm>
            <a:off x="3520440"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1</a:t>
            </a:r>
            <a:endParaRPr lang="tr-TR" sz="1400" dirty="0"/>
          </a:p>
        </p:txBody>
      </p:sp>
      <p:sp>
        <p:nvSpPr>
          <p:cNvPr id="57" name="Text 55"/>
          <p:cNvSpPr txBox="1"/>
          <p:nvPr/>
        </p:nvSpPr>
        <p:spPr>
          <a:xfrm>
            <a:off x="3502152" y="4059936"/>
            <a:ext cx="509778" cy="420624"/>
          </a:xfrm>
          <a:prstGeom prst="rect">
            <a:avLst/>
          </a:prstGeom>
          <a:noFill/>
          <a:ln/>
        </p:spPr>
        <p:txBody>
          <a:bodyPr wrap="square" lIns="0" tIns="0" rIns="0" bIns="0" rtlCol="0" anchor="ctr"/>
          <a:lstStyle/>
          <a:p>
            <a:pPr algn="ctr" indent="0" marL="0">
              <a:buNone/>
            </a:pPr>
            <a:endParaRPr lang="tr-TR" sz="1400" dirty="0"/>
          </a:p>
        </p:txBody>
      </p:sp>
      <p:sp>
        <p:nvSpPr>
          <p:cNvPr id="58" name="Shape 56"/>
          <p:cNvSpPr/>
          <p:nvPr/>
        </p:nvSpPr>
        <p:spPr>
          <a:xfrm>
            <a:off x="4030218" y="2395728"/>
            <a:ext cx="473202" cy="384048"/>
          </a:xfrm>
          <a:prstGeom prst="roundRect">
            <a:avLst>
              <a:gd name="adj" fmla="val 11905"/>
            </a:avLst>
          </a:prstGeom>
          <a:solidFill>
            <a:srgbClr val="36454F"/>
          </a:solidFill>
          <a:ln/>
        </p:spPr>
      </p:sp>
      <p:sp>
        <p:nvSpPr>
          <p:cNvPr id="59" name="Text 57"/>
          <p:cNvSpPr txBox="1"/>
          <p:nvPr/>
        </p:nvSpPr>
        <p:spPr>
          <a:xfrm>
            <a:off x="4030218"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3</a:t>
            </a:r>
            <a:endParaRPr lang="tr-TR" sz="1400" dirty="0"/>
          </a:p>
        </p:txBody>
      </p:sp>
      <p:sp>
        <p:nvSpPr>
          <p:cNvPr id="60" name="Shape 58"/>
          <p:cNvSpPr/>
          <p:nvPr/>
        </p:nvSpPr>
        <p:spPr>
          <a:xfrm>
            <a:off x="4030218" y="2816352"/>
            <a:ext cx="473202" cy="384048"/>
          </a:xfrm>
          <a:prstGeom prst="roundRect">
            <a:avLst>
              <a:gd name="adj" fmla="val 11905"/>
            </a:avLst>
          </a:prstGeom>
          <a:solidFill>
            <a:srgbClr val="D7E9E6"/>
          </a:solidFill>
          <a:ln/>
        </p:spPr>
      </p:sp>
      <p:sp>
        <p:nvSpPr>
          <p:cNvPr id="61" name="Text 59"/>
          <p:cNvSpPr txBox="1"/>
          <p:nvPr/>
        </p:nvSpPr>
        <p:spPr>
          <a:xfrm>
            <a:off x="4030218"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2</a:t>
            </a:r>
            <a:endParaRPr lang="tr-TR" sz="1400" dirty="0"/>
          </a:p>
        </p:txBody>
      </p:sp>
      <p:sp>
        <p:nvSpPr>
          <p:cNvPr id="62" name="Shape 60"/>
          <p:cNvSpPr/>
          <p:nvPr/>
        </p:nvSpPr>
        <p:spPr>
          <a:xfrm>
            <a:off x="4030218" y="3236976"/>
            <a:ext cx="473202" cy="384048"/>
          </a:xfrm>
          <a:prstGeom prst="roundRect">
            <a:avLst>
              <a:gd name="adj" fmla="val 11905"/>
            </a:avLst>
          </a:prstGeom>
          <a:solidFill>
            <a:srgbClr val="D7E9E6"/>
          </a:solidFill>
          <a:ln/>
        </p:spPr>
      </p:sp>
      <p:sp>
        <p:nvSpPr>
          <p:cNvPr id="63" name="Text 61"/>
          <p:cNvSpPr txBox="1"/>
          <p:nvPr/>
        </p:nvSpPr>
        <p:spPr>
          <a:xfrm>
            <a:off x="4030218"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0</a:t>
            </a:r>
            <a:endParaRPr lang="tr-TR" sz="1400" dirty="0"/>
          </a:p>
        </p:txBody>
      </p:sp>
      <p:sp>
        <p:nvSpPr>
          <p:cNvPr id="64" name="Shape 62"/>
          <p:cNvSpPr/>
          <p:nvPr/>
        </p:nvSpPr>
        <p:spPr>
          <a:xfrm>
            <a:off x="4030218" y="3657600"/>
            <a:ext cx="473202" cy="384048"/>
          </a:xfrm>
          <a:prstGeom prst="roundRect">
            <a:avLst>
              <a:gd name="adj" fmla="val 11905"/>
            </a:avLst>
          </a:prstGeom>
          <a:solidFill>
            <a:srgbClr val="02C39A"/>
          </a:solidFill>
          <a:ln/>
        </p:spPr>
      </p:sp>
      <p:sp>
        <p:nvSpPr>
          <p:cNvPr id="65" name="Text 63"/>
          <p:cNvSpPr txBox="1"/>
          <p:nvPr/>
        </p:nvSpPr>
        <p:spPr>
          <a:xfrm>
            <a:off x="4030218" y="3657600"/>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3</a:t>
            </a:r>
            <a:endParaRPr lang="tr-TR" sz="1400" dirty="0"/>
          </a:p>
        </p:txBody>
      </p:sp>
      <p:sp>
        <p:nvSpPr>
          <p:cNvPr id="66" name="Text 64"/>
          <p:cNvSpPr txBox="1"/>
          <p:nvPr/>
        </p:nvSpPr>
        <p:spPr>
          <a:xfrm>
            <a:off x="4011930"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67" name="Shape 65"/>
          <p:cNvSpPr/>
          <p:nvPr/>
        </p:nvSpPr>
        <p:spPr>
          <a:xfrm>
            <a:off x="4539996" y="2395728"/>
            <a:ext cx="473202" cy="384048"/>
          </a:xfrm>
          <a:prstGeom prst="roundRect">
            <a:avLst>
              <a:gd name="adj" fmla="val 11905"/>
            </a:avLst>
          </a:prstGeom>
          <a:solidFill>
            <a:srgbClr val="36454F"/>
          </a:solidFill>
          <a:ln/>
        </p:spPr>
      </p:sp>
      <p:sp>
        <p:nvSpPr>
          <p:cNvPr id="68" name="Text 66"/>
          <p:cNvSpPr txBox="1"/>
          <p:nvPr/>
        </p:nvSpPr>
        <p:spPr>
          <a:xfrm>
            <a:off x="4539996"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0</a:t>
            </a:r>
            <a:endParaRPr lang="tr-TR" sz="1400" dirty="0"/>
          </a:p>
        </p:txBody>
      </p:sp>
      <p:sp>
        <p:nvSpPr>
          <p:cNvPr id="69" name="Shape 67"/>
          <p:cNvSpPr/>
          <p:nvPr/>
        </p:nvSpPr>
        <p:spPr>
          <a:xfrm>
            <a:off x="4539996" y="2816352"/>
            <a:ext cx="473202" cy="384048"/>
          </a:xfrm>
          <a:prstGeom prst="roundRect">
            <a:avLst>
              <a:gd name="adj" fmla="val 11905"/>
            </a:avLst>
          </a:prstGeom>
          <a:solidFill>
            <a:srgbClr val="F2F2F2"/>
          </a:solidFill>
          <a:ln/>
        </p:spPr>
      </p:sp>
      <p:sp>
        <p:nvSpPr>
          <p:cNvPr id="70" name="Text 68"/>
          <p:cNvSpPr txBox="1"/>
          <p:nvPr/>
        </p:nvSpPr>
        <p:spPr>
          <a:xfrm>
            <a:off x="4539996"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2</a:t>
            </a:r>
            <a:endParaRPr lang="tr-TR" sz="1400" dirty="0"/>
          </a:p>
        </p:txBody>
      </p:sp>
      <p:sp>
        <p:nvSpPr>
          <p:cNvPr id="71" name="Shape 69"/>
          <p:cNvSpPr/>
          <p:nvPr/>
        </p:nvSpPr>
        <p:spPr>
          <a:xfrm>
            <a:off x="4539996" y="3236976"/>
            <a:ext cx="473202" cy="384048"/>
          </a:xfrm>
          <a:prstGeom prst="roundRect">
            <a:avLst>
              <a:gd name="adj" fmla="val 11905"/>
            </a:avLst>
          </a:prstGeom>
          <a:solidFill>
            <a:srgbClr val="F2F2F2"/>
          </a:solidFill>
          <a:ln/>
        </p:spPr>
      </p:sp>
      <p:sp>
        <p:nvSpPr>
          <p:cNvPr id="72" name="Text 70"/>
          <p:cNvSpPr txBox="1"/>
          <p:nvPr/>
        </p:nvSpPr>
        <p:spPr>
          <a:xfrm>
            <a:off x="4539996"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0</a:t>
            </a:r>
            <a:endParaRPr lang="tr-TR" sz="1400" dirty="0"/>
          </a:p>
        </p:txBody>
      </p:sp>
      <p:sp>
        <p:nvSpPr>
          <p:cNvPr id="73" name="Shape 71"/>
          <p:cNvSpPr/>
          <p:nvPr/>
        </p:nvSpPr>
        <p:spPr>
          <a:xfrm>
            <a:off x="4539996" y="3657600"/>
            <a:ext cx="473202" cy="384048"/>
          </a:xfrm>
          <a:prstGeom prst="roundRect">
            <a:avLst>
              <a:gd name="adj" fmla="val 11905"/>
            </a:avLst>
          </a:prstGeom>
          <a:solidFill>
            <a:srgbClr val="F2F2F2"/>
          </a:solidFill>
          <a:ln/>
        </p:spPr>
      </p:sp>
      <p:sp>
        <p:nvSpPr>
          <p:cNvPr id="74" name="Text 72"/>
          <p:cNvSpPr txBox="1"/>
          <p:nvPr/>
        </p:nvSpPr>
        <p:spPr>
          <a:xfrm>
            <a:off x="4539996"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3</a:t>
            </a:r>
            <a:endParaRPr lang="tr-TR" sz="1400" dirty="0"/>
          </a:p>
        </p:txBody>
      </p:sp>
      <p:sp>
        <p:nvSpPr>
          <p:cNvPr id="75" name="Text 73"/>
          <p:cNvSpPr txBox="1"/>
          <p:nvPr/>
        </p:nvSpPr>
        <p:spPr>
          <a:xfrm>
            <a:off x="4521708" y="4059936"/>
            <a:ext cx="509778" cy="420624"/>
          </a:xfrm>
          <a:prstGeom prst="rect">
            <a:avLst/>
          </a:prstGeom>
          <a:noFill/>
          <a:ln/>
        </p:spPr>
        <p:txBody>
          <a:bodyPr wrap="square" lIns="0" tIns="0" rIns="0" bIns="0" rtlCol="0" anchor="ctr"/>
          <a:lstStyle/>
          <a:p>
            <a:pPr algn="ctr" indent="0" marL="0">
              <a:buNone/>
            </a:pPr>
            <a:endParaRPr lang="tr-TR" sz="1400" dirty="0"/>
          </a:p>
        </p:txBody>
      </p:sp>
      <p:sp>
        <p:nvSpPr>
          <p:cNvPr id="76" name="Shape 74"/>
          <p:cNvSpPr/>
          <p:nvPr/>
        </p:nvSpPr>
        <p:spPr>
          <a:xfrm>
            <a:off x="5049774" y="2395728"/>
            <a:ext cx="473202" cy="384048"/>
          </a:xfrm>
          <a:prstGeom prst="roundRect">
            <a:avLst>
              <a:gd name="adj" fmla="val 11905"/>
            </a:avLst>
          </a:prstGeom>
          <a:solidFill>
            <a:srgbClr val="36454F"/>
          </a:solidFill>
          <a:ln/>
        </p:spPr>
      </p:sp>
      <p:sp>
        <p:nvSpPr>
          <p:cNvPr id="77" name="Text 75"/>
          <p:cNvSpPr txBox="1"/>
          <p:nvPr/>
        </p:nvSpPr>
        <p:spPr>
          <a:xfrm>
            <a:off x="5049774"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4</a:t>
            </a:r>
            <a:endParaRPr lang="tr-TR" sz="1400" dirty="0"/>
          </a:p>
        </p:txBody>
      </p:sp>
      <p:sp>
        <p:nvSpPr>
          <p:cNvPr id="78" name="Shape 76"/>
          <p:cNvSpPr/>
          <p:nvPr/>
        </p:nvSpPr>
        <p:spPr>
          <a:xfrm>
            <a:off x="5049774" y="2816352"/>
            <a:ext cx="473202" cy="384048"/>
          </a:xfrm>
          <a:prstGeom prst="roundRect">
            <a:avLst>
              <a:gd name="adj" fmla="val 11905"/>
            </a:avLst>
          </a:prstGeom>
          <a:solidFill>
            <a:srgbClr val="02C39A"/>
          </a:solidFill>
          <a:ln/>
        </p:spPr>
      </p:sp>
      <p:sp>
        <p:nvSpPr>
          <p:cNvPr id="79" name="Text 77"/>
          <p:cNvSpPr txBox="1"/>
          <p:nvPr/>
        </p:nvSpPr>
        <p:spPr>
          <a:xfrm>
            <a:off x="5049774" y="2816352"/>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4</a:t>
            </a:r>
            <a:endParaRPr lang="tr-TR" sz="1400" dirty="0"/>
          </a:p>
        </p:txBody>
      </p:sp>
      <p:sp>
        <p:nvSpPr>
          <p:cNvPr id="80" name="Shape 78"/>
          <p:cNvSpPr/>
          <p:nvPr/>
        </p:nvSpPr>
        <p:spPr>
          <a:xfrm>
            <a:off x="5049774" y="3236976"/>
            <a:ext cx="473202" cy="384048"/>
          </a:xfrm>
          <a:prstGeom prst="roundRect">
            <a:avLst>
              <a:gd name="adj" fmla="val 11905"/>
            </a:avLst>
          </a:prstGeom>
          <a:solidFill>
            <a:srgbClr val="D7E9E6"/>
          </a:solidFill>
          <a:ln/>
        </p:spPr>
      </p:sp>
      <p:sp>
        <p:nvSpPr>
          <p:cNvPr id="81" name="Text 79"/>
          <p:cNvSpPr txBox="1"/>
          <p:nvPr/>
        </p:nvSpPr>
        <p:spPr>
          <a:xfrm>
            <a:off x="5049774"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0</a:t>
            </a:r>
            <a:endParaRPr lang="tr-TR" sz="1400" dirty="0"/>
          </a:p>
        </p:txBody>
      </p:sp>
      <p:sp>
        <p:nvSpPr>
          <p:cNvPr id="82" name="Shape 80"/>
          <p:cNvSpPr/>
          <p:nvPr/>
        </p:nvSpPr>
        <p:spPr>
          <a:xfrm>
            <a:off x="5049774" y="3657600"/>
            <a:ext cx="473202" cy="384048"/>
          </a:xfrm>
          <a:prstGeom prst="roundRect">
            <a:avLst>
              <a:gd name="adj" fmla="val 11905"/>
            </a:avLst>
          </a:prstGeom>
          <a:solidFill>
            <a:srgbClr val="D7E9E6"/>
          </a:solidFill>
          <a:ln/>
        </p:spPr>
      </p:sp>
      <p:sp>
        <p:nvSpPr>
          <p:cNvPr id="83" name="Text 81"/>
          <p:cNvSpPr txBox="1"/>
          <p:nvPr/>
        </p:nvSpPr>
        <p:spPr>
          <a:xfrm>
            <a:off x="5049774"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3</a:t>
            </a:r>
            <a:endParaRPr lang="tr-TR" sz="1400" dirty="0"/>
          </a:p>
        </p:txBody>
      </p:sp>
      <p:sp>
        <p:nvSpPr>
          <p:cNvPr id="84" name="Text 82"/>
          <p:cNvSpPr txBox="1"/>
          <p:nvPr/>
        </p:nvSpPr>
        <p:spPr>
          <a:xfrm>
            <a:off x="5031486"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85" name="Shape 83"/>
          <p:cNvSpPr/>
          <p:nvPr/>
        </p:nvSpPr>
        <p:spPr>
          <a:xfrm>
            <a:off x="5559552" y="2395728"/>
            <a:ext cx="473202" cy="384048"/>
          </a:xfrm>
          <a:prstGeom prst="roundRect">
            <a:avLst>
              <a:gd name="adj" fmla="val 11905"/>
            </a:avLst>
          </a:prstGeom>
          <a:solidFill>
            <a:srgbClr val="36454F"/>
          </a:solidFill>
          <a:ln/>
        </p:spPr>
      </p:sp>
      <p:sp>
        <p:nvSpPr>
          <p:cNvPr id="86" name="Text 84"/>
          <p:cNvSpPr txBox="1"/>
          <p:nvPr/>
        </p:nvSpPr>
        <p:spPr>
          <a:xfrm>
            <a:off x="5559552"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2</a:t>
            </a:r>
            <a:endParaRPr lang="tr-TR" sz="1400" dirty="0"/>
          </a:p>
        </p:txBody>
      </p:sp>
      <p:sp>
        <p:nvSpPr>
          <p:cNvPr id="87" name="Shape 85"/>
          <p:cNvSpPr/>
          <p:nvPr/>
        </p:nvSpPr>
        <p:spPr>
          <a:xfrm>
            <a:off x="5559552" y="2816352"/>
            <a:ext cx="473202" cy="384048"/>
          </a:xfrm>
          <a:prstGeom prst="roundRect">
            <a:avLst>
              <a:gd name="adj" fmla="val 11905"/>
            </a:avLst>
          </a:prstGeom>
          <a:solidFill>
            <a:srgbClr val="D7E9E6"/>
          </a:solidFill>
          <a:ln/>
        </p:spPr>
      </p:sp>
      <p:sp>
        <p:nvSpPr>
          <p:cNvPr id="88" name="Text 86"/>
          <p:cNvSpPr txBox="1"/>
          <p:nvPr/>
        </p:nvSpPr>
        <p:spPr>
          <a:xfrm>
            <a:off x="5559552"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4</a:t>
            </a:r>
            <a:endParaRPr lang="tr-TR" sz="1400" dirty="0"/>
          </a:p>
        </p:txBody>
      </p:sp>
      <p:sp>
        <p:nvSpPr>
          <p:cNvPr id="89" name="Shape 87"/>
          <p:cNvSpPr/>
          <p:nvPr/>
        </p:nvSpPr>
        <p:spPr>
          <a:xfrm>
            <a:off x="5559552" y="3236976"/>
            <a:ext cx="473202" cy="384048"/>
          </a:xfrm>
          <a:prstGeom prst="roundRect">
            <a:avLst>
              <a:gd name="adj" fmla="val 11905"/>
            </a:avLst>
          </a:prstGeom>
          <a:solidFill>
            <a:srgbClr val="D7E9E6"/>
          </a:solidFill>
          <a:ln/>
        </p:spPr>
      </p:sp>
      <p:sp>
        <p:nvSpPr>
          <p:cNvPr id="90" name="Text 88"/>
          <p:cNvSpPr txBox="1"/>
          <p:nvPr/>
        </p:nvSpPr>
        <p:spPr>
          <a:xfrm>
            <a:off x="5559552"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0</a:t>
            </a:r>
            <a:endParaRPr lang="tr-TR" sz="1400" dirty="0"/>
          </a:p>
        </p:txBody>
      </p:sp>
      <p:sp>
        <p:nvSpPr>
          <p:cNvPr id="91" name="Shape 89"/>
          <p:cNvSpPr/>
          <p:nvPr/>
        </p:nvSpPr>
        <p:spPr>
          <a:xfrm>
            <a:off x="5559552" y="3657600"/>
            <a:ext cx="473202" cy="384048"/>
          </a:xfrm>
          <a:prstGeom prst="roundRect">
            <a:avLst>
              <a:gd name="adj" fmla="val 11905"/>
            </a:avLst>
          </a:prstGeom>
          <a:solidFill>
            <a:srgbClr val="02C39A"/>
          </a:solidFill>
          <a:ln/>
        </p:spPr>
      </p:sp>
      <p:sp>
        <p:nvSpPr>
          <p:cNvPr id="92" name="Text 90"/>
          <p:cNvSpPr txBox="1"/>
          <p:nvPr/>
        </p:nvSpPr>
        <p:spPr>
          <a:xfrm>
            <a:off x="5559552" y="3657600"/>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2</a:t>
            </a:r>
            <a:endParaRPr lang="tr-TR" sz="1400" dirty="0"/>
          </a:p>
        </p:txBody>
      </p:sp>
      <p:sp>
        <p:nvSpPr>
          <p:cNvPr id="93" name="Text 91"/>
          <p:cNvSpPr txBox="1"/>
          <p:nvPr/>
        </p:nvSpPr>
        <p:spPr>
          <a:xfrm>
            <a:off x="5541264"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94" name="Shape 92"/>
          <p:cNvSpPr/>
          <p:nvPr/>
        </p:nvSpPr>
        <p:spPr>
          <a:xfrm>
            <a:off x="6069330" y="2395728"/>
            <a:ext cx="473202" cy="384048"/>
          </a:xfrm>
          <a:prstGeom prst="roundRect">
            <a:avLst>
              <a:gd name="adj" fmla="val 11905"/>
            </a:avLst>
          </a:prstGeom>
          <a:solidFill>
            <a:srgbClr val="36454F"/>
          </a:solidFill>
          <a:ln/>
        </p:spPr>
      </p:sp>
      <p:sp>
        <p:nvSpPr>
          <p:cNvPr id="95" name="Text 93"/>
          <p:cNvSpPr txBox="1"/>
          <p:nvPr/>
        </p:nvSpPr>
        <p:spPr>
          <a:xfrm>
            <a:off x="6069330"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3</a:t>
            </a:r>
            <a:endParaRPr lang="tr-TR" sz="1400" dirty="0"/>
          </a:p>
        </p:txBody>
      </p:sp>
      <p:sp>
        <p:nvSpPr>
          <p:cNvPr id="96" name="Shape 94"/>
          <p:cNvSpPr/>
          <p:nvPr/>
        </p:nvSpPr>
        <p:spPr>
          <a:xfrm>
            <a:off x="6069330" y="2816352"/>
            <a:ext cx="473202" cy="384048"/>
          </a:xfrm>
          <a:prstGeom prst="roundRect">
            <a:avLst>
              <a:gd name="adj" fmla="val 11905"/>
            </a:avLst>
          </a:prstGeom>
          <a:solidFill>
            <a:srgbClr val="D7E9E6"/>
          </a:solidFill>
          <a:ln/>
        </p:spPr>
      </p:sp>
      <p:sp>
        <p:nvSpPr>
          <p:cNvPr id="97" name="Text 95"/>
          <p:cNvSpPr txBox="1"/>
          <p:nvPr/>
        </p:nvSpPr>
        <p:spPr>
          <a:xfrm>
            <a:off x="6069330"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4</a:t>
            </a:r>
            <a:endParaRPr lang="tr-TR" sz="1400" dirty="0"/>
          </a:p>
        </p:txBody>
      </p:sp>
      <p:sp>
        <p:nvSpPr>
          <p:cNvPr id="98" name="Shape 96"/>
          <p:cNvSpPr/>
          <p:nvPr/>
        </p:nvSpPr>
        <p:spPr>
          <a:xfrm>
            <a:off x="6069330" y="3236976"/>
            <a:ext cx="473202" cy="384048"/>
          </a:xfrm>
          <a:prstGeom prst="roundRect">
            <a:avLst>
              <a:gd name="adj" fmla="val 11905"/>
            </a:avLst>
          </a:prstGeom>
          <a:solidFill>
            <a:srgbClr val="02C39A"/>
          </a:solidFill>
          <a:ln/>
        </p:spPr>
      </p:sp>
      <p:sp>
        <p:nvSpPr>
          <p:cNvPr id="99" name="Text 97"/>
          <p:cNvSpPr txBox="1"/>
          <p:nvPr/>
        </p:nvSpPr>
        <p:spPr>
          <a:xfrm>
            <a:off x="6069330" y="3236976"/>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3</a:t>
            </a:r>
            <a:endParaRPr lang="tr-TR" sz="1400" dirty="0"/>
          </a:p>
        </p:txBody>
      </p:sp>
      <p:sp>
        <p:nvSpPr>
          <p:cNvPr id="100" name="Shape 98"/>
          <p:cNvSpPr/>
          <p:nvPr/>
        </p:nvSpPr>
        <p:spPr>
          <a:xfrm>
            <a:off x="6069330" y="3657600"/>
            <a:ext cx="473202" cy="384048"/>
          </a:xfrm>
          <a:prstGeom prst="roundRect">
            <a:avLst>
              <a:gd name="adj" fmla="val 11905"/>
            </a:avLst>
          </a:prstGeom>
          <a:solidFill>
            <a:srgbClr val="D7E9E6"/>
          </a:solidFill>
          <a:ln/>
        </p:spPr>
      </p:sp>
      <p:sp>
        <p:nvSpPr>
          <p:cNvPr id="101" name="Text 99"/>
          <p:cNvSpPr txBox="1"/>
          <p:nvPr/>
        </p:nvSpPr>
        <p:spPr>
          <a:xfrm>
            <a:off x="6069330"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2</a:t>
            </a:r>
            <a:endParaRPr lang="tr-TR" sz="1400" dirty="0"/>
          </a:p>
        </p:txBody>
      </p:sp>
      <p:sp>
        <p:nvSpPr>
          <p:cNvPr id="102" name="Text 100"/>
          <p:cNvSpPr txBox="1"/>
          <p:nvPr/>
        </p:nvSpPr>
        <p:spPr>
          <a:xfrm>
            <a:off x="6051042"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103" name="Shape 101"/>
          <p:cNvSpPr/>
          <p:nvPr/>
        </p:nvSpPr>
        <p:spPr>
          <a:xfrm>
            <a:off x="6579108" y="2395728"/>
            <a:ext cx="473202" cy="384048"/>
          </a:xfrm>
          <a:prstGeom prst="roundRect">
            <a:avLst>
              <a:gd name="adj" fmla="val 11905"/>
            </a:avLst>
          </a:prstGeom>
          <a:solidFill>
            <a:srgbClr val="36454F"/>
          </a:solidFill>
          <a:ln/>
        </p:spPr>
      </p:sp>
      <p:sp>
        <p:nvSpPr>
          <p:cNvPr id="104" name="Text 102"/>
          <p:cNvSpPr txBox="1"/>
          <p:nvPr/>
        </p:nvSpPr>
        <p:spPr>
          <a:xfrm>
            <a:off x="6579108"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0</a:t>
            </a:r>
            <a:endParaRPr lang="tr-TR" sz="1400" dirty="0"/>
          </a:p>
        </p:txBody>
      </p:sp>
      <p:sp>
        <p:nvSpPr>
          <p:cNvPr id="105" name="Shape 103"/>
          <p:cNvSpPr/>
          <p:nvPr/>
        </p:nvSpPr>
        <p:spPr>
          <a:xfrm>
            <a:off x="6579108" y="2816352"/>
            <a:ext cx="473202" cy="384048"/>
          </a:xfrm>
          <a:prstGeom prst="roundRect">
            <a:avLst>
              <a:gd name="adj" fmla="val 11905"/>
            </a:avLst>
          </a:prstGeom>
          <a:solidFill>
            <a:srgbClr val="02C39A"/>
          </a:solidFill>
          <a:ln/>
        </p:spPr>
      </p:sp>
      <p:sp>
        <p:nvSpPr>
          <p:cNvPr id="106" name="Text 104"/>
          <p:cNvSpPr txBox="1"/>
          <p:nvPr/>
        </p:nvSpPr>
        <p:spPr>
          <a:xfrm>
            <a:off x="6579108" y="2816352"/>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0</a:t>
            </a:r>
            <a:endParaRPr lang="tr-TR" sz="1400" dirty="0"/>
          </a:p>
        </p:txBody>
      </p:sp>
      <p:sp>
        <p:nvSpPr>
          <p:cNvPr id="107" name="Shape 105"/>
          <p:cNvSpPr/>
          <p:nvPr/>
        </p:nvSpPr>
        <p:spPr>
          <a:xfrm>
            <a:off x="6579108" y="3236976"/>
            <a:ext cx="473202" cy="384048"/>
          </a:xfrm>
          <a:prstGeom prst="roundRect">
            <a:avLst>
              <a:gd name="adj" fmla="val 11905"/>
            </a:avLst>
          </a:prstGeom>
          <a:solidFill>
            <a:srgbClr val="D7E9E6"/>
          </a:solidFill>
          <a:ln/>
        </p:spPr>
      </p:sp>
      <p:sp>
        <p:nvSpPr>
          <p:cNvPr id="108" name="Text 106"/>
          <p:cNvSpPr txBox="1"/>
          <p:nvPr/>
        </p:nvSpPr>
        <p:spPr>
          <a:xfrm>
            <a:off x="6579108"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3</a:t>
            </a:r>
            <a:endParaRPr lang="tr-TR" sz="1400" dirty="0"/>
          </a:p>
        </p:txBody>
      </p:sp>
      <p:sp>
        <p:nvSpPr>
          <p:cNvPr id="109" name="Shape 107"/>
          <p:cNvSpPr/>
          <p:nvPr/>
        </p:nvSpPr>
        <p:spPr>
          <a:xfrm>
            <a:off x="6579108" y="3657600"/>
            <a:ext cx="473202" cy="384048"/>
          </a:xfrm>
          <a:prstGeom prst="roundRect">
            <a:avLst>
              <a:gd name="adj" fmla="val 11905"/>
            </a:avLst>
          </a:prstGeom>
          <a:solidFill>
            <a:srgbClr val="D7E9E6"/>
          </a:solidFill>
          <a:ln/>
        </p:spPr>
      </p:sp>
      <p:sp>
        <p:nvSpPr>
          <p:cNvPr id="110" name="Text 108"/>
          <p:cNvSpPr txBox="1"/>
          <p:nvPr/>
        </p:nvSpPr>
        <p:spPr>
          <a:xfrm>
            <a:off x="6579108"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2</a:t>
            </a:r>
            <a:endParaRPr lang="tr-TR" sz="1400" dirty="0"/>
          </a:p>
        </p:txBody>
      </p:sp>
      <p:sp>
        <p:nvSpPr>
          <p:cNvPr id="111" name="Text 109"/>
          <p:cNvSpPr txBox="1"/>
          <p:nvPr/>
        </p:nvSpPr>
        <p:spPr>
          <a:xfrm>
            <a:off x="6560820"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112" name="Shape 110"/>
          <p:cNvSpPr/>
          <p:nvPr/>
        </p:nvSpPr>
        <p:spPr>
          <a:xfrm>
            <a:off x="7088886" y="2395728"/>
            <a:ext cx="473202" cy="384048"/>
          </a:xfrm>
          <a:prstGeom prst="roundRect">
            <a:avLst>
              <a:gd name="adj" fmla="val 11905"/>
            </a:avLst>
          </a:prstGeom>
          <a:solidFill>
            <a:srgbClr val="36454F"/>
          </a:solidFill>
          <a:ln/>
        </p:spPr>
      </p:sp>
      <p:sp>
        <p:nvSpPr>
          <p:cNvPr id="113" name="Text 111"/>
          <p:cNvSpPr txBox="1"/>
          <p:nvPr/>
        </p:nvSpPr>
        <p:spPr>
          <a:xfrm>
            <a:off x="7088886"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3</a:t>
            </a:r>
            <a:endParaRPr lang="tr-TR" sz="1400" dirty="0"/>
          </a:p>
        </p:txBody>
      </p:sp>
      <p:sp>
        <p:nvSpPr>
          <p:cNvPr id="114" name="Shape 112"/>
          <p:cNvSpPr/>
          <p:nvPr/>
        </p:nvSpPr>
        <p:spPr>
          <a:xfrm>
            <a:off x="7088886" y="2816352"/>
            <a:ext cx="473202" cy="384048"/>
          </a:xfrm>
          <a:prstGeom prst="roundRect">
            <a:avLst>
              <a:gd name="adj" fmla="val 11905"/>
            </a:avLst>
          </a:prstGeom>
          <a:solidFill>
            <a:srgbClr val="F2F2F2"/>
          </a:solidFill>
          <a:ln/>
        </p:spPr>
      </p:sp>
      <p:sp>
        <p:nvSpPr>
          <p:cNvPr id="115" name="Text 113"/>
          <p:cNvSpPr txBox="1"/>
          <p:nvPr/>
        </p:nvSpPr>
        <p:spPr>
          <a:xfrm>
            <a:off x="7088886"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0</a:t>
            </a:r>
            <a:endParaRPr lang="tr-TR" sz="1400" dirty="0"/>
          </a:p>
        </p:txBody>
      </p:sp>
      <p:sp>
        <p:nvSpPr>
          <p:cNvPr id="116" name="Shape 114"/>
          <p:cNvSpPr/>
          <p:nvPr/>
        </p:nvSpPr>
        <p:spPr>
          <a:xfrm>
            <a:off x="7088886" y="3236976"/>
            <a:ext cx="473202" cy="384048"/>
          </a:xfrm>
          <a:prstGeom prst="roundRect">
            <a:avLst>
              <a:gd name="adj" fmla="val 11905"/>
            </a:avLst>
          </a:prstGeom>
          <a:solidFill>
            <a:srgbClr val="F2F2F2"/>
          </a:solidFill>
          <a:ln/>
        </p:spPr>
      </p:sp>
      <p:sp>
        <p:nvSpPr>
          <p:cNvPr id="117" name="Text 115"/>
          <p:cNvSpPr txBox="1"/>
          <p:nvPr/>
        </p:nvSpPr>
        <p:spPr>
          <a:xfrm>
            <a:off x="7088886"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3</a:t>
            </a:r>
            <a:endParaRPr lang="tr-TR" sz="1400" dirty="0"/>
          </a:p>
        </p:txBody>
      </p:sp>
      <p:sp>
        <p:nvSpPr>
          <p:cNvPr id="118" name="Shape 116"/>
          <p:cNvSpPr/>
          <p:nvPr/>
        </p:nvSpPr>
        <p:spPr>
          <a:xfrm>
            <a:off x="7088886" y="3657600"/>
            <a:ext cx="473202" cy="384048"/>
          </a:xfrm>
          <a:prstGeom prst="roundRect">
            <a:avLst>
              <a:gd name="adj" fmla="val 11905"/>
            </a:avLst>
          </a:prstGeom>
          <a:solidFill>
            <a:srgbClr val="F2F2F2"/>
          </a:solidFill>
          <a:ln/>
        </p:spPr>
      </p:sp>
      <p:sp>
        <p:nvSpPr>
          <p:cNvPr id="119" name="Text 117"/>
          <p:cNvSpPr txBox="1"/>
          <p:nvPr/>
        </p:nvSpPr>
        <p:spPr>
          <a:xfrm>
            <a:off x="7088886"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2</a:t>
            </a:r>
            <a:endParaRPr lang="tr-TR" sz="1400" dirty="0"/>
          </a:p>
        </p:txBody>
      </p:sp>
      <p:sp>
        <p:nvSpPr>
          <p:cNvPr id="120" name="Text 118"/>
          <p:cNvSpPr txBox="1"/>
          <p:nvPr/>
        </p:nvSpPr>
        <p:spPr>
          <a:xfrm>
            <a:off x="7070598" y="4059936"/>
            <a:ext cx="509778" cy="420624"/>
          </a:xfrm>
          <a:prstGeom prst="rect">
            <a:avLst/>
          </a:prstGeom>
          <a:noFill/>
          <a:ln/>
        </p:spPr>
        <p:txBody>
          <a:bodyPr wrap="square" lIns="0" tIns="0" rIns="0" bIns="0" rtlCol="0" anchor="ctr"/>
          <a:lstStyle/>
          <a:p>
            <a:pPr algn="ctr" indent="0" marL="0">
              <a:buNone/>
            </a:pPr>
            <a:endParaRPr lang="tr-TR" sz="1400" dirty="0"/>
          </a:p>
        </p:txBody>
      </p:sp>
      <p:sp>
        <p:nvSpPr>
          <p:cNvPr id="121" name="Shape 119"/>
          <p:cNvSpPr/>
          <p:nvPr/>
        </p:nvSpPr>
        <p:spPr>
          <a:xfrm>
            <a:off x="7598664" y="2395728"/>
            <a:ext cx="473202" cy="384048"/>
          </a:xfrm>
          <a:prstGeom prst="roundRect">
            <a:avLst>
              <a:gd name="adj" fmla="val 11905"/>
            </a:avLst>
          </a:prstGeom>
          <a:solidFill>
            <a:srgbClr val="36454F"/>
          </a:solidFill>
          <a:ln/>
        </p:spPr>
      </p:sp>
      <p:sp>
        <p:nvSpPr>
          <p:cNvPr id="122" name="Text 120"/>
          <p:cNvSpPr txBox="1"/>
          <p:nvPr/>
        </p:nvSpPr>
        <p:spPr>
          <a:xfrm>
            <a:off x="7598664"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2</a:t>
            </a:r>
            <a:endParaRPr lang="tr-TR" sz="1400" dirty="0"/>
          </a:p>
        </p:txBody>
      </p:sp>
      <p:sp>
        <p:nvSpPr>
          <p:cNvPr id="123" name="Shape 121"/>
          <p:cNvSpPr/>
          <p:nvPr/>
        </p:nvSpPr>
        <p:spPr>
          <a:xfrm>
            <a:off x="7598664" y="2816352"/>
            <a:ext cx="473202" cy="384048"/>
          </a:xfrm>
          <a:prstGeom prst="roundRect">
            <a:avLst>
              <a:gd name="adj" fmla="val 11905"/>
            </a:avLst>
          </a:prstGeom>
          <a:solidFill>
            <a:srgbClr val="F2F2F2"/>
          </a:solidFill>
          <a:ln/>
        </p:spPr>
      </p:sp>
      <p:sp>
        <p:nvSpPr>
          <p:cNvPr id="124" name="Text 122"/>
          <p:cNvSpPr txBox="1"/>
          <p:nvPr/>
        </p:nvSpPr>
        <p:spPr>
          <a:xfrm>
            <a:off x="7598664"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0</a:t>
            </a:r>
            <a:endParaRPr lang="tr-TR" sz="1400" dirty="0"/>
          </a:p>
        </p:txBody>
      </p:sp>
      <p:sp>
        <p:nvSpPr>
          <p:cNvPr id="125" name="Shape 123"/>
          <p:cNvSpPr/>
          <p:nvPr/>
        </p:nvSpPr>
        <p:spPr>
          <a:xfrm>
            <a:off x="7598664" y="3236976"/>
            <a:ext cx="473202" cy="384048"/>
          </a:xfrm>
          <a:prstGeom prst="roundRect">
            <a:avLst>
              <a:gd name="adj" fmla="val 11905"/>
            </a:avLst>
          </a:prstGeom>
          <a:solidFill>
            <a:srgbClr val="F2F2F2"/>
          </a:solidFill>
          <a:ln/>
        </p:spPr>
      </p:sp>
      <p:sp>
        <p:nvSpPr>
          <p:cNvPr id="126" name="Text 124"/>
          <p:cNvSpPr txBox="1"/>
          <p:nvPr/>
        </p:nvSpPr>
        <p:spPr>
          <a:xfrm>
            <a:off x="7598664"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3</a:t>
            </a:r>
            <a:endParaRPr lang="tr-TR" sz="1400" dirty="0"/>
          </a:p>
        </p:txBody>
      </p:sp>
      <p:sp>
        <p:nvSpPr>
          <p:cNvPr id="127" name="Shape 125"/>
          <p:cNvSpPr/>
          <p:nvPr/>
        </p:nvSpPr>
        <p:spPr>
          <a:xfrm>
            <a:off x="7598664" y="3657600"/>
            <a:ext cx="473202" cy="384048"/>
          </a:xfrm>
          <a:prstGeom prst="roundRect">
            <a:avLst>
              <a:gd name="adj" fmla="val 11905"/>
            </a:avLst>
          </a:prstGeom>
          <a:solidFill>
            <a:srgbClr val="F2F2F2"/>
          </a:solidFill>
          <a:ln/>
        </p:spPr>
      </p:sp>
      <p:sp>
        <p:nvSpPr>
          <p:cNvPr id="128" name="Text 126"/>
          <p:cNvSpPr txBox="1"/>
          <p:nvPr/>
        </p:nvSpPr>
        <p:spPr>
          <a:xfrm>
            <a:off x="7598664"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2</a:t>
            </a:r>
            <a:endParaRPr lang="tr-TR" sz="1400" dirty="0"/>
          </a:p>
        </p:txBody>
      </p:sp>
      <p:sp>
        <p:nvSpPr>
          <p:cNvPr id="129" name="Text 127"/>
          <p:cNvSpPr txBox="1"/>
          <p:nvPr/>
        </p:nvSpPr>
        <p:spPr>
          <a:xfrm>
            <a:off x="7580376" y="4059936"/>
            <a:ext cx="509778" cy="420624"/>
          </a:xfrm>
          <a:prstGeom prst="rect">
            <a:avLst/>
          </a:prstGeom>
          <a:noFill/>
          <a:ln/>
        </p:spPr>
        <p:txBody>
          <a:bodyPr wrap="square" lIns="0" tIns="0" rIns="0" bIns="0" rtlCol="0" anchor="ctr"/>
          <a:lstStyle/>
          <a:p>
            <a:pPr algn="ctr" indent="0" marL="0">
              <a:buNone/>
            </a:pPr>
            <a:endParaRPr lang="tr-TR" sz="1400" dirty="0"/>
          </a:p>
        </p:txBody>
      </p:sp>
      <p:sp>
        <p:nvSpPr>
          <p:cNvPr id="130" name="Shape 128"/>
          <p:cNvSpPr/>
          <p:nvPr/>
        </p:nvSpPr>
        <p:spPr>
          <a:xfrm>
            <a:off x="8108442" y="2395728"/>
            <a:ext cx="473202" cy="384048"/>
          </a:xfrm>
          <a:prstGeom prst="roundRect">
            <a:avLst>
              <a:gd name="adj" fmla="val 11905"/>
            </a:avLst>
          </a:prstGeom>
          <a:solidFill>
            <a:srgbClr val="36454F"/>
          </a:solidFill>
          <a:ln/>
        </p:spPr>
      </p:sp>
      <p:sp>
        <p:nvSpPr>
          <p:cNvPr id="131" name="Text 129"/>
          <p:cNvSpPr txBox="1"/>
          <p:nvPr/>
        </p:nvSpPr>
        <p:spPr>
          <a:xfrm>
            <a:off x="8108442"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1</a:t>
            </a:r>
            <a:endParaRPr lang="tr-TR" sz="1400" dirty="0"/>
          </a:p>
        </p:txBody>
      </p:sp>
      <p:sp>
        <p:nvSpPr>
          <p:cNvPr id="132" name="Shape 130"/>
          <p:cNvSpPr/>
          <p:nvPr/>
        </p:nvSpPr>
        <p:spPr>
          <a:xfrm>
            <a:off x="8108442" y="2816352"/>
            <a:ext cx="473202" cy="384048"/>
          </a:xfrm>
          <a:prstGeom prst="roundRect">
            <a:avLst>
              <a:gd name="adj" fmla="val 11905"/>
            </a:avLst>
          </a:prstGeom>
          <a:solidFill>
            <a:srgbClr val="02C39A"/>
          </a:solidFill>
          <a:ln/>
        </p:spPr>
      </p:sp>
      <p:sp>
        <p:nvSpPr>
          <p:cNvPr id="133" name="Text 131"/>
          <p:cNvSpPr txBox="1"/>
          <p:nvPr/>
        </p:nvSpPr>
        <p:spPr>
          <a:xfrm>
            <a:off x="8108442" y="2816352"/>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1</a:t>
            </a:r>
            <a:endParaRPr lang="tr-TR" sz="1400" dirty="0"/>
          </a:p>
        </p:txBody>
      </p:sp>
      <p:sp>
        <p:nvSpPr>
          <p:cNvPr id="134" name="Shape 132"/>
          <p:cNvSpPr/>
          <p:nvPr/>
        </p:nvSpPr>
        <p:spPr>
          <a:xfrm>
            <a:off x="8108442" y="3236976"/>
            <a:ext cx="473202" cy="384048"/>
          </a:xfrm>
          <a:prstGeom prst="roundRect">
            <a:avLst>
              <a:gd name="adj" fmla="val 11905"/>
            </a:avLst>
          </a:prstGeom>
          <a:solidFill>
            <a:srgbClr val="D7E9E6"/>
          </a:solidFill>
          <a:ln/>
        </p:spPr>
      </p:sp>
      <p:sp>
        <p:nvSpPr>
          <p:cNvPr id="135" name="Text 133"/>
          <p:cNvSpPr txBox="1"/>
          <p:nvPr/>
        </p:nvSpPr>
        <p:spPr>
          <a:xfrm>
            <a:off x="8108442"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3</a:t>
            </a:r>
            <a:endParaRPr lang="tr-TR" sz="1400" dirty="0"/>
          </a:p>
        </p:txBody>
      </p:sp>
      <p:sp>
        <p:nvSpPr>
          <p:cNvPr id="136" name="Shape 134"/>
          <p:cNvSpPr/>
          <p:nvPr/>
        </p:nvSpPr>
        <p:spPr>
          <a:xfrm>
            <a:off x="8108442" y="3657600"/>
            <a:ext cx="473202" cy="384048"/>
          </a:xfrm>
          <a:prstGeom prst="roundRect">
            <a:avLst>
              <a:gd name="adj" fmla="val 11905"/>
            </a:avLst>
          </a:prstGeom>
          <a:solidFill>
            <a:srgbClr val="D7E9E6"/>
          </a:solidFill>
          <a:ln/>
        </p:spPr>
      </p:sp>
      <p:sp>
        <p:nvSpPr>
          <p:cNvPr id="137" name="Text 135"/>
          <p:cNvSpPr txBox="1"/>
          <p:nvPr/>
        </p:nvSpPr>
        <p:spPr>
          <a:xfrm>
            <a:off x="8108442"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2</a:t>
            </a:r>
            <a:endParaRPr lang="tr-TR" sz="1400" dirty="0"/>
          </a:p>
        </p:txBody>
      </p:sp>
      <p:sp>
        <p:nvSpPr>
          <p:cNvPr id="138" name="Text 136"/>
          <p:cNvSpPr txBox="1"/>
          <p:nvPr/>
        </p:nvSpPr>
        <p:spPr>
          <a:xfrm>
            <a:off x="8090154"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139" name="Shape 137"/>
          <p:cNvSpPr/>
          <p:nvPr/>
        </p:nvSpPr>
        <p:spPr>
          <a:xfrm>
            <a:off x="8618220" y="2395728"/>
            <a:ext cx="473202" cy="384048"/>
          </a:xfrm>
          <a:prstGeom prst="roundRect">
            <a:avLst>
              <a:gd name="adj" fmla="val 11905"/>
            </a:avLst>
          </a:prstGeom>
          <a:solidFill>
            <a:srgbClr val="36454F"/>
          </a:solidFill>
          <a:ln/>
        </p:spPr>
      </p:sp>
      <p:sp>
        <p:nvSpPr>
          <p:cNvPr id="140" name="Text 138"/>
          <p:cNvSpPr txBox="1"/>
          <p:nvPr/>
        </p:nvSpPr>
        <p:spPr>
          <a:xfrm>
            <a:off x="8618220"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2</a:t>
            </a:r>
            <a:endParaRPr lang="tr-TR" sz="1400" dirty="0"/>
          </a:p>
        </p:txBody>
      </p:sp>
      <p:sp>
        <p:nvSpPr>
          <p:cNvPr id="141" name="Shape 139"/>
          <p:cNvSpPr/>
          <p:nvPr/>
        </p:nvSpPr>
        <p:spPr>
          <a:xfrm>
            <a:off x="8618220" y="2816352"/>
            <a:ext cx="473202" cy="384048"/>
          </a:xfrm>
          <a:prstGeom prst="roundRect">
            <a:avLst>
              <a:gd name="adj" fmla="val 11905"/>
            </a:avLst>
          </a:prstGeom>
          <a:solidFill>
            <a:srgbClr val="F2F2F2"/>
          </a:solidFill>
          <a:ln/>
        </p:spPr>
      </p:sp>
      <p:sp>
        <p:nvSpPr>
          <p:cNvPr id="142" name="Text 140"/>
          <p:cNvSpPr txBox="1"/>
          <p:nvPr/>
        </p:nvSpPr>
        <p:spPr>
          <a:xfrm>
            <a:off x="8618220"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1</a:t>
            </a:r>
            <a:endParaRPr lang="tr-TR" sz="1400" dirty="0"/>
          </a:p>
        </p:txBody>
      </p:sp>
      <p:sp>
        <p:nvSpPr>
          <p:cNvPr id="143" name="Shape 141"/>
          <p:cNvSpPr/>
          <p:nvPr/>
        </p:nvSpPr>
        <p:spPr>
          <a:xfrm>
            <a:off x="8618220" y="3236976"/>
            <a:ext cx="473202" cy="384048"/>
          </a:xfrm>
          <a:prstGeom prst="roundRect">
            <a:avLst>
              <a:gd name="adj" fmla="val 11905"/>
            </a:avLst>
          </a:prstGeom>
          <a:solidFill>
            <a:srgbClr val="F2F2F2"/>
          </a:solidFill>
          <a:ln/>
        </p:spPr>
      </p:sp>
      <p:sp>
        <p:nvSpPr>
          <p:cNvPr id="144" name="Text 142"/>
          <p:cNvSpPr txBox="1"/>
          <p:nvPr/>
        </p:nvSpPr>
        <p:spPr>
          <a:xfrm>
            <a:off x="8618220"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3</a:t>
            </a:r>
            <a:endParaRPr lang="tr-TR" sz="1400" dirty="0"/>
          </a:p>
        </p:txBody>
      </p:sp>
      <p:sp>
        <p:nvSpPr>
          <p:cNvPr id="145" name="Shape 143"/>
          <p:cNvSpPr/>
          <p:nvPr/>
        </p:nvSpPr>
        <p:spPr>
          <a:xfrm>
            <a:off x="8618220" y="3657600"/>
            <a:ext cx="473202" cy="384048"/>
          </a:xfrm>
          <a:prstGeom prst="roundRect">
            <a:avLst>
              <a:gd name="adj" fmla="val 11905"/>
            </a:avLst>
          </a:prstGeom>
          <a:solidFill>
            <a:srgbClr val="F2F2F2"/>
          </a:solidFill>
          <a:ln/>
        </p:spPr>
      </p:sp>
      <p:sp>
        <p:nvSpPr>
          <p:cNvPr id="146" name="Text 144"/>
          <p:cNvSpPr txBox="1"/>
          <p:nvPr/>
        </p:nvSpPr>
        <p:spPr>
          <a:xfrm>
            <a:off x="8618220"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2</a:t>
            </a:r>
            <a:endParaRPr lang="tr-TR" sz="1400" dirty="0"/>
          </a:p>
        </p:txBody>
      </p:sp>
      <p:sp>
        <p:nvSpPr>
          <p:cNvPr id="147" name="Text 145"/>
          <p:cNvSpPr txBox="1"/>
          <p:nvPr/>
        </p:nvSpPr>
        <p:spPr>
          <a:xfrm>
            <a:off x="8599932" y="4059936"/>
            <a:ext cx="509778" cy="420624"/>
          </a:xfrm>
          <a:prstGeom prst="rect">
            <a:avLst/>
          </a:prstGeom>
          <a:noFill/>
          <a:ln/>
        </p:spPr>
        <p:txBody>
          <a:bodyPr wrap="square" lIns="0" tIns="0" rIns="0" bIns="0" rtlCol="0" anchor="ctr"/>
          <a:lstStyle/>
          <a:p>
            <a:pPr algn="ctr" indent="0" marL="0">
              <a:buNone/>
            </a:pPr>
            <a:endParaRPr lang="tr-TR" sz="1400" dirty="0"/>
          </a:p>
        </p:txBody>
      </p:sp>
      <p:sp>
        <p:nvSpPr>
          <p:cNvPr id="148" name="Shape 146"/>
          <p:cNvSpPr/>
          <p:nvPr/>
        </p:nvSpPr>
        <p:spPr>
          <a:xfrm>
            <a:off x="9127998" y="2395728"/>
            <a:ext cx="473202" cy="384048"/>
          </a:xfrm>
          <a:prstGeom prst="roundRect">
            <a:avLst>
              <a:gd name="adj" fmla="val 11905"/>
            </a:avLst>
          </a:prstGeom>
          <a:solidFill>
            <a:srgbClr val="36454F"/>
          </a:solidFill>
          <a:ln/>
        </p:spPr>
      </p:sp>
      <p:sp>
        <p:nvSpPr>
          <p:cNvPr id="149" name="Text 147"/>
          <p:cNvSpPr txBox="1"/>
          <p:nvPr/>
        </p:nvSpPr>
        <p:spPr>
          <a:xfrm>
            <a:off x="9127998"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0</a:t>
            </a:r>
            <a:endParaRPr lang="tr-TR" sz="1400" dirty="0"/>
          </a:p>
        </p:txBody>
      </p:sp>
      <p:sp>
        <p:nvSpPr>
          <p:cNvPr id="150" name="Shape 148"/>
          <p:cNvSpPr/>
          <p:nvPr/>
        </p:nvSpPr>
        <p:spPr>
          <a:xfrm>
            <a:off x="9127998" y="2816352"/>
            <a:ext cx="473202" cy="384048"/>
          </a:xfrm>
          <a:prstGeom prst="roundRect">
            <a:avLst>
              <a:gd name="adj" fmla="val 11905"/>
            </a:avLst>
          </a:prstGeom>
          <a:solidFill>
            <a:srgbClr val="D7E9E6"/>
          </a:solidFill>
          <a:ln/>
        </p:spPr>
      </p:sp>
      <p:sp>
        <p:nvSpPr>
          <p:cNvPr id="151" name="Text 149"/>
          <p:cNvSpPr txBox="1"/>
          <p:nvPr/>
        </p:nvSpPr>
        <p:spPr>
          <a:xfrm>
            <a:off x="9127998"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1</a:t>
            </a:r>
            <a:endParaRPr lang="tr-TR" sz="1400" dirty="0"/>
          </a:p>
        </p:txBody>
      </p:sp>
      <p:sp>
        <p:nvSpPr>
          <p:cNvPr id="152" name="Shape 150"/>
          <p:cNvSpPr/>
          <p:nvPr/>
        </p:nvSpPr>
        <p:spPr>
          <a:xfrm>
            <a:off x="9127998" y="3236976"/>
            <a:ext cx="473202" cy="384048"/>
          </a:xfrm>
          <a:prstGeom prst="roundRect">
            <a:avLst>
              <a:gd name="adj" fmla="val 11905"/>
            </a:avLst>
          </a:prstGeom>
          <a:solidFill>
            <a:srgbClr val="02C39A"/>
          </a:solidFill>
          <a:ln/>
        </p:spPr>
      </p:sp>
      <p:sp>
        <p:nvSpPr>
          <p:cNvPr id="153" name="Text 151"/>
          <p:cNvSpPr txBox="1"/>
          <p:nvPr/>
        </p:nvSpPr>
        <p:spPr>
          <a:xfrm>
            <a:off x="9127998" y="3236976"/>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0</a:t>
            </a:r>
            <a:endParaRPr lang="tr-TR" sz="1400" dirty="0"/>
          </a:p>
        </p:txBody>
      </p:sp>
      <p:sp>
        <p:nvSpPr>
          <p:cNvPr id="154" name="Shape 152"/>
          <p:cNvSpPr/>
          <p:nvPr/>
        </p:nvSpPr>
        <p:spPr>
          <a:xfrm>
            <a:off x="9127998" y="3657600"/>
            <a:ext cx="473202" cy="384048"/>
          </a:xfrm>
          <a:prstGeom prst="roundRect">
            <a:avLst>
              <a:gd name="adj" fmla="val 11905"/>
            </a:avLst>
          </a:prstGeom>
          <a:solidFill>
            <a:srgbClr val="D7E9E6"/>
          </a:solidFill>
          <a:ln/>
        </p:spPr>
      </p:sp>
      <p:sp>
        <p:nvSpPr>
          <p:cNvPr id="155" name="Text 153"/>
          <p:cNvSpPr txBox="1"/>
          <p:nvPr/>
        </p:nvSpPr>
        <p:spPr>
          <a:xfrm>
            <a:off x="9127998"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2</a:t>
            </a:r>
            <a:endParaRPr lang="tr-TR" sz="1400" dirty="0"/>
          </a:p>
        </p:txBody>
      </p:sp>
      <p:sp>
        <p:nvSpPr>
          <p:cNvPr id="156" name="Text 154"/>
          <p:cNvSpPr txBox="1"/>
          <p:nvPr/>
        </p:nvSpPr>
        <p:spPr>
          <a:xfrm>
            <a:off x="9109710"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157" name="Shape 155"/>
          <p:cNvSpPr/>
          <p:nvPr/>
        </p:nvSpPr>
        <p:spPr>
          <a:xfrm>
            <a:off x="9637776" y="2395728"/>
            <a:ext cx="473202" cy="384048"/>
          </a:xfrm>
          <a:prstGeom prst="roundRect">
            <a:avLst>
              <a:gd name="adj" fmla="val 11905"/>
            </a:avLst>
          </a:prstGeom>
          <a:solidFill>
            <a:srgbClr val="36454F"/>
          </a:solidFill>
          <a:ln/>
        </p:spPr>
      </p:sp>
      <p:sp>
        <p:nvSpPr>
          <p:cNvPr id="158" name="Text 156"/>
          <p:cNvSpPr txBox="1"/>
          <p:nvPr/>
        </p:nvSpPr>
        <p:spPr>
          <a:xfrm>
            <a:off x="9637776"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1</a:t>
            </a:r>
            <a:endParaRPr lang="tr-TR" sz="1400" dirty="0"/>
          </a:p>
        </p:txBody>
      </p:sp>
      <p:sp>
        <p:nvSpPr>
          <p:cNvPr id="159" name="Shape 157"/>
          <p:cNvSpPr/>
          <p:nvPr/>
        </p:nvSpPr>
        <p:spPr>
          <a:xfrm>
            <a:off x="9637776" y="2816352"/>
            <a:ext cx="473202" cy="384048"/>
          </a:xfrm>
          <a:prstGeom prst="roundRect">
            <a:avLst>
              <a:gd name="adj" fmla="val 11905"/>
            </a:avLst>
          </a:prstGeom>
          <a:solidFill>
            <a:srgbClr val="F2F2F2"/>
          </a:solidFill>
          <a:ln/>
        </p:spPr>
      </p:sp>
      <p:sp>
        <p:nvSpPr>
          <p:cNvPr id="160" name="Text 158"/>
          <p:cNvSpPr txBox="1"/>
          <p:nvPr/>
        </p:nvSpPr>
        <p:spPr>
          <a:xfrm>
            <a:off x="9637776"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1</a:t>
            </a:r>
            <a:endParaRPr lang="tr-TR" sz="1400" dirty="0"/>
          </a:p>
        </p:txBody>
      </p:sp>
      <p:sp>
        <p:nvSpPr>
          <p:cNvPr id="161" name="Shape 159"/>
          <p:cNvSpPr/>
          <p:nvPr/>
        </p:nvSpPr>
        <p:spPr>
          <a:xfrm>
            <a:off x="9637776" y="3236976"/>
            <a:ext cx="473202" cy="384048"/>
          </a:xfrm>
          <a:prstGeom prst="roundRect">
            <a:avLst>
              <a:gd name="adj" fmla="val 11905"/>
            </a:avLst>
          </a:prstGeom>
          <a:solidFill>
            <a:srgbClr val="F2F2F2"/>
          </a:solidFill>
          <a:ln/>
        </p:spPr>
      </p:sp>
      <p:sp>
        <p:nvSpPr>
          <p:cNvPr id="162" name="Text 160"/>
          <p:cNvSpPr txBox="1"/>
          <p:nvPr/>
        </p:nvSpPr>
        <p:spPr>
          <a:xfrm>
            <a:off x="9637776"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0</a:t>
            </a:r>
            <a:endParaRPr lang="tr-TR" sz="1400" dirty="0"/>
          </a:p>
        </p:txBody>
      </p:sp>
      <p:sp>
        <p:nvSpPr>
          <p:cNvPr id="163" name="Shape 161"/>
          <p:cNvSpPr/>
          <p:nvPr/>
        </p:nvSpPr>
        <p:spPr>
          <a:xfrm>
            <a:off x="9637776" y="3657600"/>
            <a:ext cx="473202" cy="384048"/>
          </a:xfrm>
          <a:prstGeom prst="roundRect">
            <a:avLst>
              <a:gd name="adj" fmla="val 11905"/>
            </a:avLst>
          </a:prstGeom>
          <a:solidFill>
            <a:srgbClr val="F2F2F2"/>
          </a:solidFill>
          <a:ln/>
        </p:spPr>
      </p:sp>
      <p:sp>
        <p:nvSpPr>
          <p:cNvPr id="164" name="Text 162"/>
          <p:cNvSpPr txBox="1"/>
          <p:nvPr/>
        </p:nvSpPr>
        <p:spPr>
          <a:xfrm>
            <a:off x="9637776"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2</a:t>
            </a:r>
            <a:endParaRPr lang="tr-TR" sz="1400" dirty="0"/>
          </a:p>
        </p:txBody>
      </p:sp>
      <p:sp>
        <p:nvSpPr>
          <p:cNvPr id="165" name="Text 163"/>
          <p:cNvSpPr txBox="1"/>
          <p:nvPr/>
        </p:nvSpPr>
        <p:spPr>
          <a:xfrm>
            <a:off x="9619488" y="4059936"/>
            <a:ext cx="509778" cy="420624"/>
          </a:xfrm>
          <a:prstGeom prst="rect">
            <a:avLst/>
          </a:prstGeom>
          <a:noFill/>
          <a:ln/>
        </p:spPr>
        <p:txBody>
          <a:bodyPr wrap="square" lIns="0" tIns="0" rIns="0" bIns="0" rtlCol="0" anchor="ctr"/>
          <a:lstStyle/>
          <a:p>
            <a:pPr algn="ctr" indent="0" marL="0">
              <a:buNone/>
            </a:pPr>
            <a:endParaRPr lang="tr-TR" sz="1400" dirty="0"/>
          </a:p>
        </p:txBody>
      </p:sp>
      <p:sp>
        <p:nvSpPr>
          <p:cNvPr id="166" name="Shape 164"/>
          <p:cNvSpPr/>
          <p:nvPr/>
        </p:nvSpPr>
        <p:spPr>
          <a:xfrm>
            <a:off x="10147554" y="2395728"/>
            <a:ext cx="473202" cy="384048"/>
          </a:xfrm>
          <a:prstGeom prst="roundRect">
            <a:avLst>
              <a:gd name="adj" fmla="val 11905"/>
            </a:avLst>
          </a:prstGeom>
          <a:solidFill>
            <a:srgbClr val="36454F"/>
          </a:solidFill>
          <a:ln/>
        </p:spPr>
      </p:sp>
      <p:sp>
        <p:nvSpPr>
          <p:cNvPr id="167" name="Text 165"/>
          <p:cNvSpPr txBox="1"/>
          <p:nvPr/>
        </p:nvSpPr>
        <p:spPr>
          <a:xfrm>
            <a:off x="10147554"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7</a:t>
            </a:r>
            <a:endParaRPr lang="tr-TR" sz="1400" dirty="0"/>
          </a:p>
        </p:txBody>
      </p:sp>
      <p:sp>
        <p:nvSpPr>
          <p:cNvPr id="168" name="Shape 166"/>
          <p:cNvSpPr/>
          <p:nvPr/>
        </p:nvSpPr>
        <p:spPr>
          <a:xfrm>
            <a:off x="10147554" y="2816352"/>
            <a:ext cx="473202" cy="384048"/>
          </a:xfrm>
          <a:prstGeom prst="roundRect">
            <a:avLst>
              <a:gd name="adj" fmla="val 11905"/>
            </a:avLst>
          </a:prstGeom>
          <a:solidFill>
            <a:srgbClr val="D7E9E6"/>
          </a:solidFill>
          <a:ln/>
        </p:spPr>
      </p:sp>
      <p:sp>
        <p:nvSpPr>
          <p:cNvPr id="169" name="Text 167"/>
          <p:cNvSpPr txBox="1"/>
          <p:nvPr/>
        </p:nvSpPr>
        <p:spPr>
          <a:xfrm>
            <a:off x="10147554"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1</a:t>
            </a:r>
            <a:endParaRPr lang="tr-TR" sz="1400" dirty="0"/>
          </a:p>
        </p:txBody>
      </p:sp>
      <p:sp>
        <p:nvSpPr>
          <p:cNvPr id="170" name="Shape 168"/>
          <p:cNvSpPr/>
          <p:nvPr/>
        </p:nvSpPr>
        <p:spPr>
          <a:xfrm>
            <a:off x="10147554" y="3236976"/>
            <a:ext cx="473202" cy="384048"/>
          </a:xfrm>
          <a:prstGeom prst="roundRect">
            <a:avLst>
              <a:gd name="adj" fmla="val 11905"/>
            </a:avLst>
          </a:prstGeom>
          <a:solidFill>
            <a:srgbClr val="D7E9E6"/>
          </a:solidFill>
          <a:ln/>
        </p:spPr>
      </p:sp>
      <p:sp>
        <p:nvSpPr>
          <p:cNvPr id="171" name="Text 169"/>
          <p:cNvSpPr txBox="1"/>
          <p:nvPr/>
        </p:nvSpPr>
        <p:spPr>
          <a:xfrm>
            <a:off x="10147554"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0</a:t>
            </a:r>
            <a:endParaRPr lang="tr-TR" sz="1400" dirty="0"/>
          </a:p>
        </p:txBody>
      </p:sp>
      <p:sp>
        <p:nvSpPr>
          <p:cNvPr id="172" name="Shape 170"/>
          <p:cNvSpPr/>
          <p:nvPr/>
        </p:nvSpPr>
        <p:spPr>
          <a:xfrm>
            <a:off x="10147554" y="3657600"/>
            <a:ext cx="473202" cy="384048"/>
          </a:xfrm>
          <a:prstGeom prst="roundRect">
            <a:avLst>
              <a:gd name="adj" fmla="val 11905"/>
            </a:avLst>
          </a:prstGeom>
          <a:solidFill>
            <a:srgbClr val="02C39A"/>
          </a:solidFill>
          <a:ln/>
        </p:spPr>
      </p:sp>
      <p:sp>
        <p:nvSpPr>
          <p:cNvPr id="173" name="Text 171"/>
          <p:cNvSpPr txBox="1"/>
          <p:nvPr/>
        </p:nvSpPr>
        <p:spPr>
          <a:xfrm>
            <a:off x="10147554" y="3657600"/>
            <a:ext cx="473202" cy="384048"/>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7</a:t>
            </a:r>
            <a:endParaRPr lang="tr-TR" sz="1400" dirty="0"/>
          </a:p>
        </p:txBody>
      </p:sp>
      <p:sp>
        <p:nvSpPr>
          <p:cNvPr id="174" name="Text 172"/>
          <p:cNvSpPr txBox="1"/>
          <p:nvPr/>
        </p:nvSpPr>
        <p:spPr>
          <a:xfrm>
            <a:off x="10129266" y="4059936"/>
            <a:ext cx="509778" cy="420624"/>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175" name="Shape 173"/>
          <p:cNvSpPr/>
          <p:nvPr/>
        </p:nvSpPr>
        <p:spPr>
          <a:xfrm>
            <a:off x="10657332" y="2395728"/>
            <a:ext cx="473202" cy="384048"/>
          </a:xfrm>
          <a:prstGeom prst="roundRect">
            <a:avLst>
              <a:gd name="adj" fmla="val 11905"/>
            </a:avLst>
          </a:prstGeom>
          <a:solidFill>
            <a:srgbClr val="36454F"/>
          </a:solidFill>
          <a:ln/>
        </p:spPr>
      </p:sp>
      <p:sp>
        <p:nvSpPr>
          <p:cNvPr id="176" name="Text 174"/>
          <p:cNvSpPr txBox="1"/>
          <p:nvPr/>
        </p:nvSpPr>
        <p:spPr>
          <a:xfrm>
            <a:off x="10657332"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0</a:t>
            </a:r>
            <a:endParaRPr lang="tr-TR" sz="1400" dirty="0"/>
          </a:p>
        </p:txBody>
      </p:sp>
      <p:sp>
        <p:nvSpPr>
          <p:cNvPr id="177" name="Shape 175"/>
          <p:cNvSpPr/>
          <p:nvPr/>
        </p:nvSpPr>
        <p:spPr>
          <a:xfrm>
            <a:off x="10657332" y="2816352"/>
            <a:ext cx="473202" cy="384048"/>
          </a:xfrm>
          <a:prstGeom prst="roundRect">
            <a:avLst>
              <a:gd name="adj" fmla="val 11905"/>
            </a:avLst>
          </a:prstGeom>
          <a:solidFill>
            <a:srgbClr val="F2F2F2"/>
          </a:solidFill>
          <a:ln/>
        </p:spPr>
      </p:sp>
      <p:sp>
        <p:nvSpPr>
          <p:cNvPr id="178" name="Text 176"/>
          <p:cNvSpPr txBox="1"/>
          <p:nvPr/>
        </p:nvSpPr>
        <p:spPr>
          <a:xfrm>
            <a:off x="10657332"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1</a:t>
            </a:r>
            <a:endParaRPr lang="tr-TR" sz="1400" dirty="0"/>
          </a:p>
        </p:txBody>
      </p:sp>
      <p:sp>
        <p:nvSpPr>
          <p:cNvPr id="179" name="Shape 177"/>
          <p:cNvSpPr/>
          <p:nvPr/>
        </p:nvSpPr>
        <p:spPr>
          <a:xfrm>
            <a:off x="10657332" y="3236976"/>
            <a:ext cx="473202" cy="384048"/>
          </a:xfrm>
          <a:prstGeom prst="roundRect">
            <a:avLst>
              <a:gd name="adj" fmla="val 11905"/>
            </a:avLst>
          </a:prstGeom>
          <a:solidFill>
            <a:srgbClr val="F2F2F2"/>
          </a:solidFill>
          <a:ln/>
        </p:spPr>
      </p:sp>
      <p:sp>
        <p:nvSpPr>
          <p:cNvPr id="180" name="Text 178"/>
          <p:cNvSpPr txBox="1"/>
          <p:nvPr/>
        </p:nvSpPr>
        <p:spPr>
          <a:xfrm>
            <a:off x="10657332"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0</a:t>
            </a:r>
            <a:endParaRPr lang="tr-TR" sz="1400" dirty="0"/>
          </a:p>
        </p:txBody>
      </p:sp>
      <p:sp>
        <p:nvSpPr>
          <p:cNvPr id="181" name="Shape 179"/>
          <p:cNvSpPr/>
          <p:nvPr/>
        </p:nvSpPr>
        <p:spPr>
          <a:xfrm>
            <a:off x="10657332" y="3657600"/>
            <a:ext cx="473202" cy="384048"/>
          </a:xfrm>
          <a:prstGeom prst="roundRect">
            <a:avLst>
              <a:gd name="adj" fmla="val 11905"/>
            </a:avLst>
          </a:prstGeom>
          <a:solidFill>
            <a:srgbClr val="F2F2F2"/>
          </a:solidFill>
          <a:ln/>
        </p:spPr>
      </p:sp>
      <p:sp>
        <p:nvSpPr>
          <p:cNvPr id="182" name="Text 180"/>
          <p:cNvSpPr txBox="1"/>
          <p:nvPr/>
        </p:nvSpPr>
        <p:spPr>
          <a:xfrm>
            <a:off x="10657332"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7</a:t>
            </a:r>
            <a:endParaRPr lang="tr-TR" sz="1400" dirty="0"/>
          </a:p>
        </p:txBody>
      </p:sp>
      <p:sp>
        <p:nvSpPr>
          <p:cNvPr id="183" name="Text 181"/>
          <p:cNvSpPr txBox="1"/>
          <p:nvPr/>
        </p:nvSpPr>
        <p:spPr>
          <a:xfrm>
            <a:off x="10639044" y="4059936"/>
            <a:ext cx="509778" cy="420624"/>
          </a:xfrm>
          <a:prstGeom prst="rect">
            <a:avLst/>
          </a:prstGeom>
          <a:noFill/>
          <a:ln/>
        </p:spPr>
        <p:txBody>
          <a:bodyPr wrap="square" lIns="0" tIns="0" rIns="0" bIns="0" rtlCol="0" anchor="ctr"/>
          <a:lstStyle/>
          <a:p>
            <a:pPr algn="ctr" indent="0" marL="0">
              <a:buNone/>
            </a:pPr>
            <a:endParaRPr lang="tr-TR" sz="1400" dirty="0"/>
          </a:p>
        </p:txBody>
      </p:sp>
      <p:sp>
        <p:nvSpPr>
          <p:cNvPr id="184" name="Shape 182"/>
          <p:cNvSpPr/>
          <p:nvPr/>
        </p:nvSpPr>
        <p:spPr>
          <a:xfrm>
            <a:off x="11167110" y="2395728"/>
            <a:ext cx="473202" cy="384048"/>
          </a:xfrm>
          <a:prstGeom prst="roundRect">
            <a:avLst>
              <a:gd name="adj" fmla="val 11905"/>
            </a:avLst>
          </a:prstGeom>
          <a:solidFill>
            <a:srgbClr val="36454F"/>
          </a:solidFill>
          <a:ln/>
        </p:spPr>
      </p:sp>
      <p:sp>
        <p:nvSpPr>
          <p:cNvPr id="185" name="Text 183"/>
          <p:cNvSpPr txBox="1"/>
          <p:nvPr/>
        </p:nvSpPr>
        <p:spPr>
          <a:xfrm>
            <a:off x="11167110" y="2395728"/>
            <a:ext cx="473202" cy="384048"/>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1</a:t>
            </a:r>
            <a:endParaRPr lang="tr-TR" sz="1400" dirty="0"/>
          </a:p>
        </p:txBody>
      </p:sp>
      <p:sp>
        <p:nvSpPr>
          <p:cNvPr id="186" name="Shape 184"/>
          <p:cNvSpPr/>
          <p:nvPr/>
        </p:nvSpPr>
        <p:spPr>
          <a:xfrm>
            <a:off x="11167110" y="2816352"/>
            <a:ext cx="473202" cy="384048"/>
          </a:xfrm>
          <a:prstGeom prst="roundRect">
            <a:avLst>
              <a:gd name="adj" fmla="val 11905"/>
            </a:avLst>
          </a:prstGeom>
          <a:solidFill>
            <a:srgbClr val="F2F2F2"/>
          </a:solidFill>
          <a:ln/>
        </p:spPr>
      </p:sp>
      <p:sp>
        <p:nvSpPr>
          <p:cNvPr id="187" name="Text 185"/>
          <p:cNvSpPr txBox="1"/>
          <p:nvPr/>
        </p:nvSpPr>
        <p:spPr>
          <a:xfrm>
            <a:off x="11167110" y="2816352"/>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1</a:t>
            </a:r>
            <a:endParaRPr lang="tr-TR" sz="1400" dirty="0"/>
          </a:p>
        </p:txBody>
      </p:sp>
      <p:sp>
        <p:nvSpPr>
          <p:cNvPr id="188" name="Shape 186"/>
          <p:cNvSpPr/>
          <p:nvPr/>
        </p:nvSpPr>
        <p:spPr>
          <a:xfrm>
            <a:off x="11167110" y="3236976"/>
            <a:ext cx="473202" cy="384048"/>
          </a:xfrm>
          <a:prstGeom prst="roundRect">
            <a:avLst>
              <a:gd name="adj" fmla="val 11905"/>
            </a:avLst>
          </a:prstGeom>
          <a:solidFill>
            <a:srgbClr val="F2F2F2"/>
          </a:solidFill>
          <a:ln/>
        </p:spPr>
      </p:sp>
      <p:sp>
        <p:nvSpPr>
          <p:cNvPr id="189" name="Text 187"/>
          <p:cNvSpPr txBox="1"/>
          <p:nvPr/>
        </p:nvSpPr>
        <p:spPr>
          <a:xfrm>
            <a:off x="11167110" y="3236976"/>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0</a:t>
            </a:r>
            <a:endParaRPr lang="tr-TR" sz="1400" dirty="0"/>
          </a:p>
        </p:txBody>
      </p:sp>
      <p:sp>
        <p:nvSpPr>
          <p:cNvPr id="190" name="Shape 188"/>
          <p:cNvSpPr/>
          <p:nvPr/>
        </p:nvSpPr>
        <p:spPr>
          <a:xfrm>
            <a:off x="11167110" y="3657600"/>
            <a:ext cx="473202" cy="384048"/>
          </a:xfrm>
          <a:prstGeom prst="roundRect">
            <a:avLst>
              <a:gd name="adj" fmla="val 11905"/>
            </a:avLst>
          </a:prstGeom>
          <a:solidFill>
            <a:srgbClr val="F2F2F2"/>
          </a:solidFill>
          <a:ln/>
        </p:spPr>
      </p:sp>
      <p:sp>
        <p:nvSpPr>
          <p:cNvPr id="191" name="Text 189"/>
          <p:cNvSpPr txBox="1"/>
          <p:nvPr/>
        </p:nvSpPr>
        <p:spPr>
          <a:xfrm>
            <a:off x="11167110" y="3657600"/>
            <a:ext cx="473202" cy="384048"/>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7</a:t>
            </a:r>
            <a:endParaRPr lang="tr-TR" sz="1400" dirty="0"/>
          </a:p>
        </p:txBody>
      </p:sp>
      <p:sp>
        <p:nvSpPr>
          <p:cNvPr id="192" name="Text 190"/>
          <p:cNvSpPr txBox="1"/>
          <p:nvPr/>
        </p:nvSpPr>
        <p:spPr>
          <a:xfrm>
            <a:off x="11148822" y="4059936"/>
            <a:ext cx="509778" cy="420624"/>
          </a:xfrm>
          <a:prstGeom prst="rect">
            <a:avLst/>
          </a:prstGeom>
          <a:noFill/>
          <a:ln/>
        </p:spPr>
        <p:txBody>
          <a:bodyPr wrap="square" lIns="0" tIns="0" rIns="0" bIns="0" rtlCol="0" anchor="ctr"/>
          <a:lstStyle/>
          <a:p>
            <a:pPr algn="ctr" indent="0" marL="0">
              <a:buNone/>
            </a:pPr>
            <a:endParaRPr lang="tr-TR" sz="1400" dirty="0"/>
          </a:p>
        </p:txBody>
      </p:sp>
      <p:sp>
        <p:nvSpPr>
          <p:cNvPr id="193" name="Shape 191"/>
          <p:cNvSpPr/>
          <p:nvPr/>
        </p:nvSpPr>
        <p:spPr>
          <a:xfrm>
            <a:off x="548640" y="5029200"/>
            <a:ext cx="8092440" cy="1234440"/>
          </a:xfrm>
          <a:prstGeom prst="roundRect">
            <a:avLst>
              <a:gd name="adj" fmla="val 4444"/>
            </a:avLst>
          </a:prstGeom>
          <a:solidFill>
            <a:srgbClr val="F2F2F2"/>
          </a:solidFill>
          <a:ln/>
          <a:effectLst>
            <a:outerShdw sx="100000" sy="100000" kx="0" ky="0" algn="bl" rotWithShape="0" blurRad="101600" dist="25400" dir="5400000">
              <a:srgbClr val="000000">
                <a:alpha val="12000"/>
              </a:srgbClr>
            </a:outerShdw>
          </a:effectLst>
        </p:spPr>
      </p:sp>
      <p:sp>
        <p:nvSpPr>
          <p:cNvPr id="194" name="Text 192"/>
          <p:cNvSpPr txBox="1"/>
          <p:nvPr/>
        </p:nvSpPr>
        <p:spPr>
          <a:xfrm>
            <a:off x="777240" y="5212080"/>
            <a:ext cx="7635240" cy="384048"/>
          </a:xfrm>
          <a:prstGeom prst="rect">
            <a:avLst/>
          </a:prstGeom>
          <a:noFill/>
          <a:ln/>
        </p:spPr>
        <p:txBody>
          <a:bodyPr wrap="square" lIns="0" tIns="0" rIns="0" bIns="0" rtlCol="0" anchor="ctr"/>
          <a:lstStyle/>
          <a:p>
            <a:pPr indent="0" marL="0">
              <a:buNone/>
            </a:pPr>
            <a:r>
              <a:rPr lang="tr-TR" sz="1400" b="1" dirty="0">
                <a:solidFill>
                  <a:srgbClr val="028090"/>
                </a:solidFill>
                <a:latin typeface="Cambria" pitchFamily="34" charset="0"/>
                <a:ea typeface="Cambria" pitchFamily="34" charset="-122"/>
                <a:cs typeface="Cambria" pitchFamily="34" charset="-120"/>
              </a:rPr>
              <a:t>Gerçekleme</a:t>
            </a:r>
            <a:endParaRPr lang="tr-TR" sz="1400" dirty="0"/>
          </a:p>
        </p:txBody>
      </p:sp>
      <p:sp>
        <p:nvSpPr>
          <p:cNvPr id="195" name="Text 193"/>
          <p:cNvSpPr txBox="1"/>
          <p:nvPr/>
        </p:nvSpPr>
        <p:spPr>
          <a:xfrm>
            <a:off x="777240" y="5669280"/>
            <a:ext cx="7635240" cy="457200"/>
          </a:xfrm>
          <a:prstGeom prst="rect">
            <a:avLst/>
          </a:prstGeom>
          <a:noFill/>
          <a:ln/>
        </p:spPr>
        <p:txBody>
          <a:bodyPr wrap="square" lIns="0" tIns="0" rIns="0" bIns="0" rtlCol="0" anchor="t"/>
          <a:lstStyle/>
          <a:p>
            <a:pPr indent="0" marL="0">
              <a:spcAft>
                <a:spcPts val="400"/>
              </a:spcAft>
              <a:buNone/>
            </a:pPr>
            <a:r>
              <a:rPr lang="tr-TR" sz="1350" dirty="0">
                <a:solidFill>
                  <a:srgbClr val="3A464C"/>
                </a:solidFill>
                <a:latin typeface="Calibri" pitchFamily="34" charset="0"/>
                <a:ea typeface="Calibri" pitchFamily="34" charset="-122"/>
                <a:cs typeface="Calibri" pitchFamily="34" charset="-120"/>
              </a:rPr>
              <a:t>Tam LRU, her bellek erişiminde güncellenen bir zaman damgası ya da bir yığıt (stack) gerektirir; donanımda bu çok pahalıdır. Gerçek sistemler ona yaklaşır (saat algoritması, birazdan).</a:t>
            </a:r>
            <a:endParaRPr lang="tr-TR" sz="1350" dirty="0"/>
          </a:p>
        </p:txBody>
      </p:sp>
      <p:sp>
        <p:nvSpPr>
          <p:cNvPr id="196" name="Shape 194"/>
          <p:cNvSpPr/>
          <p:nvPr/>
        </p:nvSpPr>
        <p:spPr>
          <a:xfrm>
            <a:off x="8869680" y="5029200"/>
            <a:ext cx="2788920" cy="1234440"/>
          </a:xfrm>
          <a:prstGeom prst="roundRect">
            <a:avLst>
              <a:gd name="adj" fmla="val 4444"/>
            </a:avLst>
          </a:prstGeom>
          <a:solidFill>
            <a:srgbClr val="36454F"/>
          </a:solidFill>
          <a:ln/>
        </p:spPr>
      </p:sp>
      <p:sp>
        <p:nvSpPr>
          <p:cNvPr id="197" name="Text 195"/>
          <p:cNvSpPr txBox="1"/>
          <p:nvPr/>
        </p:nvSpPr>
        <p:spPr>
          <a:xfrm>
            <a:off x="9052560" y="5029200"/>
            <a:ext cx="2423160" cy="1234440"/>
          </a:xfrm>
          <a:prstGeom prst="rect">
            <a:avLst/>
          </a:prstGeom>
          <a:noFill/>
          <a:ln/>
        </p:spPr>
        <p:txBody>
          <a:bodyPr wrap="square" lIns="0" tIns="0" rIns="0" bIns="0" rtlCol="0" anchor="ctr"/>
          <a:lstStyle/>
          <a:p>
            <a:pPr algn="ctr" indent="0" marL="0">
              <a:buNone/>
            </a:pPr>
            <a:r>
              <a:rPr lang="tr-TR" sz="4000" b="1" dirty="0">
                <a:solidFill>
                  <a:srgbClr val="02C39A"/>
                </a:solidFill>
                <a:latin typeface="Cambria" pitchFamily="34" charset="0"/>
                <a:ea typeface="Cambria" pitchFamily="34" charset="-122"/>
                <a:cs typeface="Cambria" pitchFamily="34" charset="-120"/>
              </a:rPr>
              <a:t>12</a:t>
            </a:r>
            <a:endParaRPr lang="tr-TR" sz="1400" dirty="0"/>
          </a:p>
          <a:p>
            <a:pPr algn="ctr" indent="0" marL="0">
              <a:buNone/>
            </a:pPr>
            <a:r>
              <a:rPr lang="tr-TR" sz="1300" dirty="0">
                <a:solidFill>
                  <a:srgbClr val="F2F2F2"/>
                </a:solidFill>
                <a:latin typeface="Calibri" pitchFamily="34" charset="0"/>
                <a:ea typeface="Calibri" pitchFamily="34" charset="-122"/>
                <a:cs typeface="Calibri" pitchFamily="34" charset="-120"/>
              </a:rPr>
              <a:t>LRU ile sayfa hatası</a:t>
            </a:r>
            <a:endParaRPr lang="tr-TR"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SAYFA DEĞİŞTİRME</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Üç Algoritma, Tek Başvuru Dizisi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17</a:t>
            </a:r>
            <a:endParaRPr lang="tr-TR"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463040"/>
                <a:gridCol w="3108960"/>
                <a:gridCol w="2057400"/>
                <a:gridCol w="2331720"/>
                <a:gridCol w="2148840"/>
              </a:tblGrid>
              <a:tr h="0">
                <a:tc>
                  <a:txBody>
                    <a:bodyPr/>
                    <a:lstStyle/>
                    <a:p>
                      <a:pPr indent="0" marL="0">
                        <a:buNone/>
                      </a:pPr>
                      <a:r>
                        <a:rPr lang="tr-TR" sz="1700" b="1" dirty="0">
                          <a:solidFill>
                            <a:srgbClr val="FFFFFF"/>
                          </a:solidFill>
                          <a:latin typeface="Cambria" pitchFamily="34" charset="0"/>
                          <a:ea typeface="Cambria" pitchFamily="34" charset="-122"/>
                          <a:cs typeface="Cambria" pitchFamily="34" charset="-120"/>
                        </a:rPr>
                        <a:t>Algoritma</a:t>
                      </a:r>
                      <a:endParaRPr lang="tr-TR"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700" b="1" dirty="0">
                          <a:solidFill>
                            <a:srgbClr val="FFFFFF"/>
                          </a:solidFill>
                          <a:latin typeface="Cambria" pitchFamily="34" charset="0"/>
                          <a:ea typeface="Cambria" pitchFamily="34" charset="-122"/>
                          <a:cs typeface="Cambria" pitchFamily="34" charset="-120"/>
                        </a:rPr>
                        <a:t>Kurban şu sayfadır…</a:t>
                      </a:r>
                      <a:endParaRPr lang="tr-TR"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700" b="1" dirty="0">
                          <a:solidFill>
                            <a:srgbClr val="FFFFFF"/>
                          </a:solidFill>
                          <a:latin typeface="Cambria" pitchFamily="34" charset="0"/>
                          <a:ea typeface="Cambria" pitchFamily="34" charset="-122"/>
                          <a:cs typeface="Cambria" pitchFamily="34" charset="-120"/>
                        </a:rPr>
                        <a:t>Hata (3 çerçeve)</a:t>
                      </a:r>
                      <a:endParaRPr lang="tr-TR"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700" b="1" dirty="0">
                          <a:solidFill>
                            <a:srgbClr val="FFFFFF"/>
                          </a:solidFill>
                          <a:latin typeface="Cambria" pitchFamily="34" charset="0"/>
                          <a:ea typeface="Cambria" pitchFamily="34" charset="-122"/>
                          <a:cs typeface="Cambria" pitchFamily="34" charset="-120"/>
                        </a:rPr>
                        <a:t>Gerçeklenebilir mi?</a:t>
                      </a:r>
                      <a:endParaRPr lang="tr-TR"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700" b="1" dirty="0">
                          <a:solidFill>
                            <a:srgbClr val="FFFFFF"/>
                          </a:solidFill>
                          <a:latin typeface="Cambria" pitchFamily="34" charset="0"/>
                          <a:ea typeface="Cambria" pitchFamily="34" charset="-122"/>
                          <a:cs typeface="Cambria" pitchFamily="34" charset="-120"/>
                        </a:rPr>
                        <a:t>Belady anomalisi?</a:t>
                      </a:r>
                      <a:endParaRPr lang="tr-TR"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FIFO</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en uzun süre önce yüklenen</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15</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evet, çok ucuz</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olabilir</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OPT</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gelecekte en geç kullanılacak</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9</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hayır (geleceği ister)</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asla</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LRU</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en uzun süredir kullanılmayan</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12</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yaklaşık olarak</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asla</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Bu dizide sıralama: OPT (9) &lt; LRU (12) &lt; FIFO (15). Her algoritma 7, 0 ve 1'in ilk kullanımı için 3 zorunlu hatayı öder.</a:t>
            </a:r>
            <a:endParaRPr lang="tr-TR" sz="1400" dirty="0"/>
          </a:p>
        </p:txBody>
      </p:sp>
      <p:sp>
        <p:nvSpPr>
          <p:cNvPr id="9" name="Text 6"/>
          <p:cNvSpPr txBox="1"/>
          <p:nvPr/>
        </p:nvSpPr>
        <p:spPr>
          <a:xfrm>
            <a:off x="548640" y="3611880"/>
            <a:ext cx="1005840" cy="457200"/>
          </a:xfrm>
          <a:prstGeom prst="rect">
            <a:avLst/>
          </a:prstGeom>
          <a:noFill/>
          <a:ln/>
        </p:spPr>
        <p:txBody>
          <a:bodyPr wrap="square" lIns="0" tIns="0" rIns="0" bIns="0" rtlCol="0" anchor="ctr"/>
          <a:lstStyle/>
          <a:p>
            <a:pPr indent="0" marL="0">
              <a:buNone/>
            </a:pPr>
            <a:r>
              <a:rPr lang="tr-TR" sz="1500" b="1" dirty="0">
                <a:solidFill>
                  <a:srgbClr val="36454F"/>
                </a:solidFill>
                <a:latin typeface="Calibri" pitchFamily="34" charset="0"/>
                <a:ea typeface="Calibri" pitchFamily="34" charset="-122"/>
                <a:cs typeface="Calibri" pitchFamily="34" charset="-120"/>
              </a:rPr>
              <a:t>OPT</a:t>
            </a:r>
            <a:endParaRPr lang="tr-TR" sz="1500" dirty="0"/>
          </a:p>
        </p:txBody>
      </p:sp>
      <p:sp>
        <p:nvSpPr>
          <p:cNvPr id="10" name="Shape 7"/>
          <p:cNvSpPr/>
          <p:nvPr/>
        </p:nvSpPr>
        <p:spPr>
          <a:xfrm>
            <a:off x="1645920" y="3657600"/>
            <a:ext cx="3703320" cy="365760"/>
          </a:xfrm>
          <a:prstGeom prst="rect">
            <a:avLst/>
          </a:prstGeom>
          <a:solidFill>
            <a:srgbClr val="02C39A"/>
          </a:solidFill>
          <a:ln/>
        </p:spPr>
      </p:sp>
      <p:sp>
        <p:nvSpPr>
          <p:cNvPr id="11" name="Text 8"/>
          <p:cNvSpPr txBox="1"/>
          <p:nvPr/>
        </p:nvSpPr>
        <p:spPr>
          <a:xfrm>
            <a:off x="5440680" y="3611880"/>
            <a:ext cx="1463040" cy="457200"/>
          </a:xfrm>
          <a:prstGeom prst="rect">
            <a:avLst/>
          </a:prstGeom>
          <a:noFill/>
          <a:ln/>
        </p:spPr>
        <p:txBody>
          <a:bodyPr wrap="square" lIns="0" tIns="0" rIns="0" bIns="0" rtlCol="0" anchor="ctr"/>
          <a:lstStyle/>
          <a:p>
            <a:pPr indent="0" marL="0">
              <a:buNone/>
            </a:pPr>
            <a:r>
              <a:rPr lang="tr-TR" sz="1400" b="1" dirty="0">
                <a:solidFill>
                  <a:srgbClr val="36454F"/>
                </a:solidFill>
                <a:latin typeface="Calibri" pitchFamily="34" charset="0"/>
                <a:ea typeface="Calibri" pitchFamily="34" charset="-122"/>
                <a:cs typeface="Calibri" pitchFamily="34" charset="-120"/>
              </a:rPr>
              <a:t>9 hata</a:t>
            </a:r>
            <a:endParaRPr lang="tr-TR" sz="1400" dirty="0"/>
          </a:p>
        </p:txBody>
      </p:sp>
      <p:sp>
        <p:nvSpPr>
          <p:cNvPr id="12" name="Text 9"/>
          <p:cNvSpPr txBox="1"/>
          <p:nvPr/>
        </p:nvSpPr>
        <p:spPr>
          <a:xfrm>
            <a:off x="548640" y="4178808"/>
            <a:ext cx="1005840" cy="457200"/>
          </a:xfrm>
          <a:prstGeom prst="rect">
            <a:avLst/>
          </a:prstGeom>
          <a:noFill/>
          <a:ln/>
        </p:spPr>
        <p:txBody>
          <a:bodyPr wrap="square" lIns="0" tIns="0" rIns="0" bIns="0" rtlCol="0" anchor="ctr"/>
          <a:lstStyle/>
          <a:p>
            <a:pPr indent="0" marL="0">
              <a:buNone/>
            </a:pPr>
            <a:r>
              <a:rPr lang="tr-TR" sz="1500" b="1" dirty="0">
                <a:solidFill>
                  <a:srgbClr val="36454F"/>
                </a:solidFill>
                <a:latin typeface="Calibri" pitchFamily="34" charset="0"/>
                <a:ea typeface="Calibri" pitchFamily="34" charset="-122"/>
                <a:cs typeface="Calibri" pitchFamily="34" charset="-120"/>
              </a:rPr>
              <a:t>LRU</a:t>
            </a:r>
            <a:endParaRPr lang="tr-TR" sz="1500" dirty="0"/>
          </a:p>
        </p:txBody>
      </p:sp>
      <p:sp>
        <p:nvSpPr>
          <p:cNvPr id="13" name="Shape 10"/>
          <p:cNvSpPr/>
          <p:nvPr/>
        </p:nvSpPr>
        <p:spPr>
          <a:xfrm>
            <a:off x="1645920" y="4224528"/>
            <a:ext cx="4937760" cy="365760"/>
          </a:xfrm>
          <a:prstGeom prst="rect">
            <a:avLst/>
          </a:prstGeom>
          <a:solidFill>
            <a:srgbClr val="028090"/>
          </a:solidFill>
          <a:ln/>
        </p:spPr>
      </p:sp>
      <p:sp>
        <p:nvSpPr>
          <p:cNvPr id="14" name="Text 11"/>
          <p:cNvSpPr txBox="1"/>
          <p:nvPr/>
        </p:nvSpPr>
        <p:spPr>
          <a:xfrm>
            <a:off x="6675120" y="4178808"/>
            <a:ext cx="1463040" cy="457200"/>
          </a:xfrm>
          <a:prstGeom prst="rect">
            <a:avLst/>
          </a:prstGeom>
          <a:noFill/>
          <a:ln/>
        </p:spPr>
        <p:txBody>
          <a:bodyPr wrap="square" lIns="0" tIns="0" rIns="0" bIns="0" rtlCol="0" anchor="ctr"/>
          <a:lstStyle/>
          <a:p>
            <a:pPr indent="0" marL="0">
              <a:buNone/>
            </a:pPr>
            <a:r>
              <a:rPr lang="tr-TR" sz="1400" b="1" dirty="0">
                <a:solidFill>
                  <a:srgbClr val="36454F"/>
                </a:solidFill>
                <a:latin typeface="Calibri" pitchFamily="34" charset="0"/>
                <a:ea typeface="Calibri" pitchFamily="34" charset="-122"/>
                <a:cs typeface="Calibri" pitchFamily="34" charset="-120"/>
              </a:rPr>
              <a:t>12 hata</a:t>
            </a:r>
            <a:endParaRPr lang="tr-TR" sz="1400" dirty="0"/>
          </a:p>
        </p:txBody>
      </p:sp>
      <p:sp>
        <p:nvSpPr>
          <p:cNvPr id="15" name="Text 12"/>
          <p:cNvSpPr txBox="1"/>
          <p:nvPr/>
        </p:nvSpPr>
        <p:spPr>
          <a:xfrm>
            <a:off x="548640" y="4745736"/>
            <a:ext cx="1005840" cy="457200"/>
          </a:xfrm>
          <a:prstGeom prst="rect">
            <a:avLst/>
          </a:prstGeom>
          <a:noFill/>
          <a:ln/>
        </p:spPr>
        <p:txBody>
          <a:bodyPr wrap="square" lIns="0" tIns="0" rIns="0" bIns="0" rtlCol="0" anchor="ctr"/>
          <a:lstStyle/>
          <a:p>
            <a:pPr indent="0" marL="0">
              <a:buNone/>
            </a:pPr>
            <a:r>
              <a:rPr lang="tr-TR" sz="1500" b="1" dirty="0">
                <a:solidFill>
                  <a:srgbClr val="36454F"/>
                </a:solidFill>
                <a:latin typeface="Calibri" pitchFamily="34" charset="0"/>
                <a:ea typeface="Calibri" pitchFamily="34" charset="-122"/>
                <a:cs typeface="Calibri" pitchFamily="34" charset="-120"/>
              </a:rPr>
              <a:t>FIFO</a:t>
            </a:r>
            <a:endParaRPr lang="tr-TR" sz="1500" dirty="0"/>
          </a:p>
        </p:txBody>
      </p:sp>
      <p:sp>
        <p:nvSpPr>
          <p:cNvPr id="16" name="Shape 13"/>
          <p:cNvSpPr/>
          <p:nvPr/>
        </p:nvSpPr>
        <p:spPr>
          <a:xfrm>
            <a:off x="1645920" y="4791456"/>
            <a:ext cx="6172200" cy="365760"/>
          </a:xfrm>
          <a:prstGeom prst="rect">
            <a:avLst/>
          </a:prstGeom>
          <a:solidFill>
            <a:srgbClr val="50808E"/>
          </a:solidFill>
          <a:ln/>
        </p:spPr>
      </p:sp>
      <p:sp>
        <p:nvSpPr>
          <p:cNvPr id="17" name="Text 14"/>
          <p:cNvSpPr txBox="1"/>
          <p:nvPr/>
        </p:nvSpPr>
        <p:spPr>
          <a:xfrm>
            <a:off x="7909560" y="4745736"/>
            <a:ext cx="1463040" cy="457200"/>
          </a:xfrm>
          <a:prstGeom prst="rect">
            <a:avLst/>
          </a:prstGeom>
          <a:noFill/>
          <a:ln/>
        </p:spPr>
        <p:txBody>
          <a:bodyPr wrap="square" lIns="0" tIns="0" rIns="0" bIns="0" rtlCol="0" anchor="ctr"/>
          <a:lstStyle/>
          <a:p>
            <a:pPr indent="0" marL="0">
              <a:buNone/>
            </a:pPr>
            <a:r>
              <a:rPr lang="tr-TR" sz="1400" b="1" dirty="0">
                <a:solidFill>
                  <a:srgbClr val="36454F"/>
                </a:solidFill>
                <a:latin typeface="Calibri" pitchFamily="34" charset="0"/>
                <a:ea typeface="Calibri" pitchFamily="34" charset="-122"/>
                <a:cs typeface="Calibri" pitchFamily="34" charset="-120"/>
              </a:rPr>
              <a:t>15 hata</a:t>
            </a:r>
            <a:endParaRPr lang="tr-TR" sz="1400" dirty="0"/>
          </a:p>
        </p:txBody>
      </p:sp>
      <p:sp>
        <p:nvSpPr>
          <p:cNvPr id="18" name="Text 15"/>
          <p:cNvSpPr txBox="1"/>
          <p:nvPr/>
        </p:nvSpPr>
        <p:spPr>
          <a:xfrm>
            <a:off x="8778240" y="4846320"/>
            <a:ext cx="2834640" cy="274320"/>
          </a:xfrm>
          <a:prstGeom prst="rect">
            <a:avLst/>
          </a:prstGeom>
          <a:noFill/>
          <a:ln/>
        </p:spPr>
        <p:txBody>
          <a:bodyPr wrap="square" lIns="0" tIns="0" rIns="0" bIns="0" rtlCol="0" anchor="t"/>
          <a:lstStyle/>
          <a:p>
            <a:pPr algn="r" indent="0" marL="0">
              <a:buNone/>
            </a:pPr>
            <a:r>
              <a:rPr lang="tr-TR" sz="1100" i="1" dirty="0">
                <a:solidFill>
                  <a:srgbClr val="6B7679"/>
                </a:solidFill>
                <a:latin typeface="Calibri" pitchFamily="34" charset="0"/>
                <a:ea typeface="Calibri" pitchFamily="34" charset="-122"/>
                <a:cs typeface="Calibri" pitchFamily="34" charset="-120"/>
              </a:rPr>
              <a:t>20 başvurudan</a:t>
            </a:r>
            <a:endParaRPr lang="tr-TR"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SÜRPRİZ</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Belady Anomalisi: Daha Çok Çerçeve, Daha Çok Hata?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18</a:t>
            </a:r>
            <a:endParaRPr lang="tr-TR" sz="900" dirty="0"/>
          </a:p>
        </p:txBody>
      </p:sp>
      <p:sp>
        <p:nvSpPr>
          <p:cNvPr id="6" name="Text 4"/>
          <p:cNvSpPr txBox="1"/>
          <p:nvPr/>
        </p:nvSpPr>
        <p:spPr>
          <a:xfrm>
            <a:off x="548640" y="1463040"/>
            <a:ext cx="7680960" cy="320040"/>
          </a:xfrm>
          <a:prstGeom prst="rect">
            <a:avLst/>
          </a:prstGeom>
          <a:noFill/>
          <a:ln/>
        </p:spPr>
        <p:txBody>
          <a:bodyPr wrap="square" lIns="0" tIns="0" rIns="0" bIns="0" rtlCol="0" anchor="t"/>
          <a:lstStyle/>
          <a:p>
            <a:pPr indent="0" marL="0">
              <a:buNone/>
            </a:pPr>
            <a:r>
              <a:rPr lang="tr-TR" sz="1300" i="1" dirty="0">
                <a:solidFill>
                  <a:srgbClr val="6B7679"/>
                </a:solidFill>
                <a:latin typeface="Calibri" pitchFamily="34" charset="0"/>
                <a:ea typeface="Calibri" pitchFamily="34" charset="-122"/>
                <a:cs typeface="Calibri" pitchFamily="34" charset="-120"/>
              </a:rPr>
              <a:t>FIFO, dizi: 1, 2, 3, 4, 1, 2, 5, 1, 2, 3, 4, 5</a:t>
            </a:r>
            <a:endParaRPr lang="tr-TR" sz="1300" dirty="0"/>
          </a:p>
        </p:txBody>
      </p:sp>
      <p:sp>
        <p:nvSpPr>
          <p:cNvPr id="7" name="Text 5"/>
          <p:cNvSpPr txBox="1"/>
          <p:nvPr/>
        </p:nvSpPr>
        <p:spPr>
          <a:xfrm>
            <a:off x="548640" y="1783080"/>
            <a:ext cx="7680960" cy="320040"/>
          </a:xfrm>
          <a:prstGeom prst="rect">
            <a:avLst/>
          </a:prstGeom>
          <a:noFill/>
          <a:ln/>
        </p:spPr>
        <p:txBody>
          <a:bodyPr wrap="square" lIns="0" tIns="0" rIns="0" bIns="0" rtlCol="0" anchor="t"/>
          <a:lstStyle/>
          <a:p>
            <a:pPr indent="0" marL="0">
              <a:buNone/>
            </a:pPr>
            <a:r>
              <a:rPr lang="tr-TR" sz="1400" b="1" dirty="0">
                <a:solidFill>
                  <a:srgbClr val="028090"/>
                </a:solidFill>
                <a:latin typeface="Calibri" pitchFamily="34" charset="0"/>
                <a:ea typeface="Calibri" pitchFamily="34" charset="-122"/>
                <a:cs typeface="Calibri" pitchFamily="34" charset="-120"/>
              </a:rPr>
              <a:t>3 çerçeve → 9 hata</a:t>
            </a:r>
            <a:endParaRPr lang="tr-TR" sz="1400" dirty="0"/>
          </a:p>
        </p:txBody>
      </p:sp>
      <p:sp>
        <p:nvSpPr>
          <p:cNvPr id="8" name="Text 6"/>
          <p:cNvSpPr txBox="1"/>
          <p:nvPr/>
        </p:nvSpPr>
        <p:spPr>
          <a:xfrm>
            <a:off x="548640" y="2103120"/>
            <a:ext cx="841248" cy="329184"/>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başvuru</a:t>
            </a:r>
            <a:endParaRPr lang="tr-TR" sz="1100" dirty="0"/>
          </a:p>
        </p:txBody>
      </p:sp>
      <p:sp>
        <p:nvSpPr>
          <p:cNvPr id="9" name="Text 7"/>
          <p:cNvSpPr txBox="1"/>
          <p:nvPr/>
        </p:nvSpPr>
        <p:spPr>
          <a:xfrm>
            <a:off x="548640" y="2432304"/>
            <a:ext cx="841248" cy="329184"/>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çerçeve 0</a:t>
            </a:r>
            <a:endParaRPr lang="tr-TR" sz="1100" dirty="0"/>
          </a:p>
        </p:txBody>
      </p:sp>
      <p:sp>
        <p:nvSpPr>
          <p:cNvPr id="10" name="Text 8"/>
          <p:cNvSpPr txBox="1"/>
          <p:nvPr/>
        </p:nvSpPr>
        <p:spPr>
          <a:xfrm>
            <a:off x="548640" y="2761488"/>
            <a:ext cx="841248" cy="329184"/>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çerçeve 1</a:t>
            </a:r>
            <a:endParaRPr lang="tr-TR" sz="1100" dirty="0"/>
          </a:p>
        </p:txBody>
      </p:sp>
      <p:sp>
        <p:nvSpPr>
          <p:cNvPr id="11" name="Text 9"/>
          <p:cNvSpPr txBox="1"/>
          <p:nvPr/>
        </p:nvSpPr>
        <p:spPr>
          <a:xfrm>
            <a:off x="548640" y="3090672"/>
            <a:ext cx="841248" cy="329184"/>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çerçeve 2</a:t>
            </a:r>
            <a:endParaRPr lang="tr-TR" sz="1100" dirty="0"/>
          </a:p>
        </p:txBody>
      </p:sp>
      <p:sp>
        <p:nvSpPr>
          <p:cNvPr id="12" name="Text 10"/>
          <p:cNvSpPr txBox="1"/>
          <p:nvPr/>
        </p:nvSpPr>
        <p:spPr>
          <a:xfrm>
            <a:off x="548640" y="3419856"/>
            <a:ext cx="841248" cy="329184"/>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hata?</a:t>
            </a:r>
            <a:endParaRPr lang="tr-TR" sz="1100" dirty="0"/>
          </a:p>
        </p:txBody>
      </p:sp>
      <p:sp>
        <p:nvSpPr>
          <p:cNvPr id="13" name="Shape 11"/>
          <p:cNvSpPr/>
          <p:nvPr/>
        </p:nvSpPr>
        <p:spPr>
          <a:xfrm>
            <a:off x="1481328" y="2121408"/>
            <a:ext cx="527304" cy="292608"/>
          </a:xfrm>
          <a:prstGeom prst="roundRect">
            <a:avLst>
              <a:gd name="adj" fmla="val 15625"/>
            </a:avLst>
          </a:prstGeom>
          <a:solidFill>
            <a:srgbClr val="36454F"/>
          </a:solidFill>
          <a:ln/>
        </p:spPr>
      </p:sp>
      <p:sp>
        <p:nvSpPr>
          <p:cNvPr id="14" name="Text 12"/>
          <p:cNvSpPr txBox="1"/>
          <p:nvPr/>
        </p:nvSpPr>
        <p:spPr>
          <a:xfrm>
            <a:off x="1481328" y="2121408"/>
            <a:ext cx="527304"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1</a:t>
            </a:r>
            <a:endParaRPr lang="tr-TR" sz="1300" dirty="0"/>
          </a:p>
        </p:txBody>
      </p:sp>
      <p:sp>
        <p:nvSpPr>
          <p:cNvPr id="15" name="Shape 13"/>
          <p:cNvSpPr/>
          <p:nvPr/>
        </p:nvSpPr>
        <p:spPr>
          <a:xfrm>
            <a:off x="1481328" y="2450592"/>
            <a:ext cx="527304" cy="292608"/>
          </a:xfrm>
          <a:prstGeom prst="roundRect">
            <a:avLst>
              <a:gd name="adj" fmla="val 15625"/>
            </a:avLst>
          </a:prstGeom>
          <a:solidFill>
            <a:srgbClr val="02C39A"/>
          </a:solidFill>
          <a:ln/>
        </p:spPr>
      </p:sp>
      <p:sp>
        <p:nvSpPr>
          <p:cNvPr id="16" name="Text 14"/>
          <p:cNvSpPr txBox="1"/>
          <p:nvPr/>
        </p:nvSpPr>
        <p:spPr>
          <a:xfrm>
            <a:off x="1481328" y="2450592"/>
            <a:ext cx="527304"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1</a:t>
            </a:r>
            <a:endParaRPr lang="tr-TR" sz="1300" dirty="0"/>
          </a:p>
        </p:txBody>
      </p:sp>
      <p:sp>
        <p:nvSpPr>
          <p:cNvPr id="17" name="Shape 15"/>
          <p:cNvSpPr/>
          <p:nvPr/>
        </p:nvSpPr>
        <p:spPr>
          <a:xfrm>
            <a:off x="1481328" y="2779776"/>
            <a:ext cx="527304" cy="292608"/>
          </a:xfrm>
          <a:prstGeom prst="roundRect">
            <a:avLst>
              <a:gd name="adj" fmla="val 15625"/>
            </a:avLst>
          </a:prstGeom>
          <a:solidFill>
            <a:srgbClr val="D7E9E6"/>
          </a:solidFill>
          <a:ln/>
        </p:spPr>
      </p:sp>
      <p:sp>
        <p:nvSpPr>
          <p:cNvPr id="18" name="Text 16"/>
          <p:cNvSpPr txBox="1"/>
          <p:nvPr/>
        </p:nvSpPr>
        <p:spPr>
          <a:xfrm>
            <a:off x="1481328" y="2779776"/>
            <a:ext cx="527304" cy="292608"/>
          </a:xfrm>
          <a:prstGeom prst="rect">
            <a:avLst/>
          </a:prstGeom>
          <a:noFill/>
          <a:ln/>
        </p:spPr>
        <p:txBody>
          <a:bodyPr wrap="square" lIns="38100" tIns="38100" rIns="38100" bIns="38100" rtlCol="0" anchor="ctr"/>
          <a:lstStyle/>
          <a:p>
            <a:pPr algn="ctr" indent="0" marL="0">
              <a:buNone/>
            </a:pPr>
            <a:endParaRPr lang="tr-TR" sz="1300" dirty="0"/>
          </a:p>
        </p:txBody>
      </p:sp>
      <p:sp>
        <p:nvSpPr>
          <p:cNvPr id="19" name="Shape 17"/>
          <p:cNvSpPr/>
          <p:nvPr/>
        </p:nvSpPr>
        <p:spPr>
          <a:xfrm>
            <a:off x="1481328" y="3108960"/>
            <a:ext cx="527304" cy="292608"/>
          </a:xfrm>
          <a:prstGeom prst="roundRect">
            <a:avLst>
              <a:gd name="adj" fmla="val 15625"/>
            </a:avLst>
          </a:prstGeom>
          <a:solidFill>
            <a:srgbClr val="D7E9E6"/>
          </a:solidFill>
          <a:ln/>
        </p:spPr>
      </p:sp>
      <p:sp>
        <p:nvSpPr>
          <p:cNvPr id="20" name="Text 18"/>
          <p:cNvSpPr txBox="1"/>
          <p:nvPr/>
        </p:nvSpPr>
        <p:spPr>
          <a:xfrm>
            <a:off x="1481328" y="3108960"/>
            <a:ext cx="527304" cy="292608"/>
          </a:xfrm>
          <a:prstGeom prst="rect">
            <a:avLst/>
          </a:prstGeom>
          <a:noFill/>
          <a:ln/>
        </p:spPr>
        <p:txBody>
          <a:bodyPr wrap="square" lIns="38100" tIns="38100" rIns="38100" bIns="38100" rtlCol="0" anchor="ctr"/>
          <a:lstStyle/>
          <a:p>
            <a:pPr algn="ctr" indent="0" marL="0">
              <a:buNone/>
            </a:pPr>
            <a:endParaRPr lang="tr-TR" sz="1300" dirty="0"/>
          </a:p>
        </p:txBody>
      </p:sp>
      <p:sp>
        <p:nvSpPr>
          <p:cNvPr id="21" name="Text 19"/>
          <p:cNvSpPr txBox="1"/>
          <p:nvPr/>
        </p:nvSpPr>
        <p:spPr>
          <a:xfrm>
            <a:off x="1463040" y="3419856"/>
            <a:ext cx="563880"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22" name="Shape 20"/>
          <p:cNvSpPr/>
          <p:nvPr/>
        </p:nvSpPr>
        <p:spPr>
          <a:xfrm>
            <a:off x="2045208" y="2121408"/>
            <a:ext cx="527304" cy="292608"/>
          </a:xfrm>
          <a:prstGeom prst="roundRect">
            <a:avLst>
              <a:gd name="adj" fmla="val 15625"/>
            </a:avLst>
          </a:prstGeom>
          <a:solidFill>
            <a:srgbClr val="36454F"/>
          </a:solidFill>
          <a:ln/>
        </p:spPr>
      </p:sp>
      <p:sp>
        <p:nvSpPr>
          <p:cNvPr id="23" name="Text 21"/>
          <p:cNvSpPr txBox="1"/>
          <p:nvPr/>
        </p:nvSpPr>
        <p:spPr>
          <a:xfrm>
            <a:off x="2045208" y="2121408"/>
            <a:ext cx="527304"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2</a:t>
            </a:r>
            <a:endParaRPr lang="tr-TR" sz="1300" dirty="0"/>
          </a:p>
        </p:txBody>
      </p:sp>
      <p:sp>
        <p:nvSpPr>
          <p:cNvPr id="24" name="Shape 22"/>
          <p:cNvSpPr/>
          <p:nvPr/>
        </p:nvSpPr>
        <p:spPr>
          <a:xfrm>
            <a:off x="2045208" y="2450592"/>
            <a:ext cx="527304" cy="292608"/>
          </a:xfrm>
          <a:prstGeom prst="roundRect">
            <a:avLst>
              <a:gd name="adj" fmla="val 15625"/>
            </a:avLst>
          </a:prstGeom>
          <a:solidFill>
            <a:srgbClr val="D7E9E6"/>
          </a:solidFill>
          <a:ln/>
        </p:spPr>
      </p:sp>
      <p:sp>
        <p:nvSpPr>
          <p:cNvPr id="25" name="Text 23"/>
          <p:cNvSpPr txBox="1"/>
          <p:nvPr/>
        </p:nvSpPr>
        <p:spPr>
          <a:xfrm>
            <a:off x="2045208" y="2450592"/>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1</a:t>
            </a:r>
            <a:endParaRPr lang="tr-TR" sz="1300" dirty="0"/>
          </a:p>
        </p:txBody>
      </p:sp>
      <p:sp>
        <p:nvSpPr>
          <p:cNvPr id="26" name="Shape 24"/>
          <p:cNvSpPr/>
          <p:nvPr/>
        </p:nvSpPr>
        <p:spPr>
          <a:xfrm>
            <a:off x="2045208" y="2779776"/>
            <a:ext cx="527304" cy="292608"/>
          </a:xfrm>
          <a:prstGeom prst="roundRect">
            <a:avLst>
              <a:gd name="adj" fmla="val 15625"/>
            </a:avLst>
          </a:prstGeom>
          <a:solidFill>
            <a:srgbClr val="02C39A"/>
          </a:solidFill>
          <a:ln/>
        </p:spPr>
      </p:sp>
      <p:sp>
        <p:nvSpPr>
          <p:cNvPr id="27" name="Text 25"/>
          <p:cNvSpPr txBox="1"/>
          <p:nvPr/>
        </p:nvSpPr>
        <p:spPr>
          <a:xfrm>
            <a:off x="2045208" y="2779776"/>
            <a:ext cx="527304"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2</a:t>
            </a:r>
            <a:endParaRPr lang="tr-TR" sz="1300" dirty="0"/>
          </a:p>
        </p:txBody>
      </p:sp>
      <p:sp>
        <p:nvSpPr>
          <p:cNvPr id="28" name="Shape 26"/>
          <p:cNvSpPr/>
          <p:nvPr/>
        </p:nvSpPr>
        <p:spPr>
          <a:xfrm>
            <a:off x="2045208" y="3108960"/>
            <a:ext cx="527304" cy="292608"/>
          </a:xfrm>
          <a:prstGeom prst="roundRect">
            <a:avLst>
              <a:gd name="adj" fmla="val 15625"/>
            </a:avLst>
          </a:prstGeom>
          <a:solidFill>
            <a:srgbClr val="D7E9E6"/>
          </a:solidFill>
          <a:ln/>
        </p:spPr>
      </p:sp>
      <p:sp>
        <p:nvSpPr>
          <p:cNvPr id="29" name="Text 27"/>
          <p:cNvSpPr txBox="1"/>
          <p:nvPr/>
        </p:nvSpPr>
        <p:spPr>
          <a:xfrm>
            <a:off x="2045208" y="3108960"/>
            <a:ext cx="527304" cy="292608"/>
          </a:xfrm>
          <a:prstGeom prst="rect">
            <a:avLst/>
          </a:prstGeom>
          <a:noFill/>
          <a:ln/>
        </p:spPr>
        <p:txBody>
          <a:bodyPr wrap="square" lIns="38100" tIns="38100" rIns="38100" bIns="38100" rtlCol="0" anchor="ctr"/>
          <a:lstStyle/>
          <a:p>
            <a:pPr algn="ctr" indent="0" marL="0">
              <a:buNone/>
            </a:pPr>
            <a:endParaRPr lang="tr-TR" sz="1300" dirty="0"/>
          </a:p>
        </p:txBody>
      </p:sp>
      <p:sp>
        <p:nvSpPr>
          <p:cNvPr id="30" name="Text 28"/>
          <p:cNvSpPr txBox="1"/>
          <p:nvPr/>
        </p:nvSpPr>
        <p:spPr>
          <a:xfrm>
            <a:off x="2026920" y="3419856"/>
            <a:ext cx="563880"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31" name="Shape 29"/>
          <p:cNvSpPr/>
          <p:nvPr/>
        </p:nvSpPr>
        <p:spPr>
          <a:xfrm>
            <a:off x="2609088" y="2121408"/>
            <a:ext cx="527304" cy="292608"/>
          </a:xfrm>
          <a:prstGeom prst="roundRect">
            <a:avLst>
              <a:gd name="adj" fmla="val 15625"/>
            </a:avLst>
          </a:prstGeom>
          <a:solidFill>
            <a:srgbClr val="36454F"/>
          </a:solidFill>
          <a:ln/>
        </p:spPr>
      </p:sp>
      <p:sp>
        <p:nvSpPr>
          <p:cNvPr id="32" name="Text 30"/>
          <p:cNvSpPr txBox="1"/>
          <p:nvPr/>
        </p:nvSpPr>
        <p:spPr>
          <a:xfrm>
            <a:off x="2609088" y="2121408"/>
            <a:ext cx="527304"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3</a:t>
            </a:r>
            <a:endParaRPr lang="tr-TR" sz="1300" dirty="0"/>
          </a:p>
        </p:txBody>
      </p:sp>
      <p:sp>
        <p:nvSpPr>
          <p:cNvPr id="33" name="Shape 31"/>
          <p:cNvSpPr/>
          <p:nvPr/>
        </p:nvSpPr>
        <p:spPr>
          <a:xfrm>
            <a:off x="2609088" y="2450592"/>
            <a:ext cx="527304" cy="292608"/>
          </a:xfrm>
          <a:prstGeom prst="roundRect">
            <a:avLst>
              <a:gd name="adj" fmla="val 15625"/>
            </a:avLst>
          </a:prstGeom>
          <a:solidFill>
            <a:srgbClr val="D7E9E6"/>
          </a:solidFill>
          <a:ln/>
        </p:spPr>
      </p:sp>
      <p:sp>
        <p:nvSpPr>
          <p:cNvPr id="34" name="Text 32"/>
          <p:cNvSpPr txBox="1"/>
          <p:nvPr/>
        </p:nvSpPr>
        <p:spPr>
          <a:xfrm>
            <a:off x="2609088" y="2450592"/>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1</a:t>
            </a:r>
            <a:endParaRPr lang="tr-TR" sz="1300" dirty="0"/>
          </a:p>
        </p:txBody>
      </p:sp>
      <p:sp>
        <p:nvSpPr>
          <p:cNvPr id="35" name="Shape 33"/>
          <p:cNvSpPr/>
          <p:nvPr/>
        </p:nvSpPr>
        <p:spPr>
          <a:xfrm>
            <a:off x="2609088" y="2779776"/>
            <a:ext cx="527304" cy="292608"/>
          </a:xfrm>
          <a:prstGeom prst="roundRect">
            <a:avLst>
              <a:gd name="adj" fmla="val 15625"/>
            </a:avLst>
          </a:prstGeom>
          <a:solidFill>
            <a:srgbClr val="D7E9E6"/>
          </a:solidFill>
          <a:ln/>
        </p:spPr>
      </p:sp>
      <p:sp>
        <p:nvSpPr>
          <p:cNvPr id="36" name="Text 34"/>
          <p:cNvSpPr txBox="1"/>
          <p:nvPr/>
        </p:nvSpPr>
        <p:spPr>
          <a:xfrm>
            <a:off x="2609088" y="2779776"/>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37" name="Shape 35"/>
          <p:cNvSpPr/>
          <p:nvPr/>
        </p:nvSpPr>
        <p:spPr>
          <a:xfrm>
            <a:off x="2609088" y="3108960"/>
            <a:ext cx="527304" cy="292608"/>
          </a:xfrm>
          <a:prstGeom prst="roundRect">
            <a:avLst>
              <a:gd name="adj" fmla="val 15625"/>
            </a:avLst>
          </a:prstGeom>
          <a:solidFill>
            <a:srgbClr val="02C39A"/>
          </a:solidFill>
          <a:ln/>
        </p:spPr>
      </p:sp>
      <p:sp>
        <p:nvSpPr>
          <p:cNvPr id="38" name="Text 36"/>
          <p:cNvSpPr txBox="1"/>
          <p:nvPr/>
        </p:nvSpPr>
        <p:spPr>
          <a:xfrm>
            <a:off x="2609088" y="3108960"/>
            <a:ext cx="527304"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3</a:t>
            </a:r>
            <a:endParaRPr lang="tr-TR" sz="1300" dirty="0"/>
          </a:p>
        </p:txBody>
      </p:sp>
      <p:sp>
        <p:nvSpPr>
          <p:cNvPr id="39" name="Text 37"/>
          <p:cNvSpPr txBox="1"/>
          <p:nvPr/>
        </p:nvSpPr>
        <p:spPr>
          <a:xfrm>
            <a:off x="2590800" y="3419856"/>
            <a:ext cx="563880"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40" name="Shape 38"/>
          <p:cNvSpPr/>
          <p:nvPr/>
        </p:nvSpPr>
        <p:spPr>
          <a:xfrm>
            <a:off x="3172968" y="2121408"/>
            <a:ext cx="527304" cy="292608"/>
          </a:xfrm>
          <a:prstGeom prst="roundRect">
            <a:avLst>
              <a:gd name="adj" fmla="val 15625"/>
            </a:avLst>
          </a:prstGeom>
          <a:solidFill>
            <a:srgbClr val="36454F"/>
          </a:solidFill>
          <a:ln/>
        </p:spPr>
      </p:sp>
      <p:sp>
        <p:nvSpPr>
          <p:cNvPr id="41" name="Text 39"/>
          <p:cNvSpPr txBox="1"/>
          <p:nvPr/>
        </p:nvSpPr>
        <p:spPr>
          <a:xfrm>
            <a:off x="3172968" y="2121408"/>
            <a:ext cx="527304"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4</a:t>
            </a:r>
            <a:endParaRPr lang="tr-TR" sz="1300" dirty="0"/>
          </a:p>
        </p:txBody>
      </p:sp>
      <p:sp>
        <p:nvSpPr>
          <p:cNvPr id="42" name="Shape 40"/>
          <p:cNvSpPr/>
          <p:nvPr/>
        </p:nvSpPr>
        <p:spPr>
          <a:xfrm>
            <a:off x="3172968" y="2450592"/>
            <a:ext cx="527304" cy="292608"/>
          </a:xfrm>
          <a:prstGeom prst="roundRect">
            <a:avLst>
              <a:gd name="adj" fmla="val 15625"/>
            </a:avLst>
          </a:prstGeom>
          <a:solidFill>
            <a:srgbClr val="02C39A"/>
          </a:solidFill>
          <a:ln/>
        </p:spPr>
      </p:sp>
      <p:sp>
        <p:nvSpPr>
          <p:cNvPr id="43" name="Text 41"/>
          <p:cNvSpPr txBox="1"/>
          <p:nvPr/>
        </p:nvSpPr>
        <p:spPr>
          <a:xfrm>
            <a:off x="3172968" y="2450592"/>
            <a:ext cx="527304"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4</a:t>
            </a:r>
            <a:endParaRPr lang="tr-TR" sz="1300" dirty="0"/>
          </a:p>
        </p:txBody>
      </p:sp>
      <p:sp>
        <p:nvSpPr>
          <p:cNvPr id="44" name="Shape 42"/>
          <p:cNvSpPr/>
          <p:nvPr/>
        </p:nvSpPr>
        <p:spPr>
          <a:xfrm>
            <a:off x="3172968" y="2779776"/>
            <a:ext cx="527304" cy="292608"/>
          </a:xfrm>
          <a:prstGeom prst="roundRect">
            <a:avLst>
              <a:gd name="adj" fmla="val 15625"/>
            </a:avLst>
          </a:prstGeom>
          <a:solidFill>
            <a:srgbClr val="D7E9E6"/>
          </a:solidFill>
          <a:ln/>
        </p:spPr>
      </p:sp>
      <p:sp>
        <p:nvSpPr>
          <p:cNvPr id="45" name="Text 43"/>
          <p:cNvSpPr txBox="1"/>
          <p:nvPr/>
        </p:nvSpPr>
        <p:spPr>
          <a:xfrm>
            <a:off x="3172968" y="2779776"/>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46" name="Shape 44"/>
          <p:cNvSpPr/>
          <p:nvPr/>
        </p:nvSpPr>
        <p:spPr>
          <a:xfrm>
            <a:off x="3172968" y="3108960"/>
            <a:ext cx="527304" cy="292608"/>
          </a:xfrm>
          <a:prstGeom prst="roundRect">
            <a:avLst>
              <a:gd name="adj" fmla="val 15625"/>
            </a:avLst>
          </a:prstGeom>
          <a:solidFill>
            <a:srgbClr val="D7E9E6"/>
          </a:solidFill>
          <a:ln/>
        </p:spPr>
      </p:sp>
      <p:sp>
        <p:nvSpPr>
          <p:cNvPr id="47" name="Text 45"/>
          <p:cNvSpPr txBox="1"/>
          <p:nvPr/>
        </p:nvSpPr>
        <p:spPr>
          <a:xfrm>
            <a:off x="3172968" y="3108960"/>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3</a:t>
            </a:r>
            <a:endParaRPr lang="tr-TR" sz="1300" dirty="0"/>
          </a:p>
        </p:txBody>
      </p:sp>
      <p:sp>
        <p:nvSpPr>
          <p:cNvPr id="48" name="Text 46"/>
          <p:cNvSpPr txBox="1"/>
          <p:nvPr/>
        </p:nvSpPr>
        <p:spPr>
          <a:xfrm>
            <a:off x="3154680" y="3419856"/>
            <a:ext cx="563880"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49" name="Shape 47"/>
          <p:cNvSpPr/>
          <p:nvPr/>
        </p:nvSpPr>
        <p:spPr>
          <a:xfrm>
            <a:off x="3736848" y="2121408"/>
            <a:ext cx="527304" cy="292608"/>
          </a:xfrm>
          <a:prstGeom prst="roundRect">
            <a:avLst>
              <a:gd name="adj" fmla="val 15625"/>
            </a:avLst>
          </a:prstGeom>
          <a:solidFill>
            <a:srgbClr val="36454F"/>
          </a:solidFill>
          <a:ln/>
        </p:spPr>
      </p:sp>
      <p:sp>
        <p:nvSpPr>
          <p:cNvPr id="50" name="Text 48"/>
          <p:cNvSpPr txBox="1"/>
          <p:nvPr/>
        </p:nvSpPr>
        <p:spPr>
          <a:xfrm>
            <a:off x="3736848" y="2121408"/>
            <a:ext cx="527304"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1</a:t>
            </a:r>
            <a:endParaRPr lang="tr-TR" sz="1300" dirty="0"/>
          </a:p>
        </p:txBody>
      </p:sp>
      <p:sp>
        <p:nvSpPr>
          <p:cNvPr id="51" name="Shape 49"/>
          <p:cNvSpPr/>
          <p:nvPr/>
        </p:nvSpPr>
        <p:spPr>
          <a:xfrm>
            <a:off x="3736848" y="2450592"/>
            <a:ext cx="527304" cy="292608"/>
          </a:xfrm>
          <a:prstGeom prst="roundRect">
            <a:avLst>
              <a:gd name="adj" fmla="val 15625"/>
            </a:avLst>
          </a:prstGeom>
          <a:solidFill>
            <a:srgbClr val="D7E9E6"/>
          </a:solidFill>
          <a:ln/>
        </p:spPr>
      </p:sp>
      <p:sp>
        <p:nvSpPr>
          <p:cNvPr id="52" name="Text 50"/>
          <p:cNvSpPr txBox="1"/>
          <p:nvPr/>
        </p:nvSpPr>
        <p:spPr>
          <a:xfrm>
            <a:off x="3736848" y="2450592"/>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4</a:t>
            </a:r>
            <a:endParaRPr lang="tr-TR" sz="1300" dirty="0"/>
          </a:p>
        </p:txBody>
      </p:sp>
      <p:sp>
        <p:nvSpPr>
          <p:cNvPr id="53" name="Shape 51"/>
          <p:cNvSpPr/>
          <p:nvPr/>
        </p:nvSpPr>
        <p:spPr>
          <a:xfrm>
            <a:off x="3736848" y="2779776"/>
            <a:ext cx="527304" cy="292608"/>
          </a:xfrm>
          <a:prstGeom prst="roundRect">
            <a:avLst>
              <a:gd name="adj" fmla="val 15625"/>
            </a:avLst>
          </a:prstGeom>
          <a:solidFill>
            <a:srgbClr val="02C39A"/>
          </a:solidFill>
          <a:ln/>
        </p:spPr>
      </p:sp>
      <p:sp>
        <p:nvSpPr>
          <p:cNvPr id="54" name="Text 52"/>
          <p:cNvSpPr txBox="1"/>
          <p:nvPr/>
        </p:nvSpPr>
        <p:spPr>
          <a:xfrm>
            <a:off x="3736848" y="2779776"/>
            <a:ext cx="527304"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1</a:t>
            </a:r>
            <a:endParaRPr lang="tr-TR" sz="1300" dirty="0"/>
          </a:p>
        </p:txBody>
      </p:sp>
      <p:sp>
        <p:nvSpPr>
          <p:cNvPr id="55" name="Shape 53"/>
          <p:cNvSpPr/>
          <p:nvPr/>
        </p:nvSpPr>
        <p:spPr>
          <a:xfrm>
            <a:off x="3736848" y="3108960"/>
            <a:ext cx="527304" cy="292608"/>
          </a:xfrm>
          <a:prstGeom prst="roundRect">
            <a:avLst>
              <a:gd name="adj" fmla="val 15625"/>
            </a:avLst>
          </a:prstGeom>
          <a:solidFill>
            <a:srgbClr val="D7E9E6"/>
          </a:solidFill>
          <a:ln/>
        </p:spPr>
      </p:sp>
      <p:sp>
        <p:nvSpPr>
          <p:cNvPr id="56" name="Text 54"/>
          <p:cNvSpPr txBox="1"/>
          <p:nvPr/>
        </p:nvSpPr>
        <p:spPr>
          <a:xfrm>
            <a:off x="3736848" y="3108960"/>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3</a:t>
            </a:r>
            <a:endParaRPr lang="tr-TR" sz="1300" dirty="0"/>
          </a:p>
        </p:txBody>
      </p:sp>
      <p:sp>
        <p:nvSpPr>
          <p:cNvPr id="57" name="Text 55"/>
          <p:cNvSpPr txBox="1"/>
          <p:nvPr/>
        </p:nvSpPr>
        <p:spPr>
          <a:xfrm>
            <a:off x="3718560" y="3419856"/>
            <a:ext cx="563880"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58" name="Shape 56"/>
          <p:cNvSpPr/>
          <p:nvPr/>
        </p:nvSpPr>
        <p:spPr>
          <a:xfrm>
            <a:off x="4300728" y="2121408"/>
            <a:ext cx="527304" cy="292608"/>
          </a:xfrm>
          <a:prstGeom prst="roundRect">
            <a:avLst>
              <a:gd name="adj" fmla="val 15625"/>
            </a:avLst>
          </a:prstGeom>
          <a:solidFill>
            <a:srgbClr val="36454F"/>
          </a:solidFill>
          <a:ln/>
        </p:spPr>
      </p:sp>
      <p:sp>
        <p:nvSpPr>
          <p:cNvPr id="59" name="Text 57"/>
          <p:cNvSpPr txBox="1"/>
          <p:nvPr/>
        </p:nvSpPr>
        <p:spPr>
          <a:xfrm>
            <a:off x="4300728" y="2121408"/>
            <a:ext cx="527304"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2</a:t>
            </a:r>
            <a:endParaRPr lang="tr-TR" sz="1300" dirty="0"/>
          </a:p>
        </p:txBody>
      </p:sp>
      <p:sp>
        <p:nvSpPr>
          <p:cNvPr id="60" name="Shape 58"/>
          <p:cNvSpPr/>
          <p:nvPr/>
        </p:nvSpPr>
        <p:spPr>
          <a:xfrm>
            <a:off x="4300728" y="2450592"/>
            <a:ext cx="527304" cy="292608"/>
          </a:xfrm>
          <a:prstGeom prst="roundRect">
            <a:avLst>
              <a:gd name="adj" fmla="val 15625"/>
            </a:avLst>
          </a:prstGeom>
          <a:solidFill>
            <a:srgbClr val="D7E9E6"/>
          </a:solidFill>
          <a:ln/>
        </p:spPr>
      </p:sp>
      <p:sp>
        <p:nvSpPr>
          <p:cNvPr id="61" name="Text 59"/>
          <p:cNvSpPr txBox="1"/>
          <p:nvPr/>
        </p:nvSpPr>
        <p:spPr>
          <a:xfrm>
            <a:off x="4300728" y="2450592"/>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4</a:t>
            </a:r>
            <a:endParaRPr lang="tr-TR" sz="1300" dirty="0"/>
          </a:p>
        </p:txBody>
      </p:sp>
      <p:sp>
        <p:nvSpPr>
          <p:cNvPr id="62" name="Shape 60"/>
          <p:cNvSpPr/>
          <p:nvPr/>
        </p:nvSpPr>
        <p:spPr>
          <a:xfrm>
            <a:off x="4300728" y="2779776"/>
            <a:ext cx="527304" cy="292608"/>
          </a:xfrm>
          <a:prstGeom prst="roundRect">
            <a:avLst>
              <a:gd name="adj" fmla="val 15625"/>
            </a:avLst>
          </a:prstGeom>
          <a:solidFill>
            <a:srgbClr val="D7E9E6"/>
          </a:solidFill>
          <a:ln/>
        </p:spPr>
      </p:sp>
      <p:sp>
        <p:nvSpPr>
          <p:cNvPr id="63" name="Text 61"/>
          <p:cNvSpPr txBox="1"/>
          <p:nvPr/>
        </p:nvSpPr>
        <p:spPr>
          <a:xfrm>
            <a:off x="4300728" y="2779776"/>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1</a:t>
            </a:r>
            <a:endParaRPr lang="tr-TR" sz="1300" dirty="0"/>
          </a:p>
        </p:txBody>
      </p:sp>
      <p:sp>
        <p:nvSpPr>
          <p:cNvPr id="64" name="Shape 62"/>
          <p:cNvSpPr/>
          <p:nvPr/>
        </p:nvSpPr>
        <p:spPr>
          <a:xfrm>
            <a:off x="4300728" y="3108960"/>
            <a:ext cx="527304" cy="292608"/>
          </a:xfrm>
          <a:prstGeom prst="roundRect">
            <a:avLst>
              <a:gd name="adj" fmla="val 15625"/>
            </a:avLst>
          </a:prstGeom>
          <a:solidFill>
            <a:srgbClr val="02C39A"/>
          </a:solidFill>
          <a:ln/>
        </p:spPr>
      </p:sp>
      <p:sp>
        <p:nvSpPr>
          <p:cNvPr id="65" name="Text 63"/>
          <p:cNvSpPr txBox="1"/>
          <p:nvPr/>
        </p:nvSpPr>
        <p:spPr>
          <a:xfrm>
            <a:off x="4300728" y="3108960"/>
            <a:ext cx="527304"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2</a:t>
            </a:r>
            <a:endParaRPr lang="tr-TR" sz="1300" dirty="0"/>
          </a:p>
        </p:txBody>
      </p:sp>
      <p:sp>
        <p:nvSpPr>
          <p:cNvPr id="66" name="Text 64"/>
          <p:cNvSpPr txBox="1"/>
          <p:nvPr/>
        </p:nvSpPr>
        <p:spPr>
          <a:xfrm>
            <a:off x="4282440" y="3419856"/>
            <a:ext cx="563880"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67" name="Shape 65"/>
          <p:cNvSpPr/>
          <p:nvPr/>
        </p:nvSpPr>
        <p:spPr>
          <a:xfrm>
            <a:off x="4864608" y="2121408"/>
            <a:ext cx="527304" cy="292608"/>
          </a:xfrm>
          <a:prstGeom prst="roundRect">
            <a:avLst>
              <a:gd name="adj" fmla="val 15625"/>
            </a:avLst>
          </a:prstGeom>
          <a:solidFill>
            <a:srgbClr val="36454F"/>
          </a:solidFill>
          <a:ln/>
        </p:spPr>
      </p:sp>
      <p:sp>
        <p:nvSpPr>
          <p:cNvPr id="68" name="Text 66"/>
          <p:cNvSpPr txBox="1"/>
          <p:nvPr/>
        </p:nvSpPr>
        <p:spPr>
          <a:xfrm>
            <a:off x="4864608" y="2121408"/>
            <a:ext cx="527304"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5</a:t>
            </a:r>
            <a:endParaRPr lang="tr-TR" sz="1300" dirty="0"/>
          </a:p>
        </p:txBody>
      </p:sp>
      <p:sp>
        <p:nvSpPr>
          <p:cNvPr id="69" name="Shape 67"/>
          <p:cNvSpPr/>
          <p:nvPr/>
        </p:nvSpPr>
        <p:spPr>
          <a:xfrm>
            <a:off x="4864608" y="2450592"/>
            <a:ext cx="527304" cy="292608"/>
          </a:xfrm>
          <a:prstGeom prst="roundRect">
            <a:avLst>
              <a:gd name="adj" fmla="val 15625"/>
            </a:avLst>
          </a:prstGeom>
          <a:solidFill>
            <a:srgbClr val="02C39A"/>
          </a:solidFill>
          <a:ln/>
        </p:spPr>
      </p:sp>
      <p:sp>
        <p:nvSpPr>
          <p:cNvPr id="70" name="Text 68"/>
          <p:cNvSpPr txBox="1"/>
          <p:nvPr/>
        </p:nvSpPr>
        <p:spPr>
          <a:xfrm>
            <a:off x="4864608" y="2450592"/>
            <a:ext cx="527304"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5</a:t>
            </a:r>
            <a:endParaRPr lang="tr-TR" sz="1300" dirty="0"/>
          </a:p>
        </p:txBody>
      </p:sp>
      <p:sp>
        <p:nvSpPr>
          <p:cNvPr id="71" name="Shape 69"/>
          <p:cNvSpPr/>
          <p:nvPr/>
        </p:nvSpPr>
        <p:spPr>
          <a:xfrm>
            <a:off x="4864608" y="2779776"/>
            <a:ext cx="527304" cy="292608"/>
          </a:xfrm>
          <a:prstGeom prst="roundRect">
            <a:avLst>
              <a:gd name="adj" fmla="val 15625"/>
            </a:avLst>
          </a:prstGeom>
          <a:solidFill>
            <a:srgbClr val="D7E9E6"/>
          </a:solidFill>
          <a:ln/>
        </p:spPr>
      </p:sp>
      <p:sp>
        <p:nvSpPr>
          <p:cNvPr id="72" name="Text 70"/>
          <p:cNvSpPr txBox="1"/>
          <p:nvPr/>
        </p:nvSpPr>
        <p:spPr>
          <a:xfrm>
            <a:off x="4864608" y="2779776"/>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1</a:t>
            </a:r>
            <a:endParaRPr lang="tr-TR" sz="1300" dirty="0"/>
          </a:p>
        </p:txBody>
      </p:sp>
      <p:sp>
        <p:nvSpPr>
          <p:cNvPr id="73" name="Shape 71"/>
          <p:cNvSpPr/>
          <p:nvPr/>
        </p:nvSpPr>
        <p:spPr>
          <a:xfrm>
            <a:off x="4864608" y="3108960"/>
            <a:ext cx="527304" cy="292608"/>
          </a:xfrm>
          <a:prstGeom prst="roundRect">
            <a:avLst>
              <a:gd name="adj" fmla="val 15625"/>
            </a:avLst>
          </a:prstGeom>
          <a:solidFill>
            <a:srgbClr val="D7E9E6"/>
          </a:solidFill>
          <a:ln/>
        </p:spPr>
      </p:sp>
      <p:sp>
        <p:nvSpPr>
          <p:cNvPr id="74" name="Text 72"/>
          <p:cNvSpPr txBox="1"/>
          <p:nvPr/>
        </p:nvSpPr>
        <p:spPr>
          <a:xfrm>
            <a:off x="4864608" y="3108960"/>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75" name="Text 73"/>
          <p:cNvSpPr txBox="1"/>
          <p:nvPr/>
        </p:nvSpPr>
        <p:spPr>
          <a:xfrm>
            <a:off x="4846320" y="3419856"/>
            <a:ext cx="563880"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76" name="Shape 74"/>
          <p:cNvSpPr/>
          <p:nvPr/>
        </p:nvSpPr>
        <p:spPr>
          <a:xfrm>
            <a:off x="5428488" y="2121408"/>
            <a:ext cx="527304" cy="292608"/>
          </a:xfrm>
          <a:prstGeom prst="roundRect">
            <a:avLst>
              <a:gd name="adj" fmla="val 15625"/>
            </a:avLst>
          </a:prstGeom>
          <a:solidFill>
            <a:srgbClr val="36454F"/>
          </a:solidFill>
          <a:ln/>
        </p:spPr>
      </p:sp>
      <p:sp>
        <p:nvSpPr>
          <p:cNvPr id="77" name="Text 75"/>
          <p:cNvSpPr txBox="1"/>
          <p:nvPr/>
        </p:nvSpPr>
        <p:spPr>
          <a:xfrm>
            <a:off x="5428488" y="2121408"/>
            <a:ext cx="527304"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1</a:t>
            </a:r>
            <a:endParaRPr lang="tr-TR" sz="1300" dirty="0"/>
          </a:p>
        </p:txBody>
      </p:sp>
      <p:sp>
        <p:nvSpPr>
          <p:cNvPr id="78" name="Shape 76"/>
          <p:cNvSpPr/>
          <p:nvPr/>
        </p:nvSpPr>
        <p:spPr>
          <a:xfrm>
            <a:off x="5428488" y="2450592"/>
            <a:ext cx="527304" cy="292608"/>
          </a:xfrm>
          <a:prstGeom prst="roundRect">
            <a:avLst>
              <a:gd name="adj" fmla="val 15625"/>
            </a:avLst>
          </a:prstGeom>
          <a:solidFill>
            <a:srgbClr val="F2F2F2"/>
          </a:solidFill>
          <a:ln/>
        </p:spPr>
      </p:sp>
      <p:sp>
        <p:nvSpPr>
          <p:cNvPr id="79" name="Text 77"/>
          <p:cNvSpPr txBox="1"/>
          <p:nvPr/>
        </p:nvSpPr>
        <p:spPr>
          <a:xfrm>
            <a:off x="5428488" y="2450592"/>
            <a:ext cx="527304"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5</a:t>
            </a:r>
            <a:endParaRPr lang="tr-TR" sz="1300" dirty="0"/>
          </a:p>
        </p:txBody>
      </p:sp>
      <p:sp>
        <p:nvSpPr>
          <p:cNvPr id="80" name="Shape 78"/>
          <p:cNvSpPr/>
          <p:nvPr/>
        </p:nvSpPr>
        <p:spPr>
          <a:xfrm>
            <a:off x="5428488" y="2779776"/>
            <a:ext cx="527304" cy="292608"/>
          </a:xfrm>
          <a:prstGeom prst="roundRect">
            <a:avLst>
              <a:gd name="adj" fmla="val 15625"/>
            </a:avLst>
          </a:prstGeom>
          <a:solidFill>
            <a:srgbClr val="F2F2F2"/>
          </a:solidFill>
          <a:ln/>
        </p:spPr>
      </p:sp>
      <p:sp>
        <p:nvSpPr>
          <p:cNvPr id="81" name="Text 79"/>
          <p:cNvSpPr txBox="1"/>
          <p:nvPr/>
        </p:nvSpPr>
        <p:spPr>
          <a:xfrm>
            <a:off x="5428488" y="2779776"/>
            <a:ext cx="527304"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1</a:t>
            </a:r>
            <a:endParaRPr lang="tr-TR" sz="1300" dirty="0"/>
          </a:p>
        </p:txBody>
      </p:sp>
      <p:sp>
        <p:nvSpPr>
          <p:cNvPr id="82" name="Shape 80"/>
          <p:cNvSpPr/>
          <p:nvPr/>
        </p:nvSpPr>
        <p:spPr>
          <a:xfrm>
            <a:off x="5428488" y="3108960"/>
            <a:ext cx="527304" cy="292608"/>
          </a:xfrm>
          <a:prstGeom prst="roundRect">
            <a:avLst>
              <a:gd name="adj" fmla="val 15625"/>
            </a:avLst>
          </a:prstGeom>
          <a:solidFill>
            <a:srgbClr val="F2F2F2"/>
          </a:solidFill>
          <a:ln/>
        </p:spPr>
      </p:sp>
      <p:sp>
        <p:nvSpPr>
          <p:cNvPr id="83" name="Text 81"/>
          <p:cNvSpPr txBox="1"/>
          <p:nvPr/>
        </p:nvSpPr>
        <p:spPr>
          <a:xfrm>
            <a:off x="5428488" y="3108960"/>
            <a:ext cx="527304"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2</a:t>
            </a:r>
            <a:endParaRPr lang="tr-TR" sz="1300" dirty="0"/>
          </a:p>
        </p:txBody>
      </p:sp>
      <p:sp>
        <p:nvSpPr>
          <p:cNvPr id="84" name="Text 82"/>
          <p:cNvSpPr txBox="1"/>
          <p:nvPr/>
        </p:nvSpPr>
        <p:spPr>
          <a:xfrm>
            <a:off x="5410200" y="3419856"/>
            <a:ext cx="563880" cy="329184"/>
          </a:xfrm>
          <a:prstGeom prst="rect">
            <a:avLst/>
          </a:prstGeom>
          <a:noFill/>
          <a:ln/>
        </p:spPr>
        <p:txBody>
          <a:bodyPr wrap="square" lIns="0" tIns="0" rIns="0" bIns="0" rtlCol="0" anchor="ctr"/>
          <a:lstStyle/>
          <a:p>
            <a:pPr algn="ctr" indent="0" marL="0">
              <a:buNone/>
            </a:pPr>
            <a:endParaRPr lang="tr-TR" sz="1300" dirty="0"/>
          </a:p>
        </p:txBody>
      </p:sp>
      <p:sp>
        <p:nvSpPr>
          <p:cNvPr id="85" name="Shape 83"/>
          <p:cNvSpPr/>
          <p:nvPr/>
        </p:nvSpPr>
        <p:spPr>
          <a:xfrm>
            <a:off x="5992368" y="2121408"/>
            <a:ext cx="527304" cy="292608"/>
          </a:xfrm>
          <a:prstGeom prst="roundRect">
            <a:avLst>
              <a:gd name="adj" fmla="val 15625"/>
            </a:avLst>
          </a:prstGeom>
          <a:solidFill>
            <a:srgbClr val="36454F"/>
          </a:solidFill>
          <a:ln/>
        </p:spPr>
      </p:sp>
      <p:sp>
        <p:nvSpPr>
          <p:cNvPr id="86" name="Text 84"/>
          <p:cNvSpPr txBox="1"/>
          <p:nvPr/>
        </p:nvSpPr>
        <p:spPr>
          <a:xfrm>
            <a:off x="5992368" y="2121408"/>
            <a:ext cx="527304"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2</a:t>
            </a:r>
            <a:endParaRPr lang="tr-TR" sz="1300" dirty="0"/>
          </a:p>
        </p:txBody>
      </p:sp>
      <p:sp>
        <p:nvSpPr>
          <p:cNvPr id="87" name="Shape 85"/>
          <p:cNvSpPr/>
          <p:nvPr/>
        </p:nvSpPr>
        <p:spPr>
          <a:xfrm>
            <a:off x="5992368" y="2450592"/>
            <a:ext cx="527304" cy="292608"/>
          </a:xfrm>
          <a:prstGeom prst="roundRect">
            <a:avLst>
              <a:gd name="adj" fmla="val 15625"/>
            </a:avLst>
          </a:prstGeom>
          <a:solidFill>
            <a:srgbClr val="F2F2F2"/>
          </a:solidFill>
          <a:ln/>
        </p:spPr>
      </p:sp>
      <p:sp>
        <p:nvSpPr>
          <p:cNvPr id="88" name="Text 86"/>
          <p:cNvSpPr txBox="1"/>
          <p:nvPr/>
        </p:nvSpPr>
        <p:spPr>
          <a:xfrm>
            <a:off x="5992368" y="2450592"/>
            <a:ext cx="527304"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5</a:t>
            </a:r>
            <a:endParaRPr lang="tr-TR" sz="1300" dirty="0"/>
          </a:p>
        </p:txBody>
      </p:sp>
      <p:sp>
        <p:nvSpPr>
          <p:cNvPr id="89" name="Shape 87"/>
          <p:cNvSpPr/>
          <p:nvPr/>
        </p:nvSpPr>
        <p:spPr>
          <a:xfrm>
            <a:off x="5992368" y="2779776"/>
            <a:ext cx="527304" cy="292608"/>
          </a:xfrm>
          <a:prstGeom prst="roundRect">
            <a:avLst>
              <a:gd name="adj" fmla="val 15625"/>
            </a:avLst>
          </a:prstGeom>
          <a:solidFill>
            <a:srgbClr val="F2F2F2"/>
          </a:solidFill>
          <a:ln/>
        </p:spPr>
      </p:sp>
      <p:sp>
        <p:nvSpPr>
          <p:cNvPr id="90" name="Text 88"/>
          <p:cNvSpPr txBox="1"/>
          <p:nvPr/>
        </p:nvSpPr>
        <p:spPr>
          <a:xfrm>
            <a:off x="5992368" y="2779776"/>
            <a:ext cx="527304"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1</a:t>
            </a:r>
            <a:endParaRPr lang="tr-TR" sz="1300" dirty="0"/>
          </a:p>
        </p:txBody>
      </p:sp>
      <p:sp>
        <p:nvSpPr>
          <p:cNvPr id="91" name="Shape 89"/>
          <p:cNvSpPr/>
          <p:nvPr/>
        </p:nvSpPr>
        <p:spPr>
          <a:xfrm>
            <a:off x="5992368" y="3108960"/>
            <a:ext cx="527304" cy="292608"/>
          </a:xfrm>
          <a:prstGeom prst="roundRect">
            <a:avLst>
              <a:gd name="adj" fmla="val 15625"/>
            </a:avLst>
          </a:prstGeom>
          <a:solidFill>
            <a:srgbClr val="F2F2F2"/>
          </a:solidFill>
          <a:ln/>
        </p:spPr>
      </p:sp>
      <p:sp>
        <p:nvSpPr>
          <p:cNvPr id="92" name="Text 90"/>
          <p:cNvSpPr txBox="1"/>
          <p:nvPr/>
        </p:nvSpPr>
        <p:spPr>
          <a:xfrm>
            <a:off x="5992368" y="3108960"/>
            <a:ext cx="527304"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2</a:t>
            </a:r>
            <a:endParaRPr lang="tr-TR" sz="1300" dirty="0"/>
          </a:p>
        </p:txBody>
      </p:sp>
      <p:sp>
        <p:nvSpPr>
          <p:cNvPr id="93" name="Text 91"/>
          <p:cNvSpPr txBox="1"/>
          <p:nvPr/>
        </p:nvSpPr>
        <p:spPr>
          <a:xfrm>
            <a:off x="5974080" y="3419856"/>
            <a:ext cx="563880" cy="329184"/>
          </a:xfrm>
          <a:prstGeom prst="rect">
            <a:avLst/>
          </a:prstGeom>
          <a:noFill/>
          <a:ln/>
        </p:spPr>
        <p:txBody>
          <a:bodyPr wrap="square" lIns="0" tIns="0" rIns="0" bIns="0" rtlCol="0" anchor="ctr"/>
          <a:lstStyle/>
          <a:p>
            <a:pPr algn="ctr" indent="0" marL="0">
              <a:buNone/>
            </a:pPr>
            <a:endParaRPr lang="tr-TR" sz="1300" dirty="0"/>
          </a:p>
        </p:txBody>
      </p:sp>
      <p:sp>
        <p:nvSpPr>
          <p:cNvPr id="94" name="Shape 92"/>
          <p:cNvSpPr/>
          <p:nvPr/>
        </p:nvSpPr>
        <p:spPr>
          <a:xfrm>
            <a:off x="6556248" y="2121408"/>
            <a:ext cx="527304" cy="292608"/>
          </a:xfrm>
          <a:prstGeom prst="roundRect">
            <a:avLst>
              <a:gd name="adj" fmla="val 15625"/>
            </a:avLst>
          </a:prstGeom>
          <a:solidFill>
            <a:srgbClr val="36454F"/>
          </a:solidFill>
          <a:ln/>
        </p:spPr>
      </p:sp>
      <p:sp>
        <p:nvSpPr>
          <p:cNvPr id="95" name="Text 93"/>
          <p:cNvSpPr txBox="1"/>
          <p:nvPr/>
        </p:nvSpPr>
        <p:spPr>
          <a:xfrm>
            <a:off x="6556248" y="2121408"/>
            <a:ext cx="527304"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3</a:t>
            </a:r>
            <a:endParaRPr lang="tr-TR" sz="1300" dirty="0"/>
          </a:p>
        </p:txBody>
      </p:sp>
      <p:sp>
        <p:nvSpPr>
          <p:cNvPr id="96" name="Shape 94"/>
          <p:cNvSpPr/>
          <p:nvPr/>
        </p:nvSpPr>
        <p:spPr>
          <a:xfrm>
            <a:off x="6556248" y="2450592"/>
            <a:ext cx="527304" cy="292608"/>
          </a:xfrm>
          <a:prstGeom prst="roundRect">
            <a:avLst>
              <a:gd name="adj" fmla="val 15625"/>
            </a:avLst>
          </a:prstGeom>
          <a:solidFill>
            <a:srgbClr val="D7E9E6"/>
          </a:solidFill>
          <a:ln/>
        </p:spPr>
      </p:sp>
      <p:sp>
        <p:nvSpPr>
          <p:cNvPr id="97" name="Text 95"/>
          <p:cNvSpPr txBox="1"/>
          <p:nvPr/>
        </p:nvSpPr>
        <p:spPr>
          <a:xfrm>
            <a:off x="6556248" y="2450592"/>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5</a:t>
            </a:r>
            <a:endParaRPr lang="tr-TR" sz="1300" dirty="0"/>
          </a:p>
        </p:txBody>
      </p:sp>
      <p:sp>
        <p:nvSpPr>
          <p:cNvPr id="98" name="Shape 96"/>
          <p:cNvSpPr/>
          <p:nvPr/>
        </p:nvSpPr>
        <p:spPr>
          <a:xfrm>
            <a:off x="6556248" y="2779776"/>
            <a:ext cx="527304" cy="292608"/>
          </a:xfrm>
          <a:prstGeom prst="roundRect">
            <a:avLst>
              <a:gd name="adj" fmla="val 15625"/>
            </a:avLst>
          </a:prstGeom>
          <a:solidFill>
            <a:srgbClr val="02C39A"/>
          </a:solidFill>
          <a:ln/>
        </p:spPr>
      </p:sp>
      <p:sp>
        <p:nvSpPr>
          <p:cNvPr id="99" name="Text 97"/>
          <p:cNvSpPr txBox="1"/>
          <p:nvPr/>
        </p:nvSpPr>
        <p:spPr>
          <a:xfrm>
            <a:off x="6556248" y="2779776"/>
            <a:ext cx="527304"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3</a:t>
            </a:r>
            <a:endParaRPr lang="tr-TR" sz="1300" dirty="0"/>
          </a:p>
        </p:txBody>
      </p:sp>
      <p:sp>
        <p:nvSpPr>
          <p:cNvPr id="100" name="Shape 98"/>
          <p:cNvSpPr/>
          <p:nvPr/>
        </p:nvSpPr>
        <p:spPr>
          <a:xfrm>
            <a:off x="6556248" y="3108960"/>
            <a:ext cx="527304" cy="292608"/>
          </a:xfrm>
          <a:prstGeom prst="roundRect">
            <a:avLst>
              <a:gd name="adj" fmla="val 15625"/>
            </a:avLst>
          </a:prstGeom>
          <a:solidFill>
            <a:srgbClr val="D7E9E6"/>
          </a:solidFill>
          <a:ln/>
        </p:spPr>
      </p:sp>
      <p:sp>
        <p:nvSpPr>
          <p:cNvPr id="101" name="Text 99"/>
          <p:cNvSpPr txBox="1"/>
          <p:nvPr/>
        </p:nvSpPr>
        <p:spPr>
          <a:xfrm>
            <a:off x="6556248" y="3108960"/>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102" name="Text 100"/>
          <p:cNvSpPr txBox="1"/>
          <p:nvPr/>
        </p:nvSpPr>
        <p:spPr>
          <a:xfrm>
            <a:off x="6537960" y="3419856"/>
            <a:ext cx="563880"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103" name="Shape 101"/>
          <p:cNvSpPr/>
          <p:nvPr/>
        </p:nvSpPr>
        <p:spPr>
          <a:xfrm>
            <a:off x="7120128" y="2121408"/>
            <a:ext cx="527304" cy="292608"/>
          </a:xfrm>
          <a:prstGeom prst="roundRect">
            <a:avLst>
              <a:gd name="adj" fmla="val 15625"/>
            </a:avLst>
          </a:prstGeom>
          <a:solidFill>
            <a:srgbClr val="36454F"/>
          </a:solidFill>
          <a:ln/>
        </p:spPr>
      </p:sp>
      <p:sp>
        <p:nvSpPr>
          <p:cNvPr id="104" name="Text 102"/>
          <p:cNvSpPr txBox="1"/>
          <p:nvPr/>
        </p:nvSpPr>
        <p:spPr>
          <a:xfrm>
            <a:off x="7120128" y="2121408"/>
            <a:ext cx="527304"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4</a:t>
            </a:r>
            <a:endParaRPr lang="tr-TR" sz="1300" dirty="0"/>
          </a:p>
        </p:txBody>
      </p:sp>
      <p:sp>
        <p:nvSpPr>
          <p:cNvPr id="105" name="Shape 103"/>
          <p:cNvSpPr/>
          <p:nvPr/>
        </p:nvSpPr>
        <p:spPr>
          <a:xfrm>
            <a:off x="7120128" y="2450592"/>
            <a:ext cx="527304" cy="292608"/>
          </a:xfrm>
          <a:prstGeom prst="roundRect">
            <a:avLst>
              <a:gd name="adj" fmla="val 15625"/>
            </a:avLst>
          </a:prstGeom>
          <a:solidFill>
            <a:srgbClr val="D7E9E6"/>
          </a:solidFill>
          <a:ln/>
        </p:spPr>
      </p:sp>
      <p:sp>
        <p:nvSpPr>
          <p:cNvPr id="106" name="Text 104"/>
          <p:cNvSpPr txBox="1"/>
          <p:nvPr/>
        </p:nvSpPr>
        <p:spPr>
          <a:xfrm>
            <a:off x="7120128" y="2450592"/>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5</a:t>
            </a:r>
            <a:endParaRPr lang="tr-TR" sz="1300" dirty="0"/>
          </a:p>
        </p:txBody>
      </p:sp>
      <p:sp>
        <p:nvSpPr>
          <p:cNvPr id="107" name="Shape 105"/>
          <p:cNvSpPr/>
          <p:nvPr/>
        </p:nvSpPr>
        <p:spPr>
          <a:xfrm>
            <a:off x="7120128" y="2779776"/>
            <a:ext cx="527304" cy="292608"/>
          </a:xfrm>
          <a:prstGeom prst="roundRect">
            <a:avLst>
              <a:gd name="adj" fmla="val 15625"/>
            </a:avLst>
          </a:prstGeom>
          <a:solidFill>
            <a:srgbClr val="D7E9E6"/>
          </a:solidFill>
          <a:ln/>
        </p:spPr>
      </p:sp>
      <p:sp>
        <p:nvSpPr>
          <p:cNvPr id="108" name="Text 106"/>
          <p:cNvSpPr txBox="1"/>
          <p:nvPr/>
        </p:nvSpPr>
        <p:spPr>
          <a:xfrm>
            <a:off x="7120128" y="2779776"/>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3</a:t>
            </a:r>
            <a:endParaRPr lang="tr-TR" sz="1300" dirty="0"/>
          </a:p>
        </p:txBody>
      </p:sp>
      <p:sp>
        <p:nvSpPr>
          <p:cNvPr id="109" name="Shape 107"/>
          <p:cNvSpPr/>
          <p:nvPr/>
        </p:nvSpPr>
        <p:spPr>
          <a:xfrm>
            <a:off x="7120128" y="3108960"/>
            <a:ext cx="527304" cy="292608"/>
          </a:xfrm>
          <a:prstGeom prst="roundRect">
            <a:avLst>
              <a:gd name="adj" fmla="val 15625"/>
            </a:avLst>
          </a:prstGeom>
          <a:solidFill>
            <a:srgbClr val="02C39A"/>
          </a:solidFill>
          <a:ln/>
        </p:spPr>
      </p:sp>
      <p:sp>
        <p:nvSpPr>
          <p:cNvPr id="110" name="Text 108"/>
          <p:cNvSpPr txBox="1"/>
          <p:nvPr/>
        </p:nvSpPr>
        <p:spPr>
          <a:xfrm>
            <a:off x="7120128" y="3108960"/>
            <a:ext cx="527304"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4</a:t>
            </a:r>
            <a:endParaRPr lang="tr-TR" sz="1300" dirty="0"/>
          </a:p>
        </p:txBody>
      </p:sp>
      <p:sp>
        <p:nvSpPr>
          <p:cNvPr id="111" name="Text 109"/>
          <p:cNvSpPr txBox="1"/>
          <p:nvPr/>
        </p:nvSpPr>
        <p:spPr>
          <a:xfrm>
            <a:off x="7101840" y="3419856"/>
            <a:ext cx="563880"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112" name="Shape 110"/>
          <p:cNvSpPr/>
          <p:nvPr/>
        </p:nvSpPr>
        <p:spPr>
          <a:xfrm>
            <a:off x="7684008" y="2121408"/>
            <a:ext cx="527304" cy="292608"/>
          </a:xfrm>
          <a:prstGeom prst="roundRect">
            <a:avLst>
              <a:gd name="adj" fmla="val 15625"/>
            </a:avLst>
          </a:prstGeom>
          <a:solidFill>
            <a:srgbClr val="36454F"/>
          </a:solidFill>
          <a:ln/>
        </p:spPr>
      </p:sp>
      <p:sp>
        <p:nvSpPr>
          <p:cNvPr id="113" name="Text 111"/>
          <p:cNvSpPr txBox="1"/>
          <p:nvPr/>
        </p:nvSpPr>
        <p:spPr>
          <a:xfrm>
            <a:off x="7684008" y="2121408"/>
            <a:ext cx="527304"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5</a:t>
            </a:r>
            <a:endParaRPr lang="tr-TR" sz="1300" dirty="0"/>
          </a:p>
        </p:txBody>
      </p:sp>
      <p:sp>
        <p:nvSpPr>
          <p:cNvPr id="114" name="Shape 112"/>
          <p:cNvSpPr/>
          <p:nvPr/>
        </p:nvSpPr>
        <p:spPr>
          <a:xfrm>
            <a:off x="7684008" y="2450592"/>
            <a:ext cx="527304" cy="292608"/>
          </a:xfrm>
          <a:prstGeom prst="roundRect">
            <a:avLst>
              <a:gd name="adj" fmla="val 15625"/>
            </a:avLst>
          </a:prstGeom>
          <a:solidFill>
            <a:srgbClr val="F2F2F2"/>
          </a:solidFill>
          <a:ln/>
        </p:spPr>
      </p:sp>
      <p:sp>
        <p:nvSpPr>
          <p:cNvPr id="115" name="Text 113"/>
          <p:cNvSpPr txBox="1"/>
          <p:nvPr/>
        </p:nvSpPr>
        <p:spPr>
          <a:xfrm>
            <a:off x="7684008" y="2450592"/>
            <a:ext cx="527304"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5</a:t>
            </a:r>
            <a:endParaRPr lang="tr-TR" sz="1300" dirty="0"/>
          </a:p>
        </p:txBody>
      </p:sp>
      <p:sp>
        <p:nvSpPr>
          <p:cNvPr id="116" name="Shape 114"/>
          <p:cNvSpPr/>
          <p:nvPr/>
        </p:nvSpPr>
        <p:spPr>
          <a:xfrm>
            <a:off x="7684008" y="2779776"/>
            <a:ext cx="527304" cy="292608"/>
          </a:xfrm>
          <a:prstGeom prst="roundRect">
            <a:avLst>
              <a:gd name="adj" fmla="val 15625"/>
            </a:avLst>
          </a:prstGeom>
          <a:solidFill>
            <a:srgbClr val="F2F2F2"/>
          </a:solidFill>
          <a:ln/>
        </p:spPr>
      </p:sp>
      <p:sp>
        <p:nvSpPr>
          <p:cNvPr id="117" name="Text 115"/>
          <p:cNvSpPr txBox="1"/>
          <p:nvPr/>
        </p:nvSpPr>
        <p:spPr>
          <a:xfrm>
            <a:off x="7684008" y="2779776"/>
            <a:ext cx="527304"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3</a:t>
            </a:r>
            <a:endParaRPr lang="tr-TR" sz="1300" dirty="0"/>
          </a:p>
        </p:txBody>
      </p:sp>
      <p:sp>
        <p:nvSpPr>
          <p:cNvPr id="118" name="Shape 116"/>
          <p:cNvSpPr/>
          <p:nvPr/>
        </p:nvSpPr>
        <p:spPr>
          <a:xfrm>
            <a:off x="7684008" y="3108960"/>
            <a:ext cx="527304" cy="292608"/>
          </a:xfrm>
          <a:prstGeom prst="roundRect">
            <a:avLst>
              <a:gd name="adj" fmla="val 15625"/>
            </a:avLst>
          </a:prstGeom>
          <a:solidFill>
            <a:srgbClr val="F2F2F2"/>
          </a:solidFill>
          <a:ln/>
        </p:spPr>
      </p:sp>
      <p:sp>
        <p:nvSpPr>
          <p:cNvPr id="119" name="Text 117"/>
          <p:cNvSpPr txBox="1"/>
          <p:nvPr/>
        </p:nvSpPr>
        <p:spPr>
          <a:xfrm>
            <a:off x="7684008" y="3108960"/>
            <a:ext cx="527304"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4</a:t>
            </a:r>
            <a:endParaRPr lang="tr-TR" sz="1300" dirty="0"/>
          </a:p>
        </p:txBody>
      </p:sp>
      <p:sp>
        <p:nvSpPr>
          <p:cNvPr id="120" name="Text 118"/>
          <p:cNvSpPr txBox="1"/>
          <p:nvPr/>
        </p:nvSpPr>
        <p:spPr>
          <a:xfrm>
            <a:off x="7665720" y="3419856"/>
            <a:ext cx="563880" cy="329184"/>
          </a:xfrm>
          <a:prstGeom prst="rect">
            <a:avLst/>
          </a:prstGeom>
          <a:noFill/>
          <a:ln/>
        </p:spPr>
        <p:txBody>
          <a:bodyPr wrap="square" lIns="0" tIns="0" rIns="0" bIns="0" rtlCol="0" anchor="ctr"/>
          <a:lstStyle/>
          <a:p>
            <a:pPr algn="ctr" indent="0" marL="0">
              <a:buNone/>
            </a:pPr>
            <a:endParaRPr lang="tr-TR" sz="1300" dirty="0"/>
          </a:p>
        </p:txBody>
      </p:sp>
      <p:sp>
        <p:nvSpPr>
          <p:cNvPr id="121" name="Text 119"/>
          <p:cNvSpPr txBox="1"/>
          <p:nvPr/>
        </p:nvSpPr>
        <p:spPr>
          <a:xfrm>
            <a:off x="548640" y="3886200"/>
            <a:ext cx="7680960" cy="320040"/>
          </a:xfrm>
          <a:prstGeom prst="rect">
            <a:avLst/>
          </a:prstGeom>
          <a:noFill/>
          <a:ln/>
        </p:spPr>
        <p:txBody>
          <a:bodyPr wrap="square" lIns="0" tIns="0" rIns="0" bIns="0" rtlCol="0" anchor="t"/>
          <a:lstStyle/>
          <a:p>
            <a:pPr indent="0" marL="0">
              <a:buNone/>
            </a:pPr>
            <a:r>
              <a:rPr lang="tr-TR" sz="1400" b="1" dirty="0">
                <a:solidFill>
                  <a:srgbClr val="B5453A"/>
                </a:solidFill>
                <a:latin typeface="Calibri" pitchFamily="34" charset="0"/>
                <a:ea typeface="Calibri" pitchFamily="34" charset="-122"/>
                <a:cs typeface="Calibri" pitchFamily="34" charset="-120"/>
              </a:rPr>
              <a:t>4 çerçeve → 10 hata</a:t>
            </a:r>
            <a:endParaRPr lang="tr-TR" sz="1400" dirty="0"/>
          </a:p>
        </p:txBody>
      </p:sp>
      <p:sp>
        <p:nvSpPr>
          <p:cNvPr id="122" name="Text 120"/>
          <p:cNvSpPr txBox="1"/>
          <p:nvPr/>
        </p:nvSpPr>
        <p:spPr>
          <a:xfrm>
            <a:off x="548640" y="4206240"/>
            <a:ext cx="841248" cy="329184"/>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başvuru</a:t>
            </a:r>
            <a:endParaRPr lang="tr-TR" sz="1100" dirty="0"/>
          </a:p>
        </p:txBody>
      </p:sp>
      <p:sp>
        <p:nvSpPr>
          <p:cNvPr id="123" name="Text 121"/>
          <p:cNvSpPr txBox="1"/>
          <p:nvPr/>
        </p:nvSpPr>
        <p:spPr>
          <a:xfrm>
            <a:off x="548640" y="4535424"/>
            <a:ext cx="841248" cy="329184"/>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çerçeve 0</a:t>
            </a:r>
            <a:endParaRPr lang="tr-TR" sz="1100" dirty="0"/>
          </a:p>
        </p:txBody>
      </p:sp>
      <p:sp>
        <p:nvSpPr>
          <p:cNvPr id="124" name="Text 122"/>
          <p:cNvSpPr txBox="1"/>
          <p:nvPr/>
        </p:nvSpPr>
        <p:spPr>
          <a:xfrm>
            <a:off x="548640" y="4864608"/>
            <a:ext cx="841248" cy="329184"/>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çerçeve 1</a:t>
            </a:r>
            <a:endParaRPr lang="tr-TR" sz="1100" dirty="0"/>
          </a:p>
        </p:txBody>
      </p:sp>
      <p:sp>
        <p:nvSpPr>
          <p:cNvPr id="125" name="Text 123"/>
          <p:cNvSpPr txBox="1"/>
          <p:nvPr/>
        </p:nvSpPr>
        <p:spPr>
          <a:xfrm>
            <a:off x="548640" y="5193792"/>
            <a:ext cx="841248" cy="329184"/>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çerçeve 2</a:t>
            </a:r>
            <a:endParaRPr lang="tr-TR" sz="1100" dirty="0"/>
          </a:p>
        </p:txBody>
      </p:sp>
      <p:sp>
        <p:nvSpPr>
          <p:cNvPr id="126" name="Text 124"/>
          <p:cNvSpPr txBox="1"/>
          <p:nvPr/>
        </p:nvSpPr>
        <p:spPr>
          <a:xfrm>
            <a:off x="548640" y="5522976"/>
            <a:ext cx="841248" cy="329184"/>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çerçeve 3</a:t>
            </a:r>
            <a:endParaRPr lang="tr-TR" sz="1100" dirty="0"/>
          </a:p>
        </p:txBody>
      </p:sp>
      <p:sp>
        <p:nvSpPr>
          <p:cNvPr id="127" name="Text 125"/>
          <p:cNvSpPr txBox="1"/>
          <p:nvPr/>
        </p:nvSpPr>
        <p:spPr>
          <a:xfrm>
            <a:off x="548640" y="5852160"/>
            <a:ext cx="841248" cy="329184"/>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hata?</a:t>
            </a:r>
            <a:endParaRPr lang="tr-TR" sz="1100" dirty="0"/>
          </a:p>
        </p:txBody>
      </p:sp>
      <p:sp>
        <p:nvSpPr>
          <p:cNvPr id="128" name="Shape 126"/>
          <p:cNvSpPr/>
          <p:nvPr/>
        </p:nvSpPr>
        <p:spPr>
          <a:xfrm>
            <a:off x="1481328" y="4224528"/>
            <a:ext cx="527304" cy="292608"/>
          </a:xfrm>
          <a:prstGeom prst="roundRect">
            <a:avLst>
              <a:gd name="adj" fmla="val 15625"/>
            </a:avLst>
          </a:prstGeom>
          <a:solidFill>
            <a:srgbClr val="36454F"/>
          </a:solidFill>
          <a:ln/>
        </p:spPr>
      </p:sp>
      <p:sp>
        <p:nvSpPr>
          <p:cNvPr id="129" name="Text 127"/>
          <p:cNvSpPr txBox="1"/>
          <p:nvPr/>
        </p:nvSpPr>
        <p:spPr>
          <a:xfrm>
            <a:off x="1481328" y="4224528"/>
            <a:ext cx="527304"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1</a:t>
            </a:r>
            <a:endParaRPr lang="tr-TR" sz="1300" dirty="0"/>
          </a:p>
        </p:txBody>
      </p:sp>
      <p:sp>
        <p:nvSpPr>
          <p:cNvPr id="130" name="Shape 128"/>
          <p:cNvSpPr/>
          <p:nvPr/>
        </p:nvSpPr>
        <p:spPr>
          <a:xfrm>
            <a:off x="1481328" y="4553712"/>
            <a:ext cx="527304" cy="292608"/>
          </a:xfrm>
          <a:prstGeom prst="roundRect">
            <a:avLst>
              <a:gd name="adj" fmla="val 15625"/>
            </a:avLst>
          </a:prstGeom>
          <a:solidFill>
            <a:srgbClr val="02C39A"/>
          </a:solidFill>
          <a:ln/>
        </p:spPr>
      </p:sp>
      <p:sp>
        <p:nvSpPr>
          <p:cNvPr id="131" name="Text 129"/>
          <p:cNvSpPr txBox="1"/>
          <p:nvPr/>
        </p:nvSpPr>
        <p:spPr>
          <a:xfrm>
            <a:off x="1481328" y="4553712"/>
            <a:ext cx="527304"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1</a:t>
            </a:r>
            <a:endParaRPr lang="tr-TR" sz="1300" dirty="0"/>
          </a:p>
        </p:txBody>
      </p:sp>
      <p:sp>
        <p:nvSpPr>
          <p:cNvPr id="132" name="Shape 130"/>
          <p:cNvSpPr/>
          <p:nvPr/>
        </p:nvSpPr>
        <p:spPr>
          <a:xfrm>
            <a:off x="1481328" y="4882896"/>
            <a:ext cx="527304" cy="292608"/>
          </a:xfrm>
          <a:prstGeom prst="roundRect">
            <a:avLst>
              <a:gd name="adj" fmla="val 15625"/>
            </a:avLst>
          </a:prstGeom>
          <a:solidFill>
            <a:srgbClr val="D7E9E6"/>
          </a:solidFill>
          <a:ln/>
        </p:spPr>
      </p:sp>
      <p:sp>
        <p:nvSpPr>
          <p:cNvPr id="133" name="Text 131"/>
          <p:cNvSpPr txBox="1"/>
          <p:nvPr/>
        </p:nvSpPr>
        <p:spPr>
          <a:xfrm>
            <a:off x="1481328" y="4882896"/>
            <a:ext cx="527304" cy="292608"/>
          </a:xfrm>
          <a:prstGeom prst="rect">
            <a:avLst/>
          </a:prstGeom>
          <a:noFill/>
          <a:ln/>
        </p:spPr>
        <p:txBody>
          <a:bodyPr wrap="square" lIns="38100" tIns="38100" rIns="38100" bIns="38100" rtlCol="0" anchor="ctr"/>
          <a:lstStyle/>
          <a:p>
            <a:pPr algn="ctr" indent="0" marL="0">
              <a:buNone/>
            </a:pPr>
            <a:endParaRPr lang="tr-TR" sz="1300" dirty="0"/>
          </a:p>
        </p:txBody>
      </p:sp>
      <p:sp>
        <p:nvSpPr>
          <p:cNvPr id="134" name="Shape 132"/>
          <p:cNvSpPr/>
          <p:nvPr/>
        </p:nvSpPr>
        <p:spPr>
          <a:xfrm>
            <a:off x="1481328" y="5212080"/>
            <a:ext cx="527304" cy="292608"/>
          </a:xfrm>
          <a:prstGeom prst="roundRect">
            <a:avLst>
              <a:gd name="adj" fmla="val 15625"/>
            </a:avLst>
          </a:prstGeom>
          <a:solidFill>
            <a:srgbClr val="D7E9E6"/>
          </a:solidFill>
          <a:ln/>
        </p:spPr>
      </p:sp>
      <p:sp>
        <p:nvSpPr>
          <p:cNvPr id="135" name="Text 133"/>
          <p:cNvSpPr txBox="1"/>
          <p:nvPr/>
        </p:nvSpPr>
        <p:spPr>
          <a:xfrm>
            <a:off x="1481328" y="5212080"/>
            <a:ext cx="527304" cy="292608"/>
          </a:xfrm>
          <a:prstGeom prst="rect">
            <a:avLst/>
          </a:prstGeom>
          <a:noFill/>
          <a:ln/>
        </p:spPr>
        <p:txBody>
          <a:bodyPr wrap="square" lIns="38100" tIns="38100" rIns="38100" bIns="38100" rtlCol="0" anchor="ctr"/>
          <a:lstStyle/>
          <a:p>
            <a:pPr algn="ctr" indent="0" marL="0">
              <a:buNone/>
            </a:pPr>
            <a:endParaRPr lang="tr-TR" sz="1300" dirty="0"/>
          </a:p>
        </p:txBody>
      </p:sp>
      <p:sp>
        <p:nvSpPr>
          <p:cNvPr id="136" name="Shape 134"/>
          <p:cNvSpPr/>
          <p:nvPr/>
        </p:nvSpPr>
        <p:spPr>
          <a:xfrm>
            <a:off x="1481328" y="5541264"/>
            <a:ext cx="527304" cy="292608"/>
          </a:xfrm>
          <a:prstGeom prst="roundRect">
            <a:avLst>
              <a:gd name="adj" fmla="val 15625"/>
            </a:avLst>
          </a:prstGeom>
          <a:solidFill>
            <a:srgbClr val="D7E9E6"/>
          </a:solidFill>
          <a:ln/>
        </p:spPr>
      </p:sp>
      <p:sp>
        <p:nvSpPr>
          <p:cNvPr id="137" name="Text 135"/>
          <p:cNvSpPr txBox="1"/>
          <p:nvPr/>
        </p:nvSpPr>
        <p:spPr>
          <a:xfrm>
            <a:off x="1481328" y="5541264"/>
            <a:ext cx="527304" cy="292608"/>
          </a:xfrm>
          <a:prstGeom prst="rect">
            <a:avLst/>
          </a:prstGeom>
          <a:noFill/>
          <a:ln/>
        </p:spPr>
        <p:txBody>
          <a:bodyPr wrap="square" lIns="38100" tIns="38100" rIns="38100" bIns="38100" rtlCol="0" anchor="ctr"/>
          <a:lstStyle/>
          <a:p>
            <a:pPr algn="ctr" indent="0" marL="0">
              <a:buNone/>
            </a:pPr>
            <a:endParaRPr lang="tr-TR" sz="1300" dirty="0"/>
          </a:p>
        </p:txBody>
      </p:sp>
      <p:sp>
        <p:nvSpPr>
          <p:cNvPr id="138" name="Text 136"/>
          <p:cNvSpPr txBox="1"/>
          <p:nvPr/>
        </p:nvSpPr>
        <p:spPr>
          <a:xfrm>
            <a:off x="1463040" y="5852160"/>
            <a:ext cx="563880"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139" name="Shape 137"/>
          <p:cNvSpPr/>
          <p:nvPr/>
        </p:nvSpPr>
        <p:spPr>
          <a:xfrm>
            <a:off x="2045208" y="4224528"/>
            <a:ext cx="527304" cy="292608"/>
          </a:xfrm>
          <a:prstGeom prst="roundRect">
            <a:avLst>
              <a:gd name="adj" fmla="val 15625"/>
            </a:avLst>
          </a:prstGeom>
          <a:solidFill>
            <a:srgbClr val="36454F"/>
          </a:solidFill>
          <a:ln/>
        </p:spPr>
      </p:sp>
      <p:sp>
        <p:nvSpPr>
          <p:cNvPr id="140" name="Text 138"/>
          <p:cNvSpPr txBox="1"/>
          <p:nvPr/>
        </p:nvSpPr>
        <p:spPr>
          <a:xfrm>
            <a:off x="2045208" y="4224528"/>
            <a:ext cx="527304"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2</a:t>
            </a:r>
            <a:endParaRPr lang="tr-TR" sz="1300" dirty="0"/>
          </a:p>
        </p:txBody>
      </p:sp>
      <p:sp>
        <p:nvSpPr>
          <p:cNvPr id="141" name="Shape 139"/>
          <p:cNvSpPr/>
          <p:nvPr/>
        </p:nvSpPr>
        <p:spPr>
          <a:xfrm>
            <a:off x="2045208" y="4553712"/>
            <a:ext cx="527304" cy="292608"/>
          </a:xfrm>
          <a:prstGeom prst="roundRect">
            <a:avLst>
              <a:gd name="adj" fmla="val 15625"/>
            </a:avLst>
          </a:prstGeom>
          <a:solidFill>
            <a:srgbClr val="D7E9E6"/>
          </a:solidFill>
          <a:ln/>
        </p:spPr>
      </p:sp>
      <p:sp>
        <p:nvSpPr>
          <p:cNvPr id="142" name="Text 140"/>
          <p:cNvSpPr txBox="1"/>
          <p:nvPr/>
        </p:nvSpPr>
        <p:spPr>
          <a:xfrm>
            <a:off x="2045208" y="4553712"/>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1</a:t>
            </a:r>
            <a:endParaRPr lang="tr-TR" sz="1300" dirty="0"/>
          </a:p>
        </p:txBody>
      </p:sp>
      <p:sp>
        <p:nvSpPr>
          <p:cNvPr id="143" name="Shape 141"/>
          <p:cNvSpPr/>
          <p:nvPr/>
        </p:nvSpPr>
        <p:spPr>
          <a:xfrm>
            <a:off x="2045208" y="4882896"/>
            <a:ext cx="527304" cy="292608"/>
          </a:xfrm>
          <a:prstGeom prst="roundRect">
            <a:avLst>
              <a:gd name="adj" fmla="val 15625"/>
            </a:avLst>
          </a:prstGeom>
          <a:solidFill>
            <a:srgbClr val="02C39A"/>
          </a:solidFill>
          <a:ln/>
        </p:spPr>
      </p:sp>
      <p:sp>
        <p:nvSpPr>
          <p:cNvPr id="144" name="Text 142"/>
          <p:cNvSpPr txBox="1"/>
          <p:nvPr/>
        </p:nvSpPr>
        <p:spPr>
          <a:xfrm>
            <a:off x="2045208" y="4882896"/>
            <a:ext cx="527304"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2</a:t>
            </a:r>
            <a:endParaRPr lang="tr-TR" sz="1300" dirty="0"/>
          </a:p>
        </p:txBody>
      </p:sp>
      <p:sp>
        <p:nvSpPr>
          <p:cNvPr id="145" name="Shape 143"/>
          <p:cNvSpPr/>
          <p:nvPr/>
        </p:nvSpPr>
        <p:spPr>
          <a:xfrm>
            <a:off x="2045208" y="5212080"/>
            <a:ext cx="527304" cy="292608"/>
          </a:xfrm>
          <a:prstGeom prst="roundRect">
            <a:avLst>
              <a:gd name="adj" fmla="val 15625"/>
            </a:avLst>
          </a:prstGeom>
          <a:solidFill>
            <a:srgbClr val="D7E9E6"/>
          </a:solidFill>
          <a:ln/>
        </p:spPr>
      </p:sp>
      <p:sp>
        <p:nvSpPr>
          <p:cNvPr id="146" name="Text 144"/>
          <p:cNvSpPr txBox="1"/>
          <p:nvPr/>
        </p:nvSpPr>
        <p:spPr>
          <a:xfrm>
            <a:off x="2045208" y="5212080"/>
            <a:ext cx="527304" cy="292608"/>
          </a:xfrm>
          <a:prstGeom prst="rect">
            <a:avLst/>
          </a:prstGeom>
          <a:noFill/>
          <a:ln/>
        </p:spPr>
        <p:txBody>
          <a:bodyPr wrap="square" lIns="38100" tIns="38100" rIns="38100" bIns="38100" rtlCol="0" anchor="ctr"/>
          <a:lstStyle/>
          <a:p>
            <a:pPr algn="ctr" indent="0" marL="0">
              <a:buNone/>
            </a:pPr>
            <a:endParaRPr lang="tr-TR" sz="1300" dirty="0"/>
          </a:p>
        </p:txBody>
      </p:sp>
      <p:sp>
        <p:nvSpPr>
          <p:cNvPr id="147" name="Shape 145"/>
          <p:cNvSpPr/>
          <p:nvPr/>
        </p:nvSpPr>
        <p:spPr>
          <a:xfrm>
            <a:off x="2045208" y="5541264"/>
            <a:ext cx="527304" cy="292608"/>
          </a:xfrm>
          <a:prstGeom prst="roundRect">
            <a:avLst>
              <a:gd name="adj" fmla="val 15625"/>
            </a:avLst>
          </a:prstGeom>
          <a:solidFill>
            <a:srgbClr val="D7E9E6"/>
          </a:solidFill>
          <a:ln/>
        </p:spPr>
      </p:sp>
      <p:sp>
        <p:nvSpPr>
          <p:cNvPr id="148" name="Text 146"/>
          <p:cNvSpPr txBox="1"/>
          <p:nvPr/>
        </p:nvSpPr>
        <p:spPr>
          <a:xfrm>
            <a:off x="2045208" y="5541264"/>
            <a:ext cx="527304" cy="292608"/>
          </a:xfrm>
          <a:prstGeom prst="rect">
            <a:avLst/>
          </a:prstGeom>
          <a:noFill/>
          <a:ln/>
        </p:spPr>
        <p:txBody>
          <a:bodyPr wrap="square" lIns="38100" tIns="38100" rIns="38100" bIns="38100" rtlCol="0" anchor="ctr"/>
          <a:lstStyle/>
          <a:p>
            <a:pPr algn="ctr" indent="0" marL="0">
              <a:buNone/>
            </a:pPr>
            <a:endParaRPr lang="tr-TR" sz="1300" dirty="0"/>
          </a:p>
        </p:txBody>
      </p:sp>
      <p:sp>
        <p:nvSpPr>
          <p:cNvPr id="149" name="Text 147"/>
          <p:cNvSpPr txBox="1"/>
          <p:nvPr/>
        </p:nvSpPr>
        <p:spPr>
          <a:xfrm>
            <a:off x="2026920" y="5852160"/>
            <a:ext cx="563880"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150" name="Shape 148"/>
          <p:cNvSpPr/>
          <p:nvPr/>
        </p:nvSpPr>
        <p:spPr>
          <a:xfrm>
            <a:off x="2609088" y="4224528"/>
            <a:ext cx="527304" cy="292608"/>
          </a:xfrm>
          <a:prstGeom prst="roundRect">
            <a:avLst>
              <a:gd name="adj" fmla="val 15625"/>
            </a:avLst>
          </a:prstGeom>
          <a:solidFill>
            <a:srgbClr val="36454F"/>
          </a:solidFill>
          <a:ln/>
        </p:spPr>
      </p:sp>
      <p:sp>
        <p:nvSpPr>
          <p:cNvPr id="151" name="Text 149"/>
          <p:cNvSpPr txBox="1"/>
          <p:nvPr/>
        </p:nvSpPr>
        <p:spPr>
          <a:xfrm>
            <a:off x="2609088" y="4224528"/>
            <a:ext cx="527304"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3</a:t>
            </a:r>
            <a:endParaRPr lang="tr-TR" sz="1300" dirty="0"/>
          </a:p>
        </p:txBody>
      </p:sp>
      <p:sp>
        <p:nvSpPr>
          <p:cNvPr id="152" name="Shape 150"/>
          <p:cNvSpPr/>
          <p:nvPr/>
        </p:nvSpPr>
        <p:spPr>
          <a:xfrm>
            <a:off x="2609088" y="4553712"/>
            <a:ext cx="527304" cy="292608"/>
          </a:xfrm>
          <a:prstGeom prst="roundRect">
            <a:avLst>
              <a:gd name="adj" fmla="val 15625"/>
            </a:avLst>
          </a:prstGeom>
          <a:solidFill>
            <a:srgbClr val="D7E9E6"/>
          </a:solidFill>
          <a:ln/>
        </p:spPr>
      </p:sp>
      <p:sp>
        <p:nvSpPr>
          <p:cNvPr id="153" name="Text 151"/>
          <p:cNvSpPr txBox="1"/>
          <p:nvPr/>
        </p:nvSpPr>
        <p:spPr>
          <a:xfrm>
            <a:off x="2609088" y="4553712"/>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1</a:t>
            </a:r>
            <a:endParaRPr lang="tr-TR" sz="1300" dirty="0"/>
          </a:p>
        </p:txBody>
      </p:sp>
      <p:sp>
        <p:nvSpPr>
          <p:cNvPr id="154" name="Shape 152"/>
          <p:cNvSpPr/>
          <p:nvPr/>
        </p:nvSpPr>
        <p:spPr>
          <a:xfrm>
            <a:off x="2609088" y="4882896"/>
            <a:ext cx="527304" cy="292608"/>
          </a:xfrm>
          <a:prstGeom prst="roundRect">
            <a:avLst>
              <a:gd name="adj" fmla="val 15625"/>
            </a:avLst>
          </a:prstGeom>
          <a:solidFill>
            <a:srgbClr val="D7E9E6"/>
          </a:solidFill>
          <a:ln/>
        </p:spPr>
      </p:sp>
      <p:sp>
        <p:nvSpPr>
          <p:cNvPr id="155" name="Text 153"/>
          <p:cNvSpPr txBox="1"/>
          <p:nvPr/>
        </p:nvSpPr>
        <p:spPr>
          <a:xfrm>
            <a:off x="2609088" y="4882896"/>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156" name="Shape 154"/>
          <p:cNvSpPr/>
          <p:nvPr/>
        </p:nvSpPr>
        <p:spPr>
          <a:xfrm>
            <a:off x="2609088" y="5212080"/>
            <a:ext cx="527304" cy="292608"/>
          </a:xfrm>
          <a:prstGeom prst="roundRect">
            <a:avLst>
              <a:gd name="adj" fmla="val 15625"/>
            </a:avLst>
          </a:prstGeom>
          <a:solidFill>
            <a:srgbClr val="02C39A"/>
          </a:solidFill>
          <a:ln/>
        </p:spPr>
      </p:sp>
      <p:sp>
        <p:nvSpPr>
          <p:cNvPr id="157" name="Text 155"/>
          <p:cNvSpPr txBox="1"/>
          <p:nvPr/>
        </p:nvSpPr>
        <p:spPr>
          <a:xfrm>
            <a:off x="2609088" y="5212080"/>
            <a:ext cx="527304"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3</a:t>
            </a:r>
            <a:endParaRPr lang="tr-TR" sz="1300" dirty="0"/>
          </a:p>
        </p:txBody>
      </p:sp>
      <p:sp>
        <p:nvSpPr>
          <p:cNvPr id="158" name="Shape 156"/>
          <p:cNvSpPr/>
          <p:nvPr/>
        </p:nvSpPr>
        <p:spPr>
          <a:xfrm>
            <a:off x="2609088" y="5541264"/>
            <a:ext cx="527304" cy="292608"/>
          </a:xfrm>
          <a:prstGeom prst="roundRect">
            <a:avLst>
              <a:gd name="adj" fmla="val 15625"/>
            </a:avLst>
          </a:prstGeom>
          <a:solidFill>
            <a:srgbClr val="D7E9E6"/>
          </a:solidFill>
          <a:ln/>
        </p:spPr>
      </p:sp>
      <p:sp>
        <p:nvSpPr>
          <p:cNvPr id="159" name="Text 157"/>
          <p:cNvSpPr txBox="1"/>
          <p:nvPr/>
        </p:nvSpPr>
        <p:spPr>
          <a:xfrm>
            <a:off x="2609088" y="5541264"/>
            <a:ext cx="527304" cy="292608"/>
          </a:xfrm>
          <a:prstGeom prst="rect">
            <a:avLst/>
          </a:prstGeom>
          <a:noFill/>
          <a:ln/>
        </p:spPr>
        <p:txBody>
          <a:bodyPr wrap="square" lIns="38100" tIns="38100" rIns="38100" bIns="38100" rtlCol="0" anchor="ctr"/>
          <a:lstStyle/>
          <a:p>
            <a:pPr algn="ctr" indent="0" marL="0">
              <a:buNone/>
            </a:pPr>
            <a:endParaRPr lang="tr-TR" sz="1300" dirty="0"/>
          </a:p>
        </p:txBody>
      </p:sp>
      <p:sp>
        <p:nvSpPr>
          <p:cNvPr id="160" name="Text 158"/>
          <p:cNvSpPr txBox="1"/>
          <p:nvPr/>
        </p:nvSpPr>
        <p:spPr>
          <a:xfrm>
            <a:off x="2590800" y="5852160"/>
            <a:ext cx="563880"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161" name="Shape 159"/>
          <p:cNvSpPr/>
          <p:nvPr/>
        </p:nvSpPr>
        <p:spPr>
          <a:xfrm>
            <a:off x="3172968" y="4224528"/>
            <a:ext cx="527304" cy="292608"/>
          </a:xfrm>
          <a:prstGeom prst="roundRect">
            <a:avLst>
              <a:gd name="adj" fmla="val 15625"/>
            </a:avLst>
          </a:prstGeom>
          <a:solidFill>
            <a:srgbClr val="36454F"/>
          </a:solidFill>
          <a:ln/>
        </p:spPr>
      </p:sp>
      <p:sp>
        <p:nvSpPr>
          <p:cNvPr id="162" name="Text 160"/>
          <p:cNvSpPr txBox="1"/>
          <p:nvPr/>
        </p:nvSpPr>
        <p:spPr>
          <a:xfrm>
            <a:off x="3172968" y="4224528"/>
            <a:ext cx="527304"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4</a:t>
            </a:r>
            <a:endParaRPr lang="tr-TR" sz="1300" dirty="0"/>
          </a:p>
        </p:txBody>
      </p:sp>
      <p:sp>
        <p:nvSpPr>
          <p:cNvPr id="163" name="Shape 161"/>
          <p:cNvSpPr/>
          <p:nvPr/>
        </p:nvSpPr>
        <p:spPr>
          <a:xfrm>
            <a:off x="3172968" y="4553712"/>
            <a:ext cx="527304" cy="292608"/>
          </a:xfrm>
          <a:prstGeom prst="roundRect">
            <a:avLst>
              <a:gd name="adj" fmla="val 15625"/>
            </a:avLst>
          </a:prstGeom>
          <a:solidFill>
            <a:srgbClr val="D7E9E6"/>
          </a:solidFill>
          <a:ln/>
        </p:spPr>
      </p:sp>
      <p:sp>
        <p:nvSpPr>
          <p:cNvPr id="164" name="Text 162"/>
          <p:cNvSpPr txBox="1"/>
          <p:nvPr/>
        </p:nvSpPr>
        <p:spPr>
          <a:xfrm>
            <a:off x="3172968" y="4553712"/>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1</a:t>
            </a:r>
            <a:endParaRPr lang="tr-TR" sz="1300" dirty="0"/>
          </a:p>
        </p:txBody>
      </p:sp>
      <p:sp>
        <p:nvSpPr>
          <p:cNvPr id="165" name="Shape 163"/>
          <p:cNvSpPr/>
          <p:nvPr/>
        </p:nvSpPr>
        <p:spPr>
          <a:xfrm>
            <a:off x="3172968" y="4882896"/>
            <a:ext cx="527304" cy="292608"/>
          </a:xfrm>
          <a:prstGeom prst="roundRect">
            <a:avLst>
              <a:gd name="adj" fmla="val 15625"/>
            </a:avLst>
          </a:prstGeom>
          <a:solidFill>
            <a:srgbClr val="D7E9E6"/>
          </a:solidFill>
          <a:ln/>
        </p:spPr>
      </p:sp>
      <p:sp>
        <p:nvSpPr>
          <p:cNvPr id="166" name="Text 164"/>
          <p:cNvSpPr txBox="1"/>
          <p:nvPr/>
        </p:nvSpPr>
        <p:spPr>
          <a:xfrm>
            <a:off x="3172968" y="4882896"/>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167" name="Shape 165"/>
          <p:cNvSpPr/>
          <p:nvPr/>
        </p:nvSpPr>
        <p:spPr>
          <a:xfrm>
            <a:off x="3172968" y="5212080"/>
            <a:ext cx="527304" cy="292608"/>
          </a:xfrm>
          <a:prstGeom prst="roundRect">
            <a:avLst>
              <a:gd name="adj" fmla="val 15625"/>
            </a:avLst>
          </a:prstGeom>
          <a:solidFill>
            <a:srgbClr val="D7E9E6"/>
          </a:solidFill>
          <a:ln/>
        </p:spPr>
      </p:sp>
      <p:sp>
        <p:nvSpPr>
          <p:cNvPr id="168" name="Text 166"/>
          <p:cNvSpPr txBox="1"/>
          <p:nvPr/>
        </p:nvSpPr>
        <p:spPr>
          <a:xfrm>
            <a:off x="3172968" y="5212080"/>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3</a:t>
            </a:r>
            <a:endParaRPr lang="tr-TR" sz="1300" dirty="0"/>
          </a:p>
        </p:txBody>
      </p:sp>
      <p:sp>
        <p:nvSpPr>
          <p:cNvPr id="169" name="Shape 167"/>
          <p:cNvSpPr/>
          <p:nvPr/>
        </p:nvSpPr>
        <p:spPr>
          <a:xfrm>
            <a:off x="3172968" y="5541264"/>
            <a:ext cx="527304" cy="292608"/>
          </a:xfrm>
          <a:prstGeom prst="roundRect">
            <a:avLst>
              <a:gd name="adj" fmla="val 15625"/>
            </a:avLst>
          </a:prstGeom>
          <a:solidFill>
            <a:srgbClr val="02C39A"/>
          </a:solidFill>
          <a:ln/>
        </p:spPr>
      </p:sp>
      <p:sp>
        <p:nvSpPr>
          <p:cNvPr id="170" name="Text 168"/>
          <p:cNvSpPr txBox="1"/>
          <p:nvPr/>
        </p:nvSpPr>
        <p:spPr>
          <a:xfrm>
            <a:off x="3172968" y="5541264"/>
            <a:ext cx="527304"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4</a:t>
            </a:r>
            <a:endParaRPr lang="tr-TR" sz="1300" dirty="0"/>
          </a:p>
        </p:txBody>
      </p:sp>
      <p:sp>
        <p:nvSpPr>
          <p:cNvPr id="171" name="Text 169"/>
          <p:cNvSpPr txBox="1"/>
          <p:nvPr/>
        </p:nvSpPr>
        <p:spPr>
          <a:xfrm>
            <a:off x="3154680" y="5852160"/>
            <a:ext cx="563880"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172" name="Shape 170"/>
          <p:cNvSpPr/>
          <p:nvPr/>
        </p:nvSpPr>
        <p:spPr>
          <a:xfrm>
            <a:off x="3736848" y="4224528"/>
            <a:ext cx="527304" cy="292608"/>
          </a:xfrm>
          <a:prstGeom prst="roundRect">
            <a:avLst>
              <a:gd name="adj" fmla="val 15625"/>
            </a:avLst>
          </a:prstGeom>
          <a:solidFill>
            <a:srgbClr val="36454F"/>
          </a:solidFill>
          <a:ln/>
        </p:spPr>
      </p:sp>
      <p:sp>
        <p:nvSpPr>
          <p:cNvPr id="173" name="Text 171"/>
          <p:cNvSpPr txBox="1"/>
          <p:nvPr/>
        </p:nvSpPr>
        <p:spPr>
          <a:xfrm>
            <a:off x="3736848" y="4224528"/>
            <a:ext cx="527304"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1</a:t>
            </a:r>
            <a:endParaRPr lang="tr-TR" sz="1300" dirty="0"/>
          </a:p>
        </p:txBody>
      </p:sp>
      <p:sp>
        <p:nvSpPr>
          <p:cNvPr id="174" name="Shape 172"/>
          <p:cNvSpPr/>
          <p:nvPr/>
        </p:nvSpPr>
        <p:spPr>
          <a:xfrm>
            <a:off x="3736848" y="4553712"/>
            <a:ext cx="527304" cy="292608"/>
          </a:xfrm>
          <a:prstGeom prst="roundRect">
            <a:avLst>
              <a:gd name="adj" fmla="val 15625"/>
            </a:avLst>
          </a:prstGeom>
          <a:solidFill>
            <a:srgbClr val="F2F2F2"/>
          </a:solidFill>
          <a:ln/>
        </p:spPr>
      </p:sp>
      <p:sp>
        <p:nvSpPr>
          <p:cNvPr id="175" name="Text 173"/>
          <p:cNvSpPr txBox="1"/>
          <p:nvPr/>
        </p:nvSpPr>
        <p:spPr>
          <a:xfrm>
            <a:off x="3736848" y="4553712"/>
            <a:ext cx="527304"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1</a:t>
            </a:r>
            <a:endParaRPr lang="tr-TR" sz="1300" dirty="0"/>
          </a:p>
        </p:txBody>
      </p:sp>
      <p:sp>
        <p:nvSpPr>
          <p:cNvPr id="176" name="Shape 174"/>
          <p:cNvSpPr/>
          <p:nvPr/>
        </p:nvSpPr>
        <p:spPr>
          <a:xfrm>
            <a:off x="3736848" y="4882896"/>
            <a:ext cx="527304" cy="292608"/>
          </a:xfrm>
          <a:prstGeom prst="roundRect">
            <a:avLst>
              <a:gd name="adj" fmla="val 15625"/>
            </a:avLst>
          </a:prstGeom>
          <a:solidFill>
            <a:srgbClr val="F2F2F2"/>
          </a:solidFill>
          <a:ln/>
        </p:spPr>
      </p:sp>
      <p:sp>
        <p:nvSpPr>
          <p:cNvPr id="177" name="Text 175"/>
          <p:cNvSpPr txBox="1"/>
          <p:nvPr/>
        </p:nvSpPr>
        <p:spPr>
          <a:xfrm>
            <a:off x="3736848" y="4882896"/>
            <a:ext cx="527304"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2</a:t>
            </a:r>
            <a:endParaRPr lang="tr-TR" sz="1300" dirty="0"/>
          </a:p>
        </p:txBody>
      </p:sp>
      <p:sp>
        <p:nvSpPr>
          <p:cNvPr id="178" name="Shape 176"/>
          <p:cNvSpPr/>
          <p:nvPr/>
        </p:nvSpPr>
        <p:spPr>
          <a:xfrm>
            <a:off x="3736848" y="5212080"/>
            <a:ext cx="527304" cy="292608"/>
          </a:xfrm>
          <a:prstGeom prst="roundRect">
            <a:avLst>
              <a:gd name="adj" fmla="val 15625"/>
            </a:avLst>
          </a:prstGeom>
          <a:solidFill>
            <a:srgbClr val="F2F2F2"/>
          </a:solidFill>
          <a:ln/>
        </p:spPr>
      </p:sp>
      <p:sp>
        <p:nvSpPr>
          <p:cNvPr id="179" name="Text 177"/>
          <p:cNvSpPr txBox="1"/>
          <p:nvPr/>
        </p:nvSpPr>
        <p:spPr>
          <a:xfrm>
            <a:off x="3736848" y="5212080"/>
            <a:ext cx="527304"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3</a:t>
            </a:r>
            <a:endParaRPr lang="tr-TR" sz="1300" dirty="0"/>
          </a:p>
        </p:txBody>
      </p:sp>
      <p:sp>
        <p:nvSpPr>
          <p:cNvPr id="180" name="Shape 178"/>
          <p:cNvSpPr/>
          <p:nvPr/>
        </p:nvSpPr>
        <p:spPr>
          <a:xfrm>
            <a:off x="3736848" y="5541264"/>
            <a:ext cx="527304" cy="292608"/>
          </a:xfrm>
          <a:prstGeom prst="roundRect">
            <a:avLst>
              <a:gd name="adj" fmla="val 15625"/>
            </a:avLst>
          </a:prstGeom>
          <a:solidFill>
            <a:srgbClr val="F2F2F2"/>
          </a:solidFill>
          <a:ln/>
        </p:spPr>
      </p:sp>
      <p:sp>
        <p:nvSpPr>
          <p:cNvPr id="181" name="Text 179"/>
          <p:cNvSpPr txBox="1"/>
          <p:nvPr/>
        </p:nvSpPr>
        <p:spPr>
          <a:xfrm>
            <a:off x="3736848" y="5541264"/>
            <a:ext cx="527304"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4</a:t>
            </a:r>
            <a:endParaRPr lang="tr-TR" sz="1300" dirty="0"/>
          </a:p>
        </p:txBody>
      </p:sp>
      <p:sp>
        <p:nvSpPr>
          <p:cNvPr id="182" name="Text 180"/>
          <p:cNvSpPr txBox="1"/>
          <p:nvPr/>
        </p:nvSpPr>
        <p:spPr>
          <a:xfrm>
            <a:off x="3718560" y="5852160"/>
            <a:ext cx="563880" cy="329184"/>
          </a:xfrm>
          <a:prstGeom prst="rect">
            <a:avLst/>
          </a:prstGeom>
          <a:noFill/>
          <a:ln/>
        </p:spPr>
        <p:txBody>
          <a:bodyPr wrap="square" lIns="0" tIns="0" rIns="0" bIns="0" rtlCol="0" anchor="ctr"/>
          <a:lstStyle/>
          <a:p>
            <a:pPr algn="ctr" indent="0" marL="0">
              <a:buNone/>
            </a:pPr>
            <a:endParaRPr lang="tr-TR" sz="1300" dirty="0"/>
          </a:p>
        </p:txBody>
      </p:sp>
      <p:sp>
        <p:nvSpPr>
          <p:cNvPr id="183" name="Shape 181"/>
          <p:cNvSpPr/>
          <p:nvPr/>
        </p:nvSpPr>
        <p:spPr>
          <a:xfrm>
            <a:off x="4300728" y="4224528"/>
            <a:ext cx="527304" cy="292608"/>
          </a:xfrm>
          <a:prstGeom prst="roundRect">
            <a:avLst>
              <a:gd name="adj" fmla="val 15625"/>
            </a:avLst>
          </a:prstGeom>
          <a:solidFill>
            <a:srgbClr val="36454F"/>
          </a:solidFill>
          <a:ln/>
        </p:spPr>
      </p:sp>
      <p:sp>
        <p:nvSpPr>
          <p:cNvPr id="184" name="Text 182"/>
          <p:cNvSpPr txBox="1"/>
          <p:nvPr/>
        </p:nvSpPr>
        <p:spPr>
          <a:xfrm>
            <a:off x="4300728" y="4224528"/>
            <a:ext cx="527304"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2</a:t>
            </a:r>
            <a:endParaRPr lang="tr-TR" sz="1300" dirty="0"/>
          </a:p>
        </p:txBody>
      </p:sp>
      <p:sp>
        <p:nvSpPr>
          <p:cNvPr id="185" name="Shape 183"/>
          <p:cNvSpPr/>
          <p:nvPr/>
        </p:nvSpPr>
        <p:spPr>
          <a:xfrm>
            <a:off x="4300728" y="4553712"/>
            <a:ext cx="527304" cy="292608"/>
          </a:xfrm>
          <a:prstGeom prst="roundRect">
            <a:avLst>
              <a:gd name="adj" fmla="val 15625"/>
            </a:avLst>
          </a:prstGeom>
          <a:solidFill>
            <a:srgbClr val="F2F2F2"/>
          </a:solidFill>
          <a:ln/>
        </p:spPr>
      </p:sp>
      <p:sp>
        <p:nvSpPr>
          <p:cNvPr id="186" name="Text 184"/>
          <p:cNvSpPr txBox="1"/>
          <p:nvPr/>
        </p:nvSpPr>
        <p:spPr>
          <a:xfrm>
            <a:off x="4300728" y="4553712"/>
            <a:ext cx="527304"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1</a:t>
            </a:r>
            <a:endParaRPr lang="tr-TR" sz="1300" dirty="0"/>
          </a:p>
        </p:txBody>
      </p:sp>
      <p:sp>
        <p:nvSpPr>
          <p:cNvPr id="187" name="Shape 185"/>
          <p:cNvSpPr/>
          <p:nvPr/>
        </p:nvSpPr>
        <p:spPr>
          <a:xfrm>
            <a:off x="4300728" y="4882896"/>
            <a:ext cx="527304" cy="292608"/>
          </a:xfrm>
          <a:prstGeom prst="roundRect">
            <a:avLst>
              <a:gd name="adj" fmla="val 15625"/>
            </a:avLst>
          </a:prstGeom>
          <a:solidFill>
            <a:srgbClr val="F2F2F2"/>
          </a:solidFill>
          <a:ln/>
        </p:spPr>
      </p:sp>
      <p:sp>
        <p:nvSpPr>
          <p:cNvPr id="188" name="Text 186"/>
          <p:cNvSpPr txBox="1"/>
          <p:nvPr/>
        </p:nvSpPr>
        <p:spPr>
          <a:xfrm>
            <a:off x="4300728" y="4882896"/>
            <a:ext cx="527304"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2</a:t>
            </a:r>
            <a:endParaRPr lang="tr-TR" sz="1300" dirty="0"/>
          </a:p>
        </p:txBody>
      </p:sp>
      <p:sp>
        <p:nvSpPr>
          <p:cNvPr id="189" name="Shape 187"/>
          <p:cNvSpPr/>
          <p:nvPr/>
        </p:nvSpPr>
        <p:spPr>
          <a:xfrm>
            <a:off x="4300728" y="5212080"/>
            <a:ext cx="527304" cy="292608"/>
          </a:xfrm>
          <a:prstGeom prst="roundRect">
            <a:avLst>
              <a:gd name="adj" fmla="val 15625"/>
            </a:avLst>
          </a:prstGeom>
          <a:solidFill>
            <a:srgbClr val="F2F2F2"/>
          </a:solidFill>
          <a:ln/>
        </p:spPr>
      </p:sp>
      <p:sp>
        <p:nvSpPr>
          <p:cNvPr id="190" name="Text 188"/>
          <p:cNvSpPr txBox="1"/>
          <p:nvPr/>
        </p:nvSpPr>
        <p:spPr>
          <a:xfrm>
            <a:off x="4300728" y="5212080"/>
            <a:ext cx="527304"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3</a:t>
            </a:r>
            <a:endParaRPr lang="tr-TR" sz="1300" dirty="0"/>
          </a:p>
        </p:txBody>
      </p:sp>
      <p:sp>
        <p:nvSpPr>
          <p:cNvPr id="191" name="Shape 189"/>
          <p:cNvSpPr/>
          <p:nvPr/>
        </p:nvSpPr>
        <p:spPr>
          <a:xfrm>
            <a:off x="4300728" y="5541264"/>
            <a:ext cx="527304" cy="292608"/>
          </a:xfrm>
          <a:prstGeom prst="roundRect">
            <a:avLst>
              <a:gd name="adj" fmla="val 15625"/>
            </a:avLst>
          </a:prstGeom>
          <a:solidFill>
            <a:srgbClr val="F2F2F2"/>
          </a:solidFill>
          <a:ln/>
        </p:spPr>
      </p:sp>
      <p:sp>
        <p:nvSpPr>
          <p:cNvPr id="192" name="Text 190"/>
          <p:cNvSpPr txBox="1"/>
          <p:nvPr/>
        </p:nvSpPr>
        <p:spPr>
          <a:xfrm>
            <a:off x="4300728" y="5541264"/>
            <a:ext cx="527304" cy="292608"/>
          </a:xfrm>
          <a:prstGeom prst="rect">
            <a:avLst/>
          </a:prstGeom>
          <a:noFill/>
          <a:ln/>
        </p:spPr>
        <p:txBody>
          <a:bodyPr wrap="square" lIns="38100" tIns="38100" rIns="38100" bIns="38100" rtlCol="0" anchor="ctr"/>
          <a:lstStyle/>
          <a:p>
            <a:pPr algn="ctr" indent="0" marL="0">
              <a:buNone/>
            </a:pPr>
            <a:r>
              <a:rPr lang="tr-TR" sz="1300" dirty="0">
                <a:solidFill>
                  <a:srgbClr val="9AA5A8"/>
                </a:solidFill>
                <a:latin typeface="Calibri" pitchFamily="34" charset="0"/>
                <a:ea typeface="Calibri" pitchFamily="34" charset="-122"/>
                <a:cs typeface="Calibri" pitchFamily="34" charset="-120"/>
              </a:rPr>
              <a:t>4</a:t>
            </a:r>
            <a:endParaRPr lang="tr-TR" sz="1300" dirty="0"/>
          </a:p>
        </p:txBody>
      </p:sp>
      <p:sp>
        <p:nvSpPr>
          <p:cNvPr id="193" name="Text 191"/>
          <p:cNvSpPr txBox="1"/>
          <p:nvPr/>
        </p:nvSpPr>
        <p:spPr>
          <a:xfrm>
            <a:off x="4282440" y="5852160"/>
            <a:ext cx="563880" cy="329184"/>
          </a:xfrm>
          <a:prstGeom prst="rect">
            <a:avLst/>
          </a:prstGeom>
          <a:noFill/>
          <a:ln/>
        </p:spPr>
        <p:txBody>
          <a:bodyPr wrap="square" lIns="0" tIns="0" rIns="0" bIns="0" rtlCol="0" anchor="ctr"/>
          <a:lstStyle/>
          <a:p>
            <a:pPr algn="ctr" indent="0" marL="0">
              <a:buNone/>
            </a:pPr>
            <a:endParaRPr lang="tr-TR" sz="1300" dirty="0"/>
          </a:p>
        </p:txBody>
      </p:sp>
      <p:sp>
        <p:nvSpPr>
          <p:cNvPr id="194" name="Shape 192"/>
          <p:cNvSpPr/>
          <p:nvPr/>
        </p:nvSpPr>
        <p:spPr>
          <a:xfrm>
            <a:off x="4864608" y="4224528"/>
            <a:ext cx="527304" cy="292608"/>
          </a:xfrm>
          <a:prstGeom prst="roundRect">
            <a:avLst>
              <a:gd name="adj" fmla="val 15625"/>
            </a:avLst>
          </a:prstGeom>
          <a:solidFill>
            <a:srgbClr val="36454F"/>
          </a:solidFill>
          <a:ln/>
        </p:spPr>
      </p:sp>
      <p:sp>
        <p:nvSpPr>
          <p:cNvPr id="195" name="Text 193"/>
          <p:cNvSpPr txBox="1"/>
          <p:nvPr/>
        </p:nvSpPr>
        <p:spPr>
          <a:xfrm>
            <a:off x="4864608" y="4224528"/>
            <a:ext cx="527304"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5</a:t>
            </a:r>
            <a:endParaRPr lang="tr-TR" sz="1300" dirty="0"/>
          </a:p>
        </p:txBody>
      </p:sp>
      <p:sp>
        <p:nvSpPr>
          <p:cNvPr id="196" name="Shape 194"/>
          <p:cNvSpPr/>
          <p:nvPr/>
        </p:nvSpPr>
        <p:spPr>
          <a:xfrm>
            <a:off x="4864608" y="4553712"/>
            <a:ext cx="527304" cy="292608"/>
          </a:xfrm>
          <a:prstGeom prst="roundRect">
            <a:avLst>
              <a:gd name="adj" fmla="val 15625"/>
            </a:avLst>
          </a:prstGeom>
          <a:solidFill>
            <a:srgbClr val="02C39A"/>
          </a:solidFill>
          <a:ln/>
        </p:spPr>
      </p:sp>
      <p:sp>
        <p:nvSpPr>
          <p:cNvPr id="197" name="Text 195"/>
          <p:cNvSpPr txBox="1"/>
          <p:nvPr/>
        </p:nvSpPr>
        <p:spPr>
          <a:xfrm>
            <a:off x="4864608" y="4553712"/>
            <a:ext cx="527304"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5</a:t>
            </a:r>
            <a:endParaRPr lang="tr-TR" sz="1300" dirty="0"/>
          </a:p>
        </p:txBody>
      </p:sp>
      <p:sp>
        <p:nvSpPr>
          <p:cNvPr id="198" name="Shape 196"/>
          <p:cNvSpPr/>
          <p:nvPr/>
        </p:nvSpPr>
        <p:spPr>
          <a:xfrm>
            <a:off x="4864608" y="4882896"/>
            <a:ext cx="527304" cy="292608"/>
          </a:xfrm>
          <a:prstGeom prst="roundRect">
            <a:avLst>
              <a:gd name="adj" fmla="val 15625"/>
            </a:avLst>
          </a:prstGeom>
          <a:solidFill>
            <a:srgbClr val="D7E9E6"/>
          </a:solidFill>
          <a:ln/>
        </p:spPr>
      </p:sp>
      <p:sp>
        <p:nvSpPr>
          <p:cNvPr id="199" name="Text 197"/>
          <p:cNvSpPr txBox="1"/>
          <p:nvPr/>
        </p:nvSpPr>
        <p:spPr>
          <a:xfrm>
            <a:off x="4864608" y="4882896"/>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200" name="Shape 198"/>
          <p:cNvSpPr/>
          <p:nvPr/>
        </p:nvSpPr>
        <p:spPr>
          <a:xfrm>
            <a:off x="4864608" y="5212080"/>
            <a:ext cx="527304" cy="292608"/>
          </a:xfrm>
          <a:prstGeom prst="roundRect">
            <a:avLst>
              <a:gd name="adj" fmla="val 15625"/>
            </a:avLst>
          </a:prstGeom>
          <a:solidFill>
            <a:srgbClr val="D7E9E6"/>
          </a:solidFill>
          <a:ln/>
        </p:spPr>
      </p:sp>
      <p:sp>
        <p:nvSpPr>
          <p:cNvPr id="201" name="Text 199"/>
          <p:cNvSpPr txBox="1"/>
          <p:nvPr/>
        </p:nvSpPr>
        <p:spPr>
          <a:xfrm>
            <a:off x="4864608" y="5212080"/>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3</a:t>
            </a:r>
            <a:endParaRPr lang="tr-TR" sz="1300" dirty="0"/>
          </a:p>
        </p:txBody>
      </p:sp>
      <p:sp>
        <p:nvSpPr>
          <p:cNvPr id="202" name="Shape 200"/>
          <p:cNvSpPr/>
          <p:nvPr/>
        </p:nvSpPr>
        <p:spPr>
          <a:xfrm>
            <a:off x="4864608" y="5541264"/>
            <a:ext cx="527304" cy="292608"/>
          </a:xfrm>
          <a:prstGeom prst="roundRect">
            <a:avLst>
              <a:gd name="adj" fmla="val 15625"/>
            </a:avLst>
          </a:prstGeom>
          <a:solidFill>
            <a:srgbClr val="D7E9E6"/>
          </a:solidFill>
          <a:ln/>
        </p:spPr>
      </p:sp>
      <p:sp>
        <p:nvSpPr>
          <p:cNvPr id="203" name="Text 201"/>
          <p:cNvSpPr txBox="1"/>
          <p:nvPr/>
        </p:nvSpPr>
        <p:spPr>
          <a:xfrm>
            <a:off x="4864608" y="5541264"/>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4</a:t>
            </a:r>
            <a:endParaRPr lang="tr-TR" sz="1300" dirty="0"/>
          </a:p>
        </p:txBody>
      </p:sp>
      <p:sp>
        <p:nvSpPr>
          <p:cNvPr id="204" name="Text 202"/>
          <p:cNvSpPr txBox="1"/>
          <p:nvPr/>
        </p:nvSpPr>
        <p:spPr>
          <a:xfrm>
            <a:off x="4846320" y="5852160"/>
            <a:ext cx="563880"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205" name="Shape 203"/>
          <p:cNvSpPr/>
          <p:nvPr/>
        </p:nvSpPr>
        <p:spPr>
          <a:xfrm>
            <a:off x="5428488" y="4224528"/>
            <a:ext cx="527304" cy="292608"/>
          </a:xfrm>
          <a:prstGeom prst="roundRect">
            <a:avLst>
              <a:gd name="adj" fmla="val 15625"/>
            </a:avLst>
          </a:prstGeom>
          <a:solidFill>
            <a:srgbClr val="36454F"/>
          </a:solidFill>
          <a:ln/>
        </p:spPr>
      </p:sp>
      <p:sp>
        <p:nvSpPr>
          <p:cNvPr id="206" name="Text 204"/>
          <p:cNvSpPr txBox="1"/>
          <p:nvPr/>
        </p:nvSpPr>
        <p:spPr>
          <a:xfrm>
            <a:off x="5428488" y="4224528"/>
            <a:ext cx="527304"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1</a:t>
            </a:r>
            <a:endParaRPr lang="tr-TR" sz="1300" dirty="0"/>
          </a:p>
        </p:txBody>
      </p:sp>
      <p:sp>
        <p:nvSpPr>
          <p:cNvPr id="207" name="Shape 205"/>
          <p:cNvSpPr/>
          <p:nvPr/>
        </p:nvSpPr>
        <p:spPr>
          <a:xfrm>
            <a:off x="5428488" y="4553712"/>
            <a:ext cx="527304" cy="292608"/>
          </a:xfrm>
          <a:prstGeom prst="roundRect">
            <a:avLst>
              <a:gd name="adj" fmla="val 15625"/>
            </a:avLst>
          </a:prstGeom>
          <a:solidFill>
            <a:srgbClr val="D7E9E6"/>
          </a:solidFill>
          <a:ln/>
        </p:spPr>
      </p:sp>
      <p:sp>
        <p:nvSpPr>
          <p:cNvPr id="208" name="Text 206"/>
          <p:cNvSpPr txBox="1"/>
          <p:nvPr/>
        </p:nvSpPr>
        <p:spPr>
          <a:xfrm>
            <a:off x="5428488" y="4553712"/>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5</a:t>
            </a:r>
            <a:endParaRPr lang="tr-TR" sz="1300" dirty="0"/>
          </a:p>
        </p:txBody>
      </p:sp>
      <p:sp>
        <p:nvSpPr>
          <p:cNvPr id="209" name="Shape 207"/>
          <p:cNvSpPr/>
          <p:nvPr/>
        </p:nvSpPr>
        <p:spPr>
          <a:xfrm>
            <a:off x="5428488" y="4882896"/>
            <a:ext cx="527304" cy="292608"/>
          </a:xfrm>
          <a:prstGeom prst="roundRect">
            <a:avLst>
              <a:gd name="adj" fmla="val 15625"/>
            </a:avLst>
          </a:prstGeom>
          <a:solidFill>
            <a:srgbClr val="02C39A"/>
          </a:solidFill>
          <a:ln/>
        </p:spPr>
      </p:sp>
      <p:sp>
        <p:nvSpPr>
          <p:cNvPr id="210" name="Text 208"/>
          <p:cNvSpPr txBox="1"/>
          <p:nvPr/>
        </p:nvSpPr>
        <p:spPr>
          <a:xfrm>
            <a:off x="5428488" y="4882896"/>
            <a:ext cx="527304"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1</a:t>
            </a:r>
            <a:endParaRPr lang="tr-TR" sz="1300" dirty="0"/>
          </a:p>
        </p:txBody>
      </p:sp>
      <p:sp>
        <p:nvSpPr>
          <p:cNvPr id="211" name="Shape 209"/>
          <p:cNvSpPr/>
          <p:nvPr/>
        </p:nvSpPr>
        <p:spPr>
          <a:xfrm>
            <a:off x="5428488" y="5212080"/>
            <a:ext cx="527304" cy="292608"/>
          </a:xfrm>
          <a:prstGeom prst="roundRect">
            <a:avLst>
              <a:gd name="adj" fmla="val 15625"/>
            </a:avLst>
          </a:prstGeom>
          <a:solidFill>
            <a:srgbClr val="D7E9E6"/>
          </a:solidFill>
          <a:ln/>
        </p:spPr>
      </p:sp>
      <p:sp>
        <p:nvSpPr>
          <p:cNvPr id="212" name="Text 210"/>
          <p:cNvSpPr txBox="1"/>
          <p:nvPr/>
        </p:nvSpPr>
        <p:spPr>
          <a:xfrm>
            <a:off x="5428488" y="5212080"/>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3</a:t>
            </a:r>
            <a:endParaRPr lang="tr-TR" sz="1300" dirty="0"/>
          </a:p>
        </p:txBody>
      </p:sp>
      <p:sp>
        <p:nvSpPr>
          <p:cNvPr id="213" name="Shape 211"/>
          <p:cNvSpPr/>
          <p:nvPr/>
        </p:nvSpPr>
        <p:spPr>
          <a:xfrm>
            <a:off x="5428488" y="5541264"/>
            <a:ext cx="527304" cy="292608"/>
          </a:xfrm>
          <a:prstGeom prst="roundRect">
            <a:avLst>
              <a:gd name="adj" fmla="val 15625"/>
            </a:avLst>
          </a:prstGeom>
          <a:solidFill>
            <a:srgbClr val="D7E9E6"/>
          </a:solidFill>
          <a:ln/>
        </p:spPr>
      </p:sp>
      <p:sp>
        <p:nvSpPr>
          <p:cNvPr id="214" name="Text 212"/>
          <p:cNvSpPr txBox="1"/>
          <p:nvPr/>
        </p:nvSpPr>
        <p:spPr>
          <a:xfrm>
            <a:off x="5428488" y="5541264"/>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4</a:t>
            </a:r>
            <a:endParaRPr lang="tr-TR" sz="1300" dirty="0"/>
          </a:p>
        </p:txBody>
      </p:sp>
      <p:sp>
        <p:nvSpPr>
          <p:cNvPr id="215" name="Text 213"/>
          <p:cNvSpPr txBox="1"/>
          <p:nvPr/>
        </p:nvSpPr>
        <p:spPr>
          <a:xfrm>
            <a:off x="5410200" y="5852160"/>
            <a:ext cx="563880"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216" name="Shape 214"/>
          <p:cNvSpPr/>
          <p:nvPr/>
        </p:nvSpPr>
        <p:spPr>
          <a:xfrm>
            <a:off x="5992368" y="4224528"/>
            <a:ext cx="527304" cy="292608"/>
          </a:xfrm>
          <a:prstGeom prst="roundRect">
            <a:avLst>
              <a:gd name="adj" fmla="val 15625"/>
            </a:avLst>
          </a:prstGeom>
          <a:solidFill>
            <a:srgbClr val="36454F"/>
          </a:solidFill>
          <a:ln/>
        </p:spPr>
      </p:sp>
      <p:sp>
        <p:nvSpPr>
          <p:cNvPr id="217" name="Text 215"/>
          <p:cNvSpPr txBox="1"/>
          <p:nvPr/>
        </p:nvSpPr>
        <p:spPr>
          <a:xfrm>
            <a:off x="5992368" y="4224528"/>
            <a:ext cx="527304"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2</a:t>
            </a:r>
            <a:endParaRPr lang="tr-TR" sz="1300" dirty="0"/>
          </a:p>
        </p:txBody>
      </p:sp>
      <p:sp>
        <p:nvSpPr>
          <p:cNvPr id="218" name="Shape 216"/>
          <p:cNvSpPr/>
          <p:nvPr/>
        </p:nvSpPr>
        <p:spPr>
          <a:xfrm>
            <a:off x="5992368" y="4553712"/>
            <a:ext cx="527304" cy="292608"/>
          </a:xfrm>
          <a:prstGeom prst="roundRect">
            <a:avLst>
              <a:gd name="adj" fmla="val 15625"/>
            </a:avLst>
          </a:prstGeom>
          <a:solidFill>
            <a:srgbClr val="D7E9E6"/>
          </a:solidFill>
          <a:ln/>
        </p:spPr>
      </p:sp>
      <p:sp>
        <p:nvSpPr>
          <p:cNvPr id="219" name="Text 217"/>
          <p:cNvSpPr txBox="1"/>
          <p:nvPr/>
        </p:nvSpPr>
        <p:spPr>
          <a:xfrm>
            <a:off x="5992368" y="4553712"/>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5</a:t>
            </a:r>
            <a:endParaRPr lang="tr-TR" sz="1300" dirty="0"/>
          </a:p>
        </p:txBody>
      </p:sp>
      <p:sp>
        <p:nvSpPr>
          <p:cNvPr id="220" name="Shape 218"/>
          <p:cNvSpPr/>
          <p:nvPr/>
        </p:nvSpPr>
        <p:spPr>
          <a:xfrm>
            <a:off x="5992368" y="4882896"/>
            <a:ext cx="527304" cy="292608"/>
          </a:xfrm>
          <a:prstGeom prst="roundRect">
            <a:avLst>
              <a:gd name="adj" fmla="val 15625"/>
            </a:avLst>
          </a:prstGeom>
          <a:solidFill>
            <a:srgbClr val="D7E9E6"/>
          </a:solidFill>
          <a:ln/>
        </p:spPr>
      </p:sp>
      <p:sp>
        <p:nvSpPr>
          <p:cNvPr id="221" name="Text 219"/>
          <p:cNvSpPr txBox="1"/>
          <p:nvPr/>
        </p:nvSpPr>
        <p:spPr>
          <a:xfrm>
            <a:off x="5992368" y="4882896"/>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1</a:t>
            </a:r>
            <a:endParaRPr lang="tr-TR" sz="1300" dirty="0"/>
          </a:p>
        </p:txBody>
      </p:sp>
      <p:sp>
        <p:nvSpPr>
          <p:cNvPr id="222" name="Shape 220"/>
          <p:cNvSpPr/>
          <p:nvPr/>
        </p:nvSpPr>
        <p:spPr>
          <a:xfrm>
            <a:off x="5992368" y="5212080"/>
            <a:ext cx="527304" cy="292608"/>
          </a:xfrm>
          <a:prstGeom prst="roundRect">
            <a:avLst>
              <a:gd name="adj" fmla="val 15625"/>
            </a:avLst>
          </a:prstGeom>
          <a:solidFill>
            <a:srgbClr val="02C39A"/>
          </a:solidFill>
          <a:ln/>
        </p:spPr>
      </p:sp>
      <p:sp>
        <p:nvSpPr>
          <p:cNvPr id="223" name="Text 221"/>
          <p:cNvSpPr txBox="1"/>
          <p:nvPr/>
        </p:nvSpPr>
        <p:spPr>
          <a:xfrm>
            <a:off x="5992368" y="5212080"/>
            <a:ext cx="527304"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2</a:t>
            </a:r>
            <a:endParaRPr lang="tr-TR" sz="1300" dirty="0"/>
          </a:p>
        </p:txBody>
      </p:sp>
      <p:sp>
        <p:nvSpPr>
          <p:cNvPr id="224" name="Shape 222"/>
          <p:cNvSpPr/>
          <p:nvPr/>
        </p:nvSpPr>
        <p:spPr>
          <a:xfrm>
            <a:off x="5992368" y="5541264"/>
            <a:ext cx="527304" cy="292608"/>
          </a:xfrm>
          <a:prstGeom prst="roundRect">
            <a:avLst>
              <a:gd name="adj" fmla="val 15625"/>
            </a:avLst>
          </a:prstGeom>
          <a:solidFill>
            <a:srgbClr val="D7E9E6"/>
          </a:solidFill>
          <a:ln/>
        </p:spPr>
      </p:sp>
      <p:sp>
        <p:nvSpPr>
          <p:cNvPr id="225" name="Text 223"/>
          <p:cNvSpPr txBox="1"/>
          <p:nvPr/>
        </p:nvSpPr>
        <p:spPr>
          <a:xfrm>
            <a:off x="5992368" y="5541264"/>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4</a:t>
            </a:r>
            <a:endParaRPr lang="tr-TR" sz="1300" dirty="0"/>
          </a:p>
        </p:txBody>
      </p:sp>
      <p:sp>
        <p:nvSpPr>
          <p:cNvPr id="226" name="Text 224"/>
          <p:cNvSpPr txBox="1"/>
          <p:nvPr/>
        </p:nvSpPr>
        <p:spPr>
          <a:xfrm>
            <a:off x="5974080" y="5852160"/>
            <a:ext cx="563880"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227" name="Shape 225"/>
          <p:cNvSpPr/>
          <p:nvPr/>
        </p:nvSpPr>
        <p:spPr>
          <a:xfrm>
            <a:off x="6556248" y="4224528"/>
            <a:ext cx="527304" cy="292608"/>
          </a:xfrm>
          <a:prstGeom prst="roundRect">
            <a:avLst>
              <a:gd name="adj" fmla="val 15625"/>
            </a:avLst>
          </a:prstGeom>
          <a:solidFill>
            <a:srgbClr val="36454F"/>
          </a:solidFill>
          <a:ln/>
        </p:spPr>
      </p:sp>
      <p:sp>
        <p:nvSpPr>
          <p:cNvPr id="228" name="Text 226"/>
          <p:cNvSpPr txBox="1"/>
          <p:nvPr/>
        </p:nvSpPr>
        <p:spPr>
          <a:xfrm>
            <a:off x="6556248" y="4224528"/>
            <a:ext cx="527304"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3</a:t>
            </a:r>
            <a:endParaRPr lang="tr-TR" sz="1300" dirty="0"/>
          </a:p>
        </p:txBody>
      </p:sp>
      <p:sp>
        <p:nvSpPr>
          <p:cNvPr id="229" name="Shape 227"/>
          <p:cNvSpPr/>
          <p:nvPr/>
        </p:nvSpPr>
        <p:spPr>
          <a:xfrm>
            <a:off x="6556248" y="4553712"/>
            <a:ext cx="527304" cy="292608"/>
          </a:xfrm>
          <a:prstGeom prst="roundRect">
            <a:avLst>
              <a:gd name="adj" fmla="val 15625"/>
            </a:avLst>
          </a:prstGeom>
          <a:solidFill>
            <a:srgbClr val="D7E9E6"/>
          </a:solidFill>
          <a:ln/>
        </p:spPr>
      </p:sp>
      <p:sp>
        <p:nvSpPr>
          <p:cNvPr id="230" name="Text 228"/>
          <p:cNvSpPr txBox="1"/>
          <p:nvPr/>
        </p:nvSpPr>
        <p:spPr>
          <a:xfrm>
            <a:off x="6556248" y="4553712"/>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5</a:t>
            </a:r>
            <a:endParaRPr lang="tr-TR" sz="1300" dirty="0"/>
          </a:p>
        </p:txBody>
      </p:sp>
      <p:sp>
        <p:nvSpPr>
          <p:cNvPr id="231" name="Shape 229"/>
          <p:cNvSpPr/>
          <p:nvPr/>
        </p:nvSpPr>
        <p:spPr>
          <a:xfrm>
            <a:off x="6556248" y="4882896"/>
            <a:ext cx="527304" cy="292608"/>
          </a:xfrm>
          <a:prstGeom prst="roundRect">
            <a:avLst>
              <a:gd name="adj" fmla="val 15625"/>
            </a:avLst>
          </a:prstGeom>
          <a:solidFill>
            <a:srgbClr val="D7E9E6"/>
          </a:solidFill>
          <a:ln/>
        </p:spPr>
      </p:sp>
      <p:sp>
        <p:nvSpPr>
          <p:cNvPr id="232" name="Text 230"/>
          <p:cNvSpPr txBox="1"/>
          <p:nvPr/>
        </p:nvSpPr>
        <p:spPr>
          <a:xfrm>
            <a:off x="6556248" y="4882896"/>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1</a:t>
            </a:r>
            <a:endParaRPr lang="tr-TR" sz="1300" dirty="0"/>
          </a:p>
        </p:txBody>
      </p:sp>
      <p:sp>
        <p:nvSpPr>
          <p:cNvPr id="233" name="Shape 231"/>
          <p:cNvSpPr/>
          <p:nvPr/>
        </p:nvSpPr>
        <p:spPr>
          <a:xfrm>
            <a:off x="6556248" y="5212080"/>
            <a:ext cx="527304" cy="292608"/>
          </a:xfrm>
          <a:prstGeom prst="roundRect">
            <a:avLst>
              <a:gd name="adj" fmla="val 15625"/>
            </a:avLst>
          </a:prstGeom>
          <a:solidFill>
            <a:srgbClr val="D7E9E6"/>
          </a:solidFill>
          <a:ln/>
        </p:spPr>
      </p:sp>
      <p:sp>
        <p:nvSpPr>
          <p:cNvPr id="234" name="Text 232"/>
          <p:cNvSpPr txBox="1"/>
          <p:nvPr/>
        </p:nvSpPr>
        <p:spPr>
          <a:xfrm>
            <a:off x="6556248" y="5212080"/>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235" name="Shape 233"/>
          <p:cNvSpPr/>
          <p:nvPr/>
        </p:nvSpPr>
        <p:spPr>
          <a:xfrm>
            <a:off x="6556248" y="5541264"/>
            <a:ext cx="527304" cy="292608"/>
          </a:xfrm>
          <a:prstGeom prst="roundRect">
            <a:avLst>
              <a:gd name="adj" fmla="val 15625"/>
            </a:avLst>
          </a:prstGeom>
          <a:solidFill>
            <a:srgbClr val="02C39A"/>
          </a:solidFill>
          <a:ln/>
        </p:spPr>
      </p:sp>
      <p:sp>
        <p:nvSpPr>
          <p:cNvPr id="236" name="Text 234"/>
          <p:cNvSpPr txBox="1"/>
          <p:nvPr/>
        </p:nvSpPr>
        <p:spPr>
          <a:xfrm>
            <a:off x="6556248" y="5541264"/>
            <a:ext cx="527304"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3</a:t>
            </a:r>
            <a:endParaRPr lang="tr-TR" sz="1300" dirty="0"/>
          </a:p>
        </p:txBody>
      </p:sp>
      <p:sp>
        <p:nvSpPr>
          <p:cNvPr id="237" name="Text 235"/>
          <p:cNvSpPr txBox="1"/>
          <p:nvPr/>
        </p:nvSpPr>
        <p:spPr>
          <a:xfrm>
            <a:off x="6537960" y="5852160"/>
            <a:ext cx="563880"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238" name="Shape 236"/>
          <p:cNvSpPr/>
          <p:nvPr/>
        </p:nvSpPr>
        <p:spPr>
          <a:xfrm>
            <a:off x="7120128" y="4224528"/>
            <a:ext cx="527304" cy="292608"/>
          </a:xfrm>
          <a:prstGeom prst="roundRect">
            <a:avLst>
              <a:gd name="adj" fmla="val 15625"/>
            </a:avLst>
          </a:prstGeom>
          <a:solidFill>
            <a:srgbClr val="36454F"/>
          </a:solidFill>
          <a:ln/>
        </p:spPr>
      </p:sp>
      <p:sp>
        <p:nvSpPr>
          <p:cNvPr id="239" name="Text 237"/>
          <p:cNvSpPr txBox="1"/>
          <p:nvPr/>
        </p:nvSpPr>
        <p:spPr>
          <a:xfrm>
            <a:off x="7120128" y="4224528"/>
            <a:ext cx="527304"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4</a:t>
            </a:r>
            <a:endParaRPr lang="tr-TR" sz="1300" dirty="0"/>
          </a:p>
        </p:txBody>
      </p:sp>
      <p:sp>
        <p:nvSpPr>
          <p:cNvPr id="240" name="Shape 238"/>
          <p:cNvSpPr/>
          <p:nvPr/>
        </p:nvSpPr>
        <p:spPr>
          <a:xfrm>
            <a:off x="7120128" y="4553712"/>
            <a:ext cx="527304" cy="292608"/>
          </a:xfrm>
          <a:prstGeom prst="roundRect">
            <a:avLst>
              <a:gd name="adj" fmla="val 15625"/>
            </a:avLst>
          </a:prstGeom>
          <a:solidFill>
            <a:srgbClr val="02C39A"/>
          </a:solidFill>
          <a:ln/>
        </p:spPr>
      </p:sp>
      <p:sp>
        <p:nvSpPr>
          <p:cNvPr id="241" name="Text 239"/>
          <p:cNvSpPr txBox="1"/>
          <p:nvPr/>
        </p:nvSpPr>
        <p:spPr>
          <a:xfrm>
            <a:off x="7120128" y="4553712"/>
            <a:ext cx="527304"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4</a:t>
            </a:r>
            <a:endParaRPr lang="tr-TR" sz="1300" dirty="0"/>
          </a:p>
        </p:txBody>
      </p:sp>
      <p:sp>
        <p:nvSpPr>
          <p:cNvPr id="242" name="Shape 240"/>
          <p:cNvSpPr/>
          <p:nvPr/>
        </p:nvSpPr>
        <p:spPr>
          <a:xfrm>
            <a:off x="7120128" y="4882896"/>
            <a:ext cx="527304" cy="292608"/>
          </a:xfrm>
          <a:prstGeom prst="roundRect">
            <a:avLst>
              <a:gd name="adj" fmla="val 15625"/>
            </a:avLst>
          </a:prstGeom>
          <a:solidFill>
            <a:srgbClr val="D7E9E6"/>
          </a:solidFill>
          <a:ln/>
        </p:spPr>
      </p:sp>
      <p:sp>
        <p:nvSpPr>
          <p:cNvPr id="243" name="Text 241"/>
          <p:cNvSpPr txBox="1"/>
          <p:nvPr/>
        </p:nvSpPr>
        <p:spPr>
          <a:xfrm>
            <a:off x="7120128" y="4882896"/>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1</a:t>
            </a:r>
            <a:endParaRPr lang="tr-TR" sz="1300" dirty="0"/>
          </a:p>
        </p:txBody>
      </p:sp>
      <p:sp>
        <p:nvSpPr>
          <p:cNvPr id="244" name="Shape 242"/>
          <p:cNvSpPr/>
          <p:nvPr/>
        </p:nvSpPr>
        <p:spPr>
          <a:xfrm>
            <a:off x="7120128" y="5212080"/>
            <a:ext cx="527304" cy="292608"/>
          </a:xfrm>
          <a:prstGeom prst="roundRect">
            <a:avLst>
              <a:gd name="adj" fmla="val 15625"/>
            </a:avLst>
          </a:prstGeom>
          <a:solidFill>
            <a:srgbClr val="D7E9E6"/>
          </a:solidFill>
          <a:ln/>
        </p:spPr>
      </p:sp>
      <p:sp>
        <p:nvSpPr>
          <p:cNvPr id="245" name="Text 243"/>
          <p:cNvSpPr txBox="1"/>
          <p:nvPr/>
        </p:nvSpPr>
        <p:spPr>
          <a:xfrm>
            <a:off x="7120128" y="5212080"/>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246" name="Shape 244"/>
          <p:cNvSpPr/>
          <p:nvPr/>
        </p:nvSpPr>
        <p:spPr>
          <a:xfrm>
            <a:off x="7120128" y="5541264"/>
            <a:ext cx="527304" cy="292608"/>
          </a:xfrm>
          <a:prstGeom prst="roundRect">
            <a:avLst>
              <a:gd name="adj" fmla="val 15625"/>
            </a:avLst>
          </a:prstGeom>
          <a:solidFill>
            <a:srgbClr val="D7E9E6"/>
          </a:solidFill>
          <a:ln/>
        </p:spPr>
      </p:sp>
      <p:sp>
        <p:nvSpPr>
          <p:cNvPr id="247" name="Text 245"/>
          <p:cNvSpPr txBox="1"/>
          <p:nvPr/>
        </p:nvSpPr>
        <p:spPr>
          <a:xfrm>
            <a:off x="7120128" y="5541264"/>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3</a:t>
            </a:r>
            <a:endParaRPr lang="tr-TR" sz="1300" dirty="0"/>
          </a:p>
        </p:txBody>
      </p:sp>
      <p:sp>
        <p:nvSpPr>
          <p:cNvPr id="248" name="Text 246"/>
          <p:cNvSpPr txBox="1"/>
          <p:nvPr/>
        </p:nvSpPr>
        <p:spPr>
          <a:xfrm>
            <a:off x="7101840" y="5852160"/>
            <a:ext cx="563880"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249" name="Shape 247"/>
          <p:cNvSpPr/>
          <p:nvPr/>
        </p:nvSpPr>
        <p:spPr>
          <a:xfrm>
            <a:off x="7684008" y="4224528"/>
            <a:ext cx="527304" cy="292608"/>
          </a:xfrm>
          <a:prstGeom prst="roundRect">
            <a:avLst>
              <a:gd name="adj" fmla="val 15625"/>
            </a:avLst>
          </a:prstGeom>
          <a:solidFill>
            <a:srgbClr val="36454F"/>
          </a:solidFill>
          <a:ln/>
        </p:spPr>
      </p:sp>
      <p:sp>
        <p:nvSpPr>
          <p:cNvPr id="250" name="Text 248"/>
          <p:cNvSpPr txBox="1"/>
          <p:nvPr/>
        </p:nvSpPr>
        <p:spPr>
          <a:xfrm>
            <a:off x="7684008" y="4224528"/>
            <a:ext cx="527304" cy="29260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5</a:t>
            </a:r>
            <a:endParaRPr lang="tr-TR" sz="1300" dirty="0"/>
          </a:p>
        </p:txBody>
      </p:sp>
      <p:sp>
        <p:nvSpPr>
          <p:cNvPr id="251" name="Shape 249"/>
          <p:cNvSpPr/>
          <p:nvPr/>
        </p:nvSpPr>
        <p:spPr>
          <a:xfrm>
            <a:off x="7684008" y="4553712"/>
            <a:ext cx="527304" cy="292608"/>
          </a:xfrm>
          <a:prstGeom prst="roundRect">
            <a:avLst>
              <a:gd name="adj" fmla="val 15625"/>
            </a:avLst>
          </a:prstGeom>
          <a:solidFill>
            <a:srgbClr val="D7E9E6"/>
          </a:solidFill>
          <a:ln/>
        </p:spPr>
      </p:sp>
      <p:sp>
        <p:nvSpPr>
          <p:cNvPr id="252" name="Text 250"/>
          <p:cNvSpPr txBox="1"/>
          <p:nvPr/>
        </p:nvSpPr>
        <p:spPr>
          <a:xfrm>
            <a:off x="7684008" y="4553712"/>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4</a:t>
            </a:r>
            <a:endParaRPr lang="tr-TR" sz="1300" dirty="0"/>
          </a:p>
        </p:txBody>
      </p:sp>
      <p:sp>
        <p:nvSpPr>
          <p:cNvPr id="253" name="Shape 251"/>
          <p:cNvSpPr/>
          <p:nvPr/>
        </p:nvSpPr>
        <p:spPr>
          <a:xfrm>
            <a:off x="7684008" y="4882896"/>
            <a:ext cx="527304" cy="292608"/>
          </a:xfrm>
          <a:prstGeom prst="roundRect">
            <a:avLst>
              <a:gd name="adj" fmla="val 15625"/>
            </a:avLst>
          </a:prstGeom>
          <a:solidFill>
            <a:srgbClr val="02C39A"/>
          </a:solidFill>
          <a:ln/>
        </p:spPr>
      </p:sp>
      <p:sp>
        <p:nvSpPr>
          <p:cNvPr id="254" name="Text 252"/>
          <p:cNvSpPr txBox="1"/>
          <p:nvPr/>
        </p:nvSpPr>
        <p:spPr>
          <a:xfrm>
            <a:off x="7684008" y="4882896"/>
            <a:ext cx="527304" cy="29260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5</a:t>
            </a:r>
            <a:endParaRPr lang="tr-TR" sz="1300" dirty="0"/>
          </a:p>
        </p:txBody>
      </p:sp>
      <p:sp>
        <p:nvSpPr>
          <p:cNvPr id="255" name="Shape 253"/>
          <p:cNvSpPr/>
          <p:nvPr/>
        </p:nvSpPr>
        <p:spPr>
          <a:xfrm>
            <a:off x="7684008" y="5212080"/>
            <a:ext cx="527304" cy="292608"/>
          </a:xfrm>
          <a:prstGeom prst="roundRect">
            <a:avLst>
              <a:gd name="adj" fmla="val 15625"/>
            </a:avLst>
          </a:prstGeom>
          <a:solidFill>
            <a:srgbClr val="D7E9E6"/>
          </a:solidFill>
          <a:ln/>
        </p:spPr>
      </p:sp>
      <p:sp>
        <p:nvSpPr>
          <p:cNvPr id="256" name="Text 254"/>
          <p:cNvSpPr txBox="1"/>
          <p:nvPr/>
        </p:nvSpPr>
        <p:spPr>
          <a:xfrm>
            <a:off x="7684008" y="5212080"/>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2</a:t>
            </a:r>
            <a:endParaRPr lang="tr-TR" sz="1300" dirty="0"/>
          </a:p>
        </p:txBody>
      </p:sp>
      <p:sp>
        <p:nvSpPr>
          <p:cNvPr id="257" name="Shape 255"/>
          <p:cNvSpPr/>
          <p:nvPr/>
        </p:nvSpPr>
        <p:spPr>
          <a:xfrm>
            <a:off x="7684008" y="5541264"/>
            <a:ext cx="527304" cy="292608"/>
          </a:xfrm>
          <a:prstGeom prst="roundRect">
            <a:avLst>
              <a:gd name="adj" fmla="val 15625"/>
            </a:avLst>
          </a:prstGeom>
          <a:solidFill>
            <a:srgbClr val="D7E9E6"/>
          </a:solidFill>
          <a:ln/>
        </p:spPr>
      </p:sp>
      <p:sp>
        <p:nvSpPr>
          <p:cNvPr id="258" name="Text 256"/>
          <p:cNvSpPr txBox="1"/>
          <p:nvPr/>
        </p:nvSpPr>
        <p:spPr>
          <a:xfrm>
            <a:off x="7684008" y="5541264"/>
            <a:ext cx="527304" cy="292608"/>
          </a:xfrm>
          <a:prstGeom prst="rect">
            <a:avLst/>
          </a:prstGeom>
          <a:noFill/>
          <a:ln/>
        </p:spPr>
        <p:txBody>
          <a:bodyPr wrap="square" lIns="38100" tIns="38100" rIns="38100" bIns="38100" rtlCol="0" anchor="ctr"/>
          <a:lstStyle/>
          <a:p>
            <a:pPr algn="ctr" indent="0" marL="0">
              <a:buNone/>
            </a:pPr>
            <a:r>
              <a:rPr lang="tr-TR" sz="1300" dirty="0">
                <a:solidFill>
                  <a:srgbClr val="212121"/>
                </a:solidFill>
                <a:latin typeface="Calibri" pitchFamily="34" charset="0"/>
                <a:ea typeface="Calibri" pitchFamily="34" charset="-122"/>
                <a:cs typeface="Calibri" pitchFamily="34" charset="-120"/>
              </a:rPr>
              <a:t>3</a:t>
            </a:r>
            <a:endParaRPr lang="tr-TR" sz="1300" dirty="0"/>
          </a:p>
        </p:txBody>
      </p:sp>
      <p:sp>
        <p:nvSpPr>
          <p:cNvPr id="259" name="Text 257"/>
          <p:cNvSpPr txBox="1"/>
          <p:nvPr/>
        </p:nvSpPr>
        <p:spPr>
          <a:xfrm>
            <a:off x="7665720" y="5852160"/>
            <a:ext cx="563880" cy="329184"/>
          </a:xfrm>
          <a:prstGeom prst="rect">
            <a:avLst/>
          </a:prstGeom>
          <a:noFill/>
          <a:ln/>
        </p:spPr>
        <p:txBody>
          <a:bodyPr wrap="square" lIns="0" tIns="0" rIns="0" bIns="0" rtlCol="0" anchor="ctr"/>
          <a:lstStyle/>
          <a:p>
            <a:pPr algn="ctr" indent="0" marL="0">
              <a:buNone/>
            </a:pPr>
            <a:r>
              <a:rPr lang="tr-TR" sz="1300" b="1" dirty="0">
                <a:solidFill>
                  <a:srgbClr val="B5453A"/>
                </a:solidFill>
                <a:latin typeface="Calibri" pitchFamily="34" charset="0"/>
                <a:ea typeface="Calibri" pitchFamily="34" charset="-122"/>
                <a:cs typeface="Calibri" pitchFamily="34" charset="-120"/>
              </a:rPr>
              <a:t>F</a:t>
            </a:r>
            <a:endParaRPr lang="tr-TR" sz="1300" dirty="0"/>
          </a:p>
        </p:txBody>
      </p:sp>
      <p:sp>
        <p:nvSpPr>
          <p:cNvPr id="260" name="Shape 258"/>
          <p:cNvSpPr/>
          <p:nvPr/>
        </p:nvSpPr>
        <p:spPr>
          <a:xfrm>
            <a:off x="8503920" y="1508760"/>
            <a:ext cx="3154680" cy="47548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261" name="Text 259"/>
          <p:cNvSpPr txBox="1"/>
          <p:nvPr/>
        </p:nvSpPr>
        <p:spPr>
          <a:xfrm>
            <a:off x="8732520" y="1691640"/>
            <a:ext cx="2697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 anlama gelir?</a:t>
            </a:r>
            <a:endParaRPr lang="tr-TR" sz="1500" dirty="0"/>
          </a:p>
        </p:txBody>
      </p:sp>
      <p:sp>
        <p:nvSpPr>
          <p:cNvPr id="262" name="Text 260"/>
          <p:cNvSpPr txBox="1"/>
          <p:nvPr/>
        </p:nvSpPr>
        <p:spPr>
          <a:xfrm>
            <a:off x="8732520" y="2148840"/>
            <a:ext cx="2697480" cy="397764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Sağduyu: daha çok bellek asla zarar vermemeli.</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FIFO'da verebilir: 3 çerçeveyle 9, 4 çerçeveyle 10 hata.</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OPT ve LRU asla böyle davranmaz (bunlar "yığıt algoritmaları"dır).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Aynı dizide LRU 10 → 8 hata verir.</a:t>
            </a:r>
            <a:endParaRPr lang="tr-TR"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LRU YAKLAŞIMI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Başvuru Biti ve İkinci Şans (Saat) Algoritması</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Bir sayfa her kullanıldığında donanım onun başvuru bitini (R) 1 yapar. İşletim sistemi bu biti okuyabilir ve sıfırlayabilir.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19</a:t>
            </a:r>
            <a:endParaRPr lang="tr-TR" sz="900" dirty="0"/>
          </a:p>
        </p:txBody>
      </p:sp>
      <p:sp>
        <p:nvSpPr>
          <p:cNvPr id="7" name="Shape 5"/>
          <p:cNvSpPr/>
          <p:nvPr/>
        </p:nvSpPr>
        <p:spPr>
          <a:xfrm>
            <a:off x="1737360" y="2606040"/>
            <a:ext cx="3108960" cy="3108960"/>
          </a:xfrm>
          <a:prstGeom prst="ellipse">
            <a:avLst/>
          </a:prstGeom>
          <a:ln w="15875">
            <a:solidFill>
              <a:srgbClr val="50808E"/>
            </a:solidFill>
            <a:prstDash val="dash"/>
          </a:ln>
        </p:spPr>
      </p:sp>
      <p:sp>
        <p:nvSpPr>
          <p:cNvPr id="8" name="Shape 6"/>
          <p:cNvSpPr/>
          <p:nvPr/>
        </p:nvSpPr>
        <p:spPr>
          <a:xfrm>
            <a:off x="2724912" y="2276856"/>
            <a:ext cx="1133856" cy="658368"/>
          </a:xfrm>
          <a:prstGeom prst="roundRect">
            <a:avLst>
              <a:gd name="adj" fmla="val 6944"/>
            </a:avLst>
          </a:prstGeom>
          <a:solidFill>
            <a:srgbClr val="D7E9E6"/>
          </a:solidFill>
          <a:ln/>
        </p:spPr>
      </p:sp>
      <p:sp>
        <p:nvSpPr>
          <p:cNvPr id="9" name="Text 7"/>
          <p:cNvSpPr txBox="1"/>
          <p:nvPr/>
        </p:nvSpPr>
        <p:spPr>
          <a:xfrm>
            <a:off x="2724912" y="2276856"/>
            <a:ext cx="1133856" cy="65836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sayfa 3</a:t>
            </a:r>
            <a:endParaRPr lang="tr-TR" sz="1300" dirty="0"/>
          </a:p>
          <a:p>
            <a:pPr algn="ctr" indent="0" marL="0">
              <a:buNone/>
            </a:pPr>
            <a:r>
              <a:rPr lang="tr-TR" sz="1100" dirty="0">
                <a:solidFill>
                  <a:srgbClr val="212121"/>
                </a:solidFill>
                <a:latin typeface="Calibri" pitchFamily="34" charset="0"/>
                <a:ea typeface="Calibri" pitchFamily="34" charset="-122"/>
                <a:cs typeface="Calibri" pitchFamily="34" charset="-120"/>
              </a:rPr>
              <a:t>R = 1 → 0</a:t>
            </a:r>
            <a:endParaRPr lang="tr-TR" sz="1300" dirty="0"/>
          </a:p>
        </p:txBody>
      </p:sp>
      <p:sp>
        <p:nvSpPr>
          <p:cNvPr id="10" name="Shape 8"/>
          <p:cNvSpPr/>
          <p:nvPr/>
        </p:nvSpPr>
        <p:spPr>
          <a:xfrm>
            <a:off x="4071131" y="3054096"/>
            <a:ext cx="1133856" cy="658368"/>
          </a:xfrm>
          <a:prstGeom prst="roundRect">
            <a:avLst>
              <a:gd name="adj" fmla="val 6944"/>
            </a:avLst>
          </a:prstGeom>
          <a:solidFill>
            <a:srgbClr val="B5453A"/>
          </a:solidFill>
          <a:ln/>
        </p:spPr>
      </p:sp>
      <p:sp>
        <p:nvSpPr>
          <p:cNvPr id="11" name="Text 9"/>
          <p:cNvSpPr txBox="1"/>
          <p:nvPr/>
        </p:nvSpPr>
        <p:spPr>
          <a:xfrm>
            <a:off x="4071131" y="3054096"/>
            <a:ext cx="1133856" cy="658368"/>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sayfa 7</a:t>
            </a:r>
            <a:endParaRPr lang="tr-TR" sz="1300" dirty="0"/>
          </a:p>
          <a:p>
            <a:pPr algn="ctr" indent="0" marL="0">
              <a:buNone/>
            </a:pPr>
            <a:r>
              <a:rPr lang="tr-TR" sz="1100" dirty="0">
                <a:solidFill>
                  <a:srgbClr val="FFFFFF"/>
                </a:solidFill>
                <a:latin typeface="Calibri" pitchFamily="34" charset="0"/>
                <a:ea typeface="Calibri" pitchFamily="34" charset="-122"/>
                <a:cs typeface="Calibri" pitchFamily="34" charset="-120"/>
              </a:rPr>
              <a:t>R = 0</a:t>
            </a:r>
            <a:endParaRPr lang="tr-TR" sz="1300" dirty="0"/>
          </a:p>
        </p:txBody>
      </p:sp>
      <p:sp>
        <p:nvSpPr>
          <p:cNvPr id="12" name="Shape 10"/>
          <p:cNvSpPr/>
          <p:nvPr/>
        </p:nvSpPr>
        <p:spPr>
          <a:xfrm>
            <a:off x="4071131" y="4608576"/>
            <a:ext cx="1133856" cy="658368"/>
          </a:xfrm>
          <a:prstGeom prst="roundRect">
            <a:avLst>
              <a:gd name="adj" fmla="val 6944"/>
            </a:avLst>
          </a:prstGeom>
          <a:solidFill>
            <a:srgbClr val="F2F2F2"/>
          </a:solidFill>
          <a:ln/>
        </p:spPr>
      </p:sp>
      <p:sp>
        <p:nvSpPr>
          <p:cNvPr id="13" name="Text 11"/>
          <p:cNvSpPr txBox="1"/>
          <p:nvPr/>
        </p:nvSpPr>
        <p:spPr>
          <a:xfrm>
            <a:off x="4071131" y="4608576"/>
            <a:ext cx="1133856" cy="65836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sayfa 1</a:t>
            </a:r>
            <a:endParaRPr lang="tr-TR" sz="1300" dirty="0"/>
          </a:p>
          <a:p>
            <a:pPr algn="ctr" indent="0" marL="0">
              <a:buNone/>
            </a:pPr>
            <a:r>
              <a:rPr lang="tr-TR" sz="1100" dirty="0">
                <a:solidFill>
                  <a:srgbClr val="212121"/>
                </a:solidFill>
                <a:latin typeface="Calibri" pitchFamily="34" charset="0"/>
                <a:ea typeface="Calibri" pitchFamily="34" charset="-122"/>
                <a:cs typeface="Calibri" pitchFamily="34" charset="-120"/>
              </a:rPr>
              <a:t>R = 1</a:t>
            </a:r>
            <a:endParaRPr lang="tr-TR" sz="1300" dirty="0"/>
          </a:p>
        </p:txBody>
      </p:sp>
      <p:sp>
        <p:nvSpPr>
          <p:cNvPr id="14" name="Shape 12"/>
          <p:cNvSpPr/>
          <p:nvPr/>
        </p:nvSpPr>
        <p:spPr>
          <a:xfrm>
            <a:off x="2724912" y="5385816"/>
            <a:ext cx="1133856" cy="658368"/>
          </a:xfrm>
          <a:prstGeom prst="roundRect">
            <a:avLst>
              <a:gd name="adj" fmla="val 6944"/>
            </a:avLst>
          </a:prstGeom>
          <a:solidFill>
            <a:srgbClr val="F2F2F2"/>
          </a:solidFill>
          <a:ln/>
        </p:spPr>
      </p:sp>
      <p:sp>
        <p:nvSpPr>
          <p:cNvPr id="15" name="Text 13"/>
          <p:cNvSpPr txBox="1"/>
          <p:nvPr/>
        </p:nvSpPr>
        <p:spPr>
          <a:xfrm>
            <a:off x="2724912" y="5385816"/>
            <a:ext cx="1133856" cy="65836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sayfa 4</a:t>
            </a:r>
            <a:endParaRPr lang="tr-TR" sz="1300" dirty="0"/>
          </a:p>
          <a:p>
            <a:pPr algn="ctr" indent="0" marL="0">
              <a:buNone/>
            </a:pPr>
            <a:r>
              <a:rPr lang="tr-TR" sz="1100" dirty="0">
                <a:solidFill>
                  <a:srgbClr val="212121"/>
                </a:solidFill>
                <a:latin typeface="Calibri" pitchFamily="34" charset="0"/>
                <a:ea typeface="Calibri" pitchFamily="34" charset="-122"/>
                <a:cs typeface="Calibri" pitchFamily="34" charset="-120"/>
              </a:rPr>
              <a:t>R = 1</a:t>
            </a:r>
            <a:endParaRPr lang="tr-TR" sz="1300" dirty="0"/>
          </a:p>
        </p:txBody>
      </p:sp>
      <p:sp>
        <p:nvSpPr>
          <p:cNvPr id="16" name="Shape 14"/>
          <p:cNvSpPr/>
          <p:nvPr/>
        </p:nvSpPr>
        <p:spPr>
          <a:xfrm>
            <a:off x="1378693" y="4608576"/>
            <a:ext cx="1133856" cy="658368"/>
          </a:xfrm>
          <a:prstGeom prst="roundRect">
            <a:avLst>
              <a:gd name="adj" fmla="val 6944"/>
            </a:avLst>
          </a:prstGeom>
          <a:solidFill>
            <a:srgbClr val="F2F2F2"/>
          </a:solidFill>
          <a:ln/>
        </p:spPr>
      </p:sp>
      <p:sp>
        <p:nvSpPr>
          <p:cNvPr id="17" name="Text 15"/>
          <p:cNvSpPr txBox="1"/>
          <p:nvPr/>
        </p:nvSpPr>
        <p:spPr>
          <a:xfrm>
            <a:off x="1378693" y="4608576"/>
            <a:ext cx="1133856" cy="65836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sayfa 9</a:t>
            </a:r>
            <a:endParaRPr lang="tr-TR" sz="1300" dirty="0"/>
          </a:p>
          <a:p>
            <a:pPr algn="ctr" indent="0" marL="0">
              <a:buNone/>
            </a:pPr>
            <a:r>
              <a:rPr lang="tr-TR" sz="1100" dirty="0">
                <a:solidFill>
                  <a:srgbClr val="212121"/>
                </a:solidFill>
                <a:latin typeface="Calibri" pitchFamily="34" charset="0"/>
                <a:ea typeface="Calibri" pitchFamily="34" charset="-122"/>
                <a:cs typeface="Calibri" pitchFamily="34" charset="-120"/>
              </a:rPr>
              <a:t>R = 0</a:t>
            </a:r>
            <a:endParaRPr lang="tr-TR" sz="1300" dirty="0"/>
          </a:p>
        </p:txBody>
      </p:sp>
      <p:sp>
        <p:nvSpPr>
          <p:cNvPr id="18" name="Shape 16"/>
          <p:cNvSpPr/>
          <p:nvPr/>
        </p:nvSpPr>
        <p:spPr>
          <a:xfrm>
            <a:off x="1378693" y="3054096"/>
            <a:ext cx="1133856" cy="658368"/>
          </a:xfrm>
          <a:prstGeom prst="roundRect">
            <a:avLst>
              <a:gd name="adj" fmla="val 6944"/>
            </a:avLst>
          </a:prstGeom>
          <a:solidFill>
            <a:srgbClr val="F2F2F2"/>
          </a:solidFill>
          <a:ln/>
        </p:spPr>
      </p:sp>
      <p:sp>
        <p:nvSpPr>
          <p:cNvPr id="19" name="Text 17"/>
          <p:cNvSpPr txBox="1"/>
          <p:nvPr/>
        </p:nvSpPr>
        <p:spPr>
          <a:xfrm>
            <a:off x="1378693" y="3054096"/>
            <a:ext cx="1133856" cy="658368"/>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sayfa 2</a:t>
            </a:r>
            <a:endParaRPr lang="tr-TR" sz="1300" dirty="0"/>
          </a:p>
          <a:p>
            <a:pPr algn="ctr" indent="0" marL="0">
              <a:buNone/>
            </a:pPr>
            <a:r>
              <a:rPr lang="tr-TR" sz="1100" dirty="0">
                <a:solidFill>
                  <a:srgbClr val="212121"/>
                </a:solidFill>
                <a:latin typeface="Calibri" pitchFamily="34" charset="0"/>
                <a:ea typeface="Calibri" pitchFamily="34" charset="-122"/>
                <a:cs typeface="Calibri" pitchFamily="34" charset="-120"/>
              </a:rPr>
              <a:t>R = 1</a:t>
            </a:r>
            <a:endParaRPr lang="tr-TR" sz="1300" dirty="0"/>
          </a:p>
        </p:txBody>
      </p:sp>
      <p:sp>
        <p:nvSpPr>
          <p:cNvPr id="20" name="Shape 18"/>
          <p:cNvSpPr/>
          <p:nvPr/>
        </p:nvSpPr>
        <p:spPr>
          <a:xfrm flipV="1">
            <a:off x="3291840" y="3017520"/>
            <a:ext cx="45720" cy="1143000"/>
          </a:xfrm>
          <a:prstGeom prst="line">
            <a:avLst/>
          </a:prstGeom>
          <a:noFill/>
          <a:ln w="38100">
            <a:solidFill>
              <a:srgbClr val="028090"/>
            </a:solidFill>
            <a:prstDash val="solid"/>
            <a:tailEnd type="triangle"/>
          </a:ln>
        </p:spPr>
      </p:sp>
      <p:sp>
        <p:nvSpPr>
          <p:cNvPr id="21" name="Shape 19"/>
          <p:cNvSpPr/>
          <p:nvPr/>
        </p:nvSpPr>
        <p:spPr>
          <a:xfrm flipV="1">
            <a:off x="3291840" y="3429000"/>
            <a:ext cx="1005840" cy="731520"/>
          </a:xfrm>
          <a:prstGeom prst="line">
            <a:avLst/>
          </a:prstGeom>
          <a:noFill/>
          <a:ln w="19050">
            <a:solidFill>
              <a:srgbClr val="028090"/>
            </a:solidFill>
            <a:prstDash val="solid"/>
            <a:tailEnd type="triangle"/>
          </a:ln>
        </p:spPr>
      </p:sp>
      <p:sp>
        <p:nvSpPr>
          <p:cNvPr id="22" name="Shape 20"/>
          <p:cNvSpPr/>
          <p:nvPr/>
        </p:nvSpPr>
        <p:spPr>
          <a:xfrm>
            <a:off x="3182112" y="4050792"/>
            <a:ext cx="219456" cy="219456"/>
          </a:xfrm>
          <a:prstGeom prst="ellipse">
            <a:avLst/>
          </a:prstGeom>
          <a:solidFill>
            <a:srgbClr val="028090"/>
          </a:solidFill>
          <a:ln/>
        </p:spPr>
      </p:sp>
      <p:sp>
        <p:nvSpPr>
          <p:cNvPr id="23" name="Text 21"/>
          <p:cNvSpPr txBox="1"/>
          <p:nvPr/>
        </p:nvSpPr>
        <p:spPr>
          <a:xfrm>
            <a:off x="2514600" y="4069080"/>
            <a:ext cx="640080" cy="274320"/>
          </a:xfrm>
          <a:prstGeom prst="rect">
            <a:avLst/>
          </a:prstGeom>
          <a:noFill/>
          <a:ln/>
        </p:spPr>
        <p:txBody>
          <a:bodyPr wrap="square" lIns="0" tIns="0" rIns="0" bIns="0" rtlCol="0" anchor="t"/>
          <a:lstStyle/>
          <a:p>
            <a:pPr algn="r" indent="0" marL="0">
              <a:buNone/>
            </a:pPr>
            <a:r>
              <a:rPr lang="tr-TR" sz="1100" i="1" dirty="0">
                <a:solidFill>
                  <a:srgbClr val="028090"/>
                </a:solidFill>
                <a:latin typeface="Calibri" pitchFamily="34" charset="0"/>
                <a:ea typeface="Calibri" pitchFamily="34" charset="-122"/>
                <a:cs typeface="Calibri" pitchFamily="34" charset="-120"/>
              </a:rPr>
              <a:t>ibre</a:t>
            </a:r>
            <a:endParaRPr lang="tr-TR" sz="1100" dirty="0"/>
          </a:p>
        </p:txBody>
      </p:sp>
      <p:sp>
        <p:nvSpPr>
          <p:cNvPr id="24" name="Shape 22"/>
          <p:cNvSpPr/>
          <p:nvPr/>
        </p:nvSpPr>
        <p:spPr>
          <a:xfrm>
            <a:off x="6400800" y="2103120"/>
            <a:ext cx="525780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sp>
      <p:sp>
        <p:nvSpPr>
          <p:cNvPr id="25" name="Text 23"/>
          <p:cNvSpPr txBox="1"/>
          <p:nvPr/>
        </p:nvSpPr>
        <p:spPr>
          <a:xfrm>
            <a:off x="6629400" y="2286000"/>
            <a:ext cx="48006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Algoritma</a:t>
            </a:r>
            <a:endParaRPr lang="tr-TR" sz="1500" dirty="0"/>
          </a:p>
        </p:txBody>
      </p:sp>
      <p:sp>
        <p:nvSpPr>
          <p:cNvPr id="26" name="Text 24"/>
          <p:cNvSpPr txBox="1"/>
          <p:nvPr/>
        </p:nvSpPr>
        <p:spPr>
          <a:xfrm>
            <a:off x="6629400" y="2743200"/>
            <a:ext cx="4800600" cy="338328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Çerçeveler bir çember oluşturur; bir "saat ibresi" sıradaki adayı gösterir.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R = 1:</a:t>
            </a:r>
            <a:r>
              <a:rPr lang="tr-TR" sz="1400" dirty="0">
                <a:solidFill>
                  <a:srgbClr val="3A464C"/>
                </a:solidFill>
                <a:latin typeface="Calibri" pitchFamily="34" charset="0"/>
                <a:ea typeface="Calibri" pitchFamily="34" charset="-122"/>
                <a:cs typeface="Calibri" pitchFamily="34" charset="-120"/>
              </a:rPr>
              <a:t> ikinci bir şans ver: R'yi 0 yap, ilerle.</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R = 0:</a:t>
            </a:r>
            <a:r>
              <a:rPr lang="tr-TR" sz="1400" dirty="0">
                <a:solidFill>
                  <a:srgbClr val="3A464C"/>
                </a:solidFill>
                <a:latin typeface="Calibri" pitchFamily="34" charset="0"/>
                <a:ea typeface="Calibri" pitchFamily="34" charset="-122"/>
                <a:cs typeface="Calibri" pitchFamily="34" charset="-120"/>
              </a:rPr>
              <a:t> yakın zamanda kullanılmamış → kurban budur.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Örnek:</a:t>
            </a:r>
            <a:r>
              <a:rPr lang="tr-TR" sz="1400" dirty="0">
                <a:solidFill>
                  <a:srgbClr val="3A464C"/>
                </a:solidFill>
                <a:latin typeface="Calibri" pitchFamily="34" charset="0"/>
                <a:ea typeface="Calibri" pitchFamily="34" charset="-122"/>
                <a:cs typeface="Calibri" pitchFamily="34" charset="-120"/>
              </a:rPr>
              <a:t> ibre 3. sayfada (R = 1): biti sıfırla, 7. sayfaya ilerle (R = 0): 7. sayfayı değiştir.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Bütün R'ler 1 ise ibre tam bir tur atar: FIFO.</a:t>
            </a:r>
            <a:endParaRPr lang="tr-TR"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BOŞA ÇALIŞMA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Boşa Çalışma: Yoğun Sayfalama, Gerçek İş Yok</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Bir sürecin çerçeve sayısı etkin olarak kullandığı sayfalardan azsa, süreç tekrar tekrar hata verir.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20</a:t>
            </a:r>
            <a:endParaRPr lang="tr-TR" sz="900" dirty="0"/>
          </a:p>
        </p:txBody>
      </p:sp>
      <p:graphicFrame>
        <p:nvGraphicFramePr>
          <p:cNvPr id="7" name="Chart 0" descr=""/>
          <p:cNvGraphicFramePr/>
          <p:nvPr/>
        </p:nvGraphicFramePr>
        <p:xfrm>
          <a:off x="548640" y="2103120"/>
          <a:ext cx="5852160" cy="37947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3291840" y="4480560"/>
            <a:ext cx="1828800" cy="320040"/>
          </a:xfrm>
          <a:prstGeom prst="rect">
            <a:avLst/>
          </a:prstGeom>
          <a:noFill/>
          <a:ln/>
        </p:spPr>
        <p:txBody>
          <a:bodyPr wrap="square" lIns="0" tIns="0" rIns="0" bIns="0" rtlCol="0" anchor="t"/>
          <a:lstStyle/>
          <a:p>
            <a:pPr algn="r" indent="0" marL="0">
              <a:buNone/>
            </a:pPr>
            <a:r>
              <a:rPr lang="tr-TR" sz="1400" b="1" dirty="0">
                <a:solidFill>
                  <a:srgbClr val="B5453A"/>
                </a:solidFill>
                <a:latin typeface="Calibri" pitchFamily="34" charset="0"/>
                <a:ea typeface="Calibri" pitchFamily="34" charset="-122"/>
                <a:cs typeface="Calibri" pitchFamily="34" charset="-120"/>
              </a:rPr>
              <a:t>boşa çalışma →</a:t>
            </a:r>
            <a:endParaRPr lang="tr-TR" sz="1400" dirty="0"/>
          </a:p>
        </p:txBody>
      </p:sp>
      <p:sp>
        <p:nvSpPr>
          <p:cNvPr id="9" name="Text 6"/>
          <p:cNvSpPr txBox="1"/>
          <p:nvPr/>
        </p:nvSpPr>
        <p:spPr>
          <a:xfrm>
            <a:off x="548640" y="5897880"/>
            <a:ext cx="5852160" cy="274320"/>
          </a:xfrm>
          <a:prstGeom prst="rect">
            <a:avLst/>
          </a:prstGeom>
          <a:noFill/>
          <a:ln/>
        </p:spPr>
        <p:txBody>
          <a:bodyPr wrap="square" lIns="0" tIns="0" rIns="0" bIns="0" rtlCol="0" anchor="t"/>
          <a:lstStyle/>
          <a:p>
            <a:pPr algn="ctr" indent="0" marL="0">
              <a:buNone/>
            </a:pPr>
            <a:r>
              <a:rPr lang="tr-TR" sz="1050" i="1" dirty="0">
                <a:solidFill>
                  <a:srgbClr val="6B7679"/>
                </a:solidFill>
                <a:latin typeface="Calibri" pitchFamily="34" charset="0"/>
                <a:ea typeface="Calibri" pitchFamily="34" charset="-122"/>
                <a:cs typeface="Calibri" pitchFamily="34" charset="-120"/>
              </a:rPr>
              <a:t>kavramsal eğri, ölçülmüş veri değildir</a:t>
            </a:r>
            <a:endParaRPr lang="tr-TR" sz="1050" dirty="0"/>
          </a:p>
        </p:txBody>
      </p:sp>
      <p:sp>
        <p:nvSpPr>
          <p:cNvPr id="10" name="Shape 7"/>
          <p:cNvSpPr/>
          <p:nvPr/>
        </p:nvSpPr>
        <p:spPr>
          <a:xfrm>
            <a:off x="6675120" y="2103120"/>
            <a:ext cx="498348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sp>
      <p:sp>
        <p:nvSpPr>
          <p:cNvPr id="11" name="Text 8"/>
          <p:cNvSpPr txBox="1"/>
          <p:nvPr/>
        </p:nvSpPr>
        <p:spPr>
          <a:xfrm>
            <a:off x="6903720" y="2286000"/>
            <a:ext cx="45262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Kısır döngü</a:t>
            </a:r>
            <a:endParaRPr lang="tr-TR" sz="1500" dirty="0"/>
          </a:p>
        </p:txBody>
      </p:sp>
      <p:sp>
        <p:nvSpPr>
          <p:cNvPr id="12" name="Text 9"/>
          <p:cNvSpPr txBox="1"/>
          <p:nvPr/>
        </p:nvSpPr>
        <p:spPr>
          <a:xfrm>
            <a:off x="6903720" y="2743200"/>
            <a:ext cx="4526280" cy="338328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Çok fazla süreç → her birine çok az çerçeve → çok sayıda sayfa hatası.</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Süreçler diski bekler → işlemci kullanımı düşer.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Saf bir zamanlayıcı boşta duran işlemciyi görür ve daha çok süreç kabul eder…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…bu da durumu kötüleştirir. Sistem zamanını hesaplamaya değil, sayfalamaya harcar.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Çare:</a:t>
            </a:r>
            <a:r>
              <a:rPr lang="tr-TR" sz="1400" dirty="0">
                <a:solidFill>
                  <a:srgbClr val="3A464C"/>
                </a:solidFill>
                <a:latin typeface="Calibri" pitchFamily="34" charset="0"/>
                <a:ea typeface="Calibri" pitchFamily="34" charset="-122"/>
                <a:cs typeface="Calibri" pitchFamily="34" charset="-120"/>
              </a:rPr>
              <a:t> çoklu programlama derecesini düşürmek (süreçleri askıya almak) ya da RAM eklemek.</a:t>
            </a:r>
            <a:endParaRPr lang="tr-TR"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BOŞA ÇALIŞMA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Çalışma Kümesi Modeli</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Çalışma kümesi (working set) WS(t, Δ) = son Δ başvuruda kullanılan farklı sayfaların kümesi. Programın yerelliğini izler.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21</a:t>
            </a:r>
            <a:endParaRPr lang="tr-TR" sz="900" dirty="0"/>
          </a:p>
        </p:txBody>
      </p:sp>
      <p:sp>
        <p:nvSpPr>
          <p:cNvPr id="7" name="Shape 5"/>
          <p:cNvSpPr/>
          <p:nvPr/>
        </p:nvSpPr>
        <p:spPr>
          <a:xfrm>
            <a:off x="566928" y="2606040"/>
            <a:ext cx="390730" cy="457200"/>
          </a:xfrm>
          <a:prstGeom prst="roundRect">
            <a:avLst>
              <a:gd name="adj" fmla="val 11701"/>
            </a:avLst>
          </a:prstGeom>
          <a:solidFill>
            <a:srgbClr val="D7E9E6"/>
          </a:solidFill>
          <a:ln/>
        </p:spPr>
      </p:sp>
      <p:sp>
        <p:nvSpPr>
          <p:cNvPr id="8" name="Text 6"/>
          <p:cNvSpPr txBox="1"/>
          <p:nvPr/>
        </p:nvSpPr>
        <p:spPr>
          <a:xfrm>
            <a:off x="566928" y="2606040"/>
            <a:ext cx="390730" cy="4572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2</a:t>
            </a:r>
            <a:endParaRPr lang="tr-TR" sz="1400" dirty="0"/>
          </a:p>
        </p:txBody>
      </p:sp>
      <p:sp>
        <p:nvSpPr>
          <p:cNvPr id="9" name="Shape 7"/>
          <p:cNvSpPr/>
          <p:nvPr/>
        </p:nvSpPr>
        <p:spPr>
          <a:xfrm>
            <a:off x="994234" y="2606040"/>
            <a:ext cx="390730" cy="457200"/>
          </a:xfrm>
          <a:prstGeom prst="roundRect">
            <a:avLst>
              <a:gd name="adj" fmla="val 11701"/>
            </a:avLst>
          </a:prstGeom>
          <a:solidFill>
            <a:srgbClr val="D7E9E6"/>
          </a:solidFill>
          <a:ln/>
        </p:spPr>
      </p:sp>
      <p:sp>
        <p:nvSpPr>
          <p:cNvPr id="10" name="Text 8"/>
          <p:cNvSpPr txBox="1"/>
          <p:nvPr/>
        </p:nvSpPr>
        <p:spPr>
          <a:xfrm>
            <a:off x="994234" y="2606040"/>
            <a:ext cx="390730" cy="4572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6</a:t>
            </a:r>
            <a:endParaRPr lang="tr-TR" sz="1400" dirty="0"/>
          </a:p>
        </p:txBody>
      </p:sp>
      <p:sp>
        <p:nvSpPr>
          <p:cNvPr id="11" name="Shape 9"/>
          <p:cNvSpPr/>
          <p:nvPr/>
        </p:nvSpPr>
        <p:spPr>
          <a:xfrm>
            <a:off x="1421540" y="2606040"/>
            <a:ext cx="390730" cy="457200"/>
          </a:xfrm>
          <a:prstGeom prst="roundRect">
            <a:avLst>
              <a:gd name="adj" fmla="val 11701"/>
            </a:avLst>
          </a:prstGeom>
          <a:solidFill>
            <a:srgbClr val="D7E9E6"/>
          </a:solidFill>
          <a:ln/>
        </p:spPr>
      </p:sp>
      <p:sp>
        <p:nvSpPr>
          <p:cNvPr id="12" name="Text 10"/>
          <p:cNvSpPr txBox="1"/>
          <p:nvPr/>
        </p:nvSpPr>
        <p:spPr>
          <a:xfrm>
            <a:off x="1421540" y="2606040"/>
            <a:ext cx="390730" cy="4572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1</a:t>
            </a:r>
            <a:endParaRPr lang="tr-TR" sz="1400" dirty="0"/>
          </a:p>
        </p:txBody>
      </p:sp>
      <p:sp>
        <p:nvSpPr>
          <p:cNvPr id="13" name="Shape 11"/>
          <p:cNvSpPr/>
          <p:nvPr/>
        </p:nvSpPr>
        <p:spPr>
          <a:xfrm>
            <a:off x="1848846" y="2606040"/>
            <a:ext cx="390730" cy="457200"/>
          </a:xfrm>
          <a:prstGeom prst="roundRect">
            <a:avLst>
              <a:gd name="adj" fmla="val 11701"/>
            </a:avLst>
          </a:prstGeom>
          <a:solidFill>
            <a:srgbClr val="D7E9E6"/>
          </a:solidFill>
          <a:ln/>
        </p:spPr>
      </p:sp>
      <p:sp>
        <p:nvSpPr>
          <p:cNvPr id="14" name="Text 12"/>
          <p:cNvSpPr txBox="1"/>
          <p:nvPr/>
        </p:nvSpPr>
        <p:spPr>
          <a:xfrm>
            <a:off x="1848846" y="2606040"/>
            <a:ext cx="390730" cy="4572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5</a:t>
            </a:r>
            <a:endParaRPr lang="tr-TR" sz="1400" dirty="0"/>
          </a:p>
        </p:txBody>
      </p:sp>
      <p:sp>
        <p:nvSpPr>
          <p:cNvPr id="15" name="Shape 13"/>
          <p:cNvSpPr/>
          <p:nvPr/>
        </p:nvSpPr>
        <p:spPr>
          <a:xfrm>
            <a:off x="2276153" y="2606040"/>
            <a:ext cx="390730" cy="457200"/>
          </a:xfrm>
          <a:prstGeom prst="roundRect">
            <a:avLst>
              <a:gd name="adj" fmla="val 11701"/>
            </a:avLst>
          </a:prstGeom>
          <a:solidFill>
            <a:srgbClr val="D7E9E6"/>
          </a:solidFill>
          <a:ln/>
        </p:spPr>
      </p:sp>
      <p:sp>
        <p:nvSpPr>
          <p:cNvPr id="16" name="Text 14"/>
          <p:cNvSpPr txBox="1"/>
          <p:nvPr/>
        </p:nvSpPr>
        <p:spPr>
          <a:xfrm>
            <a:off x="2276153" y="2606040"/>
            <a:ext cx="390730" cy="4572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7</a:t>
            </a:r>
            <a:endParaRPr lang="tr-TR" sz="1400" dirty="0"/>
          </a:p>
        </p:txBody>
      </p:sp>
      <p:sp>
        <p:nvSpPr>
          <p:cNvPr id="17" name="Shape 15"/>
          <p:cNvSpPr/>
          <p:nvPr/>
        </p:nvSpPr>
        <p:spPr>
          <a:xfrm>
            <a:off x="2703459" y="2606040"/>
            <a:ext cx="390730" cy="457200"/>
          </a:xfrm>
          <a:prstGeom prst="roundRect">
            <a:avLst>
              <a:gd name="adj" fmla="val 11701"/>
            </a:avLst>
          </a:prstGeom>
          <a:solidFill>
            <a:srgbClr val="D7E9E6"/>
          </a:solidFill>
          <a:ln/>
        </p:spPr>
      </p:sp>
      <p:sp>
        <p:nvSpPr>
          <p:cNvPr id="18" name="Text 16"/>
          <p:cNvSpPr txBox="1"/>
          <p:nvPr/>
        </p:nvSpPr>
        <p:spPr>
          <a:xfrm>
            <a:off x="2703459" y="2606040"/>
            <a:ext cx="390730" cy="4572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7</a:t>
            </a:r>
            <a:endParaRPr lang="tr-TR" sz="1400" dirty="0"/>
          </a:p>
        </p:txBody>
      </p:sp>
      <p:sp>
        <p:nvSpPr>
          <p:cNvPr id="19" name="Shape 17"/>
          <p:cNvSpPr/>
          <p:nvPr/>
        </p:nvSpPr>
        <p:spPr>
          <a:xfrm>
            <a:off x="3130765" y="2606040"/>
            <a:ext cx="390730" cy="457200"/>
          </a:xfrm>
          <a:prstGeom prst="roundRect">
            <a:avLst>
              <a:gd name="adj" fmla="val 11701"/>
            </a:avLst>
          </a:prstGeom>
          <a:solidFill>
            <a:srgbClr val="D7E9E6"/>
          </a:solidFill>
          <a:ln/>
        </p:spPr>
      </p:sp>
      <p:sp>
        <p:nvSpPr>
          <p:cNvPr id="20" name="Text 18"/>
          <p:cNvSpPr txBox="1"/>
          <p:nvPr/>
        </p:nvSpPr>
        <p:spPr>
          <a:xfrm>
            <a:off x="3130765" y="2606040"/>
            <a:ext cx="390730" cy="4572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7</a:t>
            </a:r>
            <a:endParaRPr lang="tr-TR" sz="1400" dirty="0"/>
          </a:p>
        </p:txBody>
      </p:sp>
      <p:sp>
        <p:nvSpPr>
          <p:cNvPr id="21" name="Shape 19"/>
          <p:cNvSpPr/>
          <p:nvPr/>
        </p:nvSpPr>
        <p:spPr>
          <a:xfrm>
            <a:off x="3558071" y="2606040"/>
            <a:ext cx="390730" cy="457200"/>
          </a:xfrm>
          <a:prstGeom prst="roundRect">
            <a:avLst>
              <a:gd name="adj" fmla="val 11701"/>
            </a:avLst>
          </a:prstGeom>
          <a:solidFill>
            <a:srgbClr val="D7E9E6"/>
          </a:solidFill>
          <a:ln/>
        </p:spPr>
      </p:sp>
      <p:sp>
        <p:nvSpPr>
          <p:cNvPr id="22" name="Text 20"/>
          <p:cNvSpPr txBox="1"/>
          <p:nvPr/>
        </p:nvSpPr>
        <p:spPr>
          <a:xfrm>
            <a:off x="3558071" y="2606040"/>
            <a:ext cx="390730" cy="4572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7</a:t>
            </a:r>
            <a:endParaRPr lang="tr-TR" sz="1400" dirty="0"/>
          </a:p>
        </p:txBody>
      </p:sp>
      <p:sp>
        <p:nvSpPr>
          <p:cNvPr id="23" name="Shape 21"/>
          <p:cNvSpPr/>
          <p:nvPr/>
        </p:nvSpPr>
        <p:spPr>
          <a:xfrm>
            <a:off x="3985377" y="2606040"/>
            <a:ext cx="390730" cy="457200"/>
          </a:xfrm>
          <a:prstGeom prst="roundRect">
            <a:avLst>
              <a:gd name="adj" fmla="val 11701"/>
            </a:avLst>
          </a:prstGeom>
          <a:solidFill>
            <a:srgbClr val="D7E9E6"/>
          </a:solidFill>
          <a:ln/>
        </p:spPr>
      </p:sp>
      <p:sp>
        <p:nvSpPr>
          <p:cNvPr id="24" name="Text 22"/>
          <p:cNvSpPr txBox="1"/>
          <p:nvPr/>
        </p:nvSpPr>
        <p:spPr>
          <a:xfrm>
            <a:off x="3985377" y="2606040"/>
            <a:ext cx="390730" cy="4572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5</a:t>
            </a:r>
            <a:endParaRPr lang="tr-TR" sz="1400" dirty="0"/>
          </a:p>
        </p:txBody>
      </p:sp>
      <p:sp>
        <p:nvSpPr>
          <p:cNvPr id="25" name="Shape 23"/>
          <p:cNvSpPr/>
          <p:nvPr/>
        </p:nvSpPr>
        <p:spPr>
          <a:xfrm>
            <a:off x="4412683" y="2606040"/>
            <a:ext cx="390730" cy="457200"/>
          </a:xfrm>
          <a:prstGeom prst="roundRect">
            <a:avLst>
              <a:gd name="adj" fmla="val 11701"/>
            </a:avLst>
          </a:prstGeom>
          <a:solidFill>
            <a:srgbClr val="D7E9E6"/>
          </a:solidFill>
          <a:ln/>
        </p:spPr>
      </p:sp>
      <p:sp>
        <p:nvSpPr>
          <p:cNvPr id="26" name="Text 24"/>
          <p:cNvSpPr txBox="1"/>
          <p:nvPr/>
        </p:nvSpPr>
        <p:spPr>
          <a:xfrm>
            <a:off x="4412683" y="2606040"/>
            <a:ext cx="390730" cy="4572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1</a:t>
            </a:r>
            <a:endParaRPr lang="tr-TR" sz="1400" dirty="0"/>
          </a:p>
        </p:txBody>
      </p:sp>
      <p:sp>
        <p:nvSpPr>
          <p:cNvPr id="27" name="Shape 25"/>
          <p:cNvSpPr/>
          <p:nvPr/>
        </p:nvSpPr>
        <p:spPr>
          <a:xfrm>
            <a:off x="4839990" y="2606040"/>
            <a:ext cx="390730" cy="457200"/>
          </a:xfrm>
          <a:prstGeom prst="roundRect">
            <a:avLst>
              <a:gd name="adj" fmla="val 11701"/>
            </a:avLst>
          </a:prstGeom>
          <a:solidFill>
            <a:srgbClr val="F2F2F2"/>
          </a:solidFill>
          <a:ln/>
        </p:spPr>
      </p:sp>
      <p:sp>
        <p:nvSpPr>
          <p:cNvPr id="28" name="Text 26"/>
          <p:cNvSpPr txBox="1"/>
          <p:nvPr/>
        </p:nvSpPr>
        <p:spPr>
          <a:xfrm>
            <a:off x="4839990" y="2606040"/>
            <a:ext cx="390730" cy="4572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6</a:t>
            </a:r>
            <a:endParaRPr lang="tr-TR" sz="1400" dirty="0"/>
          </a:p>
        </p:txBody>
      </p:sp>
      <p:sp>
        <p:nvSpPr>
          <p:cNvPr id="29" name="Shape 27"/>
          <p:cNvSpPr/>
          <p:nvPr/>
        </p:nvSpPr>
        <p:spPr>
          <a:xfrm>
            <a:off x="5267296" y="2606040"/>
            <a:ext cx="390730" cy="457200"/>
          </a:xfrm>
          <a:prstGeom prst="roundRect">
            <a:avLst>
              <a:gd name="adj" fmla="val 11701"/>
            </a:avLst>
          </a:prstGeom>
          <a:solidFill>
            <a:srgbClr val="F2F2F2"/>
          </a:solidFill>
          <a:ln/>
        </p:spPr>
      </p:sp>
      <p:sp>
        <p:nvSpPr>
          <p:cNvPr id="30" name="Text 28"/>
          <p:cNvSpPr txBox="1"/>
          <p:nvPr/>
        </p:nvSpPr>
        <p:spPr>
          <a:xfrm>
            <a:off x="5267296" y="2606040"/>
            <a:ext cx="390730" cy="4572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2</a:t>
            </a:r>
            <a:endParaRPr lang="tr-TR" sz="1400" dirty="0"/>
          </a:p>
        </p:txBody>
      </p:sp>
      <p:sp>
        <p:nvSpPr>
          <p:cNvPr id="31" name="Shape 29"/>
          <p:cNvSpPr/>
          <p:nvPr/>
        </p:nvSpPr>
        <p:spPr>
          <a:xfrm>
            <a:off x="5694602" y="2606040"/>
            <a:ext cx="390730" cy="457200"/>
          </a:xfrm>
          <a:prstGeom prst="roundRect">
            <a:avLst>
              <a:gd name="adj" fmla="val 11701"/>
            </a:avLst>
          </a:prstGeom>
          <a:solidFill>
            <a:srgbClr val="F2F2F2"/>
          </a:solidFill>
          <a:ln/>
        </p:spPr>
      </p:sp>
      <p:sp>
        <p:nvSpPr>
          <p:cNvPr id="32" name="Text 30"/>
          <p:cNvSpPr txBox="1"/>
          <p:nvPr/>
        </p:nvSpPr>
        <p:spPr>
          <a:xfrm>
            <a:off x="5694602" y="2606040"/>
            <a:ext cx="390730" cy="4572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3</a:t>
            </a:r>
            <a:endParaRPr lang="tr-TR" sz="1400" dirty="0"/>
          </a:p>
        </p:txBody>
      </p:sp>
      <p:sp>
        <p:nvSpPr>
          <p:cNvPr id="33" name="Shape 31"/>
          <p:cNvSpPr/>
          <p:nvPr/>
        </p:nvSpPr>
        <p:spPr>
          <a:xfrm>
            <a:off x="6121908" y="2606040"/>
            <a:ext cx="390730" cy="457200"/>
          </a:xfrm>
          <a:prstGeom prst="roundRect">
            <a:avLst>
              <a:gd name="adj" fmla="val 11701"/>
            </a:avLst>
          </a:prstGeom>
          <a:solidFill>
            <a:srgbClr val="F2F2F2"/>
          </a:solidFill>
          <a:ln/>
        </p:spPr>
      </p:sp>
      <p:sp>
        <p:nvSpPr>
          <p:cNvPr id="34" name="Text 32"/>
          <p:cNvSpPr txBox="1"/>
          <p:nvPr/>
        </p:nvSpPr>
        <p:spPr>
          <a:xfrm>
            <a:off x="6121908" y="2606040"/>
            <a:ext cx="390730" cy="4572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4</a:t>
            </a:r>
            <a:endParaRPr lang="tr-TR" sz="1400" dirty="0"/>
          </a:p>
        </p:txBody>
      </p:sp>
      <p:sp>
        <p:nvSpPr>
          <p:cNvPr id="35" name="Shape 33"/>
          <p:cNvSpPr/>
          <p:nvPr/>
        </p:nvSpPr>
        <p:spPr>
          <a:xfrm>
            <a:off x="6549214" y="2606040"/>
            <a:ext cx="390730" cy="457200"/>
          </a:xfrm>
          <a:prstGeom prst="roundRect">
            <a:avLst>
              <a:gd name="adj" fmla="val 11701"/>
            </a:avLst>
          </a:prstGeom>
          <a:solidFill>
            <a:srgbClr val="F2F2F2"/>
          </a:solidFill>
          <a:ln/>
        </p:spPr>
      </p:sp>
      <p:sp>
        <p:nvSpPr>
          <p:cNvPr id="36" name="Text 34"/>
          <p:cNvSpPr txBox="1"/>
          <p:nvPr/>
        </p:nvSpPr>
        <p:spPr>
          <a:xfrm>
            <a:off x="6549214" y="2606040"/>
            <a:ext cx="390730" cy="4572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1</a:t>
            </a:r>
            <a:endParaRPr lang="tr-TR" sz="1400" dirty="0"/>
          </a:p>
        </p:txBody>
      </p:sp>
      <p:sp>
        <p:nvSpPr>
          <p:cNvPr id="37" name="Shape 35"/>
          <p:cNvSpPr/>
          <p:nvPr/>
        </p:nvSpPr>
        <p:spPr>
          <a:xfrm>
            <a:off x="6976520" y="2606040"/>
            <a:ext cx="390730" cy="457200"/>
          </a:xfrm>
          <a:prstGeom prst="roundRect">
            <a:avLst>
              <a:gd name="adj" fmla="val 11701"/>
            </a:avLst>
          </a:prstGeom>
          <a:solidFill>
            <a:srgbClr val="F2F2F2"/>
          </a:solidFill>
          <a:ln/>
        </p:spPr>
      </p:sp>
      <p:sp>
        <p:nvSpPr>
          <p:cNvPr id="38" name="Text 36"/>
          <p:cNvSpPr txBox="1"/>
          <p:nvPr/>
        </p:nvSpPr>
        <p:spPr>
          <a:xfrm>
            <a:off x="6976520" y="2606040"/>
            <a:ext cx="390730" cy="4572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2</a:t>
            </a:r>
            <a:endParaRPr lang="tr-TR" sz="1400" dirty="0"/>
          </a:p>
        </p:txBody>
      </p:sp>
      <p:sp>
        <p:nvSpPr>
          <p:cNvPr id="39" name="Shape 37"/>
          <p:cNvSpPr/>
          <p:nvPr/>
        </p:nvSpPr>
        <p:spPr>
          <a:xfrm>
            <a:off x="7403826" y="2606040"/>
            <a:ext cx="390730" cy="457200"/>
          </a:xfrm>
          <a:prstGeom prst="roundRect">
            <a:avLst>
              <a:gd name="adj" fmla="val 11701"/>
            </a:avLst>
          </a:prstGeom>
          <a:solidFill>
            <a:srgbClr val="D7E9E6"/>
          </a:solidFill>
          <a:ln/>
        </p:spPr>
      </p:sp>
      <p:sp>
        <p:nvSpPr>
          <p:cNvPr id="40" name="Text 38"/>
          <p:cNvSpPr txBox="1"/>
          <p:nvPr/>
        </p:nvSpPr>
        <p:spPr>
          <a:xfrm>
            <a:off x="7403826" y="2606040"/>
            <a:ext cx="390730" cy="4572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3</a:t>
            </a:r>
            <a:endParaRPr lang="tr-TR" sz="1400" dirty="0"/>
          </a:p>
        </p:txBody>
      </p:sp>
      <p:sp>
        <p:nvSpPr>
          <p:cNvPr id="41" name="Shape 39"/>
          <p:cNvSpPr/>
          <p:nvPr/>
        </p:nvSpPr>
        <p:spPr>
          <a:xfrm>
            <a:off x="7831133" y="2606040"/>
            <a:ext cx="390730" cy="457200"/>
          </a:xfrm>
          <a:prstGeom prst="roundRect">
            <a:avLst>
              <a:gd name="adj" fmla="val 11701"/>
            </a:avLst>
          </a:prstGeom>
          <a:solidFill>
            <a:srgbClr val="D7E9E6"/>
          </a:solidFill>
          <a:ln/>
        </p:spPr>
      </p:sp>
      <p:sp>
        <p:nvSpPr>
          <p:cNvPr id="42" name="Text 40"/>
          <p:cNvSpPr txBox="1"/>
          <p:nvPr/>
        </p:nvSpPr>
        <p:spPr>
          <a:xfrm>
            <a:off x="7831133" y="2606040"/>
            <a:ext cx="390730" cy="4572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4</a:t>
            </a:r>
            <a:endParaRPr lang="tr-TR" sz="1400" dirty="0"/>
          </a:p>
        </p:txBody>
      </p:sp>
      <p:sp>
        <p:nvSpPr>
          <p:cNvPr id="43" name="Shape 41"/>
          <p:cNvSpPr/>
          <p:nvPr/>
        </p:nvSpPr>
        <p:spPr>
          <a:xfrm>
            <a:off x="8258439" y="2606040"/>
            <a:ext cx="390730" cy="457200"/>
          </a:xfrm>
          <a:prstGeom prst="roundRect">
            <a:avLst>
              <a:gd name="adj" fmla="val 11701"/>
            </a:avLst>
          </a:prstGeom>
          <a:solidFill>
            <a:srgbClr val="D7E9E6"/>
          </a:solidFill>
          <a:ln/>
        </p:spPr>
      </p:sp>
      <p:sp>
        <p:nvSpPr>
          <p:cNvPr id="44" name="Text 42"/>
          <p:cNvSpPr txBox="1"/>
          <p:nvPr/>
        </p:nvSpPr>
        <p:spPr>
          <a:xfrm>
            <a:off x="8258439" y="2606040"/>
            <a:ext cx="390730" cy="4572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4</a:t>
            </a:r>
            <a:endParaRPr lang="tr-TR" sz="1400" dirty="0"/>
          </a:p>
        </p:txBody>
      </p:sp>
      <p:sp>
        <p:nvSpPr>
          <p:cNvPr id="45" name="Shape 43"/>
          <p:cNvSpPr/>
          <p:nvPr/>
        </p:nvSpPr>
        <p:spPr>
          <a:xfrm>
            <a:off x="8685745" y="2606040"/>
            <a:ext cx="390730" cy="457200"/>
          </a:xfrm>
          <a:prstGeom prst="roundRect">
            <a:avLst>
              <a:gd name="adj" fmla="val 11701"/>
            </a:avLst>
          </a:prstGeom>
          <a:solidFill>
            <a:srgbClr val="D7E9E6"/>
          </a:solidFill>
          <a:ln/>
        </p:spPr>
      </p:sp>
      <p:sp>
        <p:nvSpPr>
          <p:cNvPr id="46" name="Text 44"/>
          <p:cNvSpPr txBox="1"/>
          <p:nvPr/>
        </p:nvSpPr>
        <p:spPr>
          <a:xfrm>
            <a:off x="8685745" y="2606040"/>
            <a:ext cx="390730" cy="4572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4</a:t>
            </a:r>
            <a:endParaRPr lang="tr-TR" sz="1400" dirty="0"/>
          </a:p>
        </p:txBody>
      </p:sp>
      <p:sp>
        <p:nvSpPr>
          <p:cNvPr id="47" name="Shape 45"/>
          <p:cNvSpPr/>
          <p:nvPr/>
        </p:nvSpPr>
        <p:spPr>
          <a:xfrm>
            <a:off x="9113051" y="2606040"/>
            <a:ext cx="390730" cy="457200"/>
          </a:xfrm>
          <a:prstGeom prst="roundRect">
            <a:avLst>
              <a:gd name="adj" fmla="val 11701"/>
            </a:avLst>
          </a:prstGeom>
          <a:solidFill>
            <a:srgbClr val="D7E9E6"/>
          </a:solidFill>
          <a:ln/>
        </p:spPr>
      </p:sp>
      <p:sp>
        <p:nvSpPr>
          <p:cNvPr id="48" name="Text 46"/>
          <p:cNvSpPr txBox="1"/>
          <p:nvPr/>
        </p:nvSpPr>
        <p:spPr>
          <a:xfrm>
            <a:off x="9113051" y="2606040"/>
            <a:ext cx="390730" cy="4572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3</a:t>
            </a:r>
            <a:endParaRPr lang="tr-TR" sz="1400" dirty="0"/>
          </a:p>
        </p:txBody>
      </p:sp>
      <p:sp>
        <p:nvSpPr>
          <p:cNvPr id="49" name="Shape 47"/>
          <p:cNvSpPr/>
          <p:nvPr/>
        </p:nvSpPr>
        <p:spPr>
          <a:xfrm>
            <a:off x="9540357" y="2606040"/>
            <a:ext cx="390730" cy="457200"/>
          </a:xfrm>
          <a:prstGeom prst="roundRect">
            <a:avLst>
              <a:gd name="adj" fmla="val 11701"/>
            </a:avLst>
          </a:prstGeom>
          <a:solidFill>
            <a:srgbClr val="D7E9E6"/>
          </a:solidFill>
          <a:ln/>
        </p:spPr>
      </p:sp>
      <p:sp>
        <p:nvSpPr>
          <p:cNvPr id="50" name="Text 48"/>
          <p:cNvSpPr txBox="1"/>
          <p:nvPr/>
        </p:nvSpPr>
        <p:spPr>
          <a:xfrm>
            <a:off x="9540357" y="2606040"/>
            <a:ext cx="390730" cy="4572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4</a:t>
            </a:r>
            <a:endParaRPr lang="tr-TR" sz="1400" dirty="0"/>
          </a:p>
        </p:txBody>
      </p:sp>
      <p:sp>
        <p:nvSpPr>
          <p:cNvPr id="51" name="Shape 49"/>
          <p:cNvSpPr/>
          <p:nvPr/>
        </p:nvSpPr>
        <p:spPr>
          <a:xfrm>
            <a:off x="9967663" y="2606040"/>
            <a:ext cx="390730" cy="457200"/>
          </a:xfrm>
          <a:prstGeom prst="roundRect">
            <a:avLst>
              <a:gd name="adj" fmla="val 11701"/>
            </a:avLst>
          </a:prstGeom>
          <a:solidFill>
            <a:srgbClr val="D7E9E6"/>
          </a:solidFill>
          <a:ln/>
        </p:spPr>
      </p:sp>
      <p:sp>
        <p:nvSpPr>
          <p:cNvPr id="52" name="Text 50"/>
          <p:cNvSpPr txBox="1"/>
          <p:nvPr/>
        </p:nvSpPr>
        <p:spPr>
          <a:xfrm>
            <a:off x="9967663" y="2606040"/>
            <a:ext cx="390730" cy="4572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3</a:t>
            </a:r>
            <a:endParaRPr lang="tr-TR" sz="1400" dirty="0"/>
          </a:p>
        </p:txBody>
      </p:sp>
      <p:sp>
        <p:nvSpPr>
          <p:cNvPr id="53" name="Shape 51"/>
          <p:cNvSpPr/>
          <p:nvPr/>
        </p:nvSpPr>
        <p:spPr>
          <a:xfrm>
            <a:off x="10394970" y="2606040"/>
            <a:ext cx="390730" cy="457200"/>
          </a:xfrm>
          <a:prstGeom prst="roundRect">
            <a:avLst>
              <a:gd name="adj" fmla="val 11701"/>
            </a:avLst>
          </a:prstGeom>
          <a:solidFill>
            <a:srgbClr val="D7E9E6"/>
          </a:solidFill>
          <a:ln/>
        </p:spPr>
      </p:sp>
      <p:sp>
        <p:nvSpPr>
          <p:cNvPr id="54" name="Text 52"/>
          <p:cNvSpPr txBox="1"/>
          <p:nvPr/>
        </p:nvSpPr>
        <p:spPr>
          <a:xfrm>
            <a:off x="10394970" y="2606040"/>
            <a:ext cx="390730" cy="4572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4</a:t>
            </a:r>
            <a:endParaRPr lang="tr-TR" sz="1400" dirty="0"/>
          </a:p>
        </p:txBody>
      </p:sp>
      <p:sp>
        <p:nvSpPr>
          <p:cNvPr id="55" name="Shape 53"/>
          <p:cNvSpPr/>
          <p:nvPr/>
        </p:nvSpPr>
        <p:spPr>
          <a:xfrm>
            <a:off x="10822276" y="2606040"/>
            <a:ext cx="390730" cy="457200"/>
          </a:xfrm>
          <a:prstGeom prst="roundRect">
            <a:avLst>
              <a:gd name="adj" fmla="val 11701"/>
            </a:avLst>
          </a:prstGeom>
          <a:solidFill>
            <a:srgbClr val="D7E9E6"/>
          </a:solidFill>
          <a:ln/>
        </p:spPr>
      </p:sp>
      <p:sp>
        <p:nvSpPr>
          <p:cNvPr id="56" name="Text 54"/>
          <p:cNvSpPr txBox="1"/>
          <p:nvPr/>
        </p:nvSpPr>
        <p:spPr>
          <a:xfrm>
            <a:off x="10822276" y="2606040"/>
            <a:ext cx="390730" cy="4572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4</a:t>
            </a:r>
            <a:endParaRPr lang="tr-TR" sz="1400" dirty="0"/>
          </a:p>
        </p:txBody>
      </p:sp>
      <p:sp>
        <p:nvSpPr>
          <p:cNvPr id="57" name="Shape 55"/>
          <p:cNvSpPr/>
          <p:nvPr/>
        </p:nvSpPr>
        <p:spPr>
          <a:xfrm>
            <a:off x="11249582" y="2606040"/>
            <a:ext cx="390730" cy="457200"/>
          </a:xfrm>
          <a:prstGeom prst="roundRect">
            <a:avLst>
              <a:gd name="adj" fmla="val 11701"/>
            </a:avLst>
          </a:prstGeom>
          <a:solidFill>
            <a:srgbClr val="D7E9E6"/>
          </a:solidFill>
          <a:ln/>
        </p:spPr>
      </p:sp>
      <p:sp>
        <p:nvSpPr>
          <p:cNvPr id="58" name="Text 56"/>
          <p:cNvSpPr txBox="1"/>
          <p:nvPr/>
        </p:nvSpPr>
        <p:spPr>
          <a:xfrm>
            <a:off x="11249582" y="2606040"/>
            <a:ext cx="390730" cy="4572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4</a:t>
            </a:r>
            <a:endParaRPr lang="tr-TR" sz="1400" dirty="0"/>
          </a:p>
        </p:txBody>
      </p:sp>
      <p:sp>
        <p:nvSpPr>
          <p:cNvPr id="59" name="Shape 57"/>
          <p:cNvSpPr/>
          <p:nvPr/>
        </p:nvSpPr>
        <p:spPr>
          <a:xfrm>
            <a:off x="576072" y="3291840"/>
            <a:ext cx="4218198" cy="91"/>
          </a:xfrm>
          <a:prstGeom prst="line">
            <a:avLst/>
          </a:prstGeom>
          <a:noFill/>
          <a:ln w="25400">
            <a:solidFill>
              <a:srgbClr val="028090"/>
            </a:solidFill>
            <a:prstDash val="solid"/>
          </a:ln>
        </p:spPr>
      </p:sp>
      <p:sp>
        <p:nvSpPr>
          <p:cNvPr id="60" name="Shape 58"/>
          <p:cNvSpPr/>
          <p:nvPr/>
        </p:nvSpPr>
        <p:spPr>
          <a:xfrm>
            <a:off x="576072" y="3182112"/>
            <a:ext cx="91" cy="109728"/>
          </a:xfrm>
          <a:prstGeom prst="line">
            <a:avLst/>
          </a:prstGeom>
          <a:noFill/>
          <a:ln w="25400">
            <a:solidFill>
              <a:srgbClr val="028090"/>
            </a:solidFill>
            <a:prstDash val="solid"/>
          </a:ln>
        </p:spPr>
      </p:sp>
      <p:sp>
        <p:nvSpPr>
          <p:cNvPr id="61" name="Shape 59"/>
          <p:cNvSpPr/>
          <p:nvPr/>
        </p:nvSpPr>
        <p:spPr>
          <a:xfrm>
            <a:off x="4794270" y="3182112"/>
            <a:ext cx="91" cy="109728"/>
          </a:xfrm>
          <a:prstGeom prst="line">
            <a:avLst/>
          </a:prstGeom>
          <a:noFill/>
          <a:ln w="25400">
            <a:solidFill>
              <a:srgbClr val="028090"/>
            </a:solidFill>
            <a:prstDash val="solid"/>
          </a:ln>
        </p:spPr>
      </p:sp>
      <p:sp>
        <p:nvSpPr>
          <p:cNvPr id="62" name="Text 60"/>
          <p:cNvSpPr txBox="1"/>
          <p:nvPr/>
        </p:nvSpPr>
        <p:spPr>
          <a:xfrm>
            <a:off x="548640" y="3337560"/>
            <a:ext cx="4273062" cy="365760"/>
          </a:xfrm>
          <a:prstGeom prst="rect">
            <a:avLst/>
          </a:prstGeom>
          <a:noFill/>
          <a:ln/>
        </p:spPr>
        <p:txBody>
          <a:bodyPr wrap="square" lIns="0" tIns="0" rIns="0" bIns="0" rtlCol="0" anchor="t"/>
          <a:lstStyle/>
          <a:p>
            <a:pPr algn="ctr" indent="0" marL="0">
              <a:buNone/>
            </a:pPr>
            <a:r>
              <a:rPr lang="tr-TR" sz="1400" b="1" dirty="0">
                <a:solidFill>
                  <a:srgbClr val="028090"/>
                </a:solidFill>
                <a:latin typeface="Calibri" pitchFamily="34" charset="0"/>
                <a:ea typeface="Calibri" pitchFamily="34" charset="-122"/>
                <a:cs typeface="Calibri" pitchFamily="34" charset="-120"/>
              </a:rPr>
              <a:t>Δ = 10   →   WS(t₁) = {1, 2, 5, 6, 7}</a:t>
            </a:r>
            <a:endParaRPr lang="tr-TR" sz="1400" dirty="0"/>
          </a:p>
        </p:txBody>
      </p:sp>
      <p:sp>
        <p:nvSpPr>
          <p:cNvPr id="63" name="Shape 61"/>
          <p:cNvSpPr/>
          <p:nvPr/>
        </p:nvSpPr>
        <p:spPr>
          <a:xfrm>
            <a:off x="7412970" y="3291840"/>
            <a:ext cx="4218198" cy="91"/>
          </a:xfrm>
          <a:prstGeom prst="line">
            <a:avLst/>
          </a:prstGeom>
          <a:noFill/>
          <a:ln w="25400">
            <a:solidFill>
              <a:srgbClr val="028090"/>
            </a:solidFill>
            <a:prstDash val="solid"/>
          </a:ln>
        </p:spPr>
      </p:sp>
      <p:sp>
        <p:nvSpPr>
          <p:cNvPr id="64" name="Shape 62"/>
          <p:cNvSpPr/>
          <p:nvPr/>
        </p:nvSpPr>
        <p:spPr>
          <a:xfrm>
            <a:off x="7412970" y="3182112"/>
            <a:ext cx="91" cy="109728"/>
          </a:xfrm>
          <a:prstGeom prst="line">
            <a:avLst/>
          </a:prstGeom>
          <a:noFill/>
          <a:ln w="25400">
            <a:solidFill>
              <a:srgbClr val="028090"/>
            </a:solidFill>
            <a:prstDash val="solid"/>
          </a:ln>
        </p:spPr>
      </p:sp>
      <p:sp>
        <p:nvSpPr>
          <p:cNvPr id="65" name="Shape 63"/>
          <p:cNvSpPr/>
          <p:nvPr/>
        </p:nvSpPr>
        <p:spPr>
          <a:xfrm>
            <a:off x="11631168" y="3182112"/>
            <a:ext cx="91" cy="109728"/>
          </a:xfrm>
          <a:prstGeom prst="line">
            <a:avLst/>
          </a:prstGeom>
          <a:noFill/>
          <a:ln w="25400">
            <a:solidFill>
              <a:srgbClr val="028090"/>
            </a:solidFill>
            <a:prstDash val="solid"/>
          </a:ln>
        </p:spPr>
      </p:sp>
      <p:sp>
        <p:nvSpPr>
          <p:cNvPr id="66" name="Text 64"/>
          <p:cNvSpPr txBox="1"/>
          <p:nvPr/>
        </p:nvSpPr>
        <p:spPr>
          <a:xfrm>
            <a:off x="7385538" y="3337560"/>
            <a:ext cx="4273062" cy="365760"/>
          </a:xfrm>
          <a:prstGeom prst="rect">
            <a:avLst/>
          </a:prstGeom>
          <a:noFill/>
          <a:ln/>
        </p:spPr>
        <p:txBody>
          <a:bodyPr wrap="square" lIns="0" tIns="0" rIns="0" bIns="0" rtlCol="0" anchor="t"/>
          <a:lstStyle/>
          <a:p>
            <a:pPr algn="ctr" indent="0" marL="0">
              <a:buNone/>
            </a:pPr>
            <a:r>
              <a:rPr lang="tr-TR" sz="1400" b="1" dirty="0">
                <a:solidFill>
                  <a:srgbClr val="028090"/>
                </a:solidFill>
                <a:latin typeface="Calibri" pitchFamily="34" charset="0"/>
                <a:ea typeface="Calibri" pitchFamily="34" charset="-122"/>
                <a:cs typeface="Calibri" pitchFamily="34" charset="-120"/>
              </a:rPr>
              <a:t>Δ = 10   →   WS(t₂) = {3, 4}</a:t>
            </a:r>
            <a:endParaRPr lang="tr-TR" sz="1400" dirty="0"/>
          </a:p>
        </p:txBody>
      </p:sp>
      <p:sp>
        <p:nvSpPr>
          <p:cNvPr id="67" name="Shape 65"/>
          <p:cNvSpPr/>
          <p:nvPr/>
        </p:nvSpPr>
        <p:spPr>
          <a:xfrm>
            <a:off x="4608048" y="2240280"/>
            <a:ext cx="91" cy="329184"/>
          </a:xfrm>
          <a:prstGeom prst="line">
            <a:avLst/>
          </a:prstGeom>
          <a:noFill/>
          <a:ln w="19050">
            <a:solidFill>
              <a:srgbClr val="36454F"/>
            </a:solidFill>
            <a:prstDash val="solid"/>
            <a:tailEnd type="triangle"/>
          </a:ln>
        </p:spPr>
      </p:sp>
      <p:sp>
        <p:nvSpPr>
          <p:cNvPr id="68" name="Text 66"/>
          <p:cNvSpPr txBox="1"/>
          <p:nvPr/>
        </p:nvSpPr>
        <p:spPr>
          <a:xfrm>
            <a:off x="4333728" y="1984248"/>
            <a:ext cx="548640" cy="274320"/>
          </a:xfrm>
          <a:prstGeom prst="rect">
            <a:avLst/>
          </a:prstGeom>
          <a:noFill/>
          <a:ln/>
        </p:spPr>
        <p:txBody>
          <a:bodyPr wrap="square" lIns="0" tIns="0" rIns="0" bIns="0" rtlCol="0" anchor="t"/>
          <a:lstStyle/>
          <a:p>
            <a:pPr algn="ctr" indent="0" marL="0">
              <a:buNone/>
            </a:pPr>
            <a:r>
              <a:rPr lang="tr-TR" sz="1300" b="1" dirty="0">
                <a:solidFill>
                  <a:srgbClr val="36454F"/>
                </a:solidFill>
                <a:latin typeface="Calibri" pitchFamily="34" charset="0"/>
                <a:ea typeface="Calibri" pitchFamily="34" charset="-122"/>
                <a:cs typeface="Calibri" pitchFamily="34" charset="-120"/>
              </a:rPr>
              <a:t>t₁</a:t>
            </a:r>
            <a:endParaRPr lang="tr-TR" sz="1300" dirty="0"/>
          </a:p>
        </p:txBody>
      </p:sp>
      <p:sp>
        <p:nvSpPr>
          <p:cNvPr id="69" name="Shape 67"/>
          <p:cNvSpPr/>
          <p:nvPr/>
        </p:nvSpPr>
        <p:spPr>
          <a:xfrm>
            <a:off x="11444947" y="2240280"/>
            <a:ext cx="91" cy="329184"/>
          </a:xfrm>
          <a:prstGeom prst="line">
            <a:avLst/>
          </a:prstGeom>
          <a:noFill/>
          <a:ln w="19050">
            <a:solidFill>
              <a:srgbClr val="36454F"/>
            </a:solidFill>
            <a:prstDash val="solid"/>
            <a:tailEnd type="triangle"/>
          </a:ln>
        </p:spPr>
      </p:sp>
      <p:sp>
        <p:nvSpPr>
          <p:cNvPr id="70" name="Text 68"/>
          <p:cNvSpPr txBox="1"/>
          <p:nvPr/>
        </p:nvSpPr>
        <p:spPr>
          <a:xfrm>
            <a:off x="11170627" y="1984248"/>
            <a:ext cx="548640" cy="274320"/>
          </a:xfrm>
          <a:prstGeom prst="rect">
            <a:avLst/>
          </a:prstGeom>
          <a:noFill/>
          <a:ln/>
        </p:spPr>
        <p:txBody>
          <a:bodyPr wrap="square" lIns="0" tIns="0" rIns="0" bIns="0" rtlCol="0" anchor="t"/>
          <a:lstStyle/>
          <a:p>
            <a:pPr algn="ctr" indent="0" marL="0">
              <a:buNone/>
            </a:pPr>
            <a:r>
              <a:rPr lang="tr-TR" sz="1300" b="1" dirty="0">
                <a:solidFill>
                  <a:srgbClr val="36454F"/>
                </a:solidFill>
                <a:latin typeface="Calibri" pitchFamily="34" charset="0"/>
                <a:ea typeface="Calibri" pitchFamily="34" charset="-122"/>
                <a:cs typeface="Calibri" pitchFamily="34" charset="-120"/>
              </a:rPr>
              <a:t>t₂</a:t>
            </a:r>
            <a:endParaRPr lang="tr-TR" sz="1300" dirty="0"/>
          </a:p>
        </p:txBody>
      </p:sp>
      <p:sp>
        <p:nvSpPr>
          <p:cNvPr id="71" name="Shape 69"/>
          <p:cNvSpPr/>
          <p:nvPr/>
        </p:nvSpPr>
        <p:spPr>
          <a:xfrm>
            <a:off x="548640" y="4023360"/>
            <a:ext cx="544068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sp>
      <p:sp>
        <p:nvSpPr>
          <p:cNvPr id="72" name="Text 70"/>
          <p:cNvSpPr txBox="1"/>
          <p:nvPr/>
        </p:nvSpPr>
        <p:spPr>
          <a:xfrm>
            <a:off x="777240" y="420624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İşletim sisteminin kuralı</a:t>
            </a:r>
            <a:endParaRPr lang="tr-TR" sz="1500" dirty="0"/>
          </a:p>
        </p:txBody>
      </p:sp>
      <p:sp>
        <p:nvSpPr>
          <p:cNvPr id="73" name="Text 71"/>
          <p:cNvSpPr txBox="1"/>
          <p:nvPr/>
        </p:nvSpPr>
        <p:spPr>
          <a:xfrm>
            <a:off x="777240" y="4663440"/>
            <a:ext cx="4983480" cy="146304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Her sürece en az |WS| çerçeve ver (çalışma kümesi boyutu).</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Toplam talep D = Σ |WSᵢ|. D &gt; çerçeve sayısı m ise boşa çalışma yaklaşıyor → bir süreci askıya al.</a:t>
            </a:r>
            <a:endParaRPr lang="tr-TR" sz="1400" dirty="0"/>
          </a:p>
        </p:txBody>
      </p:sp>
      <p:sp>
        <p:nvSpPr>
          <p:cNvPr id="74" name="Shape 72"/>
          <p:cNvSpPr/>
          <p:nvPr/>
        </p:nvSpPr>
        <p:spPr>
          <a:xfrm>
            <a:off x="6217920" y="4023360"/>
            <a:ext cx="544068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sp>
      <p:sp>
        <p:nvSpPr>
          <p:cNvPr id="75" name="Text 73"/>
          <p:cNvSpPr txBox="1"/>
          <p:nvPr/>
        </p:nvSpPr>
        <p:spPr>
          <a:xfrm>
            <a:off x="6446520" y="420624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Δ'yı seçmek</a:t>
            </a:r>
            <a:endParaRPr lang="tr-TR" sz="1500" dirty="0"/>
          </a:p>
        </p:txBody>
      </p:sp>
      <p:sp>
        <p:nvSpPr>
          <p:cNvPr id="76" name="Text 74"/>
          <p:cNvSpPr txBox="1"/>
          <p:nvPr/>
        </p:nvSpPr>
        <p:spPr>
          <a:xfrm>
            <a:off x="6446520" y="4663440"/>
            <a:ext cx="4983480" cy="146304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Δ çok küçük: yerelliğin bir kısmını kaçırır.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Δ çok büyük: birkaç yerelliği kapsar, çerçeve israf eder.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Daha basit akrabası: sayfa hatası sıklığını izle ve çok sık hata veren süreçlere çerçeve ver.</a:t>
            </a:r>
            <a:endParaRPr lang="tr-TR"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ARA</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10 Dakika Mola</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Sırada: dosya sistemleri; dosyalar, erişim yöntemleri, dizinler ve Linux bağlantıları.</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7  ·  22</a:t>
            </a:r>
            <a:endParaRPr lang="tr-TR"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2</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Dosya Sistemleri</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İşletim sisteminin en görünür parçası.</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7  ·  23</a:t>
            </a:r>
            <a:endParaRPr lang="tr-TR"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DOSYA KAVRAMI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Bir Dosya ve Öznitelikleri</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Dosya, ikincil bellekte saklanan, adı olan bir ilişkili bilgiler topluluğudur; kullanıcının kaydedebileceği en küçük birimdir.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24</a:t>
            </a:r>
            <a:endParaRPr lang="tr-TR"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109960" cy="914400"/>
        </p:xfrm>
        <a:graphic>
          <a:graphicData uri="http://schemas.openxmlformats.org/drawingml/2006/table">
            <a:tbl>
              <a:tblPr/>
              <a:tblGrid>
                <a:gridCol w="1920240"/>
                <a:gridCol w="4983480"/>
                <a:gridCol w="4206240"/>
              </a:tblGrid>
              <a:tr h="0">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Öznitelik</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Anlamı</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Örnek (Linux, notes.txt)</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Ad</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İnsanın okuyabileceği ad; Linux'ta diğer özniteliklerle değil, dizinde tutulur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notes.txt</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Tanımlayıcı</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Dosya sistemi içinde benzersiz bir numara</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düğüm (inode) 368662</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Tür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Normal dosya, dizin, bağlantı, aygıt, …</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normal dosya</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Konum</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Veri bloklarının aygıttaki yeri</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düğümdeki blok işaretçileri</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Boyut</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Bayt (ya da blok) cinsinden güncel boyut</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6 bayt (512 B'lık 8 blok)</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Koruma</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Kim okuyabilir, yazabilir, çalıştırabilir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-rw-rw-r--  sahibi student</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Zaman damgaları</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Oluşturma, son erişim, son değişiklik</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Access / Modify / Change</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8" name="Shape 5"/>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9" name="Text 6"/>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stat notes.txt çalıştırırsanız bu tablonun neredeyse her satırını görürsünüz. İşletim sistemi bu öznitelikleri bir dosya denetim bloğunda (Linux'ta: düğüm, inode) tutar.</a:t>
            </a:r>
            <a:endParaRPr lang="tr-TR"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DOSYA İŞLEMLERİ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Bir Dosya Üzerinde Sekiz Temel İşlem</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25</a:t>
            </a:r>
            <a:endParaRPr lang="tr-TR" sz="900" dirty="0"/>
          </a:p>
        </p:txBody>
      </p:sp>
      <p:sp>
        <p:nvSpPr>
          <p:cNvPr id="6" name="Shape 4"/>
          <p:cNvSpPr/>
          <p:nvPr/>
        </p:nvSpPr>
        <p:spPr>
          <a:xfrm>
            <a:off x="548640" y="1508760"/>
            <a:ext cx="260604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create (oluştur)</a:t>
            </a:r>
            <a:endParaRPr lang="tr-TR" sz="1600" dirty="0"/>
          </a:p>
        </p:txBody>
      </p:sp>
      <p:sp>
        <p:nvSpPr>
          <p:cNvPr id="8" name="Text 6"/>
          <p:cNvSpPr txBox="1"/>
          <p:nvPr/>
        </p:nvSpPr>
        <p:spPr>
          <a:xfrm>
            <a:off x="777240" y="2148840"/>
            <a:ext cx="2148840" cy="98298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Yer bul; dizine bir girdi ekle.  open(…, O_CREAT)</a:t>
            </a:r>
            <a:endParaRPr lang="tr-TR" sz="1400" dirty="0"/>
          </a:p>
        </p:txBody>
      </p:sp>
      <p:sp>
        <p:nvSpPr>
          <p:cNvPr id="9" name="Shape 7"/>
          <p:cNvSpPr/>
          <p:nvPr/>
        </p:nvSpPr>
        <p:spPr>
          <a:xfrm>
            <a:off x="3383280" y="1508760"/>
            <a:ext cx="260604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361188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open (aç)</a:t>
            </a:r>
            <a:endParaRPr lang="tr-TR" sz="1600" dirty="0"/>
          </a:p>
        </p:txBody>
      </p:sp>
      <p:sp>
        <p:nvSpPr>
          <p:cNvPr id="11" name="Text 9"/>
          <p:cNvSpPr txBox="1"/>
          <p:nvPr/>
        </p:nvSpPr>
        <p:spPr>
          <a:xfrm>
            <a:off x="3611880" y="2148840"/>
            <a:ext cx="2148840" cy="98298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Adı bir kez ara; dosya tanımlayıcısı al.  open()</a:t>
            </a:r>
            <a:endParaRPr lang="tr-TR" sz="1400" dirty="0"/>
          </a:p>
        </p:txBody>
      </p:sp>
      <p:sp>
        <p:nvSpPr>
          <p:cNvPr id="12" name="Shape 10"/>
          <p:cNvSpPr/>
          <p:nvPr/>
        </p:nvSpPr>
        <p:spPr>
          <a:xfrm>
            <a:off x="6217920" y="1508760"/>
            <a:ext cx="260604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644652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read (oku)</a:t>
            </a:r>
            <a:endParaRPr lang="tr-TR" sz="1600" dirty="0"/>
          </a:p>
        </p:txBody>
      </p:sp>
      <p:sp>
        <p:nvSpPr>
          <p:cNvPr id="14" name="Text 12"/>
          <p:cNvSpPr txBox="1"/>
          <p:nvPr/>
        </p:nvSpPr>
        <p:spPr>
          <a:xfrm>
            <a:off x="6446520" y="2148840"/>
            <a:ext cx="2148840" cy="98298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Geçerli konumdan baytları kopyala.  read()</a:t>
            </a:r>
            <a:endParaRPr lang="tr-TR" sz="1400" dirty="0"/>
          </a:p>
        </p:txBody>
      </p:sp>
      <p:sp>
        <p:nvSpPr>
          <p:cNvPr id="15" name="Shape 13"/>
          <p:cNvSpPr/>
          <p:nvPr/>
        </p:nvSpPr>
        <p:spPr>
          <a:xfrm>
            <a:off x="9052560" y="1508760"/>
            <a:ext cx="260604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928116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write (yaz)</a:t>
            </a:r>
            <a:endParaRPr lang="tr-TR" sz="1600" dirty="0"/>
          </a:p>
        </p:txBody>
      </p:sp>
      <p:sp>
        <p:nvSpPr>
          <p:cNvPr id="17" name="Text 15"/>
          <p:cNvSpPr txBox="1"/>
          <p:nvPr/>
        </p:nvSpPr>
        <p:spPr>
          <a:xfrm>
            <a:off x="9281160" y="2148840"/>
            <a:ext cx="2148840" cy="98298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Geçerli konuma baytları kopyala.  write()</a:t>
            </a:r>
            <a:endParaRPr lang="tr-TR" sz="1400" dirty="0"/>
          </a:p>
        </p:txBody>
      </p:sp>
      <p:sp>
        <p:nvSpPr>
          <p:cNvPr id="18" name="Shape 16"/>
          <p:cNvSpPr/>
          <p:nvPr/>
        </p:nvSpPr>
        <p:spPr>
          <a:xfrm>
            <a:off x="548640" y="3497580"/>
            <a:ext cx="260604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19" name="Text 17"/>
          <p:cNvSpPr txBox="1"/>
          <p:nvPr/>
        </p:nvSpPr>
        <p:spPr>
          <a:xfrm>
            <a:off x="777240" y="368046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seek (konumlan)</a:t>
            </a:r>
            <a:endParaRPr lang="tr-TR" sz="1600" dirty="0"/>
          </a:p>
        </p:txBody>
      </p:sp>
      <p:sp>
        <p:nvSpPr>
          <p:cNvPr id="20" name="Text 18"/>
          <p:cNvSpPr txBox="1"/>
          <p:nvPr/>
        </p:nvSpPr>
        <p:spPr>
          <a:xfrm>
            <a:off x="777240" y="4137660"/>
            <a:ext cx="2148840" cy="98298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Geçerli konumu taşı; G/Ç yok.  lseek()</a:t>
            </a:r>
            <a:endParaRPr lang="tr-TR" sz="1400" dirty="0"/>
          </a:p>
        </p:txBody>
      </p:sp>
      <p:sp>
        <p:nvSpPr>
          <p:cNvPr id="21" name="Shape 19"/>
          <p:cNvSpPr/>
          <p:nvPr/>
        </p:nvSpPr>
        <p:spPr>
          <a:xfrm>
            <a:off x="3383280" y="3497580"/>
            <a:ext cx="260604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22" name="Text 20"/>
          <p:cNvSpPr txBox="1"/>
          <p:nvPr/>
        </p:nvSpPr>
        <p:spPr>
          <a:xfrm>
            <a:off x="3611880" y="368046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close (kapat)</a:t>
            </a:r>
            <a:endParaRPr lang="tr-TR" sz="1600" dirty="0"/>
          </a:p>
        </p:txBody>
      </p:sp>
      <p:sp>
        <p:nvSpPr>
          <p:cNvPr id="23" name="Text 21"/>
          <p:cNvSpPr txBox="1"/>
          <p:nvPr/>
        </p:nvSpPr>
        <p:spPr>
          <a:xfrm>
            <a:off x="3611880" y="4137660"/>
            <a:ext cx="2148840" cy="98298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Açık dosya tablosu girdisini bırak.  close()</a:t>
            </a:r>
            <a:endParaRPr lang="tr-TR" sz="1400" dirty="0"/>
          </a:p>
        </p:txBody>
      </p:sp>
      <p:sp>
        <p:nvSpPr>
          <p:cNvPr id="24" name="Shape 22"/>
          <p:cNvSpPr/>
          <p:nvPr/>
        </p:nvSpPr>
        <p:spPr>
          <a:xfrm>
            <a:off x="6217920" y="3497580"/>
            <a:ext cx="260604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25" name="Text 23"/>
          <p:cNvSpPr txBox="1"/>
          <p:nvPr/>
        </p:nvSpPr>
        <p:spPr>
          <a:xfrm>
            <a:off x="6446520" y="368046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delete (sil)</a:t>
            </a:r>
            <a:endParaRPr lang="tr-TR" sz="1600" dirty="0"/>
          </a:p>
        </p:txBody>
      </p:sp>
      <p:sp>
        <p:nvSpPr>
          <p:cNvPr id="26" name="Text 24"/>
          <p:cNvSpPr txBox="1"/>
          <p:nvPr/>
        </p:nvSpPr>
        <p:spPr>
          <a:xfrm>
            <a:off x="6446520" y="4137660"/>
            <a:ext cx="2148840" cy="98298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Adı kaldır; kullanılmıyorsa yeri boşalt.  unlink()</a:t>
            </a:r>
            <a:endParaRPr lang="tr-TR" sz="1400" dirty="0"/>
          </a:p>
        </p:txBody>
      </p:sp>
      <p:sp>
        <p:nvSpPr>
          <p:cNvPr id="27" name="Shape 25"/>
          <p:cNvSpPr/>
          <p:nvPr/>
        </p:nvSpPr>
        <p:spPr>
          <a:xfrm>
            <a:off x="9052560" y="3497580"/>
            <a:ext cx="260604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28" name="Text 26"/>
          <p:cNvSpPr txBox="1"/>
          <p:nvPr/>
        </p:nvSpPr>
        <p:spPr>
          <a:xfrm>
            <a:off x="9281160" y="368046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truncate (kırp)</a:t>
            </a:r>
            <a:endParaRPr lang="tr-TR" sz="1600" dirty="0"/>
          </a:p>
        </p:txBody>
      </p:sp>
      <p:sp>
        <p:nvSpPr>
          <p:cNvPr id="29" name="Text 27"/>
          <p:cNvSpPr txBox="1"/>
          <p:nvPr/>
        </p:nvSpPr>
        <p:spPr>
          <a:xfrm>
            <a:off x="9281160" y="4137660"/>
            <a:ext cx="2148840" cy="98298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İçeriği sil, öznitelikleri koru.  truncate()</a:t>
            </a:r>
            <a:endParaRPr lang="tr-TR" sz="1400" dirty="0"/>
          </a:p>
        </p:txBody>
      </p:sp>
      <p:sp>
        <p:nvSpPr>
          <p:cNvPr id="30" name="Shape 28"/>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31" name="Text 29"/>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Bir kez açın, sonra her okuma/yazma için küçük tamsayıyı (dosya tanımlayıcısı) kullanın: işletim sistemi dizini yeniden aramak zorunda kalmaz. 0, 1, 2 zaten açıktır: stdin, stdout, stderr (2. hafta).</a:t>
            </a:r>
            <a:endParaRPr lang="tr-TR"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DOSYA İŞLEMLERİ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Açık Dosya Tabloları</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open() yavaş işi (dizin araması, izin denetimi) bir kez yapar ve sonucu tablolarda saklar.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26</a:t>
            </a:r>
            <a:endParaRPr lang="tr-TR" sz="900" dirty="0"/>
          </a:p>
        </p:txBody>
      </p:sp>
      <p:sp>
        <p:nvSpPr>
          <p:cNvPr id="7" name="Text 5"/>
          <p:cNvSpPr txBox="1"/>
          <p:nvPr/>
        </p:nvSpPr>
        <p:spPr>
          <a:xfrm>
            <a:off x="548640" y="1892808"/>
            <a:ext cx="2926080" cy="320040"/>
          </a:xfrm>
          <a:prstGeom prst="rect">
            <a:avLst/>
          </a:prstGeom>
          <a:noFill/>
          <a:ln/>
        </p:spPr>
        <p:txBody>
          <a:bodyPr wrap="square" lIns="0" tIns="0" rIns="0" bIns="0" rtlCol="0" anchor="t"/>
          <a:lstStyle/>
          <a:p>
            <a:pPr indent="0" marL="0">
              <a:buNone/>
            </a:pPr>
            <a:r>
              <a:rPr lang="tr-TR" sz="1200" b="1" dirty="0">
                <a:solidFill>
                  <a:srgbClr val="36454F"/>
                </a:solidFill>
                <a:latin typeface="Calibri" pitchFamily="34" charset="0"/>
                <a:ea typeface="Calibri" pitchFamily="34" charset="-122"/>
                <a:cs typeface="Calibri" pitchFamily="34" charset="-120"/>
              </a:rPr>
              <a:t>A süreci: süreç başına tablo</a:t>
            </a:r>
            <a:endParaRPr lang="tr-TR" sz="1200" dirty="0"/>
          </a:p>
        </p:txBody>
      </p:sp>
      <p:sp>
        <p:nvSpPr>
          <p:cNvPr id="8" name="Shape 6"/>
          <p:cNvSpPr/>
          <p:nvPr/>
        </p:nvSpPr>
        <p:spPr>
          <a:xfrm>
            <a:off x="548640" y="2240280"/>
            <a:ext cx="2194560" cy="347472"/>
          </a:xfrm>
          <a:prstGeom prst="roundRect">
            <a:avLst>
              <a:gd name="adj" fmla="val 13158"/>
            </a:avLst>
          </a:prstGeom>
          <a:solidFill>
            <a:srgbClr val="F2F2F2"/>
          </a:solidFill>
          <a:ln/>
        </p:spPr>
      </p:sp>
      <p:sp>
        <p:nvSpPr>
          <p:cNvPr id="9" name="Text 7"/>
          <p:cNvSpPr txBox="1"/>
          <p:nvPr/>
        </p:nvSpPr>
        <p:spPr>
          <a:xfrm>
            <a:off x="548640" y="2240280"/>
            <a:ext cx="2194560" cy="347472"/>
          </a:xfrm>
          <a:prstGeom prst="rect">
            <a:avLst/>
          </a:prstGeom>
          <a:noFill/>
          <a:ln/>
        </p:spPr>
        <p:txBody>
          <a:bodyPr wrap="square" lIns="38100" tIns="38100" rIns="38100" bIns="38100" rtlCol="0" anchor="ctr"/>
          <a:lstStyle/>
          <a:p>
            <a:pPr algn="ctr" indent="0" marL="0">
              <a:buNone/>
            </a:pPr>
            <a:r>
              <a:rPr lang="tr-TR" sz="1100" dirty="0">
                <a:solidFill>
                  <a:srgbClr val="36454F"/>
                </a:solidFill>
                <a:latin typeface="Consolas" pitchFamily="34" charset="0"/>
                <a:ea typeface="Consolas" pitchFamily="34" charset="-122"/>
                <a:cs typeface="Consolas" pitchFamily="34" charset="-120"/>
              </a:rPr>
              <a:t>fd 0  stdin</a:t>
            </a:r>
            <a:endParaRPr lang="tr-TR" sz="1100" dirty="0"/>
          </a:p>
        </p:txBody>
      </p:sp>
      <p:sp>
        <p:nvSpPr>
          <p:cNvPr id="10" name="Shape 8"/>
          <p:cNvSpPr/>
          <p:nvPr/>
        </p:nvSpPr>
        <p:spPr>
          <a:xfrm>
            <a:off x="548640" y="2624328"/>
            <a:ext cx="2194560" cy="347472"/>
          </a:xfrm>
          <a:prstGeom prst="roundRect">
            <a:avLst>
              <a:gd name="adj" fmla="val 13158"/>
            </a:avLst>
          </a:prstGeom>
          <a:solidFill>
            <a:srgbClr val="F2F2F2"/>
          </a:solidFill>
          <a:ln/>
        </p:spPr>
      </p:sp>
      <p:sp>
        <p:nvSpPr>
          <p:cNvPr id="11" name="Text 9"/>
          <p:cNvSpPr txBox="1"/>
          <p:nvPr/>
        </p:nvSpPr>
        <p:spPr>
          <a:xfrm>
            <a:off x="548640" y="2624328"/>
            <a:ext cx="2194560" cy="347472"/>
          </a:xfrm>
          <a:prstGeom prst="rect">
            <a:avLst/>
          </a:prstGeom>
          <a:noFill/>
          <a:ln/>
        </p:spPr>
        <p:txBody>
          <a:bodyPr wrap="square" lIns="38100" tIns="38100" rIns="38100" bIns="38100" rtlCol="0" anchor="ctr"/>
          <a:lstStyle/>
          <a:p>
            <a:pPr algn="ctr" indent="0" marL="0">
              <a:buNone/>
            </a:pPr>
            <a:r>
              <a:rPr lang="tr-TR" sz="1100" dirty="0">
                <a:solidFill>
                  <a:srgbClr val="36454F"/>
                </a:solidFill>
                <a:latin typeface="Consolas" pitchFamily="34" charset="0"/>
                <a:ea typeface="Consolas" pitchFamily="34" charset="-122"/>
                <a:cs typeface="Consolas" pitchFamily="34" charset="-120"/>
              </a:rPr>
              <a:t>fd 1  stdout</a:t>
            </a:r>
            <a:endParaRPr lang="tr-TR" sz="1100" dirty="0"/>
          </a:p>
        </p:txBody>
      </p:sp>
      <p:sp>
        <p:nvSpPr>
          <p:cNvPr id="12" name="Shape 10"/>
          <p:cNvSpPr/>
          <p:nvPr/>
        </p:nvSpPr>
        <p:spPr>
          <a:xfrm>
            <a:off x="548640" y="3008376"/>
            <a:ext cx="2194560" cy="347472"/>
          </a:xfrm>
          <a:prstGeom prst="roundRect">
            <a:avLst>
              <a:gd name="adj" fmla="val 13158"/>
            </a:avLst>
          </a:prstGeom>
          <a:solidFill>
            <a:srgbClr val="D7E9E6"/>
          </a:solidFill>
          <a:ln/>
        </p:spPr>
      </p:sp>
      <p:sp>
        <p:nvSpPr>
          <p:cNvPr id="13" name="Text 11"/>
          <p:cNvSpPr txBox="1"/>
          <p:nvPr/>
        </p:nvSpPr>
        <p:spPr>
          <a:xfrm>
            <a:off x="548640" y="3008376"/>
            <a:ext cx="2194560" cy="347472"/>
          </a:xfrm>
          <a:prstGeom prst="rect">
            <a:avLst/>
          </a:prstGeom>
          <a:noFill/>
          <a:ln/>
        </p:spPr>
        <p:txBody>
          <a:bodyPr wrap="square" lIns="38100" tIns="38100" rIns="38100" bIns="38100" rtlCol="0" anchor="ctr"/>
          <a:lstStyle/>
          <a:p>
            <a:pPr algn="ctr" indent="0" marL="0">
              <a:buNone/>
            </a:pPr>
            <a:r>
              <a:rPr lang="tr-TR" sz="1100" dirty="0">
                <a:solidFill>
                  <a:srgbClr val="36454F"/>
                </a:solidFill>
                <a:latin typeface="Consolas" pitchFamily="34" charset="0"/>
                <a:ea typeface="Consolas" pitchFamily="34" charset="-122"/>
                <a:cs typeface="Consolas" pitchFamily="34" charset="-120"/>
              </a:rPr>
              <a:t>fd 3  pos = 96</a:t>
            </a:r>
            <a:endParaRPr lang="tr-TR" sz="1100" dirty="0"/>
          </a:p>
        </p:txBody>
      </p:sp>
      <p:sp>
        <p:nvSpPr>
          <p:cNvPr id="14" name="Text 12"/>
          <p:cNvSpPr txBox="1"/>
          <p:nvPr/>
        </p:nvSpPr>
        <p:spPr>
          <a:xfrm>
            <a:off x="548640" y="3858768"/>
            <a:ext cx="2926080" cy="320040"/>
          </a:xfrm>
          <a:prstGeom prst="rect">
            <a:avLst/>
          </a:prstGeom>
          <a:noFill/>
          <a:ln/>
        </p:spPr>
        <p:txBody>
          <a:bodyPr wrap="square" lIns="0" tIns="0" rIns="0" bIns="0" rtlCol="0" anchor="t"/>
          <a:lstStyle/>
          <a:p>
            <a:pPr indent="0" marL="0">
              <a:buNone/>
            </a:pPr>
            <a:r>
              <a:rPr lang="tr-TR" sz="1200" b="1" dirty="0">
                <a:solidFill>
                  <a:srgbClr val="36454F"/>
                </a:solidFill>
                <a:latin typeface="Calibri" pitchFamily="34" charset="0"/>
                <a:ea typeface="Calibri" pitchFamily="34" charset="-122"/>
                <a:cs typeface="Calibri" pitchFamily="34" charset="-120"/>
              </a:rPr>
              <a:t>B süreci: süreç başına tablo</a:t>
            </a:r>
            <a:endParaRPr lang="tr-TR" sz="1200" dirty="0"/>
          </a:p>
        </p:txBody>
      </p:sp>
      <p:sp>
        <p:nvSpPr>
          <p:cNvPr id="15" name="Shape 13"/>
          <p:cNvSpPr/>
          <p:nvPr/>
        </p:nvSpPr>
        <p:spPr>
          <a:xfrm>
            <a:off x="548640" y="4206240"/>
            <a:ext cx="2194560" cy="347472"/>
          </a:xfrm>
          <a:prstGeom prst="roundRect">
            <a:avLst>
              <a:gd name="adj" fmla="val 13158"/>
            </a:avLst>
          </a:prstGeom>
          <a:solidFill>
            <a:srgbClr val="F2F2F2"/>
          </a:solidFill>
          <a:ln/>
        </p:spPr>
      </p:sp>
      <p:sp>
        <p:nvSpPr>
          <p:cNvPr id="16" name="Text 14"/>
          <p:cNvSpPr txBox="1"/>
          <p:nvPr/>
        </p:nvSpPr>
        <p:spPr>
          <a:xfrm>
            <a:off x="548640" y="4206240"/>
            <a:ext cx="2194560" cy="347472"/>
          </a:xfrm>
          <a:prstGeom prst="rect">
            <a:avLst/>
          </a:prstGeom>
          <a:noFill/>
          <a:ln/>
        </p:spPr>
        <p:txBody>
          <a:bodyPr wrap="square" lIns="38100" tIns="38100" rIns="38100" bIns="38100" rtlCol="0" anchor="ctr"/>
          <a:lstStyle/>
          <a:p>
            <a:pPr algn="ctr" indent="0" marL="0">
              <a:buNone/>
            </a:pPr>
            <a:r>
              <a:rPr lang="tr-TR" sz="1100" dirty="0">
                <a:solidFill>
                  <a:srgbClr val="36454F"/>
                </a:solidFill>
                <a:latin typeface="Consolas" pitchFamily="34" charset="0"/>
                <a:ea typeface="Consolas" pitchFamily="34" charset="-122"/>
                <a:cs typeface="Consolas" pitchFamily="34" charset="-120"/>
              </a:rPr>
              <a:t>fd 0  stdin</a:t>
            </a:r>
            <a:endParaRPr lang="tr-TR" sz="1100" dirty="0"/>
          </a:p>
        </p:txBody>
      </p:sp>
      <p:sp>
        <p:nvSpPr>
          <p:cNvPr id="17" name="Shape 15"/>
          <p:cNvSpPr/>
          <p:nvPr/>
        </p:nvSpPr>
        <p:spPr>
          <a:xfrm>
            <a:off x="548640" y="4590288"/>
            <a:ext cx="2194560" cy="347472"/>
          </a:xfrm>
          <a:prstGeom prst="roundRect">
            <a:avLst>
              <a:gd name="adj" fmla="val 13158"/>
            </a:avLst>
          </a:prstGeom>
          <a:solidFill>
            <a:srgbClr val="D7E9E6"/>
          </a:solidFill>
          <a:ln/>
        </p:spPr>
      </p:sp>
      <p:sp>
        <p:nvSpPr>
          <p:cNvPr id="18" name="Text 16"/>
          <p:cNvSpPr txBox="1"/>
          <p:nvPr/>
        </p:nvSpPr>
        <p:spPr>
          <a:xfrm>
            <a:off x="548640" y="4590288"/>
            <a:ext cx="2194560" cy="347472"/>
          </a:xfrm>
          <a:prstGeom prst="rect">
            <a:avLst/>
          </a:prstGeom>
          <a:noFill/>
          <a:ln/>
        </p:spPr>
        <p:txBody>
          <a:bodyPr wrap="square" lIns="38100" tIns="38100" rIns="38100" bIns="38100" rtlCol="0" anchor="ctr"/>
          <a:lstStyle/>
          <a:p>
            <a:pPr algn="ctr" indent="0" marL="0">
              <a:buNone/>
            </a:pPr>
            <a:r>
              <a:rPr lang="tr-TR" sz="1100" dirty="0">
                <a:solidFill>
                  <a:srgbClr val="36454F"/>
                </a:solidFill>
                <a:latin typeface="Consolas" pitchFamily="34" charset="0"/>
                <a:ea typeface="Consolas" pitchFamily="34" charset="-122"/>
                <a:cs typeface="Consolas" pitchFamily="34" charset="-120"/>
              </a:rPr>
              <a:t>fd 4  pos = 0</a:t>
            </a:r>
            <a:endParaRPr lang="tr-TR" sz="1100" dirty="0"/>
          </a:p>
        </p:txBody>
      </p:sp>
      <p:sp>
        <p:nvSpPr>
          <p:cNvPr id="19" name="Text 17"/>
          <p:cNvSpPr txBox="1"/>
          <p:nvPr/>
        </p:nvSpPr>
        <p:spPr>
          <a:xfrm>
            <a:off x="3657600" y="1892808"/>
            <a:ext cx="3108960" cy="320040"/>
          </a:xfrm>
          <a:prstGeom prst="rect">
            <a:avLst/>
          </a:prstGeom>
          <a:noFill/>
          <a:ln/>
        </p:spPr>
        <p:txBody>
          <a:bodyPr wrap="square" lIns="0" tIns="0" rIns="0" bIns="0" rtlCol="0" anchor="t"/>
          <a:lstStyle/>
          <a:p>
            <a:pPr indent="0" marL="0">
              <a:buNone/>
            </a:pPr>
            <a:r>
              <a:rPr lang="tr-TR" sz="1200" b="1" dirty="0">
                <a:solidFill>
                  <a:srgbClr val="36454F"/>
                </a:solidFill>
                <a:latin typeface="Calibri" pitchFamily="34" charset="0"/>
                <a:ea typeface="Calibri" pitchFamily="34" charset="-122"/>
                <a:cs typeface="Calibri" pitchFamily="34" charset="-120"/>
              </a:rPr>
              <a:t>Sistem geneli açık dosya tablosu</a:t>
            </a:r>
            <a:endParaRPr lang="tr-TR" sz="1200" dirty="0"/>
          </a:p>
        </p:txBody>
      </p:sp>
      <p:sp>
        <p:nvSpPr>
          <p:cNvPr id="20" name="Shape 18"/>
          <p:cNvSpPr/>
          <p:nvPr/>
        </p:nvSpPr>
        <p:spPr>
          <a:xfrm>
            <a:off x="3657600" y="2606040"/>
            <a:ext cx="2651760" cy="1143000"/>
          </a:xfrm>
          <a:prstGeom prst="roundRect">
            <a:avLst>
              <a:gd name="adj" fmla="val 4000"/>
            </a:avLst>
          </a:prstGeom>
          <a:solidFill>
            <a:srgbClr val="36454F"/>
          </a:solidFill>
          <a:ln/>
        </p:spPr>
      </p:sp>
      <p:sp>
        <p:nvSpPr>
          <p:cNvPr id="21" name="Text 19"/>
          <p:cNvSpPr txBox="1"/>
          <p:nvPr/>
        </p:nvSpPr>
        <p:spPr>
          <a:xfrm>
            <a:off x="3657600" y="2606040"/>
            <a:ext cx="2651760" cy="114300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students.dat</a:t>
            </a:r>
            <a:endParaRPr lang="tr-TR" sz="1300" dirty="0"/>
          </a:p>
          <a:p>
            <a:pPr algn="ctr" indent="0" marL="0">
              <a:buNone/>
            </a:pPr>
            <a:r>
              <a:rPr lang="tr-TR" sz="1100" dirty="0">
                <a:solidFill>
                  <a:srgbClr val="FFFFFF"/>
                </a:solidFill>
                <a:latin typeface="Calibri" pitchFamily="34" charset="0"/>
                <a:ea typeface="Calibri" pitchFamily="34" charset="-122"/>
                <a:cs typeface="Calibri" pitchFamily="34" charset="-120"/>
              </a:rPr>
              <a:t>açılma sayısı = 2</a:t>
            </a:r>
            <a:endParaRPr lang="tr-TR" sz="1300" dirty="0"/>
          </a:p>
          <a:p>
            <a:pPr algn="ctr" indent="0" marL="0">
              <a:buNone/>
            </a:pPr>
            <a:r>
              <a:rPr lang="tr-TR" sz="1100" dirty="0">
                <a:solidFill>
                  <a:srgbClr val="FFFFFF"/>
                </a:solidFill>
                <a:latin typeface="Calibri" pitchFamily="34" charset="0"/>
                <a:ea typeface="Calibri" pitchFamily="34" charset="-122"/>
                <a:cs typeface="Calibri" pitchFamily="34" charset="-120"/>
              </a:rPr>
              <a:t>boyut, diskteki konum</a:t>
            </a:r>
            <a:endParaRPr lang="tr-TR" sz="1300" dirty="0"/>
          </a:p>
        </p:txBody>
      </p:sp>
      <p:sp>
        <p:nvSpPr>
          <p:cNvPr id="22" name="Shape 20"/>
          <p:cNvSpPr/>
          <p:nvPr/>
        </p:nvSpPr>
        <p:spPr>
          <a:xfrm>
            <a:off x="3657600" y="3931920"/>
            <a:ext cx="2651760" cy="548640"/>
          </a:xfrm>
          <a:prstGeom prst="roundRect">
            <a:avLst>
              <a:gd name="adj" fmla="val 8333"/>
            </a:avLst>
          </a:prstGeom>
          <a:solidFill>
            <a:srgbClr val="F2F2F2"/>
          </a:solidFill>
          <a:ln/>
        </p:spPr>
      </p:sp>
      <p:sp>
        <p:nvSpPr>
          <p:cNvPr id="23" name="Text 21"/>
          <p:cNvSpPr txBox="1"/>
          <p:nvPr/>
        </p:nvSpPr>
        <p:spPr>
          <a:xfrm>
            <a:off x="3657600" y="3931920"/>
            <a:ext cx="2651760" cy="548640"/>
          </a:xfrm>
          <a:prstGeom prst="rect">
            <a:avLst/>
          </a:prstGeom>
          <a:noFill/>
          <a:ln/>
        </p:spPr>
        <p:txBody>
          <a:bodyPr wrap="square" lIns="38100" tIns="38100" rIns="38100" bIns="38100" rtlCol="0" anchor="ctr"/>
          <a:lstStyle/>
          <a:p>
            <a:pPr algn="ctr" indent="0" marL="0">
              <a:buNone/>
            </a:pPr>
            <a:r>
              <a:rPr lang="tr-TR" sz="1200" dirty="0">
                <a:solidFill>
                  <a:srgbClr val="36454F"/>
                </a:solidFill>
                <a:latin typeface="Calibri" pitchFamily="34" charset="0"/>
                <a:ea typeface="Calibri" pitchFamily="34" charset="-122"/>
                <a:cs typeface="Calibri" pitchFamily="34" charset="-120"/>
              </a:rPr>
              <a:t>diğer açık dosyalar …</a:t>
            </a:r>
            <a:endParaRPr lang="tr-TR" sz="1200" dirty="0"/>
          </a:p>
        </p:txBody>
      </p:sp>
      <p:sp>
        <p:nvSpPr>
          <p:cNvPr id="24" name="Shape 22"/>
          <p:cNvSpPr/>
          <p:nvPr/>
        </p:nvSpPr>
        <p:spPr>
          <a:xfrm flipV="1">
            <a:off x="2761488" y="3108960"/>
            <a:ext cx="877824" cy="73152"/>
          </a:xfrm>
          <a:prstGeom prst="line">
            <a:avLst/>
          </a:prstGeom>
          <a:noFill/>
          <a:ln w="22225">
            <a:solidFill>
              <a:srgbClr val="028090"/>
            </a:solidFill>
            <a:prstDash val="solid"/>
            <a:tailEnd type="triangle"/>
          </a:ln>
        </p:spPr>
      </p:sp>
      <p:sp>
        <p:nvSpPr>
          <p:cNvPr id="25" name="Shape 23"/>
          <p:cNvSpPr/>
          <p:nvPr/>
        </p:nvSpPr>
        <p:spPr>
          <a:xfrm flipV="1">
            <a:off x="2761488" y="3474720"/>
            <a:ext cx="877824" cy="1115568"/>
          </a:xfrm>
          <a:prstGeom prst="line">
            <a:avLst/>
          </a:prstGeom>
          <a:noFill/>
          <a:ln w="22225">
            <a:solidFill>
              <a:srgbClr val="028090"/>
            </a:solidFill>
            <a:prstDash val="solid"/>
            <a:tailEnd type="triangle"/>
          </a:ln>
        </p:spPr>
      </p:sp>
      <p:sp>
        <p:nvSpPr>
          <p:cNvPr id="26" name="Shape 24"/>
          <p:cNvSpPr/>
          <p:nvPr/>
        </p:nvSpPr>
        <p:spPr>
          <a:xfrm>
            <a:off x="6858000" y="2468880"/>
            <a:ext cx="1463040" cy="1463040"/>
          </a:xfrm>
          <a:prstGeom prst="can">
            <a:avLst/>
          </a:prstGeom>
          <a:solidFill>
            <a:srgbClr val="50808E"/>
          </a:solidFill>
          <a:ln/>
        </p:spPr>
      </p:sp>
      <p:sp>
        <p:nvSpPr>
          <p:cNvPr id="27" name="Text 25"/>
          <p:cNvSpPr txBox="1"/>
          <p:nvPr/>
        </p:nvSpPr>
        <p:spPr>
          <a:xfrm>
            <a:off x="6858000" y="2761488"/>
            <a:ext cx="1463040" cy="1170432"/>
          </a:xfrm>
          <a:prstGeom prst="rect">
            <a:avLst/>
          </a:prstGeom>
          <a:noFill/>
          <a:ln/>
        </p:spPr>
        <p:txBody>
          <a:bodyPr wrap="square" lIns="0" tIns="0" rIns="0" bIns="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Disk</a:t>
            </a:r>
            <a:endParaRPr lang="tr-TR" sz="1300" dirty="0"/>
          </a:p>
          <a:p>
            <a:pPr algn="ctr" indent="0" marL="0">
              <a:buNone/>
            </a:pPr>
            <a:r>
              <a:rPr lang="tr-TR" sz="1100" dirty="0">
                <a:solidFill>
                  <a:srgbClr val="FFFFFF"/>
                </a:solidFill>
                <a:latin typeface="Calibri" pitchFamily="34" charset="0"/>
                <a:ea typeface="Calibri" pitchFamily="34" charset="-122"/>
                <a:cs typeface="Calibri" pitchFamily="34" charset="-120"/>
              </a:rPr>
              <a:t>dosya denetim bloğu / düğüm</a:t>
            </a:r>
            <a:endParaRPr lang="tr-TR" sz="1300" dirty="0"/>
          </a:p>
        </p:txBody>
      </p:sp>
      <p:sp>
        <p:nvSpPr>
          <p:cNvPr id="28" name="Shape 26"/>
          <p:cNvSpPr/>
          <p:nvPr/>
        </p:nvSpPr>
        <p:spPr>
          <a:xfrm>
            <a:off x="6327648" y="3172968"/>
            <a:ext cx="512064" cy="91"/>
          </a:xfrm>
          <a:prstGeom prst="line">
            <a:avLst/>
          </a:prstGeom>
          <a:noFill/>
          <a:ln w="19050">
            <a:solidFill>
              <a:srgbClr val="50808E"/>
            </a:solidFill>
            <a:prstDash val="solid"/>
            <a:tailEnd type="triangle"/>
          </a:ln>
        </p:spPr>
      </p:sp>
      <p:sp>
        <p:nvSpPr>
          <p:cNvPr id="29" name="Shape 27"/>
          <p:cNvSpPr/>
          <p:nvPr/>
        </p:nvSpPr>
        <p:spPr>
          <a:xfrm>
            <a:off x="8595360" y="2057400"/>
            <a:ext cx="3063240" cy="4206240"/>
          </a:xfrm>
          <a:prstGeom prst="roundRect">
            <a:avLst>
              <a:gd name="adj" fmla="val 1791"/>
            </a:avLst>
          </a:prstGeom>
          <a:solidFill>
            <a:srgbClr val="F2F2F2"/>
          </a:solidFill>
          <a:ln/>
          <a:effectLst>
            <a:outerShdw sx="100000" sy="100000" kx="0" ky="0" algn="bl" rotWithShape="0" blurRad="101600" dist="25400" dir="5400000">
              <a:srgbClr val="000000">
                <a:alpha val="12000"/>
              </a:srgbClr>
            </a:outerShdw>
          </a:effectLst>
        </p:spPr>
      </p:sp>
      <p:sp>
        <p:nvSpPr>
          <p:cNvPr id="30" name="Text 28"/>
          <p:cNvSpPr txBox="1"/>
          <p:nvPr/>
        </p:nvSpPr>
        <p:spPr>
          <a:xfrm>
            <a:off x="8823960" y="2240280"/>
            <a:ext cx="26060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Kim neyi tutar?</a:t>
            </a:r>
            <a:endParaRPr lang="tr-TR" sz="1500" dirty="0"/>
          </a:p>
        </p:txBody>
      </p:sp>
      <p:sp>
        <p:nvSpPr>
          <p:cNvPr id="31" name="Text 29"/>
          <p:cNvSpPr txBox="1"/>
          <p:nvPr/>
        </p:nvSpPr>
        <p:spPr>
          <a:xfrm>
            <a:off x="8823960" y="2697480"/>
            <a:ext cx="2606040" cy="3429000"/>
          </a:xfrm>
          <a:prstGeom prst="rect">
            <a:avLst/>
          </a:prstGeom>
          <a:noFill/>
          <a:ln/>
        </p:spPr>
        <p:txBody>
          <a:bodyPr wrap="square" lIns="0" tIns="0" rIns="0" bIns="0" rtlCol="0" anchor="t"/>
          <a:lstStyle/>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Süreç başına:</a:t>
            </a:r>
            <a:r>
              <a:rPr lang="tr-TR" sz="1350" dirty="0">
                <a:solidFill>
                  <a:srgbClr val="3A464C"/>
                </a:solidFill>
                <a:latin typeface="Calibri" pitchFamily="34" charset="0"/>
                <a:ea typeface="Calibri" pitchFamily="34" charset="-122"/>
                <a:cs typeface="Calibri" pitchFamily="34" charset="-120"/>
              </a:rPr>
              <a:t> dosya işaretçisi (geçerli konum) ve erişim kipi.</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Sistem geneli:</a:t>
            </a:r>
            <a:r>
              <a:rPr lang="tr-TR" sz="1350" dirty="0">
                <a:solidFill>
                  <a:srgbClr val="3A464C"/>
                </a:solidFill>
                <a:latin typeface="Calibri" pitchFamily="34" charset="0"/>
                <a:ea typeface="Calibri" pitchFamily="34" charset="-122"/>
                <a:cs typeface="Calibri" pitchFamily="34" charset="-120"/>
              </a:rPr>
              <a:t> dosyanın tüm kullanıcılarınca paylaşılan bilgiler ve bir açılma sayısı.</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close() sayıyı bir azaltır; 0 olunca girdi silinir.</a:t>
            </a:r>
            <a:endParaRPr lang="tr-TR"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DOSYA TÜRLERİ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Dosya Türleri ve Uzantılar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27</a:t>
            </a:r>
            <a:endParaRPr lang="tr-TR"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309360" cy="914400"/>
        </p:xfrm>
        <a:graphic>
          <a:graphicData uri="http://schemas.openxmlformats.org/drawingml/2006/table">
            <a:tbl>
              <a:tblPr/>
              <a:tblGrid>
                <a:gridCol w="1965960"/>
                <a:gridCol w="2240280"/>
                <a:gridCol w="2103120"/>
              </a:tblGrid>
              <a:tr h="0">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Dosya türü</a:t>
                      </a:r>
                      <a:endParaRPr lang="tr-TR" sz="14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Olağan uzantılar</a:t>
                      </a:r>
                      <a:endParaRPr lang="tr-TR" sz="14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İçerik</a:t>
                      </a:r>
                      <a:endParaRPr lang="tr-TR" sz="14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Kaynak kod</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.c  .py  .java</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program metni</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Nesne / çalıştırılabilir</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.o  .exe  (Linux'ta yok)</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makine kodu</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Betik</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.sh  .bat</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kabuk için komutlar</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Metin / belge</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.txt  .pdf  .docx</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metin, biçimli belgeler</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Çoklu ortam</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.jpg  .mp3  .mp4</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görüntü, ses, video</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350" b="1" dirty="0">
                          <a:solidFill>
                            <a:srgbClr val="3A464C"/>
                          </a:solidFill>
                          <a:latin typeface="Calibri" pitchFamily="34" charset="0"/>
                          <a:ea typeface="Calibri" pitchFamily="34" charset="-122"/>
                          <a:cs typeface="Calibri" pitchFamily="34" charset="-120"/>
                        </a:rPr>
                        <a:t>Arşiv</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.zip  .tar.gz</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350" dirty="0">
                          <a:solidFill>
                            <a:srgbClr val="3A464C"/>
                          </a:solidFill>
                          <a:latin typeface="Calibri" pitchFamily="34" charset="0"/>
                          <a:ea typeface="Calibri" pitchFamily="34" charset="-122"/>
                          <a:cs typeface="Calibri" pitchFamily="34" charset="-120"/>
                        </a:rPr>
                        <a:t>sıkıştırılmış birden çok dosya</a:t>
                      </a:r>
                      <a:endParaRPr lang="tr-TR"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7132320" y="1554480"/>
            <a:ext cx="4526280" cy="2377440"/>
          </a:xfrm>
          <a:prstGeom prst="roundRect">
            <a:avLst>
              <a:gd name="adj" fmla="val 1923"/>
            </a:avLst>
          </a:prstGeom>
          <a:solidFill>
            <a:srgbClr val="212121"/>
          </a:solidFill>
          <a:ln/>
        </p:spPr>
      </p:sp>
      <p:sp>
        <p:nvSpPr>
          <p:cNvPr id="8" name="Text 5"/>
          <p:cNvSpPr txBox="1"/>
          <p:nvPr/>
        </p:nvSpPr>
        <p:spPr>
          <a:xfrm>
            <a:off x="7315200" y="1664208"/>
            <a:ext cx="4160520" cy="2157984"/>
          </a:xfrm>
          <a:prstGeom prst="rect">
            <a:avLst/>
          </a:prstGeom>
          <a:noFill/>
          <a:ln/>
        </p:spPr>
        <p:txBody>
          <a:bodyPr wrap="square" lIns="0" tIns="0" rIns="0" bIns="0" rtlCol="0" anchor="t"/>
          <a:lstStyle/>
          <a:p>
            <a:pPr indent="0" marL="0">
              <a:lnSpc>
                <a:spcPct val="105000"/>
              </a:lnSpc>
              <a:buNone/>
            </a:pPr>
            <a:r>
              <a:rPr lang="tr-TR" sz="1100" dirty="0">
                <a:solidFill>
                  <a:srgbClr val="02C39A"/>
                </a:solidFill>
                <a:latin typeface="Consolas" pitchFamily="34" charset="0"/>
                <a:ea typeface="Consolas" pitchFamily="34" charset="-122"/>
                <a:cs typeface="Consolas" pitchFamily="34" charset="-120"/>
              </a:rPr>
              <a:t>$ file file_access.c</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file_access.c: C source, ASCII text</a:t>
            </a:r>
            <a:endParaRPr lang="tr-TR" sz="1100" dirty="0"/>
          </a:p>
          <a:p>
            <a:pPr indent="0" marL="0">
              <a:lnSpc>
                <a:spcPct val="105000"/>
              </a:lnSpc>
              <a:buNone/>
            </a:pPr>
            <a:r>
              <a:rPr lang="tr-TR" sz="1100" dirty="0">
                <a:solidFill>
                  <a:srgbClr val="02C39A"/>
                </a:solidFill>
                <a:latin typeface="Consolas" pitchFamily="34" charset="0"/>
                <a:ea typeface="Consolas" pitchFamily="34" charset="-122"/>
                <a:cs typeface="Consolas" pitchFamily="34" charset="-120"/>
              </a:rPr>
              <a:t>$ file file_access</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file_access: ELF 64-bit LSB pie executable,…</a:t>
            </a:r>
            <a:endParaRPr lang="tr-TR" sz="1100" dirty="0"/>
          </a:p>
          <a:p>
            <a:pPr indent="0" marL="0">
              <a:lnSpc>
                <a:spcPct val="105000"/>
              </a:lnSpc>
              <a:buNone/>
            </a:pPr>
            <a:r>
              <a:rPr lang="tr-TR" sz="1100" dirty="0">
                <a:solidFill>
                  <a:srgbClr val="02C39A"/>
                </a:solidFill>
                <a:latin typeface="Consolas" pitchFamily="34" charset="0"/>
                <a:ea typeface="Consolas" pitchFamily="34" charset="-122"/>
                <a:cs typeface="Consolas" pitchFamily="34" charset="-120"/>
              </a:rPr>
              <a:t>$ file photo.txt</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photo.txt: JPEG image data, JFIF standard 1…</a:t>
            </a:r>
            <a:endParaRPr lang="tr-TR" sz="1100" dirty="0"/>
          </a:p>
          <a:p>
            <a:pPr indent="0" marL="0">
              <a:lnSpc>
                <a:spcPct val="105000"/>
              </a:lnSpc>
              <a:buNone/>
            </a:pPr>
            <a:r>
              <a:rPr lang="tr-TR" sz="1100" dirty="0">
                <a:solidFill>
                  <a:srgbClr val="02C39A"/>
                </a:solidFill>
                <a:latin typeface="Consolas" pitchFamily="34" charset="0"/>
                <a:ea typeface="Consolas" pitchFamily="34" charset="-122"/>
                <a:cs typeface="Consolas" pitchFamily="34" charset="-120"/>
              </a:rPr>
              <a:t>$ file students.dat</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students.dat: data</a:t>
            </a:r>
            <a:endParaRPr lang="tr-TR" sz="1100" dirty="0"/>
          </a:p>
        </p:txBody>
      </p:sp>
      <p:sp>
        <p:nvSpPr>
          <p:cNvPr id="9" name="Shape 6"/>
          <p:cNvSpPr/>
          <p:nvPr/>
        </p:nvSpPr>
        <p:spPr>
          <a:xfrm>
            <a:off x="7132320" y="4114800"/>
            <a:ext cx="4526280" cy="2148840"/>
          </a:xfrm>
          <a:prstGeom prst="roundRect">
            <a:avLst>
              <a:gd name="adj" fmla="val 2553"/>
            </a:avLst>
          </a:prstGeom>
          <a:solidFill>
            <a:srgbClr val="F2F2F2"/>
          </a:solidFill>
          <a:ln/>
          <a:effectLst>
            <a:outerShdw sx="100000" sy="100000" kx="0" ky="0" algn="bl" rotWithShape="0" blurRad="101600" dist="25400" dir="5400000">
              <a:srgbClr val="000000">
                <a:alpha val="12000"/>
              </a:srgbClr>
            </a:outerShdw>
          </a:effectLst>
        </p:spPr>
      </p:sp>
      <p:sp>
        <p:nvSpPr>
          <p:cNvPr id="10" name="Text 7"/>
          <p:cNvSpPr txBox="1"/>
          <p:nvPr/>
        </p:nvSpPr>
        <p:spPr>
          <a:xfrm>
            <a:off x="7360920" y="4297680"/>
            <a:ext cx="40690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Ad ve içerik</a:t>
            </a:r>
            <a:endParaRPr lang="tr-TR" sz="1500" dirty="0"/>
          </a:p>
        </p:txBody>
      </p:sp>
      <p:sp>
        <p:nvSpPr>
          <p:cNvPr id="11" name="Text 8"/>
          <p:cNvSpPr txBox="1"/>
          <p:nvPr/>
        </p:nvSpPr>
        <p:spPr>
          <a:xfrm>
            <a:off x="7360920" y="4754880"/>
            <a:ext cx="4069080" cy="137160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Windows hangi programın açacağını uzantıya göre seçer.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Linux'ta uzantı yalnızca bir ipucudur; `file` içeriği okur ("sihirli sayı"). photo.txt aslında bir JPEG'dir.</a:t>
            </a:r>
            <a:endParaRPr lang="tr-TR"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ERİŞİM YÖNTEMLERİ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Sıralı Erişim ve Doğrudan Erişim</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28</a:t>
            </a:r>
            <a:endParaRPr lang="tr-TR" sz="900" dirty="0"/>
          </a:p>
        </p:txBody>
      </p:sp>
      <p:sp>
        <p:nvSpPr>
          <p:cNvPr id="6" name="Text 4"/>
          <p:cNvSpPr txBox="1"/>
          <p:nvPr/>
        </p:nvSpPr>
        <p:spPr>
          <a:xfrm>
            <a:off x="548640" y="1554480"/>
            <a:ext cx="5440680" cy="320040"/>
          </a:xfrm>
          <a:prstGeom prst="rect">
            <a:avLst/>
          </a:prstGeom>
          <a:noFill/>
          <a:ln/>
        </p:spPr>
        <p:txBody>
          <a:bodyPr wrap="square" lIns="0" tIns="0" rIns="0" bIns="0" rtlCol="0" anchor="t"/>
          <a:lstStyle/>
          <a:p>
            <a:pPr indent="0" marL="0">
              <a:buNone/>
            </a:pPr>
            <a:r>
              <a:rPr lang="tr-TR" sz="1500" b="1" dirty="0">
                <a:solidFill>
                  <a:srgbClr val="028090"/>
                </a:solidFill>
                <a:latin typeface="Calibri" pitchFamily="34" charset="0"/>
                <a:ea typeface="Calibri" pitchFamily="34" charset="-122"/>
                <a:cs typeface="Calibri" pitchFamily="34" charset="-120"/>
              </a:rPr>
              <a:t>Sıralı: sonrakini oku / sonrakini yaz / başa sar</a:t>
            </a:r>
            <a:endParaRPr lang="tr-TR" sz="1500" dirty="0"/>
          </a:p>
        </p:txBody>
      </p:sp>
      <p:sp>
        <p:nvSpPr>
          <p:cNvPr id="7" name="Shape 5"/>
          <p:cNvSpPr/>
          <p:nvPr/>
        </p:nvSpPr>
        <p:spPr>
          <a:xfrm>
            <a:off x="548640" y="2194560"/>
            <a:ext cx="548640" cy="548640"/>
          </a:xfrm>
          <a:prstGeom prst="roundRect">
            <a:avLst>
              <a:gd name="adj" fmla="val 8333"/>
            </a:avLst>
          </a:prstGeom>
          <a:solidFill>
            <a:srgbClr val="D7E9E6"/>
          </a:solidFill>
          <a:ln/>
        </p:spPr>
      </p:sp>
      <p:sp>
        <p:nvSpPr>
          <p:cNvPr id="8" name="Text 6"/>
          <p:cNvSpPr txBox="1"/>
          <p:nvPr/>
        </p:nvSpPr>
        <p:spPr>
          <a:xfrm>
            <a:off x="548640" y="2194560"/>
            <a:ext cx="548640" cy="548640"/>
          </a:xfrm>
          <a:prstGeom prst="rect">
            <a:avLst/>
          </a:prstGeom>
          <a:noFill/>
          <a:ln/>
        </p:spPr>
        <p:txBody>
          <a:bodyPr wrap="square" lIns="38100" tIns="38100" rIns="38100" bIns="38100" rtlCol="0" anchor="ctr"/>
          <a:lstStyle/>
          <a:p>
            <a:pPr algn="ctr" indent="0" marL="0">
              <a:buNone/>
            </a:pPr>
            <a:endParaRPr lang="tr-TR" sz="1300" dirty="0"/>
          </a:p>
        </p:txBody>
      </p:sp>
      <p:sp>
        <p:nvSpPr>
          <p:cNvPr id="9" name="Shape 7"/>
          <p:cNvSpPr/>
          <p:nvPr/>
        </p:nvSpPr>
        <p:spPr>
          <a:xfrm>
            <a:off x="1133856" y="2194560"/>
            <a:ext cx="548640" cy="548640"/>
          </a:xfrm>
          <a:prstGeom prst="roundRect">
            <a:avLst>
              <a:gd name="adj" fmla="val 8333"/>
            </a:avLst>
          </a:prstGeom>
          <a:solidFill>
            <a:srgbClr val="D7E9E6"/>
          </a:solidFill>
          <a:ln/>
        </p:spPr>
      </p:sp>
      <p:sp>
        <p:nvSpPr>
          <p:cNvPr id="10" name="Text 8"/>
          <p:cNvSpPr txBox="1"/>
          <p:nvPr/>
        </p:nvSpPr>
        <p:spPr>
          <a:xfrm>
            <a:off x="1133856" y="2194560"/>
            <a:ext cx="548640" cy="548640"/>
          </a:xfrm>
          <a:prstGeom prst="rect">
            <a:avLst/>
          </a:prstGeom>
          <a:noFill/>
          <a:ln/>
        </p:spPr>
        <p:txBody>
          <a:bodyPr wrap="square" lIns="38100" tIns="38100" rIns="38100" bIns="38100" rtlCol="0" anchor="ctr"/>
          <a:lstStyle/>
          <a:p>
            <a:pPr algn="ctr" indent="0" marL="0">
              <a:buNone/>
            </a:pPr>
            <a:endParaRPr lang="tr-TR" sz="1300" dirty="0"/>
          </a:p>
        </p:txBody>
      </p:sp>
      <p:sp>
        <p:nvSpPr>
          <p:cNvPr id="11" name="Shape 9"/>
          <p:cNvSpPr/>
          <p:nvPr/>
        </p:nvSpPr>
        <p:spPr>
          <a:xfrm>
            <a:off x="1719072" y="2194560"/>
            <a:ext cx="548640" cy="548640"/>
          </a:xfrm>
          <a:prstGeom prst="roundRect">
            <a:avLst>
              <a:gd name="adj" fmla="val 8333"/>
            </a:avLst>
          </a:prstGeom>
          <a:solidFill>
            <a:srgbClr val="D7E9E6"/>
          </a:solidFill>
          <a:ln/>
        </p:spPr>
      </p:sp>
      <p:sp>
        <p:nvSpPr>
          <p:cNvPr id="12" name="Text 10"/>
          <p:cNvSpPr txBox="1"/>
          <p:nvPr/>
        </p:nvSpPr>
        <p:spPr>
          <a:xfrm>
            <a:off x="1719072" y="2194560"/>
            <a:ext cx="548640" cy="548640"/>
          </a:xfrm>
          <a:prstGeom prst="rect">
            <a:avLst/>
          </a:prstGeom>
          <a:noFill/>
          <a:ln/>
        </p:spPr>
        <p:txBody>
          <a:bodyPr wrap="square" lIns="38100" tIns="38100" rIns="38100" bIns="38100" rtlCol="0" anchor="ctr"/>
          <a:lstStyle/>
          <a:p>
            <a:pPr algn="ctr" indent="0" marL="0">
              <a:buNone/>
            </a:pPr>
            <a:endParaRPr lang="tr-TR" sz="1300" dirty="0"/>
          </a:p>
        </p:txBody>
      </p:sp>
      <p:sp>
        <p:nvSpPr>
          <p:cNvPr id="13" name="Shape 11"/>
          <p:cNvSpPr/>
          <p:nvPr/>
        </p:nvSpPr>
        <p:spPr>
          <a:xfrm>
            <a:off x="2304288" y="2194560"/>
            <a:ext cx="548640" cy="548640"/>
          </a:xfrm>
          <a:prstGeom prst="roundRect">
            <a:avLst>
              <a:gd name="adj" fmla="val 8333"/>
            </a:avLst>
          </a:prstGeom>
          <a:solidFill>
            <a:srgbClr val="D7E9E6"/>
          </a:solidFill>
          <a:ln/>
        </p:spPr>
      </p:sp>
      <p:sp>
        <p:nvSpPr>
          <p:cNvPr id="14" name="Text 12"/>
          <p:cNvSpPr txBox="1"/>
          <p:nvPr/>
        </p:nvSpPr>
        <p:spPr>
          <a:xfrm>
            <a:off x="2304288" y="2194560"/>
            <a:ext cx="548640" cy="548640"/>
          </a:xfrm>
          <a:prstGeom prst="rect">
            <a:avLst/>
          </a:prstGeom>
          <a:noFill/>
          <a:ln/>
        </p:spPr>
        <p:txBody>
          <a:bodyPr wrap="square" lIns="38100" tIns="38100" rIns="38100" bIns="38100" rtlCol="0" anchor="ctr"/>
          <a:lstStyle/>
          <a:p>
            <a:pPr algn="ctr" indent="0" marL="0">
              <a:buNone/>
            </a:pPr>
            <a:endParaRPr lang="tr-TR" sz="1300" dirty="0"/>
          </a:p>
        </p:txBody>
      </p:sp>
      <p:sp>
        <p:nvSpPr>
          <p:cNvPr id="15" name="Shape 13"/>
          <p:cNvSpPr/>
          <p:nvPr/>
        </p:nvSpPr>
        <p:spPr>
          <a:xfrm>
            <a:off x="2889504" y="2194560"/>
            <a:ext cx="548640" cy="548640"/>
          </a:xfrm>
          <a:prstGeom prst="roundRect">
            <a:avLst>
              <a:gd name="adj" fmla="val 8333"/>
            </a:avLst>
          </a:prstGeom>
          <a:solidFill>
            <a:srgbClr val="F2F2F2"/>
          </a:solidFill>
          <a:ln/>
        </p:spPr>
      </p:sp>
      <p:sp>
        <p:nvSpPr>
          <p:cNvPr id="16" name="Text 14"/>
          <p:cNvSpPr txBox="1"/>
          <p:nvPr/>
        </p:nvSpPr>
        <p:spPr>
          <a:xfrm>
            <a:off x="2889504" y="2194560"/>
            <a:ext cx="548640" cy="548640"/>
          </a:xfrm>
          <a:prstGeom prst="rect">
            <a:avLst/>
          </a:prstGeom>
          <a:noFill/>
          <a:ln/>
        </p:spPr>
        <p:txBody>
          <a:bodyPr wrap="square" lIns="38100" tIns="38100" rIns="38100" bIns="38100" rtlCol="0" anchor="ctr"/>
          <a:lstStyle/>
          <a:p>
            <a:pPr algn="ctr" indent="0" marL="0">
              <a:buNone/>
            </a:pPr>
            <a:endParaRPr lang="tr-TR" sz="1300" dirty="0"/>
          </a:p>
        </p:txBody>
      </p:sp>
      <p:sp>
        <p:nvSpPr>
          <p:cNvPr id="17" name="Shape 15"/>
          <p:cNvSpPr/>
          <p:nvPr/>
        </p:nvSpPr>
        <p:spPr>
          <a:xfrm>
            <a:off x="3474720" y="2194560"/>
            <a:ext cx="548640" cy="548640"/>
          </a:xfrm>
          <a:prstGeom prst="roundRect">
            <a:avLst>
              <a:gd name="adj" fmla="val 8333"/>
            </a:avLst>
          </a:prstGeom>
          <a:solidFill>
            <a:srgbClr val="F2F2F2"/>
          </a:solidFill>
          <a:ln/>
        </p:spPr>
      </p:sp>
      <p:sp>
        <p:nvSpPr>
          <p:cNvPr id="18" name="Text 16"/>
          <p:cNvSpPr txBox="1"/>
          <p:nvPr/>
        </p:nvSpPr>
        <p:spPr>
          <a:xfrm>
            <a:off x="3474720" y="2194560"/>
            <a:ext cx="548640" cy="548640"/>
          </a:xfrm>
          <a:prstGeom prst="rect">
            <a:avLst/>
          </a:prstGeom>
          <a:noFill/>
          <a:ln/>
        </p:spPr>
        <p:txBody>
          <a:bodyPr wrap="square" lIns="38100" tIns="38100" rIns="38100" bIns="38100" rtlCol="0" anchor="ctr"/>
          <a:lstStyle/>
          <a:p>
            <a:pPr algn="ctr" indent="0" marL="0">
              <a:buNone/>
            </a:pPr>
            <a:endParaRPr lang="tr-TR" sz="1300" dirty="0"/>
          </a:p>
        </p:txBody>
      </p:sp>
      <p:sp>
        <p:nvSpPr>
          <p:cNvPr id="19" name="Shape 17"/>
          <p:cNvSpPr/>
          <p:nvPr/>
        </p:nvSpPr>
        <p:spPr>
          <a:xfrm>
            <a:off x="4059936" y="2194560"/>
            <a:ext cx="548640" cy="548640"/>
          </a:xfrm>
          <a:prstGeom prst="roundRect">
            <a:avLst>
              <a:gd name="adj" fmla="val 8333"/>
            </a:avLst>
          </a:prstGeom>
          <a:solidFill>
            <a:srgbClr val="F2F2F2"/>
          </a:solidFill>
          <a:ln/>
        </p:spPr>
      </p:sp>
      <p:sp>
        <p:nvSpPr>
          <p:cNvPr id="20" name="Text 18"/>
          <p:cNvSpPr txBox="1"/>
          <p:nvPr/>
        </p:nvSpPr>
        <p:spPr>
          <a:xfrm>
            <a:off x="4059936" y="2194560"/>
            <a:ext cx="548640" cy="548640"/>
          </a:xfrm>
          <a:prstGeom prst="rect">
            <a:avLst/>
          </a:prstGeom>
          <a:noFill/>
          <a:ln/>
        </p:spPr>
        <p:txBody>
          <a:bodyPr wrap="square" lIns="38100" tIns="38100" rIns="38100" bIns="38100" rtlCol="0" anchor="ctr"/>
          <a:lstStyle/>
          <a:p>
            <a:pPr algn="ctr" indent="0" marL="0">
              <a:buNone/>
            </a:pPr>
            <a:endParaRPr lang="tr-TR" sz="1300" dirty="0"/>
          </a:p>
        </p:txBody>
      </p:sp>
      <p:sp>
        <p:nvSpPr>
          <p:cNvPr id="21" name="Shape 19"/>
          <p:cNvSpPr/>
          <p:nvPr/>
        </p:nvSpPr>
        <p:spPr>
          <a:xfrm>
            <a:off x="4645152" y="2194560"/>
            <a:ext cx="548640" cy="548640"/>
          </a:xfrm>
          <a:prstGeom prst="roundRect">
            <a:avLst>
              <a:gd name="adj" fmla="val 8333"/>
            </a:avLst>
          </a:prstGeom>
          <a:solidFill>
            <a:srgbClr val="F2F2F2"/>
          </a:solidFill>
          <a:ln/>
        </p:spPr>
      </p:sp>
      <p:sp>
        <p:nvSpPr>
          <p:cNvPr id="22" name="Text 20"/>
          <p:cNvSpPr txBox="1"/>
          <p:nvPr/>
        </p:nvSpPr>
        <p:spPr>
          <a:xfrm>
            <a:off x="4645152" y="2194560"/>
            <a:ext cx="548640" cy="548640"/>
          </a:xfrm>
          <a:prstGeom prst="rect">
            <a:avLst/>
          </a:prstGeom>
          <a:noFill/>
          <a:ln/>
        </p:spPr>
        <p:txBody>
          <a:bodyPr wrap="square" lIns="38100" tIns="38100" rIns="38100" bIns="38100" rtlCol="0" anchor="ctr"/>
          <a:lstStyle/>
          <a:p>
            <a:pPr algn="ctr" indent="0" marL="0">
              <a:buNone/>
            </a:pPr>
            <a:endParaRPr lang="tr-TR" sz="1300" dirty="0"/>
          </a:p>
        </p:txBody>
      </p:sp>
      <p:sp>
        <p:nvSpPr>
          <p:cNvPr id="23" name="Shape 21"/>
          <p:cNvSpPr/>
          <p:nvPr/>
        </p:nvSpPr>
        <p:spPr>
          <a:xfrm>
            <a:off x="5230368" y="2194560"/>
            <a:ext cx="548640" cy="548640"/>
          </a:xfrm>
          <a:prstGeom prst="roundRect">
            <a:avLst>
              <a:gd name="adj" fmla="val 8333"/>
            </a:avLst>
          </a:prstGeom>
          <a:solidFill>
            <a:srgbClr val="F2F2F2"/>
          </a:solidFill>
          <a:ln/>
        </p:spPr>
      </p:sp>
      <p:sp>
        <p:nvSpPr>
          <p:cNvPr id="24" name="Text 22"/>
          <p:cNvSpPr txBox="1"/>
          <p:nvPr/>
        </p:nvSpPr>
        <p:spPr>
          <a:xfrm>
            <a:off x="5230368" y="2194560"/>
            <a:ext cx="548640" cy="548640"/>
          </a:xfrm>
          <a:prstGeom prst="rect">
            <a:avLst/>
          </a:prstGeom>
          <a:noFill/>
          <a:ln/>
        </p:spPr>
        <p:txBody>
          <a:bodyPr wrap="square" lIns="38100" tIns="38100" rIns="38100" bIns="38100" rtlCol="0" anchor="ctr"/>
          <a:lstStyle/>
          <a:p>
            <a:pPr algn="ctr" indent="0" marL="0">
              <a:buNone/>
            </a:pPr>
            <a:endParaRPr lang="tr-TR" sz="1300" dirty="0"/>
          </a:p>
        </p:txBody>
      </p:sp>
      <p:sp>
        <p:nvSpPr>
          <p:cNvPr id="25" name="Text 23"/>
          <p:cNvSpPr txBox="1"/>
          <p:nvPr/>
        </p:nvSpPr>
        <p:spPr>
          <a:xfrm>
            <a:off x="457200" y="2788920"/>
            <a:ext cx="1188720" cy="274320"/>
          </a:xfrm>
          <a:prstGeom prst="rect">
            <a:avLst/>
          </a:prstGeom>
          <a:noFill/>
          <a:ln/>
        </p:spPr>
        <p:txBody>
          <a:bodyPr wrap="square" lIns="0" tIns="0" rIns="0" bIns="0" rtlCol="0" anchor="t"/>
          <a:lstStyle/>
          <a:p>
            <a:pPr indent="0" marL="0">
              <a:buNone/>
            </a:pPr>
            <a:r>
              <a:rPr lang="tr-TR" sz="1100" i="1" dirty="0">
                <a:solidFill>
                  <a:srgbClr val="6B7679"/>
                </a:solidFill>
                <a:latin typeface="Calibri" pitchFamily="34" charset="0"/>
                <a:ea typeface="Calibri" pitchFamily="34" charset="-122"/>
                <a:cs typeface="Calibri" pitchFamily="34" charset="-120"/>
              </a:rPr>
              <a:t>baş</a:t>
            </a:r>
            <a:endParaRPr lang="tr-TR" sz="1100" dirty="0"/>
          </a:p>
        </p:txBody>
      </p:sp>
      <p:sp>
        <p:nvSpPr>
          <p:cNvPr id="26" name="Text 24"/>
          <p:cNvSpPr txBox="1"/>
          <p:nvPr/>
        </p:nvSpPr>
        <p:spPr>
          <a:xfrm>
            <a:off x="5120640" y="2788920"/>
            <a:ext cx="685800" cy="274320"/>
          </a:xfrm>
          <a:prstGeom prst="rect">
            <a:avLst/>
          </a:prstGeom>
          <a:noFill/>
          <a:ln/>
        </p:spPr>
        <p:txBody>
          <a:bodyPr wrap="square" lIns="0" tIns="0" rIns="0" bIns="0" rtlCol="0" anchor="t"/>
          <a:lstStyle/>
          <a:p>
            <a:pPr algn="r" indent="0" marL="0">
              <a:buNone/>
            </a:pPr>
            <a:r>
              <a:rPr lang="tr-TR" sz="1100" i="1" dirty="0">
                <a:solidFill>
                  <a:srgbClr val="6B7679"/>
                </a:solidFill>
                <a:latin typeface="Calibri" pitchFamily="34" charset="0"/>
                <a:ea typeface="Calibri" pitchFamily="34" charset="-122"/>
                <a:cs typeface="Calibri" pitchFamily="34" charset="-120"/>
              </a:rPr>
              <a:t>son</a:t>
            </a:r>
            <a:endParaRPr lang="tr-TR" sz="1100" dirty="0"/>
          </a:p>
        </p:txBody>
      </p:sp>
      <p:sp>
        <p:nvSpPr>
          <p:cNvPr id="27" name="Shape 25"/>
          <p:cNvSpPr/>
          <p:nvPr/>
        </p:nvSpPr>
        <p:spPr>
          <a:xfrm flipV="1">
            <a:off x="2889504" y="2770632"/>
            <a:ext cx="91" cy="612648"/>
          </a:xfrm>
          <a:prstGeom prst="line">
            <a:avLst/>
          </a:prstGeom>
          <a:noFill/>
          <a:ln w="25400">
            <a:solidFill>
              <a:srgbClr val="36454F"/>
            </a:solidFill>
            <a:prstDash val="solid"/>
            <a:tailEnd type="triangle"/>
          </a:ln>
        </p:spPr>
      </p:sp>
      <p:sp>
        <p:nvSpPr>
          <p:cNvPr id="28" name="Text 26"/>
          <p:cNvSpPr txBox="1"/>
          <p:nvPr/>
        </p:nvSpPr>
        <p:spPr>
          <a:xfrm>
            <a:off x="2011680" y="3401568"/>
            <a:ext cx="1783080" cy="274320"/>
          </a:xfrm>
          <a:prstGeom prst="rect">
            <a:avLst/>
          </a:prstGeom>
          <a:noFill/>
          <a:ln/>
        </p:spPr>
        <p:txBody>
          <a:bodyPr wrap="square" lIns="0" tIns="0" rIns="0" bIns="0" rtlCol="0" anchor="t"/>
          <a:lstStyle/>
          <a:p>
            <a:pPr algn="ctr" indent="0" marL="0">
              <a:buNone/>
            </a:pPr>
            <a:r>
              <a:rPr lang="tr-TR" sz="1100" b="1" dirty="0">
                <a:solidFill>
                  <a:srgbClr val="36454F"/>
                </a:solidFill>
                <a:latin typeface="Calibri" pitchFamily="34" charset="0"/>
                <a:ea typeface="Calibri" pitchFamily="34" charset="-122"/>
                <a:cs typeface="Calibri" pitchFamily="34" charset="-120"/>
              </a:rPr>
              <a:t>geçerli konum</a:t>
            </a:r>
            <a:endParaRPr lang="tr-TR" sz="1100" dirty="0"/>
          </a:p>
        </p:txBody>
      </p:sp>
      <p:sp>
        <p:nvSpPr>
          <p:cNvPr id="29" name="Shape 27"/>
          <p:cNvSpPr/>
          <p:nvPr/>
        </p:nvSpPr>
        <p:spPr>
          <a:xfrm>
            <a:off x="2926080" y="2011680"/>
            <a:ext cx="1097280" cy="91"/>
          </a:xfrm>
          <a:prstGeom prst="line">
            <a:avLst/>
          </a:prstGeom>
          <a:noFill/>
          <a:ln w="25400">
            <a:solidFill>
              <a:srgbClr val="028090"/>
            </a:solidFill>
            <a:prstDash val="solid"/>
            <a:tailEnd type="triangle"/>
          </a:ln>
        </p:spPr>
      </p:sp>
      <p:sp>
        <p:nvSpPr>
          <p:cNvPr id="30" name="Text 28"/>
          <p:cNvSpPr txBox="1"/>
          <p:nvPr/>
        </p:nvSpPr>
        <p:spPr>
          <a:xfrm>
            <a:off x="4069080" y="1856232"/>
            <a:ext cx="1463040" cy="292608"/>
          </a:xfrm>
          <a:prstGeom prst="rect">
            <a:avLst/>
          </a:prstGeom>
          <a:noFill/>
          <a:ln/>
        </p:spPr>
        <p:txBody>
          <a:bodyPr wrap="square" lIns="0" tIns="0" rIns="0" bIns="0" rtlCol="0" anchor="t"/>
          <a:lstStyle/>
          <a:p>
            <a:pPr indent="0" marL="0">
              <a:buNone/>
            </a:pPr>
            <a:r>
              <a:rPr lang="tr-TR" sz="1100" b="1" dirty="0">
                <a:solidFill>
                  <a:srgbClr val="028090"/>
                </a:solidFill>
                <a:latin typeface="Calibri" pitchFamily="34" charset="0"/>
                <a:ea typeface="Calibri" pitchFamily="34" charset="-122"/>
                <a:cs typeface="Calibri" pitchFamily="34" charset="-120"/>
              </a:rPr>
              <a:t>sonrakini oku</a:t>
            </a:r>
            <a:endParaRPr lang="tr-TR" sz="1100" dirty="0"/>
          </a:p>
        </p:txBody>
      </p:sp>
      <p:sp>
        <p:nvSpPr>
          <p:cNvPr id="31" name="Shape 29"/>
          <p:cNvSpPr/>
          <p:nvPr/>
        </p:nvSpPr>
        <p:spPr>
          <a:xfrm>
            <a:off x="548640" y="3886200"/>
            <a:ext cx="544068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sp>
      <p:sp>
        <p:nvSpPr>
          <p:cNvPr id="32" name="Text 30"/>
          <p:cNvSpPr txBox="1"/>
          <p:nvPr/>
        </p:nvSpPr>
        <p:spPr>
          <a:xfrm>
            <a:off x="777240" y="4069080"/>
            <a:ext cx="4983480" cy="2057400"/>
          </a:xfrm>
          <a:prstGeom prst="rect">
            <a:avLst/>
          </a:prstGeom>
          <a:noFill/>
          <a:ln/>
        </p:spPr>
        <p:txBody>
          <a:bodyPr wrap="square" lIns="0" tIns="0" rIns="0" bIns="0" rtlCol="0" anchor="t"/>
          <a:lstStyle/>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Bilgi sırayla, bir kayıt ötekinin ardından işlenir.</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Teybin modeli; çoğu programın da modeli: derleyiciler, düzenleyiciler, medya oynatıcılar.</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C'de: art arda read() çağrıları; konum kendiliğinden ilerler.</a:t>
            </a:r>
            <a:endParaRPr lang="tr-TR" sz="1550" dirty="0"/>
          </a:p>
        </p:txBody>
      </p:sp>
      <p:sp>
        <p:nvSpPr>
          <p:cNvPr id="33" name="Text 31"/>
          <p:cNvSpPr txBox="1"/>
          <p:nvPr/>
        </p:nvSpPr>
        <p:spPr>
          <a:xfrm>
            <a:off x="6217920" y="1554480"/>
            <a:ext cx="5440680" cy="320040"/>
          </a:xfrm>
          <a:prstGeom prst="rect">
            <a:avLst/>
          </a:prstGeom>
          <a:noFill/>
          <a:ln/>
        </p:spPr>
        <p:txBody>
          <a:bodyPr wrap="square" lIns="0" tIns="0" rIns="0" bIns="0" rtlCol="0" anchor="t"/>
          <a:lstStyle/>
          <a:p>
            <a:pPr indent="0" marL="0">
              <a:buNone/>
            </a:pPr>
            <a:r>
              <a:rPr lang="tr-TR" sz="1500" b="1" dirty="0">
                <a:solidFill>
                  <a:srgbClr val="028090"/>
                </a:solidFill>
                <a:latin typeface="Calibri" pitchFamily="34" charset="0"/>
                <a:ea typeface="Calibri" pitchFamily="34" charset="-122"/>
                <a:cs typeface="Calibri" pitchFamily="34" charset="-120"/>
              </a:rPr>
              <a:t>Doğrudan (göreli): n'yi oku / n'ye yaz / n'ye git</a:t>
            </a:r>
            <a:endParaRPr lang="tr-TR" sz="1500" dirty="0"/>
          </a:p>
        </p:txBody>
      </p:sp>
      <p:sp>
        <p:nvSpPr>
          <p:cNvPr id="34" name="Shape 32"/>
          <p:cNvSpPr/>
          <p:nvPr/>
        </p:nvSpPr>
        <p:spPr>
          <a:xfrm>
            <a:off x="6217920" y="2194560"/>
            <a:ext cx="548640" cy="548640"/>
          </a:xfrm>
          <a:prstGeom prst="roundRect">
            <a:avLst>
              <a:gd name="adj" fmla="val 8333"/>
            </a:avLst>
          </a:prstGeom>
          <a:solidFill>
            <a:srgbClr val="F2F2F2"/>
          </a:solidFill>
          <a:ln/>
        </p:spPr>
      </p:sp>
      <p:sp>
        <p:nvSpPr>
          <p:cNvPr id="35" name="Text 33"/>
          <p:cNvSpPr txBox="1"/>
          <p:nvPr/>
        </p:nvSpPr>
        <p:spPr>
          <a:xfrm>
            <a:off x="6217920" y="2194560"/>
            <a:ext cx="548640" cy="54864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0</a:t>
            </a:r>
            <a:endParaRPr lang="tr-TR" sz="1200" dirty="0"/>
          </a:p>
        </p:txBody>
      </p:sp>
      <p:sp>
        <p:nvSpPr>
          <p:cNvPr id="36" name="Shape 34"/>
          <p:cNvSpPr/>
          <p:nvPr/>
        </p:nvSpPr>
        <p:spPr>
          <a:xfrm>
            <a:off x="6803136" y="2194560"/>
            <a:ext cx="548640" cy="548640"/>
          </a:xfrm>
          <a:prstGeom prst="roundRect">
            <a:avLst>
              <a:gd name="adj" fmla="val 8333"/>
            </a:avLst>
          </a:prstGeom>
          <a:solidFill>
            <a:srgbClr val="F2F2F2"/>
          </a:solidFill>
          <a:ln/>
        </p:spPr>
      </p:sp>
      <p:sp>
        <p:nvSpPr>
          <p:cNvPr id="37" name="Text 35"/>
          <p:cNvSpPr txBox="1"/>
          <p:nvPr/>
        </p:nvSpPr>
        <p:spPr>
          <a:xfrm>
            <a:off x="6803136" y="2194560"/>
            <a:ext cx="548640" cy="54864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1</a:t>
            </a:r>
            <a:endParaRPr lang="tr-TR" sz="1200" dirty="0"/>
          </a:p>
        </p:txBody>
      </p:sp>
      <p:sp>
        <p:nvSpPr>
          <p:cNvPr id="38" name="Shape 36"/>
          <p:cNvSpPr/>
          <p:nvPr/>
        </p:nvSpPr>
        <p:spPr>
          <a:xfrm>
            <a:off x="7388352" y="2194560"/>
            <a:ext cx="548640" cy="548640"/>
          </a:xfrm>
          <a:prstGeom prst="roundRect">
            <a:avLst>
              <a:gd name="adj" fmla="val 8333"/>
            </a:avLst>
          </a:prstGeom>
          <a:solidFill>
            <a:srgbClr val="D7E9E6"/>
          </a:solidFill>
          <a:ln/>
        </p:spPr>
      </p:sp>
      <p:sp>
        <p:nvSpPr>
          <p:cNvPr id="39" name="Text 37"/>
          <p:cNvSpPr txBox="1"/>
          <p:nvPr/>
        </p:nvSpPr>
        <p:spPr>
          <a:xfrm>
            <a:off x="7388352" y="2194560"/>
            <a:ext cx="548640" cy="54864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2</a:t>
            </a:r>
            <a:endParaRPr lang="tr-TR" sz="1200" dirty="0"/>
          </a:p>
        </p:txBody>
      </p:sp>
      <p:sp>
        <p:nvSpPr>
          <p:cNvPr id="40" name="Shape 38"/>
          <p:cNvSpPr/>
          <p:nvPr/>
        </p:nvSpPr>
        <p:spPr>
          <a:xfrm>
            <a:off x="7973568" y="2194560"/>
            <a:ext cx="548640" cy="548640"/>
          </a:xfrm>
          <a:prstGeom prst="roundRect">
            <a:avLst>
              <a:gd name="adj" fmla="val 8333"/>
            </a:avLst>
          </a:prstGeom>
          <a:solidFill>
            <a:srgbClr val="F2F2F2"/>
          </a:solidFill>
          <a:ln/>
        </p:spPr>
      </p:sp>
      <p:sp>
        <p:nvSpPr>
          <p:cNvPr id="41" name="Text 39"/>
          <p:cNvSpPr txBox="1"/>
          <p:nvPr/>
        </p:nvSpPr>
        <p:spPr>
          <a:xfrm>
            <a:off x="7973568" y="2194560"/>
            <a:ext cx="548640" cy="54864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3</a:t>
            </a:r>
            <a:endParaRPr lang="tr-TR" sz="1200" dirty="0"/>
          </a:p>
        </p:txBody>
      </p:sp>
      <p:sp>
        <p:nvSpPr>
          <p:cNvPr id="42" name="Shape 40"/>
          <p:cNvSpPr/>
          <p:nvPr/>
        </p:nvSpPr>
        <p:spPr>
          <a:xfrm>
            <a:off x="8558784" y="2194560"/>
            <a:ext cx="548640" cy="548640"/>
          </a:xfrm>
          <a:prstGeom prst="roundRect">
            <a:avLst>
              <a:gd name="adj" fmla="val 8333"/>
            </a:avLst>
          </a:prstGeom>
          <a:solidFill>
            <a:srgbClr val="F2F2F2"/>
          </a:solidFill>
          <a:ln/>
        </p:spPr>
      </p:sp>
      <p:sp>
        <p:nvSpPr>
          <p:cNvPr id="43" name="Text 41"/>
          <p:cNvSpPr txBox="1"/>
          <p:nvPr/>
        </p:nvSpPr>
        <p:spPr>
          <a:xfrm>
            <a:off x="8558784" y="2194560"/>
            <a:ext cx="548640" cy="54864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4</a:t>
            </a:r>
            <a:endParaRPr lang="tr-TR" sz="1200" dirty="0"/>
          </a:p>
        </p:txBody>
      </p:sp>
      <p:sp>
        <p:nvSpPr>
          <p:cNvPr id="44" name="Shape 42"/>
          <p:cNvSpPr/>
          <p:nvPr/>
        </p:nvSpPr>
        <p:spPr>
          <a:xfrm>
            <a:off x="9144000" y="2194560"/>
            <a:ext cx="548640" cy="548640"/>
          </a:xfrm>
          <a:prstGeom prst="roundRect">
            <a:avLst>
              <a:gd name="adj" fmla="val 8333"/>
            </a:avLst>
          </a:prstGeom>
          <a:solidFill>
            <a:srgbClr val="F2F2F2"/>
          </a:solidFill>
          <a:ln/>
        </p:spPr>
      </p:sp>
      <p:sp>
        <p:nvSpPr>
          <p:cNvPr id="45" name="Text 43"/>
          <p:cNvSpPr txBox="1"/>
          <p:nvPr/>
        </p:nvSpPr>
        <p:spPr>
          <a:xfrm>
            <a:off x="9144000" y="2194560"/>
            <a:ext cx="548640" cy="54864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5</a:t>
            </a:r>
            <a:endParaRPr lang="tr-TR" sz="1200" dirty="0"/>
          </a:p>
        </p:txBody>
      </p:sp>
      <p:sp>
        <p:nvSpPr>
          <p:cNvPr id="46" name="Shape 44"/>
          <p:cNvSpPr/>
          <p:nvPr/>
        </p:nvSpPr>
        <p:spPr>
          <a:xfrm>
            <a:off x="9729216" y="2194560"/>
            <a:ext cx="548640" cy="548640"/>
          </a:xfrm>
          <a:prstGeom prst="roundRect">
            <a:avLst>
              <a:gd name="adj" fmla="val 8333"/>
            </a:avLst>
          </a:prstGeom>
          <a:solidFill>
            <a:srgbClr val="02C39A"/>
          </a:solidFill>
          <a:ln/>
        </p:spPr>
      </p:sp>
      <p:sp>
        <p:nvSpPr>
          <p:cNvPr id="47" name="Text 45"/>
          <p:cNvSpPr txBox="1"/>
          <p:nvPr/>
        </p:nvSpPr>
        <p:spPr>
          <a:xfrm>
            <a:off x="9729216" y="2194560"/>
            <a:ext cx="548640" cy="54864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6</a:t>
            </a:r>
            <a:endParaRPr lang="tr-TR" sz="1200" dirty="0"/>
          </a:p>
        </p:txBody>
      </p:sp>
      <p:sp>
        <p:nvSpPr>
          <p:cNvPr id="48" name="Shape 46"/>
          <p:cNvSpPr/>
          <p:nvPr/>
        </p:nvSpPr>
        <p:spPr>
          <a:xfrm>
            <a:off x="10314432" y="2194560"/>
            <a:ext cx="548640" cy="548640"/>
          </a:xfrm>
          <a:prstGeom prst="roundRect">
            <a:avLst>
              <a:gd name="adj" fmla="val 8333"/>
            </a:avLst>
          </a:prstGeom>
          <a:solidFill>
            <a:srgbClr val="F2F2F2"/>
          </a:solidFill>
          <a:ln/>
        </p:spPr>
      </p:sp>
      <p:sp>
        <p:nvSpPr>
          <p:cNvPr id="49" name="Text 47"/>
          <p:cNvSpPr txBox="1"/>
          <p:nvPr/>
        </p:nvSpPr>
        <p:spPr>
          <a:xfrm>
            <a:off x="10314432" y="2194560"/>
            <a:ext cx="548640" cy="54864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7</a:t>
            </a:r>
            <a:endParaRPr lang="tr-TR" sz="1200" dirty="0"/>
          </a:p>
        </p:txBody>
      </p:sp>
      <p:sp>
        <p:nvSpPr>
          <p:cNvPr id="50" name="Shape 48"/>
          <p:cNvSpPr/>
          <p:nvPr/>
        </p:nvSpPr>
        <p:spPr>
          <a:xfrm>
            <a:off x="10899648" y="2194560"/>
            <a:ext cx="548640" cy="548640"/>
          </a:xfrm>
          <a:prstGeom prst="roundRect">
            <a:avLst>
              <a:gd name="adj" fmla="val 8333"/>
            </a:avLst>
          </a:prstGeom>
          <a:solidFill>
            <a:srgbClr val="F2F2F2"/>
          </a:solidFill>
          <a:ln/>
        </p:spPr>
      </p:sp>
      <p:sp>
        <p:nvSpPr>
          <p:cNvPr id="51" name="Text 49"/>
          <p:cNvSpPr txBox="1"/>
          <p:nvPr/>
        </p:nvSpPr>
        <p:spPr>
          <a:xfrm>
            <a:off x="10899648" y="2194560"/>
            <a:ext cx="548640" cy="54864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8</a:t>
            </a:r>
            <a:endParaRPr lang="tr-TR" sz="1200" dirty="0"/>
          </a:p>
        </p:txBody>
      </p:sp>
      <p:sp>
        <p:nvSpPr>
          <p:cNvPr id="52" name="Shape 50"/>
          <p:cNvSpPr/>
          <p:nvPr/>
        </p:nvSpPr>
        <p:spPr>
          <a:xfrm>
            <a:off x="7680960" y="2971800"/>
            <a:ext cx="2286000" cy="91"/>
          </a:xfrm>
          <a:prstGeom prst="line">
            <a:avLst/>
          </a:prstGeom>
          <a:noFill/>
          <a:ln w="25400">
            <a:solidFill>
              <a:srgbClr val="028090"/>
            </a:solidFill>
            <a:prstDash val="solid"/>
            <a:tailEnd type="triangle"/>
          </a:ln>
        </p:spPr>
      </p:sp>
      <p:sp>
        <p:nvSpPr>
          <p:cNvPr id="53" name="Text 51"/>
          <p:cNvSpPr txBox="1"/>
          <p:nvPr/>
        </p:nvSpPr>
        <p:spPr>
          <a:xfrm>
            <a:off x="6217920" y="3154680"/>
            <a:ext cx="5440680" cy="320040"/>
          </a:xfrm>
          <a:prstGeom prst="rect">
            <a:avLst/>
          </a:prstGeom>
          <a:noFill/>
          <a:ln/>
        </p:spPr>
        <p:txBody>
          <a:bodyPr wrap="square" lIns="0" tIns="0" rIns="0" bIns="0" rtlCol="0" anchor="t"/>
          <a:lstStyle/>
          <a:p>
            <a:pPr indent="0" marL="0">
              <a:buNone/>
            </a:pPr>
            <a:r>
              <a:rPr lang="tr-TR" sz="1100" i="1" dirty="0">
                <a:solidFill>
                  <a:srgbClr val="028090"/>
                </a:solidFill>
                <a:latin typeface="Calibri" pitchFamily="34" charset="0"/>
                <a:ea typeface="Calibri" pitchFamily="34" charset="-122"/>
                <a:cs typeface="Calibri" pitchFamily="34" charset="-120"/>
              </a:rPr>
              <a:t>2. bloktan 6. bloğa atla; aradakiler okunmaz</a:t>
            </a:r>
            <a:endParaRPr lang="tr-TR" sz="1100" dirty="0"/>
          </a:p>
        </p:txBody>
      </p:sp>
      <p:sp>
        <p:nvSpPr>
          <p:cNvPr id="54" name="Shape 52"/>
          <p:cNvSpPr/>
          <p:nvPr/>
        </p:nvSpPr>
        <p:spPr>
          <a:xfrm>
            <a:off x="6217920" y="3886200"/>
            <a:ext cx="544068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sp>
      <p:sp>
        <p:nvSpPr>
          <p:cNvPr id="55" name="Text 53"/>
          <p:cNvSpPr txBox="1"/>
          <p:nvPr/>
        </p:nvSpPr>
        <p:spPr>
          <a:xfrm>
            <a:off x="6446520" y="4069080"/>
            <a:ext cx="4983480" cy="2057400"/>
          </a:xfrm>
          <a:prstGeom prst="rect">
            <a:avLst/>
          </a:prstGeom>
          <a:noFill/>
          <a:ln/>
        </p:spPr>
        <p:txBody>
          <a:bodyPr wrap="square" lIns="0" tIns="0" rIns="0" bIns="0" rtlCol="0" anchor="t"/>
          <a:lstStyle/>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Dosya, sabit boyutlu blok ya da kayıtlardan oluşan numaralı bir dizidir.</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Herhangi bir kayıt herhangi bir sırada okunabilir: diskin modeli.</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Veritabanları, uçak rezervasyonları. C'de: önce lseek(), sonra read().</a:t>
            </a:r>
            <a:endParaRPr lang="tr-TR" sz="15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ERİŞİM YÖNTEMLERİ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Çözümlü Örnek: 1000. Kayıt Nerede?</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29</a:t>
            </a:r>
            <a:endParaRPr lang="tr-TR" sz="900" dirty="0"/>
          </a:p>
        </p:txBody>
      </p:sp>
      <p:sp>
        <p:nvSpPr>
          <p:cNvPr id="6" name="Shape 4"/>
          <p:cNvSpPr/>
          <p:nvPr/>
        </p:nvSpPr>
        <p:spPr>
          <a:xfrm>
            <a:off x="548640" y="1508760"/>
            <a:ext cx="5120640" cy="2971800"/>
          </a:xfrm>
          <a:prstGeom prst="roundRect">
            <a:avLst>
              <a:gd name="adj" fmla="val 1846"/>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46634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Soru</a:t>
            </a:r>
            <a:endParaRPr lang="tr-TR" sz="1500" dirty="0"/>
          </a:p>
        </p:txBody>
      </p:sp>
      <p:sp>
        <p:nvSpPr>
          <p:cNvPr id="8" name="Text 6"/>
          <p:cNvSpPr txBox="1"/>
          <p:nvPr/>
        </p:nvSpPr>
        <p:spPr>
          <a:xfrm>
            <a:off x="777240" y="2148840"/>
            <a:ext cx="4663440" cy="2194560"/>
          </a:xfrm>
          <a:prstGeom prst="rect">
            <a:avLst/>
          </a:prstGeom>
          <a:noFill/>
          <a:ln/>
        </p:spPr>
        <p:txBody>
          <a:bodyPr wrap="square" lIns="0" tIns="0" rIns="0" bIns="0" rtlCol="0" anchor="t"/>
          <a:lstStyle/>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Bir dosya, 0'dan numaralanmış, her biri 100 bayt olan öğrenci kayıtları tutuyor.</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Dosya sistemi 4096 baytlık bloklar kullanıyor.</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1000. kayıt hangi blokta ve o bloğun neresinde başlıyor?</a:t>
            </a:r>
            <a:endParaRPr lang="tr-TR" sz="1500" dirty="0"/>
          </a:p>
        </p:txBody>
      </p:sp>
      <p:sp>
        <p:nvSpPr>
          <p:cNvPr id="9" name="Shape 7"/>
          <p:cNvSpPr/>
          <p:nvPr/>
        </p:nvSpPr>
        <p:spPr>
          <a:xfrm>
            <a:off x="5897880" y="1508760"/>
            <a:ext cx="5760720" cy="2971800"/>
          </a:xfrm>
          <a:prstGeom prst="roundRect">
            <a:avLst>
              <a:gd name="adj" fmla="val 1538"/>
            </a:avLst>
          </a:prstGeom>
          <a:solidFill>
            <a:srgbClr val="212121"/>
          </a:solidFill>
          <a:ln/>
        </p:spPr>
      </p:sp>
      <p:sp>
        <p:nvSpPr>
          <p:cNvPr id="10" name="Text 8"/>
          <p:cNvSpPr txBox="1"/>
          <p:nvPr/>
        </p:nvSpPr>
        <p:spPr>
          <a:xfrm>
            <a:off x="6080760" y="1618488"/>
            <a:ext cx="5394960" cy="2752344"/>
          </a:xfrm>
          <a:prstGeom prst="rect">
            <a:avLst/>
          </a:prstGeom>
          <a:noFill/>
          <a:ln/>
        </p:spPr>
        <p:txBody>
          <a:bodyPr wrap="square" lIns="0" tIns="0" rIns="0" bIns="0" rtlCol="0" anchor="t"/>
          <a:lstStyle/>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bayt konumu = kayıt no × kayıt boyutu</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 1000 × 100 = 100 000</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blok        = ⌊100 000 / 4096⌋ = 24</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blok içi    = 100 000 − 24 × 4096</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 100 000 − 98 304 = 1 696</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son bayt    = 100 099  → yine 24. blok</a:t>
            </a:r>
            <a:endParaRPr lang="tr-TR" sz="1350" dirty="0"/>
          </a:p>
        </p:txBody>
      </p:sp>
      <p:sp>
        <p:nvSpPr>
          <p:cNvPr id="11" name="Shape 9"/>
          <p:cNvSpPr/>
          <p:nvPr/>
        </p:nvSpPr>
        <p:spPr>
          <a:xfrm>
            <a:off x="548640" y="4709160"/>
            <a:ext cx="11109960" cy="1554480"/>
          </a:xfrm>
          <a:prstGeom prst="roundRect">
            <a:avLst>
              <a:gd name="adj" fmla="val 3529"/>
            </a:avLst>
          </a:prstGeom>
          <a:solidFill>
            <a:srgbClr val="36454F"/>
          </a:solidFill>
          <a:ln/>
          <a:effectLst>
            <a:outerShdw sx="100000" sy="100000" kx="0" ky="0" algn="bl" rotWithShape="0" blurRad="101600" dist="25400" dir="5400000">
              <a:srgbClr val="000000">
                <a:alpha val="12000"/>
              </a:srgbClr>
            </a:outerShdw>
          </a:effectLst>
        </p:spPr>
      </p:sp>
      <p:sp>
        <p:nvSpPr>
          <p:cNvPr id="12" name="Text 10"/>
          <p:cNvSpPr txBox="1"/>
          <p:nvPr/>
        </p:nvSpPr>
        <p:spPr>
          <a:xfrm>
            <a:off x="777240" y="4709160"/>
            <a:ext cx="10652760" cy="155448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Yani: 24 numaralı göreli bloğu oku ve 1696 … 1795 arasındaki baytları al. C'de bu tek satırdır: lseek(fd, 1000 * 100, SEEK_SET); ardından read(fd, rec, 100). İşletim sistemi bayt konumunu tam yukarıdaki gibi blok numarasına çevirir. Gösterim programımız 32 baytlık kayıtlar kullanır: 3. kayıt 3 × 32 = 96. baytta başlar.</a:t>
            </a:r>
            <a:endParaRPr lang="tr-TR"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ERİŞİM YÖNTEMLERİ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İndeksli Erişim: Önce Bak, Sonra Atla</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Küçük bir indeks dosyası anahtarları blok numaralarına eşler; indekste ara, sonra tek bir bloğu doğrudan oku.</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30</a:t>
            </a:r>
            <a:endParaRPr lang="tr-TR" sz="900" dirty="0"/>
          </a:p>
        </p:txBody>
      </p:sp>
      <p:sp>
        <p:nvSpPr>
          <p:cNvPr id="7" name="Text 5"/>
          <p:cNvSpPr txBox="1"/>
          <p:nvPr/>
        </p:nvSpPr>
        <p:spPr>
          <a:xfrm>
            <a:off x="548640" y="2011680"/>
            <a:ext cx="3108960" cy="320040"/>
          </a:xfrm>
          <a:prstGeom prst="rect">
            <a:avLst/>
          </a:prstGeom>
          <a:noFill/>
          <a:ln/>
        </p:spPr>
        <p:txBody>
          <a:bodyPr wrap="square" lIns="0" tIns="0" rIns="0" bIns="0" rtlCol="0" anchor="t"/>
          <a:lstStyle/>
          <a:p>
            <a:pPr indent="0" marL="0">
              <a:buNone/>
            </a:pPr>
            <a:r>
              <a:rPr lang="tr-TR" sz="1200" b="1" dirty="0">
                <a:solidFill>
                  <a:srgbClr val="36454F"/>
                </a:solidFill>
                <a:latin typeface="Calibri" pitchFamily="34" charset="0"/>
                <a:ea typeface="Calibri" pitchFamily="34" charset="-122"/>
                <a:cs typeface="Calibri" pitchFamily="34" charset="-120"/>
              </a:rPr>
              <a:t>İndeks (anahtara göre sıralı)</a:t>
            </a:r>
            <a:endParaRPr lang="tr-TR" sz="1200" dirty="0"/>
          </a:p>
        </p:txBody>
      </p:sp>
      <p:sp>
        <p:nvSpPr>
          <p:cNvPr id="8" name="Shape 6"/>
          <p:cNvSpPr/>
          <p:nvPr/>
        </p:nvSpPr>
        <p:spPr>
          <a:xfrm>
            <a:off x="548640" y="2377440"/>
            <a:ext cx="1828800" cy="438912"/>
          </a:xfrm>
          <a:prstGeom prst="roundRect">
            <a:avLst>
              <a:gd name="adj" fmla="val 10417"/>
            </a:avLst>
          </a:prstGeom>
          <a:solidFill>
            <a:srgbClr val="F2F2F2"/>
          </a:solidFill>
          <a:ln/>
        </p:spPr>
      </p:sp>
      <p:sp>
        <p:nvSpPr>
          <p:cNvPr id="9" name="Text 7"/>
          <p:cNvSpPr txBox="1"/>
          <p:nvPr/>
        </p:nvSpPr>
        <p:spPr>
          <a:xfrm>
            <a:off x="548640" y="2377440"/>
            <a:ext cx="1828800" cy="438912"/>
          </a:xfrm>
          <a:prstGeom prst="rect">
            <a:avLst/>
          </a:prstGeom>
          <a:noFill/>
          <a:ln/>
        </p:spPr>
        <p:txBody>
          <a:bodyPr wrap="square" lIns="38100" tIns="38100" rIns="38100" bIns="38100" rtlCol="0" anchor="ctr"/>
          <a:lstStyle/>
          <a:p>
            <a:pPr algn="ctr" indent="0" marL="0">
              <a:buNone/>
            </a:pPr>
            <a:r>
              <a:rPr lang="tr-TR" sz="1300" dirty="0">
                <a:solidFill>
                  <a:srgbClr val="36454F"/>
                </a:solidFill>
                <a:latin typeface="Calibri" pitchFamily="34" charset="0"/>
                <a:ea typeface="Calibri" pitchFamily="34" charset="-122"/>
                <a:cs typeface="Calibri" pitchFamily="34" charset="-120"/>
              </a:rPr>
              <a:t>Aksoy</a:t>
            </a:r>
            <a:endParaRPr lang="tr-TR" sz="1300" dirty="0"/>
          </a:p>
        </p:txBody>
      </p:sp>
      <p:sp>
        <p:nvSpPr>
          <p:cNvPr id="10" name="Shape 8"/>
          <p:cNvSpPr/>
          <p:nvPr/>
        </p:nvSpPr>
        <p:spPr>
          <a:xfrm>
            <a:off x="2423160" y="2377440"/>
            <a:ext cx="822960" cy="438912"/>
          </a:xfrm>
          <a:prstGeom prst="roundRect">
            <a:avLst>
              <a:gd name="adj" fmla="val 10417"/>
            </a:avLst>
          </a:prstGeom>
          <a:solidFill>
            <a:srgbClr val="F2F2F2"/>
          </a:solidFill>
          <a:ln/>
        </p:spPr>
      </p:sp>
      <p:sp>
        <p:nvSpPr>
          <p:cNvPr id="11" name="Text 9"/>
          <p:cNvSpPr txBox="1"/>
          <p:nvPr/>
        </p:nvSpPr>
        <p:spPr>
          <a:xfrm>
            <a:off x="2423160" y="2377440"/>
            <a:ext cx="822960" cy="438912"/>
          </a:xfrm>
          <a:prstGeom prst="rect">
            <a:avLst/>
          </a:prstGeom>
          <a:noFill/>
          <a:ln/>
        </p:spPr>
        <p:txBody>
          <a:bodyPr wrap="square" lIns="38100" tIns="38100" rIns="38100" bIns="3810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 0</a:t>
            </a:r>
            <a:endParaRPr lang="tr-TR" sz="1300" dirty="0"/>
          </a:p>
        </p:txBody>
      </p:sp>
      <p:sp>
        <p:nvSpPr>
          <p:cNvPr id="12" name="Shape 10"/>
          <p:cNvSpPr/>
          <p:nvPr/>
        </p:nvSpPr>
        <p:spPr>
          <a:xfrm>
            <a:off x="548640" y="2880360"/>
            <a:ext cx="1828800" cy="438912"/>
          </a:xfrm>
          <a:prstGeom prst="roundRect">
            <a:avLst>
              <a:gd name="adj" fmla="val 10417"/>
            </a:avLst>
          </a:prstGeom>
          <a:solidFill>
            <a:srgbClr val="F2F2F2"/>
          </a:solidFill>
          <a:ln/>
        </p:spPr>
      </p:sp>
      <p:sp>
        <p:nvSpPr>
          <p:cNvPr id="13" name="Text 11"/>
          <p:cNvSpPr txBox="1"/>
          <p:nvPr/>
        </p:nvSpPr>
        <p:spPr>
          <a:xfrm>
            <a:off x="548640" y="2880360"/>
            <a:ext cx="1828800" cy="438912"/>
          </a:xfrm>
          <a:prstGeom prst="rect">
            <a:avLst/>
          </a:prstGeom>
          <a:noFill/>
          <a:ln/>
        </p:spPr>
        <p:txBody>
          <a:bodyPr wrap="square" lIns="38100" tIns="38100" rIns="38100" bIns="38100" rtlCol="0" anchor="ctr"/>
          <a:lstStyle/>
          <a:p>
            <a:pPr algn="ctr" indent="0" marL="0">
              <a:buNone/>
            </a:pPr>
            <a:r>
              <a:rPr lang="tr-TR" sz="1300" dirty="0">
                <a:solidFill>
                  <a:srgbClr val="36454F"/>
                </a:solidFill>
                <a:latin typeface="Calibri" pitchFamily="34" charset="0"/>
                <a:ea typeface="Calibri" pitchFamily="34" charset="-122"/>
                <a:cs typeface="Calibri" pitchFamily="34" charset="-120"/>
              </a:rPr>
              <a:t>Demir</a:t>
            </a:r>
            <a:endParaRPr lang="tr-TR" sz="1300" dirty="0"/>
          </a:p>
        </p:txBody>
      </p:sp>
      <p:sp>
        <p:nvSpPr>
          <p:cNvPr id="14" name="Shape 12"/>
          <p:cNvSpPr/>
          <p:nvPr/>
        </p:nvSpPr>
        <p:spPr>
          <a:xfrm>
            <a:off x="2423160" y="2880360"/>
            <a:ext cx="822960" cy="438912"/>
          </a:xfrm>
          <a:prstGeom prst="roundRect">
            <a:avLst>
              <a:gd name="adj" fmla="val 10417"/>
            </a:avLst>
          </a:prstGeom>
          <a:solidFill>
            <a:srgbClr val="F2F2F2"/>
          </a:solidFill>
          <a:ln/>
        </p:spPr>
      </p:sp>
      <p:sp>
        <p:nvSpPr>
          <p:cNvPr id="15" name="Text 13"/>
          <p:cNvSpPr txBox="1"/>
          <p:nvPr/>
        </p:nvSpPr>
        <p:spPr>
          <a:xfrm>
            <a:off x="2423160" y="2880360"/>
            <a:ext cx="822960" cy="438912"/>
          </a:xfrm>
          <a:prstGeom prst="rect">
            <a:avLst/>
          </a:prstGeom>
          <a:noFill/>
          <a:ln/>
        </p:spPr>
        <p:txBody>
          <a:bodyPr wrap="square" lIns="38100" tIns="38100" rIns="38100" bIns="3810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 1</a:t>
            </a:r>
            <a:endParaRPr lang="tr-TR" sz="1300" dirty="0"/>
          </a:p>
        </p:txBody>
      </p:sp>
      <p:sp>
        <p:nvSpPr>
          <p:cNvPr id="16" name="Shape 14"/>
          <p:cNvSpPr/>
          <p:nvPr/>
        </p:nvSpPr>
        <p:spPr>
          <a:xfrm>
            <a:off x="548640" y="3383280"/>
            <a:ext cx="1828800" cy="438912"/>
          </a:xfrm>
          <a:prstGeom prst="roundRect">
            <a:avLst>
              <a:gd name="adj" fmla="val 10417"/>
            </a:avLst>
          </a:prstGeom>
          <a:solidFill>
            <a:srgbClr val="D7E9E6"/>
          </a:solidFill>
          <a:ln/>
        </p:spPr>
      </p:sp>
      <p:sp>
        <p:nvSpPr>
          <p:cNvPr id="17" name="Text 15"/>
          <p:cNvSpPr txBox="1"/>
          <p:nvPr/>
        </p:nvSpPr>
        <p:spPr>
          <a:xfrm>
            <a:off x="548640" y="3383280"/>
            <a:ext cx="1828800" cy="438912"/>
          </a:xfrm>
          <a:prstGeom prst="rect">
            <a:avLst/>
          </a:prstGeom>
          <a:noFill/>
          <a:ln/>
        </p:spPr>
        <p:txBody>
          <a:bodyPr wrap="square" lIns="38100" tIns="38100" rIns="38100" bIns="38100" rtlCol="0" anchor="ctr"/>
          <a:lstStyle/>
          <a:p>
            <a:pPr algn="ctr" indent="0" marL="0">
              <a:buNone/>
            </a:pPr>
            <a:r>
              <a:rPr lang="tr-TR" sz="1300" dirty="0">
                <a:solidFill>
                  <a:srgbClr val="36454F"/>
                </a:solidFill>
                <a:latin typeface="Calibri" pitchFamily="34" charset="0"/>
                <a:ea typeface="Calibri" pitchFamily="34" charset="-122"/>
                <a:cs typeface="Calibri" pitchFamily="34" charset="-120"/>
              </a:rPr>
              <a:t>Kaya</a:t>
            </a:r>
            <a:endParaRPr lang="tr-TR" sz="1300" dirty="0"/>
          </a:p>
        </p:txBody>
      </p:sp>
      <p:sp>
        <p:nvSpPr>
          <p:cNvPr id="18" name="Shape 16"/>
          <p:cNvSpPr/>
          <p:nvPr/>
        </p:nvSpPr>
        <p:spPr>
          <a:xfrm>
            <a:off x="2423160" y="3383280"/>
            <a:ext cx="822960" cy="438912"/>
          </a:xfrm>
          <a:prstGeom prst="roundRect">
            <a:avLst>
              <a:gd name="adj" fmla="val 10417"/>
            </a:avLst>
          </a:prstGeom>
          <a:solidFill>
            <a:srgbClr val="D7E9E6"/>
          </a:solidFill>
          <a:ln/>
        </p:spPr>
      </p:sp>
      <p:sp>
        <p:nvSpPr>
          <p:cNvPr id="19" name="Text 17"/>
          <p:cNvSpPr txBox="1"/>
          <p:nvPr/>
        </p:nvSpPr>
        <p:spPr>
          <a:xfrm>
            <a:off x="2423160" y="3383280"/>
            <a:ext cx="822960" cy="438912"/>
          </a:xfrm>
          <a:prstGeom prst="rect">
            <a:avLst/>
          </a:prstGeom>
          <a:noFill/>
          <a:ln/>
        </p:spPr>
        <p:txBody>
          <a:bodyPr wrap="square" lIns="38100" tIns="38100" rIns="38100" bIns="3810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 2</a:t>
            </a:r>
            <a:endParaRPr lang="tr-TR" sz="1300" dirty="0"/>
          </a:p>
        </p:txBody>
      </p:sp>
      <p:sp>
        <p:nvSpPr>
          <p:cNvPr id="20" name="Shape 18"/>
          <p:cNvSpPr/>
          <p:nvPr/>
        </p:nvSpPr>
        <p:spPr>
          <a:xfrm>
            <a:off x="548640" y="3886200"/>
            <a:ext cx="1828800" cy="438912"/>
          </a:xfrm>
          <a:prstGeom prst="roundRect">
            <a:avLst>
              <a:gd name="adj" fmla="val 10417"/>
            </a:avLst>
          </a:prstGeom>
          <a:solidFill>
            <a:srgbClr val="F2F2F2"/>
          </a:solidFill>
          <a:ln/>
        </p:spPr>
      </p:sp>
      <p:sp>
        <p:nvSpPr>
          <p:cNvPr id="21" name="Text 19"/>
          <p:cNvSpPr txBox="1"/>
          <p:nvPr/>
        </p:nvSpPr>
        <p:spPr>
          <a:xfrm>
            <a:off x="548640" y="3886200"/>
            <a:ext cx="1828800" cy="438912"/>
          </a:xfrm>
          <a:prstGeom prst="rect">
            <a:avLst/>
          </a:prstGeom>
          <a:noFill/>
          <a:ln/>
        </p:spPr>
        <p:txBody>
          <a:bodyPr wrap="square" lIns="38100" tIns="38100" rIns="38100" bIns="38100" rtlCol="0" anchor="ctr"/>
          <a:lstStyle/>
          <a:p>
            <a:pPr algn="ctr" indent="0" marL="0">
              <a:buNone/>
            </a:pPr>
            <a:r>
              <a:rPr lang="tr-TR" sz="1300" dirty="0">
                <a:solidFill>
                  <a:srgbClr val="36454F"/>
                </a:solidFill>
                <a:latin typeface="Calibri" pitchFamily="34" charset="0"/>
                <a:ea typeface="Calibri" pitchFamily="34" charset="-122"/>
                <a:cs typeface="Calibri" pitchFamily="34" charset="-120"/>
              </a:rPr>
              <a:t>Öztürk</a:t>
            </a:r>
            <a:endParaRPr lang="tr-TR" sz="1300" dirty="0"/>
          </a:p>
        </p:txBody>
      </p:sp>
      <p:sp>
        <p:nvSpPr>
          <p:cNvPr id="22" name="Shape 20"/>
          <p:cNvSpPr/>
          <p:nvPr/>
        </p:nvSpPr>
        <p:spPr>
          <a:xfrm>
            <a:off x="2423160" y="3886200"/>
            <a:ext cx="822960" cy="438912"/>
          </a:xfrm>
          <a:prstGeom prst="roundRect">
            <a:avLst>
              <a:gd name="adj" fmla="val 10417"/>
            </a:avLst>
          </a:prstGeom>
          <a:solidFill>
            <a:srgbClr val="F2F2F2"/>
          </a:solidFill>
          <a:ln/>
        </p:spPr>
      </p:sp>
      <p:sp>
        <p:nvSpPr>
          <p:cNvPr id="23" name="Text 21"/>
          <p:cNvSpPr txBox="1"/>
          <p:nvPr/>
        </p:nvSpPr>
        <p:spPr>
          <a:xfrm>
            <a:off x="2423160" y="3886200"/>
            <a:ext cx="822960" cy="438912"/>
          </a:xfrm>
          <a:prstGeom prst="rect">
            <a:avLst/>
          </a:prstGeom>
          <a:noFill/>
          <a:ln/>
        </p:spPr>
        <p:txBody>
          <a:bodyPr wrap="square" lIns="38100" tIns="38100" rIns="38100" bIns="3810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 3</a:t>
            </a:r>
            <a:endParaRPr lang="tr-TR" sz="1300" dirty="0"/>
          </a:p>
        </p:txBody>
      </p:sp>
      <p:sp>
        <p:nvSpPr>
          <p:cNvPr id="24" name="Shape 22"/>
          <p:cNvSpPr/>
          <p:nvPr/>
        </p:nvSpPr>
        <p:spPr>
          <a:xfrm>
            <a:off x="548640" y="4389120"/>
            <a:ext cx="1828800" cy="438912"/>
          </a:xfrm>
          <a:prstGeom prst="roundRect">
            <a:avLst>
              <a:gd name="adj" fmla="val 10417"/>
            </a:avLst>
          </a:prstGeom>
          <a:solidFill>
            <a:srgbClr val="F2F2F2"/>
          </a:solidFill>
          <a:ln/>
        </p:spPr>
      </p:sp>
      <p:sp>
        <p:nvSpPr>
          <p:cNvPr id="25" name="Text 23"/>
          <p:cNvSpPr txBox="1"/>
          <p:nvPr/>
        </p:nvSpPr>
        <p:spPr>
          <a:xfrm>
            <a:off x="548640" y="4389120"/>
            <a:ext cx="1828800" cy="438912"/>
          </a:xfrm>
          <a:prstGeom prst="rect">
            <a:avLst/>
          </a:prstGeom>
          <a:noFill/>
          <a:ln/>
        </p:spPr>
        <p:txBody>
          <a:bodyPr wrap="square" lIns="38100" tIns="38100" rIns="38100" bIns="38100" rtlCol="0" anchor="ctr"/>
          <a:lstStyle/>
          <a:p>
            <a:pPr algn="ctr" indent="0" marL="0">
              <a:buNone/>
            </a:pPr>
            <a:r>
              <a:rPr lang="tr-TR" sz="1300" dirty="0">
                <a:solidFill>
                  <a:srgbClr val="36454F"/>
                </a:solidFill>
                <a:latin typeface="Calibri" pitchFamily="34" charset="0"/>
                <a:ea typeface="Calibri" pitchFamily="34" charset="-122"/>
                <a:cs typeface="Calibri" pitchFamily="34" charset="-120"/>
              </a:rPr>
              <a:t>Yılmaz</a:t>
            </a:r>
            <a:endParaRPr lang="tr-TR" sz="1300" dirty="0"/>
          </a:p>
        </p:txBody>
      </p:sp>
      <p:sp>
        <p:nvSpPr>
          <p:cNvPr id="26" name="Shape 24"/>
          <p:cNvSpPr/>
          <p:nvPr/>
        </p:nvSpPr>
        <p:spPr>
          <a:xfrm>
            <a:off x="2423160" y="4389120"/>
            <a:ext cx="822960" cy="438912"/>
          </a:xfrm>
          <a:prstGeom prst="roundRect">
            <a:avLst>
              <a:gd name="adj" fmla="val 10417"/>
            </a:avLst>
          </a:prstGeom>
          <a:solidFill>
            <a:srgbClr val="F2F2F2"/>
          </a:solidFill>
          <a:ln/>
        </p:spPr>
      </p:sp>
      <p:sp>
        <p:nvSpPr>
          <p:cNvPr id="27" name="Text 25"/>
          <p:cNvSpPr txBox="1"/>
          <p:nvPr/>
        </p:nvSpPr>
        <p:spPr>
          <a:xfrm>
            <a:off x="2423160" y="4389120"/>
            <a:ext cx="822960" cy="438912"/>
          </a:xfrm>
          <a:prstGeom prst="rect">
            <a:avLst/>
          </a:prstGeom>
          <a:noFill/>
          <a:ln/>
        </p:spPr>
        <p:txBody>
          <a:bodyPr wrap="square" lIns="38100" tIns="38100" rIns="38100" bIns="3810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 4</a:t>
            </a:r>
            <a:endParaRPr lang="tr-TR" sz="1300" dirty="0"/>
          </a:p>
        </p:txBody>
      </p:sp>
      <p:sp>
        <p:nvSpPr>
          <p:cNvPr id="28" name="Text 26"/>
          <p:cNvSpPr txBox="1"/>
          <p:nvPr/>
        </p:nvSpPr>
        <p:spPr>
          <a:xfrm>
            <a:off x="4480560" y="2011680"/>
            <a:ext cx="2743200" cy="320040"/>
          </a:xfrm>
          <a:prstGeom prst="rect">
            <a:avLst/>
          </a:prstGeom>
          <a:noFill/>
          <a:ln/>
        </p:spPr>
        <p:txBody>
          <a:bodyPr wrap="square" lIns="0" tIns="0" rIns="0" bIns="0" rtlCol="0" anchor="t"/>
          <a:lstStyle/>
          <a:p>
            <a:pPr indent="0" marL="0">
              <a:buNone/>
            </a:pPr>
            <a:r>
              <a:rPr lang="tr-TR" sz="1200" b="1" dirty="0">
                <a:solidFill>
                  <a:srgbClr val="36454F"/>
                </a:solidFill>
                <a:latin typeface="Calibri" pitchFamily="34" charset="0"/>
                <a:ea typeface="Calibri" pitchFamily="34" charset="-122"/>
                <a:cs typeface="Calibri" pitchFamily="34" charset="-120"/>
              </a:rPr>
              <a:t>Veri dosyası (göreli bloklar)</a:t>
            </a:r>
            <a:endParaRPr lang="tr-TR" sz="1200" dirty="0"/>
          </a:p>
        </p:txBody>
      </p:sp>
      <p:sp>
        <p:nvSpPr>
          <p:cNvPr id="29" name="Shape 27"/>
          <p:cNvSpPr/>
          <p:nvPr/>
        </p:nvSpPr>
        <p:spPr>
          <a:xfrm>
            <a:off x="4480560" y="2377440"/>
            <a:ext cx="2103120" cy="438912"/>
          </a:xfrm>
          <a:prstGeom prst="roundRect">
            <a:avLst>
              <a:gd name="adj" fmla="val 10417"/>
            </a:avLst>
          </a:prstGeom>
          <a:solidFill>
            <a:srgbClr val="F2F2F2"/>
          </a:solidFill>
          <a:ln/>
        </p:spPr>
      </p:sp>
      <p:sp>
        <p:nvSpPr>
          <p:cNvPr id="30" name="Text 28"/>
          <p:cNvSpPr txBox="1"/>
          <p:nvPr/>
        </p:nvSpPr>
        <p:spPr>
          <a:xfrm>
            <a:off x="4480560" y="2377440"/>
            <a:ext cx="2103120" cy="438912"/>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blok 0</a:t>
            </a:r>
            <a:endParaRPr lang="tr-TR" sz="1200" dirty="0"/>
          </a:p>
        </p:txBody>
      </p:sp>
      <p:sp>
        <p:nvSpPr>
          <p:cNvPr id="31" name="Shape 29"/>
          <p:cNvSpPr/>
          <p:nvPr/>
        </p:nvSpPr>
        <p:spPr>
          <a:xfrm>
            <a:off x="4480560" y="2880360"/>
            <a:ext cx="2103120" cy="438912"/>
          </a:xfrm>
          <a:prstGeom prst="roundRect">
            <a:avLst>
              <a:gd name="adj" fmla="val 10417"/>
            </a:avLst>
          </a:prstGeom>
          <a:solidFill>
            <a:srgbClr val="F2F2F2"/>
          </a:solidFill>
          <a:ln/>
        </p:spPr>
      </p:sp>
      <p:sp>
        <p:nvSpPr>
          <p:cNvPr id="32" name="Text 30"/>
          <p:cNvSpPr txBox="1"/>
          <p:nvPr/>
        </p:nvSpPr>
        <p:spPr>
          <a:xfrm>
            <a:off x="4480560" y="2880360"/>
            <a:ext cx="2103120" cy="438912"/>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blok 1</a:t>
            </a:r>
            <a:endParaRPr lang="tr-TR" sz="1200" dirty="0"/>
          </a:p>
        </p:txBody>
      </p:sp>
      <p:sp>
        <p:nvSpPr>
          <p:cNvPr id="33" name="Shape 31"/>
          <p:cNvSpPr/>
          <p:nvPr/>
        </p:nvSpPr>
        <p:spPr>
          <a:xfrm>
            <a:off x="4480560" y="3383280"/>
            <a:ext cx="2103120" cy="438912"/>
          </a:xfrm>
          <a:prstGeom prst="roundRect">
            <a:avLst>
              <a:gd name="adj" fmla="val 10417"/>
            </a:avLst>
          </a:prstGeom>
          <a:solidFill>
            <a:srgbClr val="02C39A"/>
          </a:solidFill>
          <a:ln/>
        </p:spPr>
      </p:sp>
      <p:sp>
        <p:nvSpPr>
          <p:cNvPr id="34" name="Text 32"/>
          <p:cNvSpPr txBox="1"/>
          <p:nvPr/>
        </p:nvSpPr>
        <p:spPr>
          <a:xfrm>
            <a:off x="4480560" y="3383280"/>
            <a:ext cx="2103120" cy="438912"/>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blok 2</a:t>
            </a:r>
            <a:endParaRPr lang="tr-TR" sz="1200" dirty="0"/>
          </a:p>
          <a:p>
            <a:pPr algn="ctr" indent="0" marL="0">
              <a:buNone/>
            </a:pPr>
            <a:r>
              <a:rPr lang="tr-TR" sz="1000" dirty="0">
                <a:solidFill>
                  <a:srgbClr val="212121"/>
                </a:solidFill>
                <a:latin typeface="Calibri" pitchFamily="34" charset="0"/>
                <a:ea typeface="Calibri" pitchFamily="34" charset="-122"/>
                <a:cs typeface="Calibri" pitchFamily="34" charset="-120"/>
              </a:rPr>
              <a:t>Kaya … kayıtları</a:t>
            </a:r>
            <a:endParaRPr lang="tr-TR" sz="1200" dirty="0"/>
          </a:p>
        </p:txBody>
      </p:sp>
      <p:sp>
        <p:nvSpPr>
          <p:cNvPr id="35" name="Shape 33"/>
          <p:cNvSpPr/>
          <p:nvPr/>
        </p:nvSpPr>
        <p:spPr>
          <a:xfrm>
            <a:off x="4480560" y="3886200"/>
            <a:ext cx="2103120" cy="438912"/>
          </a:xfrm>
          <a:prstGeom prst="roundRect">
            <a:avLst>
              <a:gd name="adj" fmla="val 10417"/>
            </a:avLst>
          </a:prstGeom>
          <a:solidFill>
            <a:srgbClr val="F2F2F2"/>
          </a:solidFill>
          <a:ln/>
        </p:spPr>
      </p:sp>
      <p:sp>
        <p:nvSpPr>
          <p:cNvPr id="36" name="Text 34"/>
          <p:cNvSpPr txBox="1"/>
          <p:nvPr/>
        </p:nvSpPr>
        <p:spPr>
          <a:xfrm>
            <a:off x="4480560" y="3886200"/>
            <a:ext cx="2103120" cy="438912"/>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blok 3</a:t>
            </a:r>
            <a:endParaRPr lang="tr-TR" sz="1200" dirty="0"/>
          </a:p>
        </p:txBody>
      </p:sp>
      <p:sp>
        <p:nvSpPr>
          <p:cNvPr id="37" name="Shape 35"/>
          <p:cNvSpPr/>
          <p:nvPr/>
        </p:nvSpPr>
        <p:spPr>
          <a:xfrm>
            <a:off x="4480560" y="4389120"/>
            <a:ext cx="2103120" cy="438912"/>
          </a:xfrm>
          <a:prstGeom prst="roundRect">
            <a:avLst>
              <a:gd name="adj" fmla="val 10417"/>
            </a:avLst>
          </a:prstGeom>
          <a:solidFill>
            <a:srgbClr val="F2F2F2"/>
          </a:solidFill>
          <a:ln/>
        </p:spPr>
      </p:sp>
      <p:sp>
        <p:nvSpPr>
          <p:cNvPr id="38" name="Text 36"/>
          <p:cNvSpPr txBox="1"/>
          <p:nvPr/>
        </p:nvSpPr>
        <p:spPr>
          <a:xfrm>
            <a:off x="4480560" y="4389120"/>
            <a:ext cx="2103120" cy="438912"/>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blok 4</a:t>
            </a:r>
            <a:endParaRPr lang="tr-TR" sz="1200" dirty="0"/>
          </a:p>
        </p:txBody>
      </p:sp>
      <p:sp>
        <p:nvSpPr>
          <p:cNvPr id="39" name="Shape 37"/>
          <p:cNvSpPr/>
          <p:nvPr/>
        </p:nvSpPr>
        <p:spPr>
          <a:xfrm>
            <a:off x="3264408" y="3602736"/>
            <a:ext cx="1197864" cy="91"/>
          </a:xfrm>
          <a:prstGeom prst="line">
            <a:avLst/>
          </a:prstGeom>
          <a:noFill/>
          <a:ln w="25400">
            <a:solidFill>
              <a:srgbClr val="028090"/>
            </a:solidFill>
            <a:prstDash val="solid"/>
            <a:tailEnd type="triangle"/>
          </a:ln>
        </p:spPr>
      </p:sp>
      <p:sp>
        <p:nvSpPr>
          <p:cNvPr id="40" name="Shape 38"/>
          <p:cNvSpPr/>
          <p:nvPr/>
        </p:nvSpPr>
        <p:spPr>
          <a:xfrm>
            <a:off x="7132320" y="2011680"/>
            <a:ext cx="4526280" cy="4251960"/>
          </a:xfrm>
          <a:prstGeom prst="roundRect">
            <a:avLst>
              <a:gd name="adj" fmla="val 1290"/>
            </a:avLst>
          </a:prstGeom>
          <a:solidFill>
            <a:srgbClr val="F2F2F2"/>
          </a:solidFill>
          <a:ln/>
          <a:effectLst>
            <a:outerShdw sx="100000" sy="100000" kx="0" ky="0" algn="bl" rotWithShape="0" blurRad="101600" dist="25400" dir="5400000">
              <a:srgbClr val="000000">
                <a:alpha val="12000"/>
              </a:srgbClr>
            </a:outerShdw>
          </a:effectLst>
        </p:spPr>
      </p:sp>
      <p:sp>
        <p:nvSpPr>
          <p:cNvPr id="41" name="Text 39"/>
          <p:cNvSpPr txBox="1"/>
          <p:nvPr/>
        </p:nvSpPr>
        <p:spPr>
          <a:xfrm>
            <a:off x="7360920" y="2194560"/>
            <a:ext cx="40690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Neden ve nasıl?</a:t>
            </a:r>
            <a:endParaRPr lang="tr-TR" sz="1500" dirty="0"/>
          </a:p>
        </p:txBody>
      </p:sp>
      <p:sp>
        <p:nvSpPr>
          <p:cNvPr id="42" name="Text 40"/>
          <p:cNvSpPr txBox="1"/>
          <p:nvPr/>
        </p:nvSpPr>
        <p:spPr>
          <a:xfrm>
            <a:off x="7360920" y="2651760"/>
            <a:ext cx="4069080" cy="347472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Tüm dosya yerine küçük, sıralı bir indekste ara (hızlı).</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Sonra doğru bloğu tek bir doğrudan okumayla getir.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Çok büyük dosyalar: indeksin indeksi (çok düzeyli).</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Veritabanlarının (B-ağaçları) ve dosya sistemlerinin bir dosyanın kendi bloklarını bulma yönteminin temeli.</a:t>
            </a:r>
            <a:endParaRPr lang="tr-TR"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DİZİN YAPILARI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Tek Düzeyli ve İki Düzeyli Dizinler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31</a:t>
            </a:r>
            <a:endParaRPr lang="tr-TR" sz="900" dirty="0"/>
          </a:p>
        </p:txBody>
      </p:sp>
      <p:sp>
        <p:nvSpPr>
          <p:cNvPr id="6" name="Text 4"/>
          <p:cNvSpPr txBox="1"/>
          <p:nvPr/>
        </p:nvSpPr>
        <p:spPr>
          <a:xfrm>
            <a:off x="548640" y="1600200"/>
            <a:ext cx="5440680" cy="320040"/>
          </a:xfrm>
          <a:prstGeom prst="rect">
            <a:avLst/>
          </a:prstGeom>
          <a:noFill/>
          <a:ln/>
        </p:spPr>
        <p:txBody>
          <a:bodyPr wrap="square" lIns="0" tIns="0" rIns="0" bIns="0" rtlCol="0" anchor="t"/>
          <a:lstStyle/>
          <a:p>
            <a:pPr indent="0" marL="0">
              <a:buNone/>
            </a:pPr>
            <a:r>
              <a:rPr lang="tr-TR" sz="1500" b="1" dirty="0">
                <a:solidFill>
                  <a:srgbClr val="028090"/>
                </a:solidFill>
                <a:latin typeface="Calibri" pitchFamily="34" charset="0"/>
                <a:ea typeface="Calibri" pitchFamily="34" charset="-122"/>
                <a:cs typeface="Calibri" pitchFamily="34" charset="-120"/>
              </a:rPr>
              <a:t>Tek düzeyli: herkese tek bir dizin</a:t>
            </a:r>
            <a:endParaRPr lang="tr-TR" sz="1500" dirty="0"/>
          </a:p>
        </p:txBody>
      </p:sp>
      <p:sp>
        <p:nvSpPr>
          <p:cNvPr id="7" name="Shape 5"/>
          <p:cNvSpPr/>
          <p:nvPr/>
        </p:nvSpPr>
        <p:spPr>
          <a:xfrm>
            <a:off x="548640" y="2103120"/>
            <a:ext cx="5440680" cy="548640"/>
          </a:xfrm>
          <a:prstGeom prst="roundRect">
            <a:avLst>
              <a:gd name="adj" fmla="val 8333"/>
            </a:avLst>
          </a:prstGeom>
          <a:solidFill>
            <a:srgbClr val="36454F"/>
          </a:solidFill>
          <a:ln/>
        </p:spPr>
      </p:sp>
      <p:sp>
        <p:nvSpPr>
          <p:cNvPr id="8" name="Text 6"/>
          <p:cNvSpPr txBox="1"/>
          <p:nvPr/>
        </p:nvSpPr>
        <p:spPr>
          <a:xfrm>
            <a:off x="685800" y="2103120"/>
            <a:ext cx="731520"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cat</a:t>
            </a:r>
            <a:endParaRPr lang="tr-TR" sz="1200" dirty="0"/>
          </a:p>
        </p:txBody>
      </p:sp>
      <p:sp>
        <p:nvSpPr>
          <p:cNvPr id="9" name="Shape 7"/>
          <p:cNvSpPr/>
          <p:nvPr/>
        </p:nvSpPr>
        <p:spPr>
          <a:xfrm>
            <a:off x="1051560" y="2651760"/>
            <a:ext cx="91" cy="411480"/>
          </a:xfrm>
          <a:prstGeom prst="line">
            <a:avLst/>
          </a:prstGeom>
          <a:noFill/>
          <a:ln w="15875">
            <a:solidFill>
              <a:srgbClr val="50808E"/>
            </a:solidFill>
            <a:prstDash val="solid"/>
          </a:ln>
        </p:spPr>
      </p:sp>
      <p:sp>
        <p:nvSpPr>
          <p:cNvPr id="10" name="Shape 8"/>
          <p:cNvSpPr/>
          <p:nvPr/>
        </p:nvSpPr>
        <p:spPr>
          <a:xfrm>
            <a:off x="886968" y="3063240"/>
            <a:ext cx="329184" cy="329184"/>
          </a:xfrm>
          <a:prstGeom prst="ellipse">
            <a:avLst/>
          </a:prstGeom>
          <a:solidFill>
            <a:srgbClr val="02C39A"/>
          </a:solidFill>
          <a:ln/>
        </p:spPr>
      </p:sp>
      <p:sp>
        <p:nvSpPr>
          <p:cNvPr id="11" name="Text 9"/>
          <p:cNvSpPr txBox="1"/>
          <p:nvPr/>
        </p:nvSpPr>
        <p:spPr>
          <a:xfrm>
            <a:off x="1572768" y="2103120"/>
            <a:ext cx="731520"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test</a:t>
            </a:r>
            <a:endParaRPr lang="tr-TR" sz="1200" dirty="0"/>
          </a:p>
        </p:txBody>
      </p:sp>
      <p:sp>
        <p:nvSpPr>
          <p:cNvPr id="12" name="Shape 10"/>
          <p:cNvSpPr/>
          <p:nvPr/>
        </p:nvSpPr>
        <p:spPr>
          <a:xfrm>
            <a:off x="1938528" y="2651760"/>
            <a:ext cx="91" cy="411480"/>
          </a:xfrm>
          <a:prstGeom prst="line">
            <a:avLst/>
          </a:prstGeom>
          <a:noFill/>
          <a:ln w="15875">
            <a:solidFill>
              <a:srgbClr val="50808E"/>
            </a:solidFill>
            <a:prstDash val="solid"/>
          </a:ln>
        </p:spPr>
      </p:sp>
      <p:sp>
        <p:nvSpPr>
          <p:cNvPr id="13" name="Shape 11"/>
          <p:cNvSpPr/>
          <p:nvPr/>
        </p:nvSpPr>
        <p:spPr>
          <a:xfrm>
            <a:off x="1773936" y="3063240"/>
            <a:ext cx="329184" cy="329184"/>
          </a:xfrm>
          <a:prstGeom prst="ellipse">
            <a:avLst/>
          </a:prstGeom>
          <a:solidFill>
            <a:srgbClr val="02C39A"/>
          </a:solidFill>
          <a:ln/>
        </p:spPr>
      </p:sp>
      <p:sp>
        <p:nvSpPr>
          <p:cNvPr id="14" name="Text 12"/>
          <p:cNvSpPr txBox="1"/>
          <p:nvPr/>
        </p:nvSpPr>
        <p:spPr>
          <a:xfrm>
            <a:off x="2459736" y="2103120"/>
            <a:ext cx="731520"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data</a:t>
            </a:r>
            <a:endParaRPr lang="tr-TR" sz="1200" dirty="0"/>
          </a:p>
        </p:txBody>
      </p:sp>
      <p:sp>
        <p:nvSpPr>
          <p:cNvPr id="15" name="Shape 13"/>
          <p:cNvSpPr/>
          <p:nvPr/>
        </p:nvSpPr>
        <p:spPr>
          <a:xfrm>
            <a:off x="2825496" y="2651760"/>
            <a:ext cx="91" cy="411480"/>
          </a:xfrm>
          <a:prstGeom prst="line">
            <a:avLst/>
          </a:prstGeom>
          <a:noFill/>
          <a:ln w="15875">
            <a:solidFill>
              <a:srgbClr val="50808E"/>
            </a:solidFill>
            <a:prstDash val="solid"/>
          </a:ln>
        </p:spPr>
      </p:sp>
      <p:sp>
        <p:nvSpPr>
          <p:cNvPr id="16" name="Shape 14"/>
          <p:cNvSpPr/>
          <p:nvPr/>
        </p:nvSpPr>
        <p:spPr>
          <a:xfrm>
            <a:off x="2660904" y="3063240"/>
            <a:ext cx="329184" cy="329184"/>
          </a:xfrm>
          <a:prstGeom prst="ellipse">
            <a:avLst/>
          </a:prstGeom>
          <a:solidFill>
            <a:srgbClr val="02C39A"/>
          </a:solidFill>
          <a:ln/>
        </p:spPr>
      </p:sp>
      <p:sp>
        <p:nvSpPr>
          <p:cNvPr id="17" name="Text 15"/>
          <p:cNvSpPr txBox="1"/>
          <p:nvPr/>
        </p:nvSpPr>
        <p:spPr>
          <a:xfrm>
            <a:off x="3346704" y="2103120"/>
            <a:ext cx="731520"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mail</a:t>
            </a:r>
            <a:endParaRPr lang="tr-TR" sz="1200" dirty="0"/>
          </a:p>
        </p:txBody>
      </p:sp>
      <p:sp>
        <p:nvSpPr>
          <p:cNvPr id="18" name="Shape 16"/>
          <p:cNvSpPr/>
          <p:nvPr/>
        </p:nvSpPr>
        <p:spPr>
          <a:xfrm>
            <a:off x="3712464" y="2651760"/>
            <a:ext cx="91" cy="411480"/>
          </a:xfrm>
          <a:prstGeom prst="line">
            <a:avLst/>
          </a:prstGeom>
          <a:noFill/>
          <a:ln w="15875">
            <a:solidFill>
              <a:srgbClr val="50808E"/>
            </a:solidFill>
            <a:prstDash val="solid"/>
          </a:ln>
        </p:spPr>
      </p:sp>
      <p:sp>
        <p:nvSpPr>
          <p:cNvPr id="19" name="Shape 17"/>
          <p:cNvSpPr/>
          <p:nvPr/>
        </p:nvSpPr>
        <p:spPr>
          <a:xfrm>
            <a:off x="3547872" y="3063240"/>
            <a:ext cx="329184" cy="329184"/>
          </a:xfrm>
          <a:prstGeom prst="ellipse">
            <a:avLst/>
          </a:prstGeom>
          <a:solidFill>
            <a:srgbClr val="02C39A"/>
          </a:solidFill>
          <a:ln/>
        </p:spPr>
      </p:sp>
      <p:sp>
        <p:nvSpPr>
          <p:cNvPr id="20" name="Text 18"/>
          <p:cNvSpPr txBox="1"/>
          <p:nvPr/>
        </p:nvSpPr>
        <p:spPr>
          <a:xfrm>
            <a:off x="4233672" y="2103120"/>
            <a:ext cx="731520"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hex</a:t>
            </a:r>
            <a:endParaRPr lang="tr-TR" sz="1200" dirty="0"/>
          </a:p>
        </p:txBody>
      </p:sp>
      <p:sp>
        <p:nvSpPr>
          <p:cNvPr id="21" name="Shape 19"/>
          <p:cNvSpPr/>
          <p:nvPr/>
        </p:nvSpPr>
        <p:spPr>
          <a:xfrm>
            <a:off x="4599432" y="2651760"/>
            <a:ext cx="91" cy="411480"/>
          </a:xfrm>
          <a:prstGeom prst="line">
            <a:avLst/>
          </a:prstGeom>
          <a:noFill/>
          <a:ln w="15875">
            <a:solidFill>
              <a:srgbClr val="50808E"/>
            </a:solidFill>
            <a:prstDash val="solid"/>
          </a:ln>
        </p:spPr>
      </p:sp>
      <p:sp>
        <p:nvSpPr>
          <p:cNvPr id="22" name="Shape 20"/>
          <p:cNvSpPr/>
          <p:nvPr/>
        </p:nvSpPr>
        <p:spPr>
          <a:xfrm>
            <a:off x="4434840" y="3063240"/>
            <a:ext cx="329184" cy="329184"/>
          </a:xfrm>
          <a:prstGeom prst="ellipse">
            <a:avLst/>
          </a:prstGeom>
          <a:solidFill>
            <a:srgbClr val="02C39A"/>
          </a:solidFill>
          <a:ln/>
        </p:spPr>
      </p:sp>
      <p:sp>
        <p:nvSpPr>
          <p:cNvPr id="23" name="Text 21"/>
          <p:cNvSpPr txBox="1"/>
          <p:nvPr/>
        </p:nvSpPr>
        <p:spPr>
          <a:xfrm>
            <a:off x="5120640" y="2103120"/>
            <a:ext cx="731520" cy="548640"/>
          </a:xfrm>
          <a:prstGeom prst="rect">
            <a:avLst/>
          </a:prstGeom>
          <a:noFill/>
          <a:ln/>
        </p:spPr>
        <p:txBody>
          <a:bodyPr wrap="square" lIns="0" tIns="0" rIns="0" bIns="0" rtlCol="0" anchor="ctr"/>
          <a:lstStyle/>
          <a:p>
            <a:pPr algn="ctr" indent="0" marL="0">
              <a:buNone/>
            </a:pPr>
            <a:r>
              <a:rPr lang="tr-TR" sz="1200" b="1" dirty="0">
                <a:solidFill>
                  <a:srgbClr val="F3B5AE"/>
                </a:solidFill>
                <a:latin typeface="Calibri" pitchFamily="34" charset="0"/>
                <a:ea typeface="Calibri" pitchFamily="34" charset="-122"/>
                <a:cs typeface="Calibri" pitchFamily="34" charset="-120"/>
              </a:rPr>
              <a:t>test?</a:t>
            </a:r>
            <a:endParaRPr lang="tr-TR" sz="1200" dirty="0"/>
          </a:p>
        </p:txBody>
      </p:sp>
      <p:sp>
        <p:nvSpPr>
          <p:cNvPr id="24" name="Shape 22"/>
          <p:cNvSpPr/>
          <p:nvPr/>
        </p:nvSpPr>
        <p:spPr>
          <a:xfrm>
            <a:off x="5486400" y="2651760"/>
            <a:ext cx="91" cy="411480"/>
          </a:xfrm>
          <a:prstGeom prst="line">
            <a:avLst/>
          </a:prstGeom>
          <a:noFill/>
          <a:ln w="15875">
            <a:solidFill>
              <a:srgbClr val="50808E"/>
            </a:solidFill>
            <a:prstDash val="solid"/>
          </a:ln>
        </p:spPr>
      </p:sp>
      <p:sp>
        <p:nvSpPr>
          <p:cNvPr id="25" name="Shape 23"/>
          <p:cNvSpPr/>
          <p:nvPr/>
        </p:nvSpPr>
        <p:spPr>
          <a:xfrm>
            <a:off x="548640" y="3657600"/>
            <a:ext cx="5440680" cy="2606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26" name="Text 24"/>
          <p:cNvSpPr txBox="1"/>
          <p:nvPr/>
        </p:nvSpPr>
        <p:spPr>
          <a:xfrm>
            <a:off x="777240" y="3840480"/>
            <a:ext cx="4983480" cy="228600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Basit, ama her dosya adı tüm kullanıcılar arasında benzersiz olmalı.</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İki kullanıcı da bir dosyasına test adını veremez.</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Tek listede yüzlerce dosya: düzenlemek imkânsız.</a:t>
            </a:r>
            <a:endParaRPr lang="tr-TR" sz="1400" dirty="0"/>
          </a:p>
        </p:txBody>
      </p:sp>
      <p:sp>
        <p:nvSpPr>
          <p:cNvPr id="27" name="Text 25"/>
          <p:cNvSpPr txBox="1"/>
          <p:nvPr/>
        </p:nvSpPr>
        <p:spPr>
          <a:xfrm>
            <a:off x="6217920" y="1600200"/>
            <a:ext cx="5440680" cy="320040"/>
          </a:xfrm>
          <a:prstGeom prst="rect">
            <a:avLst/>
          </a:prstGeom>
          <a:noFill/>
          <a:ln/>
        </p:spPr>
        <p:txBody>
          <a:bodyPr wrap="square" lIns="0" tIns="0" rIns="0" bIns="0" rtlCol="0" anchor="t"/>
          <a:lstStyle/>
          <a:p>
            <a:pPr indent="0" marL="0">
              <a:buNone/>
            </a:pPr>
            <a:r>
              <a:rPr lang="tr-TR" sz="1500" b="1" dirty="0">
                <a:solidFill>
                  <a:srgbClr val="028090"/>
                </a:solidFill>
                <a:latin typeface="Calibri" pitchFamily="34" charset="0"/>
                <a:ea typeface="Calibri" pitchFamily="34" charset="-122"/>
                <a:cs typeface="Calibri" pitchFamily="34" charset="-120"/>
              </a:rPr>
              <a:t>İki düzeyli: her kullanıcıya bir dizin</a:t>
            </a:r>
            <a:endParaRPr lang="tr-TR" sz="1500" dirty="0"/>
          </a:p>
        </p:txBody>
      </p:sp>
      <p:sp>
        <p:nvSpPr>
          <p:cNvPr id="28" name="Shape 26"/>
          <p:cNvSpPr/>
          <p:nvPr/>
        </p:nvSpPr>
        <p:spPr>
          <a:xfrm>
            <a:off x="7132320" y="2057400"/>
            <a:ext cx="3657600" cy="457200"/>
          </a:xfrm>
          <a:prstGeom prst="roundRect">
            <a:avLst>
              <a:gd name="adj" fmla="val 10000"/>
            </a:avLst>
          </a:prstGeom>
          <a:solidFill>
            <a:srgbClr val="36454F"/>
          </a:solidFill>
          <a:ln/>
        </p:spPr>
      </p:sp>
      <p:sp>
        <p:nvSpPr>
          <p:cNvPr id="29" name="Text 27"/>
          <p:cNvSpPr txBox="1"/>
          <p:nvPr/>
        </p:nvSpPr>
        <p:spPr>
          <a:xfrm>
            <a:off x="7132320" y="2057400"/>
            <a:ext cx="3657600" cy="457200"/>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ana dosya dizini:  ayse  ·  mehmet</a:t>
            </a:r>
            <a:endParaRPr lang="tr-TR" sz="1200" dirty="0"/>
          </a:p>
        </p:txBody>
      </p:sp>
      <p:sp>
        <p:nvSpPr>
          <p:cNvPr id="30" name="Shape 28"/>
          <p:cNvSpPr/>
          <p:nvPr/>
        </p:nvSpPr>
        <p:spPr>
          <a:xfrm flipH="1">
            <a:off x="7589520" y="2514600"/>
            <a:ext cx="548640" cy="320040"/>
          </a:xfrm>
          <a:prstGeom prst="line">
            <a:avLst/>
          </a:prstGeom>
          <a:noFill/>
          <a:ln w="15875">
            <a:solidFill>
              <a:srgbClr val="50808E"/>
            </a:solidFill>
            <a:prstDash val="solid"/>
          </a:ln>
        </p:spPr>
      </p:sp>
      <p:sp>
        <p:nvSpPr>
          <p:cNvPr id="31" name="Shape 29"/>
          <p:cNvSpPr/>
          <p:nvPr/>
        </p:nvSpPr>
        <p:spPr>
          <a:xfrm>
            <a:off x="6492240" y="2834640"/>
            <a:ext cx="2194560" cy="411480"/>
          </a:xfrm>
          <a:prstGeom prst="roundRect">
            <a:avLst>
              <a:gd name="adj" fmla="val 11111"/>
            </a:avLst>
          </a:prstGeom>
          <a:solidFill>
            <a:srgbClr val="D7E9E6"/>
          </a:solidFill>
          <a:ln/>
        </p:spPr>
      </p:sp>
      <p:sp>
        <p:nvSpPr>
          <p:cNvPr id="32" name="Text 30"/>
          <p:cNvSpPr txBox="1"/>
          <p:nvPr/>
        </p:nvSpPr>
        <p:spPr>
          <a:xfrm>
            <a:off x="6492240" y="2834640"/>
            <a:ext cx="2194560" cy="41148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ayse: test · data</a:t>
            </a:r>
            <a:endParaRPr lang="tr-TR" sz="1200" dirty="0"/>
          </a:p>
        </p:txBody>
      </p:sp>
      <p:sp>
        <p:nvSpPr>
          <p:cNvPr id="33" name="Shape 31"/>
          <p:cNvSpPr/>
          <p:nvPr/>
        </p:nvSpPr>
        <p:spPr>
          <a:xfrm>
            <a:off x="7040880" y="3246120"/>
            <a:ext cx="91" cy="228600"/>
          </a:xfrm>
          <a:prstGeom prst="line">
            <a:avLst/>
          </a:prstGeom>
          <a:noFill/>
          <a:ln w="15875">
            <a:solidFill>
              <a:srgbClr val="50808E"/>
            </a:solidFill>
            <a:prstDash val="solid"/>
          </a:ln>
        </p:spPr>
      </p:sp>
      <p:sp>
        <p:nvSpPr>
          <p:cNvPr id="34" name="Shape 32"/>
          <p:cNvSpPr/>
          <p:nvPr/>
        </p:nvSpPr>
        <p:spPr>
          <a:xfrm>
            <a:off x="6876288" y="3474720"/>
            <a:ext cx="329184" cy="329184"/>
          </a:xfrm>
          <a:prstGeom prst="ellipse">
            <a:avLst/>
          </a:prstGeom>
          <a:solidFill>
            <a:srgbClr val="02C39A"/>
          </a:solidFill>
          <a:ln/>
        </p:spPr>
      </p:sp>
      <p:sp>
        <p:nvSpPr>
          <p:cNvPr id="35" name="Shape 33"/>
          <p:cNvSpPr/>
          <p:nvPr/>
        </p:nvSpPr>
        <p:spPr>
          <a:xfrm>
            <a:off x="8138160" y="3246120"/>
            <a:ext cx="91" cy="228600"/>
          </a:xfrm>
          <a:prstGeom prst="line">
            <a:avLst/>
          </a:prstGeom>
          <a:noFill/>
          <a:ln w="15875">
            <a:solidFill>
              <a:srgbClr val="50808E"/>
            </a:solidFill>
            <a:prstDash val="solid"/>
          </a:ln>
        </p:spPr>
      </p:sp>
      <p:sp>
        <p:nvSpPr>
          <p:cNvPr id="36" name="Shape 34"/>
          <p:cNvSpPr/>
          <p:nvPr/>
        </p:nvSpPr>
        <p:spPr>
          <a:xfrm>
            <a:off x="7973568" y="3474720"/>
            <a:ext cx="329184" cy="329184"/>
          </a:xfrm>
          <a:prstGeom prst="ellipse">
            <a:avLst/>
          </a:prstGeom>
          <a:solidFill>
            <a:srgbClr val="02C39A"/>
          </a:solidFill>
          <a:ln/>
        </p:spPr>
      </p:sp>
      <p:sp>
        <p:nvSpPr>
          <p:cNvPr id="37" name="Shape 35"/>
          <p:cNvSpPr/>
          <p:nvPr/>
        </p:nvSpPr>
        <p:spPr>
          <a:xfrm>
            <a:off x="9784080" y="2514600"/>
            <a:ext cx="594360" cy="320040"/>
          </a:xfrm>
          <a:prstGeom prst="line">
            <a:avLst/>
          </a:prstGeom>
          <a:noFill/>
          <a:ln w="15875">
            <a:solidFill>
              <a:srgbClr val="50808E"/>
            </a:solidFill>
            <a:prstDash val="solid"/>
          </a:ln>
        </p:spPr>
      </p:sp>
      <p:sp>
        <p:nvSpPr>
          <p:cNvPr id="38" name="Shape 36"/>
          <p:cNvSpPr/>
          <p:nvPr/>
        </p:nvSpPr>
        <p:spPr>
          <a:xfrm>
            <a:off x="9281160" y="2834640"/>
            <a:ext cx="2194560" cy="411480"/>
          </a:xfrm>
          <a:prstGeom prst="roundRect">
            <a:avLst>
              <a:gd name="adj" fmla="val 11111"/>
            </a:avLst>
          </a:prstGeom>
          <a:solidFill>
            <a:srgbClr val="D7E9E6"/>
          </a:solidFill>
          <a:ln/>
        </p:spPr>
      </p:sp>
      <p:sp>
        <p:nvSpPr>
          <p:cNvPr id="39" name="Text 37"/>
          <p:cNvSpPr txBox="1"/>
          <p:nvPr/>
        </p:nvSpPr>
        <p:spPr>
          <a:xfrm>
            <a:off x="9281160" y="2834640"/>
            <a:ext cx="2194560" cy="41148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mehmet: test · mail</a:t>
            </a:r>
            <a:endParaRPr lang="tr-TR" sz="1200" dirty="0"/>
          </a:p>
        </p:txBody>
      </p:sp>
      <p:sp>
        <p:nvSpPr>
          <p:cNvPr id="40" name="Shape 38"/>
          <p:cNvSpPr/>
          <p:nvPr/>
        </p:nvSpPr>
        <p:spPr>
          <a:xfrm>
            <a:off x="9829800" y="3246120"/>
            <a:ext cx="91" cy="228600"/>
          </a:xfrm>
          <a:prstGeom prst="line">
            <a:avLst/>
          </a:prstGeom>
          <a:noFill/>
          <a:ln w="15875">
            <a:solidFill>
              <a:srgbClr val="50808E"/>
            </a:solidFill>
            <a:prstDash val="solid"/>
          </a:ln>
        </p:spPr>
      </p:sp>
      <p:sp>
        <p:nvSpPr>
          <p:cNvPr id="41" name="Shape 39"/>
          <p:cNvSpPr/>
          <p:nvPr/>
        </p:nvSpPr>
        <p:spPr>
          <a:xfrm>
            <a:off x="9665208" y="3474720"/>
            <a:ext cx="329184" cy="329184"/>
          </a:xfrm>
          <a:prstGeom prst="ellipse">
            <a:avLst/>
          </a:prstGeom>
          <a:solidFill>
            <a:srgbClr val="02C39A"/>
          </a:solidFill>
          <a:ln/>
        </p:spPr>
      </p:sp>
      <p:sp>
        <p:nvSpPr>
          <p:cNvPr id="42" name="Shape 40"/>
          <p:cNvSpPr/>
          <p:nvPr/>
        </p:nvSpPr>
        <p:spPr>
          <a:xfrm>
            <a:off x="10927080" y="3246120"/>
            <a:ext cx="91" cy="228600"/>
          </a:xfrm>
          <a:prstGeom prst="line">
            <a:avLst/>
          </a:prstGeom>
          <a:noFill/>
          <a:ln w="15875">
            <a:solidFill>
              <a:srgbClr val="50808E"/>
            </a:solidFill>
            <a:prstDash val="solid"/>
          </a:ln>
        </p:spPr>
      </p:sp>
      <p:sp>
        <p:nvSpPr>
          <p:cNvPr id="43" name="Shape 41"/>
          <p:cNvSpPr/>
          <p:nvPr/>
        </p:nvSpPr>
        <p:spPr>
          <a:xfrm>
            <a:off x="10762488" y="3474720"/>
            <a:ext cx="329184" cy="329184"/>
          </a:xfrm>
          <a:prstGeom prst="ellipse">
            <a:avLst/>
          </a:prstGeom>
          <a:solidFill>
            <a:srgbClr val="02C39A"/>
          </a:solidFill>
          <a:ln/>
        </p:spPr>
      </p:sp>
      <p:sp>
        <p:nvSpPr>
          <p:cNvPr id="44" name="Shape 42"/>
          <p:cNvSpPr/>
          <p:nvPr/>
        </p:nvSpPr>
        <p:spPr>
          <a:xfrm>
            <a:off x="6217920" y="4023360"/>
            <a:ext cx="544068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sp>
      <p:sp>
        <p:nvSpPr>
          <p:cNvPr id="45" name="Text 43"/>
          <p:cNvSpPr txBox="1"/>
          <p:nvPr/>
        </p:nvSpPr>
        <p:spPr>
          <a:xfrm>
            <a:off x="6446520" y="4206240"/>
            <a:ext cx="4983480" cy="192024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Her kullanıcının özel bir dizini var: ikisinin de test dosyası olabilir.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Yol adı = kullanıcı + dosya adı, ör. /ayse/test.</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Ama alt klasör yok ve kullanıcılar arasında dosya paylaşmak zahmetli.</a:t>
            </a:r>
            <a:endParaRPr lang="tr-TR"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DİZİN YAPILARI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Ağaç Yapılı Dizinler ve Yol Adları</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32</a:t>
            </a:r>
            <a:endParaRPr lang="tr-TR" sz="900" dirty="0"/>
          </a:p>
        </p:txBody>
      </p:sp>
      <p:sp>
        <p:nvSpPr>
          <p:cNvPr id="6" name="Shape 4"/>
          <p:cNvSpPr/>
          <p:nvPr/>
        </p:nvSpPr>
        <p:spPr>
          <a:xfrm>
            <a:off x="3291840" y="1600200"/>
            <a:ext cx="1143000" cy="420624"/>
          </a:xfrm>
          <a:prstGeom prst="roundRect">
            <a:avLst>
              <a:gd name="adj" fmla="val 10870"/>
            </a:avLst>
          </a:prstGeom>
          <a:solidFill>
            <a:srgbClr val="36454F"/>
          </a:solidFill>
          <a:ln/>
        </p:spPr>
      </p:sp>
      <p:sp>
        <p:nvSpPr>
          <p:cNvPr id="7" name="Text 5"/>
          <p:cNvSpPr txBox="1"/>
          <p:nvPr/>
        </p:nvSpPr>
        <p:spPr>
          <a:xfrm>
            <a:off x="3291840" y="1600200"/>
            <a:ext cx="1143000" cy="420624"/>
          </a:xfrm>
          <a:prstGeom prst="rect">
            <a:avLst/>
          </a:prstGeom>
          <a:noFill/>
          <a:ln/>
        </p:spPr>
        <p:txBody>
          <a:bodyPr wrap="square" lIns="38100" tIns="38100" rIns="38100" bIns="3810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a:t>
            </a:r>
            <a:endParaRPr lang="tr-TR" sz="1200" dirty="0"/>
          </a:p>
        </p:txBody>
      </p:sp>
      <p:sp>
        <p:nvSpPr>
          <p:cNvPr id="8" name="Shape 6"/>
          <p:cNvSpPr/>
          <p:nvPr/>
        </p:nvSpPr>
        <p:spPr>
          <a:xfrm flipH="1">
            <a:off x="1664208" y="2020824"/>
            <a:ext cx="2194560" cy="493776"/>
          </a:xfrm>
          <a:prstGeom prst="line">
            <a:avLst/>
          </a:prstGeom>
          <a:noFill/>
          <a:ln w="15875">
            <a:solidFill>
              <a:srgbClr val="50808E"/>
            </a:solidFill>
            <a:prstDash val="solid"/>
          </a:ln>
        </p:spPr>
      </p:sp>
      <p:sp>
        <p:nvSpPr>
          <p:cNvPr id="9" name="Shape 7"/>
          <p:cNvSpPr/>
          <p:nvPr/>
        </p:nvSpPr>
        <p:spPr>
          <a:xfrm>
            <a:off x="1097280" y="2514600"/>
            <a:ext cx="1143000" cy="420624"/>
          </a:xfrm>
          <a:prstGeom prst="roundRect">
            <a:avLst>
              <a:gd name="adj" fmla="val 10870"/>
            </a:avLst>
          </a:prstGeom>
          <a:solidFill>
            <a:srgbClr val="D7E9E6"/>
          </a:solidFill>
          <a:ln/>
        </p:spPr>
      </p:sp>
      <p:sp>
        <p:nvSpPr>
          <p:cNvPr id="10" name="Text 8"/>
          <p:cNvSpPr txBox="1"/>
          <p:nvPr/>
        </p:nvSpPr>
        <p:spPr>
          <a:xfrm>
            <a:off x="1097280" y="2514600"/>
            <a:ext cx="1143000" cy="420624"/>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bin</a:t>
            </a:r>
            <a:endParaRPr lang="tr-TR" sz="1200" dirty="0"/>
          </a:p>
        </p:txBody>
      </p:sp>
      <p:sp>
        <p:nvSpPr>
          <p:cNvPr id="11" name="Shape 9"/>
          <p:cNvSpPr/>
          <p:nvPr/>
        </p:nvSpPr>
        <p:spPr>
          <a:xfrm>
            <a:off x="3858768" y="2020824"/>
            <a:ext cx="91" cy="493776"/>
          </a:xfrm>
          <a:prstGeom prst="line">
            <a:avLst/>
          </a:prstGeom>
          <a:noFill/>
          <a:ln w="15875">
            <a:solidFill>
              <a:srgbClr val="50808E"/>
            </a:solidFill>
            <a:prstDash val="solid"/>
          </a:ln>
        </p:spPr>
      </p:sp>
      <p:sp>
        <p:nvSpPr>
          <p:cNvPr id="12" name="Shape 10"/>
          <p:cNvSpPr/>
          <p:nvPr/>
        </p:nvSpPr>
        <p:spPr>
          <a:xfrm>
            <a:off x="3291840" y="2514600"/>
            <a:ext cx="1143000" cy="420624"/>
          </a:xfrm>
          <a:prstGeom prst="roundRect">
            <a:avLst>
              <a:gd name="adj" fmla="val 10870"/>
            </a:avLst>
          </a:prstGeom>
          <a:solidFill>
            <a:srgbClr val="D7E9E6"/>
          </a:solidFill>
          <a:ln/>
        </p:spPr>
      </p:sp>
      <p:sp>
        <p:nvSpPr>
          <p:cNvPr id="13" name="Text 11"/>
          <p:cNvSpPr txBox="1"/>
          <p:nvPr/>
        </p:nvSpPr>
        <p:spPr>
          <a:xfrm>
            <a:off x="3291840" y="2514600"/>
            <a:ext cx="1143000" cy="420624"/>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home</a:t>
            </a:r>
            <a:endParaRPr lang="tr-TR" sz="1200" dirty="0"/>
          </a:p>
        </p:txBody>
      </p:sp>
      <p:sp>
        <p:nvSpPr>
          <p:cNvPr id="14" name="Shape 12"/>
          <p:cNvSpPr/>
          <p:nvPr/>
        </p:nvSpPr>
        <p:spPr>
          <a:xfrm>
            <a:off x="3858768" y="2020824"/>
            <a:ext cx="1783080" cy="493776"/>
          </a:xfrm>
          <a:prstGeom prst="line">
            <a:avLst/>
          </a:prstGeom>
          <a:noFill/>
          <a:ln w="15875">
            <a:solidFill>
              <a:srgbClr val="50808E"/>
            </a:solidFill>
            <a:prstDash val="solid"/>
          </a:ln>
        </p:spPr>
      </p:sp>
      <p:sp>
        <p:nvSpPr>
          <p:cNvPr id="15" name="Shape 13"/>
          <p:cNvSpPr/>
          <p:nvPr/>
        </p:nvSpPr>
        <p:spPr>
          <a:xfrm>
            <a:off x="5074920" y="2514600"/>
            <a:ext cx="1143000" cy="420624"/>
          </a:xfrm>
          <a:prstGeom prst="roundRect">
            <a:avLst>
              <a:gd name="adj" fmla="val 10870"/>
            </a:avLst>
          </a:prstGeom>
          <a:solidFill>
            <a:srgbClr val="D7E9E6"/>
          </a:solidFill>
          <a:ln/>
        </p:spPr>
      </p:sp>
      <p:sp>
        <p:nvSpPr>
          <p:cNvPr id="16" name="Text 14"/>
          <p:cNvSpPr txBox="1"/>
          <p:nvPr/>
        </p:nvSpPr>
        <p:spPr>
          <a:xfrm>
            <a:off x="5074920" y="2514600"/>
            <a:ext cx="1143000" cy="420624"/>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etc</a:t>
            </a:r>
            <a:endParaRPr lang="tr-TR" sz="1200" dirty="0"/>
          </a:p>
        </p:txBody>
      </p:sp>
      <p:sp>
        <p:nvSpPr>
          <p:cNvPr id="17" name="Shape 15"/>
          <p:cNvSpPr/>
          <p:nvPr/>
        </p:nvSpPr>
        <p:spPr>
          <a:xfrm flipH="1">
            <a:off x="1051560" y="2935224"/>
            <a:ext cx="612648" cy="493776"/>
          </a:xfrm>
          <a:prstGeom prst="line">
            <a:avLst/>
          </a:prstGeom>
          <a:noFill/>
          <a:ln w="15875">
            <a:solidFill>
              <a:srgbClr val="50808E"/>
            </a:solidFill>
            <a:prstDash val="solid"/>
          </a:ln>
        </p:spPr>
      </p:sp>
      <p:sp>
        <p:nvSpPr>
          <p:cNvPr id="18" name="Shape 16"/>
          <p:cNvSpPr/>
          <p:nvPr/>
        </p:nvSpPr>
        <p:spPr>
          <a:xfrm>
            <a:off x="548640" y="3429000"/>
            <a:ext cx="1005840" cy="420624"/>
          </a:xfrm>
          <a:prstGeom prst="roundRect">
            <a:avLst>
              <a:gd name="adj" fmla="val 10870"/>
            </a:avLst>
          </a:prstGeom>
          <a:solidFill>
            <a:srgbClr val="F2F2F2"/>
          </a:solidFill>
          <a:ln/>
        </p:spPr>
      </p:sp>
      <p:sp>
        <p:nvSpPr>
          <p:cNvPr id="19" name="Text 17"/>
          <p:cNvSpPr txBox="1"/>
          <p:nvPr/>
        </p:nvSpPr>
        <p:spPr>
          <a:xfrm>
            <a:off x="548640" y="3429000"/>
            <a:ext cx="1005840" cy="420624"/>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ls</a:t>
            </a:r>
            <a:endParaRPr lang="tr-TR" sz="1200" dirty="0"/>
          </a:p>
        </p:txBody>
      </p:sp>
      <p:sp>
        <p:nvSpPr>
          <p:cNvPr id="20" name="Shape 18"/>
          <p:cNvSpPr/>
          <p:nvPr/>
        </p:nvSpPr>
        <p:spPr>
          <a:xfrm>
            <a:off x="1664208" y="2935224"/>
            <a:ext cx="530352" cy="493776"/>
          </a:xfrm>
          <a:prstGeom prst="line">
            <a:avLst/>
          </a:prstGeom>
          <a:noFill/>
          <a:ln w="15875">
            <a:solidFill>
              <a:srgbClr val="50808E"/>
            </a:solidFill>
            <a:prstDash val="solid"/>
          </a:ln>
        </p:spPr>
      </p:sp>
      <p:sp>
        <p:nvSpPr>
          <p:cNvPr id="21" name="Shape 19"/>
          <p:cNvSpPr/>
          <p:nvPr/>
        </p:nvSpPr>
        <p:spPr>
          <a:xfrm>
            <a:off x="1691640" y="3429000"/>
            <a:ext cx="1005840" cy="420624"/>
          </a:xfrm>
          <a:prstGeom prst="roundRect">
            <a:avLst>
              <a:gd name="adj" fmla="val 10870"/>
            </a:avLst>
          </a:prstGeom>
          <a:solidFill>
            <a:srgbClr val="F2F2F2"/>
          </a:solidFill>
          <a:ln/>
        </p:spPr>
      </p:sp>
      <p:sp>
        <p:nvSpPr>
          <p:cNvPr id="22" name="Text 20"/>
          <p:cNvSpPr txBox="1"/>
          <p:nvPr/>
        </p:nvSpPr>
        <p:spPr>
          <a:xfrm>
            <a:off x="1691640" y="3429000"/>
            <a:ext cx="1005840" cy="420624"/>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cat</a:t>
            </a:r>
            <a:endParaRPr lang="tr-TR" sz="1200" dirty="0"/>
          </a:p>
        </p:txBody>
      </p:sp>
      <p:sp>
        <p:nvSpPr>
          <p:cNvPr id="23" name="Shape 21"/>
          <p:cNvSpPr/>
          <p:nvPr/>
        </p:nvSpPr>
        <p:spPr>
          <a:xfrm flipH="1">
            <a:off x="3493008" y="2935224"/>
            <a:ext cx="365760" cy="493776"/>
          </a:xfrm>
          <a:prstGeom prst="line">
            <a:avLst/>
          </a:prstGeom>
          <a:noFill/>
          <a:ln w="15875">
            <a:solidFill>
              <a:srgbClr val="50808E"/>
            </a:solidFill>
            <a:prstDash val="solid"/>
          </a:ln>
        </p:spPr>
      </p:sp>
      <p:sp>
        <p:nvSpPr>
          <p:cNvPr id="24" name="Shape 22"/>
          <p:cNvSpPr/>
          <p:nvPr/>
        </p:nvSpPr>
        <p:spPr>
          <a:xfrm>
            <a:off x="2926080" y="3429000"/>
            <a:ext cx="1143000" cy="420624"/>
          </a:xfrm>
          <a:prstGeom prst="roundRect">
            <a:avLst>
              <a:gd name="adj" fmla="val 10870"/>
            </a:avLst>
          </a:prstGeom>
          <a:solidFill>
            <a:srgbClr val="D7E9E6"/>
          </a:solidFill>
          <a:ln/>
        </p:spPr>
      </p:sp>
      <p:sp>
        <p:nvSpPr>
          <p:cNvPr id="25" name="Text 23"/>
          <p:cNvSpPr txBox="1"/>
          <p:nvPr/>
        </p:nvSpPr>
        <p:spPr>
          <a:xfrm>
            <a:off x="2926080" y="3429000"/>
            <a:ext cx="1143000" cy="420624"/>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ayse</a:t>
            </a:r>
            <a:endParaRPr lang="tr-TR" sz="1200" dirty="0"/>
          </a:p>
        </p:txBody>
      </p:sp>
      <p:sp>
        <p:nvSpPr>
          <p:cNvPr id="26" name="Shape 24"/>
          <p:cNvSpPr/>
          <p:nvPr/>
        </p:nvSpPr>
        <p:spPr>
          <a:xfrm>
            <a:off x="3858768" y="2935224"/>
            <a:ext cx="1097280" cy="493776"/>
          </a:xfrm>
          <a:prstGeom prst="line">
            <a:avLst/>
          </a:prstGeom>
          <a:noFill/>
          <a:ln w="15875">
            <a:solidFill>
              <a:srgbClr val="50808E"/>
            </a:solidFill>
            <a:prstDash val="solid"/>
          </a:ln>
        </p:spPr>
      </p:sp>
      <p:sp>
        <p:nvSpPr>
          <p:cNvPr id="27" name="Shape 25"/>
          <p:cNvSpPr/>
          <p:nvPr/>
        </p:nvSpPr>
        <p:spPr>
          <a:xfrm>
            <a:off x="4389120" y="3429000"/>
            <a:ext cx="1143000" cy="420624"/>
          </a:xfrm>
          <a:prstGeom prst="roundRect">
            <a:avLst>
              <a:gd name="adj" fmla="val 10870"/>
            </a:avLst>
          </a:prstGeom>
          <a:solidFill>
            <a:srgbClr val="D7E9E6"/>
          </a:solidFill>
          <a:ln/>
        </p:spPr>
      </p:sp>
      <p:sp>
        <p:nvSpPr>
          <p:cNvPr id="28" name="Text 26"/>
          <p:cNvSpPr txBox="1"/>
          <p:nvPr/>
        </p:nvSpPr>
        <p:spPr>
          <a:xfrm>
            <a:off x="4389120" y="3429000"/>
            <a:ext cx="1143000" cy="420624"/>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mehmet</a:t>
            </a:r>
            <a:endParaRPr lang="tr-TR" sz="1200" dirty="0"/>
          </a:p>
        </p:txBody>
      </p:sp>
      <p:sp>
        <p:nvSpPr>
          <p:cNvPr id="29" name="Shape 27"/>
          <p:cNvSpPr/>
          <p:nvPr/>
        </p:nvSpPr>
        <p:spPr>
          <a:xfrm flipH="1">
            <a:off x="2715768" y="3849624"/>
            <a:ext cx="777240" cy="493776"/>
          </a:xfrm>
          <a:prstGeom prst="line">
            <a:avLst/>
          </a:prstGeom>
          <a:noFill/>
          <a:ln w="15875">
            <a:solidFill>
              <a:srgbClr val="50808E"/>
            </a:solidFill>
            <a:prstDash val="solid"/>
          </a:ln>
        </p:spPr>
      </p:sp>
      <p:sp>
        <p:nvSpPr>
          <p:cNvPr id="30" name="Shape 28"/>
          <p:cNvSpPr/>
          <p:nvPr/>
        </p:nvSpPr>
        <p:spPr>
          <a:xfrm>
            <a:off x="2148840" y="4343400"/>
            <a:ext cx="1143000" cy="420624"/>
          </a:xfrm>
          <a:prstGeom prst="roundRect">
            <a:avLst>
              <a:gd name="adj" fmla="val 10870"/>
            </a:avLst>
          </a:prstGeom>
          <a:solidFill>
            <a:srgbClr val="D7E9E6"/>
          </a:solidFill>
          <a:ln/>
        </p:spPr>
      </p:sp>
      <p:sp>
        <p:nvSpPr>
          <p:cNvPr id="31" name="Text 29"/>
          <p:cNvSpPr txBox="1"/>
          <p:nvPr/>
        </p:nvSpPr>
        <p:spPr>
          <a:xfrm>
            <a:off x="2148840" y="4343400"/>
            <a:ext cx="1143000" cy="420624"/>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os</a:t>
            </a:r>
            <a:endParaRPr lang="tr-TR" sz="1200" dirty="0"/>
          </a:p>
        </p:txBody>
      </p:sp>
      <p:sp>
        <p:nvSpPr>
          <p:cNvPr id="32" name="Shape 30"/>
          <p:cNvSpPr/>
          <p:nvPr/>
        </p:nvSpPr>
        <p:spPr>
          <a:xfrm>
            <a:off x="3493008" y="3849624"/>
            <a:ext cx="502920" cy="493776"/>
          </a:xfrm>
          <a:prstGeom prst="line">
            <a:avLst/>
          </a:prstGeom>
          <a:noFill/>
          <a:ln w="15875">
            <a:solidFill>
              <a:srgbClr val="50808E"/>
            </a:solidFill>
            <a:prstDash val="solid"/>
          </a:ln>
        </p:spPr>
      </p:sp>
      <p:sp>
        <p:nvSpPr>
          <p:cNvPr id="33" name="Shape 31"/>
          <p:cNvSpPr/>
          <p:nvPr/>
        </p:nvSpPr>
        <p:spPr>
          <a:xfrm>
            <a:off x="3429000" y="4343400"/>
            <a:ext cx="1143000" cy="420624"/>
          </a:xfrm>
          <a:prstGeom prst="roundRect">
            <a:avLst>
              <a:gd name="adj" fmla="val 10870"/>
            </a:avLst>
          </a:prstGeom>
          <a:solidFill>
            <a:srgbClr val="F2F2F2"/>
          </a:solidFill>
          <a:ln/>
        </p:spPr>
      </p:sp>
      <p:sp>
        <p:nvSpPr>
          <p:cNvPr id="34" name="Text 32"/>
          <p:cNvSpPr txBox="1"/>
          <p:nvPr/>
        </p:nvSpPr>
        <p:spPr>
          <a:xfrm>
            <a:off x="3429000" y="4343400"/>
            <a:ext cx="1143000" cy="420624"/>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photo.jpg</a:t>
            </a:r>
            <a:endParaRPr lang="tr-TR" sz="1200" dirty="0"/>
          </a:p>
        </p:txBody>
      </p:sp>
      <p:sp>
        <p:nvSpPr>
          <p:cNvPr id="35" name="Shape 33"/>
          <p:cNvSpPr/>
          <p:nvPr/>
        </p:nvSpPr>
        <p:spPr>
          <a:xfrm>
            <a:off x="4956048" y="3849624"/>
            <a:ext cx="484632" cy="493776"/>
          </a:xfrm>
          <a:prstGeom prst="line">
            <a:avLst/>
          </a:prstGeom>
          <a:noFill/>
          <a:ln w="15875">
            <a:solidFill>
              <a:srgbClr val="50808E"/>
            </a:solidFill>
            <a:prstDash val="solid"/>
          </a:ln>
        </p:spPr>
      </p:sp>
      <p:sp>
        <p:nvSpPr>
          <p:cNvPr id="36" name="Shape 34"/>
          <p:cNvSpPr/>
          <p:nvPr/>
        </p:nvSpPr>
        <p:spPr>
          <a:xfrm>
            <a:off x="4800600" y="4343400"/>
            <a:ext cx="1280160" cy="420624"/>
          </a:xfrm>
          <a:prstGeom prst="roundRect">
            <a:avLst>
              <a:gd name="adj" fmla="val 10870"/>
            </a:avLst>
          </a:prstGeom>
          <a:solidFill>
            <a:srgbClr val="F2F2F2"/>
          </a:solidFill>
          <a:ln/>
        </p:spPr>
      </p:sp>
      <p:sp>
        <p:nvSpPr>
          <p:cNvPr id="37" name="Text 35"/>
          <p:cNvSpPr txBox="1"/>
          <p:nvPr/>
        </p:nvSpPr>
        <p:spPr>
          <a:xfrm>
            <a:off x="4800600" y="4343400"/>
            <a:ext cx="1280160" cy="420624"/>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report.txt</a:t>
            </a:r>
            <a:endParaRPr lang="tr-TR" sz="1200" dirty="0"/>
          </a:p>
        </p:txBody>
      </p:sp>
      <p:sp>
        <p:nvSpPr>
          <p:cNvPr id="38" name="Shape 36"/>
          <p:cNvSpPr/>
          <p:nvPr/>
        </p:nvSpPr>
        <p:spPr>
          <a:xfrm flipH="1">
            <a:off x="2029968" y="4764024"/>
            <a:ext cx="685800" cy="493776"/>
          </a:xfrm>
          <a:prstGeom prst="line">
            <a:avLst/>
          </a:prstGeom>
          <a:noFill/>
          <a:ln w="15875">
            <a:solidFill>
              <a:srgbClr val="50808E"/>
            </a:solidFill>
            <a:prstDash val="solid"/>
          </a:ln>
        </p:spPr>
      </p:sp>
      <p:sp>
        <p:nvSpPr>
          <p:cNvPr id="39" name="Shape 37"/>
          <p:cNvSpPr/>
          <p:nvPr/>
        </p:nvSpPr>
        <p:spPr>
          <a:xfrm>
            <a:off x="1463040" y="5257800"/>
            <a:ext cx="1143000" cy="420624"/>
          </a:xfrm>
          <a:prstGeom prst="roundRect">
            <a:avLst>
              <a:gd name="adj" fmla="val 10870"/>
            </a:avLst>
          </a:prstGeom>
          <a:solidFill>
            <a:srgbClr val="02C39A"/>
          </a:solidFill>
          <a:ln/>
        </p:spPr>
      </p:sp>
      <p:sp>
        <p:nvSpPr>
          <p:cNvPr id="40" name="Text 38"/>
          <p:cNvSpPr txBox="1"/>
          <p:nvPr/>
        </p:nvSpPr>
        <p:spPr>
          <a:xfrm>
            <a:off x="1463040" y="5257800"/>
            <a:ext cx="1143000" cy="420624"/>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notes.txt</a:t>
            </a:r>
            <a:endParaRPr lang="tr-TR" sz="1200" dirty="0"/>
          </a:p>
        </p:txBody>
      </p:sp>
      <p:sp>
        <p:nvSpPr>
          <p:cNvPr id="41" name="Shape 39"/>
          <p:cNvSpPr/>
          <p:nvPr/>
        </p:nvSpPr>
        <p:spPr>
          <a:xfrm>
            <a:off x="2715768" y="4764024"/>
            <a:ext cx="594360" cy="493776"/>
          </a:xfrm>
          <a:prstGeom prst="line">
            <a:avLst/>
          </a:prstGeom>
          <a:noFill/>
          <a:ln w="15875">
            <a:solidFill>
              <a:srgbClr val="50808E"/>
            </a:solidFill>
            <a:prstDash val="solid"/>
          </a:ln>
        </p:spPr>
      </p:sp>
      <p:sp>
        <p:nvSpPr>
          <p:cNvPr id="42" name="Shape 40"/>
          <p:cNvSpPr/>
          <p:nvPr/>
        </p:nvSpPr>
        <p:spPr>
          <a:xfrm>
            <a:off x="2743200" y="5257800"/>
            <a:ext cx="1143000" cy="420624"/>
          </a:xfrm>
          <a:prstGeom prst="roundRect">
            <a:avLst>
              <a:gd name="adj" fmla="val 10870"/>
            </a:avLst>
          </a:prstGeom>
          <a:solidFill>
            <a:srgbClr val="F2F2F2"/>
          </a:solidFill>
          <a:ln/>
        </p:spPr>
      </p:sp>
      <p:sp>
        <p:nvSpPr>
          <p:cNvPr id="43" name="Text 41"/>
          <p:cNvSpPr txBox="1"/>
          <p:nvPr/>
        </p:nvSpPr>
        <p:spPr>
          <a:xfrm>
            <a:off x="2743200" y="5257800"/>
            <a:ext cx="1143000" cy="420624"/>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lab1.c</a:t>
            </a:r>
            <a:endParaRPr lang="tr-TR" sz="1200" dirty="0"/>
          </a:p>
        </p:txBody>
      </p:sp>
      <p:sp>
        <p:nvSpPr>
          <p:cNvPr id="44" name="Text 42"/>
          <p:cNvSpPr txBox="1"/>
          <p:nvPr/>
        </p:nvSpPr>
        <p:spPr>
          <a:xfrm>
            <a:off x="548640" y="5852160"/>
            <a:ext cx="5669280" cy="274320"/>
          </a:xfrm>
          <a:prstGeom prst="rect">
            <a:avLst/>
          </a:prstGeom>
          <a:noFill/>
          <a:ln/>
        </p:spPr>
        <p:txBody>
          <a:bodyPr wrap="square" lIns="0" tIns="0" rIns="0" bIns="0" rtlCol="0" anchor="t"/>
          <a:lstStyle/>
          <a:p>
            <a:pPr indent="0" marL="0">
              <a:buNone/>
            </a:pPr>
            <a:r>
              <a:rPr lang="tr-TR" sz="1100" i="1" dirty="0">
                <a:solidFill>
                  <a:srgbClr val="6B7679"/>
                </a:solidFill>
                <a:latin typeface="Calibri" pitchFamily="34" charset="0"/>
                <a:ea typeface="Calibri" pitchFamily="34" charset="-122"/>
                <a:cs typeface="Calibri" pitchFamily="34" charset="-120"/>
              </a:rPr>
              <a:t>soluk = dizin, beyaz = dosya</a:t>
            </a:r>
            <a:endParaRPr lang="tr-TR" sz="1100" dirty="0"/>
          </a:p>
        </p:txBody>
      </p:sp>
      <p:sp>
        <p:nvSpPr>
          <p:cNvPr id="45" name="Shape 43"/>
          <p:cNvSpPr/>
          <p:nvPr/>
        </p:nvSpPr>
        <p:spPr>
          <a:xfrm>
            <a:off x="6583680" y="1508760"/>
            <a:ext cx="507492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sp>
      <p:sp>
        <p:nvSpPr>
          <p:cNvPr id="46" name="Text 44"/>
          <p:cNvSpPr txBox="1"/>
          <p:nvPr/>
        </p:nvSpPr>
        <p:spPr>
          <a:xfrm>
            <a:off x="6812280" y="1691640"/>
            <a:ext cx="46177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Bir dosyayı adlandırmanın iki yolu</a:t>
            </a:r>
            <a:endParaRPr lang="tr-TR" sz="1500" dirty="0"/>
          </a:p>
        </p:txBody>
      </p:sp>
      <p:sp>
        <p:nvSpPr>
          <p:cNvPr id="47" name="Text 45"/>
          <p:cNvSpPr txBox="1"/>
          <p:nvPr/>
        </p:nvSpPr>
        <p:spPr>
          <a:xfrm>
            <a:off x="6812280" y="2148840"/>
            <a:ext cx="4617720" cy="1463040"/>
          </a:xfrm>
          <a:prstGeom prst="rect">
            <a:avLst/>
          </a:prstGeom>
          <a:noFill/>
          <a:ln/>
        </p:spPr>
        <p:txBody>
          <a:bodyPr wrap="square" lIns="0" tIns="0" rIns="0" bIns="0" rtlCol="0" anchor="t"/>
          <a:lstStyle/>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Mutlak yol:</a:t>
            </a:r>
            <a:r>
              <a:rPr lang="tr-TR" sz="1400" dirty="0">
                <a:solidFill>
                  <a:srgbClr val="3A464C"/>
                </a:solidFill>
                <a:latin typeface="Calibri" pitchFamily="34" charset="0"/>
                <a:ea typeface="Calibri" pitchFamily="34" charset="-122"/>
                <a:cs typeface="Calibri" pitchFamily="34" charset="-120"/>
              </a:rPr>
              <a:t> kök dizinden (/) başlar.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Göreli yol:</a:t>
            </a:r>
            <a:r>
              <a:rPr lang="tr-TR" sz="1400" dirty="0">
                <a:solidFill>
                  <a:srgbClr val="3A464C"/>
                </a:solidFill>
                <a:latin typeface="Calibri" pitchFamily="34" charset="0"/>
                <a:ea typeface="Calibri" pitchFamily="34" charset="-122"/>
                <a:cs typeface="Calibri" pitchFamily="34" charset="-120"/>
              </a:rPr>
              <a:t> geçerli dizinden başlar.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 ve ..</a:t>
            </a:r>
            <a:r>
              <a:rPr lang="tr-TR" sz="1400" dirty="0">
                <a:solidFill>
                  <a:srgbClr val="3A464C"/>
                </a:solidFill>
                <a:latin typeface="Calibri" pitchFamily="34" charset="0"/>
                <a:ea typeface="Calibri" pitchFamily="34" charset="-122"/>
                <a:cs typeface="Calibri" pitchFamily="34" charset="-120"/>
              </a:rPr>
              <a:t> bu dizin ve üst dizin demektir.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9. hafta: pwd, cd ve ls ile bu ağaçta dolaşacaksınız.</a:t>
            </a:r>
            <a:endParaRPr lang="tr-TR" sz="1400" dirty="0"/>
          </a:p>
        </p:txBody>
      </p:sp>
      <p:sp>
        <p:nvSpPr>
          <p:cNvPr id="48" name="Shape 46"/>
          <p:cNvSpPr/>
          <p:nvPr/>
        </p:nvSpPr>
        <p:spPr>
          <a:xfrm>
            <a:off x="6583680" y="3931920"/>
            <a:ext cx="5074920" cy="2331720"/>
          </a:xfrm>
          <a:prstGeom prst="roundRect">
            <a:avLst>
              <a:gd name="adj" fmla="val 1961"/>
            </a:avLst>
          </a:prstGeom>
          <a:solidFill>
            <a:srgbClr val="212121"/>
          </a:solidFill>
          <a:ln/>
        </p:spPr>
      </p:sp>
      <p:sp>
        <p:nvSpPr>
          <p:cNvPr id="49" name="Text 47"/>
          <p:cNvSpPr txBox="1"/>
          <p:nvPr/>
        </p:nvSpPr>
        <p:spPr>
          <a:xfrm>
            <a:off x="6766560" y="4041648"/>
            <a:ext cx="4709160" cy="2112264"/>
          </a:xfrm>
          <a:prstGeom prst="rect">
            <a:avLst/>
          </a:prstGeom>
          <a:noFill/>
          <a:ln/>
        </p:spPr>
        <p:txBody>
          <a:bodyPr wrap="square" lIns="0" tIns="0" rIns="0" bIns="0" rtlCol="0" anchor="t"/>
          <a:lstStyle/>
          <a:p>
            <a:pPr indent="0" marL="0">
              <a:lnSpc>
                <a:spcPct val="105000"/>
              </a:lnSpc>
              <a:buNone/>
            </a:pPr>
            <a:r>
              <a:rPr lang="tr-TR" sz="1250" dirty="0">
                <a:solidFill>
                  <a:srgbClr val="8A9AA0"/>
                </a:solidFill>
                <a:latin typeface="Consolas" pitchFamily="34" charset="0"/>
                <a:ea typeface="Consolas" pitchFamily="34" charset="-122"/>
                <a:cs typeface="Consolas" pitchFamily="34" charset="-120"/>
              </a:rPr>
              <a:t># mutlak: her yerden çalışır</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/home/ayse/os/notes.txt</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a:t>
            </a:r>
            <a:endParaRPr lang="tr-TR" sz="1250" dirty="0"/>
          </a:p>
          <a:p>
            <a:pPr indent="0" marL="0">
              <a:lnSpc>
                <a:spcPct val="105000"/>
              </a:lnSpc>
              <a:buNone/>
            </a:pPr>
            <a:r>
              <a:rPr lang="tr-TR" sz="1250" dirty="0">
                <a:solidFill>
                  <a:srgbClr val="8A9AA0"/>
                </a:solidFill>
                <a:latin typeface="Consolas" pitchFamily="34" charset="0"/>
                <a:ea typeface="Consolas" pitchFamily="34" charset="-122"/>
                <a:cs typeface="Consolas" pitchFamily="34" charset="-120"/>
              </a:rPr>
              <a:t># göreli, geçerli dizin /home/ayse</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os/notes.txt</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a:t>
            </a:r>
            <a:endParaRPr lang="tr-TR" sz="1250" dirty="0"/>
          </a:p>
          <a:p>
            <a:pPr indent="0" marL="0">
              <a:lnSpc>
                <a:spcPct val="105000"/>
              </a:lnSpc>
              <a:buNone/>
            </a:pPr>
            <a:r>
              <a:rPr lang="tr-TR" sz="1250" dirty="0">
                <a:solidFill>
                  <a:srgbClr val="8A9AA0"/>
                </a:solidFill>
                <a:latin typeface="Consolas" pitchFamily="34" charset="0"/>
                <a:ea typeface="Consolas" pitchFamily="34" charset="-122"/>
                <a:cs typeface="Consolas" pitchFamily="34" charset="-120"/>
              </a:rPr>
              <a:t># göreli, geçerli dizin /home/ayse/os</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../../mehmet/report.txt</a:t>
            </a:r>
            <a:endParaRPr lang="tr-TR"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DİZİN YAPILARI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Döngüsüz Çizgeler: Bağlantılarla Paylaşım</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33</a:t>
            </a:r>
            <a:endParaRPr lang="tr-TR" sz="900" dirty="0"/>
          </a:p>
        </p:txBody>
      </p:sp>
      <p:sp>
        <p:nvSpPr>
          <p:cNvPr id="6" name="Shape 4"/>
          <p:cNvSpPr/>
          <p:nvPr/>
        </p:nvSpPr>
        <p:spPr>
          <a:xfrm>
            <a:off x="731520" y="1645920"/>
            <a:ext cx="1737360" cy="457200"/>
          </a:xfrm>
          <a:prstGeom prst="roundRect">
            <a:avLst>
              <a:gd name="adj" fmla="val 10000"/>
            </a:avLst>
          </a:prstGeom>
          <a:solidFill>
            <a:srgbClr val="D7E9E6"/>
          </a:solidFill>
          <a:ln/>
        </p:spPr>
      </p:sp>
      <p:sp>
        <p:nvSpPr>
          <p:cNvPr id="7" name="Text 5"/>
          <p:cNvSpPr txBox="1"/>
          <p:nvPr/>
        </p:nvSpPr>
        <p:spPr>
          <a:xfrm>
            <a:off x="731520" y="1645920"/>
            <a:ext cx="1737360" cy="45720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/home/ayse</a:t>
            </a:r>
            <a:endParaRPr lang="tr-TR" sz="1300" dirty="0"/>
          </a:p>
        </p:txBody>
      </p:sp>
      <p:sp>
        <p:nvSpPr>
          <p:cNvPr id="8" name="Shape 6"/>
          <p:cNvSpPr/>
          <p:nvPr/>
        </p:nvSpPr>
        <p:spPr>
          <a:xfrm>
            <a:off x="4114800" y="1645920"/>
            <a:ext cx="1737360" cy="457200"/>
          </a:xfrm>
          <a:prstGeom prst="roundRect">
            <a:avLst>
              <a:gd name="adj" fmla="val 10000"/>
            </a:avLst>
          </a:prstGeom>
          <a:solidFill>
            <a:srgbClr val="D7E9E6"/>
          </a:solidFill>
          <a:ln/>
        </p:spPr>
      </p:sp>
      <p:sp>
        <p:nvSpPr>
          <p:cNvPr id="9" name="Text 7"/>
          <p:cNvSpPr txBox="1"/>
          <p:nvPr/>
        </p:nvSpPr>
        <p:spPr>
          <a:xfrm>
            <a:off x="4114800" y="1645920"/>
            <a:ext cx="1737360" cy="45720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/home/mehmet</a:t>
            </a:r>
            <a:endParaRPr lang="tr-TR" sz="1300" dirty="0"/>
          </a:p>
        </p:txBody>
      </p:sp>
      <p:sp>
        <p:nvSpPr>
          <p:cNvPr id="10" name="Shape 8"/>
          <p:cNvSpPr/>
          <p:nvPr/>
        </p:nvSpPr>
        <p:spPr>
          <a:xfrm>
            <a:off x="731520" y="2743200"/>
            <a:ext cx="1737360" cy="457200"/>
          </a:xfrm>
          <a:prstGeom prst="roundRect">
            <a:avLst>
              <a:gd name="adj" fmla="val 10000"/>
            </a:avLst>
          </a:prstGeom>
          <a:solidFill>
            <a:srgbClr val="F2F2F2"/>
          </a:solidFill>
          <a:ln/>
        </p:spPr>
      </p:sp>
      <p:sp>
        <p:nvSpPr>
          <p:cNvPr id="11" name="Text 9"/>
          <p:cNvSpPr txBox="1"/>
          <p:nvPr/>
        </p:nvSpPr>
        <p:spPr>
          <a:xfrm>
            <a:off x="731520" y="2743200"/>
            <a:ext cx="1737360" cy="45720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notes.txt</a:t>
            </a:r>
            <a:endParaRPr lang="tr-TR" sz="1300" dirty="0"/>
          </a:p>
        </p:txBody>
      </p:sp>
      <p:sp>
        <p:nvSpPr>
          <p:cNvPr id="12" name="Shape 10"/>
          <p:cNvSpPr/>
          <p:nvPr/>
        </p:nvSpPr>
        <p:spPr>
          <a:xfrm>
            <a:off x="4114800" y="2743200"/>
            <a:ext cx="1737360" cy="457200"/>
          </a:xfrm>
          <a:prstGeom prst="roundRect">
            <a:avLst>
              <a:gd name="adj" fmla="val 10000"/>
            </a:avLst>
          </a:prstGeom>
          <a:solidFill>
            <a:srgbClr val="F2F2F2"/>
          </a:solidFill>
          <a:ln/>
        </p:spPr>
      </p:sp>
      <p:sp>
        <p:nvSpPr>
          <p:cNvPr id="13" name="Text 11"/>
          <p:cNvSpPr txBox="1"/>
          <p:nvPr/>
        </p:nvSpPr>
        <p:spPr>
          <a:xfrm>
            <a:off x="4114800" y="2743200"/>
            <a:ext cx="1737360" cy="45720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hard.txt</a:t>
            </a:r>
            <a:endParaRPr lang="tr-TR" sz="1300" dirty="0"/>
          </a:p>
        </p:txBody>
      </p:sp>
      <p:sp>
        <p:nvSpPr>
          <p:cNvPr id="14" name="Shape 12"/>
          <p:cNvSpPr/>
          <p:nvPr/>
        </p:nvSpPr>
        <p:spPr>
          <a:xfrm>
            <a:off x="1600200" y="2103120"/>
            <a:ext cx="91" cy="640080"/>
          </a:xfrm>
          <a:prstGeom prst="line">
            <a:avLst/>
          </a:prstGeom>
          <a:noFill/>
          <a:ln w="15875">
            <a:solidFill>
              <a:srgbClr val="50808E"/>
            </a:solidFill>
            <a:prstDash val="solid"/>
          </a:ln>
        </p:spPr>
      </p:sp>
      <p:sp>
        <p:nvSpPr>
          <p:cNvPr id="15" name="Shape 13"/>
          <p:cNvSpPr/>
          <p:nvPr/>
        </p:nvSpPr>
        <p:spPr>
          <a:xfrm>
            <a:off x="4983480" y="2103120"/>
            <a:ext cx="91" cy="640080"/>
          </a:xfrm>
          <a:prstGeom prst="line">
            <a:avLst/>
          </a:prstGeom>
          <a:noFill/>
          <a:ln w="15875">
            <a:solidFill>
              <a:srgbClr val="50808E"/>
            </a:solidFill>
            <a:prstDash val="solid"/>
          </a:ln>
        </p:spPr>
      </p:sp>
      <p:sp>
        <p:nvSpPr>
          <p:cNvPr id="16" name="Shape 14"/>
          <p:cNvSpPr/>
          <p:nvPr/>
        </p:nvSpPr>
        <p:spPr>
          <a:xfrm>
            <a:off x="2194560" y="3794760"/>
            <a:ext cx="2194560" cy="822960"/>
          </a:xfrm>
          <a:prstGeom prst="roundRect">
            <a:avLst>
              <a:gd name="adj" fmla="val 5556"/>
            </a:avLst>
          </a:prstGeom>
          <a:solidFill>
            <a:srgbClr val="36454F"/>
          </a:solidFill>
          <a:ln/>
        </p:spPr>
      </p:sp>
      <p:sp>
        <p:nvSpPr>
          <p:cNvPr id="17" name="Text 15"/>
          <p:cNvSpPr txBox="1"/>
          <p:nvPr/>
        </p:nvSpPr>
        <p:spPr>
          <a:xfrm>
            <a:off x="2194560" y="3794760"/>
            <a:ext cx="2194560" cy="82296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düğüm 368662</a:t>
            </a:r>
            <a:endParaRPr lang="tr-TR" sz="1300" dirty="0"/>
          </a:p>
          <a:p>
            <a:pPr algn="ctr" indent="0" marL="0">
              <a:buNone/>
            </a:pPr>
            <a:r>
              <a:rPr lang="tr-TR" sz="1100" dirty="0">
                <a:solidFill>
                  <a:srgbClr val="FFFFFF"/>
                </a:solidFill>
                <a:latin typeface="Calibri" pitchFamily="34" charset="0"/>
                <a:ea typeface="Calibri" pitchFamily="34" charset="-122"/>
                <a:cs typeface="Calibri" pitchFamily="34" charset="-120"/>
              </a:rPr>
              <a:t>bağlantı sayısı = 2</a:t>
            </a:r>
            <a:endParaRPr lang="tr-TR" sz="1300" dirty="0"/>
          </a:p>
        </p:txBody>
      </p:sp>
      <p:sp>
        <p:nvSpPr>
          <p:cNvPr id="18" name="Shape 16"/>
          <p:cNvSpPr/>
          <p:nvPr/>
        </p:nvSpPr>
        <p:spPr>
          <a:xfrm>
            <a:off x="1600200" y="3218688"/>
            <a:ext cx="1143000" cy="557784"/>
          </a:xfrm>
          <a:prstGeom prst="line">
            <a:avLst/>
          </a:prstGeom>
          <a:noFill/>
          <a:ln w="25400">
            <a:solidFill>
              <a:srgbClr val="028090"/>
            </a:solidFill>
            <a:prstDash val="solid"/>
            <a:tailEnd type="triangle"/>
          </a:ln>
        </p:spPr>
      </p:sp>
      <p:sp>
        <p:nvSpPr>
          <p:cNvPr id="19" name="Shape 17"/>
          <p:cNvSpPr/>
          <p:nvPr/>
        </p:nvSpPr>
        <p:spPr>
          <a:xfrm flipH="1">
            <a:off x="3840480" y="3218688"/>
            <a:ext cx="1143000" cy="557784"/>
          </a:xfrm>
          <a:prstGeom prst="line">
            <a:avLst/>
          </a:prstGeom>
          <a:noFill/>
          <a:ln w="25400">
            <a:solidFill>
              <a:srgbClr val="028090"/>
            </a:solidFill>
            <a:prstDash val="solid"/>
            <a:tailEnd type="triangle"/>
          </a:ln>
        </p:spPr>
      </p:sp>
      <p:sp>
        <p:nvSpPr>
          <p:cNvPr id="20" name="Text 18"/>
          <p:cNvSpPr txBox="1"/>
          <p:nvPr/>
        </p:nvSpPr>
        <p:spPr>
          <a:xfrm>
            <a:off x="548640" y="4663440"/>
            <a:ext cx="5486400" cy="320040"/>
          </a:xfrm>
          <a:prstGeom prst="rect">
            <a:avLst/>
          </a:prstGeom>
          <a:noFill/>
          <a:ln/>
        </p:spPr>
        <p:txBody>
          <a:bodyPr wrap="square" lIns="0" tIns="0" rIns="0" bIns="0" rtlCol="0" anchor="t"/>
          <a:lstStyle/>
          <a:p>
            <a:pPr algn="ctr" indent="0" marL="0">
              <a:buNone/>
            </a:pPr>
            <a:r>
              <a:rPr lang="tr-TR" sz="1300" b="1" dirty="0">
                <a:solidFill>
                  <a:srgbClr val="028090"/>
                </a:solidFill>
                <a:latin typeface="Calibri" pitchFamily="34" charset="0"/>
                <a:ea typeface="Calibri" pitchFamily="34" charset="-122"/>
                <a:cs typeface="Calibri" pitchFamily="34" charset="-120"/>
              </a:rPr>
              <a:t>sabit bağlantı: iki ad, tek dosya</a:t>
            </a:r>
            <a:endParaRPr lang="tr-TR" sz="1300" dirty="0"/>
          </a:p>
        </p:txBody>
      </p:sp>
      <p:sp>
        <p:nvSpPr>
          <p:cNvPr id="21" name="Shape 19"/>
          <p:cNvSpPr/>
          <p:nvPr/>
        </p:nvSpPr>
        <p:spPr>
          <a:xfrm>
            <a:off x="731520" y="5303520"/>
            <a:ext cx="1737360" cy="548640"/>
          </a:xfrm>
          <a:prstGeom prst="roundRect">
            <a:avLst>
              <a:gd name="adj" fmla="val 8333"/>
            </a:avLst>
          </a:prstGeom>
          <a:solidFill>
            <a:srgbClr val="F2F2F2"/>
          </a:solidFill>
          <a:ln/>
        </p:spPr>
      </p:sp>
      <p:sp>
        <p:nvSpPr>
          <p:cNvPr id="22" name="Text 20"/>
          <p:cNvSpPr txBox="1"/>
          <p:nvPr/>
        </p:nvSpPr>
        <p:spPr>
          <a:xfrm>
            <a:off x="731520" y="5303520"/>
            <a:ext cx="1737360" cy="54864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soft.txt</a:t>
            </a:r>
            <a:endParaRPr lang="tr-TR" sz="1200" dirty="0"/>
          </a:p>
          <a:p>
            <a:pPr algn="ctr" indent="0" marL="0">
              <a:buNone/>
            </a:pPr>
            <a:r>
              <a:rPr lang="tr-TR" sz="1000" dirty="0">
                <a:solidFill>
                  <a:srgbClr val="212121"/>
                </a:solidFill>
                <a:latin typeface="Calibri" pitchFamily="34" charset="0"/>
                <a:ea typeface="Calibri" pitchFamily="34" charset="-122"/>
                <a:cs typeface="Calibri" pitchFamily="34" charset="-120"/>
              </a:rPr>
              <a:t>içeriği: "notes.txt"</a:t>
            </a:r>
            <a:endParaRPr lang="tr-TR" sz="1200" dirty="0"/>
          </a:p>
        </p:txBody>
      </p:sp>
      <p:sp>
        <p:nvSpPr>
          <p:cNvPr id="23" name="Shape 21"/>
          <p:cNvSpPr/>
          <p:nvPr/>
        </p:nvSpPr>
        <p:spPr>
          <a:xfrm>
            <a:off x="2487168" y="5577840"/>
            <a:ext cx="1609344" cy="91"/>
          </a:xfrm>
          <a:prstGeom prst="line">
            <a:avLst/>
          </a:prstGeom>
          <a:noFill/>
          <a:ln w="25400">
            <a:solidFill>
              <a:srgbClr val="C98A1B"/>
            </a:solidFill>
            <a:prstDash val="solid"/>
            <a:tailEnd type="triangle"/>
          </a:ln>
        </p:spPr>
      </p:sp>
      <p:sp>
        <p:nvSpPr>
          <p:cNvPr id="24" name="Shape 22"/>
          <p:cNvSpPr/>
          <p:nvPr/>
        </p:nvSpPr>
        <p:spPr>
          <a:xfrm>
            <a:off x="4114800" y="5303520"/>
            <a:ext cx="1737360" cy="548640"/>
          </a:xfrm>
          <a:prstGeom prst="roundRect">
            <a:avLst>
              <a:gd name="adj" fmla="val 8333"/>
            </a:avLst>
          </a:prstGeom>
          <a:solidFill>
            <a:srgbClr val="F2F2F2"/>
          </a:solidFill>
          <a:ln/>
        </p:spPr>
      </p:sp>
      <p:sp>
        <p:nvSpPr>
          <p:cNvPr id="25" name="Text 23"/>
          <p:cNvSpPr txBox="1"/>
          <p:nvPr/>
        </p:nvSpPr>
        <p:spPr>
          <a:xfrm>
            <a:off x="4114800" y="5303520"/>
            <a:ext cx="1737360" cy="54864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notes.txt</a:t>
            </a:r>
            <a:endParaRPr lang="tr-TR" sz="1200" dirty="0"/>
          </a:p>
        </p:txBody>
      </p:sp>
      <p:sp>
        <p:nvSpPr>
          <p:cNvPr id="26" name="Text 24"/>
          <p:cNvSpPr txBox="1"/>
          <p:nvPr/>
        </p:nvSpPr>
        <p:spPr>
          <a:xfrm>
            <a:off x="548640" y="5897880"/>
            <a:ext cx="5486400" cy="320040"/>
          </a:xfrm>
          <a:prstGeom prst="rect">
            <a:avLst/>
          </a:prstGeom>
          <a:noFill/>
          <a:ln/>
        </p:spPr>
        <p:txBody>
          <a:bodyPr wrap="square" lIns="0" tIns="0" rIns="0" bIns="0" rtlCol="0" anchor="t"/>
          <a:lstStyle/>
          <a:p>
            <a:pPr algn="ctr" indent="0" marL="0">
              <a:buNone/>
            </a:pPr>
            <a:r>
              <a:rPr lang="tr-TR" sz="1300" b="1" dirty="0">
                <a:solidFill>
                  <a:srgbClr val="C98A1B"/>
                </a:solidFill>
                <a:latin typeface="Calibri" pitchFamily="34" charset="0"/>
                <a:ea typeface="Calibri" pitchFamily="34" charset="-122"/>
                <a:cs typeface="Calibri" pitchFamily="34" charset="-120"/>
              </a:rPr>
              <a:t>sembolik bağlantı: bir yol saklayan dosya</a:t>
            </a:r>
            <a:endParaRPr lang="tr-TR" sz="1300" dirty="0"/>
          </a:p>
        </p:txBody>
      </p:sp>
      <p:sp>
        <p:nvSpPr>
          <p:cNvPr id="27" name="Shape 25"/>
          <p:cNvSpPr/>
          <p:nvPr/>
        </p:nvSpPr>
        <p:spPr>
          <a:xfrm>
            <a:off x="6400800" y="1508760"/>
            <a:ext cx="5257800" cy="2514600"/>
          </a:xfrm>
          <a:prstGeom prst="roundRect">
            <a:avLst>
              <a:gd name="adj" fmla="val 2182"/>
            </a:avLst>
          </a:prstGeom>
          <a:solidFill>
            <a:srgbClr val="F2F2F2"/>
          </a:solidFill>
          <a:ln/>
          <a:effectLst>
            <a:outerShdw sx="100000" sy="100000" kx="0" ky="0" algn="bl" rotWithShape="0" blurRad="101600" dist="25400" dir="5400000">
              <a:srgbClr val="000000">
                <a:alpha val="12000"/>
              </a:srgbClr>
            </a:outerShdw>
          </a:effectLst>
        </p:spPr>
      </p:sp>
      <p:sp>
        <p:nvSpPr>
          <p:cNvPr id="28" name="Text 26"/>
          <p:cNvSpPr txBox="1"/>
          <p:nvPr/>
        </p:nvSpPr>
        <p:spPr>
          <a:xfrm>
            <a:off x="6629400" y="1691640"/>
            <a:ext cx="48006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Döngüsüz çizge (acyclic graph)</a:t>
            </a:r>
            <a:endParaRPr lang="tr-TR" sz="1500" dirty="0"/>
          </a:p>
        </p:txBody>
      </p:sp>
      <p:sp>
        <p:nvSpPr>
          <p:cNvPr id="29" name="Text 27"/>
          <p:cNvSpPr txBox="1"/>
          <p:nvPr/>
        </p:nvSpPr>
        <p:spPr>
          <a:xfrm>
            <a:off x="6629400" y="2148840"/>
            <a:ext cx="4800600" cy="173736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Bir dosya (ya da dizin) birden çok dizinde yer alabilir: kopyalanmaz, paylaşılır.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Sabit bağlantı (hard link):</a:t>
            </a:r>
            <a:r>
              <a:rPr lang="tr-TR" sz="1350" dirty="0">
                <a:solidFill>
                  <a:srgbClr val="3A464C"/>
                </a:solidFill>
                <a:latin typeface="Calibri" pitchFamily="34" charset="0"/>
                <a:ea typeface="Calibri" pitchFamily="34" charset="-122"/>
                <a:cs typeface="Calibri" pitchFamily="34" charset="-120"/>
              </a:rPr>
              <a:t> aynı düğüm için ikinci bir dizin girdisi. Bir adı silmek dosyayı silmez.</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Sembolik bağlantı:</a:t>
            </a:r>
            <a:r>
              <a:rPr lang="tr-TR" sz="1350" dirty="0">
                <a:solidFill>
                  <a:srgbClr val="3A464C"/>
                </a:solidFill>
                <a:latin typeface="Calibri" pitchFamily="34" charset="0"/>
                <a:ea typeface="Calibri" pitchFamily="34" charset="-122"/>
                <a:cs typeface="Calibri" pitchFamily="34" charset="-120"/>
              </a:rPr>
              <a:t> bir yol tutan küçük bir dosya; hedef silinirse boşta (sarkık) kalır.</a:t>
            </a:r>
            <a:endParaRPr lang="tr-TR" sz="1350" dirty="0"/>
          </a:p>
        </p:txBody>
      </p:sp>
      <p:sp>
        <p:nvSpPr>
          <p:cNvPr id="30" name="Shape 28"/>
          <p:cNvSpPr/>
          <p:nvPr/>
        </p:nvSpPr>
        <p:spPr>
          <a:xfrm>
            <a:off x="6400800" y="4206240"/>
            <a:ext cx="5257800" cy="2057400"/>
          </a:xfrm>
          <a:prstGeom prst="roundRect">
            <a:avLst>
              <a:gd name="adj" fmla="val 2667"/>
            </a:avLst>
          </a:prstGeom>
          <a:solidFill>
            <a:srgbClr val="F2F2F2"/>
          </a:solidFill>
          <a:ln/>
          <a:effectLst>
            <a:outerShdw sx="100000" sy="100000" kx="0" ky="0" algn="bl" rotWithShape="0" blurRad="101600" dist="25400" dir="5400000">
              <a:srgbClr val="000000">
                <a:alpha val="12000"/>
              </a:srgbClr>
            </a:outerShdw>
          </a:effectLst>
        </p:spPr>
      </p:sp>
      <p:sp>
        <p:nvSpPr>
          <p:cNvPr id="31" name="Text 29"/>
          <p:cNvSpPr txBox="1"/>
          <p:nvPr/>
        </p:nvSpPr>
        <p:spPr>
          <a:xfrm>
            <a:off x="6629400" y="4389120"/>
            <a:ext cx="4800600" cy="384048"/>
          </a:xfrm>
          <a:prstGeom prst="rect">
            <a:avLst/>
          </a:prstGeom>
          <a:noFill/>
          <a:ln/>
        </p:spPr>
        <p:txBody>
          <a:bodyPr wrap="square" lIns="0" tIns="0" rIns="0" bIns="0" rtlCol="0" anchor="ctr"/>
          <a:lstStyle/>
          <a:p>
            <a:pPr indent="0" marL="0">
              <a:buNone/>
            </a:pPr>
            <a:r>
              <a:rPr lang="tr-TR" sz="1500" b="1" dirty="0">
                <a:solidFill>
                  <a:srgbClr val="B5453A"/>
                </a:solidFill>
                <a:latin typeface="Cambria" pitchFamily="34" charset="0"/>
                <a:ea typeface="Cambria" pitchFamily="34" charset="-122"/>
                <a:cs typeface="Cambria" pitchFamily="34" charset="-120"/>
              </a:rPr>
              <a:t>Genel çizge (döngülere izin veren)</a:t>
            </a:r>
            <a:endParaRPr lang="tr-TR" sz="1500" dirty="0"/>
          </a:p>
        </p:txBody>
      </p:sp>
      <p:sp>
        <p:nvSpPr>
          <p:cNvPr id="32" name="Text 30"/>
          <p:cNvSpPr txBox="1"/>
          <p:nvPr/>
        </p:nvSpPr>
        <p:spPr>
          <a:xfrm>
            <a:off x="6629400" y="4846320"/>
            <a:ext cx="4800600" cy="128016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Bir üst dizine geri dönen bağlantı döngü oluşturur: aramalar sonsuza dek dönebilir, silinmiş bir alt ağaç hiç "kullanılmaz" duruma gelmeyebilir.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Linux dizinlere sabit bağlantıyı yasaklar; sembolik bağlantı döngüleri bir hatayla (ELOOP) durur.</a:t>
            </a:r>
            <a:endParaRPr lang="tr-TR"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LİNUX</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Linux Ne Gösterir: Dizin Girdileri ve Düğümler</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Dizin, (ad, düğüm numarası) çiftlerinden oluşan bir tablodur. Bir dosyayla ilgili diğer her şey onun düğümünde (inode) durur.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34</a:t>
            </a:r>
            <a:endParaRPr lang="tr-TR" sz="900" dirty="0"/>
          </a:p>
        </p:txBody>
      </p:sp>
      <p:sp>
        <p:nvSpPr>
          <p:cNvPr id="7" name="Text 5"/>
          <p:cNvSpPr txBox="1"/>
          <p:nvPr/>
        </p:nvSpPr>
        <p:spPr>
          <a:xfrm>
            <a:off x="548640" y="2148840"/>
            <a:ext cx="3108960" cy="320040"/>
          </a:xfrm>
          <a:prstGeom prst="rect">
            <a:avLst/>
          </a:prstGeom>
          <a:noFill/>
          <a:ln/>
        </p:spPr>
        <p:txBody>
          <a:bodyPr wrap="square" lIns="0" tIns="0" rIns="0" bIns="0" rtlCol="0" anchor="t"/>
          <a:lstStyle/>
          <a:p>
            <a:pPr indent="0" marL="0">
              <a:buNone/>
            </a:pPr>
            <a:r>
              <a:rPr lang="tr-TR" sz="1200" b="1" dirty="0">
                <a:solidFill>
                  <a:srgbClr val="36454F"/>
                </a:solidFill>
                <a:latin typeface="Calibri" pitchFamily="34" charset="0"/>
                <a:ea typeface="Calibri" pitchFamily="34" charset="-122"/>
                <a:cs typeface="Calibri" pitchFamily="34" charset="-120"/>
              </a:rPr>
              <a:t>/home/student/lab dizini</a:t>
            </a:r>
            <a:endParaRPr lang="tr-TR" sz="1200" dirty="0"/>
          </a:p>
        </p:txBody>
      </p:sp>
      <p:sp>
        <p:nvSpPr>
          <p:cNvPr id="8" name="Shape 6"/>
          <p:cNvSpPr/>
          <p:nvPr/>
        </p:nvSpPr>
        <p:spPr>
          <a:xfrm>
            <a:off x="548640" y="2514600"/>
            <a:ext cx="1554480" cy="402336"/>
          </a:xfrm>
          <a:prstGeom prst="roundRect">
            <a:avLst>
              <a:gd name="adj" fmla="val 11364"/>
            </a:avLst>
          </a:prstGeom>
          <a:solidFill>
            <a:srgbClr val="F2F2F2"/>
          </a:solidFill>
          <a:ln/>
        </p:spPr>
      </p:sp>
      <p:sp>
        <p:nvSpPr>
          <p:cNvPr id="9" name="Text 7"/>
          <p:cNvSpPr txBox="1"/>
          <p:nvPr/>
        </p:nvSpPr>
        <p:spPr>
          <a:xfrm>
            <a:off x="548640" y="2514600"/>
            <a:ext cx="1554480" cy="402336"/>
          </a:xfrm>
          <a:prstGeom prst="rect">
            <a:avLst/>
          </a:prstGeom>
          <a:noFill/>
          <a:ln/>
        </p:spPr>
        <p:txBody>
          <a:bodyPr wrap="square" lIns="38100" tIns="38100" rIns="38100" bIns="38100" rtlCol="0" anchor="ctr"/>
          <a:lstStyle/>
          <a:p>
            <a:pPr algn="ctr" indent="0" marL="0">
              <a:buNone/>
            </a:pPr>
            <a:r>
              <a:rPr lang="tr-TR" sz="1200" dirty="0">
                <a:solidFill>
                  <a:srgbClr val="36454F"/>
                </a:solidFill>
                <a:latin typeface="Consolas" pitchFamily="34" charset="0"/>
                <a:ea typeface="Consolas" pitchFamily="34" charset="-122"/>
                <a:cs typeface="Consolas" pitchFamily="34" charset="-120"/>
              </a:rPr>
              <a:t>notes.txt</a:t>
            </a:r>
            <a:endParaRPr lang="tr-TR" sz="1200" dirty="0"/>
          </a:p>
        </p:txBody>
      </p:sp>
      <p:sp>
        <p:nvSpPr>
          <p:cNvPr id="10" name="Shape 8"/>
          <p:cNvSpPr/>
          <p:nvPr/>
        </p:nvSpPr>
        <p:spPr>
          <a:xfrm>
            <a:off x="2148840" y="2514600"/>
            <a:ext cx="1051560" cy="402336"/>
          </a:xfrm>
          <a:prstGeom prst="roundRect">
            <a:avLst>
              <a:gd name="adj" fmla="val 11364"/>
            </a:avLst>
          </a:prstGeom>
          <a:solidFill>
            <a:srgbClr val="D7E9E6"/>
          </a:solidFill>
          <a:ln/>
        </p:spPr>
      </p:sp>
      <p:sp>
        <p:nvSpPr>
          <p:cNvPr id="11" name="Text 9"/>
          <p:cNvSpPr txBox="1"/>
          <p:nvPr/>
        </p:nvSpPr>
        <p:spPr>
          <a:xfrm>
            <a:off x="2148840" y="2514600"/>
            <a:ext cx="1051560" cy="402336"/>
          </a:xfrm>
          <a:prstGeom prst="rect">
            <a:avLst/>
          </a:prstGeom>
          <a:noFill/>
          <a:ln/>
        </p:spPr>
        <p:txBody>
          <a:bodyPr wrap="square" lIns="38100" tIns="38100" rIns="38100" bIns="38100" rtlCol="0" anchor="ctr"/>
          <a:lstStyle/>
          <a:p>
            <a:pPr algn="ctr" indent="0" marL="0">
              <a:buNone/>
            </a:pPr>
            <a:r>
              <a:rPr lang="tr-TR" sz="1200" dirty="0">
                <a:solidFill>
                  <a:srgbClr val="212121"/>
                </a:solidFill>
                <a:latin typeface="Consolas" pitchFamily="34" charset="0"/>
                <a:ea typeface="Consolas" pitchFamily="34" charset="-122"/>
                <a:cs typeface="Consolas" pitchFamily="34" charset="-120"/>
              </a:rPr>
              <a:t>368662</a:t>
            </a:r>
            <a:endParaRPr lang="tr-TR" sz="1200" dirty="0"/>
          </a:p>
        </p:txBody>
      </p:sp>
      <p:sp>
        <p:nvSpPr>
          <p:cNvPr id="12" name="Shape 10"/>
          <p:cNvSpPr/>
          <p:nvPr/>
        </p:nvSpPr>
        <p:spPr>
          <a:xfrm>
            <a:off x="548640" y="2971800"/>
            <a:ext cx="1554480" cy="402336"/>
          </a:xfrm>
          <a:prstGeom prst="roundRect">
            <a:avLst>
              <a:gd name="adj" fmla="val 11364"/>
            </a:avLst>
          </a:prstGeom>
          <a:solidFill>
            <a:srgbClr val="F2F2F2"/>
          </a:solidFill>
          <a:ln/>
        </p:spPr>
      </p:sp>
      <p:sp>
        <p:nvSpPr>
          <p:cNvPr id="13" name="Text 11"/>
          <p:cNvSpPr txBox="1"/>
          <p:nvPr/>
        </p:nvSpPr>
        <p:spPr>
          <a:xfrm>
            <a:off x="548640" y="2971800"/>
            <a:ext cx="1554480" cy="402336"/>
          </a:xfrm>
          <a:prstGeom prst="rect">
            <a:avLst/>
          </a:prstGeom>
          <a:noFill/>
          <a:ln/>
        </p:spPr>
        <p:txBody>
          <a:bodyPr wrap="square" lIns="38100" tIns="38100" rIns="38100" bIns="38100" rtlCol="0" anchor="ctr"/>
          <a:lstStyle/>
          <a:p>
            <a:pPr algn="ctr" indent="0" marL="0">
              <a:buNone/>
            </a:pPr>
            <a:r>
              <a:rPr lang="tr-TR" sz="1200" dirty="0">
                <a:solidFill>
                  <a:srgbClr val="36454F"/>
                </a:solidFill>
                <a:latin typeface="Consolas" pitchFamily="34" charset="0"/>
                <a:ea typeface="Consolas" pitchFamily="34" charset="-122"/>
                <a:cs typeface="Consolas" pitchFamily="34" charset="-120"/>
              </a:rPr>
              <a:t>hard.txt</a:t>
            </a:r>
            <a:endParaRPr lang="tr-TR" sz="1200" dirty="0"/>
          </a:p>
        </p:txBody>
      </p:sp>
      <p:sp>
        <p:nvSpPr>
          <p:cNvPr id="14" name="Shape 12"/>
          <p:cNvSpPr/>
          <p:nvPr/>
        </p:nvSpPr>
        <p:spPr>
          <a:xfrm>
            <a:off x="2148840" y="2971800"/>
            <a:ext cx="1051560" cy="402336"/>
          </a:xfrm>
          <a:prstGeom prst="roundRect">
            <a:avLst>
              <a:gd name="adj" fmla="val 11364"/>
            </a:avLst>
          </a:prstGeom>
          <a:solidFill>
            <a:srgbClr val="D7E9E6"/>
          </a:solidFill>
          <a:ln/>
        </p:spPr>
      </p:sp>
      <p:sp>
        <p:nvSpPr>
          <p:cNvPr id="15" name="Text 13"/>
          <p:cNvSpPr txBox="1"/>
          <p:nvPr/>
        </p:nvSpPr>
        <p:spPr>
          <a:xfrm>
            <a:off x="2148840" y="2971800"/>
            <a:ext cx="1051560" cy="402336"/>
          </a:xfrm>
          <a:prstGeom prst="rect">
            <a:avLst/>
          </a:prstGeom>
          <a:noFill/>
          <a:ln/>
        </p:spPr>
        <p:txBody>
          <a:bodyPr wrap="square" lIns="38100" tIns="38100" rIns="38100" bIns="38100" rtlCol="0" anchor="ctr"/>
          <a:lstStyle/>
          <a:p>
            <a:pPr algn="ctr" indent="0" marL="0">
              <a:buNone/>
            </a:pPr>
            <a:r>
              <a:rPr lang="tr-TR" sz="1200" dirty="0">
                <a:solidFill>
                  <a:srgbClr val="212121"/>
                </a:solidFill>
                <a:latin typeface="Consolas" pitchFamily="34" charset="0"/>
                <a:ea typeface="Consolas" pitchFamily="34" charset="-122"/>
                <a:cs typeface="Consolas" pitchFamily="34" charset="-120"/>
              </a:rPr>
              <a:t>368662</a:t>
            </a:r>
            <a:endParaRPr lang="tr-TR" sz="1200" dirty="0"/>
          </a:p>
        </p:txBody>
      </p:sp>
      <p:sp>
        <p:nvSpPr>
          <p:cNvPr id="16" name="Shape 14"/>
          <p:cNvSpPr/>
          <p:nvPr/>
        </p:nvSpPr>
        <p:spPr>
          <a:xfrm>
            <a:off x="548640" y="3429000"/>
            <a:ext cx="1554480" cy="402336"/>
          </a:xfrm>
          <a:prstGeom prst="roundRect">
            <a:avLst>
              <a:gd name="adj" fmla="val 11364"/>
            </a:avLst>
          </a:prstGeom>
          <a:solidFill>
            <a:srgbClr val="F2F2F2"/>
          </a:solidFill>
          <a:ln/>
        </p:spPr>
      </p:sp>
      <p:sp>
        <p:nvSpPr>
          <p:cNvPr id="17" name="Text 15"/>
          <p:cNvSpPr txBox="1"/>
          <p:nvPr/>
        </p:nvSpPr>
        <p:spPr>
          <a:xfrm>
            <a:off x="548640" y="3429000"/>
            <a:ext cx="1554480" cy="402336"/>
          </a:xfrm>
          <a:prstGeom prst="rect">
            <a:avLst/>
          </a:prstGeom>
          <a:noFill/>
          <a:ln/>
        </p:spPr>
        <p:txBody>
          <a:bodyPr wrap="square" lIns="38100" tIns="38100" rIns="38100" bIns="38100" rtlCol="0" anchor="ctr"/>
          <a:lstStyle/>
          <a:p>
            <a:pPr algn="ctr" indent="0" marL="0">
              <a:buNone/>
            </a:pPr>
            <a:r>
              <a:rPr lang="tr-TR" sz="1200" dirty="0">
                <a:solidFill>
                  <a:srgbClr val="36454F"/>
                </a:solidFill>
                <a:latin typeface="Consolas" pitchFamily="34" charset="0"/>
                <a:ea typeface="Consolas" pitchFamily="34" charset="-122"/>
                <a:cs typeface="Consolas" pitchFamily="34" charset="-120"/>
              </a:rPr>
              <a:t>soft.txt</a:t>
            </a:r>
            <a:endParaRPr lang="tr-TR" sz="1200" dirty="0"/>
          </a:p>
        </p:txBody>
      </p:sp>
      <p:sp>
        <p:nvSpPr>
          <p:cNvPr id="18" name="Shape 16"/>
          <p:cNvSpPr/>
          <p:nvPr/>
        </p:nvSpPr>
        <p:spPr>
          <a:xfrm>
            <a:off x="2148840" y="3429000"/>
            <a:ext cx="1051560" cy="402336"/>
          </a:xfrm>
          <a:prstGeom prst="roundRect">
            <a:avLst>
              <a:gd name="adj" fmla="val 11364"/>
            </a:avLst>
          </a:prstGeom>
          <a:solidFill>
            <a:srgbClr val="F2F2F2"/>
          </a:solidFill>
          <a:ln/>
        </p:spPr>
      </p:sp>
      <p:sp>
        <p:nvSpPr>
          <p:cNvPr id="19" name="Text 17"/>
          <p:cNvSpPr txBox="1"/>
          <p:nvPr/>
        </p:nvSpPr>
        <p:spPr>
          <a:xfrm>
            <a:off x="2148840" y="3429000"/>
            <a:ext cx="1051560" cy="402336"/>
          </a:xfrm>
          <a:prstGeom prst="rect">
            <a:avLst/>
          </a:prstGeom>
          <a:noFill/>
          <a:ln/>
        </p:spPr>
        <p:txBody>
          <a:bodyPr wrap="square" lIns="38100" tIns="38100" rIns="38100" bIns="38100" rtlCol="0" anchor="ctr"/>
          <a:lstStyle/>
          <a:p>
            <a:pPr algn="ctr" indent="0" marL="0">
              <a:buNone/>
            </a:pPr>
            <a:r>
              <a:rPr lang="tr-TR" sz="1200" dirty="0">
                <a:solidFill>
                  <a:srgbClr val="212121"/>
                </a:solidFill>
                <a:latin typeface="Consolas" pitchFamily="34" charset="0"/>
                <a:ea typeface="Consolas" pitchFamily="34" charset="-122"/>
                <a:cs typeface="Consolas" pitchFamily="34" charset="-120"/>
              </a:rPr>
              <a:t>368663</a:t>
            </a:r>
            <a:endParaRPr lang="tr-TR" sz="1200" dirty="0"/>
          </a:p>
        </p:txBody>
      </p:sp>
      <p:sp>
        <p:nvSpPr>
          <p:cNvPr id="20" name="Shape 18"/>
          <p:cNvSpPr/>
          <p:nvPr/>
        </p:nvSpPr>
        <p:spPr>
          <a:xfrm>
            <a:off x="3840480" y="2148840"/>
            <a:ext cx="3108960" cy="3246120"/>
          </a:xfrm>
          <a:prstGeom prst="roundRect">
            <a:avLst>
              <a:gd name="adj" fmla="val 1471"/>
            </a:avLst>
          </a:prstGeom>
          <a:solidFill>
            <a:srgbClr val="36454F"/>
          </a:solidFill>
          <a:ln/>
        </p:spPr>
      </p:sp>
      <p:sp>
        <p:nvSpPr>
          <p:cNvPr id="21" name="Text 19"/>
          <p:cNvSpPr txBox="1"/>
          <p:nvPr/>
        </p:nvSpPr>
        <p:spPr>
          <a:xfrm>
            <a:off x="4069080" y="2286000"/>
            <a:ext cx="2743200" cy="3657600"/>
          </a:xfrm>
          <a:prstGeom prst="rect">
            <a:avLst/>
          </a:prstGeom>
          <a:noFill/>
          <a:ln/>
        </p:spPr>
        <p:txBody>
          <a:bodyPr wrap="square" lIns="0" tIns="0" rIns="0" bIns="0" rtlCol="0" anchor="t"/>
          <a:lstStyle/>
          <a:p>
            <a:pPr indent="0" marL="0">
              <a:spcAft>
                <a:spcPts val="300"/>
              </a:spcAft>
              <a:buNone/>
            </a:pPr>
            <a:r>
              <a:rPr lang="tr-TR" sz="1400" b="1" dirty="0">
                <a:solidFill>
                  <a:srgbClr val="02C39A"/>
                </a:solidFill>
                <a:latin typeface="Calibri" pitchFamily="34" charset="0"/>
                <a:ea typeface="Calibri" pitchFamily="34" charset="-122"/>
                <a:cs typeface="Calibri" pitchFamily="34" charset="-120"/>
              </a:rPr>
              <a:t>düğüm 368662</a:t>
            </a:r>
            <a:endParaRPr lang="tr-TR" sz="1300" dirty="0"/>
          </a:p>
          <a:p>
            <a:pPr indent="0" marL="0">
              <a:spcAft>
                <a:spcPts val="300"/>
              </a:spcAft>
              <a:buNone/>
            </a:pPr>
            <a:r>
              <a:rPr lang="tr-TR" sz="1300" dirty="0">
                <a:solidFill>
                  <a:srgbClr val="F2F2F2"/>
                </a:solidFill>
                <a:latin typeface="Calibri" pitchFamily="34" charset="0"/>
                <a:ea typeface="Calibri" pitchFamily="34" charset="-122"/>
                <a:cs typeface="Calibri" pitchFamily="34" charset="-120"/>
              </a:rPr>
              <a:t>tür: normal dosya</a:t>
            </a:r>
            <a:endParaRPr lang="tr-TR" sz="1300" dirty="0"/>
          </a:p>
          <a:p>
            <a:pPr indent="0" marL="0">
              <a:spcAft>
                <a:spcPts val="300"/>
              </a:spcAft>
              <a:buNone/>
            </a:pPr>
            <a:r>
              <a:rPr lang="tr-TR" sz="1300" dirty="0">
                <a:solidFill>
                  <a:srgbClr val="F2F2F2"/>
                </a:solidFill>
                <a:latin typeface="Calibri" pitchFamily="34" charset="0"/>
                <a:ea typeface="Calibri" pitchFamily="34" charset="-122"/>
                <a:cs typeface="Calibri" pitchFamily="34" charset="-120"/>
              </a:rPr>
              <a:t>kip: -rw-rw-r--</a:t>
            </a:r>
            <a:endParaRPr lang="tr-TR" sz="1300" dirty="0"/>
          </a:p>
          <a:p>
            <a:pPr indent="0" marL="0">
              <a:spcAft>
                <a:spcPts val="300"/>
              </a:spcAft>
              <a:buNone/>
            </a:pPr>
            <a:r>
              <a:rPr lang="tr-TR" sz="1300" dirty="0">
                <a:solidFill>
                  <a:srgbClr val="F2F2F2"/>
                </a:solidFill>
                <a:latin typeface="Calibri" pitchFamily="34" charset="0"/>
                <a:ea typeface="Calibri" pitchFamily="34" charset="-122"/>
                <a:cs typeface="Calibri" pitchFamily="34" charset="-120"/>
              </a:rPr>
              <a:t>sahip, grup: student</a:t>
            </a:r>
            <a:endParaRPr lang="tr-TR" sz="1300" dirty="0"/>
          </a:p>
          <a:p>
            <a:pPr indent="0" marL="0">
              <a:spcAft>
                <a:spcPts val="300"/>
              </a:spcAft>
              <a:buNone/>
            </a:pPr>
            <a:r>
              <a:rPr lang="tr-TR" sz="1300" dirty="0">
                <a:solidFill>
                  <a:srgbClr val="F2F2F2"/>
                </a:solidFill>
                <a:latin typeface="Calibri" pitchFamily="34" charset="0"/>
                <a:ea typeface="Calibri" pitchFamily="34" charset="-122"/>
                <a:cs typeface="Calibri" pitchFamily="34" charset="-120"/>
              </a:rPr>
              <a:t>boyut: 6 bayt</a:t>
            </a:r>
            <a:endParaRPr lang="tr-TR" sz="1300" dirty="0"/>
          </a:p>
          <a:p>
            <a:pPr indent="0" marL="0">
              <a:spcAft>
                <a:spcPts val="300"/>
              </a:spcAft>
              <a:buNone/>
            </a:pPr>
            <a:r>
              <a:rPr lang="tr-TR" sz="1300" dirty="0">
                <a:solidFill>
                  <a:srgbClr val="F2F2F2"/>
                </a:solidFill>
                <a:latin typeface="Calibri" pitchFamily="34" charset="0"/>
                <a:ea typeface="Calibri" pitchFamily="34" charset="-122"/>
                <a:cs typeface="Calibri" pitchFamily="34" charset="-120"/>
              </a:rPr>
              <a:t>bağlantı sayısı: 2</a:t>
            </a:r>
            <a:endParaRPr lang="tr-TR" sz="1300" dirty="0"/>
          </a:p>
          <a:p>
            <a:pPr indent="0" marL="0">
              <a:spcAft>
                <a:spcPts val="300"/>
              </a:spcAft>
              <a:buNone/>
            </a:pPr>
            <a:r>
              <a:rPr lang="tr-TR" sz="1300" dirty="0">
                <a:solidFill>
                  <a:srgbClr val="F2F2F2"/>
                </a:solidFill>
                <a:latin typeface="Calibri" pitchFamily="34" charset="0"/>
                <a:ea typeface="Calibri" pitchFamily="34" charset="-122"/>
                <a:cs typeface="Calibri" pitchFamily="34" charset="-120"/>
              </a:rPr>
              <a:t>atime, mtime, ctime</a:t>
            </a:r>
            <a:endParaRPr lang="tr-TR" sz="1300" dirty="0"/>
          </a:p>
          <a:p>
            <a:pPr indent="0" marL="0">
              <a:spcAft>
                <a:spcPts val="300"/>
              </a:spcAft>
              <a:buNone/>
            </a:pPr>
            <a:r>
              <a:rPr lang="tr-TR" sz="1300" b="1" dirty="0">
                <a:solidFill>
                  <a:srgbClr val="02C39A"/>
                </a:solidFill>
                <a:latin typeface="Calibri" pitchFamily="34" charset="0"/>
                <a:ea typeface="Calibri" pitchFamily="34" charset="-122"/>
                <a:cs typeface="Calibri" pitchFamily="34" charset="-120"/>
              </a:rPr>
              <a:t>blok işaretçileri ──►</a:t>
            </a:r>
            <a:endParaRPr lang="tr-TR" sz="1300" dirty="0"/>
          </a:p>
          <a:p>
            <a:pPr indent="0" marL="0">
              <a:spcAft>
                <a:spcPts val="300"/>
              </a:spcAft>
              <a:buNone/>
            </a:pPr>
            <a:r>
              <a:rPr lang="tr-TR" sz="1300" i="1" dirty="0">
                <a:solidFill>
                  <a:srgbClr val="8A9AA0"/>
                </a:solidFill>
                <a:latin typeface="Calibri" pitchFamily="34" charset="0"/>
                <a:ea typeface="Calibri" pitchFamily="34" charset="-122"/>
                <a:cs typeface="Calibri" pitchFamily="34" charset="-120"/>
              </a:rPr>
              <a:t>(dosya adı yok!)</a:t>
            </a:r>
            <a:endParaRPr lang="tr-TR" sz="1300" dirty="0"/>
          </a:p>
        </p:txBody>
      </p:sp>
      <p:sp>
        <p:nvSpPr>
          <p:cNvPr id="22" name="Shape 20"/>
          <p:cNvSpPr/>
          <p:nvPr/>
        </p:nvSpPr>
        <p:spPr>
          <a:xfrm flipV="1">
            <a:off x="3218688" y="2560320"/>
            <a:ext cx="603504" cy="182880"/>
          </a:xfrm>
          <a:prstGeom prst="line">
            <a:avLst/>
          </a:prstGeom>
          <a:noFill/>
          <a:ln w="22225">
            <a:solidFill>
              <a:srgbClr val="028090"/>
            </a:solidFill>
            <a:prstDash val="solid"/>
            <a:tailEnd type="triangle"/>
          </a:ln>
        </p:spPr>
      </p:sp>
      <p:sp>
        <p:nvSpPr>
          <p:cNvPr id="23" name="Shape 21"/>
          <p:cNvSpPr/>
          <p:nvPr/>
        </p:nvSpPr>
        <p:spPr>
          <a:xfrm flipV="1">
            <a:off x="3218688" y="2743200"/>
            <a:ext cx="603504" cy="457200"/>
          </a:xfrm>
          <a:prstGeom prst="line">
            <a:avLst/>
          </a:prstGeom>
          <a:noFill/>
          <a:ln w="22225">
            <a:solidFill>
              <a:srgbClr val="028090"/>
            </a:solidFill>
            <a:prstDash val="solid"/>
            <a:tailEnd type="triangle"/>
          </a:ln>
        </p:spPr>
      </p:sp>
      <p:sp>
        <p:nvSpPr>
          <p:cNvPr id="24" name="Shape 22"/>
          <p:cNvSpPr/>
          <p:nvPr/>
        </p:nvSpPr>
        <p:spPr>
          <a:xfrm>
            <a:off x="7269480" y="3867912"/>
            <a:ext cx="1097280" cy="402336"/>
          </a:xfrm>
          <a:prstGeom prst="roundRect">
            <a:avLst>
              <a:gd name="adj" fmla="val 11364"/>
            </a:avLst>
          </a:prstGeom>
          <a:solidFill>
            <a:srgbClr val="02C39A"/>
          </a:solidFill>
          <a:ln/>
        </p:spPr>
      </p:sp>
      <p:sp>
        <p:nvSpPr>
          <p:cNvPr id="25" name="Text 23"/>
          <p:cNvSpPr txBox="1"/>
          <p:nvPr/>
        </p:nvSpPr>
        <p:spPr>
          <a:xfrm>
            <a:off x="7269480" y="3867912"/>
            <a:ext cx="1097280" cy="402336"/>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onsolas" pitchFamily="34" charset="0"/>
                <a:ea typeface="Consolas" pitchFamily="34" charset="-122"/>
                <a:cs typeface="Consolas" pitchFamily="34" charset="-120"/>
              </a:rPr>
              <a:t>"hello\n"</a:t>
            </a:r>
            <a:endParaRPr lang="tr-TR" sz="1200" dirty="0"/>
          </a:p>
        </p:txBody>
      </p:sp>
      <p:sp>
        <p:nvSpPr>
          <p:cNvPr id="26" name="Shape 24"/>
          <p:cNvSpPr/>
          <p:nvPr/>
        </p:nvSpPr>
        <p:spPr>
          <a:xfrm>
            <a:off x="7269480" y="4325112"/>
            <a:ext cx="1097280" cy="402336"/>
          </a:xfrm>
          <a:prstGeom prst="roundRect">
            <a:avLst>
              <a:gd name="adj" fmla="val 11364"/>
            </a:avLst>
          </a:prstGeom>
          <a:solidFill>
            <a:srgbClr val="F2F2F2"/>
          </a:solidFill>
          <a:ln/>
        </p:spPr>
      </p:sp>
      <p:sp>
        <p:nvSpPr>
          <p:cNvPr id="27" name="Text 25"/>
          <p:cNvSpPr txBox="1"/>
          <p:nvPr/>
        </p:nvSpPr>
        <p:spPr>
          <a:xfrm>
            <a:off x="7269480" y="4325112"/>
            <a:ext cx="1097280" cy="402336"/>
          </a:xfrm>
          <a:prstGeom prst="rect">
            <a:avLst/>
          </a:prstGeom>
          <a:noFill/>
          <a:ln/>
        </p:spPr>
        <p:txBody>
          <a:bodyPr wrap="square" lIns="38100" tIns="38100" rIns="38100" bIns="38100" rtlCol="0" anchor="ctr"/>
          <a:lstStyle/>
          <a:p>
            <a:pPr algn="ctr" indent="0" marL="0">
              <a:buNone/>
            </a:pPr>
            <a:endParaRPr lang="tr-TR" sz="1200" dirty="0"/>
          </a:p>
        </p:txBody>
      </p:sp>
      <p:sp>
        <p:nvSpPr>
          <p:cNvPr id="28" name="Shape 26"/>
          <p:cNvSpPr/>
          <p:nvPr/>
        </p:nvSpPr>
        <p:spPr>
          <a:xfrm>
            <a:off x="7269480" y="4782312"/>
            <a:ext cx="1097280" cy="402336"/>
          </a:xfrm>
          <a:prstGeom prst="roundRect">
            <a:avLst>
              <a:gd name="adj" fmla="val 11364"/>
            </a:avLst>
          </a:prstGeom>
          <a:solidFill>
            <a:srgbClr val="F2F2F2"/>
          </a:solidFill>
          <a:ln/>
        </p:spPr>
      </p:sp>
      <p:sp>
        <p:nvSpPr>
          <p:cNvPr id="29" name="Text 27"/>
          <p:cNvSpPr txBox="1"/>
          <p:nvPr/>
        </p:nvSpPr>
        <p:spPr>
          <a:xfrm>
            <a:off x="7269480" y="4782312"/>
            <a:ext cx="1097280" cy="402336"/>
          </a:xfrm>
          <a:prstGeom prst="rect">
            <a:avLst/>
          </a:prstGeom>
          <a:noFill/>
          <a:ln/>
        </p:spPr>
        <p:txBody>
          <a:bodyPr wrap="square" lIns="38100" tIns="38100" rIns="38100" bIns="38100" rtlCol="0" anchor="ctr"/>
          <a:lstStyle/>
          <a:p>
            <a:pPr algn="ctr" indent="0" marL="0">
              <a:buNone/>
            </a:pPr>
            <a:endParaRPr lang="tr-TR" sz="1200" dirty="0"/>
          </a:p>
        </p:txBody>
      </p:sp>
      <p:sp>
        <p:nvSpPr>
          <p:cNvPr id="30" name="Text 28"/>
          <p:cNvSpPr txBox="1"/>
          <p:nvPr/>
        </p:nvSpPr>
        <p:spPr>
          <a:xfrm>
            <a:off x="7132320" y="5239512"/>
            <a:ext cx="1371600" cy="274320"/>
          </a:xfrm>
          <a:prstGeom prst="rect">
            <a:avLst/>
          </a:prstGeom>
          <a:noFill/>
          <a:ln/>
        </p:spPr>
        <p:txBody>
          <a:bodyPr wrap="square" lIns="0" tIns="0" rIns="0" bIns="0" rtlCol="0" anchor="t"/>
          <a:lstStyle/>
          <a:p>
            <a:pPr algn="ctr" indent="0" marL="0">
              <a:buNone/>
            </a:pPr>
            <a:r>
              <a:rPr lang="tr-TR" sz="1100" i="1" dirty="0">
                <a:solidFill>
                  <a:srgbClr val="6B7679"/>
                </a:solidFill>
                <a:latin typeface="Calibri" pitchFamily="34" charset="0"/>
                <a:ea typeface="Calibri" pitchFamily="34" charset="-122"/>
                <a:cs typeface="Calibri" pitchFamily="34" charset="-120"/>
              </a:rPr>
              <a:t>veri blokları</a:t>
            </a:r>
            <a:endParaRPr lang="tr-TR" sz="1100" dirty="0"/>
          </a:p>
        </p:txBody>
      </p:sp>
      <p:sp>
        <p:nvSpPr>
          <p:cNvPr id="31" name="Shape 29"/>
          <p:cNvSpPr/>
          <p:nvPr/>
        </p:nvSpPr>
        <p:spPr>
          <a:xfrm>
            <a:off x="6217920" y="4069080"/>
            <a:ext cx="1033272" cy="91"/>
          </a:xfrm>
          <a:prstGeom prst="line">
            <a:avLst/>
          </a:prstGeom>
          <a:noFill/>
          <a:ln w="22225">
            <a:solidFill>
              <a:srgbClr val="02C39A"/>
            </a:solidFill>
            <a:prstDash val="solid"/>
            <a:tailEnd type="triangle"/>
          </a:ln>
        </p:spPr>
      </p:sp>
      <p:sp>
        <p:nvSpPr>
          <p:cNvPr id="32" name="Shape 30"/>
          <p:cNvSpPr/>
          <p:nvPr/>
        </p:nvSpPr>
        <p:spPr>
          <a:xfrm>
            <a:off x="8595360" y="2148840"/>
            <a:ext cx="3063240" cy="3246120"/>
          </a:xfrm>
          <a:prstGeom prst="roundRect">
            <a:avLst>
              <a:gd name="adj" fmla="val 1791"/>
            </a:avLst>
          </a:prstGeom>
          <a:solidFill>
            <a:srgbClr val="F2F2F2"/>
          </a:solidFill>
          <a:ln/>
          <a:effectLst>
            <a:outerShdw sx="100000" sy="100000" kx="0" ky="0" algn="bl" rotWithShape="0" blurRad="101600" dist="25400" dir="5400000">
              <a:srgbClr val="000000">
                <a:alpha val="12000"/>
              </a:srgbClr>
            </a:outerShdw>
          </a:effectLst>
        </p:spPr>
      </p:sp>
      <p:sp>
        <p:nvSpPr>
          <p:cNvPr id="33" name="Text 31"/>
          <p:cNvSpPr txBox="1"/>
          <p:nvPr/>
        </p:nvSpPr>
        <p:spPr>
          <a:xfrm>
            <a:off x="8823960" y="2331720"/>
            <a:ext cx="26060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Kendiniz görün</a:t>
            </a:r>
            <a:endParaRPr lang="tr-TR" sz="1500" dirty="0"/>
          </a:p>
        </p:txBody>
      </p:sp>
      <p:sp>
        <p:nvSpPr>
          <p:cNvPr id="34" name="Text 32"/>
          <p:cNvSpPr txBox="1"/>
          <p:nvPr/>
        </p:nvSpPr>
        <p:spPr>
          <a:xfrm>
            <a:off x="8823960" y="2788920"/>
            <a:ext cx="2606040" cy="246888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ls -i: düğüm numaraları.</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ls -l: 2. sütun = bağlantı sayısı.</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stat dosya: düğümün tamamı.</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df -i: boş düğümler.</a:t>
            </a:r>
            <a:endParaRPr lang="tr-TR"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Örnek 3: ls -li, ln, ln -s ve stat</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35</a:t>
            </a:r>
            <a:endParaRPr lang="tr-TR" sz="900" dirty="0"/>
          </a:p>
        </p:txBody>
      </p:sp>
      <p:sp>
        <p:nvSpPr>
          <p:cNvPr id="6" name="Shape 4"/>
          <p:cNvSpPr/>
          <p:nvPr/>
        </p:nvSpPr>
        <p:spPr>
          <a:xfrm>
            <a:off x="548640" y="1508760"/>
            <a:ext cx="7269480" cy="4754880"/>
          </a:xfrm>
          <a:prstGeom prst="roundRect">
            <a:avLst>
              <a:gd name="adj" fmla="val 962"/>
            </a:avLst>
          </a:prstGeom>
          <a:solidFill>
            <a:srgbClr val="212121"/>
          </a:solidFill>
          <a:ln/>
        </p:spPr>
      </p:sp>
      <p:sp>
        <p:nvSpPr>
          <p:cNvPr id="7" name="Text 5"/>
          <p:cNvSpPr txBox="1"/>
          <p:nvPr/>
        </p:nvSpPr>
        <p:spPr>
          <a:xfrm>
            <a:off x="731520" y="1618488"/>
            <a:ext cx="6903720" cy="4535424"/>
          </a:xfrm>
          <a:prstGeom prst="rect">
            <a:avLst/>
          </a:prstGeom>
          <a:noFill/>
          <a:ln/>
        </p:spPr>
        <p:txBody>
          <a:bodyPr wrap="square" lIns="0" tIns="0" rIns="0" bIns="0" rtlCol="0" anchor="t"/>
          <a:lstStyle/>
          <a:p>
            <a:pPr indent="0" marL="0">
              <a:lnSpc>
                <a:spcPct val="105000"/>
              </a:lnSpc>
              <a:buNone/>
            </a:pPr>
            <a:r>
              <a:rPr lang="tr-TR" sz="1050" dirty="0">
                <a:solidFill>
                  <a:srgbClr val="02C39A"/>
                </a:solidFill>
                <a:latin typeface="Consolas" pitchFamily="34" charset="0"/>
                <a:ea typeface="Consolas" pitchFamily="34" charset="-122"/>
                <a:cs typeface="Consolas" pitchFamily="34" charset="-120"/>
              </a:rPr>
              <a:t>$ echo "hello" &gt; notes.txt</a:t>
            </a:r>
            <a:endParaRPr lang="tr-TR" sz="1050" dirty="0"/>
          </a:p>
          <a:p>
            <a:pPr indent="0" marL="0">
              <a:lnSpc>
                <a:spcPct val="105000"/>
              </a:lnSpc>
              <a:buNone/>
            </a:pPr>
            <a:r>
              <a:rPr lang="tr-TR" sz="1050" dirty="0">
                <a:solidFill>
                  <a:srgbClr val="02C39A"/>
                </a:solidFill>
                <a:latin typeface="Consolas" pitchFamily="34" charset="0"/>
                <a:ea typeface="Consolas" pitchFamily="34" charset="-122"/>
                <a:cs typeface="Consolas" pitchFamily="34" charset="-120"/>
              </a:rPr>
              <a:t>$ ln notes.txt hard.txt</a:t>
            </a:r>
            <a:endParaRPr lang="tr-TR" sz="1050" dirty="0"/>
          </a:p>
          <a:p>
            <a:pPr indent="0" marL="0">
              <a:lnSpc>
                <a:spcPct val="105000"/>
              </a:lnSpc>
              <a:buNone/>
            </a:pPr>
            <a:r>
              <a:rPr lang="tr-TR" sz="1050" dirty="0">
                <a:solidFill>
                  <a:srgbClr val="02C39A"/>
                </a:solidFill>
                <a:latin typeface="Consolas" pitchFamily="34" charset="0"/>
                <a:ea typeface="Consolas" pitchFamily="34" charset="-122"/>
                <a:cs typeface="Consolas" pitchFamily="34" charset="-120"/>
              </a:rPr>
              <a:t>$ ln -s notes.txt soft.txt</a:t>
            </a:r>
            <a:endParaRPr lang="tr-TR" sz="1050" dirty="0"/>
          </a:p>
          <a:p>
            <a:pPr indent="0" marL="0">
              <a:lnSpc>
                <a:spcPct val="105000"/>
              </a:lnSpc>
              <a:buNone/>
            </a:pPr>
            <a:r>
              <a:rPr lang="tr-TR" sz="1050" dirty="0">
                <a:solidFill>
                  <a:srgbClr val="02C39A"/>
                </a:solidFill>
                <a:latin typeface="Consolas" pitchFamily="34" charset="0"/>
                <a:ea typeface="Consolas" pitchFamily="34" charset="-122"/>
                <a:cs typeface="Consolas" pitchFamily="34" charset="-120"/>
              </a:rPr>
              <a:t>$ ls -li</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368662 -rw-rw-r-- 2 student student 6 Oct  8 12:20 hard.txt</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368662 -rw-rw-r-- 2 student student 6 Oct  8 12:20 notes.txt</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368663 lrwxrwxrwx 1 student student 9 Oct  8 12:20 soft.txt -&gt; notes.txt</a:t>
            </a:r>
            <a:endParaRPr lang="tr-TR" sz="1050" dirty="0"/>
          </a:p>
          <a:p>
            <a:pPr indent="0" marL="0">
              <a:lnSpc>
                <a:spcPct val="105000"/>
              </a:lnSpc>
              <a:buNone/>
            </a:pPr>
            <a:r>
              <a:rPr lang="tr-TR" sz="1050" dirty="0">
                <a:solidFill>
                  <a:srgbClr val="02C39A"/>
                </a:solidFill>
                <a:latin typeface="Consolas" pitchFamily="34" charset="0"/>
                <a:ea typeface="Consolas" pitchFamily="34" charset="-122"/>
                <a:cs typeface="Consolas" pitchFamily="34" charset="-120"/>
              </a:rPr>
              <a:t>$ stat notes.txt</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File: notes.txt</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  Size: 6            Blocks: 8          IO Block: 4096   regular file</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Device: 254,0   Inode: 368662      Links: 2</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Access: (0664/-rw-rw-r--)  Uid: ( 1001/ student)   Gid: ( 1002/ student)</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Modify: 2026-10-08 12:20:48.530146698 +0000</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Change: 2026-10-08 12:20:48.534146698 +0000</a:t>
            </a:r>
            <a:endParaRPr lang="tr-TR" sz="1050" dirty="0"/>
          </a:p>
          <a:p>
            <a:pPr indent="0" marL="0">
              <a:lnSpc>
                <a:spcPct val="105000"/>
              </a:lnSpc>
              <a:buNone/>
            </a:pPr>
            <a:r>
              <a:rPr lang="tr-TR" sz="1050" dirty="0">
                <a:solidFill>
                  <a:srgbClr val="02C39A"/>
                </a:solidFill>
                <a:latin typeface="Consolas" pitchFamily="34" charset="0"/>
                <a:ea typeface="Consolas" pitchFamily="34" charset="-122"/>
                <a:cs typeface="Consolas" pitchFamily="34" charset="-120"/>
              </a:rPr>
              <a:t>$ rm notes.txt</a:t>
            </a:r>
            <a:endParaRPr lang="tr-TR" sz="1050" dirty="0"/>
          </a:p>
          <a:p>
            <a:pPr indent="0" marL="0">
              <a:lnSpc>
                <a:spcPct val="105000"/>
              </a:lnSpc>
              <a:buNone/>
            </a:pPr>
            <a:r>
              <a:rPr lang="tr-TR" sz="1050" dirty="0">
                <a:solidFill>
                  <a:srgbClr val="02C39A"/>
                </a:solidFill>
                <a:latin typeface="Consolas" pitchFamily="34" charset="0"/>
                <a:ea typeface="Consolas" pitchFamily="34" charset="-122"/>
                <a:cs typeface="Consolas" pitchFamily="34" charset="-120"/>
              </a:rPr>
              <a:t>$ cat hard.txt</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hello</a:t>
            </a:r>
            <a:endParaRPr lang="tr-TR" sz="1050" dirty="0"/>
          </a:p>
          <a:p>
            <a:pPr indent="0" marL="0">
              <a:lnSpc>
                <a:spcPct val="105000"/>
              </a:lnSpc>
              <a:buNone/>
            </a:pPr>
            <a:r>
              <a:rPr lang="tr-TR" sz="1050" dirty="0">
                <a:solidFill>
                  <a:srgbClr val="02C39A"/>
                </a:solidFill>
                <a:latin typeface="Consolas" pitchFamily="34" charset="0"/>
                <a:ea typeface="Consolas" pitchFamily="34" charset="-122"/>
                <a:cs typeface="Consolas" pitchFamily="34" charset="-120"/>
              </a:rPr>
              <a:t>$ cat soft.txt</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cat: soft.txt: No such file or directory</a:t>
            </a:r>
            <a:endParaRPr lang="tr-TR" sz="1050" dirty="0"/>
          </a:p>
          <a:p>
            <a:pPr indent="0" marL="0">
              <a:lnSpc>
                <a:spcPct val="105000"/>
              </a:lnSpc>
              <a:buNone/>
            </a:pPr>
            <a:r>
              <a:rPr lang="tr-TR" sz="1050" dirty="0">
                <a:solidFill>
                  <a:srgbClr val="02C39A"/>
                </a:solidFill>
                <a:latin typeface="Consolas" pitchFamily="34" charset="0"/>
                <a:ea typeface="Consolas" pitchFamily="34" charset="-122"/>
                <a:cs typeface="Consolas" pitchFamily="34" charset="-120"/>
              </a:rPr>
              <a:t>$ ls -li</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368662 -rw-rw-r-- 1 student student 6 Oct  8 12:20 hard.txt</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368663 lrwxrwxrwx 1 student student 9 Oct  8 12:20 soft.txt -&gt; notes.txt</a:t>
            </a:r>
            <a:endParaRPr lang="tr-TR" sz="1050" dirty="0"/>
          </a:p>
        </p:txBody>
      </p:sp>
      <p:sp>
        <p:nvSpPr>
          <p:cNvPr id="8" name="Shape 6"/>
          <p:cNvSpPr/>
          <p:nvPr/>
        </p:nvSpPr>
        <p:spPr>
          <a:xfrm>
            <a:off x="8092440" y="1508760"/>
            <a:ext cx="3566160" cy="4754880"/>
          </a:xfrm>
          <a:prstGeom prst="roundRect">
            <a:avLst>
              <a:gd name="adj" fmla="val 1538"/>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321040" y="1691640"/>
            <a:ext cx="31089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edelim?</a:t>
            </a:r>
            <a:endParaRPr lang="tr-TR" sz="1500" dirty="0"/>
          </a:p>
        </p:txBody>
      </p:sp>
      <p:sp>
        <p:nvSpPr>
          <p:cNvPr id="10" name="Text 8"/>
          <p:cNvSpPr txBox="1"/>
          <p:nvPr/>
        </p:nvSpPr>
        <p:spPr>
          <a:xfrm>
            <a:off x="8321040" y="2148840"/>
            <a:ext cx="3108960" cy="397764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notes.txt ve hard.txt: aynı düğüm, bağlantı sayısı 2.</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soft.txt: kendi düğümü var; boyutu 9 = "notes.txt" dizgesinin uzunluğu.</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Değişim zamanı (ctime) ilerledi: ln düğümü güncelledi.</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rm sonrasında: hard.txt hâlâ çalışır, soft.txt boşta kalır.</a:t>
            </a:r>
            <a:endParaRPr lang="tr-TR"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Örnek 4: C'de Sıralı ve Doğrudan Erişim</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36</a:t>
            </a:r>
            <a:endParaRPr lang="tr-TR" sz="900" dirty="0"/>
          </a:p>
        </p:txBody>
      </p:sp>
      <p:sp>
        <p:nvSpPr>
          <p:cNvPr id="6" name="Shape 4"/>
          <p:cNvSpPr/>
          <p:nvPr/>
        </p:nvSpPr>
        <p:spPr>
          <a:xfrm>
            <a:off x="548640" y="1508760"/>
            <a:ext cx="6766560" cy="3429000"/>
          </a:xfrm>
          <a:prstGeom prst="roundRect">
            <a:avLst>
              <a:gd name="adj" fmla="val 1333"/>
            </a:avLst>
          </a:prstGeom>
          <a:solidFill>
            <a:srgbClr val="212121"/>
          </a:solidFill>
          <a:ln/>
        </p:spPr>
      </p:sp>
      <p:sp>
        <p:nvSpPr>
          <p:cNvPr id="7" name="Text 5"/>
          <p:cNvSpPr txBox="1"/>
          <p:nvPr/>
        </p:nvSpPr>
        <p:spPr>
          <a:xfrm>
            <a:off x="731520" y="1618488"/>
            <a:ext cx="6400800" cy="3209544"/>
          </a:xfrm>
          <a:prstGeom prst="rect">
            <a:avLst/>
          </a:prstGeom>
          <a:noFill/>
          <a:ln/>
        </p:spPr>
        <p:txBody>
          <a:bodyPr wrap="square" lIns="0" tIns="0" rIns="0" bIns="0" rtlCol="0" anchor="t"/>
          <a:lstStyle/>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#define RECSZ 32                       /* kayıt başına bayt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int fd = open("students.dat", O_CREAT | O_RDWR | O_TRUNC, 0644);</a:t>
            </a:r>
            <a:endParaRPr lang="tr-TR" sz="1100" dirty="0"/>
          </a:p>
          <a:p>
            <a:pPr indent="0" marL="0">
              <a:lnSpc>
                <a:spcPct val="105000"/>
              </a:lnSpc>
              <a:buNone/>
            </a:pPr>
            <a:r>
              <a:rPr lang="tr-TR" sz="1100" dirty="0">
                <a:solidFill>
                  <a:srgbClr val="8A9AA0"/>
                </a:solidFill>
                <a:latin typeface="Consolas" pitchFamily="34" charset="0"/>
                <a:ea typeface="Consolas" pitchFamily="34" charset="-122"/>
                <a:cs typeface="Consolas" pitchFamily="34" charset="-120"/>
              </a:rPr>
              <a:t>/* ... 5 kayıt yazılır: "0 Ayse", "1 Mehmet", ... "4 Zeynep"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lseek(fd, 0, SEEK_SET);                /* 1) sıralı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while (read(fd, rec, RECSZ) == RECSZ)</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printf("  [%s]", rec);</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lseek(fd, 3 * RECSZ, SEEK_SET);        /* 2) doğrudan: bayt 96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read(fd, rec, RECSZ);</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lseek(fd, 1 * RECSZ, SEEK_SET);        /* 3) 1. kaydın üzerine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write(fd, rec, RECSZ);</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close(fd);</a:t>
            </a:r>
            <a:endParaRPr lang="tr-TR" sz="1100" dirty="0"/>
          </a:p>
          <a:p>
            <a:pPr indent="0" marL="0">
              <a:lnSpc>
                <a:spcPct val="105000"/>
              </a:lnSpc>
              <a:buNone/>
            </a:pPr>
            <a:r>
              <a:rPr lang="tr-TR" sz="1100" dirty="0">
                <a:solidFill>
                  <a:srgbClr val="8A9AA0"/>
                </a:solidFill>
                <a:latin typeface="Consolas" pitchFamily="34" charset="0"/>
                <a:ea typeface="Consolas" pitchFamily="34" charset="-122"/>
                <a:cs typeface="Consolas" pitchFamily="34" charset="-120"/>
              </a:rPr>
              <a:t>/* programın tamamı: code/file_access.c */</a:t>
            </a:r>
            <a:endParaRPr lang="tr-TR" sz="1100" dirty="0"/>
          </a:p>
        </p:txBody>
      </p:sp>
      <p:sp>
        <p:nvSpPr>
          <p:cNvPr id="8" name="Shape 6"/>
          <p:cNvSpPr/>
          <p:nvPr/>
        </p:nvSpPr>
        <p:spPr>
          <a:xfrm>
            <a:off x="7589520" y="1508760"/>
            <a:ext cx="4069080" cy="3429000"/>
          </a:xfrm>
          <a:prstGeom prst="roundRect">
            <a:avLst>
              <a:gd name="adj" fmla="val 1600"/>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818120" y="1691640"/>
            <a:ext cx="36118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 oluyor?</a:t>
            </a:r>
            <a:endParaRPr lang="tr-TR" sz="1500" dirty="0"/>
          </a:p>
        </p:txBody>
      </p:sp>
      <p:sp>
        <p:nvSpPr>
          <p:cNvPr id="10" name="Text 8"/>
          <p:cNvSpPr txBox="1"/>
          <p:nvPr/>
        </p:nvSpPr>
        <p:spPr>
          <a:xfrm>
            <a:off x="7818120" y="2148840"/>
            <a:ext cx="3611880" cy="265176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read() dosya işaretçisini her seferinde 32 bayt ilerletir: sıralı.</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lseek() işaretçiyi herhangi bir yere koyar; sonraki read() ya da write() oradan başlar: doğrudan.</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1. kayda yazmak diğer kayıtlara dokunmaz.</a:t>
            </a:r>
            <a:endParaRPr lang="tr-TR" sz="1350" dirty="0"/>
          </a:p>
        </p:txBody>
      </p:sp>
      <p:sp>
        <p:nvSpPr>
          <p:cNvPr id="11" name="Shape 9"/>
          <p:cNvSpPr/>
          <p:nvPr/>
        </p:nvSpPr>
        <p:spPr>
          <a:xfrm>
            <a:off x="548640" y="5120640"/>
            <a:ext cx="11109960" cy="1143000"/>
          </a:xfrm>
          <a:prstGeom prst="roundRect">
            <a:avLst>
              <a:gd name="adj" fmla="val 4000"/>
            </a:avLst>
          </a:prstGeom>
          <a:solidFill>
            <a:srgbClr val="212121"/>
          </a:solidFill>
          <a:ln/>
        </p:spPr>
      </p:sp>
      <p:sp>
        <p:nvSpPr>
          <p:cNvPr id="12" name="Text 10"/>
          <p:cNvSpPr txBox="1"/>
          <p:nvPr/>
        </p:nvSpPr>
        <p:spPr>
          <a:xfrm>
            <a:off x="731520" y="5230368"/>
            <a:ext cx="10744200" cy="923544"/>
          </a:xfrm>
          <a:prstGeom prst="rect">
            <a:avLst/>
          </a:prstGeom>
          <a:noFill/>
          <a:ln/>
        </p:spPr>
        <p:txBody>
          <a:bodyPr wrap="square" lIns="0" tIns="0" rIns="0" bIns="0" rtlCol="0" anchor="t"/>
          <a:lstStyle/>
          <a:p>
            <a:pPr indent="0" marL="0">
              <a:lnSpc>
                <a:spcPct val="105000"/>
              </a:lnSpc>
              <a:buNone/>
            </a:pPr>
            <a:r>
              <a:rPr lang="tr-TR" sz="1100" dirty="0">
                <a:solidFill>
                  <a:srgbClr val="02C39A"/>
                </a:solidFill>
                <a:latin typeface="Consolas" pitchFamily="34" charset="0"/>
                <a:ea typeface="Consolas" pitchFamily="34" charset="-122"/>
                <a:cs typeface="Consolas" pitchFamily="34" charset="-120"/>
              </a:rPr>
              <a:t>$ ./file_access</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sequential:  [0 Ayse]  [1 Mehmet]  [2 Elif]  [3 Can]  [4 Zeynep]</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direct: record 3 at byte 96 -&gt; [3 Can]</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after update: record 1 -&gt; [1 Mehmet (updated)]</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file size: 160 bytes</a:t>
            </a:r>
            <a:endParaRPr lang="tr-TR"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KISA SINAV</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Kendinizi Sınayın</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37</a:t>
            </a:r>
            <a:endParaRPr lang="tr-TR" sz="900" dirty="0"/>
          </a:p>
        </p:txBody>
      </p:sp>
      <p:sp>
        <p:nvSpPr>
          <p:cNvPr id="6" name="Shape 4"/>
          <p:cNvSpPr/>
          <p:nvPr/>
        </p:nvSpPr>
        <p:spPr>
          <a:xfrm>
            <a:off x="548640" y="1508760"/>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7" name="Shape 5"/>
          <p:cNvSpPr/>
          <p:nvPr/>
        </p:nvSpPr>
        <p:spPr>
          <a:xfrm>
            <a:off x="777240" y="1780794"/>
            <a:ext cx="493776" cy="493776"/>
          </a:xfrm>
          <a:prstGeom prst="ellipse">
            <a:avLst/>
          </a:prstGeom>
          <a:solidFill>
            <a:srgbClr val="02C39A"/>
          </a:solidFill>
          <a:ln/>
        </p:spPr>
      </p:sp>
      <p:sp>
        <p:nvSpPr>
          <p:cNvPr id="8" name="Text 6"/>
          <p:cNvSpPr txBox="1"/>
          <p:nvPr/>
        </p:nvSpPr>
        <p:spPr>
          <a:xfrm>
            <a:off x="777240" y="1780794"/>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1</a:t>
            </a:r>
            <a:endParaRPr lang="tr-TR" sz="1600" dirty="0"/>
          </a:p>
        </p:txBody>
      </p:sp>
      <p:sp>
        <p:nvSpPr>
          <p:cNvPr id="9" name="Text 7"/>
          <p:cNvSpPr txBox="1"/>
          <p:nvPr/>
        </p:nvSpPr>
        <p:spPr>
          <a:xfrm>
            <a:off x="1508760" y="1508760"/>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Başvuru dizisi 1, 2, 3, 1, 4, 1, 2 ve 3 çerçeve: FIFO ile kaç sayfa hatası olur? LRU ile?</a:t>
            </a:r>
            <a:endParaRPr lang="tr-TR" sz="1600" dirty="0"/>
          </a:p>
        </p:txBody>
      </p:sp>
      <p:sp>
        <p:nvSpPr>
          <p:cNvPr id="10" name="Shape 8"/>
          <p:cNvSpPr/>
          <p:nvPr/>
        </p:nvSpPr>
        <p:spPr>
          <a:xfrm>
            <a:off x="548640" y="2747772"/>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1" name="Shape 9"/>
          <p:cNvSpPr/>
          <p:nvPr/>
        </p:nvSpPr>
        <p:spPr>
          <a:xfrm>
            <a:off x="777240" y="3019806"/>
            <a:ext cx="493776" cy="493776"/>
          </a:xfrm>
          <a:prstGeom prst="ellipse">
            <a:avLst/>
          </a:prstGeom>
          <a:solidFill>
            <a:srgbClr val="02C39A"/>
          </a:solidFill>
          <a:ln/>
        </p:spPr>
      </p:sp>
      <p:sp>
        <p:nvSpPr>
          <p:cNvPr id="12" name="Text 10"/>
          <p:cNvSpPr txBox="1"/>
          <p:nvPr/>
        </p:nvSpPr>
        <p:spPr>
          <a:xfrm>
            <a:off x="777240" y="3019806"/>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2</a:t>
            </a:r>
            <a:endParaRPr lang="tr-TR" sz="1600" dirty="0"/>
          </a:p>
        </p:txBody>
      </p:sp>
      <p:sp>
        <p:nvSpPr>
          <p:cNvPr id="13" name="Text 11"/>
          <p:cNvSpPr txBox="1"/>
          <p:nvPr/>
        </p:nvSpPr>
        <p:spPr>
          <a:xfrm>
            <a:off x="1508760" y="2747772"/>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tₘ = 200 ns, t_fault = 8 ms, p = 0,0001. Etkin erişim süresi nedir?</a:t>
            </a:r>
            <a:endParaRPr lang="tr-TR" sz="1600" dirty="0"/>
          </a:p>
        </p:txBody>
      </p:sp>
      <p:sp>
        <p:nvSpPr>
          <p:cNvPr id="14" name="Shape 12"/>
          <p:cNvSpPr/>
          <p:nvPr/>
        </p:nvSpPr>
        <p:spPr>
          <a:xfrm>
            <a:off x="548640" y="3986784"/>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5" name="Shape 13"/>
          <p:cNvSpPr/>
          <p:nvPr/>
        </p:nvSpPr>
        <p:spPr>
          <a:xfrm>
            <a:off x="777240" y="4258818"/>
            <a:ext cx="493776" cy="493776"/>
          </a:xfrm>
          <a:prstGeom prst="ellipse">
            <a:avLst/>
          </a:prstGeom>
          <a:solidFill>
            <a:srgbClr val="02C39A"/>
          </a:solidFill>
          <a:ln/>
        </p:spPr>
      </p:sp>
      <p:sp>
        <p:nvSpPr>
          <p:cNvPr id="16" name="Text 14"/>
          <p:cNvSpPr txBox="1"/>
          <p:nvPr/>
        </p:nvSpPr>
        <p:spPr>
          <a:xfrm>
            <a:off x="777240" y="4258818"/>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3</a:t>
            </a:r>
            <a:endParaRPr lang="tr-TR" sz="1600" dirty="0"/>
          </a:p>
        </p:txBody>
      </p:sp>
      <p:sp>
        <p:nvSpPr>
          <p:cNvPr id="17" name="Text 15"/>
          <p:cNvSpPr txBox="1"/>
          <p:nvPr/>
        </p:nvSpPr>
        <p:spPr>
          <a:xfrm>
            <a:off x="1508760" y="3986784"/>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Kayıtlar 64 bayt, bloklar 4096 bayt. 200. kayıt hangi blokta, hangi konumda başlar?</a:t>
            </a:r>
            <a:endParaRPr lang="tr-TR" sz="1600" dirty="0"/>
          </a:p>
        </p:txBody>
      </p:sp>
      <p:sp>
        <p:nvSpPr>
          <p:cNvPr id="18" name="Shape 16"/>
          <p:cNvSpPr/>
          <p:nvPr/>
        </p:nvSpPr>
        <p:spPr>
          <a:xfrm>
            <a:off x="548640" y="5225796"/>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9" name="Shape 17"/>
          <p:cNvSpPr/>
          <p:nvPr/>
        </p:nvSpPr>
        <p:spPr>
          <a:xfrm>
            <a:off x="777240" y="5497830"/>
            <a:ext cx="493776" cy="493776"/>
          </a:xfrm>
          <a:prstGeom prst="ellipse">
            <a:avLst/>
          </a:prstGeom>
          <a:solidFill>
            <a:srgbClr val="02C39A"/>
          </a:solidFill>
          <a:ln/>
        </p:spPr>
      </p:sp>
      <p:sp>
        <p:nvSpPr>
          <p:cNvPr id="20" name="Text 18"/>
          <p:cNvSpPr txBox="1"/>
          <p:nvPr/>
        </p:nvSpPr>
        <p:spPr>
          <a:xfrm>
            <a:off x="777240" y="5497830"/>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4</a:t>
            </a:r>
            <a:endParaRPr lang="tr-TR" sz="1600" dirty="0"/>
          </a:p>
        </p:txBody>
      </p:sp>
      <p:sp>
        <p:nvSpPr>
          <p:cNvPr id="21" name="Text 19"/>
          <p:cNvSpPr txBox="1"/>
          <p:nvPr/>
        </p:nvSpPr>
        <p:spPr>
          <a:xfrm>
            <a:off x="1508760" y="5225796"/>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ln a.txt b.txt ve rm a.txt komutlarından sonra veriyi hâlâ okuyabilir misiniz? b.txt ln -s ile yapılmış olsaydı?</a:t>
            </a:r>
            <a:endParaRPr lang="tr-TR"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TOPARLAMA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7. Hafta: Akılda Kalması Gerekenler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38</a:t>
            </a:r>
            <a:endParaRPr lang="tr-TR" sz="900" dirty="0"/>
          </a:p>
        </p:txBody>
      </p:sp>
      <p:sp>
        <p:nvSpPr>
          <p:cNvPr id="6" name="Text 4"/>
          <p:cNvSpPr txBox="1"/>
          <p:nvPr/>
        </p:nvSpPr>
        <p:spPr>
          <a:xfrm>
            <a:off x="548640" y="1554480"/>
            <a:ext cx="11064240" cy="4709160"/>
          </a:xfrm>
          <a:prstGeom prst="rect">
            <a:avLst/>
          </a:prstGeom>
          <a:noFill/>
          <a:ln/>
        </p:spPr>
        <p:txBody>
          <a:bodyPr wrap="square" lIns="0" tIns="0" rIns="0" bIns="0" rtlCol="0" anchor="t"/>
          <a:lstStyle/>
          <a:p>
            <a:pPr marL="228600" indent="-228600">
              <a:spcAft>
                <a:spcPts val="1100"/>
              </a:spcAft>
              <a:buSzPct val="100000"/>
              <a:buChar char="•"/>
            </a:pPr>
            <a:r>
              <a:rPr lang="tr-TR" sz="1800" b="1" dirty="0">
                <a:solidFill>
                  <a:srgbClr val="3A464C"/>
                </a:solidFill>
                <a:latin typeface="Calibri" pitchFamily="34" charset="0"/>
                <a:ea typeface="Calibri" pitchFamily="34" charset="-122"/>
                <a:cs typeface="Calibri" pitchFamily="34" charset="-120"/>
              </a:rPr>
              <a:t>Sanal bellek:</a:t>
            </a:r>
            <a:r>
              <a:rPr lang="tr-TR" sz="1800" dirty="0">
                <a:solidFill>
                  <a:srgbClr val="3A464C"/>
                </a:solidFill>
                <a:latin typeface="Calibri" pitchFamily="34" charset="0"/>
                <a:ea typeface="Calibri" pitchFamily="34" charset="-122"/>
                <a:cs typeface="Calibri" pitchFamily="34" charset="-120"/>
              </a:rPr>
              <a:t> süreç büyük bir adres alanı görür; yalnızca kullanılan sayfalar RAM'dedir. İsteğe bağlı sayfalama bir sayfayı ilk kullanımda yükler.</a:t>
            </a:r>
            <a:endParaRPr lang="tr-TR" sz="1800" dirty="0"/>
          </a:p>
          <a:p>
            <a:pPr marL="228600" indent="-228600">
              <a:spcAft>
                <a:spcPts val="1100"/>
              </a:spcAft>
              <a:buSzPct val="100000"/>
              <a:buChar char="•"/>
            </a:pPr>
            <a:r>
              <a:rPr lang="tr-TR" sz="1800" b="1" dirty="0">
                <a:solidFill>
                  <a:srgbClr val="3A464C"/>
                </a:solidFill>
                <a:latin typeface="Calibri" pitchFamily="34" charset="0"/>
                <a:ea typeface="Calibri" pitchFamily="34" charset="-122"/>
                <a:cs typeface="Calibri" pitchFamily="34" charset="-120"/>
              </a:rPr>
              <a:t>Sayfa hatası:</a:t>
            </a:r>
            <a:r>
              <a:rPr lang="tr-TR" sz="1800" dirty="0">
                <a:solidFill>
                  <a:srgbClr val="3A464C"/>
                </a:solidFill>
                <a:latin typeface="Calibri" pitchFamily="34" charset="0"/>
                <a:ea typeface="Calibri" pitchFamily="34" charset="-122"/>
                <a:cs typeface="Calibri" pitchFamily="34" charset="-120"/>
              </a:rPr>
              <a:t> geçersiz bir sayfaya erişim işletim sistemine tuzak üretir; o da sayfayı yükleyip komutu yeniden başlatır. EAT = (1 − p)·tₘ + p·t_fault, yani p çok küçük olmalı.</a:t>
            </a:r>
            <a:endParaRPr lang="tr-TR" sz="1800" dirty="0"/>
          </a:p>
          <a:p>
            <a:pPr marL="228600" indent="-228600">
              <a:spcAft>
                <a:spcPts val="1100"/>
              </a:spcAft>
              <a:buSzPct val="100000"/>
              <a:buChar char="•"/>
            </a:pPr>
            <a:r>
              <a:rPr lang="tr-TR" sz="1800" b="1" dirty="0">
                <a:solidFill>
                  <a:srgbClr val="3A464C"/>
                </a:solidFill>
                <a:latin typeface="Calibri" pitchFamily="34" charset="0"/>
                <a:ea typeface="Calibri" pitchFamily="34" charset="-122"/>
                <a:cs typeface="Calibri" pitchFamily="34" charset="-120"/>
              </a:rPr>
              <a:t>Yazınca kopyala:</a:t>
            </a:r>
            <a:r>
              <a:rPr lang="tr-TR" sz="1800" dirty="0">
                <a:solidFill>
                  <a:srgbClr val="3A464C"/>
                </a:solidFill>
                <a:latin typeface="Calibri" pitchFamily="34" charset="0"/>
                <a:ea typeface="Calibri" pitchFamily="34" charset="-122"/>
                <a:cs typeface="Calibri" pitchFamily="34" charset="-120"/>
              </a:rPr>
              <a:t> fork() sayfaları taraflardan biri yazana kadar paylaştırır.</a:t>
            </a:r>
            <a:endParaRPr lang="tr-TR" sz="1800" dirty="0"/>
          </a:p>
          <a:p>
            <a:pPr marL="228600" indent="-228600">
              <a:spcAft>
                <a:spcPts val="1100"/>
              </a:spcAft>
              <a:buSzPct val="100000"/>
              <a:buChar char="•"/>
            </a:pPr>
            <a:r>
              <a:rPr lang="tr-TR" sz="1800" b="1" dirty="0">
                <a:solidFill>
                  <a:srgbClr val="3A464C"/>
                </a:solidFill>
                <a:latin typeface="Calibri" pitchFamily="34" charset="0"/>
                <a:ea typeface="Calibri" pitchFamily="34" charset="-122"/>
                <a:cs typeface="Calibri" pitchFamily="34" charset="-120"/>
              </a:rPr>
              <a:t>Değiştirme:</a:t>
            </a:r>
            <a:r>
              <a:rPr lang="tr-TR" sz="1800" dirty="0">
                <a:solidFill>
                  <a:srgbClr val="3A464C"/>
                </a:solidFill>
                <a:latin typeface="Calibri" pitchFamily="34" charset="0"/>
                <a:ea typeface="Calibri" pitchFamily="34" charset="-122"/>
                <a:cs typeface="Calibri" pitchFamily="34" charset="-120"/>
              </a:rPr>
              <a:t> FIFO (basit, Belady anomalisi), OPT (en iyi, geleceği ister), LRU (iyi, saat algoritmasıyla yaklaşılır). Örnek: 15 / 9 / 12 hata.</a:t>
            </a:r>
            <a:endParaRPr lang="tr-TR" sz="1800" dirty="0"/>
          </a:p>
          <a:p>
            <a:pPr marL="228600" indent="-228600">
              <a:spcAft>
                <a:spcPts val="1100"/>
              </a:spcAft>
              <a:buSzPct val="100000"/>
              <a:buChar char="•"/>
            </a:pPr>
            <a:r>
              <a:rPr lang="tr-TR" sz="1800" b="1" dirty="0">
                <a:solidFill>
                  <a:srgbClr val="3A464C"/>
                </a:solidFill>
                <a:latin typeface="Calibri" pitchFamily="34" charset="0"/>
                <a:ea typeface="Calibri" pitchFamily="34" charset="-122"/>
                <a:cs typeface="Calibri" pitchFamily="34" charset="-120"/>
              </a:rPr>
              <a:t>Boşa çalışma:</a:t>
            </a:r>
            <a:r>
              <a:rPr lang="tr-TR" sz="1800" dirty="0">
                <a:solidFill>
                  <a:srgbClr val="3A464C"/>
                </a:solidFill>
                <a:latin typeface="Calibri" pitchFamily="34" charset="0"/>
                <a:ea typeface="Calibri" pitchFamily="34" charset="-122"/>
                <a:cs typeface="Calibri" pitchFamily="34" charset="-120"/>
              </a:rPr>
              <a:t> çok az çerçeve → sürekli sayfalama; her çalışma kümesini bellekte tut.</a:t>
            </a:r>
            <a:endParaRPr lang="tr-TR" sz="1800" dirty="0"/>
          </a:p>
          <a:p>
            <a:pPr marL="228600" indent="-228600">
              <a:spcAft>
                <a:spcPts val="1100"/>
              </a:spcAft>
              <a:buSzPct val="100000"/>
              <a:buChar char="•"/>
            </a:pPr>
            <a:r>
              <a:rPr lang="tr-TR" sz="1800" b="1" dirty="0">
                <a:solidFill>
                  <a:srgbClr val="3A464C"/>
                </a:solidFill>
                <a:latin typeface="Calibri" pitchFamily="34" charset="0"/>
                <a:ea typeface="Calibri" pitchFamily="34" charset="-122"/>
                <a:cs typeface="Calibri" pitchFamily="34" charset="-120"/>
              </a:rPr>
              <a:t>Dosyalar:</a:t>
            </a:r>
            <a:r>
              <a:rPr lang="tr-TR" sz="1800" dirty="0">
                <a:solidFill>
                  <a:srgbClr val="3A464C"/>
                </a:solidFill>
                <a:latin typeface="Calibri" pitchFamily="34" charset="0"/>
                <a:ea typeface="Calibri" pitchFamily="34" charset="-122"/>
                <a:cs typeface="Calibri" pitchFamily="34" charset="-120"/>
              </a:rPr>
              <a:t> öznitelikleri olan adlandırılmış veri (düğümde); açık dosya tabloları; sıralı, doğrudan, indeksli erişim.</a:t>
            </a:r>
            <a:endParaRPr lang="tr-TR" sz="1800" dirty="0"/>
          </a:p>
          <a:p>
            <a:pPr marL="228600" indent="-228600">
              <a:spcAft>
                <a:spcPts val="1100"/>
              </a:spcAft>
              <a:buSzPct val="100000"/>
              <a:buChar char="•"/>
            </a:pPr>
            <a:r>
              <a:rPr lang="tr-TR" sz="1800" b="1" dirty="0">
                <a:solidFill>
                  <a:srgbClr val="3A464C"/>
                </a:solidFill>
                <a:latin typeface="Calibri" pitchFamily="34" charset="0"/>
                <a:ea typeface="Calibri" pitchFamily="34" charset="-122"/>
                <a:cs typeface="Calibri" pitchFamily="34" charset="-120"/>
              </a:rPr>
              <a:t>Dizinler:</a:t>
            </a:r>
            <a:r>
              <a:rPr lang="tr-TR" sz="1800" dirty="0">
                <a:solidFill>
                  <a:srgbClr val="3A464C"/>
                </a:solidFill>
                <a:latin typeface="Calibri" pitchFamily="34" charset="0"/>
                <a:ea typeface="Calibri" pitchFamily="34" charset="-122"/>
                <a:cs typeface="Calibri" pitchFamily="34" charset="-120"/>
              </a:rPr>
              <a:t> tek düzeyli → iki düzeyli → ağaç → döngüsüz çizge (sabit ve sembolik bağlantılar).</a:t>
            </a:r>
            <a:endParaRPr lang="tr-TR"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VİZE · 8.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Vize Kontrol Listesi: 1–7. Haftalar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7  ·  39</a:t>
            </a:r>
            <a:endParaRPr lang="tr-TR" sz="900" dirty="0"/>
          </a:p>
        </p:txBody>
      </p:sp>
      <p:sp>
        <p:nvSpPr>
          <p:cNvPr id="6" name="Shape 4"/>
          <p:cNvSpPr/>
          <p:nvPr/>
        </p:nvSpPr>
        <p:spPr>
          <a:xfrm>
            <a:off x="548640" y="1508760"/>
            <a:ext cx="260604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H1 Tarihçe</a:t>
            </a:r>
            <a:endParaRPr lang="tr-TR" sz="1600" dirty="0"/>
          </a:p>
        </p:txBody>
      </p:sp>
      <p:sp>
        <p:nvSpPr>
          <p:cNvPr id="8" name="Text 6"/>
          <p:cNvSpPr txBox="1"/>
          <p:nvPr/>
        </p:nvSpPr>
        <p:spPr>
          <a:xfrm>
            <a:off x="777240" y="2148840"/>
            <a:ext cx="2148840" cy="148590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Toplu işleme, çoklu programlama, zaman paylaşımı; boşta duran işlemci tasarımı nasıl yönlendirdi; UNIX ve Linux.</a:t>
            </a:r>
            <a:endParaRPr lang="tr-TR" sz="1500" dirty="0"/>
          </a:p>
        </p:txBody>
      </p:sp>
      <p:sp>
        <p:nvSpPr>
          <p:cNvPr id="9" name="Shape 7"/>
          <p:cNvSpPr/>
          <p:nvPr/>
        </p:nvSpPr>
        <p:spPr>
          <a:xfrm>
            <a:off x="3383280" y="1508760"/>
            <a:ext cx="260604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361188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H2 Temeller</a:t>
            </a:r>
            <a:endParaRPr lang="tr-TR" sz="1600" dirty="0"/>
          </a:p>
        </p:txBody>
      </p:sp>
      <p:sp>
        <p:nvSpPr>
          <p:cNvPr id="11" name="Text 9"/>
          <p:cNvSpPr txBox="1"/>
          <p:nvPr/>
        </p:nvSpPr>
        <p:spPr>
          <a:xfrm>
            <a:off x="3611880" y="2148840"/>
            <a:ext cx="2148840" cy="148590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Tanımlar, hedefler, kesmeler, bellek hiyerarşisi, ikili mod, sistem çağrıları, yapılar.</a:t>
            </a:r>
            <a:endParaRPr lang="tr-TR" sz="1500" dirty="0"/>
          </a:p>
        </p:txBody>
      </p:sp>
      <p:sp>
        <p:nvSpPr>
          <p:cNvPr id="12" name="Shape 10"/>
          <p:cNvSpPr/>
          <p:nvPr/>
        </p:nvSpPr>
        <p:spPr>
          <a:xfrm>
            <a:off x="6217920" y="1508760"/>
            <a:ext cx="260604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644652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H3 Süreçler</a:t>
            </a:r>
            <a:endParaRPr lang="tr-TR" sz="1600" dirty="0"/>
          </a:p>
        </p:txBody>
      </p:sp>
      <p:sp>
        <p:nvSpPr>
          <p:cNvPr id="14" name="Text 12"/>
          <p:cNvSpPr txBox="1"/>
          <p:nvPr/>
        </p:nvSpPr>
        <p:spPr>
          <a:xfrm>
            <a:off x="6446520" y="2148840"/>
            <a:ext cx="2148840" cy="148590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Hizmetler, sistem çağrısı türleri, süreç durumları, PCB, bağlam değişimi, fork().</a:t>
            </a:r>
            <a:endParaRPr lang="tr-TR" sz="1500" dirty="0"/>
          </a:p>
        </p:txBody>
      </p:sp>
      <p:sp>
        <p:nvSpPr>
          <p:cNvPr id="15" name="Shape 13"/>
          <p:cNvSpPr/>
          <p:nvPr/>
        </p:nvSpPr>
        <p:spPr>
          <a:xfrm>
            <a:off x="9052560" y="1508760"/>
            <a:ext cx="260604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928116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H4 İş parçacıkları</a:t>
            </a:r>
            <a:endParaRPr lang="tr-TR" sz="1600" dirty="0"/>
          </a:p>
        </p:txBody>
      </p:sp>
      <p:sp>
        <p:nvSpPr>
          <p:cNvPr id="17" name="Text 15"/>
          <p:cNvSpPr txBox="1"/>
          <p:nvPr/>
        </p:nvSpPr>
        <p:spPr>
          <a:xfrm>
            <a:off x="9281160" y="2148840"/>
            <a:ext cx="2148840" cy="148590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Kullanıcı ve çekirdek iş parçacıkları, çoklu iş parçacığı modelleri, zamanlama ölçütleri.</a:t>
            </a:r>
            <a:endParaRPr lang="tr-TR" sz="1500" dirty="0"/>
          </a:p>
        </p:txBody>
      </p:sp>
      <p:sp>
        <p:nvSpPr>
          <p:cNvPr id="18" name="Shape 16"/>
          <p:cNvSpPr/>
          <p:nvPr/>
        </p:nvSpPr>
        <p:spPr>
          <a:xfrm>
            <a:off x="548640" y="4000500"/>
            <a:ext cx="260604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9" name="Text 17"/>
          <p:cNvSpPr txBox="1"/>
          <p:nvPr/>
        </p:nvSpPr>
        <p:spPr>
          <a:xfrm>
            <a:off x="777240" y="418338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H5 Eşzamanlama</a:t>
            </a:r>
            <a:endParaRPr lang="tr-TR" sz="1600" dirty="0"/>
          </a:p>
        </p:txBody>
      </p:sp>
      <p:sp>
        <p:nvSpPr>
          <p:cNvPr id="20" name="Text 18"/>
          <p:cNvSpPr txBox="1"/>
          <p:nvPr/>
        </p:nvSpPr>
        <p:spPr>
          <a:xfrm>
            <a:off x="777240" y="4640580"/>
            <a:ext cx="2148840" cy="148590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Gantt şemalarıyla FCFS, SJF/SRTF, Öncelik, RR; yarış durumu, mutex, semafor.</a:t>
            </a:r>
            <a:endParaRPr lang="tr-TR" sz="1500" dirty="0"/>
          </a:p>
        </p:txBody>
      </p:sp>
      <p:sp>
        <p:nvSpPr>
          <p:cNvPr id="21" name="Shape 19"/>
          <p:cNvSpPr/>
          <p:nvPr/>
        </p:nvSpPr>
        <p:spPr>
          <a:xfrm>
            <a:off x="3383280" y="4000500"/>
            <a:ext cx="260604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22" name="Text 20"/>
          <p:cNvSpPr txBox="1"/>
          <p:nvPr/>
        </p:nvSpPr>
        <p:spPr>
          <a:xfrm>
            <a:off x="3611880" y="418338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H6 Bellek</a:t>
            </a:r>
            <a:endParaRPr lang="tr-TR" sz="1600" dirty="0"/>
          </a:p>
        </p:txBody>
      </p:sp>
      <p:sp>
        <p:nvSpPr>
          <p:cNvPr id="23" name="Text 21"/>
          <p:cNvSpPr txBox="1"/>
          <p:nvPr/>
        </p:nvSpPr>
        <p:spPr>
          <a:xfrm>
            <a:off x="3611880" y="4640580"/>
            <a:ext cx="2148840" cy="148590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Mantıksal ve fiziksel adres, MMU, parçalanma, sayfalama, TLB ve EAT, bölümleme.</a:t>
            </a:r>
            <a:endParaRPr lang="tr-TR" sz="1500" dirty="0"/>
          </a:p>
        </p:txBody>
      </p:sp>
      <p:sp>
        <p:nvSpPr>
          <p:cNvPr id="24" name="Shape 22"/>
          <p:cNvSpPr/>
          <p:nvPr/>
        </p:nvSpPr>
        <p:spPr>
          <a:xfrm>
            <a:off x="6217920" y="4000500"/>
            <a:ext cx="260604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25" name="Text 23"/>
          <p:cNvSpPr txBox="1"/>
          <p:nvPr/>
        </p:nvSpPr>
        <p:spPr>
          <a:xfrm>
            <a:off x="6446520" y="418338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H7 SB ve dosyalar</a:t>
            </a:r>
            <a:endParaRPr lang="tr-TR" sz="1600" dirty="0"/>
          </a:p>
        </p:txBody>
      </p:sp>
      <p:sp>
        <p:nvSpPr>
          <p:cNvPr id="26" name="Text 24"/>
          <p:cNvSpPr txBox="1"/>
          <p:nvPr/>
        </p:nvSpPr>
        <p:spPr>
          <a:xfrm>
            <a:off x="6446520" y="4640580"/>
            <a:ext cx="2148840" cy="148590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Sayfa hataları, p ile EAT, FIFO/OPT/LRU tabloları, boşa çalışma; erişim yöntemleri, dizinler, bağlantılar.</a:t>
            </a:r>
            <a:endParaRPr lang="tr-TR" sz="1500" dirty="0"/>
          </a:p>
        </p:txBody>
      </p:sp>
      <p:sp>
        <p:nvSpPr>
          <p:cNvPr id="27" name="Shape 25"/>
          <p:cNvSpPr/>
          <p:nvPr/>
        </p:nvSpPr>
        <p:spPr>
          <a:xfrm>
            <a:off x="9052560" y="4000500"/>
            <a:ext cx="260604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28" name="Text 26"/>
          <p:cNvSpPr txBox="1"/>
          <p:nvPr/>
        </p:nvSpPr>
        <p:spPr>
          <a:xfrm>
            <a:off x="9281160" y="418338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Nasıl hazırlanmalı?</a:t>
            </a:r>
            <a:endParaRPr lang="tr-TR" sz="1600" dirty="0"/>
          </a:p>
        </p:txBody>
      </p:sp>
      <p:sp>
        <p:nvSpPr>
          <p:cNvPr id="29" name="Text 27"/>
          <p:cNvSpPr txBox="1"/>
          <p:nvPr/>
        </p:nvSpPr>
        <p:spPr>
          <a:xfrm>
            <a:off x="9281160" y="4640580"/>
            <a:ext cx="2148840" cy="148590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Slaytlardaki her çözümlü örneği ve sınavı, notlardaki tekrar sorularını yeniden çözün.</a:t>
            </a:r>
            <a:endParaRPr lang="tr-TR"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GELECEK HAFTA</a:t>
            </a:r>
            <a:endParaRPr lang="tr-TR" sz="1300" dirty="0"/>
          </a:p>
        </p:txBody>
      </p:sp>
      <p:sp>
        <p:nvSpPr>
          <p:cNvPr id="3" name="Text 1"/>
          <p:cNvSpPr txBox="1"/>
          <p:nvPr/>
        </p:nvSpPr>
        <p:spPr>
          <a:xfrm>
            <a:off x="548640" y="1783080"/>
            <a:ext cx="10972800" cy="777240"/>
          </a:xfrm>
          <a:prstGeom prst="rect">
            <a:avLst/>
          </a:prstGeom>
          <a:noFill/>
          <a:ln/>
        </p:spPr>
        <p:txBody>
          <a:bodyPr wrap="square" lIns="0" tIns="0" rIns="0" bIns="0" rtlCol="0" anchor="ctr"/>
          <a:lstStyle/>
          <a:p>
            <a:pPr indent="0" marL="0">
              <a:buNone/>
            </a:pPr>
            <a:r>
              <a:rPr lang="tr-TR" sz="3400" b="1" dirty="0">
                <a:solidFill>
                  <a:srgbClr val="FFFFFF"/>
                </a:solidFill>
                <a:latin typeface="Cambria" pitchFamily="34" charset="0"/>
                <a:ea typeface="Cambria" pitchFamily="34" charset="-122"/>
                <a:cs typeface="Cambria" pitchFamily="34" charset="-120"/>
              </a:rPr>
              <a:t>Vize Sınavı (8. hafta)</a:t>
            </a:r>
            <a:endParaRPr lang="tr-TR" sz="3400" dirty="0"/>
          </a:p>
        </p:txBody>
      </p:sp>
      <p:sp>
        <p:nvSpPr>
          <p:cNvPr id="4" name="Shape 2"/>
          <p:cNvSpPr/>
          <p:nvPr/>
        </p:nvSpPr>
        <p:spPr>
          <a:xfrm>
            <a:off x="548640" y="2834640"/>
            <a:ext cx="7680960" cy="2926080"/>
          </a:xfrm>
          <a:prstGeom prst="roundRect">
            <a:avLst>
              <a:gd name="adj" fmla="val 1875"/>
            </a:avLst>
          </a:prstGeom>
          <a:solidFill>
            <a:srgbClr val="36454F"/>
          </a:solidFill>
          <a:ln/>
        </p:spPr>
      </p:sp>
      <p:sp>
        <p:nvSpPr>
          <p:cNvPr id="5" name="Text 3"/>
          <p:cNvSpPr txBox="1"/>
          <p:nvPr/>
        </p:nvSpPr>
        <p:spPr>
          <a:xfrm>
            <a:off x="868680" y="3017520"/>
            <a:ext cx="7132320" cy="365760"/>
          </a:xfrm>
          <a:prstGeom prst="rect">
            <a:avLst/>
          </a:prstGeom>
          <a:noFill/>
          <a:ln/>
        </p:spPr>
        <p:txBody>
          <a:bodyPr wrap="square" lIns="0" tIns="0" rIns="0" bIns="0" rtlCol="0" anchor="ctr"/>
          <a:lstStyle/>
          <a:p>
            <a:pPr indent="0" marL="0">
              <a:buNone/>
            </a:pPr>
            <a:r>
              <a:rPr lang="tr-TR" sz="1400" b="1" dirty="0">
                <a:solidFill>
                  <a:srgbClr val="02C39A"/>
                </a:solidFill>
                <a:latin typeface="Calibri" pitchFamily="34" charset="0"/>
                <a:ea typeface="Calibri" pitchFamily="34" charset="-122"/>
                <a:cs typeface="Calibri" pitchFamily="34" charset="-120"/>
              </a:rPr>
              <a:t>8. haftanın konuları:</a:t>
            </a:r>
            <a:endParaRPr lang="tr-TR" sz="1400" dirty="0"/>
          </a:p>
        </p:txBody>
      </p:sp>
      <p:sp>
        <p:nvSpPr>
          <p:cNvPr id="6" name="Text 4"/>
          <p:cNvSpPr txBox="1"/>
          <p:nvPr/>
        </p:nvSpPr>
        <p:spPr>
          <a:xfrm>
            <a:off x="868680" y="3474720"/>
            <a:ext cx="7132320" cy="2148840"/>
          </a:xfrm>
          <a:prstGeom prst="rect">
            <a:avLst/>
          </a:prstGeom>
          <a:noFill/>
          <a:ln/>
        </p:spPr>
        <p:txBody>
          <a:bodyPr wrap="square" lIns="0" tIns="0" rIns="0" bIns="0" rtlCol="0" anchor="t"/>
          <a:lstStyle/>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1–7. haftaları kapsar: slaytlar ve ders notları</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Alıştırın: Gantt şemaları, EAT (TLB ve sayfa hataları), FIFO/OPT/LRU tabloları, blok hesabı</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Öğrenci kimliğinizi, kaleminizi ve izin verilirse basit bir hesap makinesi getirin</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Saat ve salon: dersin Telegram kanalını takip edin</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Vizeden sonra 9. hafta uygulamalı Linux ile başlıyor: kabuk ve dizinlerde gezinme</a:t>
            </a:r>
            <a:endParaRPr lang="tr-TR" sz="1500" dirty="0"/>
          </a:p>
        </p:txBody>
      </p:sp>
      <p:sp>
        <p:nvSpPr>
          <p:cNvPr id="7"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8"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7  ·  40</a:t>
            </a:r>
            <a:endParaRPr lang="tr-TR"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SORULAR?</a:t>
            </a:r>
            <a:endParaRPr lang="tr-TR" sz="1300" dirty="0"/>
          </a:p>
        </p:txBody>
      </p:sp>
      <p:sp>
        <p:nvSpPr>
          <p:cNvPr id="3" name="Text 1"/>
          <p:cNvSpPr txBox="1"/>
          <p:nvPr/>
        </p:nvSpPr>
        <p:spPr>
          <a:xfrm>
            <a:off x="548640" y="1783080"/>
            <a:ext cx="9144000" cy="77724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Tartışma</a:t>
            </a:r>
            <a:endParaRPr lang="tr-TR" sz="3800" dirty="0"/>
          </a:p>
        </p:txBody>
      </p:sp>
      <p:sp>
        <p:nvSpPr>
          <p:cNvPr id="4" name="Text 2"/>
          <p:cNvSpPr txBox="1"/>
          <p:nvPr/>
        </p:nvSpPr>
        <p:spPr>
          <a:xfrm>
            <a:off x="548640" y="2697480"/>
            <a:ext cx="6858000" cy="640080"/>
          </a:xfrm>
          <a:prstGeom prst="rect">
            <a:avLst/>
          </a:prstGeom>
          <a:noFill/>
          <a:ln/>
        </p:spPr>
        <p:txBody>
          <a:bodyPr wrap="square" lIns="0" tIns="0" rIns="0" bIns="0" rtlCol="0" anchor="ctr"/>
          <a:lstStyle/>
          <a:p>
            <a:pPr indent="0" marL="0">
              <a:buNone/>
            </a:pPr>
            <a:r>
              <a:rPr lang="tr-TR" sz="1400" i="1" dirty="0">
                <a:solidFill>
                  <a:srgbClr val="F2F2F2"/>
                </a:solidFill>
                <a:latin typeface="Calibri" pitchFamily="34" charset="0"/>
                <a:ea typeface="Calibri" pitchFamily="34" charset="-122"/>
                <a:cs typeface="Calibri" pitchFamily="34" charset="-120"/>
              </a:rPr>
              <a:t>Dersten sonra sorularınız olursa dersin Telegram kanalında sorun — yanıttan herkes yararlanır.</a:t>
            </a:r>
            <a:endParaRPr lang="tr-TR" sz="1400" dirty="0"/>
          </a:p>
        </p:txBody>
      </p:sp>
      <p:sp>
        <p:nvSpPr>
          <p:cNvPr id="7" name="Text 4"/>
          <p:cNvSpPr txBox="1"/>
          <p:nvPr/>
        </p:nvSpPr>
        <p:spPr>
          <a:xfrm>
            <a:off x="3108960" y="3703320"/>
            <a:ext cx="5486400" cy="1463040"/>
          </a:xfrm>
          <a:prstGeom prst="rect">
            <a:avLst/>
          </a:prstGeom>
          <a:noFill/>
          <a:ln/>
        </p:spPr>
        <p:txBody>
          <a:bodyPr wrap="square" lIns="0" tIns="0" rIns="0" bIns="0" rtlCol="0" anchor="t"/>
          <a:lstStyle/>
          <a:p>
            <a:pPr indent="0" marL="0">
              <a:spcAft>
                <a:spcPts val="400"/>
              </a:spcAft>
              <a:buNone/>
            </a:pPr>
            <a:r>
              <a:rPr lang="tr-TR" sz="1400" b="1" dirty="0">
                <a:solidFill>
                  <a:srgbClr val="F2F2F2"/>
                </a:solidFill>
                <a:latin typeface="Calibri" pitchFamily="34" charset="0"/>
                <a:ea typeface="Calibri" pitchFamily="34" charset="-122"/>
                <a:cs typeface="Calibri" pitchFamily="34" charset="-120"/>
              </a:rPr>
              <a:t>Dr. Öğr. Üyesi Hasan Oğuz</a:t>
            </a:r>
            <a:endParaRPr lang="tr-TR" sz="1400" dirty="0"/>
          </a:p>
        </p:txBody>
      </p:sp>
      <p:sp>
        <p:nvSpPr>
          <p:cNvPr id="8"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9"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7  ·  41</a:t>
            </a:r>
            <a:endParaRPr lang="tr-TR"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MBLP131 Hafta 7</dc:title>
  <dc:subject>PptxGenJS Presentation</dc:subject>
  <dc:creator>PptxGenJS</dc:creator>
  <cp:lastModifiedBy>PptxGenJS</cp:lastModifiedBy>
  <cp:revision>1</cp:revision>
  <dcterms:created xsi:type="dcterms:W3CDTF">2026-10-08T13:05:52Z</dcterms:created>
  <dcterms:modified xsi:type="dcterms:W3CDTF">2026-10-08T13:05:52Z</dcterms:modified>
</cp:coreProperties>
</file>