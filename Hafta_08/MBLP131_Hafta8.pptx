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haftaya, yani vize haftasına hoş geldiniz. Ara sınav (vize) 1–7. haftaları kapsıyor. Bugünün planı: sınavla ilgili pratik bilgiler, her haftanın formülleriyle birlikte kısa bir tekrarı, 10 dakikalık mola, ardından sayısal soru türlerinin hepsini kapsayan yedi çözümlü alıştırma problemi, en sık yapılan hatalar ve bir sınav stratejisi. Bu haftanın ders notları bir çalışma kılavuzudur: içinde bir formül kâğıdı ve çözümleri eksiksiz verilmiş bir deneme sınavı var. Ayrıca cevap anahtarıyla birlikte ayrı bir örnek vize kâğıdı da dağıtılıyor.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Dersin ilk yarısı kuramdı: işletim sistemi nedir, işlemciyi, belleği ve dosyaları nasıl yönetir. Üst sıradaki her şey vizede var. Sınavdan sonra ders uygulamalı hâle geliyor: 9. haftadan itibaren her hafta Linux kabuğunda çalışacağız ve bugünkü fikirlerin çoğunu komut olarak yeniden göreceksiniz (ps ile süreçler, ls -i ve ln ile dosyalar, düğümdeki izinler). 15. haftadaki final sınavı iki yarıyı da kapsar.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bölümler moladan önce, 4–6. bölümler moladan sonra. Sınavınız haftanın ilerleyen bir günündeyse dersin ikinci yarısını rehberli bir alıştırma oturumu olarak kullanın: çözümü göstermeden önce her problemi kendiniz deneyin.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ÖĞRETİM ÜYESİ İÇİN: tarihi, salonu, süreyi, hesap makinesi kuralını, sınavın kitap kapalı olup olmadığını ve formül kâğıdı verilip verilmeyeceğini kesinleştirin, sonra köşeli parantezleri silin. Gösterilen biçim, bu haftanın malzemesiyle dağıtılan örnek kâğıdın biçimidir (exam/MBLP131_Vize_Ornek.pdf); aksi duyurulmadıkça gerçek kâğıt da aynı yapıyı izler. Öğrencilere: kimliğinizi getirin; telefonlar kapalı ve kaldırılmış olmalı.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 hafta katkıda bulunuyor. Hesap türü soruları olduğu için sayısal puanların çoğu 5, 6 ve 7. haftalardan gelir; ama 1–4. haftalar çoktan seçmeli ve kısa yanıtlı bölümlerde çıkar; Amdahl yasası, bağlam değişimi ek yükü ve fork() sayma da küçük sayısal sorulardır. Ortadaki sütun kontrol listenizdir, sağdaki sütun neyi alıştırmanız gerektiğini söyler.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 hafta için: temel tanımlar, çizebilmeniz gereken o tek diyagram ve formüller. Her şey haftalık notlardaki gösterimin aynısıdır.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haftanın soruları çoğunlukla çoktan seçmelidir: hangi sistem hangi fikri getirdi ve neden. Her adımın ardındaki nedeni hatırlayın: her buluş, işlemcinin boşta kaldığı bir zaman kaynağını ortadan kaldırdı. Üç formül basittir; örneğin p = 0,6 için U(3) = 1 − 0,216 = %78,4 (ileride 1. problem). Hatırlanacak iki tarih: UNIX 1969, Linux 1991.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Tipik kısa yanıtlı soru: iki bakış açısını birer örnekle açıklayın (disk kesimleri yerine dosyalar; işlemci zamanının çoğullanması). Dersin mod biti uzlaşımını bilin: çekirdek modu için 0, kullanıcı modu için 1. Kullanıcı modunda yürütülen ayrıcalıklı bir komut yürütülmez; donanım işletim sistemine tuzak üretir. 116 ns değeri 2. haftadaki ölçümümüzdür; sizin makinenizde farklı olacaktır, ders oranın kendisidir.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Karşılaştırma tablosu doğrudan 2. haftanın notlarından. Monolitik çekirdeğin (hızlı; bir sürücü hatası her şeyi çökertir) ve mikroçekirdeğin (çöken bir sunucu yeniden başlatılabilir; fazladan iletiler ve mod geçişleri onu yavaşlatır) birer üstünlüğünü ve birer zayıflığını söyleyebilmelisiniz. Linux hem monolitik HEM modülerdir (yüklenebilir çekirdek modülleri). t_s = 0,1, t_c = 0,15 ve t_w = 2 mikrosaniye için mikroçekirdek 2,7 / 2,2 ≈ 1,23 kat yavaştır (review_problems.py ile denetlendi).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Bir API fonksiyonu, bir sarmalayıcı ve sistem çağrısının kendisi arasındaki farkı bilin: printf() bir API fonksiyonudur ve write() çağırabilir de çağırmayabilir de; strlen() hiçbir zaman sistem çağrısı yapmaz. Çekirdeğe tek ve sabit bir noktadan girilir; çekirdek numarayı sistem çağrısı tablosunda bir indeks olarak kullanır ve istekteki hiçbir şeye güvenmez. Tipik çoktan seçmeli soru: x86-64 Linux'ta sistem çağrısı numarası nerededir? Yanıt: rax yazmacında.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diyagramı sınavdan önce ezbere çizin. Her ok için bir olay söyleyebilmelisiniz: seçilme (zamanlayıcı onu seçer), kesme (zaman dilimi bitti), G/Ç isteği ya da wait() (çalışıyor → bekliyor), disk kesmesi (bekliyor → hazır), çıkış. Bir süreç hiçbir zaman bekliyor durumundan doğrudan çalışıyor durumuna geçmez: önce hazır kuyruğuna girmelidir. Bağlam değişimi ek yükü s/(q + s) ve 2 üzeri n süreç, sevilen küçük sayısal sorulardır (1.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Ortak ve özel öğeler tablosu klasik bir çoktan seçmeli soru kaynağıdır: yığıt (stack) özeldir, yığın (heap) ortaktır. Linux ve Windows birebir modeli kullanır. Amdahl yasası: slayttaki sayılar 4. hafta notlarındaki S = 0,25 örneğidir. Pratik ders: önce seri kısmı küçültün, sonra çekirdek ekleyin. 1(d) problemi S = 0,2 ile alıştırma yaptırır.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üç formül her zamanlama sorusunda kullanılır (5. hafta notları aynı büyüklükleri T_bitiş ve T_varış diye yazar: T_dönüş = T_bitiş − T_varış). Bekleme süresini, özellikle bir süreç birkaç parça hâlinde çalıştığında, her zaman T_bekleme = T_dönüş − T_patlama formülünden hesaplayın. Süreç G/Ç yapıyorsa G/Ç süresini de çıkarın. Kesintisiz algoritmalarda yanıt süresi bekleme süresine eşittir.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Bunlar tam olarak 5. hafta notlarının uzlaşımlarıdır; ders kitapları farklılaştığı için her zamanlama yanıtının başına yazın. Round Robin bir sonraki sıra için her beklemeyi (n − 1)q ile sınırlar. Üstel ortalama: alfa = 0,5, tau0 = 8 ve patlamalar 6, 10, 4 için tahminler 7, 8,5 ve 6,25'tir (review_problems.py ile denetlendi). 2. problem beş algoritmanın hepsini tek bir iş kümesine uygular.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counter++ için kaybettiren bir iç içe geçme (interleaving) gösterebilmelisiniz (3. problem). Üç gereksinimin her biri için onu bozan bir 'çözüm' bilin: kimseyi içeri almamak ilerlemeyi bozar; katı sırayla dönüşüm ilerlemeyi bozar; her zaman A'yı tercih etmek sınırlı beklemeyi bozar. Sınırlı tamponda wait(empty) wait(mutex)'ten önce gelmelidir; yoksa üretici muteksi tutarken uyuyabilir ve sistem kilitlenir.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Denetim katıdır: sınıra eşit bir mantıksal adres zaten tuzak üretir, çünkü geçerli aralık 0 ile sınır − 1 arasıdır. Örnek: taban 12000, sınır 2500: 2499 adresi 14499'a eşlenir, 2500 adresi tuzak üretir. Uyan stratejileri: delik listesi adres sırasındadır ve istek seçilen deliğin başından kesilir (4. problem). Hangi parçalanmanın hangi yönteme ait olduğunu hatırlayın: değişken bölümler ve bölütleme dış parçalanmadan, sayfalama yalnızca iç parçalanmadan etkilenir.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Ofset hiçbir zaman çevrilmez: yalnızca sayfa numarası çerçeve numarasıyla değiştirilir. 4 KB'lık sayfalarda ve onaltılık adreslerde ofset son üç onaltılık basamaktır; bu yüzden çeviri yalnızca ilk basamağı değiştirmektir (5. problem). TLB için, soru aksini söylemedikçe ders uzlaşımını kullanın ve hangi uzlaşımı kullandığınızı yazın. Buradaki alfa TLB isabet oranıdır; üstel ortalamadaki alfa ile karıştırmayın.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Altı adım klasik bir kısa yanıtlı sorudur; komut yeniden başlatılır, çünkü hata oluştuğunda tamamlanmamıştı. Not: sayfa hatalı EAT'deki p hata oranıdır, 1. haftadaki G/Ç bekleme kesri p değil. Saat (ikinci şans): başvuru biti 1 → biti sıfırla ve ilerle; 0 → kurban. OPT ve LRU yığıt algoritmalarıdır ve hiçbir zaman Belady anomalisi göstermez.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Blok hesabı: önce bayt konumunu, sonra taban (floor) bölmesiyle bloğu, sonra blok içindeki konumu bulun. Ardından kaydın son baytını denetleyin: bir sonraki bloğa düşüyorsa kayıt bir blok sınırını aşıyordur ve iki blok okuması gerekir (7. problem). Bağlantılar: ln a b ve rm a komutlarından sonra b hâlâ çalışır (bağlantı sayısı yeniden 1); ln -s a b ve rm a komutlarından sonra b boşta kalır.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tablo ders notlarında tek sayfalık bir formül kâğıdı olarak da basıldı. Harflerle ilgili uyarı: p 1. haftada G/Ç bekleme kesri, 7. haftada ise sayfa hatası oranıdır; alfa 6. haftada TLB isabet oranı, 5. haftada ise üstel ortalamanın ağırlığıdır. Sembollerinizin ne anlama geldiğini her zaman yazın. Sınavda formül kâğıdı verilip verilmeyeceği duyurulacak; bunları ezbere bilmeyi planlayın.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dakika. Öğrencilerden mola sırasında 2. problemi (zamanlama) kâğıt üzerinde denemelerini isteyin: iş kümesi bir sonraki bölümün ilk problem slaytında.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 sayısal soru için yöntem: formülü yazın, sayıları birimleriyle yerine koyun, hesaplayın ve sonucu kutu içine alın. Aritmetik kaysa bile doğru yöntem için kısmi puan verilir.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U(n) = 1 − p^n; ln 0,05 / ln 0,6 ≈ 5,86, dolayısıyla n = 6. (b) s/(q + s), q mikrosaniye cinsinden: 2 ms = 2000 µs. (c) İlk printf'ten önce 2 × 2 = 4 süreç vardır, her biri A yazar; üçüncü fork onları 8'e katlar, her biri B yazar. review_problems.py içinde os.fork() ile yapılan gerçek bir çalıştırma tam olarak 4 A ve 8 B yazdı. 3. haftadan uyarı: çıktı bir dosyaya giderse printf tamponlar ve fork() tamponu kopyalar; bu durumda A 8 kez görünebilir — sınav soruları terminali varsayar. (d) 8 çekirdek yalnızca 3,33 verir; 8'den çok uzak.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İş kümesi: P1 (0, 7, öncelik 2), P2 (2, 4, 1), P3 (3, 2, 4), P4 (5, 5, 3); toplam işlemci işi 18 ms, işlemci hiç boşta kalmaz. SRTF'yi yavaşça izleyin: t = 2'de P2 (4) &lt; P1'in kalanı 5, kesme; t = 3'te P3 (2) &lt; P2'nin kalanı 3, kesme; P3 5'te biter; P2 (3 kaldı) 5–8 arası çalışır; t = 8'de P1 ve P4'ün ikisi de 5 ms ister, eşitlik kuralı P1'i seçer (erken gelen). Öncelikli: P2 (öncelik 1) t = 2'de P1'i keser. RR q = 3: t = 3'te P3, tam P1'in zaman dilimi biterken gelir; dolayısıyla kuyruk P2, P3, P1 olur.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Sınav yanıtında Gantt şeması, her süreç için bitiş, dönüş ve bekleme süresini içeren bir tablo ve ortalamalar bulunmalıdır. Bekleme süresini dönüş eksi patlama olarak hesaplayın; kesintili zamanlamalarda boşlukları toplamaya çalışmayın. Buradaki bağlam değişimi sayısı = çalışan sürecin kaç kez değiştiği (bağlam değişimi süresi 0 alındı). Bu tablodaki her sayı review_results.json dosyasından geliyor.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Solda: artırmayı kaybettiren 9 iç içe geçmeden biri; B'nin yazması A'nınkinin üzerine yazar. 20 iç içe geçmenin tamamının sayımı (6 konumdan 3'ünü seçmek) review_problems.py içindedir. Çözüm: counter++ ve counter-- işlemlerini bir muteksle korunan kritik bölgeye koymak. Sağda: 5. haftadaki tanımla semafor izi; wait: while (S &lt;= 0); S--. T1 signal yaptığında S 1 olur ve bekleyen T3 hemen wait'ini geçer; böylece S yeniden 0 olur. Muteks, S'nin 1 ile başlatıldığı özel durumdur.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Gösterim: 600@500, 500 KB adresinde başlayan 600 KB'lık delik demektir. Her istek seçilen deliğin başından kesilir, geri kalanı daha küçük bir delik olarak kalır. İlk uyan, yeterince büyük olan ilk deliği (adres sırasında) alır; en iyi uyan sığanların en küçüğünü; en kötü uyan en büyüğünü. osim.py içindeki fit_run() ile benzetildi. Örnek sınav kâğıdında ilk uyanın kazandığı ve en iyi uyanın başarısız olduğu bir durum bulacaksınız; bu yüzden hiçbir zaman bir algoritmanın her zaman en iyi olduğunu söylemeyin.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0x1C3B için onluk yol: 7227 = 1 × 4096 + 3131, dolayısıyla p = 1, d = 3131; 8. çerçeve 8 × 4096 + 3131 = 35899 = 0x8C3B verir. Onaltılık yol daha hızlıdır: ilk basamağı değiştirin. 3. sayfa geçersizdir: MMU tuzak üretir, fiziksel adres yoktur. TLB: bir isabet t_TLB + t_m = 90 ns, bir ıska t_TLB + 2t_m = 170 ns tutar. Gereken isabet oranını bulmak için: 2 − alfa = 90/80 = 1,125, alfa = 0,875.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FIFO: 1, 2, 0 çerçeveleri doldurur (3 zorunlu hata). 4, 1'in yerine geçer (en eski). 2 bir isabettir — ve FIFO'da isabet sırayı DEĞİŞTİRMEZ. 3, 2'nin yerine geçer, sonra 2, 0'ın yerine; 1, 4'ün yerine ve böyle devam eder: 11 hata. LRU: 4'e başvuruda 1, 2, 0 içinde en uzun süredir kullanılmayan 1'dir; 3'e başvuruda çerçevelerde 4, 2, 0 vardır ve en uzun süredir kullanılmayan 0'dır, dolayısıyla 0 çıkar — sık kullanılan 2 kalır. 9 hata. Nane = yeni yüklenen sayfa; soluk sütunlar hatalardır.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 4'e başvuruda (4. konum): çerçeveler 1, 2, 0. Sonraki kullanımlar: 2 5. konumda, 1 8. konumda, 0 11. konumda — dolayısıyla 0 değiştirilir. 3'te: çerçeveler 1, 2, 4; sonraki kullanımlar 2 (7), 1 (8), 4 (10) → 4 çıkar. 7 hata, mümkün olan en az sayı. Akıl sağlığı denetimleri: dizi 5 farklı sayfa (0, 1, 2, 3, 4) kullanır, dolayısıyla her algoritmanın en az 5 hatası vardır; OPT hiçbir zaman geçilemez. 4 çerçeve sayıları review_problems.py'den.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En sık yapılan hata milisaniye ile nanosaniyeyi karıştırmaktır. 1/p_maks ≈ 1,2 milyon: %5'lik bir yavaşlama için en çok 1,2 milyon bellek erişiminde bir hata. (b) Kayıt 21. bloğun 3984. baytında başlar; 4096 − 3984 = 112 bayt 21. bloğa sığar, kalan 8 bayt 22. bloktadır. Karşılaştırma için 40. kayıt (4.800. bayt) tamamen 1. bloktadır, konum 704 (bu da review_problems.py içinde). Not: kod kutularında sayılar programın yazdığı gibi (ondalık nokta, binler için virgül) bırakıldı.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Bunlar bu tür sınavlarda en sık görülen hatalardır. İki tane daha: fork() sorularında var olan her sürecin bir sonraki fork'u yürüttüğünü unutmayın; bağlantılarda ise sabit bağlantı öbür adın silinmesinden sonra da yaşar, sembolik bağlantı yaşamaz. Kısa yanıtlı sorularda bir tanım artı bir somut örnek genellikle tam puan getirir.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Zaman çubuğu, örnek yapıdaki (A: 20, B: 20, C: 60 puan) 90 dakikalık bir kâğıt için bir öneridir. Puanların çoğu C bölümündedir; bu yüzden çoktan seçmeliye 40 dakika harcamayın. Notlardaki 'Deneme Sınavı' bölümünün çözümleri verilmiştir; ayrı örnek kâğıdın da puanlama yönergesi (rubrik) içeren bir cevap anahtarı var; böylece puanların nasıl verildiğini görebilirsiniz.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Yanıtlar. (1) Dönüş 15 − 3 = 12 ms, bekleme 12 − 4 = 8 ms. (2) p = 2, d = 0xABC, 6. çerçeve → 0x6ABC. (3) EAT = 10 + (2 − 0,9) × 100 = 120 ns (= 0,9 × 110 + 0,1 × 210 = 99 + 21). (4) Hayır: sembolik bağlantı yalnızca artık var olmayan a.txt yolunu saklar — bağlantı boşta kalır. Sabit bağlantıyla (-s olmadan ln) veri hâlâ okunabilirdi. Bütün sayılar review_problems.py ile denetlendi.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Bugünkü yedi problemi bakmadan çözebiliyor ve kapsam slaytındaki her terimi bir örnekle tek cümlede açıklayabiliyorsanız iyi hazırlanmışsınız demektir. Başarılar!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Vizeden sonra ders uygulamalı hâle geliyor. 9. haftada bir Linux sistemi kuruyor ya da açıyor ve kabuğu kullanmaya başlıyoruz: 7. haftanın dizin ağacı, mutlak ve göreli yollar ve düğüm (inode) fikirleri yazdığınız komutlara dönüşüyor. Lütfen 9. haftadan önce bir Linux terminali açabildiğinizden emin olun: bir laboratuvar bilgisayarı, Windows'ta WSL (yönetici olarak açılmış bir PowerShell'de wsl --install) ya da bir Ubuntu sanal makinesi.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Sınavla ilgili sorular için sözü öğrencilere bırakın. Kesinleşen tarih, salon ve kuralların Telegram kanalında duyurulacağını ve orada sorulan soruların herkese yardımcı olduğunu hatırlatın.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1737360"/>
            <a:ext cx="73152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MBLP131  ·  HAFTA 8</a:t>
            </a:r>
            <a:endParaRPr lang="tr-TR" sz="1300" dirty="0"/>
          </a:p>
        </p:txBody>
      </p:sp>
      <p:sp>
        <p:nvSpPr>
          <p:cNvPr id="3" name="Text 1"/>
          <p:cNvSpPr txBox="1"/>
          <p:nvPr/>
        </p:nvSpPr>
        <p:spPr>
          <a:xfrm>
            <a:off x="548640" y="2148840"/>
            <a:ext cx="8229600" cy="1463040"/>
          </a:xfrm>
          <a:prstGeom prst="rect">
            <a:avLst/>
          </a:prstGeom>
          <a:noFill/>
          <a:ln/>
        </p:spPr>
        <p:txBody>
          <a:bodyPr wrap="square" lIns="0" tIns="0" rIns="0" bIns="0" rtlCol="0" anchor="t"/>
          <a:lstStyle/>
          <a:p>
            <a:pPr indent="0" marL="0">
              <a:buNone/>
            </a:pPr>
            <a:r>
              <a:rPr lang="tr-TR" sz="4000" b="1" dirty="0">
                <a:solidFill>
                  <a:srgbClr val="FFFFFF"/>
                </a:solidFill>
                <a:latin typeface="Cambria" pitchFamily="34" charset="0"/>
                <a:ea typeface="Cambria" pitchFamily="34" charset="-122"/>
                <a:cs typeface="Cambria" pitchFamily="34" charset="-120"/>
              </a:rPr>
              <a:t>İşletim Sistemleri</a:t>
            </a:r>
            <a:endParaRPr lang="tr-TR" sz="4000" dirty="0"/>
          </a:p>
          <a:p>
            <a:pPr indent="0" marL="0">
              <a:buNone/>
            </a:pPr>
            <a:r>
              <a:rPr lang="tr-TR" sz="4000" b="1" dirty="0">
                <a:solidFill>
                  <a:srgbClr val="FFFFFF"/>
                </a:solidFill>
                <a:latin typeface="Cambria" pitchFamily="34" charset="0"/>
                <a:ea typeface="Cambria" pitchFamily="34" charset="-122"/>
                <a:cs typeface="Cambria" pitchFamily="34" charset="-120"/>
              </a:rPr>
              <a:t>Temelleri</a:t>
            </a:r>
            <a:endParaRPr lang="tr-TR" sz="4000" dirty="0"/>
          </a:p>
        </p:txBody>
      </p:sp>
      <p:sp>
        <p:nvSpPr>
          <p:cNvPr id="4" name="Text 2"/>
          <p:cNvSpPr txBox="1"/>
          <p:nvPr/>
        </p:nvSpPr>
        <p:spPr>
          <a:xfrm>
            <a:off x="548640" y="3703320"/>
            <a:ext cx="10058400" cy="457200"/>
          </a:xfrm>
          <a:prstGeom prst="rect">
            <a:avLst/>
          </a:prstGeom>
          <a:noFill/>
          <a:ln/>
        </p:spPr>
        <p:txBody>
          <a:bodyPr wrap="square" lIns="0" tIns="0" rIns="0" bIns="0" rtlCol="0" anchor="ctr"/>
          <a:lstStyle/>
          <a:p>
            <a:pPr indent="0" marL="0">
              <a:buNone/>
            </a:pPr>
            <a:r>
              <a:rPr lang="tr-TR" sz="2000" dirty="0">
                <a:solidFill>
                  <a:srgbClr val="F2F2F2"/>
                </a:solidFill>
                <a:latin typeface="Calibri" pitchFamily="34" charset="0"/>
                <a:ea typeface="Calibri" pitchFamily="34" charset="-122"/>
                <a:cs typeface="Calibri" pitchFamily="34" charset="-120"/>
              </a:rPr>
              <a:t>Hafta 8  ·  Ara Sınav Tekrarı ve Alıştırma</a:t>
            </a:r>
            <a:endParaRPr lang="tr-TR" sz="2000" dirty="0"/>
          </a:p>
        </p:txBody>
      </p:sp>
      <p:sp>
        <p:nvSpPr>
          <p:cNvPr id="5" name="Text 3"/>
          <p:cNvSpPr txBox="1"/>
          <p:nvPr/>
        </p:nvSpPr>
        <p:spPr>
          <a:xfrm>
            <a:off x="548640" y="4160520"/>
            <a:ext cx="10058400" cy="365760"/>
          </a:xfrm>
          <a:prstGeom prst="rect">
            <a:avLst/>
          </a:prstGeom>
          <a:noFill/>
          <a:ln/>
        </p:spPr>
        <p:txBody>
          <a:bodyPr wrap="square" lIns="0" tIns="0" rIns="0" bIns="0" rtlCol="0" anchor="ctr"/>
          <a:lstStyle/>
          <a:p>
            <a:pPr indent="0" marL="0">
              <a:buNone/>
            </a:pPr>
            <a:r>
              <a:rPr lang="tr-TR" sz="1400" i="1" dirty="0">
                <a:solidFill>
                  <a:srgbClr val="8A9AA0"/>
                </a:solidFill>
                <a:latin typeface="Calibri" pitchFamily="34" charset="0"/>
                <a:ea typeface="Calibri" pitchFamily="34" charset="-122"/>
                <a:cs typeface="Calibri" pitchFamily="34" charset="-120"/>
              </a:rPr>
              <a:t>Yedi haftalık kuram, tek sınav: neyi bilmeli ve bunu nasıl puana çevirmeli?</a:t>
            </a:r>
            <a:endParaRPr lang="tr-TR" sz="1400" dirty="0"/>
          </a:p>
        </p:txBody>
      </p:sp>
      <p:sp>
        <p:nvSpPr>
          <p:cNvPr id="6" name="Text 4"/>
          <p:cNvSpPr txBox="1"/>
          <p:nvPr/>
        </p:nvSpPr>
        <p:spPr>
          <a:xfrm>
            <a:off x="548640" y="6217920"/>
            <a:ext cx="10058400" cy="274320"/>
          </a:xfrm>
          <a:prstGeom prst="rect">
            <a:avLst/>
          </a:prstGeom>
          <a:noFill/>
          <a:ln/>
        </p:spPr>
        <p:txBody>
          <a:bodyPr wrap="square" lIns="0" tIns="0" rIns="0" bIns="0" rtlCol="0" anchor="ctr"/>
          <a:lstStyle/>
          <a:p>
            <a:pPr indent="0" marL="0">
              <a:buNone/>
            </a:pPr>
            <a:r>
              <a:rPr lang="tr-TR" sz="1000" dirty="0">
                <a:solidFill>
                  <a:srgbClr val="8A9AA0"/>
                </a:solidFill>
                <a:latin typeface="Calibri" pitchFamily="34" charset="0"/>
                <a:ea typeface="Calibri" pitchFamily="34" charset="-122"/>
                <a:cs typeface="Calibri" pitchFamily="34" charset="-120"/>
              </a:rPr>
              <a:t>Elektronik Haberleşme Teknolojisi Programı  ·  Meslek Yüksekokulu  ·  İstanbul Okan Üniversitesi</a:t>
            </a:r>
            <a:endParaRPr lang="tr-TR"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ŞİMDİYE KADAR</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Neredeyiz: Dersin Yarısındayız</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8  ·  2</a:t>
            </a:r>
            <a:endParaRPr lang="tr-TR" sz="900" dirty="0"/>
          </a:p>
        </p:txBody>
      </p:sp>
      <p:sp>
        <p:nvSpPr>
          <p:cNvPr id="6" name="Shape 4"/>
          <p:cNvSpPr/>
          <p:nvPr/>
        </p:nvSpPr>
        <p:spPr>
          <a:xfrm>
            <a:off x="548640" y="1600200"/>
            <a:ext cx="1463040" cy="2240280"/>
          </a:xfrm>
          <a:prstGeom prst="roundRect">
            <a:avLst>
              <a:gd name="adj" fmla="val 3750"/>
            </a:avLst>
          </a:prstGeom>
          <a:solidFill>
            <a:srgbClr val="F2F2F2"/>
          </a:solidFill>
          <a:ln/>
        </p:spPr>
      </p:sp>
      <p:sp>
        <p:nvSpPr>
          <p:cNvPr id="7" name="Shape 5"/>
          <p:cNvSpPr/>
          <p:nvPr/>
        </p:nvSpPr>
        <p:spPr>
          <a:xfrm>
            <a:off x="685800" y="1737360"/>
            <a:ext cx="685800" cy="384048"/>
          </a:xfrm>
          <a:prstGeom prst="roundRect">
            <a:avLst>
              <a:gd name="adj" fmla="val 11905"/>
            </a:avLst>
          </a:prstGeom>
          <a:solidFill>
            <a:srgbClr val="02C39A"/>
          </a:solidFill>
          <a:ln/>
        </p:spPr>
      </p:sp>
      <p:sp>
        <p:nvSpPr>
          <p:cNvPr id="8" name="Text 6"/>
          <p:cNvSpPr txBox="1"/>
          <p:nvPr/>
        </p:nvSpPr>
        <p:spPr>
          <a:xfrm>
            <a:off x="685800" y="1737360"/>
            <a:ext cx="685800" cy="384048"/>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mbria" pitchFamily="34" charset="0"/>
                <a:ea typeface="Cambria" pitchFamily="34" charset="-122"/>
                <a:cs typeface="Cambria" pitchFamily="34" charset="-120"/>
              </a:rPr>
              <a:t>H1</a:t>
            </a:r>
            <a:endParaRPr lang="tr-TR" sz="1400" dirty="0"/>
          </a:p>
        </p:txBody>
      </p:sp>
      <p:sp>
        <p:nvSpPr>
          <p:cNvPr id="9" name="Text 7"/>
          <p:cNvSpPr txBox="1"/>
          <p:nvPr/>
        </p:nvSpPr>
        <p:spPr>
          <a:xfrm>
            <a:off x="685800" y="2212848"/>
            <a:ext cx="1188720" cy="566928"/>
          </a:xfrm>
          <a:prstGeom prst="rect">
            <a:avLst/>
          </a:prstGeom>
          <a:noFill/>
          <a:ln/>
        </p:spPr>
        <p:txBody>
          <a:bodyPr wrap="square" lIns="0" tIns="0" rIns="0" bIns="0" rtlCol="0" anchor="t"/>
          <a:lstStyle/>
          <a:p>
            <a:pPr indent="0" marL="0">
              <a:buNone/>
            </a:pPr>
            <a:r>
              <a:rPr lang="tr-TR" sz="1300" b="1" dirty="0">
                <a:solidFill>
                  <a:srgbClr val="36454F"/>
                </a:solidFill>
                <a:latin typeface="Cambria" pitchFamily="34" charset="0"/>
                <a:ea typeface="Cambria" pitchFamily="34" charset="-122"/>
                <a:cs typeface="Cambria" pitchFamily="34" charset="-120"/>
              </a:rPr>
              <a:t>Tarihçe</a:t>
            </a:r>
            <a:endParaRPr lang="tr-TR" sz="1300" dirty="0"/>
          </a:p>
        </p:txBody>
      </p:sp>
      <p:sp>
        <p:nvSpPr>
          <p:cNvPr id="10" name="Text 8"/>
          <p:cNvSpPr txBox="1"/>
          <p:nvPr/>
        </p:nvSpPr>
        <p:spPr>
          <a:xfrm>
            <a:off x="685800" y="2788920"/>
            <a:ext cx="1188720" cy="960120"/>
          </a:xfrm>
          <a:prstGeom prst="rect">
            <a:avLst/>
          </a:prstGeom>
          <a:noFill/>
          <a:ln/>
        </p:spPr>
        <p:txBody>
          <a:bodyPr wrap="square" lIns="0" tIns="0" rIns="0" bIns="0" rtlCol="0" anchor="t"/>
          <a:lstStyle/>
          <a:p>
            <a:pPr indent="0" marL="0">
              <a:buNone/>
            </a:pPr>
            <a:r>
              <a:rPr lang="tr-TR" sz="1200" dirty="0">
                <a:solidFill>
                  <a:srgbClr val="3A464C"/>
                </a:solidFill>
                <a:latin typeface="Calibri" pitchFamily="34" charset="0"/>
                <a:ea typeface="Calibri" pitchFamily="34" charset="-122"/>
                <a:cs typeface="Calibri" pitchFamily="34" charset="-120"/>
              </a:rPr>
              <a:t>toplu işleme, çoklu programlama, zaman paylaşımı</a:t>
            </a:r>
            <a:endParaRPr lang="tr-TR" sz="1200" dirty="0"/>
          </a:p>
        </p:txBody>
      </p:sp>
      <p:sp>
        <p:nvSpPr>
          <p:cNvPr id="11" name="Shape 9"/>
          <p:cNvSpPr/>
          <p:nvPr/>
        </p:nvSpPr>
        <p:spPr>
          <a:xfrm>
            <a:off x="2156460" y="1600200"/>
            <a:ext cx="1463040" cy="2240280"/>
          </a:xfrm>
          <a:prstGeom prst="roundRect">
            <a:avLst>
              <a:gd name="adj" fmla="val 3750"/>
            </a:avLst>
          </a:prstGeom>
          <a:solidFill>
            <a:srgbClr val="F2F2F2"/>
          </a:solidFill>
          <a:ln/>
        </p:spPr>
      </p:sp>
      <p:sp>
        <p:nvSpPr>
          <p:cNvPr id="12" name="Shape 10"/>
          <p:cNvSpPr/>
          <p:nvPr/>
        </p:nvSpPr>
        <p:spPr>
          <a:xfrm>
            <a:off x="2293620" y="1737360"/>
            <a:ext cx="685800" cy="384048"/>
          </a:xfrm>
          <a:prstGeom prst="roundRect">
            <a:avLst>
              <a:gd name="adj" fmla="val 11905"/>
            </a:avLst>
          </a:prstGeom>
          <a:solidFill>
            <a:srgbClr val="02C39A"/>
          </a:solidFill>
          <a:ln/>
        </p:spPr>
      </p:sp>
      <p:sp>
        <p:nvSpPr>
          <p:cNvPr id="13" name="Text 11"/>
          <p:cNvSpPr txBox="1"/>
          <p:nvPr/>
        </p:nvSpPr>
        <p:spPr>
          <a:xfrm>
            <a:off x="2293620" y="1737360"/>
            <a:ext cx="685800" cy="384048"/>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mbria" pitchFamily="34" charset="0"/>
                <a:ea typeface="Cambria" pitchFamily="34" charset="-122"/>
                <a:cs typeface="Cambria" pitchFamily="34" charset="-120"/>
              </a:rPr>
              <a:t>H2</a:t>
            </a:r>
            <a:endParaRPr lang="tr-TR" sz="1400" dirty="0"/>
          </a:p>
        </p:txBody>
      </p:sp>
      <p:sp>
        <p:nvSpPr>
          <p:cNvPr id="14" name="Text 12"/>
          <p:cNvSpPr txBox="1"/>
          <p:nvPr/>
        </p:nvSpPr>
        <p:spPr>
          <a:xfrm>
            <a:off x="2293620" y="2212848"/>
            <a:ext cx="1188720" cy="566928"/>
          </a:xfrm>
          <a:prstGeom prst="rect">
            <a:avLst/>
          </a:prstGeom>
          <a:noFill/>
          <a:ln/>
        </p:spPr>
        <p:txBody>
          <a:bodyPr wrap="square" lIns="0" tIns="0" rIns="0" bIns="0" rtlCol="0" anchor="t"/>
          <a:lstStyle/>
          <a:p>
            <a:pPr indent="0" marL="0">
              <a:buNone/>
            </a:pPr>
            <a:r>
              <a:rPr lang="tr-TR" sz="1300" b="1" dirty="0">
                <a:solidFill>
                  <a:srgbClr val="36454F"/>
                </a:solidFill>
                <a:latin typeface="Cambria" pitchFamily="34" charset="0"/>
                <a:ea typeface="Cambria" pitchFamily="34" charset="-122"/>
                <a:cs typeface="Cambria" pitchFamily="34" charset="-120"/>
              </a:rPr>
              <a:t>Temeller</a:t>
            </a:r>
            <a:endParaRPr lang="tr-TR" sz="1300" dirty="0"/>
          </a:p>
        </p:txBody>
      </p:sp>
      <p:sp>
        <p:nvSpPr>
          <p:cNvPr id="15" name="Text 13"/>
          <p:cNvSpPr txBox="1"/>
          <p:nvPr/>
        </p:nvSpPr>
        <p:spPr>
          <a:xfrm>
            <a:off x="2293620" y="2788920"/>
            <a:ext cx="1188720" cy="960120"/>
          </a:xfrm>
          <a:prstGeom prst="rect">
            <a:avLst/>
          </a:prstGeom>
          <a:noFill/>
          <a:ln/>
        </p:spPr>
        <p:txBody>
          <a:bodyPr wrap="square" lIns="0" tIns="0" rIns="0" bIns="0" rtlCol="0" anchor="t"/>
          <a:lstStyle/>
          <a:p>
            <a:pPr indent="0" marL="0">
              <a:buNone/>
            </a:pPr>
            <a:r>
              <a:rPr lang="tr-TR" sz="1200" dirty="0">
                <a:solidFill>
                  <a:srgbClr val="3A464C"/>
                </a:solidFill>
                <a:latin typeface="Calibri" pitchFamily="34" charset="0"/>
                <a:ea typeface="Calibri" pitchFamily="34" charset="-122"/>
                <a:cs typeface="Calibri" pitchFamily="34" charset="-120"/>
              </a:rPr>
              <a:t>hedefler, kesmeler, ikili mod, yapılar</a:t>
            </a:r>
            <a:endParaRPr lang="tr-TR" sz="1200" dirty="0"/>
          </a:p>
        </p:txBody>
      </p:sp>
      <p:sp>
        <p:nvSpPr>
          <p:cNvPr id="16" name="Shape 14"/>
          <p:cNvSpPr/>
          <p:nvPr/>
        </p:nvSpPr>
        <p:spPr>
          <a:xfrm>
            <a:off x="3764280" y="1600200"/>
            <a:ext cx="1463040" cy="2240280"/>
          </a:xfrm>
          <a:prstGeom prst="roundRect">
            <a:avLst>
              <a:gd name="adj" fmla="val 3750"/>
            </a:avLst>
          </a:prstGeom>
          <a:solidFill>
            <a:srgbClr val="F2F2F2"/>
          </a:solidFill>
          <a:ln/>
        </p:spPr>
      </p:sp>
      <p:sp>
        <p:nvSpPr>
          <p:cNvPr id="17" name="Shape 15"/>
          <p:cNvSpPr/>
          <p:nvPr/>
        </p:nvSpPr>
        <p:spPr>
          <a:xfrm>
            <a:off x="3901440" y="1737360"/>
            <a:ext cx="685800" cy="384048"/>
          </a:xfrm>
          <a:prstGeom prst="roundRect">
            <a:avLst>
              <a:gd name="adj" fmla="val 11905"/>
            </a:avLst>
          </a:prstGeom>
          <a:solidFill>
            <a:srgbClr val="02C39A"/>
          </a:solidFill>
          <a:ln/>
        </p:spPr>
      </p:sp>
      <p:sp>
        <p:nvSpPr>
          <p:cNvPr id="18" name="Text 16"/>
          <p:cNvSpPr txBox="1"/>
          <p:nvPr/>
        </p:nvSpPr>
        <p:spPr>
          <a:xfrm>
            <a:off x="3901440" y="1737360"/>
            <a:ext cx="685800" cy="384048"/>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mbria" pitchFamily="34" charset="0"/>
                <a:ea typeface="Cambria" pitchFamily="34" charset="-122"/>
                <a:cs typeface="Cambria" pitchFamily="34" charset="-120"/>
              </a:rPr>
              <a:t>H3</a:t>
            </a:r>
            <a:endParaRPr lang="tr-TR" sz="1400" dirty="0"/>
          </a:p>
        </p:txBody>
      </p:sp>
      <p:sp>
        <p:nvSpPr>
          <p:cNvPr id="19" name="Text 17"/>
          <p:cNvSpPr txBox="1"/>
          <p:nvPr/>
        </p:nvSpPr>
        <p:spPr>
          <a:xfrm>
            <a:off x="3901440" y="2212848"/>
            <a:ext cx="1188720" cy="566928"/>
          </a:xfrm>
          <a:prstGeom prst="rect">
            <a:avLst/>
          </a:prstGeom>
          <a:noFill/>
          <a:ln/>
        </p:spPr>
        <p:txBody>
          <a:bodyPr wrap="square" lIns="0" tIns="0" rIns="0" bIns="0" rtlCol="0" anchor="t"/>
          <a:lstStyle/>
          <a:p>
            <a:pPr indent="0" marL="0">
              <a:buNone/>
            </a:pPr>
            <a:r>
              <a:rPr lang="tr-TR" sz="1300" b="1" dirty="0">
                <a:solidFill>
                  <a:srgbClr val="36454F"/>
                </a:solidFill>
                <a:latin typeface="Cambria" pitchFamily="34" charset="0"/>
                <a:ea typeface="Cambria" pitchFamily="34" charset="-122"/>
                <a:cs typeface="Cambria" pitchFamily="34" charset="-120"/>
              </a:rPr>
              <a:t>Süreçler</a:t>
            </a:r>
            <a:endParaRPr lang="tr-TR" sz="1300" dirty="0"/>
          </a:p>
        </p:txBody>
      </p:sp>
      <p:sp>
        <p:nvSpPr>
          <p:cNvPr id="20" name="Text 18"/>
          <p:cNvSpPr txBox="1"/>
          <p:nvPr/>
        </p:nvSpPr>
        <p:spPr>
          <a:xfrm>
            <a:off x="3901440" y="2788920"/>
            <a:ext cx="1188720" cy="960120"/>
          </a:xfrm>
          <a:prstGeom prst="rect">
            <a:avLst/>
          </a:prstGeom>
          <a:noFill/>
          <a:ln/>
        </p:spPr>
        <p:txBody>
          <a:bodyPr wrap="square" lIns="0" tIns="0" rIns="0" bIns="0" rtlCol="0" anchor="t"/>
          <a:lstStyle/>
          <a:p>
            <a:pPr indent="0" marL="0">
              <a:buNone/>
            </a:pPr>
            <a:r>
              <a:rPr lang="tr-TR" sz="1200" dirty="0">
                <a:solidFill>
                  <a:srgbClr val="3A464C"/>
                </a:solidFill>
                <a:latin typeface="Calibri" pitchFamily="34" charset="0"/>
                <a:ea typeface="Calibri" pitchFamily="34" charset="-122"/>
                <a:cs typeface="Calibri" pitchFamily="34" charset="-120"/>
              </a:rPr>
              <a:t>sistem çağrıları, durumlar, PCB, fork()</a:t>
            </a:r>
            <a:endParaRPr lang="tr-TR" sz="1200" dirty="0"/>
          </a:p>
        </p:txBody>
      </p:sp>
      <p:sp>
        <p:nvSpPr>
          <p:cNvPr id="21" name="Shape 19"/>
          <p:cNvSpPr/>
          <p:nvPr/>
        </p:nvSpPr>
        <p:spPr>
          <a:xfrm>
            <a:off x="5372100" y="1600200"/>
            <a:ext cx="1463040" cy="2240280"/>
          </a:xfrm>
          <a:prstGeom prst="roundRect">
            <a:avLst>
              <a:gd name="adj" fmla="val 3750"/>
            </a:avLst>
          </a:prstGeom>
          <a:solidFill>
            <a:srgbClr val="F2F2F2"/>
          </a:solidFill>
          <a:ln/>
        </p:spPr>
      </p:sp>
      <p:sp>
        <p:nvSpPr>
          <p:cNvPr id="22" name="Shape 20"/>
          <p:cNvSpPr/>
          <p:nvPr/>
        </p:nvSpPr>
        <p:spPr>
          <a:xfrm>
            <a:off x="5509260" y="1737360"/>
            <a:ext cx="685800" cy="384048"/>
          </a:xfrm>
          <a:prstGeom prst="roundRect">
            <a:avLst>
              <a:gd name="adj" fmla="val 11905"/>
            </a:avLst>
          </a:prstGeom>
          <a:solidFill>
            <a:srgbClr val="02C39A"/>
          </a:solidFill>
          <a:ln/>
        </p:spPr>
      </p:sp>
      <p:sp>
        <p:nvSpPr>
          <p:cNvPr id="23" name="Text 21"/>
          <p:cNvSpPr txBox="1"/>
          <p:nvPr/>
        </p:nvSpPr>
        <p:spPr>
          <a:xfrm>
            <a:off x="5509260" y="1737360"/>
            <a:ext cx="685800" cy="384048"/>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mbria" pitchFamily="34" charset="0"/>
                <a:ea typeface="Cambria" pitchFamily="34" charset="-122"/>
                <a:cs typeface="Cambria" pitchFamily="34" charset="-120"/>
              </a:rPr>
              <a:t>H4</a:t>
            </a:r>
            <a:endParaRPr lang="tr-TR" sz="1400" dirty="0"/>
          </a:p>
        </p:txBody>
      </p:sp>
      <p:sp>
        <p:nvSpPr>
          <p:cNvPr id="24" name="Text 22"/>
          <p:cNvSpPr txBox="1"/>
          <p:nvPr/>
        </p:nvSpPr>
        <p:spPr>
          <a:xfrm>
            <a:off x="5509260" y="2212848"/>
            <a:ext cx="1188720" cy="566928"/>
          </a:xfrm>
          <a:prstGeom prst="rect">
            <a:avLst/>
          </a:prstGeom>
          <a:noFill/>
          <a:ln/>
        </p:spPr>
        <p:txBody>
          <a:bodyPr wrap="square" lIns="0" tIns="0" rIns="0" bIns="0" rtlCol="0" anchor="t"/>
          <a:lstStyle/>
          <a:p>
            <a:pPr indent="0" marL="0">
              <a:buNone/>
            </a:pPr>
            <a:r>
              <a:rPr lang="tr-TR" sz="1300" b="1" dirty="0">
                <a:solidFill>
                  <a:srgbClr val="36454F"/>
                </a:solidFill>
                <a:latin typeface="Cambria" pitchFamily="34" charset="0"/>
                <a:ea typeface="Cambria" pitchFamily="34" charset="-122"/>
                <a:cs typeface="Cambria" pitchFamily="34" charset="-120"/>
              </a:rPr>
              <a:t>İş parçacıkları</a:t>
            </a:r>
            <a:endParaRPr lang="tr-TR" sz="1300" dirty="0"/>
          </a:p>
        </p:txBody>
      </p:sp>
      <p:sp>
        <p:nvSpPr>
          <p:cNvPr id="25" name="Text 23"/>
          <p:cNvSpPr txBox="1"/>
          <p:nvPr/>
        </p:nvSpPr>
        <p:spPr>
          <a:xfrm>
            <a:off x="5509260" y="2788920"/>
            <a:ext cx="1188720" cy="960120"/>
          </a:xfrm>
          <a:prstGeom prst="rect">
            <a:avLst/>
          </a:prstGeom>
          <a:noFill/>
          <a:ln/>
        </p:spPr>
        <p:txBody>
          <a:bodyPr wrap="square" lIns="0" tIns="0" rIns="0" bIns="0" rtlCol="0" anchor="t"/>
          <a:lstStyle/>
          <a:p>
            <a:pPr indent="0" marL="0">
              <a:buNone/>
            </a:pPr>
            <a:r>
              <a:rPr lang="tr-TR" sz="1200" dirty="0">
                <a:solidFill>
                  <a:srgbClr val="3A464C"/>
                </a:solidFill>
                <a:latin typeface="Calibri" pitchFamily="34" charset="0"/>
                <a:ea typeface="Calibri" pitchFamily="34" charset="-122"/>
                <a:cs typeface="Calibri" pitchFamily="34" charset="-120"/>
              </a:rPr>
              <a:t>modeller, Amdahl, zamanlama ölçütleri</a:t>
            </a:r>
            <a:endParaRPr lang="tr-TR" sz="1200" dirty="0"/>
          </a:p>
        </p:txBody>
      </p:sp>
      <p:sp>
        <p:nvSpPr>
          <p:cNvPr id="26" name="Shape 24"/>
          <p:cNvSpPr/>
          <p:nvPr/>
        </p:nvSpPr>
        <p:spPr>
          <a:xfrm>
            <a:off x="6979920" y="1600200"/>
            <a:ext cx="1463040" cy="2240280"/>
          </a:xfrm>
          <a:prstGeom prst="roundRect">
            <a:avLst>
              <a:gd name="adj" fmla="val 3750"/>
            </a:avLst>
          </a:prstGeom>
          <a:solidFill>
            <a:srgbClr val="F2F2F2"/>
          </a:solidFill>
          <a:ln/>
        </p:spPr>
      </p:sp>
      <p:sp>
        <p:nvSpPr>
          <p:cNvPr id="27" name="Shape 25"/>
          <p:cNvSpPr/>
          <p:nvPr/>
        </p:nvSpPr>
        <p:spPr>
          <a:xfrm>
            <a:off x="7117080" y="1737360"/>
            <a:ext cx="685800" cy="384048"/>
          </a:xfrm>
          <a:prstGeom prst="roundRect">
            <a:avLst>
              <a:gd name="adj" fmla="val 11905"/>
            </a:avLst>
          </a:prstGeom>
          <a:solidFill>
            <a:srgbClr val="02C39A"/>
          </a:solidFill>
          <a:ln/>
        </p:spPr>
      </p:sp>
      <p:sp>
        <p:nvSpPr>
          <p:cNvPr id="28" name="Text 26"/>
          <p:cNvSpPr txBox="1"/>
          <p:nvPr/>
        </p:nvSpPr>
        <p:spPr>
          <a:xfrm>
            <a:off x="7117080" y="1737360"/>
            <a:ext cx="685800" cy="384048"/>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mbria" pitchFamily="34" charset="0"/>
                <a:ea typeface="Cambria" pitchFamily="34" charset="-122"/>
                <a:cs typeface="Cambria" pitchFamily="34" charset="-120"/>
              </a:rPr>
              <a:t>H5</a:t>
            </a:r>
            <a:endParaRPr lang="tr-TR" sz="1400" dirty="0"/>
          </a:p>
        </p:txBody>
      </p:sp>
      <p:sp>
        <p:nvSpPr>
          <p:cNvPr id="29" name="Text 27"/>
          <p:cNvSpPr txBox="1"/>
          <p:nvPr/>
        </p:nvSpPr>
        <p:spPr>
          <a:xfrm>
            <a:off x="7117080" y="2212848"/>
            <a:ext cx="1188720" cy="566928"/>
          </a:xfrm>
          <a:prstGeom prst="rect">
            <a:avLst/>
          </a:prstGeom>
          <a:noFill/>
          <a:ln/>
        </p:spPr>
        <p:txBody>
          <a:bodyPr wrap="square" lIns="0" tIns="0" rIns="0" bIns="0" rtlCol="0" anchor="t"/>
          <a:lstStyle/>
          <a:p>
            <a:pPr indent="0" marL="0">
              <a:buNone/>
            </a:pPr>
            <a:r>
              <a:rPr lang="tr-TR" sz="1300" b="1" dirty="0">
                <a:solidFill>
                  <a:srgbClr val="36454F"/>
                </a:solidFill>
                <a:latin typeface="Cambria" pitchFamily="34" charset="0"/>
                <a:ea typeface="Cambria" pitchFamily="34" charset="-122"/>
                <a:cs typeface="Cambria" pitchFamily="34" charset="-120"/>
              </a:rPr>
              <a:t>Zamanlama, eşzamanlama</a:t>
            </a:r>
            <a:endParaRPr lang="tr-TR" sz="1300" dirty="0"/>
          </a:p>
        </p:txBody>
      </p:sp>
      <p:sp>
        <p:nvSpPr>
          <p:cNvPr id="30" name="Text 28"/>
          <p:cNvSpPr txBox="1"/>
          <p:nvPr/>
        </p:nvSpPr>
        <p:spPr>
          <a:xfrm>
            <a:off x="7117080" y="2788920"/>
            <a:ext cx="1188720" cy="960120"/>
          </a:xfrm>
          <a:prstGeom prst="rect">
            <a:avLst/>
          </a:prstGeom>
          <a:noFill/>
          <a:ln/>
        </p:spPr>
        <p:txBody>
          <a:bodyPr wrap="square" lIns="0" tIns="0" rIns="0" bIns="0" rtlCol="0" anchor="t"/>
          <a:lstStyle/>
          <a:p>
            <a:pPr indent="0" marL="0">
              <a:buNone/>
            </a:pPr>
            <a:r>
              <a:rPr lang="tr-TR" sz="1200" dirty="0">
                <a:solidFill>
                  <a:srgbClr val="3A464C"/>
                </a:solidFill>
                <a:latin typeface="Calibri" pitchFamily="34" charset="0"/>
                <a:ea typeface="Calibri" pitchFamily="34" charset="-122"/>
                <a:cs typeface="Calibri" pitchFamily="34" charset="-120"/>
              </a:rPr>
              <a:t>FCFS … RR, muteks, semaforlar</a:t>
            </a:r>
            <a:endParaRPr lang="tr-TR" sz="1200" dirty="0"/>
          </a:p>
        </p:txBody>
      </p:sp>
      <p:sp>
        <p:nvSpPr>
          <p:cNvPr id="31" name="Shape 29"/>
          <p:cNvSpPr/>
          <p:nvPr/>
        </p:nvSpPr>
        <p:spPr>
          <a:xfrm>
            <a:off x="8587740" y="1600200"/>
            <a:ext cx="1463040" cy="2240280"/>
          </a:xfrm>
          <a:prstGeom prst="roundRect">
            <a:avLst>
              <a:gd name="adj" fmla="val 3750"/>
            </a:avLst>
          </a:prstGeom>
          <a:solidFill>
            <a:srgbClr val="F2F2F2"/>
          </a:solidFill>
          <a:ln/>
        </p:spPr>
      </p:sp>
      <p:sp>
        <p:nvSpPr>
          <p:cNvPr id="32" name="Shape 30"/>
          <p:cNvSpPr/>
          <p:nvPr/>
        </p:nvSpPr>
        <p:spPr>
          <a:xfrm>
            <a:off x="8724900" y="1737360"/>
            <a:ext cx="685800" cy="384048"/>
          </a:xfrm>
          <a:prstGeom prst="roundRect">
            <a:avLst>
              <a:gd name="adj" fmla="val 11905"/>
            </a:avLst>
          </a:prstGeom>
          <a:solidFill>
            <a:srgbClr val="02C39A"/>
          </a:solidFill>
          <a:ln/>
        </p:spPr>
      </p:sp>
      <p:sp>
        <p:nvSpPr>
          <p:cNvPr id="33" name="Text 31"/>
          <p:cNvSpPr txBox="1"/>
          <p:nvPr/>
        </p:nvSpPr>
        <p:spPr>
          <a:xfrm>
            <a:off x="8724900" y="1737360"/>
            <a:ext cx="685800" cy="384048"/>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mbria" pitchFamily="34" charset="0"/>
                <a:ea typeface="Cambria" pitchFamily="34" charset="-122"/>
                <a:cs typeface="Cambria" pitchFamily="34" charset="-120"/>
              </a:rPr>
              <a:t>H6</a:t>
            </a:r>
            <a:endParaRPr lang="tr-TR" sz="1400" dirty="0"/>
          </a:p>
        </p:txBody>
      </p:sp>
      <p:sp>
        <p:nvSpPr>
          <p:cNvPr id="34" name="Text 32"/>
          <p:cNvSpPr txBox="1"/>
          <p:nvPr/>
        </p:nvSpPr>
        <p:spPr>
          <a:xfrm>
            <a:off x="8724900" y="2212848"/>
            <a:ext cx="1188720" cy="566928"/>
          </a:xfrm>
          <a:prstGeom prst="rect">
            <a:avLst/>
          </a:prstGeom>
          <a:noFill/>
          <a:ln/>
        </p:spPr>
        <p:txBody>
          <a:bodyPr wrap="square" lIns="0" tIns="0" rIns="0" bIns="0" rtlCol="0" anchor="t"/>
          <a:lstStyle/>
          <a:p>
            <a:pPr indent="0" marL="0">
              <a:buNone/>
            </a:pPr>
            <a:r>
              <a:rPr lang="tr-TR" sz="1300" b="1" dirty="0">
                <a:solidFill>
                  <a:srgbClr val="36454F"/>
                </a:solidFill>
                <a:latin typeface="Cambria" pitchFamily="34" charset="0"/>
                <a:ea typeface="Cambria" pitchFamily="34" charset="-122"/>
                <a:cs typeface="Cambria" pitchFamily="34" charset="-120"/>
              </a:rPr>
              <a:t>Bellek</a:t>
            </a:r>
            <a:endParaRPr lang="tr-TR" sz="1300" dirty="0"/>
          </a:p>
        </p:txBody>
      </p:sp>
      <p:sp>
        <p:nvSpPr>
          <p:cNvPr id="35" name="Text 33"/>
          <p:cNvSpPr txBox="1"/>
          <p:nvPr/>
        </p:nvSpPr>
        <p:spPr>
          <a:xfrm>
            <a:off x="8724900" y="2788920"/>
            <a:ext cx="1188720" cy="960120"/>
          </a:xfrm>
          <a:prstGeom prst="rect">
            <a:avLst/>
          </a:prstGeom>
          <a:noFill/>
          <a:ln/>
        </p:spPr>
        <p:txBody>
          <a:bodyPr wrap="square" lIns="0" tIns="0" rIns="0" bIns="0" rtlCol="0" anchor="t"/>
          <a:lstStyle/>
          <a:p>
            <a:pPr indent="0" marL="0">
              <a:buNone/>
            </a:pPr>
            <a:r>
              <a:rPr lang="tr-TR" sz="1200" dirty="0">
                <a:solidFill>
                  <a:srgbClr val="3A464C"/>
                </a:solidFill>
                <a:latin typeface="Calibri" pitchFamily="34" charset="0"/>
                <a:ea typeface="Calibri" pitchFamily="34" charset="-122"/>
                <a:cs typeface="Calibri" pitchFamily="34" charset="-120"/>
              </a:rPr>
              <a:t>MMU, parçalanma, sayfalama, TLB</a:t>
            </a:r>
            <a:endParaRPr lang="tr-TR" sz="1200" dirty="0"/>
          </a:p>
        </p:txBody>
      </p:sp>
      <p:sp>
        <p:nvSpPr>
          <p:cNvPr id="36" name="Shape 34"/>
          <p:cNvSpPr/>
          <p:nvPr/>
        </p:nvSpPr>
        <p:spPr>
          <a:xfrm>
            <a:off x="10195560" y="1600200"/>
            <a:ext cx="1463040" cy="2240280"/>
          </a:xfrm>
          <a:prstGeom prst="roundRect">
            <a:avLst>
              <a:gd name="adj" fmla="val 3750"/>
            </a:avLst>
          </a:prstGeom>
          <a:solidFill>
            <a:srgbClr val="F2F2F2"/>
          </a:solidFill>
          <a:ln/>
        </p:spPr>
      </p:sp>
      <p:sp>
        <p:nvSpPr>
          <p:cNvPr id="37" name="Shape 35"/>
          <p:cNvSpPr/>
          <p:nvPr/>
        </p:nvSpPr>
        <p:spPr>
          <a:xfrm>
            <a:off x="10332720" y="1737360"/>
            <a:ext cx="685800" cy="384048"/>
          </a:xfrm>
          <a:prstGeom prst="roundRect">
            <a:avLst>
              <a:gd name="adj" fmla="val 11905"/>
            </a:avLst>
          </a:prstGeom>
          <a:solidFill>
            <a:srgbClr val="02C39A"/>
          </a:solidFill>
          <a:ln/>
        </p:spPr>
      </p:sp>
      <p:sp>
        <p:nvSpPr>
          <p:cNvPr id="38" name="Text 36"/>
          <p:cNvSpPr txBox="1"/>
          <p:nvPr/>
        </p:nvSpPr>
        <p:spPr>
          <a:xfrm>
            <a:off x="10332720" y="1737360"/>
            <a:ext cx="685800" cy="384048"/>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mbria" pitchFamily="34" charset="0"/>
                <a:ea typeface="Cambria" pitchFamily="34" charset="-122"/>
                <a:cs typeface="Cambria" pitchFamily="34" charset="-120"/>
              </a:rPr>
              <a:t>H7</a:t>
            </a:r>
            <a:endParaRPr lang="tr-TR" sz="1400" dirty="0"/>
          </a:p>
        </p:txBody>
      </p:sp>
      <p:sp>
        <p:nvSpPr>
          <p:cNvPr id="39" name="Text 37"/>
          <p:cNvSpPr txBox="1"/>
          <p:nvPr/>
        </p:nvSpPr>
        <p:spPr>
          <a:xfrm>
            <a:off x="10332720" y="2212848"/>
            <a:ext cx="1188720" cy="566928"/>
          </a:xfrm>
          <a:prstGeom prst="rect">
            <a:avLst/>
          </a:prstGeom>
          <a:noFill/>
          <a:ln/>
        </p:spPr>
        <p:txBody>
          <a:bodyPr wrap="square" lIns="0" tIns="0" rIns="0" bIns="0" rtlCol="0" anchor="t"/>
          <a:lstStyle/>
          <a:p>
            <a:pPr indent="0" marL="0">
              <a:buNone/>
            </a:pPr>
            <a:r>
              <a:rPr lang="tr-TR" sz="1300" b="1" dirty="0">
                <a:solidFill>
                  <a:srgbClr val="36454F"/>
                </a:solidFill>
                <a:latin typeface="Cambria" pitchFamily="34" charset="0"/>
                <a:ea typeface="Cambria" pitchFamily="34" charset="-122"/>
                <a:cs typeface="Cambria" pitchFamily="34" charset="-120"/>
              </a:rPr>
              <a:t>SB ve dosyalar</a:t>
            </a:r>
            <a:endParaRPr lang="tr-TR" sz="1300" dirty="0"/>
          </a:p>
        </p:txBody>
      </p:sp>
      <p:sp>
        <p:nvSpPr>
          <p:cNvPr id="40" name="Text 38"/>
          <p:cNvSpPr txBox="1"/>
          <p:nvPr/>
        </p:nvSpPr>
        <p:spPr>
          <a:xfrm>
            <a:off x="10332720" y="2788920"/>
            <a:ext cx="1188720" cy="960120"/>
          </a:xfrm>
          <a:prstGeom prst="rect">
            <a:avLst/>
          </a:prstGeom>
          <a:noFill/>
          <a:ln/>
        </p:spPr>
        <p:txBody>
          <a:bodyPr wrap="square" lIns="0" tIns="0" rIns="0" bIns="0" rtlCol="0" anchor="t"/>
          <a:lstStyle/>
          <a:p>
            <a:pPr indent="0" marL="0">
              <a:buNone/>
            </a:pPr>
            <a:r>
              <a:rPr lang="tr-TR" sz="1200" dirty="0">
                <a:solidFill>
                  <a:srgbClr val="3A464C"/>
                </a:solidFill>
                <a:latin typeface="Calibri" pitchFamily="34" charset="0"/>
                <a:ea typeface="Calibri" pitchFamily="34" charset="-122"/>
                <a:cs typeface="Calibri" pitchFamily="34" charset="-120"/>
              </a:rPr>
              <a:t>sayfa hataları, FIFO/OPT/LRU, dizinler</a:t>
            </a:r>
            <a:endParaRPr lang="tr-TR" sz="1200" dirty="0"/>
          </a:p>
        </p:txBody>
      </p:sp>
      <p:sp>
        <p:nvSpPr>
          <p:cNvPr id="41" name="Text 39"/>
          <p:cNvSpPr txBox="1"/>
          <p:nvPr/>
        </p:nvSpPr>
        <p:spPr>
          <a:xfrm>
            <a:off x="548640" y="3931920"/>
            <a:ext cx="11109960" cy="320040"/>
          </a:xfrm>
          <a:prstGeom prst="rect">
            <a:avLst/>
          </a:prstGeom>
          <a:noFill/>
          <a:ln/>
        </p:spPr>
        <p:txBody>
          <a:bodyPr wrap="square" lIns="0" tIns="0" rIns="0" bIns="0" rtlCol="0" anchor="t"/>
          <a:lstStyle/>
          <a:p>
            <a:pPr algn="ctr" indent="0" marL="0">
              <a:buNone/>
            </a:pPr>
            <a:r>
              <a:rPr lang="tr-TR" sz="1300" i="1" dirty="0">
                <a:solidFill>
                  <a:srgbClr val="028090"/>
                </a:solidFill>
                <a:latin typeface="Calibri" pitchFamily="34" charset="0"/>
                <a:ea typeface="Calibri" pitchFamily="34" charset="-122"/>
                <a:cs typeface="Calibri" pitchFamily="34" charset="-120"/>
              </a:rPr>
              <a:t>Kuram: 1–7. haftalar  —  hepsi vizede</a:t>
            </a:r>
            <a:endParaRPr lang="tr-TR" sz="1300" dirty="0"/>
          </a:p>
        </p:txBody>
      </p:sp>
      <p:sp>
        <p:nvSpPr>
          <p:cNvPr id="42" name="Shape 40"/>
          <p:cNvSpPr/>
          <p:nvPr/>
        </p:nvSpPr>
        <p:spPr>
          <a:xfrm>
            <a:off x="548640" y="4434840"/>
            <a:ext cx="2651760" cy="1143000"/>
          </a:xfrm>
          <a:prstGeom prst="roundRect">
            <a:avLst>
              <a:gd name="adj" fmla="val 4800"/>
            </a:avLst>
          </a:prstGeom>
          <a:solidFill>
            <a:srgbClr val="36454F"/>
          </a:solidFill>
          <a:ln/>
        </p:spPr>
      </p:sp>
      <p:sp>
        <p:nvSpPr>
          <p:cNvPr id="43" name="Text 41"/>
          <p:cNvSpPr txBox="1"/>
          <p:nvPr/>
        </p:nvSpPr>
        <p:spPr>
          <a:xfrm>
            <a:off x="777240" y="4434840"/>
            <a:ext cx="2194560" cy="1143000"/>
          </a:xfrm>
          <a:prstGeom prst="rect">
            <a:avLst/>
          </a:prstGeom>
          <a:noFill/>
          <a:ln/>
        </p:spPr>
        <p:txBody>
          <a:bodyPr wrap="square" lIns="0" tIns="0" rIns="0" bIns="0" rtlCol="0" anchor="ctr"/>
          <a:lstStyle/>
          <a:p>
            <a:pPr indent="0" marL="0">
              <a:buNone/>
            </a:pPr>
            <a:r>
              <a:rPr lang="tr-TR" sz="1600" b="1" dirty="0">
                <a:solidFill>
                  <a:srgbClr val="02C39A"/>
                </a:solidFill>
                <a:latin typeface="Cambria" pitchFamily="34" charset="0"/>
                <a:ea typeface="Cambria" pitchFamily="34" charset="-122"/>
                <a:cs typeface="Cambria" pitchFamily="34" charset="-120"/>
              </a:rPr>
              <a:t>H8   </a:t>
            </a:r>
            <a:r>
              <a:rPr lang="tr-TR" sz="1600" b="1" dirty="0">
                <a:solidFill>
                  <a:srgbClr val="FFFFFF"/>
                </a:solidFill>
                <a:latin typeface="Cambria" pitchFamily="34" charset="0"/>
                <a:ea typeface="Cambria" pitchFamily="34" charset="-122"/>
                <a:cs typeface="Cambria" pitchFamily="34" charset="-120"/>
              </a:rPr>
              <a:t>Vize sınavı</a:t>
            </a:r>
            <a:endParaRPr lang="tr-TR" sz="1400" dirty="0"/>
          </a:p>
          <a:p>
            <a:pPr indent="0" marL="0">
              <a:buNone/>
            </a:pPr>
            <a:r>
              <a:rPr lang="tr-TR" sz="1250" dirty="0">
                <a:solidFill>
                  <a:srgbClr val="F2F2F2"/>
                </a:solidFill>
                <a:latin typeface="Calibri" pitchFamily="34" charset="0"/>
                <a:ea typeface="Calibri" pitchFamily="34" charset="-122"/>
                <a:cs typeface="Calibri" pitchFamily="34" charset="-120"/>
              </a:rPr>
              <a:t>bugün: tekrar ve alıştırma</a:t>
            </a:r>
            <a:endParaRPr lang="tr-TR" sz="1400" dirty="0"/>
          </a:p>
        </p:txBody>
      </p:sp>
      <p:sp>
        <p:nvSpPr>
          <p:cNvPr id="44" name="Shape 42"/>
          <p:cNvSpPr/>
          <p:nvPr/>
        </p:nvSpPr>
        <p:spPr>
          <a:xfrm>
            <a:off x="3383280" y="4434840"/>
            <a:ext cx="5715000" cy="1143000"/>
          </a:xfrm>
          <a:prstGeom prst="roundRect">
            <a:avLst>
              <a:gd name="adj" fmla="val 4800"/>
            </a:avLst>
          </a:prstGeom>
          <a:solidFill>
            <a:srgbClr val="F2F2F2"/>
          </a:solidFill>
          <a:ln/>
        </p:spPr>
      </p:sp>
      <p:sp>
        <p:nvSpPr>
          <p:cNvPr id="45" name="Text 43"/>
          <p:cNvSpPr txBox="1"/>
          <p:nvPr/>
        </p:nvSpPr>
        <p:spPr>
          <a:xfrm>
            <a:off x="3611880" y="4434840"/>
            <a:ext cx="5257800" cy="1143000"/>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H9–H14   </a:t>
            </a:r>
            <a:r>
              <a:rPr lang="tr-TR" sz="1600" b="1" dirty="0">
                <a:solidFill>
                  <a:srgbClr val="36454F"/>
                </a:solidFill>
                <a:latin typeface="Cambria" pitchFamily="34" charset="0"/>
                <a:ea typeface="Cambria" pitchFamily="34" charset="-122"/>
                <a:cs typeface="Cambria" pitchFamily="34" charset="-120"/>
              </a:rPr>
              <a:t>Uygulamalı Linux</a:t>
            </a:r>
            <a:endParaRPr lang="tr-TR" sz="1400" dirty="0"/>
          </a:p>
          <a:p>
            <a:pPr indent="0" marL="0">
              <a:buNone/>
            </a:pPr>
            <a:r>
              <a:rPr lang="tr-TR" sz="1250" dirty="0">
                <a:solidFill>
                  <a:srgbClr val="3A464C"/>
                </a:solidFill>
                <a:latin typeface="Calibri" pitchFamily="34" charset="0"/>
                <a:ea typeface="Calibri" pitchFamily="34" charset="-122"/>
                <a:cs typeface="Calibri" pitchFamily="34" charset="-120"/>
              </a:rPr>
              <a:t>kabuk, dosyalar, izinler, borular, süreçler, betikler</a:t>
            </a:r>
            <a:endParaRPr lang="tr-TR" sz="1400" dirty="0"/>
          </a:p>
        </p:txBody>
      </p:sp>
      <p:sp>
        <p:nvSpPr>
          <p:cNvPr id="46" name="Shape 44"/>
          <p:cNvSpPr/>
          <p:nvPr/>
        </p:nvSpPr>
        <p:spPr>
          <a:xfrm>
            <a:off x="9281160" y="4434840"/>
            <a:ext cx="2377440" cy="1143000"/>
          </a:xfrm>
          <a:prstGeom prst="roundRect">
            <a:avLst>
              <a:gd name="adj" fmla="val 4800"/>
            </a:avLst>
          </a:prstGeom>
          <a:solidFill>
            <a:srgbClr val="F2F2F2"/>
          </a:solidFill>
          <a:ln/>
        </p:spPr>
      </p:sp>
      <p:sp>
        <p:nvSpPr>
          <p:cNvPr id="47" name="Text 45"/>
          <p:cNvSpPr txBox="1"/>
          <p:nvPr/>
        </p:nvSpPr>
        <p:spPr>
          <a:xfrm>
            <a:off x="9509760" y="4434840"/>
            <a:ext cx="1920240" cy="1143000"/>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H15   </a:t>
            </a:r>
            <a:r>
              <a:rPr lang="tr-TR" sz="1600" b="1" dirty="0">
                <a:solidFill>
                  <a:srgbClr val="36454F"/>
                </a:solidFill>
                <a:latin typeface="Cambria" pitchFamily="34" charset="0"/>
                <a:ea typeface="Cambria" pitchFamily="34" charset="-122"/>
                <a:cs typeface="Cambria" pitchFamily="34" charset="-120"/>
              </a:rPr>
              <a:t>Final sınavı</a:t>
            </a:r>
            <a:endParaRPr lang="tr-TR" sz="1400" dirty="0"/>
          </a:p>
          <a:p>
            <a:pPr indent="0" marL="0">
              <a:buNone/>
            </a:pPr>
            <a:r>
              <a:rPr lang="tr-TR" sz="1250" dirty="0">
                <a:solidFill>
                  <a:srgbClr val="3A464C"/>
                </a:solidFill>
                <a:latin typeface="Calibri" pitchFamily="34" charset="0"/>
                <a:ea typeface="Calibri" pitchFamily="34" charset="-122"/>
                <a:cs typeface="Calibri" pitchFamily="34" charset="-120"/>
              </a:rPr>
              <a:t>dersin tamamı</a:t>
            </a:r>
            <a:endParaRPr lang="tr-TR" sz="1400" dirty="0"/>
          </a:p>
        </p:txBody>
      </p:sp>
      <p:sp>
        <p:nvSpPr>
          <p:cNvPr id="48" name="Text 46"/>
          <p:cNvSpPr txBox="1"/>
          <p:nvPr/>
        </p:nvSpPr>
        <p:spPr>
          <a:xfrm>
            <a:off x="548640" y="5669280"/>
            <a:ext cx="2651760" cy="320040"/>
          </a:xfrm>
          <a:prstGeom prst="rect">
            <a:avLst/>
          </a:prstGeom>
          <a:noFill/>
          <a:ln/>
        </p:spPr>
        <p:txBody>
          <a:bodyPr wrap="square" lIns="0" tIns="0" rIns="0" bIns="0" rtlCol="0" anchor="t"/>
          <a:lstStyle/>
          <a:p>
            <a:pPr algn="ctr" indent="0" marL="0">
              <a:buNone/>
            </a:pPr>
            <a:r>
              <a:rPr lang="tr-TR" sz="1300" b="1" dirty="0">
                <a:solidFill>
                  <a:srgbClr val="B5453A"/>
                </a:solidFill>
                <a:latin typeface="Calibri" pitchFamily="34" charset="0"/>
                <a:ea typeface="Calibri" pitchFamily="34" charset="-122"/>
                <a:cs typeface="Calibri" pitchFamily="34" charset="-120"/>
              </a:rPr>
              <a:t>Buradasınız ↑</a:t>
            </a:r>
            <a:endParaRPr lang="tr-TR"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HAFTA 8</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Bugünün Gündemi</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8  ·  3</a:t>
            </a:r>
            <a:endParaRPr lang="tr-TR" sz="900" dirty="0"/>
          </a:p>
        </p:txBody>
      </p:sp>
      <p:sp>
        <p:nvSpPr>
          <p:cNvPr id="6" name="Shape 4"/>
          <p:cNvSpPr/>
          <p:nvPr/>
        </p:nvSpPr>
        <p:spPr>
          <a:xfrm>
            <a:off x="548640" y="1508760"/>
            <a:ext cx="658368" cy="658368"/>
          </a:xfrm>
          <a:prstGeom prst="roundRect">
            <a:avLst>
              <a:gd name="adj" fmla="val 6944"/>
            </a:avLst>
          </a:prstGeom>
          <a:solidFill>
            <a:srgbClr val="02C39A"/>
          </a:solidFill>
          <a:ln/>
        </p:spPr>
      </p:sp>
      <p:sp>
        <p:nvSpPr>
          <p:cNvPr id="7" name="Text 5"/>
          <p:cNvSpPr txBox="1"/>
          <p:nvPr/>
        </p:nvSpPr>
        <p:spPr>
          <a:xfrm>
            <a:off x="548640" y="1508760"/>
            <a:ext cx="658368" cy="658368"/>
          </a:xfrm>
          <a:prstGeom prst="rect">
            <a:avLst/>
          </a:prstGeom>
          <a:noFill/>
          <a:ln/>
        </p:spPr>
        <p:txBody>
          <a:bodyPr wrap="square" lIns="38100" tIns="38100" rIns="38100" bIns="38100" rtlCol="0" anchor="ctr"/>
          <a:lstStyle/>
          <a:p>
            <a:pPr algn="ctr" indent="0" marL="0">
              <a:buNone/>
            </a:pPr>
            <a:r>
              <a:rPr lang="tr-TR" sz="2000" b="1" dirty="0">
                <a:solidFill>
                  <a:srgbClr val="36454F"/>
                </a:solidFill>
                <a:latin typeface="Cambria" pitchFamily="34" charset="0"/>
                <a:ea typeface="Cambria" pitchFamily="34" charset="-122"/>
                <a:cs typeface="Cambria" pitchFamily="34" charset="-120"/>
              </a:rPr>
              <a:t>1</a:t>
            </a:r>
            <a:endParaRPr lang="tr-TR" sz="2000" dirty="0"/>
          </a:p>
        </p:txBody>
      </p:sp>
      <p:sp>
        <p:nvSpPr>
          <p:cNvPr id="8" name="Shape 6"/>
          <p:cNvSpPr/>
          <p:nvPr/>
        </p:nvSpPr>
        <p:spPr>
          <a:xfrm>
            <a:off x="1371600" y="1508760"/>
            <a:ext cx="10287000" cy="658368"/>
          </a:xfrm>
          <a:prstGeom prst="roundRect">
            <a:avLst>
              <a:gd name="adj" fmla="val 6944"/>
            </a:avLst>
          </a:prstGeom>
          <a:solidFill>
            <a:srgbClr val="F2F2F2"/>
          </a:solidFill>
          <a:ln/>
        </p:spPr>
      </p:sp>
      <p:sp>
        <p:nvSpPr>
          <p:cNvPr id="9" name="Text 7"/>
          <p:cNvSpPr txBox="1"/>
          <p:nvPr/>
        </p:nvSpPr>
        <p:spPr>
          <a:xfrm>
            <a:off x="1645920" y="1508760"/>
            <a:ext cx="9875520" cy="658368"/>
          </a:xfrm>
          <a:prstGeom prst="rect">
            <a:avLst/>
          </a:prstGeom>
          <a:noFill/>
          <a:ln/>
        </p:spPr>
        <p:txBody>
          <a:bodyPr wrap="square" lIns="0" tIns="0" rIns="0" bIns="0" rtlCol="0" anchor="ctr"/>
          <a:lstStyle/>
          <a:p>
            <a:pPr indent="0" marL="0">
              <a:buNone/>
            </a:pPr>
            <a:r>
              <a:rPr lang="tr-TR" sz="1700" b="1" dirty="0">
                <a:solidFill>
                  <a:srgbClr val="36454F"/>
                </a:solidFill>
                <a:latin typeface="Cambria" pitchFamily="34" charset="0"/>
                <a:ea typeface="Cambria" pitchFamily="34" charset="-122"/>
                <a:cs typeface="Cambria" pitchFamily="34" charset="-120"/>
              </a:rPr>
              <a:t>Sınav   </a:t>
            </a:r>
            <a:r>
              <a:rPr lang="tr-TR" sz="1500" dirty="0">
                <a:solidFill>
                  <a:srgbClr val="3A464C"/>
                </a:solidFill>
                <a:latin typeface="Calibri" pitchFamily="34" charset="0"/>
                <a:ea typeface="Calibri" pitchFamily="34" charset="-122"/>
                <a:cs typeface="Calibri" pitchFamily="34" charset="-120"/>
              </a:rPr>
              <a:t>Pratik bilgiler, kapsam, soru türleri ve puanlar.</a:t>
            </a:r>
            <a:endParaRPr lang="tr-TR" sz="1400" dirty="0"/>
          </a:p>
        </p:txBody>
      </p:sp>
      <p:sp>
        <p:nvSpPr>
          <p:cNvPr id="10" name="Shape 8"/>
          <p:cNvSpPr/>
          <p:nvPr/>
        </p:nvSpPr>
        <p:spPr>
          <a:xfrm>
            <a:off x="548640" y="2295144"/>
            <a:ext cx="658368" cy="658368"/>
          </a:xfrm>
          <a:prstGeom prst="roundRect">
            <a:avLst>
              <a:gd name="adj" fmla="val 6944"/>
            </a:avLst>
          </a:prstGeom>
          <a:solidFill>
            <a:srgbClr val="02C39A"/>
          </a:solidFill>
          <a:ln/>
        </p:spPr>
      </p:sp>
      <p:sp>
        <p:nvSpPr>
          <p:cNvPr id="11" name="Text 9"/>
          <p:cNvSpPr txBox="1"/>
          <p:nvPr/>
        </p:nvSpPr>
        <p:spPr>
          <a:xfrm>
            <a:off x="548640" y="2295144"/>
            <a:ext cx="658368" cy="658368"/>
          </a:xfrm>
          <a:prstGeom prst="rect">
            <a:avLst/>
          </a:prstGeom>
          <a:noFill/>
          <a:ln/>
        </p:spPr>
        <p:txBody>
          <a:bodyPr wrap="square" lIns="38100" tIns="38100" rIns="38100" bIns="38100" rtlCol="0" anchor="ctr"/>
          <a:lstStyle/>
          <a:p>
            <a:pPr algn="ctr" indent="0" marL="0">
              <a:buNone/>
            </a:pPr>
            <a:r>
              <a:rPr lang="tr-TR" sz="2000" b="1" dirty="0">
                <a:solidFill>
                  <a:srgbClr val="36454F"/>
                </a:solidFill>
                <a:latin typeface="Cambria" pitchFamily="34" charset="0"/>
                <a:ea typeface="Cambria" pitchFamily="34" charset="-122"/>
                <a:cs typeface="Cambria" pitchFamily="34" charset="-120"/>
              </a:rPr>
              <a:t>2</a:t>
            </a:r>
            <a:endParaRPr lang="tr-TR" sz="2000" dirty="0"/>
          </a:p>
        </p:txBody>
      </p:sp>
      <p:sp>
        <p:nvSpPr>
          <p:cNvPr id="12" name="Shape 10"/>
          <p:cNvSpPr/>
          <p:nvPr/>
        </p:nvSpPr>
        <p:spPr>
          <a:xfrm>
            <a:off x="1371600" y="2295144"/>
            <a:ext cx="10287000" cy="658368"/>
          </a:xfrm>
          <a:prstGeom prst="roundRect">
            <a:avLst>
              <a:gd name="adj" fmla="val 6944"/>
            </a:avLst>
          </a:prstGeom>
          <a:solidFill>
            <a:srgbClr val="F2F2F2"/>
          </a:solidFill>
          <a:ln/>
        </p:spPr>
      </p:sp>
      <p:sp>
        <p:nvSpPr>
          <p:cNvPr id="13" name="Text 11"/>
          <p:cNvSpPr txBox="1"/>
          <p:nvPr/>
        </p:nvSpPr>
        <p:spPr>
          <a:xfrm>
            <a:off x="1645920" y="2295144"/>
            <a:ext cx="9875520" cy="658368"/>
          </a:xfrm>
          <a:prstGeom prst="rect">
            <a:avLst/>
          </a:prstGeom>
          <a:noFill/>
          <a:ln/>
        </p:spPr>
        <p:txBody>
          <a:bodyPr wrap="square" lIns="0" tIns="0" rIns="0" bIns="0" rtlCol="0" anchor="ctr"/>
          <a:lstStyle/>
          <a:p>
            <a:pPr indent="0" marL="0">
              <a:buNone/>
            </a:pPr>
            <a:r>
              <a:rPr lang="tr-TR" sz="1700" b="1" dirty="0">
                <a:solidFill>
                  <a:srgbClr val="36454F"/>
                </a:solidFill>
                <a:latin typeface="Cambria" pitchFamily="34" charset="0"/>
                <a:ea typeface="Cambria" pitchFamily="34" charset="-122"/>
                <a:cs typeface="Cambria" pitchFamily="34" charset="-120"/>
              </a:rPr>
              <a:t>Tekrar: 1–7. haftalar   </a:t>
            </a:r>
            <a:r>
              <a:rPr lang="tr-TR" sz="1500" dirty="0">
                <a:solidFill>
                  <a:srgbClr val="3A464C"/>
                </a:solidFill>
                <a:latin typeface="Calibri" pitchFamily="34" charset="0"/>
                <a:ea typeface="Calibri" pitchFamily="34" charset="-122"/>
                <a:cs typeface="Calibri" pitchFamily="34" charset="-120"/>
              </a:rPr>
              <a:t>Her hafta için bir iki slayt: tanımlar, diyagramlar, formüller.</a:t>
            </a:r>
            <a:endParaRPr lang="tr-TR" sz="1400" dirty="0"/>
          </a:p>
        </p:txBody>
      </p:sp>
      <p:sp>
        <p:nvSpPr>
          <p:cNvPr id="14" name="Shape 12"/>
          <p:cNvSpPr/>
          <p:nvPr/>
        </p:nvSpPr>
        <p:spPr>
          <a:xfrm>
            <a:off x="548640" y="3081528"/>
            <a:ext cx="658368" cy="658368"/>
          </a:xfrm>
          <a:prstGeom prst="roundRect">
            <a:avLst>
              <a:gd name="adj" fmla="val 6944"/>
            </a:avLst>
          </a:prstGeom>
          <a:solidFill>
            <a:srgbClr val="02C39A"/>
          </a:solidFill>
          <a:ln/>
        </p:spPr>
      </p:sp>
      <p:sp>
        <p:nvSpPr>
          <p:cNvPr id="15" name="Text 13"/>
          <p:cNvSpPr txBox="1"/>
          <p:nvPr/>
        </p:nvSpPr>
        <p:spPr>
          <a:xfrm>
            <a:off x="548640" y="3081528"/>
            <a:ext cx="658368" cy="658368"/>
          </a:xfrm>
          <a:prstGeom prst="rect">
            <a:avLst/>
          </a:prstGeom>
          <a:noFill/>
          <a:ln/>
        </p:spPr>
        <p:txBody>
          <a:bodyPr wrap="square" lIns="38100" tIns="38100" rIns="38100" bIns="38100" rtlCol="0" anchor="ctr"/>
          <a:lstStyle/>
          <a:p>
            <a:pPr algn="ctr" indent="0" marL="0">
              <a:buNone/>
            </a:pPr>
            <a:r>
              <a:rPr lang="tr-TR" sz="2000" b="1" dirty="0">
                <a:solidFill>
                  <a:srgbClr val="36454F"/>
                </a:solidFill>
                <a:latin typeface="Cambria" pitchFamily="34" charset="0"/>
                <a:ea typeface="Cambria" pitchFamily="34" charset="-122"/>
                <a:cs typeface="Cambria" pitchFamily="34" charset="-120"/>
              </a:rPr>
              <a:t>3</a:t>
            </a:r>
            <a:endParaRPr lang="tr-TR" sz="2000" dirty="0"/>
          </a:p>
        </p:txBody>
      </p:sp>
      <p:sp>
        <p:nvSpPr>
          <p:cNvPr id="16" name="Shape 14"/>
          <p:cNvSpPr/>
          <p:nvPr/>
        </p:nvSpPr>
        <p:spPr>
          <a:xfrm>
            <a:off x="1371600" y="3081528"/>
            <a:ext cx="10287000" cy="658368"/>
          </a:xfrm>
          <a:prstGeom prst="roundRect">
            <a:avLst>
              <a:gd name="adj" fmla="val 6944"/>
            </a:avLst>
          </a:prstGeom>
          <a:solidFill>
            <a:srgbClr val="F2F2F2"/>
          </a:solidFill>
          <a:ln/>
        </p:spPr>
      </p:sp>
      <p:sp>
        <p:nvSpPr>
          <p:cNvPr id="17" name="Text 15"/>
          <p:cNvSpPr txBox="1"/>
          <p:nvPr/>
        </p:nvSpPr>
        <p:spPr>
          <a:xfrm>
            <a:off x="1645920" y="3081528"/>
            <a:ext cx="9875520" cy="658368"/>
          </a:xfrm>
          <a:prstGeom prst="rect">
            <a:avLst/>
          </a:prstGeom>
          <a:noFill/>
          <a:ln/>
        </p:spPr>
        <p:txBody>
          <a:bodyPr wrap="square" lIns="0" tIns="0" rIns="0" bIns="0" rtlCol="0" anchor="ctr"/>
          <a:lstStyle/>
          <a:p>
            <a:pPr indent="0" marL="0">
              <a:buNone/>
            </a:pPr>
            <a:r>
              <a:rPr lang="tr-TR" sz="1700" b="1" dirty="0">
                <a:solidFill>
                  <a:srgbClr val="36454F"/>
                </a:solidFill>
                <a:latin typeface="Cambria" pitchFamily="34" charset="0"/>
                <a:ea typeface="Cambria" pitchFamily="34" charset="-122"/>
                <a:cs typeface="Cambria" pitchFamily="34" charset="-120"/>
              </a:rPr>
              <a:t>Formül kâğıdı   </a:t>
            </a:r>
            <a:r>
              <a:rPr lang="tr-TR" sz="1500" dirty="0">
                <a:solidFill>
                  <a:srgbClr val="3A464C"/>
                </a:solidFill>
                <a:latin typeface="Calibri" pitchFamily="34" charset="0"/>
                <a:ea typeface="Calibri" pitchFamily="34" charset="-122"/>
                <a:cs typeface="Calibri" pitchFamily="34" charset="-120"/>
              </a:rPr>
              <a:t>Dersin bütün formülleri tek slaytta.</a:t>
            </a:r>
            <a:endParaRPr lang="tr-TR" sz="1400" dirty="0"/>
          </a:p>
        </p:txBody>
      </p:sp>
      <p:sp>
        <p:nvSpPr>
          <p:cNvPr id="18" name="Shape 16"/>
          <p:cNvSpPr/>
          <p:nvPr/>
        </p:nvSpPr>
        <p:spPr>
          <a:xfrm>
            <a:off x="548640" y="3867912"/>
            <a:ext cx="658368" cy="658368"/>
          </a:xfrm>
          <a:prstGeom prst="roundRect">
            <a:avLst>
              <a:gd name="adj" fmla="val 6944"/>
            </a:avLst>
          </a:prstGeom>
          <a:solidFill>
            <a:srgbClr val="02C39A"/>
          </a:solidFill>
          <a:ln/>
        </p:spPr>
      </p:sp>
      <p:sp>
        <p:nvSpPr>
          <p:cNvPr id="19" name="Text 17"/>
          <p:cNvSpPr txBox="1"/>
          <p:nvPr/>
        </p:nvSpPr>
        <p:spPr>
          <a:xfrm>
            <a:off x="548640" y="3867912"/>
            <a:ext cx="658368" cy="658368"/>
          </a:xfrm>
          <a:prstGeom prst="rect">
            <a:avLst/>
          </a:prstGeom>
          <a:noFill/>
          <a:ln/>
        </p:spPr>
        <p:txBody>
          <a:bodyPr wrap="square" lIns="38100" tIns="38100" rIns="38100" bIns="38100" rtlCol="0" anchor="ctr"/>
          <a:lstStyle/>
          <a:p>
            <a:pPr algn="ctr" indent="0" marL="0">
              <a:buNone/>
            </a:pPr>
            <a:r>
              <a:rPr lang="tr-TR" sz="2000" b="1" dirty="0">
                <a:solidFill>
                  <a:srgbClr val="36454F"/>
                </a:solidFill>
                <a:latin typeface="Cambria" pitchFamily="34" charset="0"/>
                <a:ea typeface="Cambria" pitchFamily="34" charset="-122"/>
                <a:cs typeface="Cambria" pitchFamily="34" charset="-120"/>
              </a:rPr>
              <a:t>4</a:t>
            </a:r>
            <a:endParaRPr lang="tr-TR" sz="2000" dirty="0"/>
          </a:p>
        </p:txBody>
      </p:sp>
      <p:sp>
        <p:nvSpPr>
          <p:cNvPr id="20" name="Shape 18"/>
          <p:cNvSpPr/>
          <p:nvPr/>
        </p:nvSpPr>
        <p:spPr>
          <a:xfrm>
            <a:off x="1371600" y="3867912"/>
            <a:ext cx="10287000" cy="658368"/>
          </a:xfrm>
          <a:prstGeom prst="roundRect">
            <a:avLst>
              <a:gd name="adj" fmla="val 6944"/>
            </a:avLst>
          </a:prstGeom>
          <a:solidFill>
            <a:srgbClr val="F2F2F2"/>
          </a:solidFill>
          <a:ln/>
        </p:spPr>
      </p:sp>
      <p:sp>
        <p:nvSpPr>
          <p:cNvPr id="21" name="Text 19"/>
          <p:cNvSpPr txBox="1"/>
          <p:nvPr/>
        </p:nvSpPr>
        <p:spPr>
          <a:xfrm>
            <a:off x="1645920" y="3867912"/>
            <a:ext cx="9875520" cy="658368"/>
          </a:xfrm>
          <a:prstGeom prst="rect">
            <a:avLst/>
          </a:prstGeom>
          <a:noFill/>
          <a:ln/>
        </p:spPr>
        <p:txBody>
          <a:bodyPr wrap="square" lIns="0" tIns="0" rIns="0" bIns="0" rtlCol="0" anchor="ctr"/>
          <a:lstStyle/>
          <a:p>
            <a:pPr indent="0" marL="0">
              <a:buNone/>
            </a:pPr>
            <a:r>
              <a:rPr lang="tr-TR" sz="1700" b="1" dirty="0">
                <a:solidFill>
                  <a:srgbClr val="36454F"/>
                </a:solidFill>
                <a:latin typeface="Cambria" pitchFamily="34" charset="0"/>
                <a:ea typeface="Cambria" pitchFamily="34" charset="-122"/>
                <a:cs typeface="Cambria" pitchFamily="34" charset="-120"/>
              </a:rPr>
              <a:t>Çözümlü problemler   </a:t>
            </a:r>
            <a:r>
              <a:rPr lang="tr-TR" sz="1500" dirty="0">
                <a:solidFill>
                  <a:srgbClr val="3A464C"/>
                </a:solidFill>
                <a:latin typeface="Calibri" pitchFamily="34" charset="0"/>
                <a:ea typeface="Calibri" pitchFamily="34" charset="-122"/>
                <a:cs typeface="Calibri" pitchFamily="34" charset="-120"/>
              </a:rPr>
              <a:t>Yedi problem: sınavdaki her sayısal soru türü.</a:t>
            </a:r>
            <a:endParaRPr lang="tr-TR" sz="1400" dirty="0"/>
          </a:p>
        </p:txBody>
      </p:sp>
      <p:sp>
        <p:nvSpPr>
          <p:cNvPr id="22" name="Shape 20"/>
          <p:cNvSpPr/>
          <p:nvPr/>
        </p:nvSpPr>
        <p:spPr>
          <a:xfrm>
            <a:off x="548640" y="4654296"/>
            <a:ext cx="658368" cy="658368"/>
          </a:xfrm>
          <a:prstGeom prst="roundRect">
            <a:avLst>
              <a:gd name="adj" fmla="val 6944"/>
            </a:avLst>
          </a:prstGeom>
          <a:solidFill>
            <a:srgbClr val="02C39A"/>
          </a:solidFill>
          <a:ln/>
        </p:spPr>
      </p:sp>
      <p:sp>
        <p:nvSpPr>
          <p:cNvPr id="23" name="Text 21"/>
          <p:cNvSpPr txBox="1"/>
          <p:nvPr/>
        </p:nvSpPr>
        <p:spPr>
          <a:xfrm>
            <a:off x="548640" y="4654296"/>
            <a:ext cx="658368" cy="658368"/>
          </a:xfrm>
          <a:prstGeom prst="rect">
            <a:avLst/>
          </a:prstGeom>
          <a:noFill/>
          <a:ln/>
        </p:spPr>
        <p:txBody>
          <a:bodyPr wrap="square" lIns="38100" tIns="38100" rIns="38100" bIns="38100" rtlCol="0" anchor="ctr"/>
          <a:lstStyle/>
          <a:p>
            <a:pPr algn="ctr" indent="0" marL="0">
              <a:buNone/>
            </a:pPr>
            <a:r>
              <a:rPr lang="tr-TR" sz="2000" b="1" dirty="0">
                <a:solidFill>
                  <a:srgbClr val="36454F"/>
                </a:solidFill>
                <a:latin typeface="Cambria" pitchFamily="34" charset="0"/>
                <a:ea typeface="Cambria" pitchFamily="34" charset="-122"/>
                <a:cs typeface="Cambria" pitchFamily="34" charset="-120"/>
              </a:rPr>
              <a:t>5</a:t>
            </a:r>
            <a:endParaRPr lang="tr-TR" sz="2000" dirty="0"/>
          </a:p>
        </p:txBody>
      </p:sp>
      <p:sp>
        <p:nvSpPr>
          <p:cNvPr id="24" name="Shape 22"/>
          <p:cNvSpPr/>
          <p:nvPr/>
        </p:nvSpPr>
        <p:spPr>
          <a:xfrm>
            <a:off x="1371600" y="4654296"/>
            <a:ext cx="10287000" cy="658368"/>
          </a:xfrm>
          <a:prstGeom prst="roundRect">
            <a:avLst>
              <a:gd name="adj" fmla="val 6944"/>
            </a:avLst>
          </a:prstGeom>
          <a:solidFill>
            <a:srgbClr val="F2F2F2"/>
          </a:solidFill>
          <a:ln/>
        </p:spPr>
      </p:sp>
      <p:sp>
        <p:nvSpPr>
          <p:cNvPr id="25" name="Text 23"/>
          <p:cNvSpPr txBox="1"/>
          <p:nvPr/>
        </p:nvSpPr>
        <p:spPr>
          <a:xfrm>
            <a:off x="1645920" y="4654296"/>
            <a:ext cx="9875520" cy="658368"/>
          </a:xfrm>
          <a:prstGeom prst="rect">
            <a:avLst/>
          </a:prstGeom>
          <a:noFill/>
          <a:ln/>
        </p:spPr>
        <p:txBody>
          <a:bodyPr wrap="square" lIns="0" tIns="0" rIns="0" bIns="0" rtlCol="0" anchor="ctr"/>
          <a:lstStyle/>
          <a:p>
            <a:pPr indent="0" marL="0">
              <a:buNone/>
            </a:pPr>
            <a:r>
              <a:rPr lang="tr-TR" sz="1700" b="1" dirty="0">
                <a:solidFill>
                  <a:srgbClr val="36454F"/>
                </a:solidFill>
                <a:latin typeface="Cambria" pitchFamily="34" charset="0"/>
                <a:ea typeface="Cambria" pitchFamily="34" charset="-122"/>
                <a:cs typeface="Cambria" pitchFamily="34" charset="-120"/>
              </a:rPr>
              <a:t>Hatalar ve strateji   </a:t>
            </a:r>
            <a:r>
              <a:rPr lang="tr-TR" sz="1500" dirty="0">
                <a:solidFill>
                  <a:srgbClr val="3A464C"/>
                </a:solidFill>
                <a:latin typeface="Calibri" pitchFamily="34" charset="0"/>
                <a:ea typeface="Calibri" pitchFamily="34" charset="-122"/>
                <a:cs typeface="Calibri" pitchFamily="34" charset="-120"/>
              </a:rPr>
              <a:t>Puanlar genellikle nerede kaybedilir, 90 dakika nasıl kullanılır?</a:t>
            </a:r>
            <a:endParaRPr lang="tr-TR" sz="1400" dirty="0"/>
          </a:p>
        </p:txBody>
      </p:sp>
      <p:sp>
        <p:nvSpPr>
          <p:cNvPr id="26" name="Shape 24"/>
          <p:cNvSpPr/>
          <p:nvPr/>
        </p:nvSpPr>
        <p:spPr>
          <a:xfrm>
            <a:off x="548640" y="5440680"/>
            <a:ext cx="658368" cy="658368"/>
          </a:xfrm>
          <a:prstGeom prst="roundRect">
            <a:avLst>
              <a:gd name="adj" fmla="val 6944"/>
            </a:avLst>
          </a:prstGeom>
          <a:solidFill>
            <a:srgbClr val="02C39A"/>
          </a:solidFill>
          <a:ln/>
        </p:spPr>
      </p:sp>
      <p:sp>
        <p:nvSpPr>
          <p:cNvPr id="27" name="Text 25"/>
          <p:cNvSpPr txBox="1"/>
          <p:nvPr/>
        </p:nvSpPr>
        <p:spPr>
          <a:xfrm>
            <a:off x="548640" y="5440680"/>
            <a:ext cx="658368" cy="658368"/>
          </a:xfrm>
          <a:prstGeom prst="rect">
            <a:avLst/>
          </a:prstGeom>
          <a:noFill/>
          <a:ln/>
        </p:spPr>
        <p:txBody>
          <a:bodyPr wrap="square" lIns="38100" tIns="38100" rIns="38100" bIns="38100" rtlCol="0" anchor="ctr"/>
          <a:lstStyle/>
          <a:p>
            <a:pPr algn="ctr" indent="0" marL="0">
              <a:buNone/>
            </a:pPr>
            <a:r>
              <a:rPr lang="tr-TR" sz="2000" b="1" dirty="0">
                <a:solidFill>
                  <a:srgbClr val="36454F"/>
                </a:solidFill>
                <a:latin typeface="Cambria" pitchFamily="34" charset="0"/>
                <a:ea typeface="Cambria" pitchFamily="34" charset="-122"/>
                <a:cs typeface="Cambria" pitchFamily="34" charset="-120"/>
              </a:rPr>
              <a:t>6</a:t>
            </a:r>
            <a:endParaRPr lang="tr-TR" sz="2000" dirty="0"/>
          </a:p>
        </p:txBody>
      </p:sp>
      <p:sp>
        <p:nvSpPr>
          <p:cNvPr id="28" name="Shape 26"/>
          <p:cNvSpPr/>
          <p:nvPr/>
        </p:nvSpPr>
        <p:spPr>
          <a:xfrm>
            <a:off x="1371600" y="5440680"/>
            <a:ext cx="10287000" cy="658368"/>
          </a:xfrm>
          <a:prstGeom prst="roundRect">
            <a:avLst>
              <a:gd name="adj" fmla="val 6944"/>
            </a:avLst>
          </a:prstGeom>
          <a:solidFill>
            <a:srgbClr val="F2F2F2"/>
          </a:solidFill>
          <a:ln/>
        </p:spPr>
      </p:sp>
      <p:sp>
        <p:nvSpPr>
          <p:cNvPr id="29" name="Text 27"/>
          <p:cNvSpPr txBox="1"/>
          <p:nvPr/>
        </p:nvSpPr>
        <p:spPr>
          <a:xfrm>
            <a:off x="1645920" y="5440680"/>
            <a:ext cx="9875520" cy="658368"/>
          </a:xfrm>
          <a:prstGeom prst="rect">
            <a:avLst/>
          </a:prstGeom>
          <a:noFill/>
          <a:ln/>
        </p:spPr>
        <p:txBody>
          <a:bodyPr wrap="square" lIns="0" tIns="0" rIns="0" bIns="0" rtlCol="0" anchor="ctr"/>
          <a:lstStyle/>
          <a:p>
            <a:pPr indent="0" marL="0">
              <a:buNone/>
            </a:pPr>
            <a:r>
              <a:rPr lang="tr-TR" sz="1700" b="1" dirty="0">
                <a:solidFill>
                  <a:srgbClr val="36454F"/>
                </a:solidFill>
                <a:latin typeface="Cambria" pitchFamily="34" charset="0"/>
                <a:ea typeface="Cambria" pitchFamily="34" charset="-122"/>
                <a:cs typeface="Cambria" pitchFamily="34" charset="-120"/>
              </a:rPr>
              <a:t>Kısa sınav ve sorular   </a:t>
            </a:r>
            <a:r>
              <a:rPr lang="tr-TR" sz="1500" dirty="0">
                <a:solidFill>
                  <a:srgbClr val="3A464C"/>
                </a:solidFill>
                <a:latin typeface="Calibri" pitchFamily="34" charset="0"/>
                <a:ea typeface="Calibri" pitchFamily="34" charset="-122"/>
                <a:cs typeface="Calibri" pitchFamily="34" charset="-120"/>
              </a:rPr>
              <a:t>Kendinizi sınayın, sonra sınavla ilgili her şeyi sorun.</a:t>
            </a:r>
            <a:endParaRPr lang="tr-TR"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SINAV</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Vize: Pratik Bilgiler</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8  ·  4</a:t>
            </a:r>
            <a:endParaRPr lang="tr-TR" sz="900" dirty="0"/>
          </a:p>
        </p:txBody>
      </p:sp>
      <p:sp>
        <p:nvSpPr>
          <p:cNvPr id="6" name="Shape 4"/>
          <p:cNvSpPr/>
          <p:nvPr/>
        </p:nvSpPr>
        <p:spPr>
          <a:xfrm>
            <a:off x="548640" y="1508760"/>
            <a:ext cx="3550920" cy="3749040"/>
          </a:xfrm>
          <a:prstGeom prst="roundRect">
            <a:avLst>
              <a:gd name="adj" fmla="val 1545"/>
            </a:avLst>
          </a:prstGeom>
          <a:solidFill>
            <a:srgbClr val="F2F2F2"/>
          </a:solidFill>
          <a:ln/>
          <a:effectLst>
            <a:outerShdw sx="100000" sy="100000" kx="0" ky="0" algn="bl" rotWithShape="0" blurRad="101600" dist="25400" dir="5400000">
              <a:srgbClr val="000000">
                <a:alpha val="12000"/>
              </a:srgbClr>
            </a:outerShdw>
          </a:effectLst>
        </p:spPr>
      </p:sp>
      <p:sp>
        <p:nvSpPr>
          <p:cNvPr id="7" name="Text 5"/>
          <p:cNvSpPr txBox="1"/>
          <p:nvPr/>
        </p:nvSpPr>
        <p:spPr>
          <a:xfrm>
            <a:off x="777240" y="169164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Ne zaman, nerede?</a:t>
            </a:r>
            <a:endParaRPr lang="tr-TR" sz="1600" dirty="0"/>
          </a:p>
        </p:txBody>
      </p:sp>
      <p:sp>
        <p:nvSpPr>
          <p:cNvPr id="8" name="Text 6"/>
          <p:cNvSpPr txBox="1"/>
          <p:nvPr/>
        </p:nvSpPr>
        <p:spPr>
          <a:xfrm>
            <a:off x="777240" y="2148840"/>
            <a:ext cx="3093720" cy="2971800"/>
          </a:xfrm>
          <a:prstGeom prst="rect">
            <a:avLst/>
          </a:prstGeom>
          <a:noFill/>
          <a:ln/>
        </p:spPr>
        <p:txBody>
          <a:bodyPr wrap="square" lIns="0" tIns="0" rIns="0" bIns="0" rtlCol="0" anchor="t"/>
          <a:lstStyle/>
          <a:p>
            <a:pPr marL="228600" indent="-228600">
              <a:spcAft>
                <a:spcPts val="400"/>
              </a:spcAft>
              <a:buSzPct val="100000"/>
              <a:buChar char="•"/>
            </a:pPr>
            <a:r>
              <a:rPr lang="tr-TR" sz="1550" dirty="0">
                <a:solidFill>
                  <a:srgbClr val="3A464C"/>
                </a:solidFill>
                <a:latin typeface="Calibri" pitchFamily="34" charset="0"/>
                <a:ea typeface="Calibri" pitchFamily="34" charset="-122"/>
                <a:cs typeface="Calibri" pitchFamily="34" charset="-120"/>
              </a:rPr>
              <a:t>Tarih ve saat: [duyurulacak]</a:t>
            </a:r>
            <a:endParaRPr lang="tr-TR" sz="1550" dirty="0"/>
          </a:p>
          <a:p>
            <a:pPr marL="228600" indent="-228600">
              <a:spcAft>
                <a:spcPts val="400"/>
              </a:spcAft>
              <a:buSzPct val="100000"/>
              <a:buChar char="•"/>
            </a:pPr>
            <a:r>
              <a:rPr lang="tr-TR" sz="1550" dirty="0">
                <a:solidFill>
                  <a:srgbClr val="3A464C"/>
                </a:solidFill>
                <a:latin typeface="Calibri" pitchFamily="34" charset="0"/>
                <a:ea typeface="Calibri" pitchFamily="34" charset="-122"/>
                <a:cs typeface="Calibri" pitchFamily="34" charset="-120"/>
              </a:rPr>
              <a:t>Salon: [duyurulacak]</a:t>
            </a:r>
            <a:endParaRPr lang="tr-TR" sz="1550" dirty="0"/>
          </a:p>
          <a:p>
            <a:pPr marL="228600" indent="-228600">
              <a:spcAft>
                <a:spcPts val="400"/>
              </a:spcAft>
              <a:buSzPct val="100000"/>
              <a:buChar char="•"/>
            </a:pPr>
            <a:r>
              <a:rPr lang="tr-TR" sz="1550" dirty="0">
                <a:solidFill>
                  <a:srgbClr val="3A464C"/>
                </a:solidFill>
                <a:latin typeface="Calibri" pitchFamily="34" charset="0"/>
                <a:ea typeface="Calibri" pitchFamily="34" charset="-122"/>
                <a:cs typeface="Calibri" pitchFamily="34" charset="-120"/>
              </a:rPr>
              <a:t>Süre: [90] dakika</a:t>
            </a:r>
            <a:endParaRPr lang="tr-TR" sz="1550" dirty="0"/>
          </a:p>
          <a:p>
            <a:pPr marL="228600" indent="-228600">
              <a:spcAft>
                <a:spcPts val="400"/>
              </a:spcAft>
              <a:buSzPct val="100000"/>
              <a:buChar char="•"/>
            </a:pPr>
            <a:r>
              <a:rPr lang="tr-TR" sz="1550" dirty="0">
                <a:solidFill>
                  <a:srgbClr val="3A464C"/>
                </a:solidFill>
                <a:latin typeface="Calibri" pitchFamily="34" charset="0"/>
                <a:ea typeface="Calibri" pitchFamily="34" charset="-122"/>
                <a:cs typeface="Calibri" pitchFamily="34" charset="-120"/>
              </a:rPr>
              <a:t>10 dakika erken gelin; öğrenci kimliğinizi getirin.</a:t>
            </a:r>
            <a:endParaRPr lang="tr-TR" sz="1550" dirty="0"/>
          </a:p>
        </p:txBody>
      </p:sp>
      <p:sp>
        <p:nvSpPr>
          <p:cNvPr id="9" name="Shape 7"/>
          <p:cNvSpPr/>
          <p:nvPr/>
        </p:nvSpPr>
        <p:spPr>
          <a:xfrm>
            <a:off x="4328160" y="1508760"/>
            <a:ext cx="3550920" cy="3749040"/>
          </a:xfrm>
          <a:prstGeom prst="roundRect">
            <a:avLst>
              <a:gd name="adj" fmla="val 1545"/>
            </a:avLst>
          </a:prstGeom>
          <a:solidFill>
            <a:srgbClr val="F2F2F2"/>
          </a:solidFill>
          <a:ln/>
          <a:effectLst>
            <a:outerShdw sx="100000" sy="100000" kx="0" ky="0" algn="bl" rotWithShape="0" blurRad="101600" dist="25400" dir="5400000">
              <a:srgbClr val="000000">
                <a:alpha val="12000"/>
              </a:srgbClr>
            </a:outerShdw>
          </a:effectLst>
        </p:spPr>
      </p:sp>
      <p:sp>
        <p:nvSpPr>
          <p:cNvPr id="10" name="Text 8"/>
          <p:cNvSpPr txBox="1"/>
          <p:nvPr/>
        </p:nvSpPr>
        <p:spPr>
          <a:xfrm>
            <a:off x="4556760" y="169164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İzin verilen malzeme</a:t>
            </a:r>
            <a:endParaRPr lang="tr-TR" sz="1600" dirty="0"/>
          </a:p>
        </p:txBody>
      </p:sp>
      <p:sp>
        <p:nvSpPr>
          <p:cNvPr id="11" name="Text 9"/>
          <p:cNvSpPr txBox="1"/>
          <p:nvPr/>
        </p:nvSpPr>
        <p:spPr>
          <a:xfrm>
            <a:off x="4556760" y="2148840"/>
            <a:ext cx="3093720" cy="2971800"/>
          </a:xfrm>
          <a:prstGeom prst="rect">
            <a:avLst/>
          </a:prstGeom>
          <a:noFill/>
          <a:ln/>
        </p:spPr>
        <p:txBody>
          <a:bodyPr wrap="square" lIns="0" tIns="0" rIns="0" bIns="0" rtlCol="0" anchor="t"/>
          <a:lstStyle/>
          <a:p>
            <a:pPr marL="228600" indent="-228600">
              <a:spcAft>
                <a:spcPts val="400"/>
              </a:spcAft>
              <a:buSzPct val="100000"/>
              <a:buChar char="•"/>
            </a:pPr>
            <a:r>
              <a:rPr lang="tr-TR" sz="1550" dirty="0">
                <a:solidFill>
                  <a:srgbClr val="3A464C"/>
                </a:solidFill>
                <a:latin typeface="Calibri" pitchFamily="34" charset="0"/>
                <a:ea typeface="Calibri" pitchFamily="34" charset="-122"/>
                <a:cs typeface="Calibri" pitchFamily="34" charset="-120"/>
              </a:rPr>
              <a:t>Kalem; basit bir hesap makinesi [kesinleşecek]</a:t>
            </a:r>
            <a:endParaRPr lang="tr-TR" sz="1550" dirty="0"/>
          </a:p>
          <a:p>
            <a:pPr marL="228600" indent="-228600">
              <a:spcAft>
                <a:spcPts val="400"/>
              </a:spcAft>
              <a:buSzPct val="100000"/>
              <a:buChar char="•"/>
            </a:pPr>
            <a:r>
              <a:rPr lang="tr-TR" sz="1550" dirty="0">
                <a:solidFill>
                  <a:srgbClr val="3A464C"/>
                </a:solidFill>
                <a:latin typeface="Calibri" pitchFamily="34" charset="0"/>
                <a:ea typeface="Calibri" pitchFamily="34" charset="-122"/>
                <a:cs typeface="Calibri" pitchFamily="34" charset="-120"/>
              </a:rPr>
              <a:t>Kitap kapalı: not yok, telefon yok [kesinleşecek]</a:t>
            </a:r>
            <a:endParaRPr lang="tr-TR" sz="1550" dirty="0"/>
          </a:p>
          <a:p>
            <a:pPr marL="228600" indent="-228600">
              <a:spcAft>
                <a:spcPts val="400"/>
              </a:spcAft>
              <a:buSzPct val="100000"/>
              <a:buChar char="•"/>
            </a:pPr>
            <a:r>
              <a:rPr lang="tr-TR" sz="1550" dirty="0">
                <a:solidFill>
                  <a:srgbClr val="3A464C"/>
                </a:solidFill>
                <a:latin typeface="Calibri" pitchFamily="34" charset="0"/>
                <a:ea typeface="Calibri" pitchFamily="34" charset="-122"/>
                <a:cs typeface="Calibri" pitchFamily="34" charset="-120"/>
              </a:rPr>
              <a:t>Formül kâğıdı verilecek mi: [evet / hayır — kesinleşecek]</a:t>
            </a:r>
            <a:endParaRPr lang="tr-TR" sz="1550" dirty="0"/>
          </a:p>
        </p:txBody>
      </p:sp>
      <p:sp>
        <p:nvSpPr>
          <p:cNvPr id="12" name="Shape 10"/>
          <p:cNvSpPr/>
          <p:nvPr/>
        </p:nvSpPr>
        <p:spPr>
          <a:xfrm>
            <a:off x="8107680" y="1508760"/>
            <a:ext cx="3550920" cy="3749040"/>
          </a:xfrm>
          <a:prstGeom prst="roundRect">
            <a:avLst>
              <a:gd name="adj" fmla="val 1545"/>
            </a:avLst>
          </a:prstGeom>
          <a:solidFill>
            <a:srgbClr val="F2F2F2"/>
          </a:solidFill>
          <a:ln/>
          <a:effectLst>
            <a:outerShdw sx="100000" sy="100000" kx="0" ky="0" algn="bl" rotWithShape="0" blurRad="101600" dist="25400" dir="5400000">
              <a:srgbClr val="000000">
                <a:alpha val="12000"/>
              </a:srgbClr>
            </a:outerShdw>
          </a:effectLst>
        </p:spPr>
      </p:sp>
      <p:sp>
        <p:nvSpPr>
          <p:cNvPr id="13" name="Text 11"/>
          <p:cNvSpPr txBox="1"/>
          <p:nvPr/>
        </p:nvSpPr>
        <p:spPr>
          <a:xfrm>
            <a:off x="8336280" y="169164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Biçim (örnek kâğıttaki gibi)</a:t>
            </a:r>
            <a:endParaRPr lang="tr-TR" sz="1600" dirty="0"/>
          </a:p>
        </p:txBody>
      </p:sp>
      <p:sp>
        <p:nvSpPr>
          <p:cNvPr id="14" name="Text 12"/>
          <p:cNvSpPr txBox="1"/>
          <p:nvPr/>
        </p:nvSpPr>
        <p:spPr>
          <a:xfrm>
            <a:off x="8336280" y="2148840"/>
            <a:ext cx="3093720" cy="2971800"/>
          </a:xfrm>
          <a:prstGeom prst="rect">
            <a:avLst/>
          </a:prstGeom>
          <a:noFill/>
          <a:ln/>
        </p:spPr>
        <p:txBody>
          <a:bodyPr wrap="square" lIns="0" tIns="0" rIns="0" bIns="0" rtlCol="0" anchor="t"/>
          <a:lstStyle/>
          <a:p>
            <a:pPr marL="228600" indent="-228600">
              <a:spcAft>
                <a:spcPts val="400"/>
              </a:spcAft>
              <a:buSzPct val="100000"/>
              <a:buChar char="•"/>
            </a:pPr>
            <a:r>
              <a:rPr lang="tr-TR" sz="1550" dirty="0">
                <a:solidFill>
                  <a:srgbClr val="3A464C"/>
                </a:solidFill>
                <a:latin typeface="Calibri" pitchFamily="34" charset="0"/>
                <a:ea typeface="Calibri" pitchFamily="34" charset="-122"/>
                <a:cs typeface="Calibri" pitchFamily="34" charset="-120"/>
              </a:rPr>
              <a:t>A Bölümü: 10 çoktan seçmeli soru × 2 puan</a:t>
            </a:r>
            <a:endParaRPr lang="tr-TR" sz="1550" dirty="0"/>
          </a:p>
          <a:p>
            <a:pPr marL="228600" indent="-228600">
              <a:spcAft>
                <a:spcPts val="400"/>
              </a:spcAft>
              <a:buSzPct val="100000"/>
              <a:buChar char="•"/>
            </a:pPr>
            <a:r>
              <a:rPr lang="tr-TR" sz="1550" dirty="0">
                <a:solidFill>
                  <a:srgbClr val="3A464C"/>
                </a:solidFill>
                <a:latin typeface="Calibri" pitchFamily="34" charset="0"/>
                <a:ea typeface="Calibri" pitchFamily="34" charset="-122"/>
                <a:cs typeface="Calibri" pitchFamily="34" charset="-120"/>
              </a:rPr>
              <a:t>B Bölümü: 4 kısa yanıtlı soru × 5 puan</a:t>
            </a:r>
            <a:endParaRPr lang="tr-TR" sz="1550" dirty="0"/>
          </a:p>
          <a:p>
            <a:pPr marL="228600" indent="-228600">
              <a:spcAft>
                <a:spcPts val="400"/>
              </a:spcAft>
              <a:buSzPct val="100000"/>
              <a:buChar char="•"/>
            </a:pPr>
            <a:r>
              <a:rPr lang="tr-TR" sz="1550" dirty="0">
                <a:solidFill>
                  <a:srgbClr val="3A464C"/>
                </a:solidFill>
                <a:latin typeface="Calibri" pitchFamily="34" charset="0"/>
                <a:ea typeface="Calibri" pitchFamily="34" charset="-122"/>
                <a:cs typeface="Calibri" pitchFamily="34" charset="-120"/>
              </a:rPr>
              <a:t>C Bölümü: 5 sayısal problem, 60 puan</a:t>
            </a:r>
            <a:endParaRPr lang="tr-TR" sz="1550" dirty="0"/>
          </a:p>
          <a:p>
            <a:pPr marL="228600" indent="-228600">
              <a:spcAft>
                <a:spcPts val="400"/>
              </a:spcAft>
              <a:buSzPct val="100000"/>
              <a:buChar char="•"/>
            </a:pPr>
            <a:r>
              <a:rPr lang="tr-TR" sz="1550" dirty="0">
                <a:solidFill>
                  <a:srgbClr val="3A464C"/>
                </a:solidFill>
                <a:latin typeface="Calibri" pitchFamily="34" charset="0"/>
                <a:ea typeface="Calibri" pitchFamily="34" charset="-122"/>
                <a:cs typeface="Calibri" pitchFamily="34" charset="-120"/>
              </a:rPr>
              <a:t>Toplam: 100 puan</a:t>
            </a:r>
            <a:endParaRPr lang="tr-TR" sz="1550" dirty="0"/>
          </a:p>
        </p:txBody>
      </p:sp>
      <p:sp>
        <p:nvSpPr>
          <p:cNvPr id="15" name="Shape 13"/>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sp>
      <p:sp>
        <p:nvSpPr>
          <p:cNvPr id="16" name="Text 14"/>
          <p:cNvSpPr txBox="1"/>
          <p:nvPr/>
        </p:nvSpPr>
        <p:spPr>
          <a:xfrm>
            <a:off x="777240" y="5486400"/>
            <a:ext cx="10652760" cy="77724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[Köşeli parantez] içindeki her şey öğretim üyesi tarafından dersin Telegram kanalında kesinleştirilecek. Sınav gününden önce kanala bakın.</a:t>
            </a:r>
            <a:endParaRPr lang="tr-TR"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SINAV</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Kapsam: 1–7. Haftalar</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8  ·  5</a:t>
            </a:r>
            <a:endParaRPr lang="tr-TR" sz="9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109960" cy="914400"/>
        </p:xfrm>
        <a:graphic>
          <a:graphicData uri="http://schemas.openxmlformats.org/drawingml/2006/table">
            <a:tbl>
              <a:tblPr/>
              <a:tblGrid>
                <a:gridCol w="868680"/>
                <a:gridCol w="5486400"/>
                <a:gridCol w="4754880"/>
              </a:tblGrid>
              <a:tr h="0">
                <a:tc>
                  <a:txBody>
                    <a:bodyPr/>
                    <a:lstStyle/>
                    <a:p>
                      <a:pPr indent="0" marL="0">
                        <a:buNone/>
                      </a:pPr>
                      <a:r>
                        <a:rPr lang="tr-TR" sz="1450" b="1" dirty="0">
                          <a:solidFill>
                            <a:srgbClr val="FFFFFF"/>
                          </a:solidFill>
                          <a:latin typeface="Cambria" pitchFamily="34" charset="0"/>
                          <a:ea typeface="Cambria" pitchFamily="34" charset="-122"/>
                          <a:cs typeface="Cambria" pitchFamily="34" charset="-120"/>
                        </a:rPr>
                        <a:t>Hafta</a:t>
                      </a:r>
                      <a:endParaRPr lang="tr-TR" sz="14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450" b="1" dirty="0">
                          <a:solidFill>
                            <a:srgbClr val="FFFFFF"/>
                          </a:solidFill>
                          <a:latin typeface="Cambria" pitchFamily="34" charset="0"/>
                          <a:ea typeface="Cambria" pitchFamily="34" charset="-122"/>
                          <a:cs typeface="Cambria" pitchFamily="34" charset="-120"/>
                        </a:rPr>
                        <a:t>Konular</a:t>
                      </a:r>
                      <a:endParaRPr lang="tr-TR" sz="14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450" b="1" dirty="0">
                          <a:solidFill>
                            <a:srgbClr val="FFFFFF"/>
                          </a:solidFill>
                          <a:latin typeface="Cambria" pitchFamily="34" charset="0"/>
                          <a:ea typeface="Cambria" pitchFamily="34" charset="-122"/>
                          <a:cs typeface="Cambria" pitchFamily="34" charset="-120"/>
                        </a:rPr>
                        <a:t>Tipik sorular</a:t>
                      </a:r>
                      <a:endParaRPr lang="tr-TR" sz="14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tr-TR" sz="1350" b="1" dirty="0">
                          <a:solidFill>
                            <a:srgbClr val="3A464C"/>
                          </a:solidFill>
                          <a:latin typeface="Calibri" pitchFamily="34" charset="0"/>
                          <a:ea typeface="Calibri" pitchFamily="34" charset="-122"/>
                          <a:cs typeface="Calibri" pitchFamily="34" charset="-120"/>
                        </a:rPr>
                        <a:t>H1</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Tarihçe: toplu işleme, çoklu programlama, zaman paylaşımı, UNIX, Linux</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Dönüm noktaları; U = t_çalışma/(t_çalışma + t_hazırlık), U(n) = 1 − pⁿ</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350" b="1" dirty="0">
                          <a:solidFill>
                            <a:srgbClr val="3A464C"/>
                          </a:solidFill>
                          <a:latin typeface="Calibri" pitchFamily="34" charset="0"/>
                          <a:ea typeface="Calibri" pitchFamily="34" charset="-122"/>
                          <a:cs typeface="Calibri" pitchFamily="34" charset="-120"/>
                        </a:rPr>
                        <a:t>H2</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Tanımlar, bakış açıları, hedefler, kesmeler, bellek hiyerarşisi, ikili mod, yapılar</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Açıklama / karşılaştırma; mod biti; monolitik ve mikroçekirdek</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350" b="1" dirty="0">
                          <a:solidFill>
                            <a:srgbClr val="3A464C"/>
                          </a:solidFill>
                          <a:latin typeface="Calibri" pitchFamily="34" charset="0"/>
                          <a:ea typeface="Calibri" pitchFamily="34" charset="-122"/>
                          <a:cs typeface="Calibri" pitchFamily="34" charset="-120"/>
                        </a:rPr>
                        <a:t>H3</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Hizmetler, sistem çağrıları, süreç, durumlar, PCB, bağlam değişimi, fork()</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Durum diyagramı; ek yük s/(q + s); fork() ile süreç sayma</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350" b="1" dirty="0">
                          <a:solidFill>
                            <a:srgbClr val="3A464C"/>
                          </a:solidFill>
                          <a:latin typeface="Calibri" pitchFamily="34" charset="0"/>
                          <a:ea typeface="Calibri" pitchFamily="34" charset="-122"/>
                          <a:cs typeface="Calibri" pitchFamily="34" charset="-120"/>
                        </a:rPr>
                        <a:t>H4</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İş parçacıkları, çoklu iş parçacığı modelleri, Amdahl yasası, zamanlama ölçütleri</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Ortak ve özel öğeler; hızlanma; dönüş, bekleme, yanıt</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350" b="1" dirty="0">
                          <a:solidFill>
                            <a:srgbClr val="3A464C"/>
                          </a:solidFill>
                          <a:latin typeface="Calibri" pitchFamily="34" charset="0"/>
                          <a:ea typeface="Calibri" pitchFamily="34" charset="-122"/>
                          <a:cs typeface="Calibri" pitchFamily="34" charset="-120"/>
                        </a:rPr>
                        <a:t>H5</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FCFS, SJF, SRTF, öncelikli, RR; yarış, kritik bölge, muteks, semafor</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Gantt şeması + ortalama bekleme süresi; yarış sonuçları</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350" b="1" dirty="0">
                          <a:solidFill>
                            <a:srgbClr val="3A464C"/>
                          </a:solidFill>
                          <a:latin typeface="Calibri" pitchFamily="34" charset="0"/>
                          <a:ea typeface="Calibri" pitchFamily="34" charset="-122"/>
                          <a:cs typeface="Calibri" pitchFamily="34" charset="-120"/>
                        </a:rPr>
                        <a:t>H6</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Bağlama, MMU, takas, uyan stratejileri, parçalanma, sayfalama, TLB, bölütleme</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Yerleştirme; adres çevirisi; TLB ile EAT</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350" b="1" dirty="0">
                          <a:solidFill>
                            <a:srgbClr val="3A464C"/>
                          </a:solidFill>
                          <a:latin typeface="Calibri" pitchFamily="34" charset="0"/>
                          <a:ea typeface="Calibri" pitchFamily="34" charset="-122"/>
                          <a:cs typeface="Calibri" pitchFamily="34" charset="-120"/>
                        </a:rPr>
                        <a:t>H7</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İsteğe bağlı sayfalama, sayfa hataları, FIFO/OPT/LRU, boşa çalışma, dosyalar, dizinler</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Çerçeve tabloları; p ile EAT; blok hesabı; bağlantılar</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bl>
          </a:graphicData>
        </a:graphic>
      </p:graphicFrame>
      <p:sp>
        <p:nvSpPr>
          <p:cNvPr id="7" name="Shape 4"/>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sp>
      <p:sp>
        <p:nvSpPr>
          <p:cNvPr id="8" name="Text 5"/>
          <p:cNvSpPr txBox="1"/>
          <p:nvPr/>
        </p:nvSpPr>
        <p:spPr>
          <a:xfrm>
            <a:off x="777240" y="5486400"/>
            <a:ext cx="10652760" cy="77724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A ve B bölümleri her haftanın tanım ve açıklamalarını sorar; C bölümündeki sayısal problemler ağırlıklı olarak 5, 6 ve 7. haftalardan gelir.</a:t>
            </a:r>
            <a:endParaRPr lang="tr-TR"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BÖLÜM 1</a:t>
            </a:r>
            <a:endParaRPr lang="tr-TR"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tr-TR" sz="3800" b="1" dirty="0">
                <a:solidFill>
                  <a:srgbClr val="FFFFFF"/>
                </a:solidFill>
                <a:latin typeface="Cambria" pitchFamily="34" charset="0"/>
                <a:ea typeface="Cambria" pitchFamily="34" charset="-122"/>
                <a:cs typeface="Cambria" pitchFamily="34" charset="-120"/>
              </a:rPr>
              <a:t>Tekrar: 1–7. Haftalar</a:t>
            </a:r>
            <a:endParaRPr lang="tr-TR"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tr-TR" sz="1600" i="1" dirty="0">
                <a:solidFill>
                  <a:srgbClr val="F2F2F2"/>
                </a:solidFill>
                <a:latin typeface="Calibri" pitchFamily="34" charset="0"/>
                <a:ea typeface="Calibri" pitchFamily="34" charset="-122"/>
                <a:cs typeface="Calibri" pitchFamily="34" charset="-120"/>
              </a:rPr>
              <a:t>Bilmeniz gereken tanımlar, diyagramlar ve formüller — ders notlarındaki sözcüklerle.</a:t>
            </a:r>
            <a:endParaRPr lang="tr-TR"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8A9AA0"/>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8A9AA0"/>
                </a:solidFill>
                <a:latin typeface="Calibri" pitchFamily="34" charset="0"/>
                <a:ea typeface="Calibri" pitchFamily="34" charset="-122"/>
                <a:cs typeface="Calibri" pitchFamily="34" charset="-120"/>
              </a:rPr>
              <a:t>Hafta 8  ·  6</a:t>
            </a:r>
            <a:endParaRPr lang="tr-TR"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1. HAFTA · TARİHÇE</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İşletim Sistemleri Neden Var?</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8  ·  7</a:t>
            </a:r>
            <a:endParaRPr lang="tr-TR" sz="900" dirty="0"/>
          </a:p>
        </p:txBody>
      </p:sp>
      <p:sp>
        <p:nvSpPr>
          <p:cNvPr id="6" name="Shape 4"/>
          <p:cNvSpPr/>
          <p:nvPr/>
        </p:nvSpPr>
        <p:spPr>
          <a:xfrm>
            <a:off x="10287000" y="274320"/>
            <a:ext cx="1371600" cy="329184"/>
          </a:xfrm>
          <a:prstGeom prst="roundRect">
            <a:avLst>
              <a:gd name="adj" fmla="val 13889"/>
            </a:avLst>
          </a:prstGeom>
          <a:solidFill>
            <a:srgbClr val="02C39A"/>
          </a:solidFill>
          <a:ln/>
        </p:spPr>
      </p:sp>
      <p:sp>
        <p:nvSpPr>
          <p:cNvPr id="7" name="Text 5"/>
          <p:cNvSpPr txBox="1"/>
          <p:nvPr/>
        </p:nvSpPr>
        <p:spPr>
          <a:xfrm>
            <a:off x="10287000" y="274320"/>
            <a:ext cx="1371600" cy="329184"/>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1. hafta</a:t>
            </a:r>
            <a:endParaRPr lang="tr-TR" sz="1200" dirty="0"/>
          </a:p>
        </p:txBody>
      </p:sp>
      <p:sp>
        <p:nvSpPr>
          <p:cNvPr id="8" name="Shape 6"/>
          <p:cNvSpPr/>
          <p:nvPr/>
        </p:nvSpPr>
        <p:spPr>
          <a:xfrm>
            <a:off x="640080" y="2103120"/>
            <a:ext cx="10927080" cy="91"/>
          </a:xfrm>
          <a:prstGeom prst="line">
            <a:avLst/>
          </a:prstGeom>
          <a:noFill/>
          <a:ln w="25400">
            <a:solidFill>
              <a:srgbClr val="50808E"/>
            </a:solidFill>
            <a:prstDash val="solid"/>
          </a:ln>
        </p:spPr>
      </p:sp>
      <p:sp>
        <p:nvSpPr>
          <p:cNvPr id="9" name="Shape 7"/>
          <p:cNvSpPr/>
          <p:nvPr/>
        </p:nvSpPr>
        <p:spPr>
          <a:xfrm>
            <a:off x="1065276" y="2002536"/>
            <a:ext cx="201168" cy="201168"/>
          </a:xfrm>
          <a:prstGeom prst="ellipse">
            <a:avLst/>
          </a:prstGeom>
          <a:solidFill>
            <a:srgbClr val="02C39A"/>
          </a:solidFill>
          <a:ln/>
        </p:spPr>
      </p:sp>
      <p:sp>
        <p:nvSpPr>
          <p:cNvPr id="10" name="Text 8"/>
          <p:cNvSpPr txBox="1"/>
          <p:nvPr/>
        </p:nvSpPr>
        <p:spPr>
          <a:xfrm>
            <a:off x="548640" y="1600200"/>
            <a:ext cx="1234440" cy="292608"/>
          </a:xfrm>
          <a:prstGeom prst="rect">
            <a:avLst/>
          </a:prstGeom>
          <a:noFill/>
          <a:ln/>
        </p:spPr>
        <p:txBody>
          <a:bodyPr wrap="square" lIns="0" tIns="0" rIns="0" bIns="0" rtlCol="0" anchor="t"/>
          <a:lstStyle/>
          <a:p>
            <a:pPr algn="ctr" indent="0" marL="0">
              <a:buNone/>
            </a:pPr>
            <a:r>
              <a:rPr lang="tr-TR" sz="1200" b="1" dirty="0">
                <a:solidFill>
                  <a:srgbClr val="028090"/>
                </a:solidFill>
                <a:latin typeface="Calibri" pitchFamily="34" charset="0"/>
                <a:ea typeface="Calibri" pitchFamily="34" charset="-122"/>
                <a:cs typeface="Calibri" pitchFamily="34" charset="-120"/>
              </a:rPr>
              <a:t>1945</a:t>
            </a:r>
            <a:endParaRPr lang="tr-TR" sz="1200" dirty="0"/>
          </a:p>
        </p:txBody>
      </p:sp>
      <p:sp>
        <p:nvSpPr>
          <p:cNvPr id="11" name="Text 9"/>
          <p:cNvSpPr txBox="1"/>
          <p:nvPr/>
        </p:nvSpPr>
        <p:spPr>
          <a:xfrm>
            <a:off x="576072" y="2286000"/>
            <a:ext cx="1179576" cy="502920"/>
          </a:xfrm>
          <a:prstGeom prst="rect">
            <a:avLst/>
          </a:prstGeom>
          <a:noFill/>
          <a:ln/>
        </p:spPr>
        <p:txBody>
          <a:bodyPr wrap="square" lIns="0" tIns="0" rIns="0" bIns="0" rtlCol="0" anchor="t"/>
          <a:lstStyle/>
          <a:p>
            <a:pPr algn="ctr" indent="0" marL="0">
              <a:buNone/>
            </a:pPr>
            <a:r>
              <a:rPr lang="tr-TR" sz="1250" b="1" dirty="0">
                <a:solidFill>
                  <a:srgbClr val="36454F"/>
                </a:solidFill>
                <a:latin typeface="Cambria" pitchFamily="34" charset="0"/>
                <a:ea typeface="Cambria" pitchFamily="34" charset="-122"/>
                <a:cs typeface="Cambria" pitchFamily="34" charset="-120"/>
              </a:rPr>
              <a:t>ENIAC</a:t>
            </a:r>
            <a:endParaRPr lang="tr-TR" sz="1250" dirty="0"/>
          </a:p>
        </p:txBody>
      </p:sp>
      <p:sp>
        <p:nvSpPr>
          <p:cNvPr id="12" name="Text 10"/>
          <p:cNvSpPr txBox="1"/>
          <p:nvPr/>
        </p:nvSpPr>
        <p:spPr>
          <a:xfrm>
            <a:off x="594360" y="2788920"/>
            <a:ext cx="1143000" cy="640080"/>
          </a:xfrm>
          <a:prstGeom prst="rect">
            <a:avLst/>
          </a:prstGeom>
          <a:noFill/>
          <a:ln/>
        </p:spPr>
        <p:txBody>
          <a:bodyPr wrap="square" lIns="0" tIns="0" rIns="0" bIns="0" rtlCol="0" anchor="t"/>
          <a:lstStyle/>
          <a:p>
            <a:pPr algn="ctr" indent="0" marL="0">
              <a:buNone/>
            </a:pPr>
            <a:r>
              <a:rPr lang="tr-TR" sz="1100" dirty="0">
                <a:solidFill>
                  <a:srgbClr val="3A464C"/>
                </a:solidFill>
                <a:latin typeface="Calibri" pitchFamily="34" charset="0"/>
                <a:ea typeface="Calibri" pitchFamily="34" charset="-122"/>
                <a:cs typeface="Calibri" pitchFamily="34" charset="-120"/>
              </a:rPr>
              <a:t>işletim sistemi yok, tek iş, kablolama</a:t>
            </a:r>
            <a:endParaRPr lang="tr-TR" sz="1100" dirty="0"/>
          </a:p>
        </p:txBody>
      </p:sp>
      <p:sp>
        <p:nvSpPr>
          <p:cNvPr id="13" name="Shape 11"/>
          <p:cNvSpPr/>
          <p:nvPr/>
        </p:nvSpPr>
        <p:spPr>
          <a:xfrm>
            <a:off x="2299716" y="2002536"/>
            <a:ext cx="201168" cy="201168"/>
          </a:xfrm>
          <a:prstGeom prst="ellipse">
            <a:avLst/>
          </a:prstGeom>
          <a:solidFill>
            <a:srgbClr val="02C39A"/>
          </a:solidFill>
          <a:ln/>
        </p:spPr>
      </p:sp>
      <p:sp>
        <p:nvSpPr>
          <p:cNvPr id="14" name="Text 12"/>
          <p:cNvSpPr txBox="1"/>
          <p:nvPr/>
        </p:nvSpPr>
        <p:spPr>
          <a:xfrm>
            <a:off x="1783080" y="1600200"/>
            <a:ext cx="1234440" cy="292608"/>
          </a:xfrm>
          <a:prstGeom prst="rect">
            <a:avLst/>
          </a:prstGeom>
          <a:noFill/>
          <a:ln/>
        </p:spPr>
        <p:txBody>
          <a:bodyPr wrap="square" lIns="0" tIns="0" rIns="0" bIns="0" rtlCol="0" anchor="t"/>
          <a:lstStyle/>
          <a:p>
            <a:pPr algn="ctr" indent="0" marL="0">
              <a:buNone/>
            </a:pPr>
            <a:r>
              <a:rPr lang="tr-TR" sz="1200" b="1" dirty="0">
                <a:solidFill>
                  <a:srgbClr val="028090"/>
                </a:solidFill>
                <a:latin typeface="Calibri" pitchFamily="34" charset="0"/>
                <a:ea typeface="Calibri" pitchFamily="34" charset="-122"/>
                <a:cs typeface="Calibri" pitchFamily="34" charset="-120"/>
              </a:rPr>
              <a:t>1956</a:t>
            </a:r>
            <a:endParaRPr lang="tr-TR" sz="1200" dirty="0"/>
          </a:p>
        </p:txBody>
      </p:sp>
      <p:sp>
        <p:nvSpPr>
          <p:cNvPr id="15" name="Text 13"/>
          <p:cNvSpPr txBox="1"/>
          <p:nvPr/>
        </p:nvSpPr>
        <p:spPr>
          <a:xfrm>
            <a:off x="1810512" y="2286000"/>
            <a:ext cx="1179576" cy="502920"/>
          </a:xfrm>
          <a:prstGeom prst="rect">
            <a:avLst/>
          </a:prstGeom>
          <a:noFill/>
          <a:ln/>
        </p:spPr>
        <p:txBody>
          <a:bodyPr wrap="square" lIns="0" tIns="0" rIns="0" bIns="0" rtlCol="0" anchor="t"/>
          <a:lstStyle/>
          <a:p>
            <a:pPr algn="ctr" indent="0" marL="0">
              <a:buNone/>
            </a:pPr>
            <a:r>
              <a:rPr lang="tr-TR" sz="1250" b="1" dirty="0">
                <a:solidFill>
                  <a:srgbClr val="36454F"/>
                </a:solidFill>
                <a:latin typeface="Cambria" pitchFamily="34" charset="0"/>
                <a:ea typeface="Cambria" pitchFamily="34" charset="-122"/>
                <a:cs typeface="Cambria" pitchFamily="34" charset="-120"/>
              </a:rPr>
              <a:t>GM-NAA I/O</a:t>
            </a:r>
            <a:endParaRPr lang="tr-TR" sz="1250" dirty="0"/>
          </a:p>
        </p:txBody>
      </p:sp>
      <p:sp>
        <p:nvSpPr>
          <p:cNvPr id="16" name="Text 14"/>
          <p:cNvSpPr txBox="1"/>
          <p:nvPr/>
        </p:nvSpPr>
        <p:spPr>
          <a:xfrm>
            <a:off x="1828800" y="2788920"/>
            <a:ext cx="1143000" cy="640080"/>
          </a:xfrm>
          <a:prstGeom prst="rect">
            <a:avLst/>
          </a:prstGeom>
          <a:noFill/>
          <a:ln/>
        </p:spPr>
        <p:txBody>
          <a:bodyPr wrap="square" lIns="0" tIns="0" rIns="0" bIns="0" rtlCol="0" anchor="t"/>
          <a:lstStyle/>
          <a:p>
            <a:pPr algn="ctr" indent="0" marL="0">
              <a:buNone/>
            </a:pPr>
            <a:r>
              <a:rPr lang="tr-TR" sz="1100" dirty="0">
                <a:solidFill>
                  <a:srgbClr val="3A464C"/>
                </a:solidFill>
                <a:latin typeface="Calibri" pitchFamily="34" charset="0"/>
                <a:ea typeface="Calibri" pitchFamily="34" charset="-122"/>
                <a:cs typeface="Calibri" pitchFamily="34" charset="-120"/>
              </a:rPr>
              <a:t>yerleşik monitör: toplu işleme</a:t>
            </a:r>
            <a:endParaRPr lang="tr-TR" sz="1100" dirty="0"/>
          </a:p>
        </p:txBody>
      </p:sp>
      <p:sp>
        <p:nvSpPr>
          <p:cNvPr id="17" name="Shape 15"/>
          <p:cNvSpPr/>
          <p:nvPr/>
        </p:nvSpPr>
        <p:spPr>
          <a:xfrm>
            <a:off x="3534156" y="2002536"/>
            <a:ext cx="201168" cy="201168"/>
          </a:xfrm>
          <a:prstGeom prst="ellipse">
            <a:avLst/>
          </a:prstGeom>
          <a:solidFill>
            <a:srgbClr val="02C39A"/>
          </a:solidFill>
          <a:ln/>
        </p:spPr>
      </p:sp>
      <p:sp>
        <p:nvSpPr>
          <p:cNvPr id="18" name="Text 16"/>
          <p:cNvSpPr txBox="1"/>
          <p:nvPr/>
        </p:nvSpPr>
        <p:spPr>
          <a:xfrm>
            <a:off x="3017520" y="1600200"/>
            <a:ext cx="1234440" cy="292608"/>
          </a:xfrm>
          <a:prstGeom prst="rect">
            <a:avLst/>
          </a:prstGeom>
          <a:noFill/>
          <a:ln/>
        </p:spPr>
        <p:txBody>
          <a:bodyPr wrap="square" lIns="0" tIns="0" rIns="0" bIns="0" rtlCol="0" anchor="t"/>
          <a:lstStyle/>
          <a:p>
            <a:pPr algn="ctr" indent="0" marL="0">
              <a:buNone/>
            </a:pPr>
            <a:r>
              <a:rPr lang="tr-TR" sz="1200" b="1" dirty="0">
                <a:solidFill>
                  <a:srgbClr val="028090"/>
                </a:solidFill>
                <a:latin typeface="Calibri" pitchFamily="34" charset="0"/>
                <a:ea typeface="Calibri" pitchFamily="34" charset="-122"/>
                <a:cs typeface="Calibri" pitchFamily="34" charset="-120"/>
              </a:rPr>
              <a:t>1960'lar</a:t>
            </a:r>
            <a:endParaRPr lang="tr-TR" sz="1200" dirty="0"/>
          </a:p>
        </p:txBody>
      </p:sp>
      <p:sp>
        <p:nvSpPr>
          <p:cNvPr id="19" name="Text 17"/>
          <p:cNvSpPr txBox="1"/>
          <p:nvPr/>
        </p:nvSpPr>
        <p:spPr>
          <a:xfrm>
            <a:off x="3044952" y="2286000"/>
            <a:ext cx="1179576" cy="502920"/>
          </a:xfrm>
          <a:prstGeom prst="rect">
            <a:avLst/>
          </a:prstGeom>
          <a:noFill/>
          <a:ln/>
        </p:spPr>
        <p:txBody>
          <a:bodyPr wrap="square" lIns="0" tIns="0" rIns="0" bIns="0" rtlCol="0" anchor="t"/>
          <a:lstStyle/>
          <a:p>
            <a:pPr algn="ctr" indent="0" marL="0">
              <a:buNone/>
            </a:pPr>
            <a:r>
              <a:rPr lang="tr-TR" sz="1250" b="1" dirty="0">
                <a:solidFill>
                  <a:srgbClr val="36454F"/>
                </a:solidFill>
                <a:latin typeface="Cambria" pitchFamily="34" charset="0"/>
                <a:ea typeface="Cambria" pitchFamily="34" charset="-122"/>
                <a:cs typeface="Cambria" pitchFamily="34" charset="-120"/>
              </a:rPr>
              <a:t>Çoklu programlama</a:t>
            </a:r>
            <a:endParaRPr lang="tr-TR" sz="1250" dirty="0"/>
          </a:p>
        </p:txBody>
      </p:sp>
      <p:sp>
        <p:nvSpPr>
          <p:cNvPr id="20" name="Text 18"/>
          <p:cNvSpPr txBox="1"/>
          <p:nvPr/>
        </p:nvSpPr>
        <p:spPr>
          <a:xfrm>
            <a:off x="3063240" y="2788920"/>
            <a:ext cx="1143000" cy="640080"/>
          </a:xfrm>
          <a:prstGeom prst="rect">
            <a:avLst/>
          </a:prstGeom>
          <a:noFill/>
          <a:ln/>
        </p:spPr>
        <p:txBody>
          <a:bodyPr wrap="square" lIns="0" tIns="0" rIns="0" bIns="0" rtlCol="0" anchor="t"/>
          <a:lstStyle/>
          <a:p>
            <a:pPr algn="ctr" indent="0" marL="0">
              <a:buNone/>
            </a:pPr>
            <a:r>
              <a:rPr lang="tr-TR" sz="1100" dirty="0">
                <a:solidFill>
                  <a:srgbClr val="3A464C"/>
                </a:solidFill>
                <a:latin typeface="Calibri" pitchFamily="34" charset="0"/>
                <a:ea typeface="Calibri" pitchFamily="34" charset="-122"/>
                <a:cs typeface="Calibri" pitchFamily="34" charset="-120"/>
              </a:rPr>
              <a:t>G/Ç sırasında işlemci geçiş yapar</a:t>
            </a:r>
            <a:endParaRPr lang="tr-TR" sz="1100" dirty="0"/>
          </a:p>
        </p:txBody>
      </p:sp>
      <p:sp>
        <p:nvSpPr>
          <p:cNvPr id="21" name="Shape 19"/>
          <p:cNvSpPr/>
          <p:nvPr/>
        </p:nvSpPr>
        <p:spPr>
          <a:xfrm>
            <a:off x="4768596" y="2002536"/>
            <a:ext cx="201168" cy="201168"/>
          </a:xfrm>
          <a:prstGeom prst="ellipse">
            <a:avLst/>
          </a:prstGeom>
          <a:solidFill>
            <a:srgbClr val="02C39A"/>
          </a:solidFill>
          <a:ln/>
        </p:spPr>
      </p:sp>
      <p:sp>
        <p:nvSpPr>
          <p:cNvPr id="22" name="Text 20"/>
          <p:cNvSpPr txBox="1"/>
          <p:nvPr/>
        </p:nvSpPr>
        <p:spPr>
          <a:xfrm>
            <a:off x="4251960" y="1600200"/>
            <a:ext cx="1234440" cy="292608"/>
          </a:xfrm>
          <a:prstGeom prst="rect">
            <a:avLst/>
          </a:prstGeom>
          <a:noFill/>
          <a:ln/>
        </p:spPr>
        <p:txBody>
          <a:bodyPr wrap="square" lIns="0" tIns="0" rIns="0" bIns="0" rtlCol="0" anchor="t"/>
          <a:lstStyle/>
          <a:p>
            <a:pPr algn="ctr" indent="0" marL="0">
              <a:buNone/>
            </a:pPr>
            <a:r>
              <a:rPr lang="tr-TR" sz="1200" b="1" dirty="0">
                <a:solidFill>
                  <a:srgbClr val="028090"/>
                </a:solidFill>
                <a:latin typeface="Calibri" pitchFamily="34" charset="0"/>
                <a:ea typeface="Calibri" pitchFamily="34" charset="-122"/>
                <a:cs typeface="Calibri" pitchFamily="34" charset="-120"/>
              </a:rPr>
              <a:t>1961</a:t>
            </a:r>
            <a:endParaRPr lang="tr-TR" sz="1200" dirty="0"/>
          </a:p>
        </p:txBody>
      </p:sp>
      <p:sp>
        <p:nvSpPr>
          <p:cNvPr id="23" name="Text 21"/>
          <p:cNvSpPr txBox="1"/>
          <p:nvPr/>
        </p:nvSpPr>
        <p:spPr>
          <a:xfrm>
            <a:off x="4279392" y="2286000"/>
            <a:ext cx="1179576" cy="502920"/>
          </a:xfrm>
          <a:prstGeom prst="rect">
            <a:avLst/>
          </a:prstGeom>
          <a:noFill/>
          <a:ln/>
        </p:spPr>
        <p:txBody>
          <a:bodyPr wrap="square" lIns="0" tIns="0" rIns="0" bIns="0" rtlCol="0" anchor="t"/>
          <a:lstStyle/>
          <a:p>
            <a:pPr algn="ctr" indent="0" marL="0">
              <a:buNone/>
            </a:pPr>
            <a:r>
              <a:rPr lang="tr-TR" sz="1250" b="1" dirty="0">
                <a:solidFill>
                  <a:srgbClr val="36454F"/>
                </a:solidFill>
                <a:latin typeface="Cambria" pitchFamily="34" charset="0"/>
                <a:ea typeface="Cambria" pitchFamily="34" charset="-122"/>
                <a:cs typeface="Cambria" pitchFamily="34" charset="-120"/>
              </a:rPr>
              <a:t>CTSS</a:t>
            </a:r>
            <a:endParaRPr lang="tr-TR" sz="1250" dirty="0"/>
          </a:p>
        </p:txBody>
      </p:sp>
      <p:sp>
        <p:nvSpPr>
          <p:cNvPr id="24" name="Text 22"/>
          <p:cNvSpPr txBox="1"/>
          <p:nvPr/>
        </p:nvSpPr>
        <p:spPr>
          <a:xfrm>
            <a:off x="4297680" y="2788920"/>
            <a:ext cx="1143000" cy="640080"/>
          </a:xfrm>
          <a:prstGeom prst="rect">
            <a:avLst/>
          </a:prstGeom>
          <a:noFill/>
          <a:ln/>
        </p:spPr>
        <p:txBody>
          <a:bodyPr wrap="square" lIns="0" tIns="0" rIns="0" bIns="0" rtlCol="0" anchor="t"/>
          <a:lstStyle/>
          <a:p>
            <a:pPr algn="ctr" indent="0" marL="0">
              <a:buNone/>
            </a:pPr>
            <a:r>
              <a:rPr lang="tr-TR" sz="1100" dirty="0">
                <a:solidFill>
                  <a:srgbClr val="3A464C"/>
                </a:solidFill>
                <a:latin typeface="Calibri" pitchFamily="34" charset="0"/>
                <a:ea typeface="Calibri" pitchFamily="34" charset="-122"/>
                <a:cs typeface="Calibri" pitchFamily="34" charset="-120"/>
              </a:rPr>
              <a:t>ilk zaman paylaşımı</a:t>
            </a:r>
            <a:endParaRPr lang="tr-TR" sz="1100" dirty="0"/>
          </a:p>
        </p:txBody>
      </p:sp>
      <p:sp>
        <p:nvSpPr>
          <p:cNvPr id="25" name="Shape 23"/>
          <p:cNvSpPr/>
          <p:nvPr/>
        </p:nvSpPr>
        <p:spPr>
          <a:xfrm>
            <a:off x="6003036" y="2002536"/>
            <a:ext cx="201168" cy="201168"/>
          </a:xfrm>
          <a:prstGeom prst="ellipse">
            <a:avLst/>
          </a:prstGeom>
          <a:solidFill>
            <a:srgbClr val="02C39A"/>
          </a:solidFill>
          <a:ln/>
        </p:spPr>
      </p:sp>
      <p:sp>
        <p:nvSpPr>
          <p:cNvPr id="26" name="Text 24"/>
          <p:cNvSpPr txBox="1"/>
          <p:nvPr/>
        </p:nvSpPr>
        <p:spPr>
          <a:xfrm>
            <a:off x="5486400" y="1600200"/>
            <a:ext cx="1234440" cy="292608"/>
          </a:xfrm>
          <a:prstGeom prst="rect">
            <a:avLst/>
          </a:prstGeom>
          <a:noFill/>
          <a:ln/>
        </p:spPr>
        <p:txBody>
          <a:bodyPr wrap="square" lIns="0" tIns="0" rIns="0" bIns="0" rtlCol="0" anchor="t"/>
          <a:lstStyle/>
          <a:p>
            <a:pPr algn="ctr" indent="0" marL="0">
              <a:buNone/>
            </a:pPr>
            <a:r>
              <a:rPr lang="tr-TR" sz="1200" b="1" dirty="0">
                <a:solidFill>
                  <a:srgbClr val="028090"/>
                </a:solidFill>
                <a:latin typeface="Calibri" pitchFamily="34" charset="0"/>
                <a:ea typeface="Calibri" pitchFamily="34" charset="-122"/>
                <a:cs typeface="Calibri" pitchFamily="34" charset="-120"/>
              </a:rPr>
              <a:t>1964</a:t>
            </a:r>
            <a:endParaRPr lang="tr-TR" sz="1200" dirty="0"/>
          </a:p>
        </p:txBody>
      </p:sp>
      <p:sp>
        <p:nvSpPr>
          <p:cNvPr id="27" name="Text 25"/>
          <p:cNvSpPr txBox="1"/>
          <p:nvPr/>
        </p:nvSpPr>
        <p:spPr>
          <a:xfrm>
            <a:off x="5513832" y="2286000"/>
            <a:ext cx="1179576" cy="502920"/>
          </a:xfrm>
          <a:prstGeom prst="rect">
            <a:avLst/>
          </a:prstGeom>
          <a:noFill/>
          <a:ln/>
        </p:spPr>
        <p:txBody>
          <a:bodyPr wrap="square" lIns="0" tIns="0" rIns="0" bIns="0" rtlCol="0" anchor="t"/>
          <a:lstStyle/>
          <a:p>
            <a:pPr algn="ctr" indent="0" marL="0">
              <a:buNone/>
            </a:pPr>
            <a:r>
              <a:rPr lang="tr-TR" sz="1250" b="1" dirty="0">
                <a:solidFill>
                  <a:srgbClr val="36454F"/>
                </a:solidFill>
                <a:latin typeface="Cambria" pitchFamily="34" charset="0"/>
                <a:ea typeface="Cambria" pitchFamily="34" charset="-122"/>
                <a:cs typeface="Cambria" pitchFamily="34" charset="-120"/>
              </a:rPr>
              <a:t>System/360</a:t>
            </a:r>
            <a:endParaRPr lang="tr-TR" sz="1250" dirty="0"/>
          </a:p>
        </p:txBody>
      </p:sp>
      <p:sp>
        <p:nvSpPr>
          <p:cNvPr id="28" name="Text 26"/>
          <p:cNvSpPr txBox="1"/>
          <p:nvPr/>
        </p:nvSpPr>
        <p:spPr>
          <a:xfrm>
            <a:off x="5532120" y="2788920"/>
            <a:ext cx="1143000" cy="640080"/>
          </a:xfrm>
          <a:prstGeom prst="rect">
            <a:avLst/>
          </a:prstGeom>
          <a:noFill/>
          <a:ln/>
        </p:spPr>
        <p:txBody>
          <a:bodyPr wrap="square" lIns="0" tIns="0" rIns="0" bIns="0" rtlCol="0" anchor="t"/>
          <a:lstStyle/>
          <a:p>
            <a:pPr algn="ctr" indent="0" marL="0">
              <a:buNone/>
            </a:pPr>
            <a:r>
              <a:rPr lang="tr-TR" sz="1100" dirty="0">
                <a:solidFill>
                  <a:srgbClr val="3A464C"/>
                </a:solidFill>
                <a:latin typeface="Calibri" pitchFamily="34" charset="0"/>
                <a:ea typeface="Calibri" pitchFamily="34" charset="-122"/>
                <a:cs typeface="Calibri" pitchFamily="34" charset="-120"/>
              </a:rPr>
              <a:t>tek işletim sistemi, çok makine</a:t>
            </a:r>
            <a:endParaRPr lang="tr-TR" sz="1100" dirty="0"/>
          </a:p>
        </p:txBody>
      </p:sp>
      <p:sp>
        <p:nvSpPr>
          <p:cNvPr id="29" name="Shape 27"/>
          <p:cNvSpPr/>
          <p:nvPr/>
        </p:nvSpPr>
        <p:spPr>
          <a:xfrm>
            <a:off x="7237476" y="2002536"/>
            <a:ext cx="201168" cy="201168"/>
          </a:xfrm>
          <a:prstGeom prst="ellipse">
            <a:avLst/>
          </a:prstGeom>
          <a:solidFill>
            <a:srgbClr val="02C39A"/>
          </a:solidFill>
          <a:ln/>
        </p:spPr>
      </p:sp>
      <p:sp>
        <p:nvSpPr>
          <p:cNvPr id="30" name="Text 28"/>
          <p:cNvSpPr txBox="1"/>
          <p:nvPr/>
        </p:nvSpPr>
        <p:spPr>
          <a:xfrm>
            <a:off x="6720840" y="1600200"/>
            <a:ext cx="1234440" cy="292608"/>
          </a:xfrm>
          <a:prstGeom prst="rect">
            <a:avLst/>
          </a:prstGeom>
          <a:noFill/>
          <a:ln/>
        </p:spPr>
        <p:txBody>
          <a:bodyPr wrap="square" lIns="0" tIns="0" rIns="0" bIns="0" rtlCol="0" anchor="t"/>
          <a:lstStyle/>
          <a:p>
            <a:pPr algn="ctr" indent="0" marL="0">
              <a:buNone/>
            </a:pPr>
            <a:r>
              <a:rPr lang="tr-TR" sz="1200" b="1" dirty="0">
                <a:solidFill>
                  <a:srgbClr val="028090"/>
                </a:solidFill>
                <a:latin typeface="Calibri" pitchFamily="34" charset="0"/>
                <a:ea typeface="Calibri" pitchFamily="34" charset="-122"/>
                <a:cs typeface="Calibri" pitchFamily="34" charset="-120"/>
              </a:rPr>
              <a:t>1969/73</a:t>
            </a:r>
            <a:endParaRPr lang="tr-TR" sz="1200" dirty="0"/>
          </a:p>
        </p:txBody>
      </p:sp>
      <p:sp>
        <p:nvSpPr>
          <p:cNvPr id="31" name="Text 29"/>
          <p:cNvSpPr txBox="1"/>
          <p:nvPr/>
        </p:nvSpPr>
        <p:spPr>
          <a:xfrm>
            <a:off x="6748272" y="2286000"/>
            <a:ext cx="1179576" cy="502920"/>
          </a:xfrm>
          <a:prstGeom prst="rect">
            <a:avLst/>
          </a:prstGeom>
          <a:noFill/>
          <a:ln/>
        </p:spPr>
        <p:txBody>
          <a:bodyPr wrap="square" lIns="0" tIns="0" rIns="0" bIns="0" rtlCol="0" anchor="t"/>
          <a:lstStyle/>
          <a:p>
            <a:pPr algn="ctr" indent="0" marL="0">
              <a:buNone/>
            </a:pPr>
            <a:r>
              <a:rPr lang="tr-TR" sz="1250" b="1" dirty="0">
                <a:solidFill>
                  <a:srgbClr val="36454F"/>
                </a:solidFill>
                <a:latin typeface="Cambria" pitchFamily="34" charset="0"/>
                <a:ea typeface="Cambria" pitchFamily="34" charset="-122"/>
                <a:cs typeface="Cambria" pitchFamily="34" charset="-120"/>
              </a:rPr>
              <a:t>UNIX</a:t>
            </a:r>
            <a:endParaRPr lang="tr-TR" sz="1250" dirty="0"/>
          </a:p>
        </p:txBody>
      </p:sp>
      <p:sp>
        <p:nvSpPr>
          <p:cNvPr id="32" name="Text 30"/>
          <p:cNvSpPr txBox="1"/>
          <p:nvPr/>
        </p:nvSpPr>
        <p:spPr>
          <a:xfrm>
            <a:off x="6766560" y="2788920"/>
            <a:ext cx="1143000" cy="640080"/>
          </a:xfrm>
          <a:prstGeom prst="rect">
            <a:avLst/>
          </a:prstGeom>
          <a:noFill/>
          <a:ln/>
        </p:spPr>
        <p:txBody>
          <a:bodyPr wrap="square" lIns="0" tIns="0" rIns="0" bIns="0" rtlCol="0" anchor="t"/>
          <a:lstStyle/>
          <a:p>
            <a:pPr algn="ctr" indent="0" marL="0">
              <a:buNone/>
            </a:pPr>
            <a:r>
              <a:rPr lang="tr-TR" sz="1100" dirty="0">
                <a:solidFill>
                  <a:srgbClr val="3A464C"/>
                </a:solidFill>
                <a:latin typeface="Calibri" pitchFamily="34" charset="0"/>
                <a:ea typeface="Calibri" pitchFamily="34" charset="-122"/>
                <a:cs typeface="Calibri" pitchFamily="34" charset="-120"/>
              </a:rPr>
              <a:t>küçük araçlar; C ile yeniden yazıldı</a:t>
            </a:r>
            <a:endParaRPr lang="tr-TR" sz="1100" dirty="0"/>
          </a:p>
        </p:txBody>
      </p:sp>
      <p:sp>
        <p:nvSpPr>
          <p:cNvPr id="33" name="Shape 31"/>
          <p:cNvSpPr/>
          <p:nvPr/>
        </p:nvSpPr>
        <p:spPr>
          <a:xfrm>
            <a:off x="8471916" y="2002536"/>
            <a:ext cx="201168" cy="201168"/>
          </a:xfrm>
          <a:prstGeom prst="ellipse">
            <a:avLst/>
          </a:prstGeom>
          <a:solidFill>
            <a:srgbClr val="02C39A"/>
          </a:solidFill>
          <a:ln/>
        </p:spPr>
      </p:sp>
      <p:sp>
        <p:nvSpPr>
          <p:cNvPr id="34" name="Text 32"/>
          <p:cNvSpPr txBox="1"/>
          <p:nvPr/>
        </p:nvSpPr>
        <p:spPr>
          <a:xfrm>
            <a:off x="7955280" y="1600200"/>
            <a:ext cx="1234440" cy="292608"/>
          </a:xfrm>
          <a:prstGeom prst="rect">
            <a:avLst/>
          </a:prstGeom>
          <a:noFill/>
          <a:ln/>
        </p:spPr>
        <p:txBody>
          <a:bodyPr wrap="square" lIns="0" tIns="0" rIns="0" bIns="0" rtlCol="0" anchor="t"/>
          <a:lstStyle/>
          <a:p>
            <a:pPr algn="ctr" indent="0" marL="0">
              <a:buNone/>
            </a:pPr>
            <a:r>
              <a:rPr lang="tr-TR" sz="1200" b="1" dirty="0">
                <a:solidFill>
                  <a:srgbClr val="028090"/>
                </a:solidFill>
                <a:latin typeface="Calibri" pitchFamily="34" charset="0"/>
                <a:ea typeface="Calibri" pitchFamily="34" charset="-122"/>
                <a:cs typeface="Calibri" pitchFamily="34" charset="-120"/>
              </a:rPr>
              <a:t>1981</a:t>
            </a:r>
            <a:endParaRPr lang="tr-TR" sz="1200" dirty="0"/>
          </a:p>
        </p:txBody>
      </p:sp>
      <p:sp>
        <p:nvSpPr>
          <p:cNvPr id="35" name="Text 33"/>
          <p:cNvSpPr txBox="1"/>
          <p:nvPr/>
        </p:nvSpPr>
        <p:spPr>
          <a:xfrm>
            <a:off x="7982712" y="2286000"/>
            <a:ext cx="1179576" cy="502920"/>
          </a:xfrm>
          <a:prstGeom prst="rect">
            <a:avLst/>
          </a:prstGeom>
          <a:noFill/>
          <a:ln/>
        </p:spPr>
        <p:txBody>
          <a:bodyPr wrap="square" lIns="0" tIns="0" rIns="0" bIns="0" rtlCol="0" anchor="t"/>
          <a:lstStyle/>
          <a:p>
            <a:pPr algn="ctr" indent="0" marL="0">
              <a:buNone/>
            </a:pPr>
            <a:r>
              <a:rPr lang="tr-TR" sz="1250" b="1" dirty="0">
                <a:solidFill>
                  <a:srgbClr val="36454F"/>
                </a:solidFill>
                <a:latin typeface="Cambria" pitchFamily="34" charset="0"/>
                <a:ea typeface="Cambria" pitchFamily="34" charset="-122"/>
                <a:cs typeface="Cambria" pitchFamily="34" charset="-120"/>
              </a:rPr>
              <a:t>IBM PC</a:t>
            </a:r>
            <a:endParaRPr lang="tr-TR" sz="1250" dirty="0"/>
          </a:p>
        </p:txBody>
      </p:sp>
      <p:sp>
        <p:nvSpPr>
          <p:cNvPr id="36" name="Text 34"/>
          <p:cNvSpPr txBox="1"/>
          <p:nvPr/>
        </p:nvSpPr>
        <p:spPr>
          <a:xfrm>
            <a:off x="8001000" y="2788920"/>
            <a:ext cx="1143000" cy="640080"/>
          </a:xfrm>
          <a:prstGeom prst="rect">
            <a:avLst/>
          </a:prstGeom>
          <a:noFill/>
          <a:ln/>
        </p:spPr>
        <p:txBody>
          <a:bodyPr wrap="square" lIns="0" tIns="0" rIns="0" bIns="0" rtlCol="0" anchor="t"/>
          <a:lstStyle/>
          <a:p>
            <a:pPr algn="ctr" indent="0" marL="0">
              <a:buNone/>
            </a:pPr>
            <a:r>
              <a:rPr lang="tr-TR" sz="1100" dirty="0">
                <a:solidFill>
                  <a:srgbClr val="3A464C"/>
                </a:solidFill>
                <a:latin typeface="Calibri" pitchFamily="34" charset="0"/>
                <a:ea typeface="Calibri" pitchFamily="34" charset="-122"/>
                <a:cs typeface="Calibri" pitchFamily="34" charset="-120"/>
              </a:rPr>
              <a:t>MS-DOS, koruma yok</a:t>
            </a:r>
            <a:endParaRPr lang="tr-TR" sz="1100" dirty="0"/>
          </a:p>
        </p:txBody>
      </p:sp>
      <p:sp>
        <p:nvSpPr>
          <p:cNvPr id="37" name="Shape 35"/>
          <p:cNvSpPr/>
          <p:nvPr/>
        </p:nvSpPr>
        <p:spPr>
          <a:xfrm>
            <a:off x="9706356" y="2002536"/>
            <a:ext cx="201168" cy="201168"/>
          </a:xfrm>
          <a:prstGeom prst="ellipse">
            <a:avLst/>
          </a:prstGeom>
          <a:solidFill>
            <a:srgbClr val="02C39A"/>
          </a:solidFill>
          <a:ln/>
        </p:spPr>
      </p:sp>
      <p:sp>
        <p:nvSpPr>
          <p:cNvPr id="38" name="Text 36"/>
          <p:cNvSpPr txBox="1"/>
          <p:nvPr/>
        </p:nvSpPr>
        <p:spPr>
          <a:xfrm>
            <a:off x="9189720" y="1600200"/>
            <a:ext cx="1234440" cy="292608"/>
          </a:xfrm>
          <a:prstGeom prst="rect">
            <a:avLst/>
          </a:prstGeom>
          <a:noFill/>
          <a:ln/>
        </p:spPr>
        <p:txBody>
          <a:bodyPr wrap="square" lIns="0" tIns="0" rIns="0" bIns="0" rtlCol="0" anchor="t"/>
          <a:lstStyle/>
          <a:p>
            <a:pPr algn="ctr" indent="0" marL="0">
              <a:buNone/>
            </a:pPr>
            <a:r>
              <a:rPr lang="tr-TR" sz="1200" b="1" dirty="0">
                <a:solidFill>
                  <a:srgbClr val="028090"/>
                </a:solidFill>
                <a:latin typeface="Calibri" pitchFamily="34" charset="0"/>
                <a:ea typeface="Calibri" pitchFamily="34" charset="-122"/>
                <a:cs typeface="Calibri" pitchFamily="34" charset="-120"/>
              </a:rPr>
              <a:t>1991</a:t>
            </a:r>
            <a:endParaRPr lang="tr-TR" sz="1200" dirty="0"/>
          </a:p>
        </p:txBody>
      </p:sp>
      <p:sp>
        <p:nvSpPr>
          <p:cNvPr id="39" name="Text 37"/>
          <p:cNvSpPr txBox="1"/>
          <p:nvPr/>
        </p:nvSpPr>
        <p:spPr>
          <a:xfrm>
            <a:off x="9217152" y="2286000"/>
            <a:ext cx="1179576" cy="502920"/>
          </a:xfrm>
          <a:prstGeom prst="rect">
            <a:avLst/>
          </a:prstGeom>
          <a:noFill/>
          <a:ln/>
        </p:spPr>
        <p:txBody>
          <a:bodyPr wrap="square" lIns="0" tIns="0" rIns="0" bIns="0" rtlCol="0" anchor="t"/>
          <a:lstStyle/>
          <a:p>
            <a:pPr algn="ctr" indent="0" marL="0">
              <a:buNone/>
            </a:pPr>
            <a:r>
              <a:rPr lang="tr-TR" sz="1250" b="1" dirty="0">
                <a:solidFill>
                  <a:srgbClr val="36454F"/>
                </a:solidFill>
                <a:latin typeface="Cambria" pitchFamily="34" charset="0"/>
                <a:ea typeface="Cambria" pitchFamily="34" charset="-122"/>
                <a:cs typeface="Cambria" pitchFamily="34" charset="-120"/>
              </a:rPr>
              <a:t>Linux</a:t>
            </a:r>
            <a:endParaRPr lang="tr-TR" sz="1250" dirty="0"/>
          </a:p>
        </p:txBody>
      </p:sp>
      <p:sp>
        <p:nvSpPr>
          <p:cNvPr id="40" name="Text 38"/>
          <p:cNvSpPr txBox="1"/>
          <p:nvPr/>
        </p:nvSpPr>
        <p:spPr>
          <a:xfrm>
            <a:off x="9235440" y="2788920"/>
            <a:ext cx="1143000" cy="640080"/>
          </a:xfrm>
          <a:prstGeom prst="rect">
            <a:avLst/>
          </a:prstGeom>
          <a:noFill/>
          <a:ln/>
        </p:spPr>
        <p:txBody>
          <a:bodyPr wrap="square" lIns="0" tIns="0" rIns="0" bIns="0" rtlCol="0" anchor="t"/>
          <a:lstStyle/>
          <a:p>
            <a:pPr algn="ctr" indent="0" marL="0">
              <a:buNone/>
            </a:pPr>
            <a:r>
              <a:rPr lang="tr-TR" sz="1100" dirty="0">
                <a:solidFill>
                  <a:srgbClr val="3A464C"/>
                </a:solidFill>
                <a:latin typeface="Calibri" pitchFamily="34" charset="0"/>
                <a:ea typeface="Calibri" pitchFamily="34" charset="-122"/>
                <a:cs typeface="Calibri" pitchFamily="34" charset="-120"/>
              </a:rPr>
              <a:t>özgür, UNIX benzeri çekirdek</a:t>
            </a:r>
            <a:endParaRPr lang="tr-TR" sz="1100" dirty="0"/>
          </a:p>
        </p:txBody>
      </p:sp>
      <p:sp>
        <p:nvSpPr>
          <p:cNvPr id="41" name="Shape 39"/>
          <p:cNvSpPr/>
          <p:nvPr/>
        </p:nvSpPr>
        <p:spPr>
          <a:xfrm>
            <a:off x="10940796" y="2002536"/>
            <a:ext cx="201168" cy="201168"/>
          </a:xfrm>
          <a:prstGeom prst="ellipse">
            <a:avLst/>
          </a:prstGeom>
          <a:solidFill>
            <a:srgbClr val="02C39A"/>
          </a:solidFill>
          <a:ln/>
        </p:spPr>
      </p:sp>
      <p:sp>
        <p:nvSpPr>
          <p:cNvPr id="42" name="Text 40"/>
          <p:cNvSpPr txBox="1"/>
          <p:nvPr/>
        </p:nvSpPr>
        <p:spPr>
          <a:xfrm>
            <a:off x="10424160" y="1600200"/>
            <a:ext cx="1234440" cy="292608"/>
          </a:xfrm>
          <a:prstGeom prst="rect">
            <a:avLst/>
          </a:prstGeom>
          <a:noFill/>
          <a:ln/>
        </p:spPr>
        <p:txBody>
          <a:bodyPr wrap="square" lIns="0" tIns="0" rIns="0" bIns="0" rtlCol="0" anchor="t"/>
          <a:lstStyle/>
          <a:p>
            <a:pPr algn="ctr" indent="0" marL="0">
              <a:buNone/>
            </a:pPr>
            <a:r>
              <a:rPr lang="tr-TR" sz="1200" b="1" dirty="0">
                <a:solidFill>
                  <a:srgbClr val="028090"/>
                </a:solidFill>
                <a:latin typeface="Calibri" pitchFamily="34" charset="0"/>
                <a:ea typeface="Calibri" pitchFamily="34" charset="-122"/>
                <a:cs typeface="Calibri" pitchFamily="34" charset="-120"/>
              </a:rPr>
              <a:t>2006–08</a:t>
            </a:r>
            <a:endParaRPr lang="tr-TR" sz="1200" dirty="0"/>
          </a:p>
        </p:txBody>
      </p:sp>
      <p:sp>
        <p:nvSpPr>
          <p:cNvPr id="43" name="Text 41"/>
          <p:cNvSpPr txBox="1"/>
          <p:nvPr/>
        </p:nvSpPr>
        <p:spPr>
          <a:xfrm>
            <a:off x="10451592" y="2286000"/>
            <a:ext cx="1179576" cy="502920"/>
          </a:xfrm>
          <a:prstGeom prst="rect">
            <a:avLst/>
          </a:prstGeom>
          <a:noFill/>
          <a:ln/>
        </p:spPr>
        <p:txBody>
          <a:bodyPr wrap="square" lIns="0" tIns="0" rIns="0" bIns="0" rtlCol="0" anchor="t"/>
          <a:lstStyle/>
          <a:p>
            <a:pPr algn="ctr" indent="0" marL="0">
              <a:buNone/>
            </a:pPr>
            <a:r>
              <a:rPr lang="tr-TR" sz="1250" b="1" dirty="0">
                <a:solidFill>
                  <a:srgbClr val="36454F"/>
                </a:solidFill>
                <a:latin typeface="Cambria" pitchFamily="34" charset="0"/>
                <a:ea typeface="Cambria" pitchFamily="34" charset="-122"/>
                <a:cs typeface="Cambria" pitchFamily="34" charset="-120"/>
              </a:rPr>
              <a:t>Bulut, telefon</a:t>
            </a:r>
            <a:endParaRPr lang="tr-TR" sz="1250" dirty="0"/>
          </a:p>
        </p:txBody>
      </p:sp>
      <p:sp>
        <p:nvSpPr>
          <p:cNvPr id="44" name="Text 42"/>
          <p:cNvSpPr txBox="1"/>
          <p:nvPr/>
        </p:nvSpPr>
        <p:spPr>
          <a:xfrm>
            <a:off x="10469880" y="2788920"/>
            <a:ext cx="1143000" cy="640080"/>
          </a:xfrm>
          <a:prstGeom prst="rect">
            <a:avLst/>
          </a:prstGeom>
          <a:noFill/>
          <a:ln/>
        </p:spPr>
        <p:txBody>
          <a:bodyPr wrap="square" lIns="0" tIns="0" rIns="0" bIns="0" rtlCol="0" anchor="t"/>
          <a:lstStyle/>
          <a:p>
            <a:pPr algn="ctr" indent="0" marL="0">
              <a:buNone/>
            </a:pPr>
            <a:r>
              <a:rPr lang="tr-TR" sz="1100" dirty="0">
                <a:solidFill>
                  <a:srgbClr val="3A464C"/>
                </a:solidFill>
                <a:latin typeface="Calibri" pitchFamily="34" charset="0"/>
                <a:ea typeface="Calibri" pitchFamily="34" charset="-122"/>
                <a:cs typeface="Calibri" pitchFamily="34" charset="-120"/>
              </a:rPr>
              <a:t>AWS, iPhone, Android</a:t>
            </a:r>
            <a:endParaRPr lang="tr-TR" sz="1100" dirty="0"/>
          </a:p>
        </p:txBody>
      </p:sp>
      <p:sp>
        <p:nvSpPr>
          <p:cNvPr id="45" name="Shape 43"/>
          <p:cNvSpPr/>
          <p:nvPr/>
        </p:nvSpPr>
        <p:spPr>
          <a:xfrm>
            <a:off x="548640" y="3611880"/>
            <a:ext cx="5486400" cy="2651760"/>
          </a:xfrm>
          <a:prstGeom prst="roundRect">
            <a:avLst>
              <a:gd name="adj" fmla="val 2069"/>
            </a:avLst>
          </a:prstGeom>
          <a:solidFill>
            <a:srgbClr val="F2F2F2"/>
          </a:solidFill>
          <a:ln/>
          <a:effectLst>
            <a:outerShdw sx="100000" sy="100000" kx="0" ky="0" algn="bl" rotWithShape="0" blurRad="101600" dist="25400" dir="5400000">
              <a:srgbClr val="000000">
                <a:alpha val="12000"/>
              </a:srgbClr>
            </a:outerShdw>
          </a:effectLst>
        </p:spPr>
      </p:sp>
      <p:sp>
        <p:nvSpPr>
          <p:cNvPr id="46" name="Text 44"/>
          <p:cNvSpPr txBox="1"/>
          <p:nvPr/>
        </p:nvSpPr>
        <p:spPr>
          <a:xfrm>
            <a:off x="777240" y="3794760"/>
            <a:ext cx="502920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Her biri tek satırda</a:t>
            </a:r>
            <a:endParaRPr lang="tr-TR" sz="1500" dirty="0"/>
          </a:p>
        </p:txBody>
      </p:sp>
      <p:sp>
        <p:nvSpPr>
          <p:cNvPr id="47" name="Text 45"/>
          <p:cNvSpPr txBox="1"/>
          <p:nvPr/>
        </p:nvSpPr>
        <p:spPr>
          <a:xfrm>
            <a:off x="777240" y="4251960"/>
            <a:ext cx="5029200" cy="1874520"/>
          </a:xfrm>
          <a:prstGeom prst="rect">
            <a:avLst/>
          </a:prstGeom>
          <a:noFill/>
          <a:ln/>
        </p:spPr>
        <p:txBody>
          <a:bodyPr wrap="square" lIns="0" tIns="0" rIns="0" bIns="0" rtlCol="0" anchor="t"/>
          <a:lstStyle/>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Toplu işleme:</a:t>
            </a:r>
            <a:r>
              <a:rPr lang="tr-TR" sz="1350" dirty="0">
                <a:solidFill>
                  <a:srgbClr val="3A464C"/>
                </a:solidFill>
                <a:latin typeface="Calibri" pitchFamily="34" charset="0"/>
                <a:ea typeface="Calibri" pitchFamily="34" charset="-122"/>
                <a:cs typeface="Calibri" pitchFamily="34" charset="-120"/>
              </a:rPr>
              <a:t> yerleşik monitör işleri art arda çalıştırır; insanın hazırlık süresi ortadan kalkar.</a:t>
            </a:r>
            <a:endParaRPr lang="tr-TR" sz="1350" dirty="0"/>
          </a:p>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Çoklu programlama:</a:t>
            </a:r>
            <a:r>
              <a:rPr lang="tr-TR" sz="1350" dirty="0">
                <a:solidFill>
                  <a:srgbClr val="3A464C"/>
                </a:solidFill>
                <a:latin typeface="Calibri" pitchFamily="34" charset="0"/>
                <a:ea typeface="Calibri" pitchFamily="34" charset="-122"/>
                <a:cs typeface="Calibri" pitchFamily="34" charset="-120"/>
              </a:rPr>
              <a:t> bellekte birkaç iş; biri G/Ç beklerken işlemci başkasına geçer.</a:t>
            </a:r>
            <a:endParaRPr lang="tr-TR" sz="1350" dirty="0"/>
          </a:p>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Zaman paylaşımı:</a:t>
            </a:r>
            <a:r>
              <a:rPr lang="tr-TR" sz="1350" dirty="0">
                <a:solidFill>
                  <a:srgbClr val="3A464C"/>
                </a:solidFill>
                <a:latin typeface="Calibri" pitchFamily="34" charset="0"/>
                <a:ea typeface="Calibri" pitchFamily="34" charset="-122"/>
                <a:cs typeface="Calibri" pitchFamily="34" charset="-120"/>
              </a:rPr>
              <a:t> sırayla kısa zaman dilimleri; her kullanıcı makinenin tamamı kendisininmiş gibi hisseder.</a:t>
            </a:r>
            <a:endParaRPr lang="tr-TR" sz="1350" dirty="0"/>
          </a:p>
        </p:txBody>
      </p:sp>
      <p:sp>
        <p:nvSpPr>
          <p:cNvPr id="48" name="Shape 46"/>
          <p:cNvSpPr/>
          <p:nvPr/>
        </p:nvSpPr>
        <p:spPr>
          <a:xfrm>
            <a:off x="6263640" y="3611880"/>
            <a:ext cx="5394960" cy="2651760"/>
          </a:xfrm>
          <a:prstGeom prst="roundRect">
            <a:avLst>
              <a:gd name="adj" fmla="val 1724"/>
            </a:avLst>
          </a:prstGeom>
          <a:solidFill>
            <a:srgbClr val="212121"/>
          </a:solidFill>
          <a:ln/>
        </p:spPr>
      </p:sp>
      <p:sp>
        <p:nvSpPr>
          <p:cNvPr id="49" name="Text 47"/>
          <p:cNvSpPr txBox="1"/>
          <p:nvPr/>
        </p:nvSpPr>
        <p:spPr>
          <a:xfrm>
            <a:off x="6446520" y="3721608"/>
            <a:ext cx="5029200" cy="2432304"/>
          </a:xfrm>
          <a:prstGeom prst="rect">
            <a:avLst/>
          </a:prstGeom>
          <a:noFill/>
          <a:ln/>
        </p:spPr>
        <p:txBody>
          <a:bodyPr wrap="square" lIns="0" tIns="0" rIns="0" bIns="0" rtlCol="0" anchor="t"/>
          <a:lstStyle/>
          <a:p>
            <a:pPr indent="0" marL="0">
              <a:lnSpc>
                <a:spcPct val="105000"/>
              </a:lnSpc>
              <a:buNone/>
            </a:pPr>
            <a:r>
              <a:rPr lang="tr-TR" sz="1400" dirty="0">
                <a:solidFill>
                  <a:srgbClr val="8A9AA0"/>
                </a:solidFill>
                <a:latin typeface="Consolas" pitchFamily="34" charset="0"/>
                <a:ea typeface="Consolas" pitchFamily="34" charset="-122"/>
                <a:cs typeface="Consolas" pitchFamily="34" charset="-120"/>
              </a:rPr>
              <a:t># işlemci kullanım oranı, toplu işleme</a:t>
            </a:r>
            <a:endParaRPr lang="tr-TR" sz="1400" dirty="0"/>
          </a:p>
          <a:p>
            <a:pPr indent="0" marL="0">
              <a:lnSpc>
                <a:spcPct val="105000"/>
              </a:lnSpc>
              <a:buNone/>
            </a:pPr>
            <a:r>
              <a:rPr lang="tr-TR" sz="1400" dirty="0">
                <a:solidFill>
                  <a:srgbClr val="F2F2F2"/>
                </a:solidFill>
                <a:latin typeface="Consolas" pitchFamily="34" charset="0"/>
                <a:ea typeface="Consolas" pitchFamily="34" charset="-122"/>
                <a:cs typeface="Consolas" pitchFamily="34" charset="-120"/>
              </a:rPr>
              <a:t>U = t_çalışma / (t_çalışma + t_hazırlık)</a:t>
            </a:r>
            <a:endParaRPr lang="tr-TR" sz="1400" dirty="0"/>
          </a:p>
          <a:p>
            <a:pPr indent="0" marL="0">
              <a:lnSpc>
                <a:spcPct val="105000"/>
              </a:lnSpc>
              <a:buNone/>
            </a:pPr>
            <a:r>
              <a:rPr lang="tr-TR" sz="1400" dirty="0">
                <a:solidFill>
                  <a:srgbClr val="F2F2F2"/>
                </a:solidFill>
                <a:latin typeface="Consolas" pitchFamily="34" charset="0"/>
                <a:ea typeface="Consolas" pitchFamily="34" charset="-122"/>
                <a:cs typeface="Consolas" pitchFamily="34" charset="-120"/>
              </a:rPr>
              <a:t> </a:t>
            </a:r>
            <a:endParaRPr lang="tr-TR" sz="1400" dirty="0"/>
          </a:p>
          <a:p>
            <a:pPr indent="0" marL="0">
              <a:lnSpc>
                <a:spcPct val="105000"/>
              </a:lnSpc>
              <a:buNone/>
            </a:pPr>
            <a:r>
              <a:rPr lang="tr-TR" sz="1400" dirty="0">
                <a:solidFill>
                  <a:srgbClr val="8A9AA0"/>
                </a:solidFill>
                <a:latin typeface="Consolas" pitchFamily="34" charset="0"/>
                <a:ea typeface="Consolas" pitchFamily="34" charset="-122"/>
                <a:cs typeface="Consolas" pitchFamily="34" charset="-120"/>
              </a:rPr>
              <a:t># n iş, her biri p kesri kadar G/Ç bekler</a:t>
            </a:r>
            <a:endParaRPr lang="tr-TR" sz="1400" dirty="0"/>
          </a:p>
          <a:p>
            <a:pPr indent="0" marL="0">
              <a:lnSpc>
                <a:spcPct val="105000"/>
              </a:lnSpc>
              <a:buNone/>
            </a:pPr>
            <a:r>
              <a:rPr lang="tr-TR" sz="1400" dirty="0">
                <a:solidFill>
                  <a:srgbClr val="F2F2F2"/>
                </a:solidFill>
                <a:latin typeface="Consolas" pitchFamily="34" charset="0"/>
                <a:ea typeface="Consolas" pitchFamily="34" charset="-122"/>
                <a:cs typeface="Consolas" pitchFamily="34" charset="-120"/>
              </a:rPr>
              <a:t>U(n) = 1 − pⁿ</a:t>
            </a:r>
            <a:endParaRPr lang="tr-TR" sz="1400" dirty="0"/>
          </a:p>
          <a:p>
            <a:pPr indent="0" marL="0">
              <a:lnSpc>
                <a:spcPct val="105000"/>
              </a:lnSpc>
              <a:buNone/>
            </a:pPr>
            <a:r>
              <a:rPr lang="tr-TR" sz="1400" dirty="0">
                <a:solidFill>
                  <a:srgbClr val="F2F2F2"/>
                </a:solidFill>
                <a:latin typeface="Consolas" pitchFamily="34" charset="0"/>
                <a:ea typeface="Consolas" pitchFamily="34" charset="-122"/>
                <a:cs typeface="Consolas" pitchFamily="34" charset="-120"/>
              </a:rPr>
              <a:t> </a:t>
            </a:r>
            <a:endParaRPr lang="tr-TR" sz="1400" dirty="0"/>
          </a:p>
          <a:p>
            <a:pPr indent="0" marL="0">
              <a:lnSpc>
                <a:spcPct val="105000"/>
              </a:lnSpc>
              <a:buNone/>
            </a:pPr>
            <a:r>
              <a:rPr lang="tr-TR" sz="1400" dirty="0">
                <a:solidFill>
                  <a:srgbClr val="8A9AA0"/>
                </a:solidFill>
                <a:latin typeface="Consolas" pitchFamily="34" charset="0"/>
                <a:ea typeface="Consolas" pitchFamily="34" charset="-122"/>
                <a:cs typeface="Consolas" pitchFamily="34" charset="-120"/>
              </a:rPr>
              <a:t># zaman paylaşımı: en kötü durumda bekleme</a:t>
            </a:r>
            <a:endParaRPr lang="tr-TR" sz="1400" dirty="0"/>
          </a:p>
          <a:p>
            <a:pPr indent="0" marL="0">
              <a:lnSpc>
                <a:spcPct val="105000"/>
              </a:lnSpc>
              <a:buNone/>
            </a:pPr>
            <a:r>
              <a:rPr lang="tr-TR" sz="1400" dirty="0">
                <a:solidFill>
                  <a:srgbClr val="F2F2F2"/>
                </a:solidFill>
                <a:latin typeface="Consolas" pitchFamily="34" charset="0"/>
                <a:ea typeface="Consolas" pitchFamily="34" charset="-122"/>
                <a:cs typeface="Consolas" pitchFamily="34" charset="-120"/>
              </a:rPr>
              <a:t>T_bekleme ≈ n · q</a:t>
            </a:r>
            <a:endParaRPr lang="tr-TR"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2. HAFTA · TEMELLER</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İşletim Sistemi Nedir, Kendini Nasıl Korur?</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8  ·  8</a:t>
            </a:r>
            <a:endParaRPr lang="tr-TR" sz="900" dirty="0"/>
          </a:p>
        </p:txBody>
      </p:sp>
      <p:sp>
        <p:nvSpPr>
          <p:cNvPr id="6" name="Shape 4"/>
          <p:cNvSpPr/>
          <p:nvPr/>
        </p:nvSpPr>
        <p:spPr>
          <a:xfrm>
            <a:off x="548640" y="1508760"/>
            <a:ext cx="355092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sp>
      <p:sp>
        <p:nvSpPr>
          <p:cNvPr id="7" name="Text 5"/>
          <p:cNvSpPr txBox="1"/>
          <p:nvPr/>
        </p:nvSpPr>
        <p:spPr>
          <a:xfrm>
            <a:off x="777240" y="169164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Tanım ve bakış açıları</a:t>
            </a:r>
            <a:endParaRPr lang="tr-TR" sz="1600" dirty="0"/>
          </a:p>
        </p:txBody>
      </p:sp>
      <p:sp>
        <p:nvSpPr>
          <p:cNvPr id="8" name="Text 6"/>
          <p:cNvSpPr txBox="1"/>
          <p:nvPr/>
        </p:nvSpPr>
        <p:spPr>
          <a:xfrm>
            <a:off x="777240" y="2148840"/>
            <a:ext cx="3093720" cy="1485900"/>
          </a:xfrm>
          <a:prstGeom prst="rect">
            <a:avLst/>
          </a:prstGeom>
          <a:noFill/>
          <a:ln/>
        </p:spPr>
        <p:txBody>
          <a:bodyPr wrap="square" lIns="0" tIns="0" rIns="0" bIns="0" rtlCol="0" anchor="t"/>
          <a:lstStyle/>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Çekirdek: her zaman çalışan tek program.</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Genişletilmiş makine (yukarıdan aşağı): temiz soyutlamalar — dosyalar, süreçler.</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Kaynak yöneticisi (aşağıdan yukarı): zamanda ve uzayda çoğullama.</a:t>
            </a:r>
            <a:endParaRPr lang="tr-TR" sz="1350" dirty="0"/>
          </a:p>
        </p:txBody>
      </p:sp>
      <p:sp>
        <p:nvSpPr>
          <p:cNvPr id="9" name="Shape 7"/>
          <p:cNvSpPr/>
          <p:nvPr/>
        </p:nvSpPr>
        <p:spPr>
          <a:xfrm>
            <a:off x="4328160" y="1508760"/>
            <a:ext cx="355092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sp>
      <p:sp>
        <p:nvSpPr>
          <p:cNvPr id="10" name="Text 8"/>
          <p:cNvSpPr txBox="1"/>
          <p:nvPr/>
        </p:nvSpPr>
        <p:spPr>
          <a:xfrm>
            <a:off x="4556760" y="169164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Hedefler ve bileşenler</a:t>
            </a:r>
            <a:endParaRPr lang="tr-TR" sz="1600" dirty="0"/>
          </a:p>
        </p:txBody>
      </p:sp>
      <p:sp>
        <p:nvSpPr>
          <p:cNvPr id="11" name="Text 9"/>
          <p:cNvSpPr txBox="1"/>
          <p:nvPr/>
        </p:nvSpPr>
        <p:spPr>
          <a:xfrm>
            <a:off x="4556760" y="2148840"/>
            <a:ext cx="3093720" cy="1485900"/>
          </a:xfrm>
          <a:prstGeom prst="rect">
            <a:avLst/>
          </a:prstGeom>
          <a:noFill/>
          <a:ln/>
        </p:spPr>
        <p:txBody>
          <a:bodyPr wrap="square" lIns="0" tIns="0" rIns="0" bIns="0" rtlCol="0" anchor="t"/>
          <a:lstStyle/>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Hedefler: kullanım kolaylığı, verimlilik, gelişebilirlik — birbiriyle çatışırlar.</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Dört bileşen: donanım, işletim sistemi, uygulama programları, kullanıcılar.</a:t>
            </a:r>
            <a:endParaRPr lang="tr-TR" sz="1350" dirty="0"/>
          </a:p>
        </p:txBody>
      </p:sp>
      <p:sp>
        <p:nvSpPr>
          <p:cNvPr id="12" name="Shape 10"/>
          <p:cNvSpPr/>
          <p:nvPr/>
        </p:nvSpPr>
        <p:spPr>
          <a:xfrm>
            <a:off x="8107680" y="1508760"/>
            <a:ext cx="355092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sp>
      <p:sp>
        <p:nvSpPr>
          <p:cNvPr id="13" name="Text 11"/>
          <p:cNvSpPr txBox="1"/>
          <p:nvPr/>
        </p:nvSpPr>
        <p:spPr>
          <a:xfrm>
            <a:off x="8336280" y="169164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Kesmeler</a:t>
            </a:r>
            <a:endParaRPr lang="tr-TR" sz="1600" dirty="0"/>
          </a:p>
        </p:txBody>
      </p:sp>
      <p:sp>
        <p:nvSpPr>
          <p:cNvPr id="14" name="Text 12"/>
          <p:cNvSpPr txBox="1"/>
          <p:nvPr/>
        </p:nvSpPr>
        <p:spPr>
          <a:xfrm>
            <a:off x="8336280" y="2148840"/>
            <a:ext cx="3093720" cy="1485900"/>
          </a:xfrm>
          <a:prstGeom prst="rect">
            <a:avLst/>
          </a:prstGeom>
          <a:noFill/>
          <a:ln/>
        </p:spPr>
        <p:txBody>
          <a:bodyPr wrap="square" lIns="0" tIns="0" rIns="0" bIns="0" rtlCol="0" anchor="t"/>
          <a:lstStyle/>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Aygıt işlemciye sinyal verir; durum kaydedilir; işleyici kesme vektöründe bulunur; durum geri yüklenir.</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İşletim sistemi kesme güdümlüdür; yoklama işlemciyi boşa harcar.</a:t>
            </a:r>
            <a:endParaRPr lang="tr-TR" sz="1350" dirty="0"/>
          </a:p>
        </p:txBody>
      </p:sp>
      <p:sp>
        <p:nvSpPr>
          <p:cNvPr id="15" name="Shape 13"/>
          <p:cNvSpPr/>
          <p:nvPr/>
        </p:nvSpPr>
        <p:spPr>
          <a:xfrm>
            <a:off x="548640" y="4000500"/>
            <a:ext cx="355092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sp>
      <p:sp>
        <p:nvSpPr>
          <p:cNvPr id="16" name="Text 14"/>
          <p:cNvSpPr txBox="1"/>
          <p:nvPr/>
        </p:nvSpPr>
        <p:spPr>
          <a:xfrm>
            <a:off x="777240" y="418338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Bellek hiyerarşisi</a:t>
            </a:r>
            <a:endParaRPr lang="tr-TR" sz="1600" dirty="0"/>
          </a:p>
        </p:txBody>
      </p:sp>
      <p:sp>
        <p:nvSpPr>
          <p:cNvPr id="17" name="Text 15"/>
          <p:cNvSpPr txBox="1"/>
          <p:nvPr/>
        </p:nvSpPr>
        <p:spPr>
          <a:xfrm>
            <a:off x="777240" y="4640580"/>
            <a:ext cx="3093720" cy="1485900"/>
          </a:xfrm>
          <a:prstGeom prst="rect">
            <a:avLst/>
          </a:prstGeom>
          <a:noFill/>
          <a:ln/>
        </p:spPr>
        <p:txBody>
          <a:bodyPr wrap="square" lIns="0" tIns="0" rIns="0" bIns="0" rtlCol="0" anchor="t"/>
          <a:lstStyle/>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Yazmaçlar ≈ 0,3 ns, önbellek, RAM ≈ 100 ns, SSD ≈ 50 µs, HDD ≈ 5 ms.</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Yazmaçlar, önbellek ve RAM uçucudur.</a:t>
            </a:r>
            <a:endParaRPr lang="tr-TR" sz="1350" dirty="0"/>
          </a:p>
        </p:txBody>
      </p:sp>
      <p:sp>
        <p:nvSpPr>
          <p:cNvPr id="18" name="Shape 16"/>
          <p:cNvSpPr/>
          <p:nvPr/>
        </p:nvSpPr>
        <p:spPr>
          <a:xfrm>
            <a:off x="4328160" y="4000500"/>
            <a:ext cx="355092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sp>
      <p:sp>
        <p:nvSpPr>
          <p:cNvPr id="19" name="Text 17"/>
          <p:cNvSpPr txBox="1"/>
          <p:nvPr/>
        </p:nvSpPr>
        <p:spPr>
          <a:xfrm>
            <a:off x="4556760" y="418338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İkili mod</a:t>
            </a:r>
            <a:endParaRPr lang="tr-TR" sz="1600" dirty="0"/>
          </a:p>
        </p:txBody>
      </p:sp>
      <p:sp>
        <p:nvSpPr>
          <p:cNvPr id="20" name="Text 18"/>
          <p:cNvSpPr txBox="1"/>
          <p:nvPr/>
        </p:nvSpPr>
        <p:spPr>
          <a:xfrm>
            <a:off x="4556760" y="4640580"/>
            <a:ext cx="3093720" cy="1485900"/>
          </a:xfrm>
          <a:prstGeom prst="rect">
            <a:avLst/>
          </a:prstGeom>
          <a:noFill/>
          <a:ln/>
        </p:spPr>
        <p:txBody>
          <a:bodyPr wrap="square" lIns="0" tIns="0" rIns="0" bIns="0" rtlCol="0" anchor="t"/>
          <a:lstStyle/>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Mod biti 0 = çekirdek modu, 1 = kullanıcı modu.</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Kullanıcı modunda ayrıcalıklı komut → tuzak.</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Sistem çağrısı: çekirdek moduna geçiş ve geri dönüş.</a:t>
            </a:r>
            <a:endParaRPr lang="tr-TR" sz="1350" dirty="0"/>
          </a:p>
        </p:txBody>
      </p:sp>
      <p:sp>
        <p:nvSpPr>
          <p:cNvPr id="21" name="Shape 19"/>
          <p:cNvSpPr/>
          <p:nvPr/>
        </p:nvSpPr>
        <p:spPr>
          <a:xfrm>
            <a:off x="8107680" y="4000500"/>
            <a:ext cx="355092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sp>
      <p:sp>
        <p:nvSpPr>
          <p:cNvPr id="22" name="Text 20"/>
          <p:cNvSpPr txBox="1"/>
          <p:nvPr/>
        </p:nvSpPr>
        <p:spPr>
          <a:xfrm>
            <a:off x="8336280" y="418338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Sistem çağrısının maliyeti</a:t>
            </a:r>
            <a:endParaRPr lang="tr-TR" sz="1600" dirty="0"/>
          </a:p>
        </p:txBody>
      </p:sp>
      <p:sp>
        <p:nvSpPr>
          <p:cNvPr id="23" name="Text 21"/>
          <p:cNvSpPr txBox="1"/>
          <p:nvPr/>
        </p:nvSpPr>
        <p:spPr>
          <a:xfrm>
            <a:off x="8336280" y="4640580"/>
            <a:ext cx="3093720" cy="1485900"/>
          </a:xfrm>
          <a:prstGeom prst="rect">
            <a:avLst/>
          </a:prstGeom>
          <a:noFill/>
          <a:ln/>
        </p:spPr>
        <p:txBody>
          <a:bodyPr wrap="square" lIns="0" tIns="0" rIns="0" bIns="0" rtlCol="0" anchor="t"/>
          <a:lstStyle/>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Ölçtük: sistem çağrısı başına ≈ 116 ns, fonksiyon çağrısı başına ≈ 1,5 ns.</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Kullanıcı/çekirdek sınırını geçmek pahalıdır.</a:t>
            </a:r>
            <a:endParaRPr lang="tr-TR" sz="1350" dirty="0"/>
          </a:p>
        </p:txBody>
      </p:sp>
      <p:sp>
        <p:nvSpPr>
          <p:cNvPr id="24" name="Shape 22"/>
          <p:cNvSpPr/>
          <p:nvPr/>
        </p:nvSpPr>
        <p:spPr>
          <a:xfrm>
            <a:off x="10287000" y="274320"/>
            <a:ext cx="1371600" cy="329184"/>
          </a:xfrm>
          <a:prstGeom prst="roundRect">
            <a:avLst>
              <a:gd name="adj" fmla="val 13889"/>
            </a:avLst>
          </a:prstGeom>
          <a:solidFill>
            <a:srgbClr val="02C39A"/>
          </a:solidFill>
          <a:ln/>
        </p:spPr>
      </p:sp>
      <p:sp>
        <p:nvSpPr>
          <p:cNvPr id="25" name="Text 23"/>
          <p:cNvSpPr txBox="1"/>
          <p:nvPr/>
        </p:nvSpPr>
        <p:spPr>
          <a:xfrm>
            <a:off x="10287000" y="274320"/>
            <a:ext cx="1371600" cy="329184"/>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2. hafta</a:t>
            </a:r>
            <a:endParaRPr lang="tr-TR"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2. HAFTA · İŞLETİM SİSTEMİ YAPILARI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Bir İşletim Sistemini Kurmanın Altı Yolu</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8  ·  9</a:t>
            </a:r>
            <a:endParaRPr lang="tr-TR"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109960" cy="914400"/>
        </p:xfrm>
        <a:graphic>
          <a:graphicData uri="http://schemas.openxmlformats.org/drawingml/2006/table">
            <a:tbl>
              <a:tblPr/>
              <a:tblGrid>
                <a:gridCol w="1828800"/>
                <a:gridCol w="3291840"/>
                <a:gridCol w="1280160"/>
                <a:gridCol w="1737360"/>
                <a:gridCol w="2971800"/>
              </a:tblGrid>
              <a:tr h="0">
                <a:tc>
                  <a:txBody>
                    <a:bodyPr/>
                    <a:lstStyle/>
                    <a:p>
                      <a:pPr indent="0" marL="0">
                        <a:buNone/>
                      </a:pPr>
                      <a:r>
                        <a:rPr lang="tr-TR" sz="1650" b="1" dirty="0">
                          <a:solidFill>
                            <a:srgbClr val="FFFFFF"/>
                          </a:solidFill>
                          <a:latin typeface="Cambria" pitchFamily="34" charset="0"/>
                          <a:ea typeface="Cambria" pitchFamily="34" charset="-122"/>
                          <a:cs typeface="Cambria" pitchFamily="34" charset="-120"/>
                        </a:rPr>
                        <a:t>Yapı</a:t>
                      </a:r>
                      <a:endParaRPr lang="tr-TR" sz="16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650" b="1" dirty="0">
                          <a:solidFill>
                            <a:srgbClr val="FFFFFF"/>
                          </a:solidFill>
                          <a:latin typeface="Cambria" pitchFamily="34" charset="0"/>
                          <a:ea typeface="Cambria" pitchFamily="34" charset="-122"/>
                          <a:cs typeface="Cambria" pitchFamily="34" charset="-120"/>
                        </a:rPr>
                        <a:t>Çekirdek modunda</a:t>
                      </a:r>
                      <a:endParaRPr lang="tr-TR" sz="16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650" b="1" dirty="0">
                          <a:solidFill>
                            <a:srgbClr val="FFFFFF"/>
                          </a:solidFill>
                          <a:latin typeface="Cambria" pitchFamily="34" charset="0"/>
                          <a:ea typeface="Cambria" pitchFamily="34" charset="-122"/>
                          <a:cs typeface="Cambria" pitchFamily="34" charset="-120"/>
                        </a:rPr>
                        <a:t>Hız</a:t>
                      </a:r>
                      <a:endParaRPr lang="tr-TR" sz="16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650" b="1" dirty="0">
                          <a:solidFill>
                            <a:srgbClr val="FFFFFF"/>
                          </a:solidFill>
                          <a:latin typeface="Cambria" pitchFamily="34" charset="0"/>
                          <a:ea typeface="Cambria" pitchFamily="34" charset="-122"/>
                          <a:cs typeface="Cambria" pitchFamily="34" charset="-120"/>
                        </a:rPr>
                        <a:t>Güvenilirlik</a:t>
                      </a:r>
                      <a:endParaRPr lang="tr-TR" sz="16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650" b="1" dirty="0">
                          <a:solidFill>
                            <a:srgbClr val="FFFFFF"/>
                          </a:solidFill>
                          <a:latin typeface="Cambria" pitchFamily="34" charset="0"/>
                          <a:ea typeface="Cambria" pitchFamily="34" charset="-122"/>
                          <a:cs typeface="Cambria" pitchFamily="34" charset="-120"/>
                        </a:rPr>
                        <a:t>Örnek</a:t>
                      </a:r>
                      <a:endParaRPr lang="tr-TR" sz="16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tr-TR" sz="1550" b="1" dirty="0">
                          <a:solidFill>
                            <a:srgbClr val="3A464C"/>
                          </a:solidFill>
                          <a:latin typeface="Calibri" pitchFamily="34" charset="0"/>
                          <a:ea typeface="Calibri" pitchFamily="34" charset="-122"/>
                          <a:cs typeface="Calibri" pitchFamily="34" charset="-120"/>
                        </a:rPr>
                        <a:t>Basit</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her şey (koruma yok)</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yüksek</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çok düşük</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MS-DOS</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550" b="1" dirty="0">
                          <a:solidFill>
                            <a:srgbClr val="3A464C"/>
                          </a:solidFill>
                          <a:latin typeface="Calibri" pitchFamily="34" charset="0"/>
                          <a:ea typeface="Calibri" pitchFamily="34" charset="-122"/>
                          <a:cs typeface="Calibri" pitchFamily="34" charset="-120"/>
                        </a:rPr>
                        <a:t>Monolitik</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tüm işletim sistemi hizmetleri</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yüksek</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orta</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UNIX, Linux</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550" b="1" dirty="0">
                          <a:solidFill>
                            <a:srgbClr val="3A464C"/>
                          </a:solidFill>
                          <a:latin typeface="Calibri" pitchFamily="34" charset="0"/>
                          <a:ea typeface="Calibri" pitchFamily="34" charset="-122"/>
                          <a:cs typeface="Calibri" pitchFamily="34" charset="-120"/>
                        </a:rPr>
                        <a:t>Katmanlı</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tüm katmanlar</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düşük</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yüksek</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THE (1968)</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550" b="1" dirty="0">
                          <a:solidFill>
                            <a:srgbClr val="3A464C"/>
                          </a:solidFill>
                          <a:latin typeface="Calibri" pitchFamily="34" charset="0"/>
                          <a:ea typeface="Calibri" pitchFamily="34" charset="-122"/>
                          <a:cs typeface="Calibri" pitchFamily="34" charset="-120"/>
                        </a:rPr>
                        <a:t>Mikroçekirdek</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yalnızca küçük çekirdek</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daha düşük</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yüksek</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MINIX 3, QNX, seL4</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550" b="1" dirty="0">
                          <a:solidFill>
                            <a:srgbClr val="3A464C"/>
                          </a:solidFill>
                          <a:latin typeface="Calibri" pitchFamily="34" charset="0"/>
                          <a:ea typeface="Calibri" pitchFamily="34" charset="-122"/>
                          <a:cs typeface="Calibri" pitchFamily="34" charset="-120"/>
                        </a:rPr>
                        <a:t>Modüler</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öz + yüklenen modüller</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yüksek</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orta</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Linux, Solaris</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550" b="1" dirty="0">
                          <a:solidFill>
                            <a:srgbClr val="3A464C"/>
                          </a:solidFill>
                          <a:latin typeface="Calibri" pitchFamily="34" charset="0"/>
                          <a:ea typeface="Calibri" pitchFamily="34" charset="-122"/>
                          <a:cs typeface="Calibri" pitchFamily="34" charset="-120"/>
                        </a:rPr>
                        <a:t>Hibrit</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değişir</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yüksek</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orta–yüksek</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Windows, macOS, Android</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sp>
      <p:sp>
        <p:nvSpPr>
          <p:cNvPr id="8" name="Text 5"/>
          <p:cNvSpPr txBox="1"/>
          <p:nvPr/>
        </p:nvSpPr>
        <p:spPr>
          <a:xfrm>
            <a:off x="777240" y="5486400"/>
            <a:ext cx="10652760" cy="77724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Tek bir isteğin maliyeti: T_mono = 2t_s + t_w, buna karşılık T_µ = 4t_s + 2t_c + t_w (4 mod geçişi + 2 ileti kopyası). Her sınır güvenilirlik kazandırır, hız kaybettirir.</a:t>
            </a:r>
            <a:endParaRPr lang="tr-TR" sz="1400" dirty="0"/>
          </a:p>
        </p:txBody>
      </p:sp>
      <p:sp>
        <p:nvSpPr>
          <p:cNvPr id="9" name="Shape 6"/>
          <p:cNvSpPr/>
          <p:nvPr/>
        </p:nvSpPr>
        <p:spPr>
          <a:xfrm>
            <a:off x="10287000" y="274320"/>
            <a:ext cx="1371600" cy="329184"/>
          </a:xfrm>
          <a:prstGeom prst="roundRect">
            <a:avLst>
              <a:gd name="adj" fmla="val 13889"/>
            </a:avLst>
          </a:prstGeom>
          <a:solidFill>
            <a:srgbClr val="02C39A"/>
          </a:solidFill>
          <a:ln/>
        </p:spPr>
      </p:sp>
      <p:sp>
        <p:nvSpPr>
          <p:cNvPr id="10" name="Text 7"/>
          <p:cNvSpPr txBox="1"/>
          <p:nvPr/>
        </p:nvSpPr>
        <p:spPr>
          <a:xfrm>
            <a:off x="10287000" y="274320"/>
            <a:ext cx="1371600" cy="329184"/>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2. hafta</a:t>
            </a:r>
            <a:endParaRPr lang="tr-TR"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3. HAFTA · HİZMETLER VE SİSTEM ÇAĞRILARI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printf()'ten Çekirdeğe ve Geri</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8  ·  10</a:t>
            </a:r>
            <a:endParaRPr lang="tr-TR" sz="900" dirty="0"/>
          </a:p>
        </p:txBody>
      </p:sp>
      <p:sp>
        <p:nvSpPr>
          <p:cNvPr id="6" name="Shape 4"/>
          <p:cNvSpPr/>
          <p:nvPr/>
        </p:nvSpPr>
        <p:spPr>
          <a:xfrm>
            <a:off x="10287000" y="274320"/>
            <a:ext cx="1371600" cy="329184"/>
          </a:xfrm>
          <a:prstGeom prst="roundRect">
            <a:avLst>
              <a:gd name="adj" fmla="val 13889"/>
            </a:avLst>
          </a:prstGeom>
          <a:solidFill>
            <a:srgbClr val="02C39A"/>
          </a:solidFill>
          <a:ln/>
        </p:spPr>
      </p:sp>
      <p:sp>
        <p:nvSpPr>
          <p:cNvPr id="7" name="Text 5"/>
          <p:cNvSpPr txBox="1"/>
          <p:nvPr/>
        </p:nvSpPr>
        <p:spPr>
          <a:xfrm>
            <a:off x="10287000" y="274320"/>
            <a:ext cx="1371600" cy="329184"/>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3. hafta</a:t>
            </a:r>
            <a:endParaRPr lang="tr-TR" sz="1200" dirty="0"/>
          </a:p>
        </p:txBody>
      </p:sp>
      <p:sp>
        <p:nvSpPr>
          <p:cNvPr id="8" name="Shape 6"/>
          <p:cNvSpPr/>
          <p:nvPr/>
        </p:nvSpPr>
        <p:spPr>
          <a:xfrm>
            <a:off x="548640" y="1691640"/>
            <a:ext cx="1965960" cy="868680"/>
          </a:xfrm>
          <a:prstGeom prst="roundRect">
            <a:avLst>
              <a:gd name="adj" fmla="val 5263"/>
            </a:avLst>
          </a:prstGeom>
          <a:solidFill>
            <a:srgbClr val="F2F2F2"/>
          </a:solidFill>
          <a:ln/>
        </p:spPr>
      </p:sp>
      <p:sp>
        <p:nvSpPr>
          <p:cNvPr id="9" name="Text 7"/>
          <p:cNvSpPr txBox="1"/>
          <p:nvPr/>
        </p:nvSpPr>
        <p:spPr>
          <a:xfrm>
            <a:off x="548640" y="1691640"/>
            <a:ext cx="1965960" cy="868680"/>
          </a:xfrm>
          <a:prstGeom prst="rect">
            <a:avLst/>
          </a:prstGeom>
          <a:noFill/>
          <a:ln/>
        </p:spPr>
        <p:txBody>
          <a:bodyPr wrap="square" lIns="38100" tIns="38100" rIns="38100" bIns="38100" rtlCol="0" anchor="ctr"/>
          <a:lstStyle/>
          <a:p>
            <a:pPr algn="ctr" indent="0" marL="0">
              <a:buNone/>
            </a:pPr>
            <a:r>
              <a:rPr lang="tr-TR" sz="1400" b="1" dirty="0">
                <a:solidFill>
                  <a:srgbClr val="36454F"/>
                </a:solidFill>
                <a:latin typeface="Consolas" pitchFamily="34" charset="0"/>
                <a:ea typeface="Consolas" pitchFamily="34" charset="-122"/>
                <a:cs typeface="Consolas" pitchFamily="34" charset="-120"/>
              </a:rPr>
              <a:t>printf()</a:t>
            </a:r>
            <a:endParaRPr lang="tr-TR" sz="1400" dirty="0"/>
          </a:p>
          <a:p>
            <a:pPr algn="ctr" indent="0" marL="0">
              <a:buNone/>
            </a:pPr>
            <a:r>
              <a:rPr lang="tr-TR" sz="1100" dirty="0">
                <a:solidFill>
                  <a:srgbClr val="36454F"/>
                </a:solidFill>
                <a:latin typeface="Calibri" pitchFamily="34" charset="0"/>
                <a:ea typeface="Calibri" pitchFamily="34" charset="-122"/>
                <a:cs typeface="Calibri" pitchFamily="34" charset="-120"/>
              </a:rPr>
              <a:t>C kütüphanesi (API)</a:t>
            </a:r>
            <a:endParaRPr lang="tr-TR" sz="1400" dirty="0"/>
          </a:p>
        </p:txBody>
      </p:sp>
      <p:sp>
        <p:nvSpPr>
          <p:cNvPr id="10" name="Shape 8"/>
          <p:cNvSpPr/>
          <p:nvPr/>
        </p:nvSpPr>
        <p:spPr>
          <a:xfrm>
            <a:off x="2532888" y="2121408"/>
            <a:ext cx="283464" cy="91"/>
          </a:xfrm>
          <a:prstGeom prst="line">
            <a:avLst/>
          </a:prstGeom>
          <a:noFill/>
          <a:ln w="22225">
            <a:solidFill>
              <a:srgbClr val="028090"/>
            </a:solidFill>
            <a:prstDash val="solid"/>
            <a:tailEnd type="triangle"/>
          </a:ln>
        </p:spPr>
      </p:sp>
      <p:sp>
        <p:nvSpPr>
          <p:cNvPr id="11" name="Shape 9"/>
          <p:cNvSpPr/>
          <p:nvPr/>
        </p:nvSpPr>
        <p:spPr>
          <a:xfrm>
            <a:off x="2834640" y="1691640"/>
            <a:ext cx="1965960" cy="868680"/>
          </a:xfrm>
          <a:prstGeom prst="roundRect">
            <a:avLst>
              <a:gd name="adj" fmla="val 5263"/>
            </a:avLst>
          </a:prstGeom>
          <a:solidFill>
            <a:srgbClr val="F2F2F2"/>
          </a:solidFill>
          <a:ln/>
        </p:spPr>
      </p:sp>
      <p:sp>
        <p:nvSpPr>
          <p:cNvPr id="12" name="Text 10"/>
          <p:cNvSpPr txBox="1"/>
          <p:nvPr/>
        </p:nvSpPr>
        <p:spPr>
          <a:xfrm>
            <a:off x="2834640" y="1691640"/>
            <a:ext cx="1965960" cy="868680"/>
          </a:xfrm>
          <a:prstGeom prst="rect">
            <a:avLst/>
          </a:prstGeom>
          <a:noFill/>
          <a:ln/>
        </p:spPr>
        <p:txBody>
          <a:bodyPr wrap="square" lIns="38100" tIns="38100" rIns="38100" bIns="38100" rtlCol="0" anchor="ctr"/>
          <a:lstStyle/>
          <a:p>
            <a:pPr algn="ctr" indent="0" marL="0">
              <a:buNone/>
            </a:pPr>
            <a:r>
              <a:rPr lang="tr-TR" sz="1250" b="1" dirty="0">
                <a:solidFill>
                  <a:srgbClr val="36454F"/>
                </a:solidFill>
                <a:latin typeface="Consolas" pitchFamily="34" charset="0"/>
                <a:ea typeface="Consolas" pitchFamily="34" charset="-122"/>
                <a:cs typeface="Consolas" pitchFamily="34" charset="-120"/>
              </a:rPr>
              <a:t>write() sarmalayıcı</a:t>
            </a:r>
            <a:endParaRPr lang="tr-TR" sz="1250" dirty="0"/>
          </a:p>
          <a:p>
            <a:pPr algn="ctr" indent="0" marL="0">
              <a:buNone/>
            </a:pPr>
            <a:r>
              <a:rPr lang="tr-TR" sz="1100" dirty="0">
                <a:solidFill>
                  <a:srgbClr val="36454F"/>
                </a:solidFill>
                <a:latin typeface="Calibri" pitchFamily="34" charset="0"/>
                <a:ea typeface="Calibri" pitchFamily="34" charset="-122"/>
                <a:cs typeface="Calibri" pitchFamily="34" charset="-120"/>
              </a:rPr>
              <a:t>rax = 1, rdi, rsi, rdx</a:t>
            </a:r>
            <a:endParaRPr lang="tr-TR" sz="1250" dirty="0"/>
          </a:p>
        </p:txBody>
      </p:sp>
      <p:sp>
        <p:nvSpPr>
          <p:cNvPr id="13" name="Shape 11"/>
          <p:cNvSpPr/>
          <p:nvPr/>
        </p:nvSpPr>
        <p:spPr>
          <a:xfrm>
            <a:off x="4818888" y="2121408"/>
            <a:ext cx="283464" cy="91"/>
          </a:xfrm>
          <a:prstGeom prst="line">
            <a:avLst/>
          </a:prstGeom>
          <a:noFill/>
          <a:ln w="22225">
            <a:solidFill>
              <a:srgbClr val="028090"/>
            </a:solidFill>
            <a:prstDash val="solid"/>
            <a:tailEnd type="triangle"/>
          </a:ln>
        </p:spPr>
      </p:sp>
      <p:sp>
        <p:nvSpPr>
          <p:cNvPr id="14" name="Shape 12"/>
          <p:cNvSpPr/>
          <p:nvPr/>
        </p:nvSpPr>
        <p:spPr>
          <a:xfrm>
            <a:off x="5120640" y="1691640"/>
            <a:ext cx="1965960" cy="868680"/>
          </a:xfrm>
          <a:prstGeom prst="roundRect">
            <a:avLst>
              <a:gd name="adj" fmla="val 5263"/>
            </a:avLst>
          </a:prstGeom>
          <a:solidFill>
            <a:srgbClr val="36454F"/>
          </a:solidFill>
          <a:ln/>
        </p:spPr>
      </p:sp>
      <p:sp>
        <p:nvSpPr>
          <p:cNvPr id="15" name="Text 13"/>
          <p:cNvSpPr txBox="1"/>
          <p:nvPr/>
        </p:nvSpPr>
        <p:spPr>
          <a:xfrm>
            <a:off x="5120640" y="1691640"/>
            <a:ext cx="1965960" cy="868680"/>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onsolas" pitchFamily="34" charset="0"/>
                <a:ea typeface="Consolas" pitchFamily="34" charset="-122"/>
                <a:cs typeface="Consolas" pitchFamily="34" charset="-120"/>
              </a:rPr>
              <a:t>syscall</a:t>
            </a:r>
            <a:endParaRPr lang="tr-TR" sz="1400" dirty="0"/>
          </a:p>
          <a:p>
            <a:pPr algn="ctr" indent="0" marL="0">
              <a:buNone/>
            </a:pPr>
            <a:r>
              <a:rPr lang="tr-TR" sz="1100" dirty="0">
                <a:solidFill>
                  <a:srgbClr val="FFFFFF"/>
                </a:solidFill>
                <a:latin typeface="Calibri" pitchFamily="34" charset="0"/>
                <a:ea typeface="Calibri" pitchFamily="34" charset="-122"/>
                <a:cs typeface="Calibri" pitchFamily="34" charset="-120"/>
              </a:rPr>
              <a:t>tuzak: mod biti → çekirdek</a:t>
            </a:r>
            <a:endParaRPr lang="tr-TR" sz="1400" dirty="0"/>
          </a:p>
        </p:txBody>
      </p:sp>
      <p:sp>
        <p:nvSpPr>
          <p:cNvPr id="16" name="Shape 14"/>
          <p:cNvSpPr/>
          <p:nvPr/>
        </p:nvSpPr>
        <p:spPr>
          <a:xfrm>
            <a:off x="7104888" y="2121408"/>
            <a:ext cx="283464" cy="91"/>
          </a:xfrm>
          <a:prstGeom prst="line">
            <a:avLst/>
          </a:prstGeom>
          <a:noFill/>
          <a:ln w="22225">
            <a:solidFill>
              <a:srgbClr val="028090"/>
            </a:solidFill>
            <a:prstDash val="solid"/>
            <a:tailEnd type="triangle"/>
          </a:ln>
        </p:spPr>
      </p:sp>
      <p:sp>
        <p:nvSpPr>
          <p:cNvPr id="17" name="Shape 15"/>
          <p:cNvSpPr/>
          <p:nvPr/>
        </p:nvSpPr>
        <p:spPr>
          <a:xfrm>
            <a:off x="7406640" y="1691640"/>
            <a:ext cx="1965960" cy="868680"/>
          </a:xfrm>
          <a:prstGeom prst="roundRect">
            <a:avLst>
              <a:gd name="adj" fmla="val 5263"/>
            </a:avLst>
          </a:prstGeom>
          <a:solidFill>
            <a:srgbClr val="36454F"/>
          </a:solidFill>
          <a:ln/>
        </p:spPr>
      </p:sp>
      <p:sp>
        <p:nvSpPr>
          <p:cNvPr id="18" name="Text 16"/>
          <p:cNvSpPr txBox="1"/>
          <p:nvPr/>
        </p:nvSpPr>
        <p:spPr>
          <a:xfrm>
            <a:off x="7406640" y="1691640"/>
            <a:ext cx="1965960" cy="868680"/>
          </a:xfrm>
          <a:prstGeom prst="rect">
            <a:avLst/>
          </a:prstGeom>
          <a:noFill/>
          <a:ln/>
        </p:spPr>
        <p:txBody>
          <a:bodyPr wrap="square" lIns="38100" tIns="38100" rIns="38100" bIns="38100" rtlCol="0" anchor="ctr"/>
          <a:lstStyle/>
          <a:p>
            <a:pPr algn="ctr" indent="0" marL="0">
              <a:buNone/>
            </a:pPr>
            <a:r>
              <a:rPr lang="tr-TR" sz="1250" b="1" dirty="0">
                <a:solidFill>
                  <a:srgbClr val="FFFFFF"/>
                </a:solidFill>
                <a:latin typeface="Consolas" pitchFamily="34" charset="0"/>
                <a:ea typeface="Consolas" pitchFamily="34" charset="-122"/>
                <a:cs typeface="Consolas" pitchFamily="34" charset="-120"/>
              </a:rPr>
              <a:t>sistem çağrısı tablosu</a:t>
            </a:r>
            <a:endParaRPr lang="tr-TR" sz="1250" dirty="0"/>
          </a:p>
          <a:p>
            <a:pPr algn="ctr" indent="0" marL="0">
              <a:buNone/>
            </a:pPr>
            <a:r>
              <a:rPr lang="tr-TR" sz="1100" dirty="0">
                <a:solidFill>
                  <a:srgbClr val="FFFFFF"/>
                </a:solidFill>
                <a:latin typeface="Calibri" pitchFamily="34" charset="0"/>
                <a:ea typeface="Calibri" pitchFamily="34" charset="-122"/>
                <a:cs typeface="Calibri" pitchFamily="34" charset="-120"/>
              </a:rPr>
              <a:t>girdi 1 → sys_write()</a:t>
            </a:r>
            <a:endParaRPr lang="tr-TR" sz="1250" dirty="0"/>
          </a:p>
        </p:txBody>
      </p:sp>
      <p:sp>
        <p:nvSpPr>
          <p:cNvPr id="19" name="Shape 17"/>
          <p:cNvSpPr/>
          <p:nvPr/>
        </p:nvSpPr>
        <p:spPr>
          <a:xfrm>
            <a:off x="9390888" y="2121408"/>
            <a:ext cx="283464" cy="91"/>
          </a:xfrm>
          <a:prstGeom prst="line">
            <a:avLst/>
          </a:prstGeom>
          <a:noFill/>
          <a:ln w="22225">
            <a:solidFill>
              <a:srgbClr val="028090"/>
            </a:solidFill>
            <a:prstDash val="solid"/>
            <a:tailEnd type="triangle"/>
          </a:ln>
        </p:spPr>
      </p:sp>
      <p:sp>
        <p:nvSpPr>
          <p:cNvPr id="20" name="Shape 18"/>
          <p:cNvSpPr/>
          <p:nvPr/>
        </p:nvSpPr>
        <p:spPr>
          <a:xfrm>
            <a:off x="9692640" y="1691640"/>
            <a:ext cx="1965960" cy="868680"/>
          </a:xfrm>
          <a:prstGeom prst="roundRect">
            <a:avLst>
              <a:gd name="adj" fmla="val 5263"/>
            </a:avLst>
          </a:prstGeom>
          <a:solidFill>
            <a:srgbClr val="F2F2F2"/>
          </a:solidFill>
          <a:ln/>
        </p:spPr>
      </p:sp>
      <p:sp>
        <p:nvSpPr>
          <p:cNvPr id="21" name="Text 19"/>
          <p:cNvSpPr txBox="1"/>
          <p:nvPr/>
        </p:nvSpPr>
        <p:spPr>
          <a:xfrm>
            <a:off x="9692640" y="1691640"/>
            <a:ext cx="1965960" cy="868680"/>
          </a:xfrm>
          <a:prstGeom prst="rect">
            <a:avLst/>
          </a:prstGeom>
          <a:noFill/>
          <a:ln/>
        </p:spPr>
        <p:txBody>
          <a:bodyPr wrap="square" lIns="38100" tIns="38100" rIns="38100" bIns="38100" rtlCol="0" anchor="ctr"/>
          <a:lstStyle/>
          <a:p>
            <a:pPr algn="ctr" indent="0" marL="0">
              <a:buNone/>
            </a:pPr>
            <a:r>
              <a:rPr lang="tr-TR" sz="1400" b="1" dirty="0">
                <a:solidFill>
                  <a:srgbClr val="36454F"/>
                </a:solidFill>
                <a:latin typeface="Consolas" pitchFamily="34" charset="0"/>
                <a:ea typeface="Consolas" pitchFamily="34" charset="-122"/>
                <a:cs typeface="Consolas" pitchFamily="34" charset="-120"/>
              </a:rPr>
              <a:t>dönüş</a:t>
            </a:r>
            <a:endParaRPr lang="tr-TR" sz="1400" dirty="0"/>
          </a:p>
          <a:p>
            <a:pPr algn="ctr" indent="0" marL="0">
              <a:buNone/>
            </a:pPr>
            <a:r>
              <a:rPr lang="tr-TR" sz="1100" dirty="0">
                <a:solidFill>
                  <a:srgbClr val="36454F"/>
                </a:solidFill>
                <a:latin typeface="Calibri" pitchFamily="34" charset="0"/>
                <a:ea typeface="Calibri" pitchFamily="34" charset="-122"/>
                <a:cs typeface="Calibri" pitchFamily="34" charset="-120"/>
              </a:rPr>
              <a:t>yazılan bayt sayısı rax'ta</a:t>
            </a:r>
            <a:endParaRPr lang="tr-TR" sz="1400" dirty="0"/>
          </a:p>
        </p:txBody>
      </p:sp>
      <p:sp>
        <p:nvSpPr>
          <p:cNvPr id="22" name="Text 20"/>
          <p:cNvSpPr txBox="1"/>
          <p:nvPr/>
        </p:nvSpPr>
        <p:spPr>
          <a:xfrm>
            <a:off x="548640" y="2606040"/>
            <a:ext cx="4389120" cy="274320"/>
          </a:xfrm>
          <a:prstGeom prst="rect">
            <a:avLst/>
          </a:prstGeom>
          <a:noFill/>
          <a:ln/>
        </p:spPr>
        <p:txBody>
          <a:bodyPr wrap="square" lIns="0" tIns="0" rIns="0" bIns="0" rtlCol="0" anchor="t"/>
          <a:lstStyle/>
          <a:p>
            <a:pPr algn="ctr" indent="0" marL="0">
              <a:buNone/>
            </a:pPr>
            <a:r>
              <a:rPr lang="tr-TR" sz="1100" i="1" dirty="0">
                <a:solidFill>
                  <a:srgbClr val="6B7679"/>
                </a:solidFill>
                <a:latin typeface="Calibri" pitchFamily="34" charset="0"/>
                <a:ea typeface="Calibri" pitchFamily="34" charset="-122"/>
                <a:cs typeface="Calibri" pitchFamily="34" charset="-120"/>
              </a:rPr>
              <a:t>kullanıcı modu</a:t>
            </a:r>
            <a:endParaRPr lang="tr-TR" sz="1100" dirty="0"/>
          </a:p>
        </p:txBody>
      </p:sp>
      <p:sp>
        <p:nvSpPr>
          <p:cNvPr id="23" name="Text 21"/>
          <p:cNvSpPr txBox="1"/>
          <p:nvPr/>
        </p:nvSpPr>
        <p:spPr>
          <a:xfrm>
            <a:off x="5120640" y="2606040"/>
            <a:ext cx="4389120" cy="274320"/>
          </a:xfrm>
          <a:prstGeom prst="rect">
            <a:avLst/>
          </a:prstGeom>
          <a:noFill/>
          <a:ln/>
        </p:spPr>
        <p:txBody>
          <a:bodyPr wrap="square" lIns="0" tIns="0" rIns="0" bIns="0" rtlCol="0" anchor="t"/>
          <a:lstStyle/>
          <a:p>
            <a:pPr algn="ctr" indent="0" marL="0">
              <a:buNone/>
            </a:pPr>
            <a:r>
              <a:rPr lang="tr-TR" sz="1100" i="1" dirty="0">
                <a:solidFill>
                  <a:srgbClr val="6B7679"/>
                </a:solidFill>
                <a:latin typeface="Calibri" pitchFamily="34" charset="0"/>
                <a:ea typeface="Calibri" pitchFamily="34" charset="-122"/>
                <a:cs typeface="Calibri" pitchFamily="34" charset="-120"/>
              </a:rPr>
              <a:t>çekirdek modu</a:t>
            </a:r>
            <a:endParaRPr lang="tr-TR" sz="1100" dirty="0"/>
          </a:p>
        </p:txBody>
      </p:sp>
      <p:sp>
        <p:nvSpPr>
          <p:cNvPr id="24" name="Shape 22"/>
          <p:cNvSpPr/>
          <p:nvPr/>
        </p:nvSpPr>
        <p:spPr>
          <a:xfrm>
            <a:off x="548640" y="3154680"/>
            <a:ext cx="3657600" cy="3108960"/>
          </a:xfrm>
          <a:prstGeom prst="roundRect">
            <a:avLst>
              <a:gd name="adj" fmla="val 1765"/>
            </a:avLst>
          </a:prstGeom>
          <a:solidFill>
            <a:srgbClr val="F2F2F2"/>
          </a:solidFill>
          <a:ln/>
          <a:effectLst>
            <a:outerShdw sx="100000" sy="100000" kx="0" ky="0" algn="bl" rotWithShape="0" blurRad="101600" dist="25400" dir="5400000">
              <a:srgbClr val="000000">
                <a:alpha val="12000"/>
              </a:srgbClr>
            </a:outerShdw>
          </a:effectLst>
        </p:spPr>
      </p:sp>
      <p:sp>
        <p:nvSpPr>
          <p:cNvPr id="25" name="Text 23"/>
          <p:cNvSpPr txBox="1"/>
          <p:nvPr/>
        </p:nvSpPr>
        <p:spPr>
          <a:xfrm>
            <a:off x="777240" y="3337560"/>
            <a:ext cx="320040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Hizmetler</a:t>
            </a:r>
            <a:endParaRPr lang="tr-TR" sz="1500" dirty="0"/>
          </a:p>
        </p:txBody>
      </p:sp>
      <p:sp>
        <p:nvSpPr>
          <p:cNvPr id="26" name="Text 24"/>
          <p:cNvSpPr txBox="1"/>
          <p:nvPr/>
        </p:nvSpPr>
        <p:spPr>
          <a:xfrm>
            <a:off x="777240" y="3794760"/>
            <a:ext cx="3200400" cy="2331720"/>
          </a:xfrm>
          <a:prstGeom prst="rect">
            <a:avLst/>
          </a:prstGeom>
          <a:noFill/>
          <a:ln/>
        </p:spPr>
        <p:txBody>
          <a:bodyPr wrap="square" lIns="0" tIns="0" rIns="0" bIns="0" rtlCol="0" anchor="t"/>
          <a:lstStyle/>
          <a:p>
            <a:pPr marL="228600" indent="-228600">
              <a:spcAft>
                <a:spcPts val="400"/>
              </a:spcAft>
              <a:buSzPct val="100000"/>
              <a:buChar char="•"/>
            </a:pPr>
            <a:r>
              <a:rPr lang="tr-TR" sz="1300" b="1" dirty="0">
                <a:solidFill>
                  <a:srgbClr val="3A464C"/>
                </a:solidFill>
                <a:latin typeface="Calibri" pitchFamily="34" charset="0"/>
                <a:ea typeface="Calibri" pitchFamily="34" charset="-122"/>
                <a:cs typeface="Calibri" pitchFamily="34" charset="-120"/>
              </a:rPr>
              <a:t>Kullanıcı için:</a:t>
            </a:r>
            <a:r>
              <a:rPr lang="tr-TR" sz="1300" dirty="0">
                <a:solidFill>
                  <a:srgbClr val="3A464C"/>
                </a:solidFill>
                <a:latin typeface="Calibri" pitchFamily="34" charset="0"/>
                <a:ea typeface="Calibri" pitchFamily="34" charset="-122"/>
                <a:cs typeface="Calibri" pitchFamily="34" charset="-120"/>
              </a:rPr>
              <a:t> kullanıcı arayüzü, program yürütme, G/Ç, dosya sistemi işlemleri, iletişim, hata algılama.</a:t>
            </a:r>
            <a:endParaRPr lang="tr-TR" sz="1300" dirty="0"/>
          </a:p>
          <a:p>
            <a:pPr marL="228600" indent="-228600">
              <a:spcAft>
                <a:spcPts val="400"/>
              </a:spcAft>
              <a:buSzPct val="100000"/>
              <a:buChar char="•"/>
            </a:pPr>
            <a:r>
              <a:rPr lang="tr-TR" sz="1300" b="1" dirty="0">
                <a:solidFill>
                  <a:srgbClr val="3A464C"/>
                </a:solidFill>
                <a:latin typeface="Calibri" pitchFamily="34" charset="0"/>
                <a:ea typeface="Calibri" pitchFamily="34" charset="-122"/>
                <a:cs typeface="Calibri" pitchFamily="34" charset="-120"/>
              </a:rPr>
              <a:t>Sistem için:</a:t>
            </a:r>
            <a:r>
              <a:rPr lang="tr-TR" sz="1300" dirty="0">
                <a:solidFill>
                  <a:srgbClr val="3A464C"/>
                </a:solidFill>
                <a:latin typeface="Calibri" pitchFamily="34" charset="0"/>
                <a:ea typeface="Calibri" pitchFamily="34" charset="-122"/>
                <a:cs typeface="Calibri" pitchFamily="34" charset="-120"/>
              </a:rPr>
              <a:t> kaynak ayırma, hesap tutma ve kayıt, koruma ve güvenlik.</a:t>
            </a:r>
            <a:endParaRPr lang="tr-TR" sz="1300" dirty="0"/>
          </a:p>
        </p:txBody>
      </p:sp>
      <p:sp>
        <p:nvSpPr>
          <p:cNvPr id="27" name="Shape 25"/>
          <p:cNvSpPr/>
          <p:nvPr/>
        </p:nvSpPr>
        <p:spPr>
          <a:xfrm>
            <a:off x="4343400" y="3154680"/>
            <a:ext cx="3520440" cy="3108960"/>
          </a:xfrm>
          <a:prstGeom prst="roundRect">
            <a:avLst>
              <a:gd name="adj" fmla="val 1765"/>
            </a:avLst>
          </a:prstGeom>
          <a:solidFill>
            <a:srgbClr val="F2F2F2"/>
          </a:solidFill>
          <a:ln/>
          <a:effectLst>
            <a:outerShdw sx="100000" sy="100000" kx="0" ky="0" algn="bl" rotWithShape="0" blurRad="101600" dist="25400" dir="5400000">
              <a:srgbClr val="000000">
                <a:alpha val="12000"/>
              </a:srgbClr>
            </a:outerShdw>
          </a:effectLst>
        </p:spPr>
      </p:sp>
      <p:sp>
        <p:nvSpPr>
          <p:cNvPr id="28" name="Text 26"/>
          <p:cNvSpPr txBox="1"/>
          <p:nvPr/>
        </p:nvSpPr>
        <p:spPr>
          <a:xfrm>
            <a:off x="4572000" y="3337560"/>
            <a:ext cx="306324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Parametre aktarımı</a:t>
            </a:r>
            <a:endParaRPr lang="tr-TR" sz="1500" dirty="0"/>
          </a:p>
        </p:txBody>
      </p:sp>
      <p:sp>
        <p:nvSpPr>
          <p:cNvPr id="29" name="Text 27"/>
          <p:cNvSpPr txBox="1"/>
          <p:nvPr/>
        </p:nvSpPr>
        <p:spPr>
          <a:xfrm>
            <a:off x="4572000" y="3794760"/>
            <a:ext cx="3063240" cy="2331720"/>
          </a:xfrm>
          <a:prstGeom prst="rect">
            <a:avLst/>
          </a:prstGeom>
          <a:noFill/>
          <a:ln/>
        </p:spPr>
        <p:txBody>
          <a:bodyPr wrap="square" lIns="0" tIns="0" rIns="0" bIns="0" rtlCol="0" anchor="t"/>
          <a:lstStyle/>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1. Yazmaçlarda (en hızlı).</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2. Bellekte bir blokta; adresi bir yazmaçta.</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3. Yığıtta.</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x86-64 Linux: numara rax'ta, en çok altı parametre yazmaçlarda.</a:t>
            </a:r>
            <a:endParaRPr lang="tr-TR" sz="1300" dirty="0"/>
          </a:p>
        </p:txBody>
      </p:sp>
      <p:sp>
        <p:nvSpPr>
          <p:cNvPr id="30" name="Shape 28"/>
          <p:cNvSpPr/>
          <p:nvPr/>
        </p:nvSpPr>
        <p:spPr>
          <a:xfrm>
            <a:off x="8001000" y="3154680"/>
            <a:ext cx="3657600" cy="3108960"/>
          </a:xfrm>
          <a:prstGeom prst="roundRect">
            <a:avLst>
              <a:gd name="adj" fmla="val 1765"/>
            </a:avLst>
          </a:prstGeom>
          <a:solidFill>
            <a:srgbClr val="F2F2F2"/>
          </a:solidFill>
          <a:ln/>
          <a:effectLst>
            <a:outerShdw sx="100000" sy="100000" kx="0" ky="0" algn="bl" rotWithShape="0" blurRad="101600" dist="25400" dir="5400000">
              <a:srgbClr val="000000">
                <a:alpha val="12000"/>
              </a:srgbClr>
            </a:outerShdw>
          </a:effectLst>
        </p:spPr>
      </p:sp>
      <p:sp>
        <p:nvSpPr>
          <p:cNvPr id="31" name="Text 29"/>
          <p:cNvSpPr txBox="1"/>
          <p:nvPr/>
        </p:nvSpPr>
        <p:spPr>
          <a:xfrm>
            <a:off x="8229600" y="3337560"/>
            <a:ext cx="320040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Altı tür</a:t>
            </a:r>
            <a:endParaRPr lang="tr-TR" sz="1500" dirty="0"/>
          </a:p>
        </p:txBody>
      </p:sp>
      <p:sp>
        <p:nvSpPr>
          <p:cNvPr id="32" name="Text 30"/>
          <p:cNvSpPr txBox="1"/>
          <p:nvPr/>
        </p:nvSpPr>
        <p:spPr>
          <a:xfrm>
            <a:off x="8229600" y="3794760"/>
            <a:ext cx="3200400" cy="2331720"/>
          </a:xfrm>
          <a:prstGeom prst="rect">
            <a:avLst/>
          </a:prstGeom>
          <a:noFill/>
          <a:ln/>
        </p:spPr>
        <p:txBody>
          <a:bodyPr wrap="square" lIns="0" tIns="0" rIns="0" bIns="0" rtlCol="0" anchor="t"/>
          <a:lstStyle/>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Süreç denetimi (fork, exit, wait)</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Dosya yönetimi (open, read, close)</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Aygıt yönetimi (ioctl)</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Bilgi bakımı (getpid)</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İletişim (pipe, socket)</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Koruma (chmod)</a:t>
            </a:r>
            <a:endParaRPr lang="tr-TR"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3. HAFTA · SÜREÇLER</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Süreç Durumları, PCB, Bağlam Değişimi, fork()</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8  ·  11</a:t>
            </a:r>
            <a:endParaRPr lang="tr-TR" sz="900" dirty="0"/>
          </a:p>
        </p:txBody>
      </p:sp>
      <p:sp>
        <p:nvSpPr>
          <p:cNvPr id="6" name="Shape 4"/>
          <p:cNvSpPr/>
          <p:nvPr/>
        </p:nvSpPr>
        <p:spPr>
          <a:xfrm>
            <a:off x="10287000" y="274320"/>
            <a:ext cx="1371600" cy="329184"/>
          </a:xfrm>
          <a:prstGeom prst="roundRect">
            <a:avLst>
              <a:gd name="adj" fmla="val 13889"/>
            </a:avLst>
          </a:prstGeom>
          <a:solidFill>
            <a:srgbClr val="02C39A"/>
          </a:solidFill>
          <a:ln/>
        </p:spPr>
      </p:sp>
      <p:sp>
        <p:nvSpPr>
          <p:cNvPr id="7" name="Text 5"/>
          <p:cNvSpPr txBox="1"/>
          <p:nvPr/>
        </p:nvSpPr>
        <p:spPr>
          <a:xfrm>
            <a:off x="10287000" y="274320"/>
            <a:ext cx="1371600" cy="329184"/>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3. hafta</a:t>
            </a:r>
            <a:endParaRPr lang="tr-TR" sz="1200" dirty="0"/>
          </a:p>
        </p:txBody>
      </p:sp>
      <p:sp>
        <p:nvSpPr>
          <p:cNvPr id="8" name="Shape 6"/>
          <p:cNvSpPr/>
          <p:nvPr/>
        </p:nvSpPr>
        <p:spPr>
          <a:xfrm>
            <a:off x="640080" y="1691640"/>
            <a:ext cx="1417320" cy="548640"/>
          </a:xfrm>
          <a:prstGeom prst="roundRect">
            <a:avLst>
              <a:gd name="adj" fmla="val 8333"/>
            </a:avLst>
          </a:prstGeom>
          <a:solidFill>
            <a:srgbClr val="F2F2F2"/>
          </a:solidFill>
          <a:ln/>
        </p:spPr>
      </p:sp>
      <p:sp>
        <p:nvSpPr>
          <p:cNvPr id="9" name="Text 7"/>
          <p:cNvSpPr txBox="1"/>
          <p:nvPr/>
        </p:nvSpPr>
        <p:spPr>
          <a:xfrm>
            <a:off x="640080" y="1691640"/>
            <a:ext cx="1417320" cy="548640"/>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yeni</a:t>
            </a:r>
            <a:endParaRPr lang="tr-TR" sz="1400" dirty="0"/>
          </a:p>
        </p:txBody>
      </p:sp>
      <p:sp>
        <p:nvSpPr>
          <p:cNvPr id="10" name="Shape 8"/>
          <p:cNvSpPr/>
          <p:nvPr/>
        </p:nvSpPr>
        <p:spPr>
          <a:xfrm>
            <a:off x="5120640" y="1691640"/>
            <a:ext cx="1417320" cy="548640"/>
          </a:xfrm>
          <a:prstGeom prst="roundRect">
            <a:avLst>
              <a:gd name="adj" fmla="val 8333"/>
            </a:avLst>
          </a:prstGeom>
          <a:solidFill>
            <a:srgbClr val="F2F2F2"/>
          </a:solidFill>
          <a:ln/>
        </p:spPr>
      </p:sp>
      <p:sp>
        <p:nvSpPr>
          <p:cNvPr id="11" name="Text 9"/>
          <p:cNvSpPr txBox="1"/>
          <p:nvPr/>
        </p:nvSpPr>
        <p:spPr>
          <a:xfrm>
            <a:off x="5120640" y="1691640"/>
            <a:ext cx="1417320" cy="548640"/>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sonlandı</a:t>
            </a:r>
            <a:endParaRPr lang="tr-TR" sz="1400" dirty="0"/>
          </a:p>
        </p:txBody>
      </p:sp>
      <p:sp>
        <p:nvSpPr>
          <p:cNvPr id="12" name="Shape 10"/>
          <p:cNvSpPr/>
          <p:nvPr/>
        </p:nvSpPr>
        <p:spPr>
          <a:xfrm>
            <a:off x="640080" y="3429000"/>
            <a:ext cx="1417320" cy="548640"/>
          </a:xfrm>
          <a:prstGeom prst="roundRect">
            <a:avLst>
              <a:gd name="adj" fmla="val 8333"/>
            </a:avLst>
          </a:prstGeom>
          <a:solidFill>
            <a:srgbClr val="D7E9E6"/>
          </a:solidFill>
          <a:ln/>
        </p:spPr>
      </p:sp>
      <p:sp>
        <p:nvSpPr>
          <p:cNvPr id="13" name="Text 11"/>
          <p:cNvSpPr txBox="1"/>
          <p:nvPr/>
        </p:nvSpPr>
        <p:spPr>
          <a:xfrm>
            <a:off x="640080" y="3429000"/>
            <a:ext cx="1417320" cy="548640"/>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hazır</a:t>
            </a:r>
            <a:endParaRPr lang="tr-TR" sz="1400" dirty="0"/>
          </a:p>
        </p:txBody>
      </p:sp>
      <p:sp>
        <p:nvSpPr>
          <p:cNvPr id="14" name="Shape 12"/>
          <p:cNvSpPr/>
          <p:nvPr/>
        </p:nvSpPr>
        <p:spPr>
          <a:xfrm>
            <a:off x="5120640" y="3429000"/>
            <a:ext cx="1417320" cy="548640"/>
          </a:xfrm>
          <a:prstGeom prst="roundRect">
            <a:avLst>
              <a:gd name="adj" fmla="val 8333"/>
            </a:avLst>
          </a:prstGeom>
          <a:solidFill>
            <a:srgbClr val="02C39A"/>
          </a:solidFill>
          <a:ln/>
        </p:spPr>
      </p:sp>
      <p:sp>
        <p:nvSpPr>
          <p:cNvPr id="15" name="Text 13"/>
          <p:cNvSpPr txBox="1"/>
          <p:nvPr/>
        </p:nvSpPr>
        <p:spPr>
          <a:xfrm>
            <a:off x="5120640" y="3429000"/>
            <a:ext cx="1417320" cy="548640"/>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çalışıyor</a:t>
            </a:r>
            <a:endParaRPr lang="tr-TR" sz="1400" dirty="0"/>
          </a:p>
        </p:txBody>
      </p:sp>
      <p:sp>
        <p:nvSpPr>
          <p:cNvPr id="16" name="Shape 14"/>
          <p:cNvSpPr/>
          <p:nvPr/>
        </p:nvSpPr>
        <p:spPr>
          <a:xfrm>
            <a:off x="2880360" y="5257800"/>
            <a:ext cx="1417320" cy="548640"/>
          </a:xfrm>
          <a:prstGeom prst="roundRect">
            <a:avLst>
              <a:gd name="adj" fmla="val 8333"/>
            </a:avLst>
          </a:prstGeom>
          <a:solidFill>
            <a:srgbClr val="D7E9E6"/>
          </a:solidFill>
          <a:ln/>
        </p:spPr>
      </p:sp>
      <p:sp>
        <p:nvSpPr>
          <p:cNvPr id="17" name="Text 15"/>
          <p:cNvSpPr txBox="1"/>
          <p:nvPr/>
        </p:nvSpPr>
        <p:spPr>
          <a:xfrm>
            <a:off x="2880360" y="5257800"/>
            <a:ext cx="1417320" cy="548640"/>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bekliyor</a:t>
            </a:r>
            <a:endParaRPr lang="tr-TR" sz="1400" dirty="0"/>
          </a:p>
        </p:txBody>
      </p:sp>
      <p:sp>
        <p:nvSpPr>
          <p:cNvPr id="18" name="Shape 16"/>
          <p:cNvSpPr/>
          <p:nvPr/>
        </p:nvSpPr>
        <p:spPr>
          <a:xfrm>
            <a:off x="1353312" y="2258568"/>
            <a:ext cx="91" cy="1152144"/>
          </a:xfrm>
          <a:prstGeom prst="line">
            <a:avLst/>
          </a:prstGeom>
          <a:noFill/>
          <a:ln w="25400">
            <a:solidFill>
              <a:srgbClr val="028090"/>
            </a:solidFill>
            <a:prstDash val="solid"/>
            <a:tailEnd type="triangle"/>
          </a:ln>
        </p:spPr>
      </p:sp>
      <p:sp>
        <p:nvSpPr>
          <p:cNvPr id="19" name="Text 17"/>
          <p:cNvSpPr txBox="1"/>
          <p:nvPr/>
        </p:nvSpPr>
        <p:spPr>
          <a:xfrm>
            <a:off x="1417320" y="2697480"/>
            <a:ext cx="1188720" cy="274320"/>
          </a:xfrm>
          <a:prstGeom prst="rect">
            <a:avLst/>
          </a:prstGeom>
          <a:noFill/>
          <a:ln/>
        </p:spPr>
        <p:txBody>
          <a:bodyPr wrap="square" lIns="0" tIns="0" rIns="0" bIns="0" rtlCol="0" anchor="t"/>
          <a:lstStyle/>
          <a:p>
            <a:pPr algn="l" indent="0" marL="0">
              <a:buNone/>
            </a:pPr>
            <a:r>
              <a:rPr lang="tr-TR" sz="1050" i="1" dirty="0">
                <a:solidFill>
                  <a:srgbClr val="028090"/>
                </a:solidFill>
                <a:latin typeface="Calibri" pitchFamily="34" charset="0"/>
                <a:ea typeface="Calibri" pitchFamily="34" charset="-122"/>
                <a:cs typeface="Calibri" pitchFamily="34" charset="-120"/>
              </a:rPr>
              <a:t>kabul edildi</a:t>
            </a:r>
            <a:endParaRPr lang="tr-TR" sz="1050" dirty="0"/>
          </a:p>
        </p:txBody>
      </p:sp>
      <p:sp>
        <p:nvSpPr>
          <p:cNvPr id="20" name="Shape 18"/>
          <p:cNvSpPr/>
          <p:nvPr/>
        </p:nvSpPr>
        <p:spPr>
          <a:xfrm>
            <a:off x="2075688" y="3584448"/>
            <a:ext cx="3026664" cy="91"/>
          </a:xfrm>
          <a:prstGeom prst="line">
            <a:avLst/>
          </a:prstGeom>
          <a:noFill/>
          <a:ln w="25400">
            <a:solidFill>
              <a:srgbClr val="028090"/>
            </a:solidFill>
            <a:prstDash val="solid"/>
            <a:tailEnd type="triangle"/>
          </a:ln>
        </p:spPr>
      </p:sp>
      <p:sp>
        <p:nvSpPr>
          <p:cNvPr id="21" name="Text 19"/>
          <p:cNvSpPr txBox="1"/>
          <p:nvPr/>
        </p:nvSpPr>
        <p:spPr>
          <a:xfrm>
            <a:off x="2743200" y="3291840"/>
            <a:ext cx="1645920" cy="274320"/>
          </a:xfrm>
          <a:prstGeom prst="rect">
            <a:avLst/>
          </a:prstGeom>
          <a:noFill/>
          <a:ln/>
        </p:spPr>
        <p:txBody>
          <a:bodyPr wrap="square" lIns="0" tIns="0" rIns="0" bIns="0" rtlCol="0" anchor="t"/>
          <a:lstStyle/>
          <a:p>
            <a:pPr algn="ctr" indent="0" marL="0">
              <a:buNone/>
            </a:pPr>
            <a:r>
              <a:rPr lang="tr-TR" sz="1050" i="1" dirty="0">
                <a:solidFill>
                  <a:srgbClr val="028090"/>
                </a:solidFill>
                <a:latin typeface="Calibri" pitchFamily="34" charset="0"/>
                <a:ea typeface="Calibri" pitchFamily="34" charset="-122"/>
                <a:cs typeface="Calibri" pitchFamily="34" charset="-120"/>
              </a:rPr>
              <a:t>zamanlayıcı seçti</a:t>
            </a:r>
            <a:endParaRPr lang="tr-TR" sz="1050" dirty="0"/>
          </a:p>
        </p:txBody>
      </p:sp>
      <p:sp>
        <p:nvSpPr>
          <p:cNvPr id="22" name="Shape 20"/>
          <p:cNvSpPr/>
          <p:nvPr/>
        </p:nvSpPr>
        <p:spPr>
          <a:xfrm flipH="1">
            <a:off x="2075688" y="3840480"/>
            <a:ext cx="3026664" cy="91"/>
          </a:xfrm>
          <a:prstGeom prst="line">
            <a:avLst/>
          </a:prstGeom>
          <a:noFill/>
          <a:ln w="25400">
            <a:solidFill>
              <a:srgbClr val="028090"/>
            </a:solidFill>
            <a:prstDash val="solid"/>
            <a:tailEnd type="triangle"/>
          </a:ln>
        </p:spPr>
      </p:sp>
      <p:sp>
        <p:nvSpPr>
          <p:cNvPr id="23" name="Text 21"/>
          <p:cNvSpPr txBox="1"/>
          <p:nvPr/>
        </p:nvSpPr>
        <p:spPr>
          <a:xfrm>
            <a:off x="2743200" y="3858768"/>
            <a:ext cx="1645920" cy="274320"/>
          </a:xfrm>
          <a:prstGeom prst="rect">
            <a:avLst/>
          </a:prstGeom>
          <a:noFill/>
          <a:ln/>
        </p:spPr>
        <p:txBody>
          <a:bodyPr wrap="square" lIns="0" tIns="0" rIns="0" bIns="0" rtlCol="0" anchor="t"/>
          <a:lstStyle/>
          <a:p>
            <a:pPr algn="ctr" indent="0" marL="0">
              <a:buNone/>
            </a:pPr>
            <a:r>
              <a:rPr lang="tr-TR" sz="1050" i="1" dirty="0">
                <a:solidFill>
                  <a:srgbClr val="028090"/>
                </a:solidFill>
                <a:latin typeface="Calibri" pitchFamily="34" charset="0"/>
                <a:ea typeface="Calibri" pitchFamily="34" charset="-122"/>
                <a:cs typeface="Calibri" pitchFamily="34" charset="-120"/>
              </a:rPr>
              <a:t>kesme</a:t>
            </a:r>
            <a:endParaRPr lang="tr-TR" sz="1050" dirty="0"/>
          </a:p>
        </p:txBody>
      </p:sp>
      <p:sp>
        <p:nvSpPr>
          <p:cNvPr id="24" name="Shape 22"/>
          <p:cNvSpPr/>
          <p:nvPr/>
        </p:nvSpPr>
        <p:spPr>
          <a:xfrm flipV="1">
            <a:off x="5833872" y="2258568"/>
            <a:ext cx="91" cy="1152144"/>
          </a:xfrm>
          <a:prstGeom prst="line">
            <a:avLst/>
          </a:prstGeom>
          <a:noFill/>
          <a:ln w="25400">
            <a:solidFill>
              <a:srgbClr val="028090"/>
            </a:solidFill>
            <a:prstDash val="solid"/>
            <a:tailEnd type="triangle"/>
          </a:ln>
        </p:spPr>
      </p:sp>
      <p:sp>
        <p:nvSpPr>
          <p:cNvPr id="25" name="Text 23"/>
          <p:cNvSpPr txBox="1"/>
          <p:nvPr/>
        </p:nvSpPr>
        <p:spPr>
          <a:xfrm>
            <a:off x="5897880" y="2697480"/>
            <a:ext cx="914400" cy="274320"/>
          </a:xfrm>
          <a:prstGeom prst="rect">
            <a:avLst/>
          </a:prstGeom>
          <a:noFill/>
          <a:ln/>
        </p:spPr>
        <p:txBody>
          <a:bodyPr wrap="square" lIns="0" tIns="0" rIns="0" bIns="0" rtlCol="0" anchor="t"/>
          <a:lstStyle/>
          <a:p>
            <a:pPr algn="l" indent="0" marL="0">
              <a:buNone/>
            </a:pPr>
            <a:r>
              <a:rPr lang="tr-TR" sz="1050" i="1" dirty="0">
                <a:solidFill>
                  <a:srgbClr val="028090"/>
                </a:solidFill>
                <a:latin typeface="Calibri" pitchFamily="34" charset="0"/>
                <a:ea typeface="Calibri" pitchFamily="34" charset="-122"/>
                <a:cs typeface="Calibri" pitchFamily="34" charset="-120"/>
              </a:rPr>
              <a:t>çıkış</a:t>
            </a:r>
            <a:endParaRPr lang="tr-TR" sz="1050" dirty="0"/>
          </a:p>
        </p:txBody>
      </p:sp>
      <p:sp>
        <p:nvSpPr>
          <p:cNvPr id="26" name="Shape 24"/>
          <p:cNvSpPr/>
          <p:nvPr/>
        </p:nvSpPr>
        <p:spPr>
          <a:xfrm flipH="1">
            <a:off x="4114800" y="3995928"/>
            <a:ext cx="1371600" cy="1243584"/>
          </a:xfrm>
          <a:prstGeom prst="line">
            <a:avLst/>
          </a:prstGeom>
          <a:noFill/>
          <a:ln w="25400">
            <a:solidFill>
              <a:srgbClr val="028090"/>
            </a:solidFill>
            <a:prstDash val="solid"/>
            <a:tailEnd type="triangle"/>
          </a:ln>
        </p:spPr>
      </p:sp>
      <p:sp>
        <p:nvSpPr>
          <p:cNvPr id="27" name="Text 25"/>
          <p:cNvSpPr txBox="1"/>
          <p:nvPr/>
        </p:nvSpPr>
        <p:spPr>
          <a:xfrm>
            <a:off x="4709160" y="4617720"/>
            <a:ext cx="1828800" cy="274320"/>
          </a:xfrm>
          <a:prstGeom prst="rect">
            <a:avLst/>
          </a:prstGeom>
          <a:noFill/>
          <a:ln/>
        </p:spPr>
        <p:txBody>
          <a:bodyPr wrap="square" lIns="0" tIns="0" rIns="0" bIns="0" rtlCol="0" anchor="t"/>
          <a:lstStyle/>
          <a:p>
            <a:pPr algn="ctr" indent="0" marL="0">
              <a:buNone/>
            </a:pPr>
            <a:r>
              <a:rPr lang="tr-TR" sz="1050" i="1" dirty="0">
                <a:solidFill>
                  <a:srgbClr val="028090"/>
                </a:solidFill>
                <a:latin typeface="Calibri" pitchFamily="34" charset="0"/>
                <a:ea typeface="Calibri" pitchFamily="34" charset="-122"/>
                <a:cs typeface="Calibri" pitchFamily="34" charset="-120"/>
              </a:rPr>
              <a:t>G/Ç ya da olay bekleme</a:t>
            </a:r>
            <a:endParaRPr lang="tr-TR" sz="1050" dirty="0"/>
          </a:p>
        </p:txBody>
      </p:sp>
      <p:sp>
        <p:nvSpPr>
          <p:cNvPr id="28" name="Shape 26"/>
          <p:cNvSpPr/>
          <p:nvPr/>
        </p:nvSpPr>
        <p:spPr>
          <a:xfrm flipH="1" flipV="1">
            <a:off x="1554480" y="3995928"/>
            <a:ext cx="1508760" cy="1243584"/>
          </a:xfrm>
          <a:prstGeom prst="line">
            <a:avLst/>
          </a:prstGeom>
          <a:noFill/>
          <a:ln w="25400">
            <a:solidFill>
              <a:srgbClr val="028090"/>
            </a:solidFill>
            <a:prstDash val="solid"/>
            <a:tailEnd type="triangle"/>
          </a:ln>
        </p:spPr>
      </p:sp>
      <p:sp>
        <p:nvSpPr>
          <p:cNvPr id="29" name="Text 27"/>
          <p:cNvSpPr txBox="1"/>
          <p:nvPr/>
        </p:nvSpPr>
        <p:spPr>
          <a:xfrm>
            <a:off x="320040" y="4617720"/>
            <a:ext cx="2194560" cy="274320"/>
          </a:xfrm>
          <a:prstGeom prst="rect">
            <a:avLst/>
          </a:prstGeom>
          <a:noFill/>
          <a:ln/>
        </p:spPr>
        <p:txBody>
          <a:bodyPr wrap="square" lIns="0" tIns="0" rIns="0" bIns="0" rtlCol="0" anchor="t"/>
          <a:lstStyle/>
          <a:p>
            <a:pPr algn="ctr" indent="0" marL="0">
              <a:buNone/>
            </a:pPr>
            <a:r>
              <a:rPr lang="tr-TR" sz="1050" i="1" dirty="0">
                <a:solidFill>
                  <a:srgbClr val="028090"/>
                </a:solidFill>
                <a:latin typeface="Calibri" pitchFamily="34" charset="0"/>
                <a:ea typeface="Calibri" pitchFamily="34" charset="-122"/>
                <a:cs typeface="Calibri" pitchFamily="34" charset="-120"/>
              </a:rPr>
              <a:t>G/Ç ya da olay tamamlandı</a:t>
            </a:r>
            <a:endParaRPr lang="tr-TR" sz="1050" dirty="0"/>
          </a:p>
        </p:txBody>
      </p:sp>
      <p:sp>
        <p:nvSpPr>
          <p:cNvPr id="30" name="Text 28"/>
          <p:cNvSpPr txBox="1"/>
          <p:nvPr/>
        </p:nvSpPr>
        <p:spPr>
          <a:xfrm>
            <a:off x="2103120" y="5897880"/>
            <a:ext cx="3017520" cy="274320"/>
          </a:xfrm>
          <a:prstGeom prst="rect">
            <a:avLst/>
          </a:prstGeom>
          <a:noFill/>
          <a:ln/>
        </p:spPr>
        <p:txBody>
          <a:bodyPr wrap="square" lIns="0" tIns="0" rIns="0" bIns="0" rtlCol="0" anchor="t"/>
          <a:lstStyle/>
          <a:p>
            <a:pPr algn="ctr" indent="0" marL="0">
              <a:buNone/>
            </a:pPr>
            <a:r>
              <a:rPr lang="tr-TR" sz="1150" b="1" dirty="0">
                <a:solidFill>
                  <a:srgbClr val="B5453A"/>
                </a:solidFill>
                <a:latin typeface="Calibri" pitchFamily="34" charset="0"/>
                <a:ea typeface="Calibri" pitchFamily="34" charset="-122"/>
                <a:cs typeface="Calibri" pitchFamily="34" charset="-120"/>
              </a:rPr>
              <a:t>bekliyor → çalışıyor oku yok!</a:t>
            </a:r>
            <a:endParaRPr lang="tr-TR" sz="1150" dirty="0"/>
          </a:p>
        </p:txBody>
      </p:sp>
      <p:sp>
        <p:nvSpPr>
          <p:cNvPr id="31" name="Shape 29"/>
          <p:cNvSpPr/>
          <p:nvPr/>
        </p:nvSpPr>
        <p:spPr>
          <a:xfrm>
            <a:off x="6949440" y="1508760"/>
            <a:ext cx="4709160" cy="2331720"/>
          </a:xfrm>
          <a:prstGeom prst="roundRect">
            <a:avLst>
              <a:gd name="adj" fmla="val 2353"/>
            </a:avLst>
          </a:prstGeom>
          <a:solidFill>
            <a:srgbClr val="F2F2F2"/>
          </a:solidFill>
          <a:ln/>
          <a:effectLst>
            <a:outerShdw sx="100000" sy="100000" kx="0" ky="0" algn="bl" rotWithShape="0" blurRad="101600" dist="25400" dir="5400000">
              <a:srgbClr val="000000">
                <a:alpha val="12000"/>
              </a:srgbClr>
            </a:outerShdw>
          </a:effectLst>
        </p:spPr>
      </p:sp>
      <p:sp>
        <p:nvSpPr>
          <p:cNvPr id="32" name="Text 30"/>
          <p:cNvSpPr txBox="1"/>
          <p:nvPr/>
        </p:nvSpPr>
        <p:spPr>
          <a:xfrm>
            <a:off x="7178040" y="1691640"/>
            <a:ext cx="425196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PCB ve bağlam değişimi</a:t>
            </a:r>
            <a:endParaRPr lang="tr-TR" sz="1500" dirty="0"/>
          </a:p>
        </p:txBody>
      </p:sp>
      <p:sp>
        <p:nvSpPr>
          <p:cNvPr id="33" name="Text 31"/>
          <p:cNvSpPr txBox="1"/>
          <p:nvPr/>
        </p:nvSpPr>
        <p:spPr>
          <a:xfrm>
            <a:off x="7178040" y="2148840"/>
            <a:ext cx="4251960" cy="1554480"/>
          </a:xfrm>
          <a:prstGeom prst="rect">
            <a:avLst/>
          </a:prstGeom>
          <a:noFill/>
          <a:ln/>
        </p:spPr>
        <p:txBody>
          <a:bodyPr wrap="square" lIns="0" tIns="0" rIns="0" bIns="0" rtlCol="0" anchor="t"/>
          <a:lstStyle/>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PCB: durum, PID, program sayacı, yazmaçlar, zamanlama, bellek ve hesap bilgileri, açık dosyalar.</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Bağlam değişimi = durumu eski PCB'ye kaydet, yeni PCB'yi yükle. Saf ek yük: s / (q + s).</a:t>
            </a:r>
            <a:endParaRPr lang="tr-TR" sz="1300" dirty="0"/>
          </a:p>
        </p:txBody>
      </p:sp>
      <p:sp>
        <p:nvSpPr>
          <p:cNvPr id="34" name="Shape 32"/>
          <p:cNvSpPr/>
          <p:nvPr/>
        </p:nvSpPr>
        <p:spPr>
          <a:xfrm>
            <a:off x="6949440" y="4023360"/>
            <a:ext cx="4709160" cy="2240280"/>
          </a:xfrm>
          <a:prstGeom prst="roundRect">
            <a:avLst>
              <a:gd name="adj" fmla="val 2449"/>
            </a:avLst>
          </a:prstGeom>
          <a:solidFill>
            <a:srgbClr val="F2F2F2"/>
          </a:solidFill>
          <a:ln/>
          <a:effectLst>
            <a:outerShdw sx="100000" sy="100000" kx="0" ky="0" algn="bl" rotWithShape="0" blurRad="101600" dist="25400" dir="5400000">
              <a:srgbClr val="000000">
                <a:alpha val="12000"/>
              </a:srgbClr>
            </a:outerShdw>
          </a:effectLst>
        </p:spPr>
      </p:sp>
      <p:sp>
        <p:nvSpPr>
          <p:cNvPr id="35" name="Text 33"/>
          <p:cNvSpPr txBox="1"/>
          <p:nvPr/>
        </p:nvSpPr>
        <p:spPr>
          <a:xfrm>
            <a:off x="7178040" y="4206240"/>
            <a:ext cx="425196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Süreç oluşturma</a:t>
            </a:r>
            <a:endParaRPr lang="tr-TR" sz="1500" dirty="0"/>
          </a:p>
        </p:txBody>
      </p:sp>
      <p:sp>
        <p:nvSpPr>
          <p:cNvPr id="36" name="Text 34"/>
          <p:cNvSpPr txBox="1"/>
          <p:nvPr/>
        </p:nvSpPr>
        <p:spPr>
          <a:xfrm>
            <a:off x="7178040" y="4663440"/>
            <a:ext cx="4251960" cy="1463040"/>
          </a:xfrm>
          <a:prstGeom prst="rect">
            <a:avLst/>
          </a:prstGeom>
          <a:noFill/>
          <a:ln/>
        </p:spPr>
        <p:txBody>
          <a:bodyPr wrap="square" lIns="0" tIns="0" rIns="0" bIns="0" rtlCol="0" anchor="t"/>
          <a:lstStyle/>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fork() çocuğa 0, ebeveyne çocuğun PID'sini döndürür.</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exec() programı değiştirir; wait() çocuğu toplar.</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Art arda n fork → 2ⁿ süreç. Zombi: bitmiş ama henüz beklenmemiş.</a:t>
            </a:r>
            <a:endParaRPr lang="tr-TR"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4. HAFTA · İŞ PARÇACIKLARI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İş Parçacıkları, Modeller, Amdahl Yasası</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8  ·  12</a:t>
            </a:r>
            <a:endParaRPr lang="tr-TR" sz="900" dirty="0"/>
          </a:p>
        </p:txBody>
      </p:sp>
      <p:sp>
        <p:nvSpPr>
          <p:cNvPr id="6" name="Shape 4"/>
          <p:cNvSpPr/>
          <p:nvPr/>
        </p:nvSpPr>
        <p:spPr>
          <a:xfrm>
            <a:off x="10287000" y="274320"/>
            <a:ext cx="1371600" cy="329184"/>
          </a:xfrm>
          <a:prstGeom prst="roundRect">
            <a:avLst>
              <a:gd name="adj" fmla="val 13889"/>
            </a:avLst>
          </a:prstGeom>
          <a:solidFill>
            <a:srgbClr val="02C39A"/>
          </a:solidFill>
          <a:ln/>
        </p:spPr>
      </p:sp>
      <p:sp>
        <p:nvSpPr>
          <p:cNvPr id="7" name="Text 5"/>
          <p:cNvSpPr txBox="1"/>
          <p:nvPr/>
        </p:nvSpPr>
        <p:spPr>
          <a:xfrm>
            <a:off x="10287000" y="274320"/>
            <a:ext cx="1371600" cy="329184"/>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4. hafta</a:t>
            </a:r>
            <a:endParaRPr lang="tr-TR"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5394960" cy="914400"/>
        </p:xfrm>
        <a:graphic>
          <a:graphicData uri="http://schemas.openxmlformats.org/drawingml/2006/table">
            <a:tbl>
              <a:tblPr/>
              <a:tblGrid>
                <a:gridCol w="2697480"/>
                <a:gridCol w="2697480"/>
              </a:tblGrid>
              <a:tr h="0">
                <a:tc>
                  <a:txBody>
                    <a:bodyPr/>
                    <a:lstStyle/>
                    <a:p>
                      <a:pPr indent="0" marL="0">
                        <a:buNone/>
                      </a:pPr>
                      <a:r>
                        <a:rPr lang="tr-TR" sz="1300" b="1" dirty="0">
                          <a:solidFill>
                            <a:srgbClr val="FFFFFF"/>
                          </a:solidFill>
                          <a:latin typeface="Cambria" pitchFamily="34" charset="0"/>
                          <a:ea typeface="Cambria" pitchFamily="34" charset="-122"/>
                          <a:cs typeface="Cambria" pitchFamily="34" charset="-120"/>
                        </a:rPr>
                        <a:t>Tüm iş parçacıklarında ortak</a:t>
                      </a:r>
                      <a:endParaRPr lang="tr-TR" sz="130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300" b="1" dirty="0">
                          <a:solidFill>
                            <a:srgbClr val="FFFFFF"/>
                          </a:solidFill>
                          <a:latin typeface="Cambria" pitchFamily="34" charset="0"/>
                          <a:ea typeface="Cambria" pitchFamily="34" charset="-122"/>
                          <a:cs typeface="Cambria" pitchFamily="34" charset="-120"/>
                        </a:rPr>
                        <a:t>Her iş parçacığına özel</a:t>
                      </a:r>
                      <a:endParaRPr lang="tr-TR" sz="130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tr-TR" sz="1300" b="1" dirty="0">
                          <a:solidFill>
                            <a:srgbClr val="3A464C"/>
                          </a:solidFill>
                          <a:latin typeface="Calibri" pitchFamily="34" charset="0"/>
                          <a:ea typeface="Calibri" pitchFamily="34" charset="-122"/>
                          <a:cs typeface="Calibri" pitchFamily="34" charset="-120"/>
                        </a:rPr>
                        <a:t>kod (metin bölümü)</a:t>
                      </a:r>
                      <a:endParaRPr lang="tr-TR"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00" dirty="0">
                          <a:solidFill>
                            <a:srgbClr val="3A464C"/>
                          </a:solidFill>
                          <a:latin typeface="Calibri" pitchFamily="34" charset="0"/>
                          <a:ea typeface="Calibri" pitchFamily="34" charset="-122"/>
                          <a:cs typeface="Calibri" pitchFamily="34" charset="-120"/>
                        </a:rPr>
                        <a:t>iş parçacığı kimliği</a:t>
                      </a:r>
                      <a:endParaRPr lang="tr-TR"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300" b="1" dirty="0">
                          <a:solidFill>
                            <a:srgbClr val="3A464C"/>
                          </a:solidFill>
                          <a:latin typeface="Calibri" pitchFamily="34" charset="0"/>
                          <a:ea typeface="Calibri" pitchFamily="34" charset="-122"/>
                          <a:cs typeface="Calibri" pitchFamily="34" charset="-120"/>
                        </a:rPr>
                        <a:t>global veri ve yığın (heap)</a:t>
                      </a:r>
                      <a:endParaRPr lang="tr-TR"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00" dirty="0">
                          <a:solidFill>
                            <a:srgbClr val="3A464C"/>
                          </a:solidFill>
                          <a:latin typeface="Calibri" pitchFamily="34" charset="0"/>
                          <a:ea typeface="Calibri" pitchFamily="34" charset="-122"/>
                          <a:cs typeface="Calibri" pitchFamily="34" charset="-120"/>
                        </a:rPr>
                        <a:t>program sayacı ve yazmaçlar</a:t>
                      </a:r>
                      <a:endParaRPr lang="tr-TR"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300" b="1" dirty="0">
                          <a:solidFill>
                            <a:srgbClr val="3A464C"/>
                          </a:solidFill>
                          <a:latin typeface="Calibri" pitchFamily="34" charset="0"/>
                          <a:ea typeface="Calibri" pitchFamily="34" charset="-122"/>
                          <a:cs typeface="Calibri" pitchFamily="34" charset="-120"/>
                        </a:rPr>
                        <a:t>açık dosyalar, PID, kullanıcı kimliği</a:t>
                      </a:r>
                      <a:endParaRPr lang="tr-TR"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00" dirty="0">
                          <a:solidFill>
                            <a:srgbClr val="3A464C"/>
                          </a:solidFill>
                          <a:latin typeface="Calibri" pitchFamily="34" charset="0"/>
                          <a:ea typeface="Calibri" pitchFamily="34" charset="-122"/>
                          <a:cs typeface="Calibri" pitchFamily="34" charset="-120"/>
                        </a:rPr>
                        <a:t>yığıt (yerel değişkenler)</a:t>
                      </a:r>
                      <a:endParaRPr lang="tr-TR"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bl>
          </a:graphicData>
        </a:graphic>
      </p:graphicFrame>
      <p:sp>
        <p:nvSpPr>
          <p:cNvPr id="9" name="Shape 6"/>
          <p:cNvSpPr/>
          <p:nvPr/>
        </p:nvSpPr>
        <p:spPr>
          <a:xfrm>
            <a:off x="548640" y="3291840"/>
            <a:ext cx="5394960" cy="2971800"/>
          </a:xfrm>
          <a:prstGeom prst="roundRect">
            <a:avLst>
              <a:gd name="adj" fmla="val 1846"/>
            </a:avLst>
          </a:prstGeom>
          <a:solidFill>
            <a:srgbClr val="F2F2F2"/>
          </a:solidFill>
          <a:ln/>
          <a:effectLst>
            <a:outerShdw sx="100000" sy="100000" kx="0" ky="0" algn="bl" rotWithShape="0" blurRad="101600" dist="25400" dir="5400000">
              <a:srgbClr val="000000">
                <a:alpha val="12000"/>
              </a:srgbClr>
            </a:outerShdw>
          </a:effectLst>
        </p:spPr>
      </p:sp>
      <p:sp>
        <p:nvSpPr>
          <p:cNvPr id="10" name="Text 7"/>
          <p:cNvSpPr txBox="1"/>
          <p:nvPr/>
        </p:nvSpPr>
        <p:spPr>
          <a:xfrm>
            <a:off x="777240" y="3474720"/>
            <a:ext cx="493776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Modeller (kullanıcı : çekirdek iş parçacığı)</a:t>
            </a:r>
            <a:endParaRPr lang="tr-TR" sz="1500" dirty="0"/>
          </a:p>
        </p:txBody>
      </p:sp>
      <p:sp>
        <p:nvSpPr>
          <p:cNvPr id="11" name="Text 8"/>
          <p:cNvSpPr txBox="1"/>
          <p:nvPr/>
        </p:nvSpPr>
        <p:spPr>
          <a:xfrm>
            <a:off x="777240" y="3931920"/>
            <a:ext cx="4937760" cy="2194560"/>
          </a:xfrm>
          <a:prstGeom prst="rect">
            <a:avLst/>
          </a:prstGeom>
          <a:noFill/>
          <a:ln/>
        </p:spPr>
        <p:txBody>
          <a:bodyPr wrap="square" lIns="0" tIns="0" rIns="0" bIns="0" rtlCol="0" anchor="t"/>
          <a:lstStyle/>
          <a:p>
            <a:pPr marL="228600" indent="-228600">
              <a:spcAft>
                <a:spcPts val="400"/>
              </a:spcAft>
              <a:buSzPct val="100000"/>
              <a:buChar char="•"/>
            </a:pPr>
            <a:r>
              <a:rPr lang="tr-TR" sz="1250" b="1" dirty="0">
                <a:solidFill>
                  <a:srgbClr val="3A464C"/>
                </a:solidFill>
                <a:latin typeface="Calibri" pitchFamily="34" charset="0"/>
                <a:ea typeface="Calibri" pitchFamily="34" charset="-122"/>
                <a:cs typeface="Calibri" pitchFamily="34" charset="-120"/>
              </a:rPr>
              <a:t>Çoktan bire:</a:t>
            </a:r>
            <a:r>
              <a:rPr lang="tr-TR" sz="1250" dirty="0">
                <a:solidFill>
                  <a:srgbClr val="3A464C"/>
                </a:solidFill>
                <a:latin typeface="Calibri" pitchFamily="34" charset="0"/>
                <a:ea typeface="Calibri" pitchFamily="34" charset="-122"/>
                <a:cs typeface="Calibri" pitchFamily="34" charset="-120"/>
              </a:rPr>
              <a:t> hızlı, ama tek bir bloklayan çağrı hepsini durdurur; paralellik yok.</a:t>
            </a:r>
            <a:endParaRPr lang="tr-TR" sz="1250" dirty="0"/>
          </a:p>
          <a:p>
            <a:pPr marL="228600" indent="-228600">
              <a:spcAft>
                <a:spcPts val="400"/>
              </a:spcAft>
              <a:buSzPct val="100000"/>
              <a:buChar char="•"/>
            </a:pPr>
            <a:r>
              <a:rPr lang="tr-TR" sz="1250" b="1" dirty="0">
                <a:solidFill>
                  <a:srgbClr val="3A464C"/>
                </a:solidFill>
                <a:latin typeface="Calibri" pitchFamily="34" charset="0"/>
                <a:ea typeface="Calibri" pitchFamily="34" charset="-122"/>
                <a:cs typeface="Calibri" pitchFamily="34" charset="-120"/>
              </a:rPr>
              <a:t>Birebir:</a:t>
            </a:r>
            <a:r>
              <a:rPr lang="tr-TR" sz="1250" dirty="0">
                <a:solidFill>
                  <a:srgbClr val="3A464C"/>
                </a:solidFill>
                <a:latin typeface="Calibri" pitchFamily="34" charset="0"/>
                <a:ea typeface="Calibri" pitchFamily="34" charset="-122"/>
                <a:cs typeface="Calibri" pitchFamily="34" charset="-120"/>
              </a:rPr>
              <a:t> Linux ve Windows; gerçek paralellik; her iş parçacığı bir çekirdek iş parçacığına mal olur.</a:t>
            </a:r>
            <a:endParaRPr lang="tr-TR" sz="1250" dirty="0"/>
          </a:p>
          <a:p>
            <a:pPr marL="228600" indent="-228600">
              <a:spcAft>
                <a:spcPts val="400"/>
              </a:spcAft>
              <a:buSzPct val="100000"/>
              <a:buChar char="•"/>
            </a:pPr>
            <a:r>
              <a:rPr lang="tr-TR" sz="1250" b="1" dirty="0">
                <a:solidFill>
                  <a:srgbClr val="3A464C"/>
                </a:solidFill>
                <a:latin typeface="Calibri" pitchFamily="34" charset="0"/>
                <a:ea typeface="Calibri" pitchFamily="34" charset="-122"/>
                <a:cs typeface="Calibri" pitchFamily="34" charset="-120"/>
              </a:rPr>
              <a:t>Çoktan çoğa:</a:t>
            </a:r>
            <a:r>
              <a:rPr lang="tr-TR" sz="1250" dirty="0">
                <a:solidFill>
                  <a:srgbClr val="3A464C"/>
                </a:solidFill>
                <a:latin typeface="Calibri" pitchFamily="34" charset="0"/>
                <a:ea typeface="Calibri" pitchFamily="34" charset="-122"/>
                <a:cs typeface="Calibri" pitchFamily="34" charset="-120"/>
              </a:rPr>
              <a:t> Go goroutine'leri, Java sanal iş parçacıkları.</a:t>
            </a:r>
            <a:endParaRPr lang="tr-TR" sz="1250" dirty="0"/>
          </a:p>
          <a:p>
            <a:pPr marL="228600" indent="-228600">
              <a:spcAft>
                <a:spcPts val="400"/>
              </a:spcAft>
              <a:buSzPct val="100000"/>
              <a:buChar char="•"/>
            </a:pPr>
            <a:r>
              <a:rPr lang="tr-TR" sz="1250" dirty="0">
                <a:solidFill>
                  <a:srgbClr val="3A464C"/>
                </a:solidFill>
                <a:latin typeface="Calibri" pitchFamily="34" charset="0"/>
                <a:ea typeface="Calibri" pitchFamily="34" charset="-122"/>
                <a:cs typeface="Calibri" pitchFamily="34" charset="-120"/>
              </a:rPr>
              <a:t>Eşzamanlılık = birlikte ilerleme; paralellik = aynı anda (≥ 2 çekirdek gerekir).</a:t>
            </a:r>
            <a:endParaRPr lang="tr-TR" sz="1250" dirty="0"/>
          </a:p>
        </p:txBody>
      </p:sp>
      <p:sp>
        <p:nvSpPr>
          <p:cNvPr id="12" name="Shape 9"/>
          <p:cNvSpPr/>
          <p:nvPr/>
        </p:nvSpPr>
        <p:spPr>
          <a:xfrm>
            <a:off x="6172200" y="1554480"/>
            <a:ext cx="5486400" cy="1600200"/>
          </a:xfrm>
          <a:prstGeom prst="roundRect">
            <a:avLst>
              <a:gd name="adj" fmla="val 3429"/>
            </a:avLst>
          </a:prstGeom>
          <a:solidFill>
            <a:srgbClr val="F2F2F2"/>
          </a:solidFill>
          <a:ln/>
          <a:effectLst>
            <a:outerShdw sx="100000" sy="100000" kx="0" ky="0" algn="bl" rotWithShape="0" blurRad="101600" dist="25400" dir="5400000">
              <a:srgbClr val="000000">
                <a:alpha val="12000"/>
              </a:srgbClr>
            </a:outerShdw>
          </a:effectLst>
        </p:spPr>
      </p:sp>
      <p:sp>
        <p:nvSpPr>
          <p:cNvPr id="13" name="Text 10"/>
          <p:cNvSpPr txBox="1"/>
          <p:nvPr/>
        </p:nvSpPr>
        <p:spPr>
          <a:xfrm>
            <a:off x="6400800" y="1737360"/>
            <a:ext cx="502920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İş parçacıklarının yararları</a:t>
            </a:r>
            <a:endParaRPr lang="tr-TR" sz="1500" dirty="0"/>
          </a:p>
        </p:txBody>
      </p:sp>
      <p:sp>
        <p:nvSpPr>
          <p:cNvPr id="14" name="Text 11"/>
          <p:cNvSpPr txBox="1"/>
          <p:nvPr/>
        </p:nvSpPr>
        <p:spPr>
          <a:xfrm>
            <a:off x="6400800" y="2194560"/>
            <a:ext cx="5029200" cy="822960"/>
          </a:xfrm>
          <a:prstGeom prst="rect">
            <a:avLst/>
          </a:prstGeom>
          <a:noFill/>
          <a:ln/>
        </p:spPr>
        <p:txBody>
          <a:bodyPr wrap="square" lIns="0" tIns="0" rIns="0" bIns="0" rtlCol="0" anchor="t"/>
          <a:lstStyle/>
          <a:p>
            <a:pPr indent="0" marL="0">
              <a:spcAft>
                <a:spcPts val="400"/>
              </a:spcAft>
              <a:buNone/>
            </a:pPr>
            <a:r>
              <a:rPr lang="tr-TR" sz="1300" dirty="0">
                <a:solidFill>
                  <a:srgbClr val="3A464C"/>
                </a:solidFill>
                <a:latin typeface="Calibri" pitchFamily="34" charset="0"/>
                <a:ea typeface="Calibri" pitchFamily="34" charset="-122"/>
                <a:cs typeface="Calibri" pitchFamily="34" charset="-120"/>
              </a:rPr>
              <a:t>Tepki verebilirlik, kaynak paylaşımı, ekonomi (süreçten ucuz: test makinemizde ≈ 4 kat), çok çekirdekli işlemcilerde ölçeklenebilirlik.</a:t>
            </a:r>
            <a:endParaRPr lang="tr-TR" sz="1300" dirty="0"/>
          </a:p>
        </p:txBody>
      </p:sp>
      <p:sp>
        <p:nvSpPr>
          <p:cNvPr id="15" name="Shape 12"/>
          <p:cNvSpPr/>
          <p:nvPr/>
        </p:nvSpPr>
        <p:spPr>
          <a:xfrm>
            <a:off x="6172200" y="3291840"/>
            <a:ext cx="5486400" cy="2971800"/>
          </a:xfrm>
          <a:prstGeom prst="roundRect">
            <a:avLst>
              <a:gd name="adj" fmla="val 1538"/>
            </a:avLst>
          </a:prstGeom>
          <a:solidFill>
            <a:srgbClr val="212121"/>
          </a:solidFill>
          <a:ln/>
        </p:spPr>
      </p:sp>
      <p:sp>
        <p:nvSpPr>
          <p:cNvPr id="16" name="Text 13"/>
          <p:cNvSpPr txBox="1"/>
          <p:nvPr/>
        </p:nvSpPr>
        <p:spPr>
          <a:xfrm>
            <a:off x="6355080" y="3401568"/>
            <a:ext cx="5120640" cy="2752344"/>
          </a:xfrm>
          <a:prstGeom prst="rect">
            <a:avLst/>
          </a:prstGeom>
          <a:noFill/>
          <a:ln/>
        </p:spPr>
        <p:txBody>
          <a:bodyPr wrap="square" lIns="0" tIns="0" rIns="0" bIns="0" rtlCol="0" anchor="t"/>
          <a:lstStyle/>
          <a:p>
            <a:pPr indent="0" marL="0">
              <a:lnSpc>
                <a:spcPct val="105000"/>
              </a:lnSpc>
              <a:buNone/>
            </a:pPr>
            <a:r>
              <a:rPr lang="tr-TR" sz="1350" dirty="0">
                <a:solidFill>
                  <a:srgbClr val="8A9AA0"/>
                </a:solidFill>
                <a:latin typeface="Consolas" pitchFamily="34" charset="0"/>
                <a:ea typeface="Consolas" pitchFamily="34" charset="-122"/>
                <a:cs typeface="Consolas" pitchFamily="34" charset="-120"/>
              </a:rPr>
              <a:t># Amdahl yasası: seri kesir S, N çekirdek</a:t>
            </a:r>
            <a:endParaRPr lang="tr-TR" sz="1350" dirty="0"/>
          </a:p>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hızlanma(N) ≤ 1 / (S + (1 − S)/N)</a:t>
            </a:r>
            <a:endParaRPr lang="tr-TR" sz="1350" dirty="0"/>
          </a:p>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sınır N → ∞:  1 / S</a:t>
            </a:r>
            <a:endParaRPr lang="tr-TR" sz="1350" dirty="0"/>
          </a:p>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 </a:t>
            </a:r>
            <a:endParaRPr lang="tr-TR" sz="1350" dirty="0"/>
          </a:p>
          <a:p>
            <a:pPr indent="0" marL="0">
              <a:lnSpc>
                <a:spcPct val="105000"/>
              </a:lnSpc>
              <a:buNone/>
            </a:pPr>
            <a:r>
              <a:rPr lang="tr-TR" sz="1350" dirty="0">
                <a:solidFill>
                  <a:srgbClr val="8A9AA0"/>
                </a:solidFill>
                <a:latin typeface="Consolas" pitchFamily="34" charset="0"/>
                <a:ea typeface="Consolas" pitchFamily="34" charset="-122"/>
                <a:cs typeface="Consolas" pitchFamily="34" charset="-120"/>
              </a:rPr>
              <a:t># S = 0.25:</a:t>
            </a:r>
            <a:endParaRPr lang="tr-TR" sz="1350" dirty="0"/>
          </a:p>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N = 2 → 1.60   N = 4 → 2.29</a:t>
            </a:r>
            <a:endParaRPr lang="tr-TR" sz="1350" dirty="0"/>
          </a:p>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N = 8 → 2.91   N → ∞ → 4</a:t>
            </a:r>
            <a:endParaRPr lang="tr-TR"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4. HAFTA · İŞLEMCİ ZAMANLAMANIN TEMELLERİ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Patlamalar, Karar Noktaları, Dağıtıcı, Ölçütler</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8  ·  13</a:t>
            </a:r>
            <a:endParaRPr lang="tr-TR" sz="900" dirty="0"/>
          </a:p>
        </p:txBody>
      </p:sp>
      <p:sp>
        <p:nvSpPr>
          <p:cNvPr id="6" name="Shape 4"/>
          <p:cNvSpPr/>
          <p:nvPr/>
        </p:nvSpPr>
        <p:spPr>
          <a:xfrm>
            <a:off x="10287000" y="274320"/>
            <a:ext cx="1371600" cy="329184"/>
          </a:xfrm>
          <a:prstGeom prst="roundRect">
            <a:avLst>
              <a:gd name="adj" fmla="val 13889"/>
            </a:avLst>
          </a:prstGeom>
          <a:solidFill>
            <a:srgbClr val="02C39A"/>
          </a:solidFill>
          <a:ln/>
        </p:spPr>
      </p:sp>
      <p:sp>
        <p:nvSpPr>
          <p:cNvPr id="7" name="Text 5"/>
          <p:cNvSpPr txBox="1"/>
          <p:nvPr/>
        </p:nvSpPr>
        <p:spPr>
          <a:xfrm>
            <a:off x="10287000" y="274320"/>
            <a:ext cx="1371600" cy="329184"/>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4. hafta</a:t>
            </a:r>
            <a:endParaRPr lang="tr-TR" sz="1200" dirty="0"/>
          </a:p>
        </p:txBody>
      </p:sp>
      <p:sp>
        <p:nvSpPr>
          <p:cNvPr id="8" name="Shape 6"/>
          <p:cNvSpPr/>
          <p:nvPr/>
        </p:nvSpPr>
        <p:spPr>
          <a:xfrm>
            <a:off x="548640" y="1508760"/>
            <a:ext cx="5486400" cy="1508760"/>
          </a:xfrm>
          <a:prstGeom prst="roundRect">
            <a:avLst>
              <a:gd name="adj" fmla="val 3636"/>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777240" y="1691640"/>
            <a:ext cx="502920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CPU–G/Ç patlama döngüsü</a:t>
            </a:r>
            <a:endParaRPr lang="tr-TR" sz="1500" dirty="0"/>
          </a:p>
        </p:txBody>
      </p:sp>
      <p:sp>
        <p:nvSpPr>
          <p:cNvPr id="10" name="Text 8"/>
          <p:cNvSpPr txBox="1"/>
          <p:nvPr/>
        </p:nvSpPr>
        <p:spPr>
          <a:xfrm>
            <a:off x="777240" y="2148840"/>
            <a:ext cx="5029200" cy="731520"/>
          </a:xfrm>
          <a:prstGeom prst="rect">
            <a:avLst/>
          </a:prstGeom>
          <a:noFill/>
          <a:ln/>
        </p:spPr>
        <p:txBody>
          <a:bodyPr wrap="square" lIns="0" tIns="0" rIns="0" bIns="0" rtlCol="0" anchor="t"/>
          <a:lstStyle/>
          <a:p>
            <a:pPr indent="0" marL="0">
              <a:spcAft>
                <a:spcPts val="400"/>
              </a:spcAft>
              <a:buNone/>
            </a:pPr>
            <a:r>
              <a:rPr lang="tr-TR" sz="1300" dirty="0">
                <a:solidFill>
                  <a:srgbClr val="3A464C"/>
                </a:solidFill>
                <a:latin typeface="Calibri" pitchFamily="34" charset="0"/>
                <a:ea typeface="Calibri" pitchFamily="34" charset="-122"/>
                <a:cs typeface="Calibri" pitchFamily="34" charset="-120"/>
              </a:rPr>
              <a:t>İşlemci yoğun: az sayıda uzun CPU patlaması. G/Ç yoğun: çok sayıda kısa patlama. Patlamaların çoğu kısadır.</a:t>
            </a:r>
            <a:endParaRPr lang="tr-TR" sz="1300" dirty="0"/>
          </a:p>
        </p:txBody>
      </p:sp>
      <p:sp>
        <p:nvSpPr>
          <p:cNvPr id="11" name="Shape 9"/>
          <p:cNvSpPr/>
          <p:nvPr/>
        </p:nvSpPr>
        <p:spPr>
          <a:xfrm>
            <a:off x="548640" y="3154680"/>
            <a:ext cx="5486400" cy="1783080"/>
          </a:xfrm>
          <a:prstGeom prst="roundRect">
            <a:avLst>
              <a:gd name="adj" fmla="val 3077"/>
            </a:avLst>
          </a:prstGeom>
          <a:solidFill>
            <a:srgbClr val="F2F2F2"/>
          </a:solidFill>
          <a:ln/>
          <a:effectLst>
            <a:outerShdw sx="100000" sy="100000" kx="0" ky="0" algn="bl" rotWithShape="0" blurRad="101600" dist="25400" dir="5400000">
              <a:srgbClr val="000000">
                <a:alpha val="12000"/>
              </a:srgbClr>
            </a:outerShdw>
          </a:effectLst>
        </p:spPr>
      </p:sp>
      <p:sp>
        <p:nvSpPr>
          <p:cNvPr id="12" name="Text 10"/>
          <p:cNvSpPr txBox="1"/>
          <p:nvPr/>
        </p:nvSpPr>
        <p:spPr>
          <a:xfrm>
            <a:off x="777240" y="3337560"/>
            <a:ext cx="502920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Dört karar noktası</a:t>
            </a:r>
            <a:endParaRPr lang="tr-TR" sz="1500" dirty="0"/>
          </a:p>
        </p:txBody>
      </p:sp>
      <p:sp>
        <p:nvSpPr>
          <p:cNvPr id="13" name="Text 11"/>
          <p:cNvSpPr txBox="1"/>
          <p:nvPr/>
        </p:nvSpPr>
        <p:spPr>
          <a:xfrm>
            <a:off x="777240" y="3794760"/>
            <a:ext cx="5029200" cy="1005840"/>
          </a:xfrm>
          <a:prstGeom prst="rect">
            <a:avLst/>
          </a:prstGeom>
          <a:noFill/>
          <a:ln/>
        </p:spPr>
        <p:txBody>
          <a:bodyPr wrap="square" lIns="0" tIns="0" rIns="0" bIns="0" rtlCol="0" anchor="t"/>
          <a:lstStyle/>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1 çalışıyor → bekliyor   2 çalışıyor → hazır</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3 bekliyor → hazır   4 sonlanma</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Kesintisiz: yalnızca 1 ve 4. Kesintili: dördü de.</a:t>
            </a:r>
            <a:endParaRPr lang="tr-TR" sz="1300" dirty="0"/>
          </a:p>
        </p:txBody>
      </p:sp>
      <p:sp>
        <p:nvSpPr>
          <p:cNvPr id="14" name="Shape 12"/>
          <p:cNvSpPr/>
          <p:nvPr/>
        </p:nvSpPr>
        <p:spPr>
          <a:xfrm>
            <a:off x="548640" y="5074920"/>
            <a:ext cx="5486400" cy="1188720"/>
          </a:xfrm>
          <a:prstGeom prst="roundRect">
            <a:avLst>
              <a:gd name="adj" fmla="val 4615"/>
            </a:avLst>
          </a:prstGeom>
          <a:solidFill>
            <a:srgbClr val="F2F2F2"/>
          </a:solidFill>
          <a:ln/>
          <a:effectLst>
            <a:outerShdw sx="100000" sy="100000" kx="0" ky="0" algn="bl" rotWithShape="0" blurRad="101600" dist="25400" dir="5400000">
              <a:srgbClr val="000000">
                <a:alpha val="12000"/>
              </a:srgbClr>
            </a:outerShdw>
          </a:effectLst>
        </p:spPr>
      </p:sp>
      <p:sp>
        <p:nvSpPr>
          <p:cNvPr id="15" name="Text 13"/>
          <p:cNvSpPr txBox="1"/>
          <p:nvPr/>
        </p:nvSpPr>
        <p:spPr>
          <a:xfrm>
            <a:off x="777240" y="5257800"/>
            <a:ext cx="502920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Dağıtıcı (dispatcher)</a:t>
            </a:r>
            <a:endParaRPr lang="tr-TR" sz="1500" dirty="0"/>
          </a:p>
        </p:txBody>
      </p:sp>
      <p:sp>
        <p:nvSpPr>
          <p:cNvPr id="16" name="Text 14"/>
          <p:cNvSpPr txBox="1"/>
          <p:nvPr/>
        </p:nvSpPr>
        <p:spPr>
          <a:xfrm>
            <a:off x="777240" y="5715000"/>
            <a:ext cx="5029200" cy="411480"/>
          </a:xfrm>
          <a:prstGeom prst="rect">
            <a:avLst/>
          </a:prstGeom>
          <a:noFill/>
          <a:ln/>
        </p:spPr>
        <p:txBody>
          <a:bodyPr wrap="square" lIns="0" tIns="0" rIns="0" bIns="0" rtlCol="0" anchor="t"/>
          <a:lstStyle/>
          <a:p>
            <a:pPr indent="0" marL="0">
              <a:spcAft>
                <a:spcPts val="400"/>
              </a:spcAft>
              <a:buNone/>
            </a:pPr>
            <a:r>
              <a:rPr lang="tr-TR" sz="1250" dirty="0">
                <a:solidFill>
                  <a:srgbClr val="3A464C"/>
                </a:solidFill>
                <a:latin typeface="Calibri" pitchFamily="34" charset="0"/>
                <a:ea typeface="Calibri" pitchFamily="34" charset="-122"/>
                <a:cs typeface="Calibri" pitchFamily="34" charset="-120"/>
              </a:rPr>
              <a:t>Bağlamı değiştirir, kullanıcı moduna geçer, kaydedilmiş PC'ye atlar. Süresi = dağıtım gecikmesi.</a:t>
            </a:r>
            <a:endParaRPr lang="tr-TR" sz="1250" dirty="0"/>
          </a:p>
        </p:txBody>
      </p:sp>
      <p:sp>
        <p:nvSpPr>
          <p:cNvPr id="17" name="Shape 15"/>
          <p:cNvSpPr/>
          <p:nvPr/>
        </p:nvSpPr>
        <p:spPr>
          <a:xfrm>
            <a:off x="6263640" y="1508760"/>
            <a:ext cx="5394960" cy="3429000"/>
          </a:xfrm>
          <a:prstGeom prst="roundRect">
            <a:avLst>
              <a:gd name="adj" fmla="val 1333"/>
            </a:avLst>
          </a:prstGeom>
          <a:solidFill>
            <a:srgbClr val="212121"/>
          </a:solidFill>
          <a:ln/>
        </p:spPr>
      </p:sp>
      <p:sp>
        <p:nvSpPr>
          <p:cNvPr id="18" name="Text 16"/>
          <p:cNvSpPr txBox="1"/>
          <p:nvPr/>
        </p:nvSpPr>
        <p:spPr>
          <a:xfrm>
            <a:off x="6446520" y="1618488"/>
            <a:ext cx="5029200" cy="3209544"/>
          </a:xfrm>
          <a:prstGeom prst="rect">
            <a:avLst/>
          </a:prstGeom>
          <a:noFill/>
          <a:ln/>
        </p:spPr>
        <p:txBody>
          <a:bodyPr wrap="square" lIns="0" tIns="0" rIns="0" bIns="0" rtlCol="0" anchor="t"/>
          <a:lstStyle/>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T_dönüş   = T_tamamlanma − T_geliş</a:t>
            </a:r>
            <a:endParaRPr lang="tr-TR" sz="1350" dirty="0"/>
          </a:p>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T_bekleme = T_dönüş − T_patlama</a:t>
            </a:r>
            <a:endParaRPr lang="tr-TR" sz="1350" dirty="0"/>
          </a:p>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T_yanıt   = T_ilk çalışma − T_geliş</a:t>
            </a:r>
            <a:endParaRPr lang="tr-TR" sz="1350" dirty="0"/>
          </a:p>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 </a:t>
            </a:r>
            <a:endParaRPr lang="tr-TR" sz="1350" dirty="0"/>
          </a:p>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işlemci kullanımı = B / T  (meşgul / toplam)</a:t>
            </a:r>
            <a:endParaRPr lang="tr-TR" sz="1350" dirty="0"/>
          </a:p>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üretilen iş       = n / T</a:t>
            </a:r>
            <a:endParaRPr lang="tr-TR" sz="1350" dirty="0"/>
          </a:p>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 </a:t>
            </a:r>
            <a:endParaRPr lang="tr-TR" sz="1350" dirty="0"/>
          </a:p>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en büyük: kullanım, üretilen iş</a:t>
            </a:r>
            <a:endParaRPr lang="tr-TR" sz="1350" dirty="0"/>
          </a:p>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en küçük: dönüş, bekleme, yanıt</a:t>
            </a:r>
            <a:endParaRPr lang="tr-TR" sz="1350" dirty="0"/>
          </a:p>
        </p:txBody>
      </p:sp>
      <p:sp>
        <p:nvSpPr>
          <p:cNvPr id="19" name="Shape 17"/>
          <p:cNvSpPr/>
          <p:nvPr/>
        </p:nvSpPr>
        <p:spPr>
          <a:xfrm>
            <a:off x="6263640" y="5074920"/>
            <a:ext cx="5394960" cy="1188720"/>
          </a:xfrm>
          <a:prstGeom prst="roundRect">
            <a:avLst>
              <a:gd name="adj" fmla="val 4615"/>
            </a:avLst>
          </a:prstGeom>
          <a:solidFill>
            <a:srgbClr val="36454F"/>
          </a:solidFill>
          <a:ln/>
          <a:effectLst>
            <a:outerShdw sx="100000" sy="100000" kx="0" ky="0" algn="bl" rotWithShape="0" blurRad="101600" dist="25400" dir="5400000">
              <a:srgbClr val="000000">
                <a:alpha val="12000"/>
              </a:srgbClr>
            </a:outerShdw>
          </a:effectLst>
        </p:spPr>
      </p:sp>
      <p:sp>
        <p:nvSpPr>
          <p:cNvPr id="20" name="Text 18"/>
          <p:cNvSpPr txBox="1"/>
          <p:nvPr/>
        </p:nvSpPr>
        <p:spPr>
          <a:xfrm>
            <a:off x="6492240" y="5074920"/>
            <a:ext cx="4937760" cy="1188720"/>
          </a:xfrm>
          <a:prstGeom prst="rect">
            <a:avLst/>
          </a:prstGeom>
          <a:noFill/>
          <a:ln/>
        </p:spPr>
        <p:txBody>
          <a:bodyPr wrap="square" lIns="0" tIns="0" rIns="0" bIns="0" rtlCol="0" anchor="ctr"/>
          <a:lstStyle/>
          <a:p>
            <a:pPr indent="0" marL="0">
              <a:buNone/>
            </a:pPr>
            <a:r>
              <a:rPr lang="tr-TR" sz="1350" dirty="0">
                <a:solidFill>
                  <a:srgbClr val="F2F2F2"/>
                </a:solidFill>
                <a:latin typeface="Calibri" pitchFamily="34" charset="0"/>
                <a:ea typeface="Calibri" pitchFamily="34" charset="-122"/>
                <a:cs typeface="Calibri" pitchFamily="34" charset="-120"/>
              </a:rPr>
              <a:t>Bekleme süresi = yalnızca hazır kuyruğunda geçen süre. Zamanlayıcı patlamaları ya da G/Ç'yi değiştiremez — yalnızca beklemeyi.</a:t>
            </a:r>
            <a:endParaRPr lang="tr-TR"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5. HAFTA · ZAMANLAMA ALGORİTMALARI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Beş Algoritmaya Toplu Bakış</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8  ·  14</a:t>
            </a:r>
            <a:endParaRPr lang="tr-TR" sz="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109960" cy="914400"/>
        </p:xfrm>
        <a:graphic>
          <a:graphicData uri="http://schemas.openxmlformats.org/drawingml/2006/table">
            <a:tbl>
              <a:tblPr/>
              <a:tblGrid>
                <a:gridCol w="1691640"/>
                <a:gridCol w="4251960"/>
                <a:gridCol w="1463040"/>
                <a:gridCol w="3703320"/>
              </a:tblGrid>
              <a:tr h="0">
                <a:tc>
                  <a:txBody>
                    <a:bodyPr/>
                    <a:lstStyle/>
                    <a:p>
                      <a:pPr indent="0" marL="0">
                        <a:buNone/>
                      </a:pPr>
                      <a:r>
                        <a:rPr lang="tr-TR" sz="1450" b="1" dirty="0">
                          <a:solidFill>
                            <a:srgbClr val="FFFFFF"/>
                          </a:solidFill>
                          <a:latin typeface="Cambria" pitchFamily="34" charset="0"/>
                          <a:ea typeface="Cambria" pitchFamily="34" charset="-122"/>
                          <a:cs typeface="Cambria" pitchFamily="34" charset="-120"/>
                        </a:rPr>
                        <a:t>Algoritma</a:t>
                      </a:r>
                      <a:endParaRPr lang="tr-TR" sz="14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450" b="1" dirty="0">
                          <a:solidFill>
                            <a:srgbClr val="FFFFFF"/>
                          </a:solidFill>
                          <a:latin typeface="Cambria" pitchFamily="34" charset="0"/>
                          <a:ea typeface="Cambria" pitchFamily="34" charset="-122"/>
                          <a:cs typeface="Cambria" pitchFamily="34" charset="-120"/>
                        </a:rPr>
                        <a:t>Kural</a:t>
                      </a:r>
                      <a:endParaRPr lang="tr-TR" sz="14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450" b="1" dirty="0">
                          <a:solidFill>
                            <a:srgbClr val="FFFFFF"/>
                          </a:solidFill>
                          <a:latin typeface="Cambria" pitchFamily="34" charset="0"/>
                          <a:ea typeface="Cambria" pitchFamily="34" charset="-122"/>
                          <a:cs typeface="Cambria" pitchFamily="34" charset="-120"/>
                        </a:rPr>
                        <a:t>Kesintili mi?</a:t>
                      </a:r>
                      <a:endParaRPr lang="tr-TR" sz="14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450" b="1" dirty="0">
                          <a:solidFill>
                            <a:srgbClr val="FFFFFF"/>
                          </a:solidFill>
                          <a:latin typeface="Cambria" pitchFamily="34" charset="0"/>
                          <a:ea typeface="Cambria" pitchFamily="34" charset="-122"/>
                          <a:cs typeface="Cambria" pitchFamily="34" charset="-120"/>
                        </a:rPr>
                        <a:t>Dikkat</a:t>
                      </a:r>
                      <a:endParaRPr lang="tr-TR" sz="14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tr-TR" sz="1350" b="1" dirty="0">
                          <a:solidFill>
                            <a:srgbClr val="3A464C"/>
                          </a:solidFill>
                          <a:latin typeface="Calibri" pitchFamily="34" charset="0"/>
                          <a:ea typeface="Calibri" pitchFamily="34" charset="-122"/>
                          <a:cs typeface="Calibri" pitchFamily="34" charset="-120"/>
                        </a:rPr>
                        <a:t>FCFS</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FIFO hazır kuyruğu, bitene kadar çalışır</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hayır</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konvoy etkisi: kısa işler uzun bir işin arkasında</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350" b="1" dirty="0">
                          <a:solidFill>
                            <a:srgbClr val="3A464C"/>
                          </a:solidFill>
                          <a:latin typeface="Calibri" pitchFamily="34" charset="0"/>
                          <a:ea typeface="Calibri" pitchFamily="34" charset="-122"/>
                          <a:cs typeface="Calibri" pitchFamily="34" charset="-120"/>
                        </a:rPr>
                        <a:t>SJF</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en kısa sonraki CPU patlaması önce; τₙ₊₁ = α tₙ + (1 − α) τₙ</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hayır</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en iyi ortalama bekleme (hepsi hazırsa); tahmin gerekir</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350" b="1" dirty="0">
                          <a:solidFill>
                            <a:srgbClr val="3A464C"/>
                          </a:solidFill>
                          <a:latin typeface="Calibri" pitchFamily="34" charset="0"/>
                          <a:ea typeface="Calibri" pitchFamily="34" charset="-122"/>
                          <a:cs typeface="Calibri" pitchFamily="34" charset="-120"/>
                        </a:rPr>
                        <a:t>SRTF</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KALAN süreden kısa olan yeni gelen işlemciyi alır</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evet</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en küçük ortalama bekleme; uzun işler aç kalabilir</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350" b="1" dirty="0">
                          <a:solidFill>
                            <a:srgbClr val="3A464C"/>
                          </a:solidFill>
                          <a:latin typeface="Calibri" pitchFamily="34" charset="0"/>
                          <a:ea typeface="Calibri" pitchFamily="34" charset="-122"/>
                          <a:cs typeface="Calibri" pitchFamily="34" charset="-120"/>
                        </a:rPr>
                        <a:t>Öncelikli</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en yüksek öncelik önce (küçük sayı = yüksek)</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ikisi de</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açlık → çaresi: yaşlandırma</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350" b="1" dirty="0">
                          <a:solidFill>
                            <a:srgbClr val="3A464C"/>
                          </a:solidFill>
                          <a:latin typeface="Calibri" pitchFamily="34" charset="0"/>
                          <a:ea typeface="Calibri" pitchFamily="34" charset="-122"/>
                          <a:cs typeface="Calibri" pitchFamily="34" charset="-120"/>
                        </a:rPr>
                        <a:t>Döngüsel (RR)</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zaman dilimi q, kesilen süreç kuyruğun sonuna</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evet</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q çok büyük → FCFS; çok küçük → ek yük s/(q + s)</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bl>
          </a:graphicData>
        </a:graphic>
      </p:graphicFrame>
      <p:sp>
        <p:nvSpPr>
          <p:cNvPr id="7" name="Shape 4"/>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sp>
      <p:sp>
        <p:nvSpPr>
          <p:cNvPr id="8" name="Text 5"/>
          <p:cNvSpPr txBox="1"/>
          <p:nvPr/>
        </p:nvSpPr>
        <p:spPr>
          <a:xfrm>
            <a:off x="777240" y="5486400"/>
            <a:ext cx="10652760" cy="77724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Sınav uzlaşımları (yazın): bağlam değişimi = 0 · eşitlikte önce erken gelen, sonra ad · küçük sayı = yüksek öncelik · RR: zaman dilimi biterken gelen süreç kuyruğa kesilenden ÖNCE girer.</a:t>
            </a:r>
            <a:endParaRPr lang="tr-TR" sz="1400" dirty="0"/>
          </a:p>
        </p:txBody>
      </p:sp>
      <p:sp>
        <p:nvSpPr>
          <p:cNvPr id="9" name="Shape 6"/>
          <p:cNvSpPr/>
          <p:nvPr/>
        </p:nvSpPr>
        <p:spPr>
          <a:xfrm>
            <a:off x="10287000" y="274320"/>
            <a:ext cx="1371600" cy="329184"/>
          </a:xfrm>
          <a:prstGeom prst="roundRect">
            <a:avLst>
              <a:gd name="adj" fmla="val 13889"/>
            </a:avLst>
          </a:prstGeom>
          <a:solidFill>
            <a:srgbClr val="02C39A"/>
          </a:solidFill>
          <a:ln/>
        </p:spPr>
      </p:sp>
      <p:sp>
        <p:nvSpPr>
          <p:cNvPr id="10" name="Text 7"/>
          <p:cNvSpPr txBox="1"/>
          <p:nvPr/>
        </p:nvSpPr>
        <p:spPr>
          <a:xfrm>
            <a:off x="10287000" y="274320"/>
            <a:ext cx="1371600" cy="329184"/>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5. hafta</a:t>
            </a:r>
            <a:endParaRPr lang="tr-TR"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5. HAFTA · EŞZAMANLAMA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Yarış Durumu, Kritik Bölge, Semaforlar</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8  ·  15</a:t>
            </a:r>
            <a:endParaRPr lang="tr-TR" sz="900" dirty="0"/>
          </a:p>
        </p:txBody>
      </p:sp>
      <p:sp>
        <p:nvSpPr>
          <p:cNvPr id="6" name="Shape 4"/>
          <p:cNvSpPr/>
          <p:nvPr/>
        </p:nvSpPr>
        <p:spPr>
          <a:xfrm>
            <a:off x="548640" y="1508760"/>
            <a:ext cx="5440680" cy="1760220"/>
          </a:xfrm>
          <a:prstGeom prst="roundRect">
            <a:avLst>
              <a:gd name="adj" fmla="val 3117"/>
            </a:avLst>
          </a:prstGeom>
          <a:solidFill>
            <a:srgbClr val="F2F2F2"/>
          </a:solidFill>
          <a:ln/>
          <a:effectLst>
            <a:outerShdw sx="100000" sy="100000" kx="0" ky="0" algn="bl" rotWithShape="0" blurRad="101600" dist="25400" dir="5400000">
              <a:srgbClr val="000000">
                <a:alpha val="12000"/>
              </a:srgbClr>
            </a:outerShdw>
          </a:effectLst>
        </p:spPr>
      </p:sp>
      <p:sp>
        <p:nvSpPr>
          <p:cNvPr id="7" name="Text 5"/>
          <p:cNvSpPr txBox="1"/>
          <p:nvPr/>
        </p:nvSpPr>
        <p:spPr>
          <a:xfrm>
            <a:off x="777240" y="1691640"/>
            <a:ext cx="498348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Yarış durumu</a:t>
            </a:r>
            <a:endParaRPr lang="tr-TR" sz="1600" dirty="0"/>
          </a:p>
        </p:txBody>
      </p:sp>
      <p:sp>
        <p:nvSpPr>
          <p:cNvPr id="8" name="Text 6"/>
          <p:cNvSpPr txBox="1"/>
          <p:nvPr/>
        </p:nvSpPr>
        <p:spPr>
          <a:xfrm>
            <a:off x="777240" y="2148840"/>
            <a:ext cx="4983480" cy="982980"/>
          </a:xfrm>
          <a:prstGeom prst="rect">
            <a:avLst/>
          </a:prstGeom>
          <a:noFill/>
          <a:ln/>
        </p:spPr>
        <p:txBody>
          <a:bodyPr wrap="square" lIns="0" tIns="0" rIns="0" bIns="0" rtlCol="0" anchor="t"/>
          <a:lstStyle/>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Birkaç iş parçacığı ortak veriye erişir, en az biri yazar, sonuç zamanlamaya bağlıdır.</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counter++ = oku – ekle – yaz: bir güncelleme kaybolabilir.</a:t>
            </a:r>
            <a:endParaRPr lang="tr-TR" sz="1350" dirty="0"/>
          </a:p>
        </p:txBody>
      </p:sp>
      <p:sp>
        <p:nvSpPr>
          <p:cNvPr id="9" name="Shape 7"/>
          <p:cNvSpPr/>
          <p:nvPr/>
        </p:nvSpPr>
        <p:spPr>
          <a:xfrm>
            <a:off x="6217920" y="1508760"/>
            <a:ext cx="5440680" cy="1760220"/>
          </a:xfrm>
          <a:prstGeom prst="roundRect">
            <a:avLst>
              <a:gd name="adj" fmla="val 3117"/>
            </a:avLst>
          </a:prstGeom>
          <a:solidFill>
            <a:srgbClr val="F2F2F2"/>
          </a:solidFill>
          <a:ln/>
          <a:effectLst>
            <a:outerShdw sx="100000" sy="100000" kx="0" ky="0" algn="bl" rotWithShape="0" blurRad="101600" dist="25400" dir="5400000">
              <a:srgbClr val="000000">
                <a:alpha val="12000"/>
              </a:srgbClr>
            </a:outerShdw>
          </a:effectLst>
        </p:spPr>
      </p:sp>
      <p:sp>
        <p:nvSpPr>
          <p:cNvPr id="10" name="Text 8"/>
          <p:cNvSpPr txBox="1"/>
          <p:nvPr/>
        </p:nvSpPr>
        <p:spPr>
          <a:xfrm>
            <a:off x="6446520" y="1691640"/>
            <a:ext cx="498348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Kritik bölge problemi</a:t>
            </a:r>
            <a:endParaRPr lang="tr-TR" sz="1600" dirty="0"/>
          </a:p>
        </p:txBody>
      </p:sp>
      <p:sp>
        <p:nvSpPr>
          <p:cNvPr id="11" name="Text 9"/>
          <p:cNvSpPr txBox="1"/>
          <p:nvPr/>
        </p:nvSpPr>
        <p:spPr>
          <a:xfrm>
            <a:off x="6446520" y="2148840"/>
            <a:ext cx="4983480" cy="982980"/>
          </a:xfrm>
          <a:prstGeom prst="rect">
            <a:avLst/>
          </a:prstGeom>
          <a:noFill/>
          <a:ln/>
        </p:spPr>
        <p:txBody>
          <a:bodyPr wrap="square" lIns="0" tIns="0" rIns="0" bIns="0" rtlCol="0" anchor="t"/>
          <a:lstStyle/>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Karşılıklı dışlama: içeride en çok bir iş parçacığı.</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İlerleme: dışarıdan veto yok, sonsuz erteleme yok.</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Sınırlı bekleme: açlık yok.</a:t>
            </a:r>
            <a:endParaRPr lang="tr-TR" sz="1350" dirty="0"/>
          </a:p>
        </p:txBody>
      </p:sp>
      <p:sp>
        <p:nvSpPr>
          <p:cNvPr id="12" name="Shape 10"/>
          <p:cNvSpPr/>
          <p:nvPr/>
        </p:nvSpPr>
        <p:spPr>
          <a:xfrm>
            <a:off x="548640" y="3497580"/>
            <a:ext cx="5440680" cy="1760220"/>
          </a:xfrm>
          <a:prstGeom prst="roundRect">
            <a:avLst>
              <a:gd name="adj" fmla="val 3117"/>
            </a:avLst>
          </a:prstGeom>
          <a:solidFill>
            <a:srgbClr val="F2F2F2"/>
          </a:solidFill>
          <a:ln/>
          <a:effectLst>
            <a:outerShdw sx="100000" sy="100000" kx="0" ky="0" algn="bl" rotWithShape="0" blurRad="101600" dist="25400" dir="5400000">
              <a:srgbClr val="000000">
                <a:alpha val="12000"/>
              </a:srgbClr>
            </a:outerShdw>
          </a:effectLst>
        </p:spPr>
      </p:sp>
      <p:sp>
        <p:nvSpPr>
          <p:cNvPr id="13" name="Text 11"/>
          <p:cNvSpPr txBox="1"/>
          <p:nvPr/>
        </p:nvSpPr>
        <p:spPr>
          <a:xfrm>
            <a:off x="777240" y="3680460"/>
            <a:ext cx="498348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Kilitler</a:t>
            </a:r>
            <a:endParaRPr lang="tr-TR" sz="1600" dirty="0"/>
          </a:p>
        </p:txBody>
      </p:sp>
      <p:sp>
        <p:nvSpPr>
          <p:cNvPr id="14" name="Text 12"/>
          <p:cNvSpPr txBox="1"/>
          <p:nvPr/>
        </p:nvSpPr>
        <p:spPr>
          <a:xfrm>
            <a:off x="777240" y="4137660"/>
            <a:ext cx="4983480" cy="982980"/>
          </a:xfrm>
          <a:prstGeom prst="rect">
            <a:avLst/>
          </a:prstGeom>
          <a:noFill/>
          <a:ln/>
        </p:spPr>
        <p:txBody>
          <a:bodyPr wrap="square" lIns="0" tIns="0" rIns="0" bIns="0" rtlCol="0" anchor="t"/>
          <a:lstStyle/>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Kesmeleri kapatmak: çok işlemcide olmaz, ayrıcalıklı.</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Peterson (2 iş parçacığı); atomik test_and_set / CAS.</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Muteks: acquire / release; döner kilit ya da uyuyarak bekleme.</a:t>
            </a:r>
            <a:endParaRPr lang="tr-TR" sz="1350" dirty="0"/>
          </a:p>
        </p:txBody>
      </p:sp>
      <p:sp>
        <p:nvSpPr>
          <p:cNvPr id="15" name="Shape 13"/>
          <p:cNvSpPr/>
          <p:nvPr/>
        </p:nvSpPr>
        <p:spPr>
          <a:xfrm>
            <a:off x="6217920" y="3497580"/>
            <a:ext cx="5440680" cy="1760220"/>
          </a:xfrm>
          <a:prstGeom prst="roundRect">
            <a:avLst>
              <a:gd name="adj" fmla="val 3117"/>
            </a:avLst>
          </a:prstGeom>
          <a:solidFill>
            <a:srgbClr val="F2F2F2"/>
          </a:solidFill>
          <a:ln/>
          <a:effectLst>
            <a:outerShdw sx="100000" sy="100000" kx="0" ky="0" algn="bl" rotWithShape="0" blurRad="101600" dist="25400" dir="5400000">
              <a:srgbClr val="000000">
                <a:alpha val="12000"/>
              </a:srgbClr>
            </a:outerShdw>
          </a:effectLst>
        </p:spPr>
      </p:sp>
      <p:sp>
        <p:nvSpPr>
          <p:cNvPr id="16" name="Text 14"/>
          <p:cNvSpPr txBox="1"/>
          <p:nvPr/>
        </p:nvSpPr>
        <p:spPr>
          <a:xfrm>
            <a:off x="6446520" y="3680460"/>
            <a:ext cx="498348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Semaforlar</a:t>
            </a:r>
            <a:endParaRPr lang="tr-TR" sz="1600" dirty="0"/>
          </a:p>
        </p:txBody>
      </p:sp>
      <p:sp>
        <p:nvSpPr>
          <p:cNvPr id="17" name="Text 15"/>
          <p:cNvSpPr txBox="1"/>
          <p:nvPr/>
        </p:nvSpPr>
        <p:spPr>
          <a:xfrm>
            <a:off x="6446520" y="4137660"/>
            <a:ext cx="4983480" cy="982980"/>
          </a:xfrm>
          <a:prstGeom prst="rect">
            <a:avLst/>
          </a:prstGeom>
          <a:noFill/>
          <a:ln/>
        </p:spPr>
        <p:txBody>
          <a:bodyPr wrap="square" lIns="0" tIns="0" rIns="0" bIns="0" rtlCol="0" anchor="t"/>
          <a:lstStyle/>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wait(S): while (S &lt;= 0); S--;   signal(S): S++;</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İkili (= muteks, başlangıç 1) ya da sayan (başlangıç N).</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Sınırlı tampon: empty = n, full = 0, mutex = 1.</a:t>
            </a:r>
            <a:endParaRPr lang="tr-TR" sz="1350" dirty="0"/>
          </a:p>
        </p:txBody>
      </p:sp>
      <p:sp>
        <p:nvSpPr>
          <p:cNvPr id="18" name="Shape 16"/>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sp>
      <p:sp>
        <p:nvSpPr>
          <p:cNvPr id="19" name="Text 17"/>
          <p:cNvSpPr txBox="1"/>
          <p:nvPr/>
        </p:nvSpPr>
        <p:spPr>
          <a:xfrm>
            <a:off x="777240" y="5486400"/>
            <a:ext cx="10652760" cy="77724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Kilitlenme: bir gruptaki her iş parçacığı yalnızca grubun başka bir üyesinin yol açabileceği bir olayı bekler (örn. wait(S); wait(Q) ile wait(Q); wait(S)). Önlem: kilitleri tek bir genel sırayla alın.</a:t>
            </a:r>
            <a:endParaRPr lang="tr-TR" sz="1400" dirty="0"/>
          </a:p>
        </p:txBody>
      </p:sp>
      <p:sp>
        <p:nvSpPr>
          <p:cNvPr id="20" name="Shape 18"/>
          <p:cNvSpPr/>
          <p:nvPr/>
        </p:nvSpPr>
        <p:spPr>
          <a:xfrm>
            <a:off x="10287000" y="274320"/>
            <a:ext cx="1371600" cy="329184"/>
          </a:xfrm>
          <a:prstGeom prst="roundRect">
            <a:avLst>
              <a:gd name="adj" fmla="val 13889"/>
            </a:avLst>
          </a:prstGeom>
          <a:solidFill>
            <a:srgbClr val="02C39A"/>
          </a:solidFill>
          <a:ln/>
        </p:spPr>
      </p:sp>
      <p:sp>
        <p:nvSpPr>
          <p:cNvPr id="21" name="Text 19"/>
          <p:cNvSpPr txBox="1"/>
          <p:nvPr/>
        </p:nvSpPr>
        <p:spPr>
          <a:xfrm>
            <a:off x="10287000" y="274320"/>
            <a:ext cx="1371600" cy="329184"/>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5. hafta</a:t>
            </a:r>
            <a:endParaRPr lang="tr-TR"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6. HAFTA · BELLEK YÖNETİMİ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Bağlama, MMU, Yer Ayırma ve Parçalanma</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8  ·  16</a:t>
            </a:r>
            <a:endParaRPr lang="tr-TR" sz="900" dirty="0"/>
          </a:p>
        </p:txBody>
      </p:sp>
      <p:sp>
        <p:nvSpPr>
          <p:cNvPr id="6" name="Shape 4"/>
          <p:cNvSpPr/>
          <p:nvPr/>
        </p:nvSpPr>
        <p:spPr>
          <a:xfrm>
            <a:off x="548640" y="1508760"/>
            <a:ext cx="355092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sp>
      <p:sp>
        <p:nvSpPr>
          <p:cNvPr id="7" name="Text 5"/>
          <p:cNvSpPr txBox="1"/>
          <p:nvPr/>
        </p:nvSpPr>
        <p:spPr>
          <a:xfrm>
            <a:off x="777240" y="169164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Adres bağlama</a:t>
            </a:r>
            <a:endParaRPr lang="tr-TR" sz="1600" dirty="0"/>
          </a:p>
        </p:txBody>
      </p:sp>
      <p:sp>
        <p:nvSpPr>
          <p:cNvPr id="8" name="Text 6"/>
          <p:cNvSpPr txBox="1"/>
          <p:nvPr/>
        </p:nvSpPr>
        <p:spPr>
          <a:xfrm>
            <a:off x="777240" y="2148840"/>
            <a:ext cx="3093720" cy="1485900"/>
          </a:xfrm>
          <a:prstGeom prst="rect">
            <a:avLst/>
          </a:prstGeom>
          <a:noFill/>
          <a:ln/>
        </p:spPr>
        <p:txBody>
          <a:bodyPr wrap="square" lIns="0" tIns="0" rIns="0" bIns="0" rtlCol="0" anchor="t"/>
          <a:lstStyle/>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Derleme zamanı: mutlak kod.</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Yükleme zamanı: yeri değiştirilebilir kod.</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Yürütme zamanı: MMU her erişimi çevirir — tüm modern sistemler.</a:t>
            </a:r>
            <a:endParaRPr lang="tr-TR" sz="1350" dirty="0"/>
          </a:p>
        </p:txBody>
      </p:sp>
      <p:sp>
        <p:nvSpPr>
          <p:cNvPr id="9" name="Shape 7"/>
          <p:cNvSpPr/>
          <p:nvPr/>
        </p:nvSpPr>
        <p:spPr>
          <a:xfrm>
            <a:off x="4328160" y="1508760"/>
            <a:ext cx="355092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sp>
      <p:sp>
        <p:nvSpPr>
          <p:cNvPr id="10" name="Text 8"/>
          <p:cNvSpPr txBox="1"/>
          <p:nvPr/>
        </p:nvSpPr>
        <p:spPr>
          <a:xfrm>
            <a:off x="4556760" y="169164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Taban ve sınır</a:t>
            </a:r>
            <a:endParaRPr lang="tr-TR" sz="1600" dirty="0"/>
          </a:p>
        </p:txBody>
      </p:sp>
      <p:sp>
        <p:nvSpPr>
          <p:cNvPr id="11" name="Text 9"/>
          <p:cNvSpPr txBox="1"/>
          <p:nvPr/>
        </p:nvSpPr>
        <p:spPr>
          <a:xfrm>
            <a:off x="4556760" y="2148840"/>
            <a:ext cx="3093720" cy="1485900"/>
          </a:xfrm>
          <a:prstGeom prst="rect">
            <a:avLst/>
          </a:prstGeom>
          <a:noFill/>
          <a:ln/>
        </p:spPr>
        <p:txBody>
          <a:bodyPr wrap="square" lIns="0" tIns="0" rIns="0" bIns="0" rtlCol="0" anchor="t"/>
          <a:lstStyle/>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Mantıksal a: 0 ≤ a &lt; sınır ise fiziksel = taban + a; değilse tuzak.</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Bu yazmaçları yalnızca çekirdek yükleyebilir.</a:t>
            </a:r>
            <a:endParaRPr lang="tr-TR" sz="1350" dirty="0"/>
          </a:p>
        </p:txBody>
      </p:sp>
      <p:sp>
        <p:nvSpPr>
          <p:cNvPr id="12" name="Shape 10"/>
          <p:cNvSpPr/>
          <p:nvPr/>
        </p:nvSpPr>
        <p:spPr>
          <a:xfrm>
            <a:off x="8107680" y="1508760"/>
            <a:ext cx="355092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sp>
      <p:sp>
        <p:nvSpPr>
          <p:cNvPr id="13" name="Text 11"/>
          <p:cNvSpPr txBox="1"/>
          <p:nvPr/>
        </p:nvSpPr>
        <p:spPr>
          <a:xfrm>
            <a:off x="8336280" y="169164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Takas</a:t>
            </a:r>
            <a:endParaRPr lang="tr-TR" sz="1600" dirty="0"/>
          </a:p>
        </p:txBody>
      </p:sp>
      <p:sp>
        <p:nvSpPr>
          <p:cNvPr id="14" name="Text 12"/>
          <p:cNvSpPr txBox="1"/>
          <p:nvPr/>
        </p:nvSpPr>
        <p:spPr>
          <a:xfrm>
            <a:off x="8336280" y="2148840"/>
            <a:ext cx="3093720" cy="1485900"/>
          </a:xfrm>
          <a:prstGeom prst="rect">
            <a:avLst/>
          </a:prstGeom>
          <a:noFill/>
          <a:ln/>
        </p:spPr>
        <p:txBody>
          <a:bodyPr wrap="square" lIns="0" tIns="0" rIns="0" bIns="0" rtlCol="0" anchor="t"/>
          <a:lstStyle/>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Süre = boyut / aktarım hızı (100 MB, 50 MB/s: her yön 2 s).</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Modern sistemler süreçleri değil sayfaları takas eder.</a:t>
            </a:r>
            <a:endParaRPr lang="tr-TR" sz="1350" dirty="0"/>
          </a:p>
        </p:txBody>
      </p:sp>
      <p:sp>
        <p:nvSpPr>
          <p:cNvPr id="15" name="Shape 13"/>
          <p:cNvSpPr/>
          <p:nvPr/>
        </p:nvSpPr>
        <p:spPr>
          <a:xfrm>
            <a:off x="548640" y="4000500"/>
            <a:ext cx="355092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sp>
      <p:sp>
        <p:nvSpPr>
          <p:cNvPr id="16" name="Text 14"/>
          <p:cNvSpPr txBox="1"/>
          <p:nvPr/>
        </p:nvSpPr>
        <p:spPr>
          <a:xfrm>
            <a:off x="777240" y="418338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Yerleştirme</a:t>
            </a:r>
            <a:endParaRPr lang="tr-TR" sz="1600" dirty="0"/>
          </a:p>
        </p:txBody>
      </p:sp>
      <p:sp>
        <p:nvSpPr>
          <p:cNvPr id="17" name="Text 15"/>
          <p:cNvSpPr txBox="1"/>
          <p:nvPr/>
        </p:nvSpPr>
        <p:spPr>
          <a:xfrm>
            <a:off x="777240" y="4640580"/>
            <a:ext cx="3093720" cy="1485900"/>
          </a:xfrm>
          <a:prstGeom prst="rect">
            <a:avLst/>
          </a:prstGeom>
          <a:noFill/>
          <a:ln/>
        </p:spPr>
        <p:txBody>
          <a:bodyPr wrap="square" lIns="0" tIns="0" rIns="0" bIns="0" rtlCol="0" anchor="t"/>
          <a:lstStyle/>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İlk uyan: yeterince büyük ilk delik.</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En iyi uyan: yeterince büyük en küçük delik.</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En kötü uyan: en büyük delik.</a:t>
            </a:r>
            <a:endParaRPr lang="tr-TR" sz="1350" dirty="0"/>
          </a:p>
        </p:txBody>
      </p:sp>
      <p:sp>
        <p:nvSpPr>
          <p:cNvPr id="18" name="Shape 16"/>
          <p:cNvSpPr/>
          <p:nvPr/>
        </p:nvSpPr>
        <p:spPr>
          <a:xfrm>
            <a:off x="4328160" y="4000500"/>
            <a:ext cx="355092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sp>
      <p:sp>
        <p:nvSpPr>
          <p:cNvPr id="19" name="Text 17"/>
          <p:cNvSpPr txBox="1"/>
          <p:nvPr/>
        </p:nvSpPr>
        <p:spPr>
          <a:xfrm>
            <a:off x="4556760" y="418338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Parçalanma</a:t>
            </a:r>
            <a:endParaRPr lang="tr-TR" sz="1600" dirty="0"/>
          </a:p>
        </p:txBody>
      </p:sp>
      <p:sp>
        <p:nvSpPr>
          <p:cNvPr id="20" name="Text 18"/>
          <p:cNvSpPr txBox="1"/>
          <p:nvPr/>
        </p:nvSpPr>
        <p:spPr>
          <a:xfrm>
            <a:off x="4556760" y="4640580"/>
            <a:ext cx="3093720" cy="1485900"/>
          </a:xfrm>
          <a:prstGeom prst="rect">
            <a:avLst/>
          </a:prstGeom>
          <a:noFill/>
          <a:ln/>
        </p:spPr>
        <p:txBody>
          <a:bodyPr wrap="square" lIns="0" tIns="0" rIns="0" bIns="0" rtlCol="0" anchor="t"/>
          <a:lstStyle/>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Dış: boş bellek, kullanılamayacak kadar küçük deliklerde (%50 kuralı: 1/3'e kadar kayıp).</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İç: ayrılmış bir bloğun içindeki kullanılmayan bellek.</a:t>
            </a:r>
            <a:endParaRPr lang="tr-TR" sz="1350" dirty="0"/>
          </a:p>
        </p:txBody>
      </p:sp>
      <p:sp>
        <p:nvSpPr>
          <p:cNvPr id="21" name="Shape 19"/>
          <p:cNvSpPr/>
          <p:nvPr/>
        </p:nvSpPr>
        <p:spPr>
          <a:xfrm>
            <a:off x="8107680" y="4000500"/>
            <a:ext cx="355092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sp>
      <p:sp>
        <p:nvSpPr>
          <p:cNvPr id="22" name="Text 20"/>
          <p:cNvSpPr txBox="1"/>
          <p:nvPr/>
        </p:nvSpPr>
        <p:spPr>
          <a:xfrm>
            <a:off x="8336280" y="418338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Sıkıştırma</a:t>
            </a:r>
            <a:endParaRPr lang="tr-TR" sz="1600" dirty="0"/>
          </a:p>
        </p:txBody>
      </p:sp>
      <p:sp>
        <p:nvSpPr>
          <p:cNvPr id="23" name="Text 21"/>
          <p:cNvSpPr txBox="1"/>
          <p:nvPr/>
        </p:nvSpPr>
        <p:spPr>
          <a:xfrm>
            <a:off x="8336280" y="4640580"/>
            <a:ext cx="3093720" cy="1485900"/>
          </a:xfrm>
          <a:prstGeom prst="rect">
            <a:avLst/>
          </a:prstGeom>
          <a:noFill/>
          <a:ln/>
        </p:spPr>
        <p:txBody>
          <a:bodyPr wrap="square" lIns="0" tIns="0" rIns="0" bIns="0" rtlCol="0" anchor="t"/>
          <a:lstStyle/>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Blokları bir araya taşı, tek delik kalsın.</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Yürütme zamanında bağlama gerekir; pahalıdır.</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Daha iyi çare: sayfalama.</a:t>
            </a:r>
            <a:endParaRPr lang="tr-TR" sz="1350" dirty="0"/>
          </a:p>
        </p:txBody>
      </p:sp>
      <p:sp>
        <p:nvSpPr>
          <p:cNvPr id="24" name="Shape 22"/>
          <p:cNvSpPr/>
          <p:nvPr/>
        </p:nvSpPr>
        <p:spPr>
          <a:xfrm>
            <a:off x="10287000" y="274320"/>
            <a:ext cx="1371600" cy="329184"/>
          </a:xfrm>
          <a:prstGeom prst="roundRect">
            <a:avLst>
              <a:gd name="adj" fmla="val 13889"/>
            </a:avLst>
          </a:prstGeom>
          <a:solidFill>
            <a:srgbClr val="02C39A"/>
          </a:solidFill>
          <a:ln/>
        </p:spPr>
      </p:sp>
      <p:sp>
        <p:nvSpPr>
          <p:cNvPr id="25" name="Text 23"/>
          <p:cNvSpPr txBox="1"/>
          <p:nvPr/>
        </p:nvSpPr>
        <p:spPr>
          <a:xfrm>
            <a:off x="10287000" y="274320"/>
            <a:ext cx="1371600" cy="329184"/>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6. hafta</a:t>
            </a:r>
            <a:endParaRPr lang="tr-TR"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6. HAFTA · SAYFALAMA, TLB, BÖLÜTLEME</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Sayfalar, Çerçeveler, TLB ve Bölütler</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8  ·  17</a:t>
            </a:r>
            <a:endParaRPr lang="tr-TR" sz="900" dirty="0"/>
          </a:p>
        </p:txBody>
      </p:sp>
      <p:sp>
        <p:nvSpPr>
          <p:cNvPr id="6" name="Shape 4"/>
          <p:cNvSpPr/>
          <p:nvPr/>
        </p:nvSpPr>
        <p:spPr>
          <a:xfrm>
            <a:off x="10287000" y="274320"/>
            <a:ext cx="1371600" cy="329184"/>
          </a:xfrm>
          <a:prstGeom prst="roundRect">
            <a:avLst>
              <a:gd name="adj" fmla="val 13889"/>
            </a:avLst>
          </a:prstGeom>
          <a:solidFill>
            <a:srgbClr val="02C39A"/>
          </a:solidFill>
          <a:ln/>
        </p:spPr>
      </p:sp>
      <p:sp>
        <p:nvSpPr>
          <p:cNvPr id="7" name="Text 5"/>
          <p:cNvSpPr txBox="1"/>
          <p:nvPr/>
        </p:nvSpPr>
        <p:spPr>
          <a:xfrm>
            <a:off x="10287000" y="274320"/>
            <a:ext cx="1371600" cy="329184"/>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6. hafta</a:t>
            </a:r>
            <a:endParaRPr lang="tr-TR" sz="1200" dirty="0"/>
          </a:p>
        </p:txBody>
      </p:sp>
      <p:sp>
        <p:nvSpPr>
          <p:cNvPr id="8" name="Shape 6"/>
          <p:cNvSpPr/>
          <p:nvPr/>
        </p:nvSpPr>
        <p:spPr>
          <a:xfrm>
            <a:off x="548640" y="1600200"/>
            <a:ext cx="1737360" cy="548640"/>
          </a:xfrm>
          <a:prstGeom prst="roundRect">
            <a:avLst>
              <a:gd name="adj" fmla="val 8333"/>
            </a:avLst>
          </a:prstGeom>
          <a:solidFill>
            <a:srgbClr val="36454F"/>
          </a:solidFill>
          <a:ln/>
        </p:spPr>
      </p:sp>
      <p:sp>
        <p:nvSpPr>
          <p:cNvPr id="9" name="Text 7"/>
          <p:cNvSpPr txBox="1"/>
          <p:nvPr/>
        </p:nvSpPr>
        <p:spPr>
          <a:xfrm>
            <a:off x="548640" y="1600200"/>
            <a:ext cx="1737360" cy="548640"/>
          </a:xfrm>
          <a:prstGeom prst="rect">
            <a:avLst/>
          </a:prstGeom>
          <a:noFill/>
          <a:ln/>
        </p:spPr>
        <p:txBody>
          <a:bodyPr wrap="square" lIns="38100" tIns="38100" rIns="38100" bIns="38100" rtlCol="0" anchor="ctr"/>
          <a:lstStyle/>
          <a:p>
            <a:pPr algn="ctr" indent="0" marL="0">
              <a:buNone/>
            </a:pPr>
            <a:r>
              <a:rPr lang="tr-TR" sz="1600" b="1" dirty="0">
                <a:solidFill>
                  <a:srgbClr val="FFFFFF"/>
                </a:solidFill>
                <a:latin typeface="Calibri" pitchFamily="34" charset="0"/>
                <a:ea typeface="Calibri" pitchFamily="34" charset="-122"/>
                <a:cs typeface="Calibri" pitchFamily="34" charset="-120"/>
              </a:rPr>
              <a:t>p</a:t>
            </a:r>
            <a:endParaRPr lang="tr-TR" sz="1600" dirty="0"/>
          </a:p>
          <a:p>
            <a:pPr algn="ctr" indent="0" marL="0">
              <a:buNone/>
            </a:pPr>
            <a:r>
              <a:rPr lang="tr-TR" sz="1050" dirty="0">
                <a:solidFill>
                  <a:srgbClr val="FFFFFF"/>
                </a:solidFill>
                <a:latin typeface="Calibri" pitchFamily="34" charset="0"/>
                <a:ea typeface="Calibri" pitchFamily="34" charset="-122"/>
                <a:cs typeface="Calibri" pitchFamily="34" charset="-120"/>
              </a:rPr>
              <a:t>sayfa numarası</a:t>
            </a:r>
            <a:endParaRPr lang="tr-TR" sz="1600" dirty="0"/>
          </a:p>
        </p:txBody>
      </p:sp>
      <p:sp>
        <p:nvSpPr>
          <p:cNvPr id="10" name="Shape 8"/>
          <p:cNvSpPr/>
          <p:nvPr/>
        </p:nvSpPr>
        <p:spPr>
          <a:xfrm>
            <a:off x="2331720" y="1600200"/>
            <a:ext cx="1737360" cy="548640"/>
          </a:xfrm>
          <a:prstGeom prst="roundRect">
            <a:avLst>
              <a:gd name="adj" fmla="val 8333"/>
            </a:avLst>
          </a:prstGeom>
          <a:solidFill>
            <a:srgbClr val="02C39A"/>
          </a:solidFill>
          <a:ln/>
        </p:spPr>
      </p:sp>
      <p:sp>
        <p:nvSpPr>
          <p:cNvPr id="11" name="Text 9"/>
          <p:cNvSpPr txBox="1"/>
          <p:nvPr/>
        </p:nvSpPr>
        <p:spPr>
          <a:xfrm>
            <a:off x="2331720" y="1600200"/>
            <a:ext cx="1737360" cy="548640"/>
          </a:xfrm>
          <a:prstGeom prst="rect">
            <a:avLst/>
          </a:prstGeom>
          <a:noFill/>
          <a:ln/>
        </p:spPr>
        <p:txBody>
          <a:bodyPr wrap="square" lIns="38100" tIns="38100" rIns="38100" bIns="38100" rtlCol="0" anchor="ctr"/>
          <a:lstStyle/>
          <a:p>
            <a:pPr algn="ctr" indent="0" marL="0">
              <a:buNone/>
            </a:pPr>
            <a:r>
              <a:rPr lang="tr-TR" sz="1600" b="1" dirty="0">
                <a:solidFill>
                  <a:srgbClr val="212121"/>
                </a:solidFill>
                <a:latin typeface="Calibri" pitchFamily="34" charset="0"/>
                <a:ea typeface="Calibri" pitchFamily="34" charset="-122"/>
                <a:cs typeface="Calibri" pitchFamily="34" charset="-120"/>
              </a:rPr>
              <a:t>d</a:t>
            </a:r>
            <a:endParaRPr lang="tr-TR" sz="1600" dirty="0"/>
          </a:p>
          <a:p>
            <a:pPr algn="ctr" indent="0" marL="0">
              <a:buNone/>
            </a:pPr>
            <a:r>
              <a:rPr lang="tr-TR" sz="1050" dirty="0">
                <a:solidFill>
                  <a:srgbClr val="212121"/>
                </a:solidFill>
                <a:latin typeface="Calibri" pitchFamily="34" charset="0"/>
                <a:ea typeface="Calibri" pitchFamily="34" charset="-122"/>
                <a:cs typeface="Calibri" pitchFamily="34" charset="-120"/>
              </a:rPr>
              <a:t>ofset (n bit)</a:t>
            </a:r>
            <a:endParaRPr lang="tr-TR" sz="1600" dirty="0"/>
          </a:p>
        </p:txBody>
      </p:sp>
      <p:sp>
        <p:nvSpPr>
          <p:cNvPr id="12" name="Shape 10"/>
          <p:cNvSpPr/>
          <p:nvPr/>
        </p:nvSpPr>
        <p:spPr>
          <a:xfrm>
            <a:off x="4114800" y="1874520"/>
            <a:ext cx="594360" cy="91"/>
          </a:xfrm>
          <a:prstGeom prst="line">
            <a:avLst/>
          </a:prstGeom>
          <a:noFill/>
          <a:ln w="25400">
            <a:solidFill>
              <a:srgbClr val="028090"/>
            </a:solidFill>
            <a:prstDash val="solid"/>
            <a:tailEnd type="triangle"/>
          </a:ln>
        </p:spPr>
      </p:sp>
      <p:sp>
        <p:nvSpPr>
          <p:cNvPr id="13" name="Shape 11"/>
          <p:cNvSpPr/>
          <p:nvPr/>
        </p:nvSpPr>
        <p:spPr>
          <a:xfrm>
            <a:off x="4754880" y="1600200"/>
            <a:ext cx="1828800" cy="548640"/>
          </a:xfrm>
          <a:prstGeom prst="roundRect">
            <a:avLst>
              <a:gd name="adj" fmla="val 8333"/>
            </a:avLst>
          </a:prstGeom>
          <a:solidFill>
            <a:srgbClr val="F2F2F2"/>
          </a:solidFill>
          <a:ln/>
        </p:spPr>
      </p:sp>
      <p:sp>
        <p:nvSpPr>
          <p:cNvPr id="14" name="Text 12"/>
          <p:cNvSpPr txBox="1"/>
          <p:nvPr/>
        </p:nvSpPr>
        <p:spPr>
          <a:xfrm>
            <a:off x="4754880" y="1600200"/>
            <a:ext cx="1828800" cy="548640"/>
          </a:xfrm>
          <a:prstGeom prst="rect">
            <a:avLst/>
          </a:prstGeom>
          <a:noFill/>
          <a:ln/>
        </p:spPr>
        <p:txBody>
          <a:bodyPr wrap="square" lIns="38100" tIns="38100" rIns="38100" bIns="38100" rtlCol="0" anchor="ctr"/>
          <a:lstStyle/>
          <a:p>
            <a:pPr algn="ctr" indent="0" marL="0">
              <a:buNone/>
            </a:pPr>
            <a:r>
              <a:rPr lang="tr-TR" sz="1250" b="1" dirty="0">
                <a:solidFill>
                  <a:srgbClr val="36454F"/>
                </a:solidFill>
                <a:latin typeface="Calibri" pitchFamily="34" charset="0"/>
                <a:ea typeface="Calibri" pitchFamily="34" charset="-122"/>
                <a:cs typeface="Calibri" pitchFamily="34" charset="-120"/>
              </a:rPr>
              <a:t>sayfa tablosu [p] = f</a:t>
            </a:r>
            <a:endParaRPr lang="tr-TR" sz="1250" dirty="0"/>
          </a:p>
        </p:txBody>
      </p:sp>
      <p:sp>
        <p:nvSpPr>
          <p:cNvPr id="15" name="Shape 13"/>
          <p:cNvSpPr/>
          <p:nvPr/>
        </p:nvSpPr>
        <p:spPr>
          <a:xfrm>
            <a:off x="6629400" y="1874520"/>
            <a:ext cx="594360" cy="91"/>
          </a:xfrm>
          <a:prstGeom prst="line">
            <a:avLst/>
          </a:prstGeom>
          <a:noFill/>
          <a:ln w="25400">
            <a:solidFill>
              <a:srgbClr val="028090"/>
            </a:solidFill>
            <a:prstDash val="solid"/>
            <a:tailEnd type="triangle"/>
          </a:ln>
        </p:spPr>
      </p:sp>
      <p:sp>
        <p:nvSpPr>
          <p:cNvPr id="16" name="Shape 14"/>
          <p:cNvSpPr/>
          <p:nvPr/>
        </p:nvSpPr>
        <p:spPr>
          <a:xfrm>
            <a:off x="7269480" y="1600200"/>
            <a:ext cx="1737360" cy="548640"/>
          </a:xfrm>
          <a:prstGeom prst="roundRect">
            <a:avLst>
              <a:gd name="adj" fmla="val 8333"/>
            </a:avLst>
          </a:prstGeom>
          <a:solidFill>
            <a:srgbClr val="36454F"/>
          </a:solidFill>
          <a:ln/>
        </p:spPr>
      </p:sp>
      <p:sp>
        <p:nvSpPr>
          <p:cNvPr id="17" name="Text 15"/>
          <p:cNvSpPr txBox="1"/>
          <p:nvPr/>
        </p:nvSpPr>
        <p:spPr>
          <a:xfrm>
            <a:off x="7269480" y="1600200"/>
            <a:ext cx="1737360" cy="548640"/>
          </a:xfrm>
          <a:prstGeom prst="rect">
            <a:avLst/>
          </a:prstGeom>
          <a:noFill/>
          <a:ln/>
        </p:spPr>
        <p:txBody>
          <a:bodyPr wrap="square" lIns="38100" tIns="38100" rIns="38100" bIns="38100" rtlCol="0" anchor="ctr"/>
          <a:lstStyle/>
          <a:p>
            <a:pPr algn="ctr" indent="0" marL="0">
              <a:buNone/>
            </a:pPr>
            <a:r>
              <a:rPr lang="tr-TR" sz="1600" b="1" dirty="0">
                <a:solidFill>
                  <a:srgbClr val="FFFFFF"/>
                </a:solidFill>
                <a:latin typeface="Calibri" pitchFamily="34" charset="0"/>
                <a:ea typeface="Calibri" pitchFamily="34" charset="-122"/>
                <a:cs typeface="Calibri" pitchFamily="34" charset="-120"/>
              </a:rPr>
              <a:t>f</a:t>
            </a:r>
            <a:endParaRPr lang="tr-TR" sz="1600" dirty="0"/>
          </a:p>
          <a:p>
            <a:pPr algn="ctr" indent="0" marL="0">
              <a:buNone/>
            </a:pPr>
            <a:r>
              <a:rPr lang="tr-TR" sz="1050" dirty="0">
                <a:solidFill>
                  <a:srgbClr val="FFFFFF"/>
                </a:solidFill>
                <a:latin typeface="Calibri" pitchFamily="34" charset="0"/>
                <a:ea typeface="Calibri" pitchFamily="34" charset="-122"/>
                <a:cs typeface="Calibri" pitchFamily="34" charset="-120"/>
              </a:rPr>
              <a:t>çerçeve numarası</a:t>
            </a:r>
            <a:endParaRPr lang="tr-TR" sz="1600" dirty="0"/>
          </a:p>
        </p:txBody>
      </p:sp>
      <p:sp>
        <p:nvSpPr>
          <p:cNvPr id="18" name="Shape 16"/>
          <p:cNvSpPr/>
          <p:nvPr/>
        </p:nvSpPr>
        <p:spPr>
          <a:xfrm>
            <a:off x="9052560" y="1600200"/>
            <a:ext cx="1737360" cy="548640"/>
          </a:xfrm>
          <a:prstGeom prst="roundRect">
            <a:avLst>
              <a:gd name="adj" fmla="val 8333"/>
            </a:avLst>
          </a:prstGeom>
          <a:solidFill>
            <a:srgbClr val="02C39A"/>
          </a:solidFill>
          <a:ln/>
        </p:spPr>
      </p:sp>
      <p:sp>
        <p:nvSpPr>
          <p:cNvPr id="19" name="Text 17"/>
          <p:cNvSpPr txBox="1"/>
          <p:nvPr/>
        </p:nvSpPr>
        <p:spPr>
          <a:xfrm>
            <a:off x="9052560" y="1600200"/>
            <a:ext cx="1737360" cy="548640"/>
          </a:xfrm>
          <a:prstGeom prst="rect">
            <a:avLst/>
          </a:prstGeom>
          <a:noFill/>
          <a:ln/>
        </p:spPr>
        <p:txBody>
          <a:bodyPr wrap="square" lIns="38100" tIns="38100" rIns="38100" bIns="38100" rtlCol="0" anchor="ctr"/>
          <a:lstStyle/>
          <a:p>
            <a:pPr algn="ctr" indent="0" marL="0">
              <a:buNone/>
            </a:pPr>
            <a:r>
              <a:rPr lang="tr-TR" sz="1600" b="1" dirty="0">
                <a:solidFill>
                  <a:srgbClr val="212121"/>
                </a:solidFill>
                <a:latin typeface="Calibri" pitchFamily="34" charset="0"/>
                <a:ea typeface="Calibri" pitchFamily="34" charset="-122"/>
                <a:cs typeface="Calibri" pitchFamily="34" charset="-120"/>
              </a:rPr>
              <a:t>d</a:t>
            </a:r>
            <a:endParaRPr lang="tr-TR" sz="1600" dirty="0"/>
          </a:p>
          <a:p>
            <a:pPr algn="ctr" indent="0" marL="0">
              <a:buNone/>
            </a:pPr>
            <a:r>
              <a:rPr lang="tr-TR" sz="1050" dirty="0">
                <a:solidFill>
                  <a:srgbClr val="212121"/>
                </a:solidFill>
                <a:latin typeface="Calibri" pitchFamily="34" charset="0"/>
                <a:ea typeface="Calibri" pitchFamily="34" charset="-122"/>
                <a:cs typeface="Calibri" pitchFamily="34" charset="-120"/>
              </a:rPr>
              <a:t>değişmez</a:t>
            </a:r>
            <a:endParaRPr lang="tr-TR" sz="1600" dirty="0"/>
          </a:p>
        </p:txBody>
      </p:sp>
      <p:sp>
        <p:nvSpPr>
          <p:cNvPr id="20" name="Shape 18"/>
          <p:cNvSpPr/>
          <p:nvPr/>
        </p:nvSpPr>
        <p:spPr>
          <a:xfrm>
            <a:off x="548640" y="2377440"/>
            <a:ext cx="5486400" cy="2011680"/>
          </a:xfrm>
          <a:prstGeom prst="roundRect">
            <a:avLst>
              <a:gd name="adj" fmla="val 2273"/>
            </a:avLst>
          </a:prstGeom>
          <a:solidFill>
            <a:srgbClr val="212121"/>
          </a:solidFill>
          <a:ln/>
        </p:spPr>
      </p:sp>
      <p:sp>
        <p:nvSpPr>
          <p:cNvPr id="21" name="Text 19"/>
          <p:cNvSpPr txBox="1"/>
          <p:nvPr/>
        </p:nvSpPr>
        <p:spPr>
          <a:xfrm>
            <a:off x="731520" y="2487168"/>
            <a:ext cx="5120640" cy="1792224"/>
          </a:xfrm>
          <a:prstGeom prst="rect">
            <a:avLst/>
          </a:prstGeom>
          <a:noFill/>
          <a:ln/>
        </p:spPr>
        <p:txBody>
          <a:bodyPr wrap="square" lIns="0" tIns="0" rIns="0" bIns="0" rtlCol="0" anchor="t"/>
          <a:lstStyle/>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sayfa boyu 2ⁿ:  p = ⌊a / 2ⁿ⌋,   d = a mod 2ⁿ</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a_fiz = f · 2ⁿ + d</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4 KB sayfa + onaltılık: sayfa basamağını değiştir</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tablo boyu = (2ᵐ / 2ⁿ) girdi × girdi boyu</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32 bit, 4 KB, 4 B → 2²⁰ girdi = 4 MB</a:t>
            </a:r>
            <a:endParaRPr lang="tr-TR" sz="1250" dirty="0"/>
          </a:p>
        </p:txBody>
      </p:sp>
      <p:sp>
        <p:nvSpPr>
          <p:cNvPr id="22" name="Shape 20"/>
          <p:cNvSpPr/>
          <p:nvPr/>
        </p:nvSpPr>
        <p:spPr>
          <a:xfrm>
            <a:off x="6172200" y="2377440"/>
            <a:ext cx="5486400" cy="2011680"/>
          </a:xfrm>
          <a:prstGeom prst="roundRect">
            <a:avLst>
              <a:gd name="adj" fmla="val 2273"/>
            </a:avLst>
          </a:prstGeom>
          <a:solidFill>
            <a:srgbClr val="212121"/>
          </a:solidFill>
          <a:ln/>
        </p:spPr>
      </p:sp>
      <p:sp>
        <p:nvSpPr>
          <p:cNvPr id="23" name="Text 21"/>
          <p:cNvSpPr txBox="1"/>
          <p:nvPr/>
        </p:nvSpPr>
        <p:spPr>
          <a:xfrm>
            <a:off x="6355080" y="2487168"/>
            <a:ext cx="5120640" cy="1792224"/>
          </a:xfrm>
          <a:prstGeom prst="rect">
            <a:avLst/>
          </a:prstGeom>
          <a:noFill/>
          <a:ln/>
        </p:spPr>
        <p:txBody>
          <a:bodyPr wrap="square" lIns="0" tIns="0" rIns="0" bIns="0" rtlCol="0" anchor="t"/>
          <a:lstStyle/>
          <a:p>
            <a:pPr indent="0" marL="0">
              <a:lnSpc>
                <a:spcPct val="105000"/>
              </a:lnSpc>
              <a:buNone/>
            </a:pPr>
            <a:r>
              <a:rPr lang="tr-TR" sz="1300" dirty="0">
                <a:solidFill>
                  <a:srgbClr val="8A9AA0"/>
                </a:solidFill>
                <a:latin typeface="Consolas" pitchFamily="34" charset="0"/>
                <a:ea typeface="Consolas" pitchFamily="34" charset="-122"/>
                <a:cs typeface="Consolas" pitchFamily="34" charset="-120"/>
              </a:rPr>
              <a:t># ders uzlaşımı (TLB araması hep sayılır)</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EAT = α(t_TLB + t_m) + (1 − α)(t_TLB + 2t_m)</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    = t_TLB + (2 − α) t_m</a:t>
            </a:r>
            <a:endParaRPr lang="tr-TR" sz="1300" dirty="0"/>
          </a:p>
          <a:p>
            <a:pPr indent="0" marL="0">
              <a:lnSpc>
                <a:spcPct val="105000"/>
              </a:lnSpc>
              <a:buNone/>
            </a:pPr>
            <a:r>
              <a:rPr lang="tr-TR" sz="1300" dirty="0">
                <a:solidFill>
                  <a:srgbClr val="8A9AA0"/>
                </a:solidFill>
                <a:latin typeface="Consolas" pitchFamily="34" charset="0"/>
                <a:ea typeface="Consolas" pitchFamily="34" charset="-122"/>
                <a:cs typeface="Consolas" pitchFamily="34" charset="-120"/>
              </a:rPr>
              <a:t># sadeleştirilmiş (t_TLB ≈ 0):</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EAT = α t_m + (1 − α) 2t_m</a:t>
            </a:r>
            <a:endParaRPr lang="tr-TR" sz="1300" dirty="0"/>
          </a:p>
        </p:txBody>
      </p:sp>
      <p:sp>
        <p:nvSpPr>
          <p:cNvPr id="24" name="Shape 22"/>
          <p:cNvSpPr/>
          <p:nvPr/>
        </p:nvSpPr>
        <p:spPr>
          <a:xfrm>
            <a:off x="548640" y="4572000"/>
            <a:ext cx="5486400" cy="1691640"/>
          </a:xfrm>
          <a:prstGeom prst="roundRect">
            <a:avLst>
              <a:gd name="adj" fmla="val 3243"/>
            </a:avLst>
          </a:prstGeom>
          <a:solidFill>
            <a:srgbClr val="F2F2F2"/>
          </a:solidFill>
          <a:ln/>
          <a:effectLst>
            <a:outerShdw sx="100000" sy="100000" kx="0" ky="0" algn="bl" rotWithShape="0" blurRad="101600" dist="25400" dir="5400000">
              <a:srgbClr val="000000">
                <a:alpha val="12000"/>
              </a:srgbClr>
            </a:outerShdw>
          </a:effectLst>
        </p:spPr>
      </p:sp>
      <p:sp>
        <p:nvSpPr>
          <p:cNvPr id="25" name="Text 23"/>
          <p:cNvSpPr txBox="1"/>
          <p:nvPr/>
        </p:nvSpPr>
        <p:spPr>
          <a:xfrm>
            <a:off x="777240" y="4754880"/>
            <a:ext cx="502920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Sayfalama</a:t>
            </a:r>
            <a:endParaRPr lang="tr-TR" sz="1500" dirty="0"/>
          </a:p>
        </p:txBody>
      </p:sp>
      <p:sp>
        <p:nvSpPr>
          <p:cNvPr id="26" name="Text 24"/>
          <p:cNvSpPr txBox="1"/>
          <p:nvPr/>
        </p:nvSpPr>
        <p:spPr>
          <a:xfrm>
            <a:off x="777240" y="5212080"/>
            <a:ext cx="5029200" cy="914400"/>
          </a:xfrm>
          <a:prstGeom prst="rect">
            <a:avLst/>
          </a:prstGeom>
          <a:noFill/>
          <a:ln/>
        </p:spPr>
        <p:txBody>
          <a:bodyPr wrap="square" lIns="0" tIns="0" rIns="0" bIns="0" rtlCol="0" anchor="t"/>
          <a:lstStyle/>
          <a:p>
            <a:pPr indent="0" marL="0">
              <a:spcAft>
                <a:spcPts val="400"/>
              </a:spcAft>
              <a:buNone/>
            </a:pPr>
            <a:r>
              <a:rPr lang="tr-TR" sz="1300" dirty="0">
                <a:solidFill>
                  <a:srgbClr val="3A464C"/>
                </a:solidFill>
                <a:latin typeface="Calibri" pitchFamily="34" charset="0"/>
                <a:ea typeface="Calibri" pitchFamily="34" charset="-122"/>
                <a:cs typeface="Calibri" pitchFamily="34" charset="-120"/>
              </a:rPr>
              <a:t>Dış parçalanma yok; iç: süreç başına ortalama yarım sayfa. Geçerli–geçersiz bit ve r/w/x bitleri her erişimde denetlenir.</a:t>
            </a:r>
            <a:endParaRPr lang="tr-TR" sz="1300" dirty="0"/>
          </a:p>
        </p:txBody>
      </p:sp>
      <p:sp>
        <p:nvSpPr>
          <p:cNvPr id="27" name="Shape 25"/>
          <p:cNvSpPr/>
          <p:nvPr/>
        </p:nvSpPr>
        <p:spPr>
          <a:xfrm>
            <a:off x="6172200" y="4572000"/>
            <a:ext cx="5486400" cy="1691640"/>
          </a:xfrm>
          <a:prstGeom prst="roundRect">
            <a:avLst>
              <a:gd name="adj" fmla="val 3243"/>
            </a:avLst>
          </a:prstGeom>
          <a:solidFill>
            <a:srgbClr val="F2F2F2"/>
          </a:solidFill>
          <a:ln/>
          <a:effectLst>
            <a:outerShdw sx="100000" sy="100000" kx="0" ky="0" algn="bl" rotWithShape="0" blurRad="101600" dist="25400" dir="5400000">
              <a:srgbClr val="000000">
                <a:alpha val="12000"/>
              </a:srgbClr>
            </a:outerShdw>
          </a:effectLst>
        </p:spPr>
      </p:sp>
      <p:sp>
        <p:nvSpPr>
          <p:cNvPr id="28" name="Text 26"/>
          <p:cNvSpPr txBox="1"/>
          <p:nvPr/>
        </p:nvSpPr>
        <p:spPr>
          <a:xfrm>
            <a:off x="6400800" y="4754880"/>
            <a:ext cx="502920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Bölütleme</a:t>
            </a:r>
            <a:endParaRPr lang="tr-TR" sz="1500" dirty="0"/>
          </a:p>
        </p:txBody>
      </p:sp>
      <p:sp>
        <p:nvSpPr>
          <p:cNvPr id="29" name="Text 27"/>
          <p:cNvSpPr txBox="1"/>
          <p:nvPr/>
        </p:nvSpPr>
        <p:spPr>
          <a:xfrm>
            <a:off x="6400800" y="5212080"/>
            <a:ext cx="5029200" cy="914400"/>
          </a:xfrm>
          <a:prstGeom prst="rect">
            <a:avLst/>
          </a:prstGeom>
          <a:noFill/>
          <a:ln/>
        </p:spPr>
        <p:txBody>
          <a:bodyPr wrap="square" lIns="0" tIns="0" rIns="0" bIns="0" rtlCol="0" anchor="t"/>
          <a:lstStyle/>
          <a:p>
            <a:pPr indent="0" marL="0">
              <a:spcAft>
                <a:spcPts val="400"/>
              </a:spcAft>
              <a:buNone/>
            </a:pPr>
            <a:r>
              <a:rPr lang="tr-TR" sz="1300" dirty="0">
                <a:solidFill>
                  <a:srgbClr val="3A464C"/>
                </a:solidFill>
                <a:latin typeface="Calibri" pitchFamily="34" charset="0"/>
                <a:ea typeface="Calibri" pitchFamily="34" charset="-122"/>
                <a:cs typeface="Calibri" pitchFamily="34" charset="-120"/>
              </a:rPr>
              <a:t>Adres ⟨s, d⟩: 0 ≤ d &lt; sınır[s] ise taban[s] + d, değilse tuzak. Değişken boy → dış parçalanma. x86-64 Linux: düz bölütler, işi sayfalama yapar.</a:t>
            </a:r>
            <a:endParaRPr lang="tr-TR"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7. HAFTA · SANAL BELLEK</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İsteğe Bağlı Sayfalama, Sayfa Hataları, Değiştirme</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8  ·  18</a:t>
            </a:r>
            <a:endParaRPr lang="tr-TR" sz="900" dirty="0"/>
          </a:p>
        </p:txBody>
      </p:sp>
      <p:sp>
        <p:nvSpPr>
          <p:cNvPr id="6" name="Shape 4"/>
          <p:cNvSpPr/>
          <p:nvPr/>
        </p:nvSpPr>
        <p:spPr>
          <a:xfrm>
            <a:off x="10287000" y="274320"/>
            <a:ext cx="1371600" cy="329184"/>
          </a:xfrm>
          <a:prstGeom prst="roundRect">
            <a:avLst>
              <a:gd name="adj" fmla="val 13889"/>
            </a:avLst>
          </a:prstGeom>
          <a:solidFill>
            <a:srgbClr val="02C39A"/>
          </a:solidFill>
          <a:ln/>
        </p:spPr>
      </p:sp>
      <p:sp>
        <p:nvSpPr>
          <p:cNvPr id="7" name="Text 5"/>
          <p:cNvSpPr txBox="1"/>
          <p:nvPr/>
        </p:nvSpPr>
        <p:spPr>
          <a:xfrm>
            <a:off x="10287000" y="274320"/>
            <a:ext cx="1371600" cy="329184"/>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7. hafta</a:t>
            </a:r>
            <a:endParaRPr lang="tr-TR" sz="1200" dirty="0"/>
          </a:p>
        </p:txBody>
      </p:sp>
      <p:sp>
        <p:nvSpPr>
          <p:cNvPr id="8" name="Shape 6"/>
          <p:cNvSpPr/>
          <p:nvPr/>
        </p:nvSpPr>
        <p:spPr>
          <a:xfrm>
            <a:off x="548640" y="1554480"/>
            <a:ext cx="1691640" cy="777240"/>
          </a:xfrm>
          <a:prstGeom prst="roundRect">
            <a:avLst>
              <a:gd name="adj" fmla="val 5882"/>
            </a:avLst>
          </a:prstGeom>
          <a:solidFill>
            <a:srgbClr val="F2F2F2"/>
          </a:solidFill>
          <a:ln/>
        </p:spPr>
      </p:sp>
      <p:sp>
        <p:nvSpPr>
          <p:cNvPr id="9" name="Text 7"/>
          <p:cNvSpPr txBox="1"/>
          <p:nvPr/>
        </p:nvSpPr>
        <p:spPr>
          <a:xfrm>
            <a:off x="548640" y="1554480"/>
            <a:ext cx="1691640" cy="777240"/>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1 Başvuru</a:t>
            </a:r>
            <a:endParaRPr lang="tr-TR" sz="1400" dirty="0"/>
          </a:p>
          <a:p>
            <a:pPr algn="ctr" indent="0" marL="0">
              <a:buNone/>
            </a:pPr>
            <a:r>
              <a:rPr lang="tr-TR" sz="1050" dirty="0">
                <a:solidFill>
                  <a:srgbClr val="212121"/>
                </a:solidFill>
                <a:latin typeface="Calibri" pitchFamily="34" charset="0"/>
                <a:ea typeface="Calibri" pitchFamily="34" charset="-122"/>
                <a:cs typeface="Calibri" pitchFamily="34" charset="-120"/>
              </a:rPr>
              <a:t>bit = i</a:t>
            </a:r>
            <a:endParaRPr lang="tr-TR" sz="1400" dirty="0"/>
          </a:p>
        </p:txBody>
      </p:sp>
      <p:sp>
        <p:nvSpPr>
          <p:cNvPr id="10" name="Shape 8"/>
          <p:cNvSpPr/>
          <p:nvPr/>
        </p:nvSpPr>
        <p:spPr>
          <a:xfrm>
            <a:off x="2249424" y="1938528"/>
            <a:ext cx="173736" cy="91"/>
          </a:xfrm>
          <a:prstGeom prst="line">
            <a:avLst/>
          </a:prstGeom>
          <a:noFill/>
          <a:ln w="19050">
            <a:solidFill>
              <a:srgbClr val="028090"/>
            </a:solidFill>
            <a:prstDash val="solid"/>
            <a:tailEnd type="triangle"/>
          </a:ln>
        </p:spPr>
      </p:sp>
      <p:sp>
        <p:nvSpPr>
          <p:cNvPr id="11" name="Shape 9"/>
          <p:cNvSpPr/>
          <p:nvPr/>
        </p:nvSpPr>
        <p:spPr>
          <a:xfrm>
            <a:off x="2432304" y="1554480"/>
            <a:ext cx="1691640" cy="777240"/>
          </a:xfrm>
          <a:prstGeom prst="roundRect">
            <a:avLst>
              <a:gd name="adj" fmla="val 5882"/>
            </a:avLst>
          </a:prstGeom>
          <a:solidFill>
            <a:srgbClr val="F3D9D6"/>
          </a:solidFill>
          <a:ln/>
        </p:spPr>
      </p:sp>
      <p:sp>
        <p:nvSpPr>
          <p:cNvPr id="12" name="Text 10"/>
          <p:cNvSpPr txBox="1"/>
          <p:nvPr/>
        </p:nvSpPr>
        <p:spPr>
          <a:xfrm>
            <a:off x="2432304" y="1554480"/>
            <a:ext cx="1691640" cy="777240"/>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2 Tuzak</a:t>
            </a:r>
            <a:endParaRPr lang="tr-TR" sz="1400" dirty="0"/>
          </a:p>
          <a:p>
            <a:pPr algn="ctr" indent="0" marL="0">
              <a:buNone/>
            </a:pPr>
            <a:r>
              <a:rPr lang="tr-TR" sz="1050" dirty="0">
                <a:solidFill>
                  <a:srgbClr val="212121"/>
                </a:solidFill>
                <a:latin typeface="Calibri" pitchFamily="34" charset="0"/>
                <a:ea typeface="Calibri" pitchFamily="34" charset="-122"/>
                <a:cs typeface="Calibri" pitchFamily="34" charset="-120"/>
              </a:rPr>
              <a:t>MMU → işletim sistemi</a:t>
            </a:r>
            <a:endParaRPr lang="tr-TR" sz="1400" dirty="0"/>
          </a:p>
        </p:txBody>
      </p:sp>
      <p:sp>
        <p:nvSpPr>
          <p:cNvPr id="13" name="Shape 11"/>
          <p:cNvSpPr/>
          <p:nvPr/>
        </p:nvSpPr>
        <p:spPr>
          <a:xfrm>
            <a:off x="4133088" y="1938528"/>
            <a:ext cx="173736" cy="91"/>
          </a:xfrm>
          <a:prstGeom prst="line">
            <a:avLst/>
          </a:prstGeom>
          <a:noFill/>
          <a:ln w="19050">
            <a:solidFill>
              <a:srgbClr val="028090"/>
            </a:solidFill>
            <a:prstDash val="solid"/>
            <a:tailEnd type="triangle"/>
          </a:ln>
        </p:spPr>
      </p:sp>
      <p:sp>
        <p:nvSpPr>
          <p:cNvPr id="14" name="Shape 12"/>
          <p:cNvSpPr/>
          <p:nvPr/>
        </p:nvSpPr>
        <p:spPr>
          <a:xfrm>
            <a:off x="4315968" y="1554480"/>
            <a:ext cx="1691640" cy="777240"/>
          </a:xfrm>
          <a:prstGeom prst="roundRect">
            <a:avLst>
              <a:gd name="adj" fmla="val 5882"/>
            </a:avLst>
          </a:prstGeom>
          <a:solidFill>
            <a:srgbClr val="F2F2F2"/>
          </a:solidFill>
          <a:ln/>
        </p:spPr>
      </p:sp>
      <p:sp>
        <p:nvSpPr>
          <p:cNvPr id="15" name="Text 13"/>
          <p:cNvSpPr txBox="1"/>
          <p:nvPr/>
        </p:nvSpPr>
        <p:spPr>
          <a:xfrm>
            <a:off x="4315968" y="1554480"/>
            <a:ext cx="1691640" cy="777240"/>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3 Bulma</a:t>
            </a:r>
            <a:endParaRPr lang="tr-TR" sz="1400" dirty="0"/>
          </a:p>
          <a:p>
            <a:pPr algn="ctr" indent="0" marL="0">
              <a:buNone/>
            </a:pPr>
            <a:r>
              <a:rPr lang="tr-TR" sz="1050" dirty="0">
                <a:solidFill>
                  <a:srgbClr val="212121"/>
                </a:solidFill>
                <a:latin typeface="Calibri" pitchFamily="34" charset="0"/>
                <a:ea typeface="Calibri" pitchFamily="34" charset="-122"/>
                <a:cs typeface="Calibri" pitchFamily="34" charset="-120"/>
              </a:rPr>
              <a:t>diskteki sayfa, boş çerçeve</a:t>
            </a:r>
            <a:endParaRPr lang="tr-TR" sz="1400" dirty="0"/>
          </a:p>
        </p:txBody>
      </p:sp>
      <p:sp>
        <p:nvSpPr>
          <p:cNvPr id="16" name="Shape 14"/>
          <p:cNvSpPr/>
          <p:nvPr/>
        </p:nvSpPr>
        <p:spPr>
          <a:xfrm>
            <a:off x="6016752" y="1938528"/>
            <a:ext cx="173736" cy="91"/>
          </a:xfrm>
          <a:prstGeom prst="line">
            <a:avLst/>
          </a:prstGeom>
          <a:noFill/>
          <a:ln w="19050">
            <a:solidFill>
              <a:srgbClr val="028090"/>
            </a:solidFill>
            <a:prstDash val="solid"/>
            <a:tailEnd type="triangle"/>
          </a:ln>
        </p:spPr>
      </p:sp>
      <p:sp>
        <p:nvSpPr>
          <p:cNvPr id="17" name="Shape 15"/>
          <p:cNvSpPr/>
          <p:nvPr/>
        </p:nvSpPr>
        <p:spPr>
          <a:xfrm>
            <a:off x="6199632" y="1554480"/>
            <a:ext cx="1691640" cy="777240"/>
          </a:xfrm>
          <a:prstGeom prst="roundRect">
            <a:avLst>
              <a:gd name="adj" fmla="val 5882"/>
            </a:avLst>
          </a:prstGeom>
          <a:solidFill>
            <a:srgbClr val="D7E9E6"/>
          </a:solidFill>
          <a:ln/>
        </p:spPr>
      </p:sp>
      <p:sp>
        <p:nvSpPr>
          <p:cNvPr id="18" name="Text 16"/>
          <p:cNvSpPr txBox="1"/>
          <p:nvPr/>
        </p:nvSpPr>
        <p:spPr>
          <a:xfrm>
            <a:off x="6199632" y="1554480"/>
            <a:ext cx="1691640" cy="777240"/>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4 Okuma</a:t>
            </a:r>
            <a:endParaRPr lang="tr-TR" sz="1400" dirty="0"/>
          </a:p>
          <a:p>
            <a:pPr algn="ctr" indent="0" marL="0">
              <a:buNone/>
            </a:pPr>
            <a:r>
              <a:rPr lang="tr-TR" sz="1050" dirty="0">
                <a:solidFill>
                  <a:srgbClr val="212121"/>
                </a:solidFill>
                <a:latin typeface="Calibri" pitchFamily="34" charset="0"/>
                <a:ea typeface="Calibri" pitchFamily="34" charset="-122"/>
                <a:cs typeface="Calibri" pitchFamily="34" charset="-120"/>
              </a:rPr>
              <a:t>disk → çerçeve</a:t>
            </a:r>
            <a:endParaRPr lang="tr-TR" sz="1400" dirty="0"/>
          </a:p>
        </p:txBody>
      </p:sp>
      <p:sp>
        <p:nvSpPr>
          <p:cNvPr id="19" name="Shape 17"/>
          <p:cNvSpPr/>
          <p:nvPr/>
        </p:nvSpPr>
        <p:spPr>
          <a:xfrm>
            <a:off x="7900416" y="1938528"/>
            <a:ext cx="173736" cy="91"/>
          </a:xfrm>
          <a:prstGeom prst="line">
            <a:avLst/>
          </a:prstGeom>
          <a:noFill/>
          <a:ln w="19050">
            <a:solidFill>
              <a:srgbClr val="028090"/>
            </a:solidFill>
            <a:prstDash val="solid"/>
            <a:tailEnd type="triangle"/>
          </a:ln>
        </p:spPr>
      </p:sp>
      <p:sp>
        <p:nvSpPr>
          <p:cNvPr id="20" name="Shape 18"/>
          <p:cNvSpPr/>
          <p:nvPr/>
        </p:nvSpPr>
        <p:spPr>
          <a:xfrm>
            <a:off x="8083296" y="1554480"/>
            <a:ext cx="1691640" cy="777240"/>
          </a:xfrm>
          <a:prstGeom prst="roundRect">
            <a:avLst>
              <a:gd name="adj" fmla="val 5882"/>
            </a:avLst>
          </a:prstGeom>
          <a:solidFill>
            <a:srgbClr val="F2F2F2"/>
          </a:solidFill>
          <a:ln/>
        </p:spPr>
      </p:sp>
      <p:sp>
        <p:nvSpPr>
          <p:cNvPr id="21" name="Text 19"/>
          <p:cNvSpPr txBox="1"/>
          <p:nvPr/>
        </p:nvSpPr>
        <p:spPr>
          <a:xfrm>
            <a:off x="8083296" y="1554480"/>
            <a:ext cx="1691640" cy="777240"/>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5 Güncelleme</a:t>
            </a:r>
            <a:endParaRPr lang="tr-TR" sz="1400" dirty="0"/>
          </a:p>
          <a:p>
            <a:pPr algn="ctr" indent="0" marL="0">
              <a:buNone/>
            </a:pPr>
            <a:r>
              <a:rPr lang="tr-TR" sz="1050" dirty="0">
                <a:solidFill>
                  <a:srgbClr val="212121"/>
                </a:solidFill>
                <a:latin typeface="Calibri" pitchFamily="34" charset="0"/>
                <a:ea typeface="Calibri" pitchFamily="34" charset="-122"/>
                <a:cs typeface="Calibri" pitchFamily="34" charset="-120"/>
              </a:rPr>
              <a:t>çerçeve no., bit = v</a:t>
            </a:r>
            <a:endParaRPr lang="tr-TR" sz="1400" dirty="0"/>
          </a:p>
        </p:txBody>
      </p:sp>
      <p:sp>
        <p:nvSpPr>
          <p:cNvPr id="22" name="Shape 20"/>
          <p:cNvSpPr/>
          <p:nvPr/>
        </p:nvSpPr>
        <p:spPr>
          <a:xfrm>
            <a:off x="9784080" y="1938528"/>
            <a:ext cx="173736" cy="91"/>
          </a:xfrm>
          <a:prstGeom prst="line">
            <a:avLst/>
          </a:prstGeom>
          <a:noFill/>
          <a:ln w="19050">
            <a:solidFill>
              <a:srgbClr val="028090"/>
            </a:solidFill>
            <a:prstDash val="solid"/>
            <a:tailEnd type="triangle"/>
          </a:ln>
        </p:spPr>
      </p:sp>
      <p:sp>
        <p:nvSpPr>
          <p:cNvPr id="23" name="Shape 21"/>
          <p:cNvSpPr/>
          <p:nvPr/>
        </p:nvSpPr>
        <p:spPr>
          <a:xfrm>
            <a:off x="9966960" y="1554480"/>
            <a:ext cx="1691640" cy="777240"/>
          </a:xfrm>
          <a:prstGeom prst="roundRect">
            <a:avLst>
              <a:gd name="adj" fmla="val 5882"/>
            </a:avLst>
          </a:prstGeom>
          <a:solidFill>
            <a:srgbClr val="F2F2F2"/>
          </a:solidFill>
          <a:ln/>
        </p:spPr>
      </p:sp>
      <p:sp>
        <p:nvSpPr>
          <p:cNvPr id="24" name="Text 22"/>
          <p:cNvSpPr txBox="1"/>
          <p:nvPr/>
        </p:nvSpPr>
        <p:spPr>
          <a:xfrm>
            <a:off x="9966960" y="1554480"/>
            <a:ext cx="1691640" cy="777240"/>
          </a:xfrm>
          <a:prstGeom prst="rect">
            <a:avLst/>
          </a:prstGeom>
          <a:noFill/>
          <a:ln/>
        </p:spPr>
        <p:txBody>
          <a:bodyPr wrap="square" lIns="38100" tIns="38100" rIns="38100" bIns="38100" rtlCol="0" anchor="ctr"/>
          <a:lstStyle/>
          <a:p>
            <a:pPr algn="ctr" indent="0" marL="0">
              <a:buNone/>
            </a:pPr>
            <a:r>
              <a:rPr lang="tr-TR" sz="1250" b="1" dirty="0">
                <a:solidFill>
                  <a:srgbClr val="212121"/>
                </a:solidFill>
                <a:latin typeface="Calibri" pitchFamily="34" charset="0"/>
                <a:ea typeface="Calibri" pitchFamily="34" charset="-122"/>
                <a:cs typeface="Calibri" pitchFamily="34" charset="-120"/>
              </a:rPr>
              <a:t>6 Yeniden başlatma</a:t>
            </a:r>
            <a:endParaRPr lang="tr-TR" sz="1250" dirty="0"/>
          </a:p>
          <a:p>
            <a:pPr algn="ctr" indent="0" marL="0">
              <a:buNone/>
            </a:pPr>
            <a:r>
              <a:rPr lang="tr-TR" sz="1050" dirty="0">
                <a:solidFill>
                  <a:srgbClr val="212121"/>
                </a:solidFill>
                <a:latin typeface="Calibri" pitchFamily="34" charset="0"/>
                <a:ea typeface="Calibri" pitchFamily="34" charset="-122"/>
                <a:cs typeface="Calibri" pitchFamily="34" charset="-120"/>
              </a:rPr>
              <a:t>aynı komut</a:t>
            </a:r>
            <a:endParaRPr lang="tr-TR" sz="1250" dirty="0"/>
          </a:p>
        </p:txBody>
      </p:sp>
      <p:sp>
        <p:nvSpPr>
          <p:cNvPr id="25" name="Shape 23"/>
          <p:cNvSpPr/>
          <p:nvPr/>
        </p:nvSpPr>
        <p:spPr>
          <a:xfrm>
            <a:off x="548640" y="2560320"/>
            <a:ext cx="5120640" cy="1463040"/>
          </a:xfrm>
          <a:prstGeom prst="roundRect">
            <a:avLst>
              <a:gd name="adj" fmla="val 3125"/>
            </a:avLst>
          </a:prstGeom>
          <a:solidFill>
            <a:srgbClr val="212121"/>
          </a:solidFill>
          <a:ln/>
        </p:spPr>
      </p:sp>
      <p:sp>
        <p:nvSpPr>
          <p:cNvPr id="26" name="Text 24"/>
          <p:cNvSpPr txBox="1"/>
          <p:nvPr/>
        </p:nvSpPr>
        <p:spPr>
          <a:xfrm>
            <a:off x="731520" y="2670048"/>
            <a:ext cx="4754880" cy="1243584"/>
          </a:xfrm>
          <a:prstGeom prst="rect">
            <a:avLst/>
          </a:prstGeom>
          <a:noFill/>
          <a:ln/>
        </p:spPr>
        <p:txBody>
          <a:bodyPr wrap="square" lIns="0" tIns="0" rIns="0" bIns="0" rtlCol="0" anchor="t"/>
          <a:lstStyle/>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EAT = (1 − p) t_m + p t_fault</a:t>
            </a:r>
            <a:endParaRPr lang="tr-TR" sz="1350" dirty="0"/>
          </a:p>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p = sayfa hatası oranı; t_fault ≈ ms</a:t>
            </a:r>
            <a:endParaRPr lang="tr-TR" sz="1350" dirty="0"/>
          </a:p>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 p çok küçük olmalı (≈ 10⁻⁶)</a:t>
            </a:r>
            <a:endParaRPr lang="tr-TR" sz="1350" dirty="0"/>
          </a:p>
        </p:txBody>
      </p:sp>
      <p:sp>
        <p:nvSpPr>
          <p:cNvPr id="27" name="Shape 25"/>
          <p:cNvSpPr/>
          <p:nvPr/>
        </p:nvSpPr>
        <p:spPr>
          <a:xfrm>
            <a:off x="548640" y="4206240"/>
            <a:ext cx="5120640" cy="2057400"/>
          </a:xfrm>
          <a:prstGeom prst="roundRect">
            <a:avLst>
              <a:gd name="adj" fmla="val 2667"/>
            </a:avLst>
          </a:prstGeom>
          <a:solidFill>
            <a:srgbClr val="F2F2F2"/>
          </a:solidFill>
          <a:ln/>
          <a:effectLst>
            <a:outerShdw sx="100000" sy="100000" kx="0" ky="0" algn="bl" rotWithShape="0" blurRad="101600" dist="25400" dir="5400000">
              <a:srgbClr val="000000">
                <a:alpha val="12000"/>
              </a:srgbClr>
            </a:outerShdw>
          </a:effectLst>
        </p:spPr>
      </p:sp>
      <p:sp>
        <p:nvSpPr>
          <p:cNvPr id="28" name="Text 26"/>
          <p:cNvSpPr txBox="1"/>
          <p:nvPr/>
        </p:nvSpPr>
        <p:spPr>
          <a:xfrm>
            <a:off x="777240" y="4389120"/>
            <a:ext cx="466344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Bunları da bilin</a:t>
            </a:r>
            <a:endParaRPr lang="tr-TR" sz="1500" dirty="0"/>
          </a:p>
        </p:txBody>
      </p:sp>
      <p:sp>
        <p:nvSpPr>
          <p:cNvPr id="29" name="Text 27"/>
          <p:cNvSpPr txBox="1"/>
          <p:nvPr/>
        </p:nvSpPr>
        <p:spPr>
          <a:xfrm>
            <a:off x="777240" y="4846320"/>
            <a:ext cx="4663440" cy="1280160"/>
          </a:xfrm>
          <a:prstGeom prst="rect">
            <a:avLst/>
          </a:prstGeom>
          <a:noFill/>
          <a:ln/>
        </p:spPr>
        <p:txBody>
          <a:bodyPr wrap="square" lIns="0" tIns="0" rIns="0" bIns="0" rtlCol="0" anchor="t"/>
          <a:lstStyle/>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Geçerli–geçersiz bit; saf isteğe bağlı sayfalama; sayfalayıcı.</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Yazınca kopyala: fork() sayfaları ilk yazmaya kadar paylaşır.</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Değişiklik (kirli) biti: temiz kurban diske geri yazılmaz.</a:t>
            </a:r>
            <a:endParaRPr lang="tr-TR" sz="13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897880" y="2560320"/>
          <a:ext cx="5760720" cy="914400"/>
        </p:xfrm>
        <a:graphic>
          <a:graphicData uri="http://schemas.openxmlformats.org/drawingml/2006/table">
            <a:tbl>
              <a:tblPr/>
              <a:tblGrid>
                <a:gridCol w="1051560"/>
                <a:gridCol w="2240280"/>
                <a:gridCol w="2468880"/>
              </a:tblGrid>
              <a:tr h="0">
                <a:tc>
                  <a:txBody>
                    <a:bodyPr/>
                    <a:lstStyle/>
                    <a:p>
                      <a:pPr indent="0" marL="0">
                        <a:buNone/>
                      </a:pPr>
                      <a:r>
                        <a:rPr lang="tr-TR" sz="1200" b="1" dirty="0">
                          <a:solidFill>
                            <a:srgbClr val="FFFFFF"/>
                          </a:solidFill>
                          <a:latin typeface="Cambria" pitchFamily="34" charset="0"/>
                          <a:ea typeface="Cambria" pitchFamily="34" charset="-122"/>
                          <a:cs typeface="Cambria" pitchFamily="34" charset="-120"/>
                        </a:rPr>
                        <a:t>Algoritma</a:t>
                      </a:r>
                      <a:endParaRPr lang="tr-TR" sz="120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200" b="1" dirty="0">
                          <a:solidFill>
                            <a:srgbClr val="FFFFFF"/>
                          </a:solidFill>
                          <a:latin typeface="Cambria" pitchFamily="34" charset="0"/>
                          <a:ea typeface="Cambria" pitchFamily="34" charset="-122"/>
                          <a:cs typeface="Cambria" pitchFamily="34" charset="-120"/>
                        </a:rPr>
                        <a:t>Kurban</a:t>
                      </a:r>
                      <a:endParaRPr lang="tr-TR" sz="120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200" b="1" dirty="0">
                          <a:solidFill>
                            <a:srgbClr val="FFFFFF"/>
                          </a:solidFill>
                          <a:latin typeface="Cambria" pitchFamily="34" charset="0"/>
                          <a:ea typeface="Cambria" pitchFamily="34" charset="-122"/>
                          <a:cs typeface="Cambria" pitchFamily="34" charset="-120"/>
                        </a:rPr>
                        <a:t>Not</a:t>
                      </a:r>
                      <a:endParaRPr lang="tr-TR" sz="120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tr-TR" sz="1200" b="1" dirty="0">
                          <a:solidFill>
                            <a:srgbClr val="3A464C"/>
                          </a:solidFill>
                          <a:latin typeface="Calibri" pitchFamily="34" charset="0"/>
                          <a:ea typeface="Calibri" pitchFamily="34" charset="-122"/>
                          <a:cs typeface="Calibri" pitchFamily="34" charset="-120"/>
                        </a:rPr>
                        <a:t>FIFO</a:t>
                      </a:r>
                      <a:endParaRPr lang="tr-TR" sz="12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200" dirty="0">
                          <a:solidFill>
                            <a:srgbClr val="3A464C"/>
                          </a:solidFill>
                          <a:latin typeface="Calibri" pitchFamily="34" charset="0"/>
                          <a:ea typeface="Calibri" pitchFamily="34" charset="-122"/>
                          <a:cs typeface="Calibri" pitchFamily="34" charset="-120"/>
                        </a:rPr>
                        <a:t>en önce yüklenen</a:t>
                      </a:r>
                      <a:endParaRPr lang="tr-TR" sz="12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200" dirty="0">
                          <a:solidFill>
                            <a:srgbClr val="3A464C"/>
                          </a:solidFill>
                          <a:latin typeface="Calibri" pitchFamily="34" charset="0"/>
                          <a:ea typeface="Calibri" pitchFamily="34" charset="-122"/>
                          <a:cs typeface="Calibri" pitchFamily="34" charset="-120"/>
                        </a:rPr>
                        <a:t>ucuz; Belady anomalisi olabilir</a:t>
                      </a:r>
                      <a:endParaRPr lang="tr-TR" sz="12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200" b="1" dirty="0">
                          <a:solidFill>
                            <a:srgbClr val="3A464C"/>
                          </a:solidFill>
                          <a:latin typeface="Calibri" pitchFamily="34" charset="0"/>
                          <a:ea typeface="Calibri" pitchFamily="34" charset="-122"/>
                          <a:cs typeface="Calibri" pitchFamily="34" charset="-120"/>
                        </a:rPr>
                        <a:t>OPT</a:t>
                      </a:r>
                      <a:endParaRPr lang="tr-TR" sz="12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200" dirty="0">
                          <a:solidFill>
                            <a:srgbClr val="3A464C"/>
                          </a:solidFill>
                          <a:latin typeface="Calibri" pitchFamily="34" charset="0"/>
                          <a:ea typeface="Calibri" pitchFamily="34" charset="-122"/>
                          <a:cs typeface="Calibri" pitchFamily="34" charset="-120"/>
                        </a:rPr>
                        <a:t>en uzak gelecekte kullanılacak</a:t>
                      </a:r>
                      <a:endParaRPr lang="tr-TR" sz="12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200" dirty="0">
                          <a:solidFill>
                            <a:srgbClr val="3A464C"/>
                          </a:solidFill>
                          <a:latin typeface="Calibri" pitchFamily="34" charset="0"/>
                          <a:ea typeface="Calibri" pitchFamily="34" charset="-122"/>
                          <a:cs typeface="Calibri" pitchFamily="34" charset="-120"/>
                        </a:rPr>
                        <a:t>en az hata; geleceği ister</a:t>
                      </a:r>
                      <a:endParaRPr lang="tr-TR" sz="12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200" b="1" dirty="0">
                          <a:solidFill>
                            <a:srgbClr val="3A464C"/>
                          </a:solidFill>
                          <a:latin typeface="Calibri" pitchFamily="34" charset="0"/>
                          <a:ea typeface="Calibri" pitchFamily="34" charset="-122"/>
                          <a:cs typeface="Calibri" pitchFamily="34" charset="-120"/>
                        </a:rPr>
                        <a:t>LRU</a:t>
                      </a:r>
                      <a:endParaRPr lang="tr-TR" sz="12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200" dirty="0">
                          <a:solidFill>
                            <a:srgbClr val="3A464C"/>
                          </a:solidFill>
                          <a:latin typeface="Calibri" pitchFamily="34" charset="0"/>
                          <a:ea typeface="Calibri" pitchFamily="34" charset="-122"/>
                          <a:cs typeface="Calibri" pitchFamily="34" charset="-120"/>
                        </a:rPr>
                        <a:t>en uzun süredir kullanılmayan</a:t>
                      </a:r>
                      <a:endParaRPr lang="tr-TR" sz="12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200" dirty="0">
                          <a:solidFill>
                            <a:srgbClr val="3A464C"/>
                          </a:solidFill>
                          <a:latin typeface="Calibri" pitchFamily="34" charset="0"/>
                          <a:ea typeface="Calibri" pitchFamily="34" charset="-122"/>
                          <a:cs typeface="Calibri" pitchFamily="34" charset="-120"/>
                        </a:rPr>
                        <a:t>iyi; saat algoritmasıyla yaklaşılır</a:t>
                      </a:r>
                      <a:endParaRPr lang="tr-TR" sz="12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bl>
          </a:graphicData>
        </a:graphic>
      </p:graphicFrame>
      <p:sp>
        <p:nvSpPr>
          <p:cNvPr id="31" name="Shape 28"/>
          <p:cNvSpPr/>
          <p:nvPr/>
        </p:nvSpPr>
        <p:spPr>
          <a:xfrm>
            <a:off x="5897880" y="4206240"/>
            <a:ext cx="5760720" cy="2057400"/>
          </a:xfrm>
          <a:prstGeom prst="roundRect">
            <a:avLst>
              <a:gd name="adj" fmla="val 2667"/>
            </a:avLst>
          </a:prstGeom>
          <a:solidFill>
            <a:srgbClr val="F2F2F2"/>
          </a:solidFill>
          <a:ln/>
          <a:effectLst>
            <a:outerShdw sx="100000" sy="100000" kx="0" ky="0" algn="bl" rotWithShape="0" blurRad="101600" dist="25400" dir="5400000">
              <a:srgbClr val="000000">
                <a:alpha val="12000"/>
              </a:srgbClr>
            </a:outerShdw>
          </a:effectLst>
        </p:spPr>
      </p:sp>
      <p:sp>
        <p:nvSpPr>
          <p:cNvPr id="32" name="Text 29"/>
          <p:cNvSpPr txBox="1"/>
          <p:nvPr/>
        </p:nvSpPr>
        <p:spPr>
          <a:xfrm>
            <a:off x="6126480" y="4389120"/>
            <a:ext cx="530352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Boşa çalışma ve çalışma kümesi</a:t>
            </a:r>
            <a:endParaRPr lang="tr-TR" sz="1500" dirty="0"/>
          </a:p>
        </p:txBody>
      </p:sp>
      <p:sp>
        <p:nvSpPr>
          <p:cNvPr id="33" name="Text 30"/>
          <p:cNvSpPr txBox="1"/>
          <p:nvPr/>
        </p:nvSpPr>
        <p:spPr>
          <a:xfrm>
            <a:off x="6126480" y="4846320"/>
            <a:ext cx="5303520" cy="1280160"/>
          </a:xfrm>
          <a:prstGeom prst="rect">
            <a:avLst/>
          </a:prstGeom>
          <a:noFill/>
          <a:ln/>
        </p:spPr>
        <p:txBody>
          <a:bodyPr wrap="square" lIns="0" tIns="0" rIns="0" bIns="0" rtlCol="0" anchor="t"/>
          <a:lstStyle/>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Çok az çerçeve → sürekli hata → işlemci boşta → daha çok süreç alınır → daha kötü.</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WS(t, Δ) = son Δ başvurudaki farklı sayfalar; D = Σ WSSᵢ &gt; m çerçeve ise → bir süreci askıya al.</a:t>
            </a:r>
            <a:endParaRPr lang="tr-TR"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7. HAFTA · DOSYA SİSTEMLERİ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Dosyalar, Erişim Yöntemleri, Dizinler, Bağlantılar</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8  ·  19</a:t>
            </a:r>
            <a:endParaRPr lang="tr-TR" sz="900" dirty="0"/>
          </a:p>
        </p:txBody>
      </p:sp>
      <p:sp>
        <p:nvSpPr>
          <p:cNvPr id="6" name="Shape 4"/>
          <p:cNvSpPr/>
          <p:nvPr/>
        </p:nvSpPr>
        <p:spPr>
          <a:xfrm>
            <a:off x="10287000" y="274320"/>
            <a:ext cx="1371600" cy="329184"/>
          </a:xfrm>
          <a:prstGeom prst="roundRect">
            <a:avLst>
              <a:gd name="adj" fmla="val 13889"/>
            </a:avLst>
          </a:prstGeom>
          <a:solidFill>
            <a:srgbClr val="02C39A"/>
          </a:solidFill>
          <a:ln/>
        </p:spPr>
      </p:sp>
      <p:sp>
        <p:nvSpPr>
          <p:cNvPr id="7" name="Text 5"/>
          <p:cNvSpPr txBox="1"/>
          <p:nvPr/>
        </p:nvSpPr>
        <p:spPr>
          <a:xfrm>
            <a:off x="10287000" y="274320"/>
            <a:ext cx="1371600" cy="329184"/>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7. hafta</a:t>
            </a:r>
            <a:endParaRPr lang="tr-TR" sz="1200" dirty="0"/>
          </a:p>
        </p:txBody>
      </p:sp>
      <p:sp>
        <p:nvSpPr>
          <p:cNvPr id="8" name="Shape 6"/>
          <p:cNvSpPr/>
          <p:nvPr/>
        </p:nvSpPr>
        <p:spPr>
          <a:xfrm>
            <a:off x="548640" y="1508760"/>
            <a:ext cx="3657600" cy="2331720"/>
          </a:xfrm>
          <a:prstGeom prst="roundRect">
            <a:avLst>
              <a:gd name="adj" fmla="val 2353"/>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777240" y="1691640"/>
            <a:ext cx="320040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Dosya ve düğüm (inode)</a:t>
            </a:r>
            <a:endParaRPr lang="tr-TR" sz="1500" dirty="0"/>
          </a:p>
        </p:txBody>
      </p:sp>
      <p:sp>
        <p:nvSpPr>
          <p:cNvPr id="10" name="Text 8"/>
          <p:cNvSpPr txBox="1"/>
          <p:nvPr/>
        </p:nvSpPr>
        <p:spPr>
          <a:xfrm>
            <a:off x="777240" y="2148840"/>
            <a:ext cx="3200400" cy="1554480"/>
          </a:xfrm>
          <a:prstGeom prst="rect">
            <a:avLst/>
          </a:prstGeom>
          <a:noFill/>
          <a:ln/>
        </p:spPr>
        <p:txBody>
          <a:bodyPr wrap="square" lIns="0" tIns="0" rIns="0" bIns="0" rtlCol="0" anchor="t"/>
          <a:lstStyle/>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Öznitelikler: ad, kimlik, tür, konum, boyut, koruma, zaman damgaları.</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Linux: hepsi düğümde — ad hariç (o dizindedir).</a:t>
            </a:r>
            <a:endParaRPr lang="tr-TR" sz="1350" dirty="0"/>
          </a:p>
        </p:txBody>
      </p:sp>
      <p:sp>
        <p:nvSpPr>
          <p:cNvPr id="11" name="Shape 9"/>
          <p:cNvSpPr/>
          <p:nvPr/>
        </p:nvSpPr>
        <p:spPr>
          <a:xfrm>
            <a:off x="4343400" y="1508760"/>
            <a:ext cx="3566160" cy="2331720"/>
          </a:xfrm>
          <a:prstGeom prst="roundRect">
            <a:avLst>
              <a:gd name="adj" fmla="val 2353"/>
            </a:avLst>
          </a:prstGeom>
          <a:solidFill>
            <a:srgbClr val="F2F2F2"/>
          </a:solidFill>
          <a:ln/>
          <a:effectLst>
            <a:outerShdw sx="100000" sy="100000" kx="0" ky="0" algn="bl" rotWithShape="0" blurRad="101600" dist="25400" dir="5400000">
              <a:srgbClr val="000000">
                <a:alpha val="12000"/>
              </a:srgbClr>
            </a:outerShdw>
          </a:effectLst>
        </p:spPr>
      </p:sp>
      <p:sp>
        <p:nvSpPr>
          <p:cNvPr id="12" name="Text 10"/>
          <p:cNvSpPr txBox="1"/>
          <p:nvPr/>
        </p:nvSpPr>
        <p:spPr>
          <a:xfrm>
            <a:off x="4572000" y="1691640"/>
            <a:ext cx="310896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İşlemler, tablolar</a:t>
            </a:r>
            <a:endParaRPr lang="tr-TR" sz="1500" dirty="0"/>
          </a:p>
        </p:txBody>
      </p:sp>
      <p:sp>
        <p:nvSpPr>
          <p:cNvPr id="13" name="Text 11"/>
          <p:cNvSpPr txBox="1"/>
          <p:nvPr/>
        </p:nvSpPr>
        <p:spPr>
          <a:xfrm>
            <a:off x="4572000" y="2148840"/>
            <a:ext cx="3108960" cy="1554480"/>
          </a:xfrm>
          <a:prstGeom prst="rect">
            <a:avLst/>
          </a:prstGeom>
          <a:noFill/>
          <a:ln/>
        </p:spPr>
        <p:txBody>
          <a:bodyPr wrap="square" lIns="0" tIns="0" rIns="0" bIns="0" rtlCol="0" anchor="t"/>
          <a:lstStyle/>
          <a:p>
            <a:pPr marL="228600" indent="-228600">
              <a:spcAft>
                <a:spcPts val="400"/>
              </a:spcAft>
              <a:buSzPct val="100000"/>
              <a:buChar char="•"/>
            </a:pPr>
            <a:r>
              <a:rPr lang="tr-TR" sz="1250" dirty="0">
                <a:solidFill>
                  <a:srgbClr val="3A464C"/>
                </a:solidFill>
                <a:latin typeface="Calibri" pitchFamily="34" charset="0"/>
                <a:ea typeface="Calibri" pitchFamily="34" charset="-122"/>
                <a:cs typeface="Calibri" pitchFamily="34" charset="-120"/>
              </a:rPr>
              <a:t>create, open, read, write, seek, close, delete (unlink), truncate.</a:t>
            </a:r>
            <a:endParaRPr lang="tr-TR" sz="1250" dirty="0"/>
          </a:p>
          <a:p>
            <a:pPr marL="228600" indent="-228600">
              <a:spcAft>
                <a:spcPts val="400"/>
              </a:spcAft>
              <a:buSzPct val="100000"/>
              <a:buChar char="•"/>
            </a:pPr>
            <a:r>
              <a:rPr lang="tr-TR" sz="1250" dirty="0">
                <a:solidFill>
                  <a:srgbClr val="3A464C"/>
                </a:solidFill>
                <a:latin typeface="Calibri" pitchFamily="34" charset="0"/>
                <a:ea typeface="Calibri" pitchFamily="34" charset="-122"/>
                <a:cs typeface="Calibri" pitchFamily="34" charset="-120"/>
              </a:rPr>
              <a:t>Bir kez open() → dosya tanımlayıcısı; süreç başına tablo (dosya işaretçisi), sistem geneli tablo (açılma sayısı).</a:t>
            </a:r>
            <a:endParaRPr lang="tr-TR" sz="1250" dirty="0"/>
          </a:p>
        </p:txBody>
      </p:sp>
      <p:sp>
        <p:nvSpPr>
          <p:cNvPr id="14" name="Shape 12"/>
          <p:cNvSpPr/>
          <p:nvPr/>
        </p:nvSpPr>
        <p:spPr>
          <a:xfrm>
            <a:off x="8046720" y="1508760"/>
            <a:ext cx="3611880" cy="2331720"/>
          </a:xfrm>
          <a:prstGeom prst="roundRect">
            <a:avLst>
              <a:gd name="adj" fmla="val 1961"/>
            </a:avLst>
          </a:prstGeom>
          <a:solidFill>
            <a:srgbClr val="212121"/>
          </a:solidFill>
          <a:ln/>
        </p:spPr>
      </p:sp>
      <p:sp>
        <p:nvSpPr>
          <p:cNvPr id="15" name="Text 13"/>
          <p:cNvSpPr txBox="1"/>
          <p:nvPr/>
        </p:nvSpPr>
        <p:spPr>
          <a:xfrm>
            <a:off x="8229600" y="1618488"/>
            <a:ext cx="3246120" cy="2112264"/>
          </a:xfrm>
          <a:prstGeom prst="rect">
            <a:avLst/>
          </a:prstGeom>
          <a:noFill/>
          <a:ln/>
        </p:spPr>
        <p:txBody>
          <a:bodyPr wrap="square" lIns="0" tIns="0" rIns="0" bIns="0" rtlCol="0" anchor="t"/>
          <a:lstStyle/>
          <a:p>
            <a:pPr indent="0" marL="0">
              <a:lnSpc>
                <a:spcPct val="105000"/>
              </a:lnSpc>
              <a:buNone/>
            </a:pPr>
            <a:r>
              <a:rPr lang="tr-TR" sz="1250" dirty="0">
                <a:solidFill>
                  <a:srgbClr val="8A9AA0"/>
                </a:solidFill>
                <a:latin typeface="Consolas" pitchFamily="34" charset="0"/>
                <a:ea typeface="Consolas" pitchFamily="34" charset="-122"/>
                <a:cs typeface="Consolas" pitchFamily="34" charset="-120"/>
              </a:rPr>
              <a:t># doğrudan erişim, k. kayıt</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konum   = k · R</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blok    = ⌊k·R / B⌋</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blok içi = k·R − blok · B</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SON baytı da denetle!</a:t>
            </a:r>
            <a:endParaRPr lang="tr-TR" sz="1250" dirty="0"/>
          </a:p>
        </p:txBody>
      </p:sp>
      <p:sp>
        <p:nvSpPr>
          <p:cNvPr id="16" name="Shape 14"/>
          <p:cNvSpPr/>
          <p:nvPr/>
        </p:nvSpPr>
        <p:spPr>
          <a:xfrm>
            <a:off x="548640" y="4023360"/>
            <a:ext cx="3657600" cy="2240280"/>
          </a:xfrm>
          <a:prstGeom prst="roundRect">
            <a:avLst>
              <a:gd name="adj" fmla="val 2449"/>
            </a:avLst>
          </a:prstGeom>
          <a:solidFill>
            <a:srgbClr val="F2F2F2"/>
          </a:solidFill>
          <a:ln/>
          <a:effectLst>
            <a:outerShdw sx="100000" sy="100000" kx="0" ky="0" algn="bl" rotWithShape="0" blurRad="101600" dist="25400" dir="5400000">
              <a:srgbClr val="000000">
                <a:alpha val="12000"/>
              </a:srgbClr>
            </a:outerShdw>
          </a:effectLst>
        </p:spPr>
      </p:sp>
      <p:sp>
        <p:nvSpPr>
          <p:cNvPr id="17" name="Text 15"/>
          <p:cNvSpPr txBox="1"/>
          <p:nvPr/>
        </p:nvSpPr>
        <p:spPr>
          <a:xfrm>
            <a:off x="777240" y="4206240"/>
            <a:ext cx="320040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Erişim yöntemleri</a:t>
            </a:r>
            <a:endParaRPr lang="tr-TR" sz="1500" dirty="0"/>
          </a:p>
        </p:txBody>
      </p:sp>
      <p:sp>
        <p:nvSpPr>
          <p:cNvPr id="18" name="Text 16"/>
          <p:cNvSpPr txBox="1"/>
          <p:nvPr/>
        </p:nvSpPr>
        <p:spPr>
          <a:xfrm>
            <a:off x="777240" y="4663440"/>
            <a:ext cx="3200400" cy="1463040"/>
          </a:xfrm>
          <a:prstGeom prst="rect">
            <a:avLst/>
          </a:prstGeom>
          <a:noFill/>
          <a:ln/>
        </p:spPr>
        <p:txBody>
          <a:bodyPr wrap="square" lIns="0" tIns="0" rIns="0" bIns="0" rtlCol="0" anchor="t"/>
          <a:lstStyle/>
          <a:p>
            <a:pPr marL="228600" indent="-228600">
              <a:spcAft>
                <a:spcPts val="400"/>
              </a:spcAft>
              <a:buSzPct val="100000"/>
              <a:buChar char="•"/>
            </a:pPr>
            <a:r>
              <a:rPr lang="tr-TR" sz="1300" b="1" dirty="0">
                <a:solidFill>
                  <a:srgbClr val="3A464C"/>
                </a:solidFill>
                <a:latin typeface="Calibri" pitchFamily="34" charset="0"/>
                <a:ea typeface="Calibri" pitchFamily="34" charset="-122"/>
                <a:cs typeface="Calibri" pitchFamily="34" charset="-120"/>
              </a:rPr>
              <a:t>Sıralı:</a:t>
            </a:r>
            <a:r>
              <a:rPr lang="tr-TR" sz="1300" dirty="0">
                <a:solidFill>
                  <a:srgbClr val="3A464C"/>
                </a:solidFill>
                <a:latin typeface="Calibri" pitchFamily="34" charset="0"/>
                <a:ea typeface="Calibri" pitchFamily="34" charset="-122"/>
                <a:cs typeface="Calibri" pitchFamily="34" charset="-120"/>
              </a:rPr>
              <a:t> sırayla (teyp modeli).</a:t>
            </a:r>
            <a:endParaRPr lang="tr-TR" sz="1300" dirty="0"/>
          </a:p>
          <a:p>
            <a:pPr marL="228600" indent="-228600">
              <a:spcAft>
                <a:spcPts val="400"/>
              </a:spcAft>
              <a:buSzPct val="100000"/>
              <a:buChar char="•"/>
            </a:pPr>
            <a:r>
              <a:rPr lang="tr-TR" sz="1300" b="1" dirty="0">
                <a:solidFill>
                  <a:srgbClr val="3A464C"/>
                </a:solidFill>
                <a:latin typeface="Calibri" pitchFamily="34" charset="0"/>
                <a:ea typeface="Calibri" pitchFamily="34" charset="-122"/>
                <a:cs typeface="Calibri" pitchFamily="34" charset="-120"/>
              </a:rPr>
              <a:t>Doğrudan:</a:t>
            </a:r>
            <a:r>
              <a:rPr lang="tr-TR" sz="1300" dirty="0">
                <a:solidFill>
                  <a:srgbClr val="3A464C"/>
                </a:solidFill>
                <a:latin typeface="Calibri" pitchFamily="34" charset="0"/>
                <a:ea typeface="Calibri" pitchFamily="34" charset="-122"/>
                <a:cs typeface="Calibri" pitchFamily="34" charset="-120"/>
              </a:rPr>
              <a:t> herhangi bir n. blok (disk modeli).</a:t>
            </a:r>
            <a:endParaRPr lang="tr-TR" sz="1300" dirty="0"/>
          </a:p>
          <a:p>
            <a:pPr marL="228600" indent="-228600">
              <a:spcAft>
                <a:spcPts val="400"/>
              </a:spcAft>
              <a:buSzPct val="100000"/>
              <a:buChar char="•"/>
            </a:pPr>
            <a:r>
              <a:rPr lang="tr-TR" sz="1300" b="1" dirty="0">
                <a:solidFill>
                  <a:srgbClr val="3A464C"/>
                </a:solidFill>
                <a:latin typeface="Calibri" pitchFamily="34" charset="0"/>
                <a:ea typeface="Calibri" pitchFamily="34" charset="-122"/>
                <a:cs typeface="Calibri" pitchFamily="34" charset="-120"/>
              </a:rPr>
              <a:t>İndeksli:</a:t>
            </a:r>
            <a:r>
              <a:rPr lang="tr-TR" sz="1300" dirty="0">
                <a:solidFill>
                  <a:srgbClr val="3A464C"/>
                </a:solidFill>
                <a:latin typeface="Calibri" pitchFamily="34" charset="0"/>
                <a:ea typeface="Calibri" pitchFamily="34" charset="-122"/>
                <a:cs typeface="Calibri" pitchFamily="34" charset="-120"/>
              </a:rPr>
              <a:t> küçük bir indekste ara, sonra atla.</a:t>
            </a:r>
            <a:endParaRPr lang="tr-TR" sz="1300" dirty="0"/>
          </a:p>
        </p:txBody>
      </p:sp>
      <p:sp>
        <p:nvSpPr>
          <p:cNvPr id="19" name="Shape 17"/>
          <p:cNvSpPr/>
          <p:nvPr/>
        </p:nvSpPr>
        <p:spPr>
          <a:xfrm>
            <a:off x="4343400" y="4023360"/>
            <a:ext cx="3566160" cy="2240280"/>
          </a:xfrm>
          <a:prstGeom prst="roundRect">
            <a:avLst>
              <a:gd name="adj" fmla="val 2449"/>
            </a:avLst>
          </a:prstGeom>
          <a:solidFill>
            <a:srgbClr val="F2F2F2"/>
          </a:solidFill>
          <a:ln/>
          <a:effectLst>
            <a:outerShdw sx="100000" sy="100000" kx="0" ky="0" algn="bl" rotWithShape="0" blurRad="101600" dist="25400" dir="5400000">
              <a:srgbClr val="000000">
                <a:alpha val="12000"/>
              </a:srgbClr>
            </a:outerShdw>
          </a:effectLst>
        </p:spPr>
      </p:sp>
      <p:sp>
        <p:nvSpPr>
          <p:cNvPr id="20" name="Text 18"/>
          <p:cNvSpPr txBox="1"/>
          <p:nvPr/>
        </p:nvSpPr>
        <p:spPr>
          <a:xfrm>
            <a:off x="4572000" y="4206240"/>
            <a:ext cx="310896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Dizin yapıları</a:t>
            </a:r>
            <a:endParaRPr lang="tr-TR" sz="1500" dirty="0"/>
          </a:p>
        </p:txBody>
      </p:sp>
      <p:sp>
        <p:nvSpPr>
          <p:cNvPr id="21" name="Text 19"/>
          <p:cNvSpPr txBox="1"/>
          <p:nvPr/>
        </p:nvSpPr>
        <p:spPr>
          <a:xfrm>
            <a:off x="4572000" y="4663440"/>
            <a:ext cx="3108960" cy="1463040"/>
          </a:xfrm>
          <a:prstGeom prst="rect">
            <a:avLst/>
          </a:prstGeom>
          <a:noFill/>
          <a:ln/>
        </p:spPr>
        <p:txBody>
          <a:bodyPr wrap="square" lIns="0" tIns="0" rIns="0" bIns="0" rtlCol="0" anchor="t"/>
          <a:lstStyle/>
          <a:p>
            <a:pPr marL="228600" indent="-228600">
              <a:spcAft>
                <a:spcPts val="400"/>
              </a:spcAft>
              <a:buSzPct val="100000"/>
              <a:buChar char="•"/>
            </a:pPr>
            <a:r>
              <a:rPr lang="tr-TR" sz="1250" dirty="0">
                <a:solidFill>
                  <a:srgbClr val="3A464C"/>
                </a:solidFill>
                <a:latin typeface="Calibri" pitchFamily="34" charset="0"/>
                <a:ea typeface="Calibri" pitchFamily="34" charset="-122"/>
                <a:cs typeface="Calibri" pitchFamily="34" charset="-120"/>
              </a:rPr>
              <a:t>Tek düzeyli → iki düzeyli → ağaç → döngüsüz çizge → genel çizge (döngüler).</a:t>
            </a:r>
            <a:endParaRPr lang="tr-TR" sz="1250" dirty="0"/>
          </a:p>
          <a:p>
            <a:pPr marL="228600" indent="-228600">
              <a:spcAft>
                <a:spcPts val="400"/>
              </a:spcAft>
              <a:buSzPct val="100000"/>
              <a:buChar char="•"/>
            </a:pPr>
            <a:r>
              <a:rPr lang="tr-TR" sz="1250" dirty="0">
                <a:solidFill>
                  <a:srgbClr val="3A464C"/>
                </a:solidFill>
                <a:latin typeface="Calibri" pitchFamily="34" charset="0"/>
                <a:ea typeface="Calibri" pitchFamily="34" charset="-122"/>
                <a:cs typeface="Calibri" pitchFamily="34" charset="-120"/>
              </a:rPr>
              <a:t>Mutlak yol / ile başlar; göreli yol çalışma dizininden; . ve ..</a:t>
            </a:r>
            <a:endParaRPr lang="tr-TR" sz="1250" dirty="0"/>
          </a:p>
        </p:txBody>
      </p:sp>
      <p:sp>
        <p:nvSpPr>
          <p:cNvPr id="22" name="Shape 20"/>
          <p:cNvSpPr/>
          <p:nvPr/>
        </p:nvSpPr>
        <p:spPr>
          <a:xfrm>
            <a:off x="8046720" y="4023360"/>
            <a:ext cx="3611880" cy="2240280"/>
          </a:xfrm>
          <a:prstGeom prst="roundRect">
            <a:avLst>
              <a:gd name="adj" fmla="val 2449"/>
            </a:avLst>
          </a:prstGeom>
          <a:solidFill>
            <a:srgbClr val="F2F2F2"/>
          </a:solidFill>
          <a:ln/>
          <a:effectLst>
            <a:outerShdw sx="100000" sy="100000" kx="0" ky="0" algn="bl" rotWithShape="0" blurRad="101600" dist="25400" dir="5400000">
              <a:srgbClr val="000000">
                <a:alpha val="12000"/>
              </a:srgbClr>
            </a:outerShdw>
          </a:effectLst>
        </p:spPr>
      </p:sp>
      <p:sp>
        <p:nvSpPr>
          <p:cNvPr id="23" name="Text 21"/>
          <p:cNvSpPr txBox="1"/>
          <p:nvPr/>
        </p:nvSpPr>
        <p:spPr>
          <a:xfrm>
            <a:off x="8275320" y="4206240"/>
            <a:ext cx="315468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Bağlantılar</a:t>
            </a:r>
            <a:endParaRPr lang="tr-TR" sz="1500" dirty="0"/>
          </a:p>
        </p:txBody>
      </p:sp>
      <p:sp>
        <p:nvSpPr>
          <p:cNvPr id="24" name="Text 22"/>
          <p:cNvSpPr txBox="1"/>
          <p:nvPr/>
        </p:nvSpPr>
        <p:spPr>
          <a:xfrm>
            <a:off x="8275320" y="4663440"/>
            <a:ext cx="3154680" cy="1463040"/>
          </a:xfrm>
          <a:prstGeom prst="rect">
            <a:avLst/>
          </a:prstGeom>
          <a:noFill/>
          <a:ln/>
        </p:spPr>
        <p:txBody>
          <a:bodyPr wrap="square" lIns="0" tIns="0" rIns="0" bIns="0" rtlCol="0" anchor="t"/>
          <a:lstStyle/>
          <a:p>
            <a:pPr marL="228600" indent="-228600">
              <a:spcAft>
                <a:spcPts val="400"/>
              </a:spcAft>
              <a:buSzPct val="100000"/>
              <a:buChar char="•"/>
            </a:pPr>
            <a:r>
              <a:rPr lang="tr-TR" sz="1300" b="1" dirty="0">
                <a:solidFill>
                  <a:srgbClr val="3A464C"/>
                </a:solidFill>
                <a:latin typeface="Calibri" pitchFamily="34" charset="0"/>
                <a:ea typeface="Calibri" pitchFamily="34" charset="-122"/>
                <a:cs typeface="Calibri" pitchFamily="34" charset="-120"/>
              </a:rPr>
              <a:t>Sabit:</a:t>
            </a:r>
            <a:r>
              <a:rPr lang="tr-TR" sz="1300" dirty="0">
                <a:solidFill>
                  <a:srgbClr val="3A464C"/>
                </a:solidFill>
                <a:latin typeface="Calibri" pitchFamily="34" charset="0"/>
                <a:ea typeface="Calibri" pitchFamily="34" charset="-122"/>
                <a:cs typeface="Calibri" pitchFamily="34" charset="-120"/>
              </a:rPr>
              <a:t> aynı düğüm için başka bir ad; bağlantı sayısı.</a:t>
            </a:r>
            <a:endParaRPr lang="tr-TR" sz="1300" dirty="0"/>
          </a:p>
          <a:p>
            <a:pPr marL="228600" indent="-228600">
              <a:spcAft>
                <a:spcPts val="400"/>
              </a:spcAft>
              <a:buSzPct val="100000"/>
              <a:buChar char="•"/>
            </a:pPr>
            <a:r>
              <a:rPr lang="tr-TR" sz="1300" b="1" dirty="0">
                <a:solidFill>
                  <a:srgbClr val="3A464C"/>
                </a:solidFill>
                <a:latin typeface="Calibri" pitchFamily="34" charset="0"/>
                <a:ea typeface="Calibri" pitchFamily="34" charset="-122"/>
                <a:cs typeface="Calibri" pitchFamily="34" charset="-120"/>
              </a:rPr>
              <a:t>Sembolik:</a:t>
            </a:r>
            <a:r>
              <a:rPr lang="tr-TR" sz="1300" dirty="0">
                <a:solidFill>
                  <a:srgbClr val="3A464C"/>
                </a:solidFill>
                <a:latin typeface="Calibri" pitchFamily="34" charset="0"/>
                <a:ea typeface="Calibri" pitchFamily="34" charset="-122"/>
                <a:cs typeface="Calibri" pitchFamily="34" charset="-120"/>
              </a:rPr>
              <a:t> bir yol tutan dosya; hedef silinirse boşta kalır.</a:t>
            </a:r>
            <a:endParaRPr lang="tr-TR"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FORMÜL KÂĞIDI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1–7. Haftaların Bütün Formülleri Tek Slaytta</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8  ·  20</a:t>
            </a:r>
            <a:endParaRPr lang="tr-TR" sz="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109960" cy="914400"/>
        </p:xfrm>
        <a:graphic>
          <a:graphicData uri="http://schemas.openxmlformats.org/drawingml/2006/table">
            <a:tbl>
              <a:tblPr/>
              <a:tblGrid>
                <a:gridCol w="731520"/>
                <a:gridCol w="3520440"/>
                <a:gridCol w="6858000"/>
              </a:tblGrid>
              <a:tr h="0">
                <a:tc>
                  <a:txBody>
                    <a:bodyPr/>
                    <a:lstStyle/>
                    <a:p>
                      <a:pPr indent="0" marL="0">
                        <a:buNone/>
                      </a:pPr>
                      <a:r>
                        <a:rPr lang="tr-TR" sz="1350" b="1" dirty="0">
                          <a:solidFill>
                            <a:srgbClr val="FFFFFF"/>
                          </a:solidFill>
                          <a:latin typeface="Cambria" pitchFamily="34" charset="0"/>
                          <a:ea typeface="Cambria" pitchFamily="34" charset="-122"/>
                          <a:cs typeface="Cambria" pitchFamily="34" charset="-120"/>
                        </a:rPr>
                        <a:t>Hafta</a:t>
                      </a:r>
                      <a:endParaRPr lang="tr-TR" sz="135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350" b="1" dirty="0">
                          <a:solidFill>
                            <a:srgbClr val="FFFFFF"/>
                          </a:solidFill>
                          <a:latin typeface="Cambria" pitchFamily="34" charset="0"/>
                          <a:ea typeface="Cambria" pitchFamily="34" charset="-122"/>
                          <a:cs typeface="Cambria" pitchFamily="34" charset="-120"/>
                        </a:rPr>
                        <a:t>Büyüklük</a:t>
                      </a:r>
                      <a:endParaRPr lang="tr-TR" sz="135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350" b="1" dirty="0">
                          <a:solidFill>
                            <a:srgbClr val="FFFFFF"/>
                          </a:solidFill>
                          <a:latin typeface="Cambria" pitchFamily="34" charset="0"/>
                          <a:ea typeface="Cambria" pitchFamily="34" charset="-122"/>
                          <a:cs typeface="Cambria" pitchFamily="34" charset="-120"/>
                        </a:rPr>
                        <a:t>Formül</a:t>
                      </a:r>
                      <a:endParaRPr lang="tr-TR" sz="135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tr-TR" sz="1350" b="1" dirty="0">
                          <a:solidFill>
                            <a:srgbClr val="3A464C"/>
                          </a:solidFill>
                          <a:latin typeface="Calibri" pitchFamily="34" charset="0"/>
                          <a:ea typeface="Calibri" pitchFamily="34" charset="-122"/>
                          <a:cs typeface="Calibri" pitchFamily="34" charset="-120"/>
                        </a:rPr>
                        <a:t>1</a:t>
                      </a:r>
                      <a:endParaRPr lang="tr-TR" sz="13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Toplu işleme kullanımı / çoklu programlama</a:t>
                      </a:r>
                      <a:endParaRPr lang="tr-TR" sz="13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U = t_çalışma / (t_çalışma + t_hazırlık);   U(n) = 1 − pⁿ</a:t>
                      </a:r>
                      <a:endParaRPr lang="tr-TR" sz="13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350" b="1" dirty="0">
                          <a:solidFill>
                            <a:srgbClr val="3A464C"/>
                          </a:solidFill>
                          <a:latin typeface="Calibri" pitchFamily="34" charset="0"/>
                          <a:ea typeface="Calibri" pitchFamily="34" charset="-122"/>
                          <a:cs typeface="Calibri" pitchFamily="34" charset="-120"/>
                        </a:rPr>
                        <a:t>2</a:t>
                      </a:r>
                      <a:endParaRPr lang="tr-TR" sz="13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Mikroçekirdek ve monolitik (tek istek)</a:t>
                      </a:r>
                      <a:endParaRPr lang="tr-TR" sz="13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T_mono = 2t_s + t_w;   T_µ = 4t_s + 2t_c + t_w</a:t>
                      </a:r>
                      <a:endParaRPr lang="tr-TR" sz="13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350" b="1" dirty="0">
                          <a:solidFill>
                            <a:srgbClr val="3A464C"/>
                          </a:solidFill>
                          <a:latin typeface="Calibri" pitchFamily="34" charset="0"/>
                          <a:ea typeface="Calibri" pitchFamily="34" charset="-122"/>
                          <a:cs typeface="Calibri" pitchFamily="34" charset="-120"/>
                        </a:rPr>
                        <a:t>3, 5</a:t>
                      </a:r>
                      <a:endParaRPr lang="tr-TR" sz="13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Bağlam değişimi (RR) ek yükü</a:t>
                      </a:r>
                      <a:endParaRPr lang="tr-TR" sz="13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s / (q + s)</a:t>
                      </a:r>
                      <a:endParaRPr lang="tr-TR" sz="13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350" b="1" dirty="0">
                          <a:solidFill>
                            <a:srgbClr val="3A464C"/>
                          </a:solidFill>
                          <a:latin typeface="Calibri" pitchFamily="34" charset="0"/>
                          <a:ea typeface="Calibri" pitchFamily="34" charset="-122"/>
                          <a:cs typeface="Calibri" pitchFamily="34" charset="-120"/>
                        </a:rPr>
                        <a:t>3</a:t>
                      </a:r>
                      <a:endParaRPr lang="tr-TR" sz="13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Art arda n fork() çağrısından sonra süreç</a:t>
                      </a:r>
                      <a:endParaRPr lang="tr-TR" sz="13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2ⁿ  (2ⁿ − 1 tanesi yeni)</a:t>
                      </a:r>
                      <a:endParaRPr lang="tr-TR" sz="13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350" b="1" dirty="0">
                          <a:solidFill>
                            <a:srgbClr val="3A464C"/>
                          </a:solidFill>
                          <a:latin typeface="Calibri" pitchFamily="34" charset="0"/>
                          <a:ea typeface="Calibri" pitchFamily="34" charset="-122"/>
                          <a:cs typeface="Calibri" pitchFamily="34" charset="-120"/>
                        </a:rPr>
                        <a:t>4</a:t>
                      </a:r>
                      <a:endParaRPr lang="tr-TR" sz="13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Amdahl yasası</a:t>
                      </a:r>
                      <a:endParaRPr lang="tr-TR" sz="13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hızlanma ≤ 1 / (S + (1 − S)/N);  sınır 1/S</a:t>
                      </a:r>
                      <a:endParaRPr lang="tr-TR" sz="13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350" b="1" dirty="0">
                          <a:solidFill>
                            <a:srgbClr val="3A464C"/>
                          </a:solidFill>
                          <a:latin typeface="Calibri" pitchFamily="34" charset="0"/>
                          <a:ea typeface="Calibri" pitchFamily="34" charset="-122"/>
                          <a:cs typeface="Calibri" pitchFamily="34" charset="-120"/>
                        </a:rPr>
                        <a:t>4</a:t>
                      </a:r>
                      <a:endParaRPr lang="tr-TR" sz="13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Dönüş ve bekleme süresi</a:t>
                      </a:r>
                      <a:endParaRPr lang="tr-TR" sz="13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T_dönüş = T_tamamlanma − T_geliş;  T_bekleme = T_dönüş − T_patlama</a:t>
                      </a:r>
                      <a:endParaRPr lang="tr-TR" sz="13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350" b="1" dirty="0">
                          <a:solidFill>
                            <a:srgbClr val="3A464C"/>
                          </a:solidFill>
                          <a:latin typeface="Calibri" pitchFamily="34" charset="0"/>
                          <a:ea typeface="Calibri" pitchFamily="34" charset="-122"/>
                          <a:cs typeface="Calibri" pitchFamily="34" charset="-120"/>
                        </a:rPr>
                        <a:t>4</a:t>
                      </a:r>
                      <a:endParaRPr lang="tr-TR" sz="13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Yanıt süresi</a:t>
                      </a:r>
                      <a:endParaRPr lang="tr-TR" sz="13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T_yanıt = T_ilk çalışma − T_geliş</a:t>
                      </a:r>
                      <a:endParaRPr lang="tr-TR" sz="13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350" b="1" dirty="0">
                          <a:solidFill>
                            <a:srgbClr val="3A464C"/>
                          </a:solidFill>
                          <a:latin typeface="Calibri" pitchFamily="34" charset="0"/>
                          <a:ea typeface="Calibri" pitchFamily="34" charset="-122"/>
                          <a:cs typeface="Calibri" pitchFamily="34" charset="-120"/>
                        </a:rPr>
                        <a:t>5</a:t>
                      </a:r>
                      <a:endParaRPr lang="tr-TR" sz="13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Patlamaların üstel ortalaması</a:t>
                      </a:r>
                      <a:endParaRPr lang="tr-TR" sz="13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τₙ₊₁ = α tₙ + (1 − α) τₙ</a:t>
                      </a:r>
                      <a:endParaRPr lang="tr-TR" sz="13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350" b="1" dirty="0">
                          <a:solidFill>
                            <a:srgbClr val="3A464C"/>
                          </a:solidFill>
                          <a:latin typeface="Calibri" pitchFamily="34" charset="0"/>
                          <a:ea typeface="Calibri" pitchFamily="34" charset="-122"/>
                          <a:cs typeface="Calibri" pitchFamily="34" charset="-120"/>
                        </a:rPr>
                        <a:t>6</a:t>
                      </a:r>
                      <a:endParaRPr lang="tr-TR" sz="13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Taban ve sınır</a:t>
                      </a:r>
                      <a:endParaRPr lang="tr-TR" sz="13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0 ≤ a &lt; sınır → taban + a, değilse tuzak</a:t>
                      </a:r>
                      <a:endParaRPr lang="tr-TR" sz="13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350" b="1" dirty="0">
                          <a:solidFill>
                            <a:srgbClr val="3A464C"/>
                          </a:solidFill>
                          <a:latin typeface="Calibri" pitchFamily="34" charset="0"/>
                          <a:ea typeface="Calibri" pitchFamily="34" charset="-122"/>
                          <a:cs typeface="Calibri" pitchFamily="34" charset="-120"/>
                        </a:rPr>
                        <a:t>6</a:t>
                      </a:r>
                      <a:endParaRPr lang="tr-TR" sz="13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Sayfalama</a:t>
                      </a:r>
                      <a:endParaRPr lang="tr-TR" sz="13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p = ⌊a/2ⁿ⌋, d = a mod 2ⁿ;  a_fiz = f · 2ⁿ + d</a:t>
                      </a:r>
                      <a:endParaRPr lang="tr-TR" sz="13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350" b="1" dirty="0">
                          <a:solidFill>
                            <a:srgbClr val="3A464C"/>
                          </a:solidFill>
                          <a:latin typeface="Calibri" pitchFamily="34" charset="0"/>
                          <a:ea typeface="Calibri" pitchFamily="34" charset="-122"/>
                          <a:cs typeface="Calibri" pitchFamily="34" charset="-120"/>
                        </a:rPr>
                        <a:t>6</a:t>
                      </a:r>
                      <a:endParaRPr lang="tr-TR" sz="13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TLB ile etkin erişim süresi</a:t>
                      </a:r>
                      <a:endParaRPr lang="tr-TR" sz="13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EAT = t_TLB + (2 − α) t_m</a:t>
                      </a:r>
                      <a:endParaRPr lang="tr-TR" sz="13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350" b="1" dirty="0">
                          <a:solidFill>
                            <a:srgbClr val="3A464C"/>
                          </a:solidFill>
                          <a:latin typeface="Calibri" pitchFamily="34" charset="0"/>
                          <a:ea typeface="Calibri" pitchFamily="34" charset="-122"/>
                          <a:cs typeface="Calibri" pitchFamily="34" charset="-120"/>
                        </a:rPr>
                        <a:t>7</a:t>
                      </a:r>
                      <a:endParaRPr lang="tr-TR" sz="13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Sayfa hatalı etkin erişim süresi</a:t>
                      </a:r>
                      <a:endParaRPr lang="tr-TR" sz="13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EAT = (1 − p) t_m + p t_fault</a:t>
                      </a:r>
                      <a:endParaRPr lang="tr-TR" sz="13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350" b="1" dirty="0">
                          <a:solidFill>
                            <a:srgbClr val="3A464C"/>
                          </a:solidFill>
                          <a:latin typeface="Calibri" pitchFamily="34" charset="0"/>
                          <a:ea typeface="Calibri" pitchFamily="34" charset="-122"/>
                          <a:cs typeface="Calibri" pitchFamily="34" charset="-120"/>
                        </a:rPr>
                        <a:t>7</a:t>
                      </a:r>
                      <a:endParaRPr lang="tr-TR" sz="13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Doğrudan erişim, k. kayıt</a:t>
                      </a:r>
                      <a:endParaRPr lang="tr-TR" sz="13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blok = ⌊kR / B⌋;  blok içi konum = kR − blok · B</a:t>
                      </a:r>
                      <a:endParaRPr lang="tr-TR" sz="13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ARA</a:t>
            </a:r>
            <a:endParaRPr lang="tr-TR"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tr-TR" sz="3800" b="1" dirty="0">
                <a:solidFill>
                  <a:srgbClr val="FFFFFF"/>
                </a:solidFill>
                <a:latin typeface="Cambria" pitchFamily="34" charset="0"/>
                <a:ea typeface="Cambria" pitchFamily="34" charset="-122"/>
                <a:cs typeface="Cambria" pitchFamily="34" charset="-120"/>
              </a:rPr>
              <a:t>10 Dakika Mola</a:t>
            </a:r>
            <a:endParaRPr lang="tr-TR"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tr-TR" sz="1600" i="1" dirty="0">
                <a:solidFill>
                  <a:srgbClr val="F2F2F2"/>
                </a:solidFill>
                <a:latin typeface="Calibri" pitchFamily="34" charset="0"/>
                <a:ea typeface="Calibri" pitchFamily="34" charset="-122"/>
                <a:cs typeface="Calibri" pitchFamily="34" charset="-120"/>
              </a:rPr>
              <a:t>Sırada: yedi çözümlü problem — her sayısal soru türü için bir tane.</a:t>
            </a:r>
            <a:endParaRPr lang="tr-TR"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8A9AA0"/>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8A9AA0"/>
                </a:solidFill>
                <a:latin typeface="Calibri" pitchFamily="34" charset="0"/>
                <a:ea typeface="Calibri" pitchFamily="34" charset="-122"/>
                <a:cs typeface="Calibri" pitchFamily="34" charset="-120"/>
              </a:rPr>
              <a:t>Hafta 8  ·  21</a:t>
            </a:r>
            <a:endParaRPr lang="tr-TR"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BÖLÜM 2</a:t>
            </a:r>
            <a:endParaRPr lang="tr-TR"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tr-TR" sz="3800" b="1" dirty="0">
                <a:solidFill>
                  <a:srgbClr val="FFFFFF"/>
                </a:solidFill>
                <a:latin typeface="Cambria" pitchFamily="34" charset="0"/>
                <a:ea typeface="Cambria" pitchFamily="34" charset="-122"/>
                <a:cs typeface="Cambria" pitchFamily="34" charset="-120"/>
              </a:rPr>
              <a:t>Çözümlü Problemler</a:t>
            </a:r>
            <a:endParaRPr lang="tr-TR"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tr-TR" sz="1600" i="1" dirty="0">
                <a:solidFill>
                  <a:srgbClr val="F2F2F2"/>
                </a:solidFill>
                <a:latin typeface="Calibri" pitchFamily="34" charset="0"/>
                <a:ea typeface="Calibri" pitchFamily="34" charset="-122"/>
                <a:cs typeface="Calibri" pitchFamily="34" charset="-120"/>
              </a:rPr>
              <a:t>Önce her birini kendiniz deneyin. Her sayı code/review_problems.py ile denetlendi.</a:t>
            </a:r>
            <a:endParaRPr lang="tr-TR"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8A9AA0"/>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8A9AA0"/>
                </a:solidFill>
                <a:latin typeface="Calibri" pitchFamily="34" charset="0"/>
                <a:ea typeface="Calibri" pitchFamily="34" charset="-122"/>
                <a:cs typeface="Calibri" pitchFamily="34" charset="-120"/>
              </a:rPr>
              <a:t>Hafta 8  ·  22</a:t>
            </a:r>
            <a:endParaRPr lang="tr-TR"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1. PROBLEM · 1, 3, 4. HAFTALAR</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Dört Kısa Hesap</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8  ·  23</a:t>
            </a:r>
            <a:endParaRPr lang="tr-TR" sz="900" dirty="0"/>
          </a:p>
        </p:txBody>
      </p:sp>
      <p:sp>
        <p:nvSpPr>
          <p:cNvPr id="6" name="Shape 4"/>
          <p:cNvSpPr/>
          <p:nvPr/>
        </p:nvSpPr>
        <p:spPr>
          <a:xfrm>
            <a:off x="548640" y="1508760"/>
            <a:ext cx="544068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sp>
      <p:sp>
        <p:nvSpPr>
          <p:cNvPr id="7" name="Text 5"/>
          <p:cNvSpPr txBox="1"/>
          <p:nvPr/>
        </p:nvSpPr>
        <p:spPr>
          <a:xfrm>
            <a:off x="777240" y="1691640"/>
            <a:ext cx="498348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(a) Çoklu programlama (H1)</a:t>
            </a:r>
            <a:endParaRPr lang="tr-TR" sz="1600" dirty="0"/>
          </a:p>
        </p:txBody>
      </p:sp>
      <p:sp>
        <p:nvSpPr>
          <p:cNvPr id="8" name="Text 6"/>
          <p:cNvSpPr txBox="1"/>
          <p:nvPr/>
        </p:nvSpPr>
        <p:spPr>
          <a:xfrm>
            <a:off x="777240" y="2148840"/>
            <a:ext cx="4983480" cy="1485900"/>
          </a:xfrm>
          <a:prstGeom prst="rect">
            <a:avLst/>
          </a:prstGeom>
          <a:noFill/>
          <a:ln/>
        </p:spPr>
        <p:txBody>
          <a:bodyPr wrap="square" lIns="0" tIns="0" rIns="0" bIns="0" rtlCol="0" anchor="t"/>
          <a:lstStyle/>
          <a:p>
            <a:pPr marL="228600" indent="-228600">
              <a:spcAft>
                <a:spcPts val="400"/>
              </a:spcAft>
              <a:buSzPct val="100000"/>
              <a:buChar char="•"/>
            </a:pPr>
            <a:r>
              <a:rPr lang="tr-TR" sz="1600" dirty="0">
                <a:solidFill>
                  <a:srgbClr val="3A464C"/>
                </a:solidFill>
                <a:latin typeface="Calibri" pitchFamily="34" charset="0"/>
                <a:ea typeface="Calibri" pitchFamily="34" charset="-122"/>
                <a:cs typeface="Calibri" pitchFamily="34" charset="-120"/>
              </a:rPr>
              <a:t>İşler zamanın p = 0,6'sında G/Ç bekliyor. U(3)? U ≥ %95 için en küçük n?</a:t>
            </a:r>
            <a:endParaRPr lang="tr-TR" sz="1600" dirty="0"/>
          </a:p>
          <a:p>
            <a:pPr marL="228600" indent="-228600">
              <a:spcAft>
                <a:spcPts val="400"/>
              </a:spcAft>
              <a:buSzPct val="100000"/>
              <a:buChar char="•"/>
            </a:pPr>
            <a:r>
              <a:rPr lang="tr-TR" sz="1600" b="1" dirty="0">
                <a:solidFill>
                  <a:srgbClr val="3A464C"/>
                </a:solidFill>
                <a:latin typeface="Calibri" pitchFamily="34" charset="0"/>
                <a:ea typeface="Calibri" pitchFamily="34" charset="-122"/>
                <a:cs typeface="Calibri" pitchFamily="34" charset="-120"/>
              </a:rPr>
              <a:t>U(3) = 1 − 0,6³ = %78,4.</a:t>
            </a:r>
            <a:r>
              <a:rPr lang="tr-TR" sz="1600" dirty="0">
                <a:solidFill>
                  <a:srgbClr val="3A464C"/>
                </a:solidFill>
                <a:latin typeface="Calibri" pitchFamily="34" charset="0"/>
                <a:ea typeface="Calibri" pitchFamily="34" charset="-122"/>
                <a:cs typeface="Calibri" pitchFamily="34" charset="-120"/>
              </a:rPr>
              <a:t> 0,6⁵ ≈ 0,078 &gt; 0,05 ama 0,6⁶ ≈ 0,047 ≤ 0,05 → n = 6.</a:t>
            </a:r>
            <a:endParaRPr lang="tr-TR" sz="1600" dirty="0"/>
          </a:p>
        </p:txBody>
      </p:sp>
      <p:sp>
        <p:nvSpPr>
          <p:cNvPr id="9" name="Shape 7"/>
          <p:cNvSpPr/>
          <p:nvPr/>
        </p:nvSpPr>
        <p:spPr>
          <a:xfrm>
            <a:off x="6217920" y="1508760"/>
            <a:ext cx="544068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sp>
      <p:sp>
        <p:nvSpPr>
          <p:cNvPr id="10" name="Text 8"/>
          <p:cNvSpPr txBox="1"/>
          <p:nvPr/>
        </p:nvSpPr>
        <p:spPr>
          <a:xfrm>
            <a:off x="6446520" y="1691640"/>
            <a:ext cx="498348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(b) Bağlam değişimi (H3)</a:t>
            </a:r>
            <a:endParaRPr lang="tr-TR" sz="1600" dirty="0"/>
          </a:p>
        </p:txBody>
      </p:sp>
      <p:sp>
        <p:nvSpPr>
          <p:cNvPr id="11" name="Text 9"/>
          <p:cNvSpPr txBox="1"/>
          <p:nvPr/>
        </p:nvSpPr>
        <p:spPr>
          <a:xfrm>
            <a:off x="6446520" y="2148840"/>
            <a:ext cx="4983480" cy="1485900"/>
          </a:xfrm>
          <a:prstGeom prst="rect">
            <a:avLst/>
          </a:prstGeom>
          <a:noFill/>
          <a:ln/>
        </p:spPr>
        <p:txBody>
          <a:bodyPr wrap="square" lIns="0" tIns="0" rIns="0" bIns="0" rtlCol="0" anchor="t"/>
          <a:lstStyle/>
          <a:p>
            <a:pPr marL="228600" indent="-228600">
              <a:spcAft>
                <a:spcPts val="400"/>
              </a:spcAft>
              <a:buSzPct val="100000"/>
              <a:buChar char="•"/>
            </a:pPr>
            <a:r>
              <a:rPr lang="tr-TR" sz="1600" dirty="0">
                <a:solidFill>
                  <a:srgbClr val="3A464C"/>
                </a:solidFill>
                <a:latin typeface="Calibri" pitchFamily="34" charset="0"/>
                <a:ea typeface="Calibri" pitchFamily="34" charset="-122"/>
                <a:cs typeface="Calibri" pitchFamily="34" charset="-120"/>
              </a:rPr>
              <a:t>s = 4 µs. q = 2 ms ve q = 50 µs için ek yük?</a:t>
            </a:r>
            <a:endParaRPr lang="tr-TR" sz="1600" dirty="0"/>
          </a:p>
          <a:p>
            <a:pPr marL="228600" indent="-228600">
              <a:spcAft>
                <a:spcPts val="400"/>
              </a:spcAft>
              <a:buSzPct val="100000"/>
              <a:buChar char="•"/>
            </a:pPr>
            <a:r>
              <a:rPr lang="tr-TR" sz="1600" b="1" dirty="0">
                <a:solidFill>
                  <a:srgbClr val="3A464C"/>
                </a:solidFill>
                <a:latin typeface="Calibri" pitchFamily="34" charset="0"/>
                <a:ea typeface="Calibri" pitchFamily="34" charset="-122"/>
                <a:cs typeface="Calibri" pitchFamily="34" charset="-120"/>
              </a:rPr>
              <a:t>4 / 2004 ≈ %0,20;</a:t>
            </a:r>
            <a:r>
              <a:rPr lang="tr-TR" sz="1600" dirty="0">
                <a:solidFill>
                  <a:srgbClr val="3A464C"/>
                </a:solidFill>
                <a:latin typeface="Calibri" pitchFamily="34" charset="0"/>
                <a:ea typeface="Calibri" pitchFamily="34" charset="-122"/>
                <a:cs typeface="Calibri" pitchFamily="34" charset="-120"/>
              </a:rPr>
              <a:t>  4 / 54 ≈ %7,4. Çok küçük zaman dilimleri işlemciyi boşa harcar.</a:t>
            </a:r>
            <a:endParaRPr lang="tr-TR" sz="1600" dirty="0"/>
          </a:p>
        </p:txBody>
      </p:sp>
      <p:sp>
        <p:nvSpPr>
          <p:cNvPr id="12" name="Shape 10"/>
          <p:cNvSpPr/>
          <p:nvPr/>
        </p:nvSpPr>
        <p:spPr>
          <a:xfrm>
            <a:off x="548640" y="4000500"/>
            <a:ext cx="544068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sp>
      <p:sp>
        <p:nvSpPr>
          <p:cNvPr id="13" name="Text 11"/>
          <p:cNvSpPr txBox="1"/>
          <p:nvPr/>
        </p:nvSpPr>
        <p:spPr>
          <a:xfrm>
            <a:off x="777240" y="4183380"/>
            <a:ext cx="498348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(c) fork() (H3)</a:t>
            </a:r>
            <a:endParaRPr lang="tr-TR" sz="1600" dirty="0"/>
          </a:p>
        </p:txBody>
      </p:sp>
      <p:sp>
        <p:nvSpPr>
          <p:cNvPr id="14" name="Text 12"/>
          <p:cNvSpPr txBox="1"/>
          <p:nvPr/>
        </p:nvSpPr>
        <p:spPr>
          <a:xfrm>
            <a:off x="777240" y="4640580"/>
            <a:ext cx="4983480" cy="1485900"/>
          </a:xfrm>
          <a:prstGeom prst="rect">
            <a:avLst/>
          </a:prstGeom>
          <a:noFill/>
          <a:ln/>
        </p:spPr>
        <p:txBody>
          <a:bodyPr wrap="square" lIns="0" tIns="0" rIns="0" bIns="0" rtlCol="0" anchor="t"/>
          <a:lstStyle/>
          <a:p>
            <a:pPr marL="228600" indent="-228600">
              <a:spcAft>
                <a:spcPts val="400"/>
              </a:spcAft>
              <a:buSzPct val="100000"/>
              <a:buChar char="•"/>
            </a:pPr>
            <a:r>
              <a:rPr lang="tr-TR" sz="1600" dirty="0">
                <a:solidFill>
                  <a:srgbClr val="3A464C"/>
                </a:solidFill>
                <a:latin typeface="Calibri" pitchFamily="34" charset="0"/>
                <a:ea typeface="Calibri" pitchFamily="34" charset="-122"/>
                <a:cs typeface="Calibri" pitchFamily="34" charset="-120"/>
              </a:rPr>
              <a:t>fork(); fork(); printf("A\n"); fork(); printf("B\n");</a:t>
            </a:r>
            <a:endParaRPr lang="tr-TR" sz="1600" dirty="0"/>
          </a:p>
          <a:p>
            <a:pPr marL="228600" indent="-228600">
              <a:spcAft>
                <a:spcPts val="400"/>
              </a:spcAft>
              <a:buSzPct val="100000"/>
              <a:buChar char="•"/>
            </a:pPr>
            <a:r>
              <a:rPr lang="tr-TR" sz="1600" b="1" dirty="0">
                <a:solidFill>
                  <a:srgbClr val="3A464C"/>
                </a:solidFill>
                <a:latin typeface="Calibri" pitchFamily="34" charset="0"/>
                <a:ea typeface="Calibri" pitchFamily="34" charset="-122"/>
                <a:cs typeface="Calibri" pitchFamily="34" charset="-120"/>
              </a:rPr>
              <a:t>A: 4 kez, B: 8 kez,</a:t>
            </a:r>
            <a:r>
              <a:rPr lang="tr-TR" sz="1600" dirty="0">
                <a:solidFill>
                  <a:srgbClr val="3A464C"/>
                </a:solidFill>
                <a:latin typeface="Calibri" pitchFamily="34" charset="0"/>
                <a:ea typeface="Calibri" pitchFamily="34" charset="-122"/>
                <a:cs typeface="Calibri" pitchFamily="34" charset="-120"/>
              </a:rPr>
              <a:t> 8 süreç (7 tanesi yeni). Çıktı terminale gidiyor.</a:t>
            </a:r>
            <a:endParaRPr lang="tr-TR" sz="1600" dirty="0"/>
          </a:p>
        </p:txBody>
      </p:sp>
      <p:sp>
        <p:nvSpPr>
          <p:cNvPr id="15" name="Shape 13"/>
          <p:cNvSpPr/>
          <p:nvPr/>
        </p:nvSpPr>
        <p:spPr>
          <a:xfrm>
            <a:off x="6217920" y="4000500"/>
            <a:ext cx="544068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sp>
      <p:sp>
        <p:nvSpPr>
          <p:cNvPr id="16" name="Text 14"/>
          <p:cNvSpPr txBox="1"/>
          <p:nvPr/>
        </p:nvSpPr>
        <p:spPr>
          <a:xfrm>
            <a:off x="6446520" y="4183380"/>
            <a:ext cx="498348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(d) Amdahl (H4)</a:t>
            </a:r>
            <a:endParaRPr lang="tr-TR" sz="1600" dirty="0"/>
          </a:p>
        </p:txBody>
      </p:sp>
      <p:sp>
        <p:nvSpPr>
          <p:cNvPr id="17" name="Text 15"/>
          <p:cNvSpPr txBox="1"/>
          <p:nvPr/>
        </p:nvSpPr>
        <p:spPr>
          <a:xfrm>
            <a:off x="6446520" y="4640580"/>
            <a:ext cx="4983480" cy="1485900"/>
          </a:xfrm>
          <a:prstGeom prst="rect">
            <a:avLst/>
          </a:prstGeom>
          <a:noFill/>
          <a:ln/>
        </p:spPr>
        <p:txBody>
          <a:bodyPr wrap="square" lIns="0" tIns="0" rIns="0" bIns="0" rtlCol="0" anchor="t"/>
          <a:lstStyle/>
          <a:p>
            <a:pPr marL="228600" indent="-228600">
              <a:spcAft>
                <a:spcPts val="400"/>
              </a:spcAft>
              <a:buSzPct val="100000"/>
              <a:buChar char="•"/>
            </a:pPr>
            <a:r>
              <a:rPr lang="tr-TR" sz="1600" dirty="0">
                <a:solidFill>
                  <a:srgbClr val="3A464C"/>
                </a:solidFill>
                <a:latin typeface="Calibri" pitchFamily="34" charset="0"/>
                <a:ea typeface="Calibri" pitchFamily="34" charset="-122"/>
                <a:cs typeface="Calibri" pitchFamily="34" charset="-120"/>
              </a:rPr>
              <a:t>S = 0,2. 4 ve 8 çekirdekte hızlanma? Sınır?</a:t>
            </a:r>
            <a:endParaRPr lang="tr-TR" sz="1600" dirty="0"/>
          </a:p>
          <a:p>
            <a:pPr marL="228600" indent="-228600">
              <a:spcAft>
                <a:spcPts val="400"/>
              </a:spcAft>
              <a:buSzPct val="100000"/>
              <a:buChar char="•"/>
            </a:pPr>
            <a:r>
              <a:rPr lang="tr-TR" sz="1600" b="1" dirty="0">
                <a:solidFill>
                  <a:srgbClr val="3A464C"/>
                </a:solidFill>
                <a:latin typeface="Calibri" pitchFamily="34" charset="0"/>
                <a:ea typeface="Calibri" pitchFamily="34" charset="-122"/>
                <a:cs typeface="Calibri" pitchFamily="34" charset="-120"/>
              </a:rPr>
              <a:t>1/(0,2 + 0,8/4) = 2,5;</a:t>
            </a:r>
            <a:r>
              <a:rPr lang="tr-TR" sz="1600" dirty="0">
                <a:solidFill>
                  <a:srgbClr val="3A464C"/>
                </a:solidFill>
                <a:latin typeface="Calibri" pitchFamily="34" charset="0"/>
                <a:ea typeface="Calibri" pitchFamily="34" charset="-122"/>
                <a:cs typeface="Calibri" pitchFamily="34" charset="-120"/>
              </a:rPr>
              <a:t>  1/(0,2 + 0,1) ≈ 3,33;  sınır 1/0,2 = 5.</a:t>
            </a:r>
            <a:endParaRPr lang="tr-TR"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2. PROBLEM · 5. HAFTA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Tek İş Kümesi, Beş Zamanlayıcı</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8  ·  24</a:t>
            </a:r>
            <a:endParaRPr lang="tr-TR" sz="9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3383280" cy="914400"/>
        </p:xfrm>
        <a:graphic>
          <a:graphicData uri="http://schemas.openxmlformats.org/drawingml/2006/table">
            <a:tbl>
              <a:tblPr/>
              <a:tblGrid>
                <a:gridCol w="822960"/>
                <a:gridCol w="777240"/>
                <a:gridCol w="914400"/>
                <a:gridCol w="868680"/>
              </a:tblGrid>
              <a:tr h="0">
                <a:tc>
                  <a:txBody>
                    <a:bodyPr/>
                    <a:lstStyle/>
                    <a:p>
                      <a:pPr algn="ctr" indent="0" marL="0">
                        <a:buNone/>
                      </a:pPr>
                      <a:r>
                        <a:rPr lang="tr-TR" sz="1300" b="1" dirty="0">
                          <a:solidFill>
                            <a:srgbClr val="FFFFFF"/>
                          </a:solidFill>
                          <a:latin typeface="Cambria" pitchFamily="34" charset="0"/>
                          <a:ea typeface="Cambria" pitchFamily="34" charset="-122"/>
                          <a:cs typeface="Cambria" pitchFamily="34" charset="-120"/>
                        </a:rPr>
                        <a:t>Süreç</a:t>
                      </a:r>
                      <a:endParaRPr lang="tr-TR" sz="130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tr-TR" sz="1300" b="1" dirty="0">
                          <a:solidFill>
                            <a:srgbClr val="FFFFFF"/>
                          </a:solidFill>
                          <a:latin typeface="Cambria" pitchFamily="34" charset="0"/>
                          <a:ea typeface="Cambria" pitchFamily="34" charset="-122"/>
                          <a:cs typeface="Cambria" pitchFamily="34" charset="-120"/>
                        </a:rPr>
                        <a:t>Varış</a:t>
                      </a:r>
                      <a:endParaRPr lang="tr-TR" sz="130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tr-TR" sz="1300" b="1" dirty="0">
                          <a:solidFill>
                            <a:srgbClr val="FFFFFF"/>
                          </a:solidFill>
                          <a:latin typeface="Cambria" pitchFamily="34" charset="0"/>
                          <a:ea typeface="Cambria" pitchFamily="34" charset="-122"/>
                          <a:cs typeface="Cambria" pitchFamily="34" charset="-120"/>
                        </a:rPr>
                        <a:t>Patlama</a:t>
                      </a:r>
                      <a:endParaRPr lang="tr-TR" sz="130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tr-TR" sz="1300" b="1" dirty="0">
                          <a:solidFill>
                            <a:srgbClr val="FFFFFF"/>
                          </a:solidFill>
                          <a:latin typeface="Cambria" pitchFamily="34" charset="0"/>
                          <a:ea typeface="Cambria" pitchFamily="34" charset="-122"/>
                          <a:cs typeface="Cambria" pitchFamily="34" charset="-120"/>
                        </a:rPr>
                        <a:t>Öncelik</a:t>
                      </a:r>
                      <a:endParaRPr lang="tr-TR" sz="130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algn="ctr" indent="0" marL="0">
                        <a:buNone/>
                      </a:pPr>
                      <a:r>
                        <a:rPr lang="tr-TR" sz="1300" b="1" dirty="0">
                          <a:solidFill>
                            <a:srgbClr val="3A464C"/>
                          </a:solidFill>
                          <a:latin typeface="Calibri" pitchFamily="34" charset="0"/>
                          <a:ea typeface="Calibri" pitchFamily="34" charset="-122"/>
                          <a:cs typeface="Calibri" pitchFamily="34" charset="-120"/>
                        </a:rPr>
                        <a:t>P1</a:t>
                      </a:r>
                      <a:endParaRPr lang="tr-TR"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0</a:t>
                      </a:r>
                      <a:endParaRPr lang="tr-TR"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7</a:t>
                      </a:r>
                      <a:endParaRPr lang="tr-TR"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2</a:t>
                      </a:r>
                      <a:endParaRPr lang="tr-TR"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algn="ctr" indent="0" marL="0">
                        <a:buNone/>
                      </a:pPr>
                      <a:r>
                        <a:rPr lang="tr-TR" sz="1300" b="1" dirty="0">
                          <a:solidFill>
                            <a:srgbClr val="3A464C"/>
                          </a:solidFill>
                          <a:latin typeface="Calibri" pitchFamily="34" charset="0"/>
                          <a:ea typeface="Calibri" pitchFamily="34" charset="-122"/>
                          <a:cs typeface="Calibri" pitchFamily="34" charset="-120"/>
                        </a:rPr>
                        <a:t>P2</a:t>
                      </a:r>
                      <a:endParaRPr lang="tr-TR"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2</a:t>
                      </a:r>
                      <a:endParaRPr lang="tr-TR"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4</a:t>
                      </a:r>
                      <a:endParaRPr lang="tr-TR"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1</a:t>
                      </a:r>
                      <a:endParaRPr lang="tr-TR"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algn="ctr" indent="0" marL="0">
                        <a:buNone/>
                      </a:pPr>
                      <a:r>
                        <a:rPr lang="tr-TR" sz="1300" b="1" dirty="0">
                          <a:solidFill>
                            <a:srgbClr val="3A464C"/>
                          </a:solidFill>
                          <a:latin typeface="Calibri" pitchFamily="34" charset="0"/>
                          <a:ea typeface="Calibri" pitchFamily="34" charset="-122"/>
                          <a:cs typeface="Calibri" pitchFamily="34" charset="-120"/>
                        </a:rPr>
                        <a:t>P3</a:t>
                      </a:r>
                      <a:endParaRPr lang="tr-TR"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3</a:t>
                      </a:r>
                      <a:endParaRPr lang="tr-TR"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2</a:t>
                      </a:r>
                      <a:endParaRPr lang="tr-TR"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4</a:t>
                      </a:r>
                      <a:endParaRPr lang="tr-TR"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algn="ctr" indent="0" marL="0">
                        <a:buNone/>
                      </a:pPr>
                      <a:r>
                        <a:rPr lang="tr-TR" sz="1300" b="1" dirty="0">
                          <a:solidFill>
                            <a:srgbClr val="3A464C"/>
                          </a:solidFill>
                          <a:latin typeface="Calibri" pitchFamily="34" charset="0"/>
                          <a:ea typeface="Calibri" pitchFamily="34" charset="-122"/>
                          <a:cs typeface="Calibri" pitchFamily="34" charset="-120"/>
                        </a:rPr>
                        <a:t>P4</a:t>
                      </a:r>
                      <a:endParaRPr lang="tr-TR"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5</a:t>
                      </a:r>
                      <a:endParaRPr lang="tr-TR"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5</a:t>
                      </a:r>
                      <a:endParaRPr lang="tr-TR"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3</a:t>
                      </a:r>
                      <a:endParaRPr lang="tr-TR"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3657600"/>
            <a:ext cx="3383280" cy="2606040"/>
          </a:xfrm>
          <a:prstGeom prst="roundRect">
            <a:avLst>
              <a:gd name="adj" fmla="val 2105"/>
            </a:avLst>
          </a:prstGeom>
          <a:solidFill>
            <a:srgbClr val="F2F2F2"/>
          </a:solidFill>
          <a:ln/>
          <a:effectLst>
            <a:outerShdw sx="100000" sy="100000" kx="0" ky="0" algn="bl" rotWithShape="0" blurRad="101600" dist="25400" dir="5400000">
              <a:srgbClr val="000000">
                <a:alpha val="12000"/>
              </a:srgbClr>
            </a:outerShdw>
          </a:effectLst>
        </p:spPr>
      </p:sp>
      <p:sp>
        <p:nvSpPr>
          <p:cNvPr id="8" name="Text 5"/>
          <p:cNvSpPr txBox="1"/>
          <p:nvPr/>
        </p:nvSpPr>
        <p:spPr>
          <a:xfrm>
            <a:off x="777240" y="3840480"/>
            <a:ext cx="292608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Şemayı okuyun</a:t>
            </a:r>
            <a:endParaRPr lang="tr-TR" sz="1500" dirty="0"/>
          </a:p>
        </p:txBody>
      </p:sp>
      <p:sp>
        <p:nvSpPr>
          <p:cNvPr id="9" name="Text 6"/>
          <p:cNvSpPr txBox="1"/>
          <p:nvPr/>
        </p:nvSpPr>
        <p:spPr>
          <a:xfrm>
            <a:off x="777240" y="4297680"/>
            <a:ext cx="2926080" cy="1828800"/>
          </a:xfrm>
          <a:prstGeom prst="rect">
            <a:avLst/>
          </a:prstGeom>
          <a:noFill/>
          <a:ln/>
        </p:spPr>
        <p:txBody>
          <a:bodyPr wrap="square" lIns="0" tIns="0" rIns="0" bIns="0" rtlCol="0" anchor="t"/>
          <a:lstStyle/>
          <a:p>
            <a:pPr marL="228600" indent="-228600">
              <a:spcAft>
                <a:spcPts val="400"/>
              </a:spcAft>
              <a:buSzPct val="100000"/>
              <a:buChar char="•"/>
            </a:pPr>
            <a:r>
              <a:rPr lang="tr-TR" sz="1200" dirty="0">
                <a:solidFill>
                  <a:srgbClr val="3A464C"/>
                </a:solidFill>
                <a:latin typeface="Calibri" pitchFamily="34" charset="0"/>
                <a:ea typeface="Calibri" pitchFamily="34" charset="-122"/>
                <a:cs typeface="Calibri" pitchFamily="34" charset="-120"/>
              </a:rPr>
              <a:t>SRTF t = 3: P3 (2) &lt; P2'nin kalanı 3 → kesme.</a:t>
            </a:r>
            <a:endParaRPr lang="tr-TR" sz="1200" dirty="0"/>
          </a:p>
          <a:p>
            <a:pPr marL="228600" indent="-228600">
              <a:spcAft>
                <a:spcPts val="400"/>
              </a:spcAft>
              <a:buSzPct val="100000"/>
              <a:buChar char="•"/>
            </a:pPr>
            <a:r>
              <a:rPr lang="tr-TR" sz="1200" dirty="0">
                <a:solidFill>
                  <a:srgbClr val="3A464C"/>
                </a:solidFill>
                <a:latin typeface="Calibri" pitchFamily="34" charset="0"/>
                <a:ea typeface="Calibri" pitchFamily="34" charset="-122"/>
                <a:cs typeface="Calibri" pitchFamily="34" charset="-120"/>
              </a:rPr>
              <a:t>SRTF t = 8: P1 ve P4'ün ikisi de 5 ister → erken gelen P1.</a:t>
            </a:r>
            <a:endParaRPr lang="tr-TR" sz="1200" dirty="0"/>
          </a:p>
          <a:p>
            <a:pPr marL="228600" indent="-228600">
              <a:spcAft>
                <a:spcPts val="400"/>
              </a:spcAft>
              <a:buSzPct val="100000"/>
              <a:buChar char="•"/>
            </a:pPr>
            <a:r>
              <a:rPr lang="tr-TR" sz="1200" dirty="0">
                <a:solidFill>
                  <a:srgbClr val="3A464C"/>
                </a:solidFill>
                <a:latin typeface="Calibri" pitchFamily="34" charset="0"/>
                <a:ea typeface="Calibri" pitchFamily="34" charset="-122"/>
                <a:cs typeface="Calibri" pitchFamily="34" charset="-120"/>
              </a:rPr>
              <a:t>RR t = 3: P3, P1'in zaman dilimi biterken gelir → önce P3.</a:t>
            </a:r>
            <a:endParaRPr lang="tr-TR" sz="1200" dirty="0"/>
          </a:p>
        </p:txBody>
      </p:sp>
      <p:sp>
        <p:nvSpPr>
          <p:cNvPr id="10" name="Text 7"/>
          <p:cNvSpPr txBox="1"/>
          <p:nvPr/>
        </p:nvSpPr>
        <p:spPr>
          <a:xfrm>
            <a:off x="4160520" y="1600200"/>
            <a:ext cx="1508760" cy="457200"/>
          </a:xfrm>
          <a:prstGeom prst="rect">
            <a:avLst/>
          </a:prstGeom>
          <a:noFill/>
          <a:ln/>
        </p:spPr>
        <p:txBody>
          <a:bodyPr wrap="square" lIns="0" tIns="0" rIns="0" bIns="0" rtlCol="0" anchor="ctr"/>
          <a:lstStyle/>
          <a:p>
            <a:pPr indent="0" marL="0">
              <a:buNone/>
            </a:pPr>
            <a:r>
              <a:rPr lang="tr-TR" sz="1300" b="1" dirty="0">
                <a:solidFill>
                  <a:srgbClr val="36454F"/>
                </a:solidFill>
                <a:latin typeface="Calibri" pitchFamily="34" charset="0"/>
                <a:ea typeface="Calibri" pitchFamily="34" charset="-122"/>
                <a:cs typeface="Calibri" pitchFamily="34" charset="-120"/>
              </a:rPr>
              <a:t>FCFS</a:t>
            </a:r>
            <a:endParaRPr lang="tr-TR" sz="1300" dirty="0"/>
          </a:p>
        </p:txBody>
      </p:sp>
      <p:sp>
        <p:nvSpPr>
          <p:cNvPr id="11" name="Shape 8"/>
          <p:cNvSpPr/>
          <p:nvPr/>
        </p:nvSpPr>
        <p:spPr>
          <a:xfrm>
            <a:off x="5769864" y="1600200"/>
            <a:ext cx="2275332" cy="457200"/>
          </a:xfrm>
          <a:prstGeom prst="roundRect">
            <a:avLst>
              <a:gd name="adj" fmla="val 10000"/>
            </a:avLst>
          </a:prstGeom>
          <a:solidFill>
            <a:srgbClr val="02C39A"/>
          </a:solidFill>
          <a:ln/>
        </p:spPr>
      </p:sp>
      <p:sp>
        <p:nvSpPr>
          <p:cNvPr id="12" name="Text 9"/>
          <p:cNvSpPr txBox="1"/>
          <p:nvPr/>
        </p:nvSpPr>
        <p:spPr>
          <a:xfrm>
            <a:off x="5769864" y="1600200"/>
            <a:ext cx="2275332" cy="457200"/>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P1</a:t>
            </a:r>
            <a:endParaRPr lang="tr-TR" sz="1200" dirty="0"/>
          </a:p>
        </p:txBody>
      </p:sp>
      <p:sp>
        <p:nvSpPr>
          <p:cNvPr id="13" name="Shape 10"/>
          <p:cNvSpPr/>
          <p:nvPr/>
        </p:nvSpPr>
        <p:spPr>
          <a:xfrm>
            <a:off x="8063484" y="1600200"/>
            <a:ext cx="1292352" cy="457200"/>
          </a:xfrm>
          <a:prstGeom prst="roundRect">
            <a:avLst>
              <a:gd name="adj" fmla="val 10000"/>
            </a:avLst>
          </a:prstGeom>
          <a:solidFill>
            <a:srgbClr val="50808E"/>
          </a:solidFill>
          <a:ln/>
        </p:spPr>
      </p:sp>
      <p:sp>
        <p:nvSpPr>
          <p:cNvPr id="14" name="Text 11"/>
          <p:cNvSpPr txBox="1"/>
          <p:nvPr/>
        </p:nvSpPr>
        <p:spPr>
          <a:xfrm>
            <a:off x="8063484" y="1600200"/>
            <a:ext cx="1292352" cy="457200"/>
          </a:xfrm>
          <a:prstGeom prst="rect">
            <a:avLst/>
          </a:prstGeom>
          <a:noFill/>
          <a:ln/>
        </p:spPr>
        <p:txBody>
          <a:bodyPr wrap="square" lIns="38100" tIns="38100" rIns="38100" bIns="3810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P2</a:t>
            </a:r>
            <a:endParaRPr lang="tr-TR" sz="1200" dirty="0"/>
          </a:p>
        </p:txBody>
      </p:sp>
      <p:sp>
        <p:nvSpPr>
          <p:cNvPr id="15" name="Shape 12"/>
          <p:cNvSpPr/>
          <p:nvPr/>
        </p:nvSpPr>
        <p:spPr>
          <a:xfrm>
            <a:off x="9374124" y="1600200"/>
            <a:ext cx="637032" cy="457200"/>
          </a:xfrm>
          <a:prstGeom prst="roundRect">
            <a:avLst>
              <a:gd name="adj" fmla="val 10000"/>
            </a:avLst>
          </a:prstGeom>
          <a:solidFill>
            <a:srgbClr val="C98A1B"/>
          </a:solidFill>
          <a:ln/>
        </p:spPr>
      </p:sp>
      <p:sp>
        <p:nvSpPr>
          <p:cNvPr id="16" name="Text 13"/>
          <p:cNvSpPr txBox="1"/>
          <p:nvPr/>
        </p:nvSpPr>
        <p:spPr>
          <a:xfrm>
            <a:off x="9374124" y="1600200"/>
            <a:ext cx="637032" cy="457200"/>
          </a:xfrm>
          <a:prstGeom prst="rect">
            <a:avLst/>
          </a:prstGeom>
          <a:noFill/>
          <a:ln/>
        </p:spPr>
        <p:txBody>
          <a:bodyPr wrap="square" lIns="38100" tIns="38100" rIns="38100" bIns="3810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P3</a:t>
            </a:r>
            <a:endParaRPr lang="tr-TR" sz="1200" dirty="0"/>
          </a:p>
        </p:txBody>
      </p:sp>
      <p:sp>
        <p:nvSpPr>
          <p:cNvPr id="17" name="Shape 14"/>
          <p:cNvSpPr/>
          <p:nvPr/>
        </p:nvSpPr>
        <p:spPr>
          <a:xfrm>
            <a:off x="10029444" y="1600200"/>
            <a:ext cx="1620012" cy="457200"/>
          </a:xfrm>
          <a:prstGeom prst="roundRect">
            <a:avLst>
              <a:gd name="adj" fmla="val 10000"/>
            </a:avLst>
          </a:prstGeom>
          <a:solidFill>
            <a:srgbClr val="36454F"/>
          </a:solidFill>
          <a:ln/>
        </p:spPr>
      </p:sp>
      <p:sp>
        <p:nvSpPr>
          <p:cNvPr id="18" name="Text 15"/>
          <p:cNvSpPr txBox="1"/>
          <p:nvPr/>
        </p:nvSpPr>
        <p:spPr>
          <a:xfrm>
            <a:off x="10029444" y="1600200"/>
            <a:ext cx="1620012" cy="457200"/>
          </a:xfrm>
          <a:prstGeom prst="rect">
            <a:avLst/>
          </a:prstGeom>
          <a:noFill/>
          <a:ln/>
        </p:spPr>
        <p:txBody>
          <a:bodyPr wrap="square" lIns="38100" tIns="38100" rIns="38100" bIns="3810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P4</a:t>
            </a:r>
            <a:endParaRPr lang="tr-TR" sz="1200" dirty="0"/>
          </a:p>
        </p:txBody>
      </p:sp>
      <p:sp>
        <p:nvSpPr>
          <p:cNvPr id="19" name="Shape 16"/>
          <p:cNvSpPr/>
          <p:nvPr/>
        </p:nvSpPr>
        <p:spPr>
          <a:xfrm>
            <a:off x="5760720" y="2057400"/>
            <a:ext cx="91" cy="64008"/>
          </a:xfrm>
          <a:prstGeom prst="line">
            <a:avLst/>
          </a:prstGeom>
          <a:noFill/>
          <a:ln w="12700">
            <a:solidFill>
              <a:srgbClr val="6B7679"/>
            </a:solidFill>
            <a:prstDash val="solid"/>
          </a:ln>
        </p:spPr>
      </p:sp>
      <p:sp>
        <p:nvSpPr>
          <p:cNvPr id="20" name="Text 17"/>
          <p:cNvSpPr txBox="1"/>
          <p:nvPr/>
        </p:nvSpPr>
        <p:spPr>
          <a:xfrm>
            <a:off x="5532120" y="2112264"/>
            <a:ext cx="457200" cy="219456"/>
          </a:xfrm>
          <a:prstGeom prst="rect">
            <a:avLst/>
          </a:prstGeom>
          <a:noFill/>
          <a:ln/>
        </p:spPr>
        <p:txBody>
          <a:bodyPr wrap="square" lIns="0" tIns="0" rIns="0" bIns="0" rtlCol="0" anchor="t"/>
          <a:lstStyle/>
          <a:p>
            <a:pPr algn="ctr" indent="0" marL="0">
              <a:buNone/>
            </a:pPr>
            <a:r>
              <a:rPr lang="tr-TR" sz="1050" dirty="0">
                <a:solidFill>
                  <a:srgbClr val="6B7679"/>
                </a:solidFill>
                <a:latin typeface="Calibri" pitchFamily="34" charset="0"/>
                <a:ea typeface="Calibri" pitchFamily="34" charset="-122"/>
                <a:cs typeface="Calibri" pitchFamily="34" charset="-120"/>
              </a:rPr>
              <a:t>0</a:t>
            </a:r>
            <a:endParaRPr lang="tr-TR" sz="1050" dirty="0"/>
          </a:p>
        </p:txBody>
      </p:sp>
      <p:sp>
        <p:nvSpPr>
          <p:cNvPr id="21" name="Shape 18"/>
          <p:cNvSpPr/>
          <p:nvPr/>
        </p:nvSpPr>
        <p:spPr>
          <a:xfrm>
            <a:off x="8054340" y="2057400"/>
            <a:ext cx="91" cy="64008"/>
          </a:xfrm>
          <a:prstGeom prst="line">
            <a:avLst/>
          </a:prstGeom>
          <a:noFill/>
          <a:ln w="12700">
            <a:solidFill>
              <a:srgbClr val="6B7679"/>
            </a:solidFill>
            <a:prstDash val="solid"/>
          </a:ln>
        </p:spPr>
      </p:sp>
      <p:sp>
        <p:nvSpPr>
          <p:cNvPr id="22" name="Text 19"/>
          <p:cNvSpPr txBox="1"/>
          <p:nvPr/>
        </p:nvSpPr>
        <p:spPr>
          <a:xfrm>
            <a:off x="7825740" y="2112264"/>
            <a:ext cx="457200" cy="219456"/>
          </a:xfrm>
          <a:prstGeom prst="rect">
            <a:avLst/>
          </a:prstGeom>
          <a:noFill/>
          <a:ln/>
        </p:spPr>
        <p:txBody>
          <a:bodyPr wrap="square" lIns="0" tIns="0" rIns="0" bIns="0" rtlCol="0" anchor="t"/>
          <a:lstStyle/>
          <a:p>
            <a:pPr algn="ctr" indent="0" marL="0">
              <a:buNone/>
            </a:pPr>
            <a:r>
              <a:rPr lang="tr-TR" sz="1050" dirty="0">
                <a:solidFill>
                  <a:srgbClr val="6B7679"/>
                </a:solidFill>
                <a:latin typeface="Calibri" pitchFamily="34" charset="0"/>
                <a:ea typeface="Calibri" pitchFamily="34" charset="-122"/>
                <a:cs typeface="Calibri" pitchFamily="34" charset="-120"/>
              </a:rPr>
              <a:t>7</a:t>
            </a:r>
            <a:endParaRPr lang="tr-TR" sz="1050" dirty="0"/>
          </a:p>
        </p:txBody>
      </p:sp>
      <p:sp>
        <p:nvSpPr>
          <p:cNvPr id="23" name="Shape 20"/>
          <p:cNvSpPr/>
          <p:nvPr/>
        </p:nvSpPr>
        <p:spPr>
          <a:xfrm>
            <a:off x="9364980" y="2057400"/>
            <a:ext cx="91" cy="64008"/>
          </a:xfrm>
          <a:prstGeom prst="line">
            <a:avLst/>
          </a:prstGeom>
          <a:noFill/>
          <a:ln w="12700">
            <a:solidFill>
              <a:srgbClr val="6B7679"/>
            </a:solidFill>
            <a:prstDash val="solid"/>
          </a:ln>
        </p:spPr>
      </p:sp>
      <p:sp>
        <p:nvSpPr>
          <p:cNvPr id="24" name="Text 21"/>
          <p:cNvSpPr txBox="1"/>
          <p:nvPr/>
        </p:nvSpPr>
        <p:spPr>
          <a:xfrm>
            <a:off x="9136380" y="2112264"/>
            <a:ext cx="457200" cy="219456"/>
          </a:xfrm>
          <a:prstGeom prst="rect">
            <a:avLst/>
          </a:prstGeom>
          <a:noFill/>
          <a:ln/>
        </p:spPr>
        <p:txBody>
          <a:bodyPr wrap="square" lIns="0" tIns="0" rIns="0" bIns="0" rtlCol="0" anchor="t"/>
          <a:lstStyle/>
          <a:p>
            <a:pPr algn="ctr" indent="0" marL="0">
              <a:buNone/>
            </a:pPr>
            <a:r>
              <a:rPr lang="tr-TR" sz="1050" dirty="0">
                <a:solidFill>
                  <a:srgbClr val="6B7679"/>
                </a:solidFill>
                <a:latin typeface="Calibri" pitchFamily="34" charset="0"/>
                <a:ea typeface="Calibri" pitchFamily="34" charset="-122"/>
                <a:cs typeface="Calibri" pitchFamily="34" charset="-120"/>
              </a:rPr>
              <a:t>11</a:t>
            </a:r>
            <a:endParaRPr lang="tr-TR" sz="1050" dirty="0"/>
          </a:p>
        </p:txBody>
      </p:sp>
      <p:sp>
        <p:nvSpPr>
          <p:cNvPr id="25" name="Shape 22"/>
          <p:cNvSpPr/>
          <p:nvPr/>
        </p:nvSpPr>
        <p:spPr>
          <a:xfrm>
            <a:off x="10020300" y="2057400"/>
            <a:ext cx="91" cy="64008"/>
          </a:xfrm>
          <a:prstGeom prst="line">
            <a:avLst/>
          </a:prstGeom>
          <a:noFill/>
          <a:ln w="12700">
            <a:solidFill>
              <a:srgbClr val="6B7679"/>
            </a:solidFill>
            <a:prstDash val="solid"/>
          </a:ln>
        </p:spPr>
      </p:sp>
      <p:sp>
        <p:nvSpPr>
          <p:cNvPr id="26" name="Text 23"/>
          <p:cNvSpPr txBox="1"/>
          <p:nvPr/>
        </p:nvSpPr>
        <p:spPr>
          <a:xfrm>
            <a:off x="9791700" y="2112264"/>
            <a:ext cx="457200" cy="219456"/>
          </a:xfrm>
          <a:prstGeom prst="rect">
            <a:avLst/>
          </a:prstGeom>
          <a:noFill/>
          <a:ln/>
        </p:spPr>
        <p:txBody>
          <a:bodyPr wrap="square" lIns="0" tIns="0" rIns="0" bIns="0" rtlCol="0" anchor="t"/>
          <a:lstStyle/>
          <a:p>
            <a:pPr algn="ctr" indent="0" marL="0">
              <a:buNone/>
            </a:pPr>
            <a:r>
              <a:rPr lang="tr-TR" sz="1050" dirty="0">
                <a:solidFill>
                  <a:srgbClr val="6B7679"/>
                </a:solidFill>
                <a:latin typeface="Calibri" pitchFamily="34" charset="0"/>
                <a:ea typeface="Calibri" pitchFamily="34" charset="-122"/>
                <a:cs typeface="Calibri" pitchFamily="34" charset="-120"/>
              </a:rPr>
              <a:t>13</a:t>
            </a:r>
            <a:endParaRPr lang="tr-TR" sz="1050" dirty="0"/>
          </a:p>
        </p:txBody>
      </p:sp>
      <p:sp>
        <p:nvSpPr>
          <p:cNvPr id="27" name="Shape 24"/>
          <p:cNvSpPr/>
          <p:nvPr/>
        </p:nvSpPr>
        <p:spPr>
          <a:xfrm>
            <a:off x="11658600" y="2057400"/>
            <a:ext cx="91" cy="64008"/>
          </a:xfrm>
          <a:prstGeom prst="line">
            <a:avLst/>
          </a:prstGeom>
          <a:noFill/>
          <a:ln w="12700">
            <a:solidFill>
              <a:srgbClr val="6B7679"/>
            </a:solidFill>
            <a:prstDash val="solid"/>
          </a:ln>
        </p:spPr>
      </p:sp>
      <p:sp>
        <p:nvSpPr>
          <p:cNvPr id="28" name="Text 25"/>
          <p:cNvSpPr txBox="1"/>
          <p:nvPr/>
        </p:nvSpPr>
        <p:spPr>
          <a:xfrm>
            <a:off x="11430000" y="2112264"/>
            <a:ext cx="457200" cy="219456"/>
          </a:xfrm>
          <a:prstGeom prst="rect">
            <a:avLst/>
          </a:prstGeom>
          <a:noFill/>
          <a:ln/>
        </p:spPr>
        <p:txBody>
          <a:bodyPr wrap="square" lIns="0" tIns="0" rIns="0" bIns="0" rtlCol="0" anchor="t"/>
          <a:lstStyle/>
          <a:p>
            <a:pPr algn="ctr" indent="0" marL="0">
              <a:buNone/>
            </a:pPr>
            <a:r>
              <a:rPr lang="tr-TR" sz="1050" dirty="0">
                <a:solidFill>
                  <a:srgbClr val="6B7679"/>
                </a:solidFill>
                <a:latin typeface="Calibri" pitchFamily="34" charset="0"/>
                <a:ea typeface="Calibri" pitchFamily="34" charset="-122"/>
                <a:cs typeface="Calibri" pitchFamily="34" charset="-120"/>
              </a:rPr>
              <a:t>18</a:t>
            </a:r>
            <a:endParaRPr lang="tr-TR" sz="1050" dirty="0"/>
          </a:p>
        </p:txBody>
      </p:sp>
      <p:sp>
        <p:nvSpPr>
          <p:cNvPr id="29" name="Text 26"/>
          <p:cNvSpPr txBox="1"/>
          <p:nvPr/>
        </p:nvSpPr>
        <p:spPr>
          <a:xfrm>
            <a:off x="4160520" y="2532888"/>
            <a:ext cx="1508760" cy="457200"/>
          </a:xfrm>
          <a:prstGeom prst="rect">
            <a:avLst/>
          </a:prstGeom>
          <a:noFill/>
          <a:ln/>
        </p:spPr>
        <p:txBody>
          <a:bodyPr wrap="square" lIns="0" tIns="0" rIns="0" bIns="0" rtlCol="0" anchor="ctr"/>
          <a:lstStyle/>
          <a:p>
            <a:pPr indent="0" marL="0">
              <a:buNone/>
            </a:pPr>
            <a:r>
              <a:rPr lang="tr-TR" sz="1300" b="1" dirty="0">
                <a:solidFill>
                  <a:srgbClr val="36454F"/>
                </a:solidFill>
                <a:latin typeface="Calibri" pitchFamily="34" charset="0"/>
                <a:ea typeface="Calibri" pitchFamily="34" charset="-122"/>
                <a:cs typeface="Calibri" pitchFamily="34" charset="-120"/>
              </a:rPr>
              <a:t>SJF</a:t>
            </a:r>
            <a:endParaRPr lang="tr-TR" sz="1300" dirty="0"/>
          </a:p>
        </p:txBody>
      </p:sp>
      <p:sp>
        <p:nvSpPr>
          <p:cNvPr id="30" name="Shape 27"/>
          <p:cNvSpPr/>
          <p:nvPr/>
        </p:nvSpPr>
        <p:spPr>
          <a:xfrm>
            <a:off x="5769864" y="2532888"/>
            <a:ext cx="2275332" cy="457200"/>
          </a:xfrm>
          <a:prstGeom prst="roundRect">
            <a:avLst>
              <a:gd name="adj" fmla="val 10000"/>
            </a:avLst>
          </a:prstGeom>
          <a:solidFill>
            <a:srgbClr val="02C39A"/>
          </a:solidFill>
          <a:ln/>
        </p:spPr>
      </p:sp>
      <p:sp>
        <p:nvSpPr>
          <p:cNvPr id="31" name="Text 28"/>
          <p:cNvSpPr txBox="1"/>
          <p:nvPr/>
        </p:nvSpPr>
        <p:spPr>
          <a:xfrm>
            <a:off x="5769864" y="2532888"/>
            <a:ext cx="2275332" cy="457200"/>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P1</a:t>
            </a:r>
            <a:endParaRPr lang="tr-TR" sz="1200" dirty="0"/>
          </a:p>
        </p:txBody>
      </p:sp>
      <p:sp>
        <p:nvSpPr>
          <p:cNvPr id="32" name="Shape 29"/>
          <p:cNvSpPr/>
          <p:nvPr/>
        </p:nvSpPr>
        <p:spPr>
          <a:xfrm>
            <a:off x="8063484" y="2532888"/>
            <a:ext cx="637032" cy="457200"/>
          </a:xfrm>
          <a:prstGeom prst="roundRect">
            <a:avLst>
              <a:gd name="adj" fmla="val 10000"/>
            </a:avLst>
          </a:prstGeom>
          <a:solidFill>
            <a:srgbClr val="C98A1B"/>
          </a:solidFill>
          <a:ln/>
        </p:spPr>
      </p:sp>
      <p:sp>
        <p:nvSpPr>
          <p:cNvPr id="33" name="Text 30"/>
          <p:cNvSpPr txBox="1"/>
          <p:nvPr/>
        </p:nvSpPr>
        <p:spPr>
          <a:xfrm>
            <a:off x="8063484" y="2532888"/>
            <a:ext cx="637032" cy="457200"/>
          </a:xfrm>
          <a:prstGeom prst="rect">
            <a:avLst/>
          </a:prstGeom>
          <a:noFill/>
          <a:ln/>
        </p:spPr>
        <p:txBody>
          <a:bodyPr wrap="square" lIns="38100" tIns="38100" rIns="38100" bIns="3810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P3</a:t>
            </a:r>
            <a:endParaRPr lang="tr-TR" sz="1200" dirty="0"/>
          </a:p>
        </p:txBody>
      </p:sp>
      <p:sp>
        <p:nvSpPr>
          <p:cNvPr id="34" name="Shape 31"/>
          <p:cNvSpPr/>
          <p:nvPr/>
        </p:nvSpPr>
        <p:spPr>
          <a:xfrm>
            <a:off x="8718804" y="2532888"/>
            <a:ext cx="1292352" cy="457200"/>
          </a:xfrm>
          <a:prstGeom prst="roundRect">
            <a:avLst>
              <a:gd name="adj" fmla="val 10000"/>
            </a:avLst>
          </a:prstGeom>
          <a:solidFill>
            <a:srgbClr val="50808E"/>
          </a:solidFill>
          <a:ln/>
        </p:spPr>
      </p:sp>
      <p:sp>
        <p:nvSpPr>
          <p:cNvPr id="35" name="Text 32"/>
          <p:cNvSpPr txBox="1"/>
          <p:nvPr/>
        </p:nvSpPr>
        <p:spPr>
          <a:xfrm>
            <a:off x="8718804" y="2532888"/>
            <a:ext cx="1292352" cy="457200"/>
          </a:xfrm>
          <a:prstGeom prst="rect">
            <a:avLst/>
          </a:prstGeom>
          <a:noFill/>
          <a:ln/>
        </p:spPr>
        <p:txBody>
          <a:bodyPr wrap="square" lIns="38100" tIns="38100" rIns="38100" bIns="3810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P2</a:t>
            </a:r>
            <a:endParaRPr lang="tr-TR" sz="1200" dirty="0"/>
          </a:p>
        </p:txBody>
      </p:sp>
      <p:sp>
        <p:nvSpPr>
          <p:cNvPr id="36" name="Shape 33"/>
          <p:cNvSpPr/>
          <p:nvPr/>
        </p:nvSpPr>
        <p:spPr>
          <a:xfrm>
            <a:off x="10029444" y="2532888"/>
            <a:ext cx="1620012" cy="457200"/>
          </a:xfrm>
          <a:prstGeom prst="roundRect">
            <a:avLst>
              <a:gd name="adj" fmla="val 10000"/>
            </a:avLst>
          </a:prstGeom>
          <a:solidFill>
            <a:srgbClr val="36454F"/>
          </a:solidFill>
          <a:ln/>
        </p:spPr>
      </p:sp>
      <p:sp>
        <p:nvSpPr>
          <p:cNvPr id="37" name="Text 34"/>
          <p:cNvSpPr txBox="1"/>
          <p:nvPr/>
        </p:nvSpPr>
        <p:spPr>
          <a:xfrm>
            <a:off x="10029444" y="2532888"/>
            <a:ext cx="1620012" cy="457200"/>
          </a:xfrm>
          <a:prstGeom prst="rect">
            <a:avLst/>
          </a:prstGeom>
          <a:noFill/>
          <a:ln/>
        </p:spPr>
        <p:txBody>
          <a:bodyPr wrap="square" lIns="38100" tIns="38100" rIns="38100" bIns="3810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P4</a:t>
            </a:r>
            <a:endParaRPr lang="tr-TR" sz="1200" dirty="0"/>
          </a:p>
        </p:txBody>
      </p:sp>
      <p:sp>
        <p:nvSpPr>
          <p:cNvPr id="38" name="Shape 35"/>
          <p:cNvSpPr/>
          <p:nvPr/>
        </p:nvSpPr>
        <p:spPr>
          <a:xfrm>
            <a:off x="5760720" y="2990088"/>
            <a:ext cx="91" cy="64008"/>
          </a:xfrm>
          <a:prstGeom prst="line">
            <a:avLst/>
          </a:prstGeom>
          <a:noFill/>
          <a:ln w="12700">
            <a:solidFill>
              <a:srgbClr val="6B7679"/>
            </a:solidFill>
            <a:prstDash val="solid"/>
          </a:ln>
        </p:spPr>
      </p:sp>
      <p:sp>
        <p:nvSpPr>
          <p:cNvPr id="39" name="Text 36"/>
          <p:cNvSpPr txBox="1"/>
          <p:nvPr/>
        </p:nvSpPr>
        <p:spPr>
          <a:xfrm>
            <a:off x="5532120" y="3044952"/>
            <a:ext cx="457200" cy="219456"/>
          </a:xfrm>
          <a:prstGeom prst="rect">
            <a:avLst/>
          </a:prstGeom>
          <a:noFill/>
          <a:ln/>
        </p:spPr>
        <p:txBody>
          <a:bodyPr wrap="square" lIns="0" tIns="0" rIns="0" bIns="0" rtlCol="0" anchor="t"/>
          <a:lstStyle/>
          <a:p>
            <a:pPr algn="ctr" indent="0" marL="0">
              <a:buNone/>
            </a:pPr>
            <a:r>
              <a:rPr lang="tr-TR" sz="1050" dirty="0">
                <a:solidFill>
                  <a:srgbClr val="6B7679"/>
                </a:solidFill>
                <a:latin typeface="Calibri" pitchFamily="34" charset="0"/>
                <a:ea typeface="Calibri" pitchFamily="34" charset="-122"/>
                <a:cs typeface="Calibri" pitchFamily="34" charset="-120"/>
              </a:rPr>
              <a:t>0</a:t>
            </a:r>
            <a:endParaRPr lang="tr-TR" sz="1050" dirty="0"/>
          </a:p>
        </p:txBody>
      </p:sp>
      <p:sp>
        <p:nvSpPr>
          <p:cNvPr id="40" name="Shape 37"/>
          <p:cNvSpPr/>
          <p:nvPr/>
        </p:nvSpPr>
        <p:spPr>
          <a:xfrm>
            <a:off x="8054340" y="2990088"/>
            <a:ext cx="91" cy="64008"/>
          </a:xfrm>
          <a:prstGeom prst="line">
            <a:avLst/>
          </a:prstGeom>
          <a:noFill/>
          <a:ln w="12700">
            <a:solidFill>
              <a:srgbClr val="6B7679"/>
            </a:solidFill>
            <a:prstDash val="solid"/>
          </a:ln>
        </p:spPr>
      </p:sp>
      <p:sp>
        <p:nvSpPr>
          <p:cNvPr id="41" name="Text 38"/>
          <p:cNvSpPr txBox="1"/>
          <p:nvPr/>
        </p:nvSpPr>
        <p:spPr>
          <a:xfrm>
            <a:off x="7825740" y="3044952"/>
            <a:ext cx="457200" cy="219456"/>
          </a:xfrm>
          <a:prstGeom prst="rect">
            <a:avLst/>
          </a:prstGeom>
          <a:noFill/>
          <a:ln/>
        </p:spPr>
        <p:txBody>
          <a:bodyPr wrap="square" lIns="0" tIns="0" rIns="0" bIns="0" rtlCol="0" anchor="t"/>
          <a:lstStyle/>
          <a:p>
            <a:pPr algn="ctr" indent="0" marL="0">
              <a:buNone/>
            </a:pPr>
            <a:r>
              <a:rPr lang="tr-TR" sz="1050" dirty="0">
                <a:solidFill>
                  <a:srgbClr val="6B7679"/>
                </a:solidFill>
                <a:latin typeface="Calibri" pitchFamily="34" charset="0"/>
                <a:ea typeface="Calibri" pitchFamily="34" charset="-122"/>
                <a:cs typeface="Calibri" pitchFamily="34" charset="-120"/>
              </a:rPr>
              <a:t>7</a:t>
            </a:r>
            <a:endParaRPr lang="tr-TR" sz="1050" dirty="0"/>
          </a:p>
        </p:txBody>
      </p:sp>
      <p:sp>
        <p:nvSpPr>
          <p:cNvPr id="42" name="Shape 39"/>
          <p:cNvSpPr/>
          <p:nvPr/>
        </p:nvSpPr>
        <p:spPr>
          <a:xfrm>
            <a:off x="8709660" y="2990088"/>
            <a:ext cx="91" cy="64008"/>
          </a:xfrm>
          <a:prstGeom prst="line">
            <a:avLst/>
          </a:prstGeom>
          <a:noFill/>
          <a:ln w="12700">
            <a:solidFill>
              <a:srgbClr val="6B7679"/>
            </a:solidFill>
            <a:prstDash val="solid"/>
          </a:ln>
        </p:spPr>
      </p:sp>
      <p:sp>
        <p:nvSpPr>
          <p:cNvPr id="43" name="Text 40"/>
          <p:cNvSpPr txBox="1"/>
          <p:nvPr/>
        </p:nvSpPr>
        <p:spPr>
          <a:xfrm>
            <a:off x="8481060" y="3044952"/>
            <a:ext cx="457200" cy="219456"/>
          </a:xfrm>
          <a:prstGeom prst="rect">
            <a:avLst/>
          </a:prstGeom>
          <a:noFill/>
          <a:ln/>
        </p:spPr>
        <p:txBody>
          <a:bodyPr wrap="square" lIns="0" tIns="0" rIns="0" bIns="0" rtlCol="0" anchor="t"/>
          <a:lstStyle/>
          <a:p>
            <a:pPr algn="ctr" indent="0" marL="0">
              <a:buNone/>
            </a:pPr>
            <a:r>
              <a:rPr lang="tr-TR" sz="1050" dirty="0">
                <a:solidFill>
                  <a:srgbClr val="6B7679"/>
                </a:solidFill>
                <a:latin typeface="Calibri" pitchFamily="34" charset="0"/>
                <a:ea typeface="Calibri" pitchFamily="34" charset="-122"/>
                <a:cs typeface="Calibri" pitchFamily="34" charset="-120"/>
              </a:rPr>
              <a:t>9</a:t>
            </a:r>
            <a:endParaRPr lang="tr-TR" sz="1050" dirty="0"/>
          </a:p>
        </p:txBody>
      </p:sp>
      <p:sp>
        <p:nvSpPr>
          <p:cNvPr id="44" name="Shape 41"/>
          <p:cNvSpPr/>
          <p:nvPr/>
        </p:nvSpPr>
        <p:spPr>
          <a:xfrm>
            <a:off x="10020300" y="2990088"/>
            <a:ext cx="91" cy="64008"/>
          </a:xfrm>
          <a:prstGeom prst="line">
            <a:avLst/>
          </a:prstGeom>
          <a:noFill/>
          <a:ln w="12700">
            <a:solidFill>
              <a:srgbClr val="6B7679"/>
            </a:solidFill>
            <a:prstDash val="solid"/>
          </a:ln>
        </p:spPr>
      </p:sp>
      <p:sp>
        <p:nvSpPr>
          <p:cNvPr id="45" name="Text 42"/>
          <p:cNvSpPr txBox="1"/>
          <p:nvPr/>
        </p:nvSpPr>
        <p:spPr>
          <a:xfrm>
            <a:off x="9791700" y="3044952"/>
            <a:ext cx="457200" cy="219456"/>
          </a:xfrm>
          <a:prstGeom prst="rect">
            <a:avLst/>
          </a:prstGeom>
          <a:noFill/>
          <a:ln/>
        </p:spPr>
        <p:txBody>
          <a:bodyPr wrap="square" lIns="0" tIns="0" rIns="0" bIns="0" rtlCol="0" anchor="t"/>
          <a:lstStyle/>
          <a:p>
            <a:pPr algn="ctr" indent="0" marL="0">
              <a:buNone/>
            </a:pPr>
            <a:r>
              <a:rPr lang="tr-TR" sz="1050" dirty="0">
                <a:solidFill>
                  <a:srgbClr val="6B7679"/>
                </a:solidFill>
                <a:latin typeface="Calibri" pitchFamily="34" charset="0"/>
                <a:ea typeface="Calibri" pitchFamily="34" charset="-122"/>
                <a:cs typeface="Calibri" pitchFamily="34" charset="-120"/>
              </a:rPr>
              <a:t>13</a:t>
            </a:r>
            <a:endParaRPr lang="tr-TR" sz="1050" dirty="0"/>
          </a:p>
        </p:txBody>
      </p:sp>
      <p:sp>
        <p:nvSpPr>
          <p:cNvPr id="46" name="Shape 43"/>
          <p:cNvSpPr/>
          <p:nvPr/>
        </p:nvSpPr>
        <p:spPr>
          <a:xfrm>
            <a:off x="11658600" y="2990088"/>
            <a:ext cx="91" cy="64008"/>
          </a:xfrm>
          <a:prstGeom prst="line">
            <a:avLst/>
          </a:prstGeom>
          <a:noFill/>
          <a:ln w="12700">
            <a:solidFill>
              <a:srgbClr val="6B7679"/>
            </a:solidFill>
            <a:prstDash val="solid"/>
          </a:ln>
        </p:spPr>
      </p:sp>
      <p:sp>
        <p:nvSpPr>
          <p:cNvPr id="47" name="Text 44"/>
          <p:cNvSpPr txBox="1"/>
          <p:nvPr/>
        </p:nvSpPr>
        <p:spPr>
          <a:xfrm>
            <a:off x="11430000" y="3044952"/>
            <a:ext cx="457200" cy="219456"/>
          </a:xfrm>
          <a:prstGeom prst="rect">
            <a:avLst/>
          </a:prstGeom>
          <a:noFill/>
          <a:ln/>
        </p:spPr>
        <p:txBody>
          <a:bodyPr wrap="square" lIns="0" tIns="0" rIns="0" bIns="0" rtlCol="0" anchor="t"/>
          <a:lstStyle/>
          <a:p>
            <a:pPr algn="ctr" indent="0" marL="0">
              <a:buNone/>
            </a:pPr>
            <a:r>
              <a:rPr lang="tr-TR" sz="1050" dirty="0">
                <a:solidFill>
                  <a:srgbClr val="6B7679"/>
                </a:solidFill>
                <a:latin typeface="Calibri" pitchFamily="34" charset="0"/>
                <a:ea typeface="Calibri" pitchFamily="34" charset="-122"/>
                <a:cs typeface="Calibri" pitchFamily="34" charset="-120"/>
              </a:rPr>
              <a:t>18</a:t>
            </a:r>
            <a:endParaRPr lang="tr-TR" sz="1050" dirty="0"/>
          </a:p>
        </p:txBody>
      </p:sp>
      <p:sp>
        <p:nvSpPr>
          <p:cNvPr id="48" name="Text 45"/>
          <p:cNvSpPr txBox="1"/>
          <p:nvPr/>
        </p:nvSpPr>
        <p:spPr>
          <a:xfrm>
            <a:off x="4160520" y="3465576"/>
            <a:ext cx="1508760" cy="457200"/>
          </a:xfrm>
          <a:prstGeom prst="rect">
            <a:avLst/>
          </a:prstGeom>
          <a:noFill/>
          <a:ln/>
        </p:spPr>
        <p:txBody>
          <a:bodyPr wrap="square" lIns="0" tIns="0" rIns="0" bIns="0" rtlCol="0" anchor="ctr"/>
          <a:lstStyle/>
          <a:p>
            <a:pPr indent="0" marL="0">
              <a:buNone/>
            </a:pPr>
            <a:r>
              <a:rPr lang="tr-TR" sz="1300" b="1" dirty="0">
                <a:solidFill>
                  <a:srgbClr val="36454F"/>
                </a:solidFill>
                <a:latin typeface="Calibri" pitchFamily="34" charset="0"/>
                <a:ea typeface="Calibri" pitchFamily="34" charset="-122"/>
                <a:cs typeface="Calibri" pitchFamily="34" charset="-120"/>
              </a:rPr>
              <a:t>SRTF</a:t>
            </a:r>
            <a:endParaRPr lang="tr-TR" sz="1300" dirty="0"/>
          </a:p>
        </p:txBody>
      </p:sp>
      <p:sp>
        <p:nvSpPr>
          <p:cNvPr id="49" name="Shape 46"/>
          <p:cNvSpPr/>
          <p:nvPr/>
        </p:nvSpPr>
        <p:spPr>
          <a:xfrm>
            <a:off x="5769864" y="3465576"/>
            <a:ext cx="637032" cy="457200"/>
          </a:xfrm>
          <a:prstGeom prst="roundRect">
            <a:avLst>
              <a:gd name="adj" fmla="val 10000"/>
            </a:avLst>
          </a:prstGeom>
          <a:solidFill>
            <a:srgbClr val="02C39A"/>
          </a:solidFill>
          <a:ln/>
        </p:spPr>
      </p:sp>
      <p:sp>
        <p:nvSpPr>
          <p:cNvPr id="50" name="Text 47"/>
          <p:cNvSpPr txBox="1"/>
          <p:nvPr/>
        </p:nvSpPr>
        <p:spPr>
          <a:xfrm>
            <a:off x="5769864" y="3465576"/>
            <a:ext cx="637032" cy="457200"/>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P1</a:t>
            </a:r>
            <a:endParaRPr lang="tr-TR" sz="1200" dirty="0"/>
          </a:p>
        </p:txBody>
      </p:sp>
      <p:sp>
        <p:nvSpPr>
          <p:cNvPr id="51" name="Shape 48"/>
          <p:cNvSpPr/>
          <p:nvPr/>
        </p:nvSpPr>
        <p:spPr>
          <a:xfrm>
            <a:off x="6425184" y="3465576"/>
            <a:ext cx="309372" cy="457200"/>
          </a:xfrm>
          <a:prstGeom prst="roundRect">
            <a:avLst>
              <a:gd name="adj" fmla="val 14778"/>
            </a:avLst>
          </a:prstGeom>
          <a:solidFill>
            <a:srgbClr val="50808E"/>
          </a:solidFill>
          <a:ln/>
        </p:spPr>
      </p:sp>
      <p:sp>
        <p:nvSpPr>
          <p:cNvPr id="52" name="Text 49"/>
          <p:cNvSpPr txBox="1"/>
          <p:nvPr/>
        </p:nvSpPr>
        <p:spPr>
          <a:xfrm>
            <a:off x="6425184" y="3465576"/>
            <a:ext cx="309372" cy="457200"/>
          </a:xfrm>
          <a:prstGeom prst="rect">
            <a:avLst/>
          </a:prstGeom>
          <a:noFill/>
          <a:ln/>
        </p:spPr>
        <p:txBody>
          <a:bodyPr wrap="square" lIns="38100" tIns="38100" rIns="38100" bIns="3810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P2</a:t>
            </a:r>
            <a:endParaRPr lang="tr-TR" sz="1200" dirty="0"/>
          </a:p>
        </p:txBody>
      </p:sp>
      <p:sp>
        <p:nvSpPr>
          <p:cNvPr id="53" name="Shape 50"/>
          <p:cNvSpPr/>
          <p:nvPr/>
        </p:nvSpPr>
        <p:spPr>
          <a:xfrm>
            <a:off x="6752844" y="3465576"/>
            <a:ext cx="637032" cy="457200"/>
          </a:xfrm>
          <a:prstGeom prst="roundRect">
            <a:avLst>
              <a:gd name="adj" fmla="val 10000"/>
            </a:avLst>
          </a:prstGeom>
          <a:solidFill>
            <a:srgbClr val="C98A1B"/>
          </a:solidFill>
          <a:ln/>
        </p:spPr>
      </p:sp>
      <p:sp>
        <p:nvSpPr>
          <p:cNvPr id="54" name="Text 51"/>
          <p:cNvSpPr txBox="1"/>
          <p:nvPr/>
        </p:nvSpPr>
        <p:spPr>
          <a:xfrm>
            <a:off x="6752844" y="3465576"/>
            <a:ext cx="637032" cy="457200"/>
          </a:xfrm>
          <a:prstGeom prst="rect">
            <a:avLst/>
          </a:prstGeom>
          <a:noFill/>
          <a:ln/>
        </p:spPr>
        <p:txBody>
          <a:bodyPr wrap="square" lIns="38100" tIns="38100" rIns="38100" bIns="3810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P3</a:t>
            </a:r>
            <a:endParaRPr lang="tr-TR" sz="1200" dirty="0"/>
          </a:p>
        </p:txBody>
      </p:sp>
      <p:sp>
        <p:nvSpPr>
          <p:cNvPr id="55" name="Shape 52"/>
          <p:cNvSpPr/>
          <p:nvPr/>
        </p:nvSpPr>
        <p:spPr>
          <a:xfrm>
            <a:off x="7408164" y="3465576"/>
            <a:ext cx="964692" cy="457200"/>
          </a:xfrm>
          <a:prstGeom prst="roundRect">
            <a:avLst>
              <a:gd name="adj" fmla="val 10000"/>
            </a:avLst>
          </a:prstGeom>
          <a:solidFill>
            <a:srgbClr val="50808E"/>
          </a:solidFill>
          <a:ln/>
        </p:spPr>
      </p:sp>
      <p:sp>
        <p:nvSpPr>
          <p:cNvPr id="56" name="Text 53"/>
          <p:cNvSpPr txBox="1"/>
          <p:nvPr/>
        </p:nvSpPr>
        <p:spPr>
          <a:xfrm>
            <a:off x="7408164" y="3465576"/>
            <a:ext cx="964692" cy="457200"/>
          </a:xfrm>
          <a:prstGeom prst="rect">
            <a:avLst/>
          </a:prstGeom>
          <a:noFill/>
          <a:ln/>
        </p:spPr>
        <p:txBody>
          <a:bodyPr wrap="square" lIns="38100" tIns="38100" rIns="38100" bIns="3810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P2</a:t>
            </a:r>
            <a:endParaRPr lang="tr-TR" sz="1200" dirty="0"/>
          </a:p>
        </p:txBody>
      </p:sp>
      <p:sp>
        <p:nvSpPr>
          <p:cNvPr id="57" name="Shape 54"/>
          <p:cNvSpPr/>
          <p:nvPr/>
        </p:nvSpPr>
        <p:spPr>
          <a:xfrm>
            <a:off x="8391144" y="3465576"/>
            <a:ext cx="1620012" cy="457200"/>
          </a:xfrm>
          <a:prstGeom prst="roundRect">
            <a:avLst>
              <a:gd name="adj" fmla="val 10000"/>
            </a:avLst>
          </a:prstGeom>
          <a:solidFill>
            <a:srgbClr val="02C39A"/>
          </a:solidFill>
          <a:ln/>
        </p:spPr>
      </p:sp>
      <p:sp>
        <p:nvSpPr>
          <p:cNvPr id="58" name="Text 55"/>
          <p:cNvSpPr txBox="1"/>
          <p:nvPr/>
        </p:nvSpPr>
        <p:spPr>
          <a:xfrm>
            <a:off x="8391144" y="3465576"/>
            <a:ext cx="1620012" cy="457200"/>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P1</a:t>
            </a:r>
            <a:endParaRPr lang="tr-TR" sz="1200" dirty="0"/>
          </a:p>
        </p:txBody>
      </p:sp>
      <p:sp>
        <p:nvSpPr>
          <p:cNvPr id="59" name="Shape 56"/>
          <p:cNvSpPr/>
          <p:nvPr/>
        </p:nvSpPr>
        <p:spPr>
          <a:xfrm>
            <a:off x="10029444" y="3465576"/>
            <a:ext cx="1620012" cy="457200"/>
          </a:xfrm>
          <a:prstGeom prst="roundRect">
            <a:avLst>
              <a:gd name="adj" fmla="val 10000"/>
            </a:avLst>
          </a:prstGeom>
          <a:solidFill>
            <a:srgbClr val="36454F"/>
          </a:solidFill>
          <a:ln/>
        </p:spPr>
      </p:sp>
      <p:sp>
        <p:nvSpPr>
          <p:cNvPr id="60" name="Text 57"/>
          <p:cNvSpPr txBox="1"/>
          <p:nvPr/>
        </p:nvSpPr>
        <p:spPr>
          <a:xfrm>
            <a:off x="10029444" y="3465576"/>
            <a:ext cx="1620012" cy="457200"/>
          </a:xfrm>
          <a:prstGeom prst="rect">
            <a:avLst/>
          </a:prstGeom>
          <a:noFill/>
          <a:ln/>
        </p:spPr>
        <p:txBody>
          <a:bodyPr wrap="square" lIns="38100" tIns="38100" rIns="38100" bIns="3810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P4</a:t>
            </a:r>
            <a:endParaRPr lang="tr-TR" sz="1200" dirty="0"/>
          </a:p>
        </p:txBody>
      </p:sp>
      <p:sp>
        <p:nvSpPr>
          <p:cNvPr id="61" name="Shape 58"/>
          <p:cNvSpPr/>
          <p:nvPr/>
        </p:nvSpPr>
        <p:spPr>
          <a:xfrm>
            <a:off x="5760720" y="3922776"/>
            <a:ext cx="91" cy="64008"/>
          </a:xfrm>
          <a:prstGeom prst="line">
            <a:avLst/>
          </a:prstGeom>
          <a:noFill/>
          <a:ln w="12700">
            <a:solidFill>
              <a:srgbClr val="6B7679"/>
            </a:solidFill>
            <a:prstDash val="solid"/>
          </a:ln>
        </p:spPr>
      </p:sp>
      <p:sp>
        <p:nvSpPr>
          <p:cNvPr id="62" name="Text 59"/>
          <p:cNvSpPr txBox="1"/>
          <p:nvPr/>
        </p:nvSpPr>
        <p:spPr>
          <a:xfrm>
            <a:off x="5532120" y="3977640"/>
            <a:ext cx="457200" cy="219456"/>
          </a:xfrm>
          <a:prstGeom prst="rect">
            <a:avLst/>
          </a:prstGeom>
          <a:noFill/>
          <a:ln/>
        </p:spPr>
        <p:txBody>
          <a:bodyPr wrap="square" lIns="0" tIns="0" rIns="0" bIns="0" rtlCol="0" anchor="t"/>
          <a:lstStyle/>
          <a:p>
            <a:pPr algn="ctr" indent="0" marL="0">
              <a:buNone/>
            </a:pPr>
            <a:r>
              <a:rPr lang="tr-TR" sz="1050" dirty="0">
                <a:solidFill>
                  <a:srgbClr val="6B7679"/>
                </a:solidFill>
                <a:latin typeface="Calibri" pitchFamily="34" charset="0"/>
                <a:ea typeface="Calibri" pitchFamily="34" charset="-122"/>
                <a:cs typeface="Calibri" pitchFamily="34" charset="-120"/>
              </a:rPr>
              <a:t>0</a:t>
            </a:r>
            <a:endParaRPr lang="tr-TR" sz="1050" dirty="0"/>
          </a:p>
        </p:txBody>
      </p:sp>
      <p:sp>
        <p:nvSpPr>
          <p:cNvPr id="63" name="Shape 60"/>
          <p:cNvSpPr/>
          <p:nvPr/>
        </p:nvSpPr>
        <p:spPr>
          <a:xfrm>
            <a:off x="6416040" y="3922776"/>
            <a:ext cx="91" cy="64008"/>
          </a:xfrm>
          <a:prstGeom prst="line">
            <a:avLst/>
          </a:prstGeom>
          <a:noFill/>
          <a:ln w="12700">
            <a:solidFill>
              <a:srgbClr val="6B7679"/>
            </a:solidFill>
            <a:prstDash val="solid"/>
          </a:ln>
        </p:spPr>
      </p:sp>
      <p:sp>
        <p:nvSpPr>
          <p:cNvPr id="64" name="Text 61"/>
          <p:cNvSpPr txBox="1"/>
          <p:nvPr/>
        </p:nvSpPr>
        <p:spPr>
          <a:xfrm>
            <a:off x="6187440" y="3977640"/>
            <a:ext cx="457200" cy="219456"/>
          </a:xfrm>
          <a:prstGeom prst="rect">
            <a:avLst/>
          </a:prstGeom>
          <a:noFill/>
          <a:ln/>
        </p:spPr>
        <p:txBody>
          <a:bodyPr wrap="square" lIns="0" tIns="0" rIns="0" bIns="0" rtlCol="0" anchor="t"/>
          <a:lstStyle/>
          <a:p>
            <a:pPr algn="ctr" indent="0" marL="0">
              <a:buNone/>
            </a:pPr>
            <a:r>
              <a:rPr lang="tr-TR" sz="1050" dirty="0">
                <a:solidFill>
                  <a:srgbClr val="6B7679"/>
                </a:solidFill>
                <a:latin typeface="Calibri" pitchFamily="34" charset="0"/>
                <a:ea typeface="Calibri" pitchFamily="34" charset="-122"/>
                <a:cs typeface="Calibri" pitchFamily="34" charset="-120"/>
              </a:rPr>
              <a:t>2</a:t>
            </a:r>
            <a:endParaRPr lang="tr-TR" sz="1050" dirty="0"/>
          </a:p>
        </p:txBody>
      </p:sp>
      <p:sp>
        <p:nvSpPr>
          <p:cNvPr id="65" name="Shape 62"/>
          <p:cNvSpPr/>
          <p:nvPr/>
        </p:nvSpPr>
        <p:spPr>
          <a:xfrm>
            <a:off x="6743700" y="3922776"/>
            <a:ext cx="91" cy="64008"/>
          </a:xfrm>
          <a:prstGeom prst="line">
            <a:avLst/>
          </a:prstGeom>
          <a:noFill/>
          <a:ln w="12700">
            <a:solidFill>
              <a:srgbClr val="6B7679"/>
            </a:solidFill>
            <a:prstDash val="solid"/>
          </a:ln>
        </p:spPr>
      </p:sp>
      <p:sp>
        <p:nvSpPr>
          <p:cNvPr id="66" name="Text 63"/>
          <p:cNvSpPr txBox="1"/>
          <p:nvPr/>
        </p:nvSpPr>
        <p:spPr>
          <a:xfrm>
            <a:off x="6515100" y="3977640"/>
            <a:ext cx="457200" cy="219456"/>
          </a:xfrm>
          <a:prstGeom prst="rect">
            <a:avLst/>
          </a:prstGeom>
          <a:noFill/>
          <a:ln/>
        </p:spPr>
        <p:txBody>
          <a:bodyPr wrap="square" lIns="0" tIns="0" rIns="0" bIns="0" rtlCol="0" anchor="t"/>
          <a:lstStyle/>
          <a:p>
            <a:pPr algn="ctr" indent="0" marL="0">
              <a:buNone/>
            </a:pPr>
            <a:r>
              <a:rPr lang="tr-TR" sz="1050" dirty="0">
                <a:solidFill>
                  <a:srgbClr val="6B7679"/>
                </a:solidFill>
                <a:latin typeface="Calibri" pitchFamily="34" charset="0"/>
                <a:ea typeface="Calibri" pitchFamily="34" charset="-122"/>
                <a:cs typeface="Calibri" pitchFamily="34" charset="-120"/>
              </a:rPr>
              <a:t>3</a:t>
            </a:r>
            <a:endParaRPr lang="tr-TR" sz="1050" dirty="0"/>
          </a:p>
        </p:txBody>
      </p:sp>
      <p:sp>
        <p:nvSpPr>
          <p:cNvPr id="67" name="Shape 64"/>
          <p:cNvSpPr/>
          <p:nvPr/>
        </p:nvSpPr>
        <p:spPr>
          <a:xfrm>
            <a:off x="7399020" y="3922776"/>
            <a:ext cx="91" cy="64008"/>
          </a:xfrm>
          <a:prstGeom prst="line">
            <a:avLst/>
          </a:prstGeom>
          <a:noFill/>
          <a:ln w="12700">
            <a:solidFill>
              <a:srgbClr val="6B7679"/>
            </a:solidFill>
            <a:prstDash val="solid"/>
          </a:ln>
        </p:spPr>
      </p:sp>
      <p:sp>
        <p:nvSpPr>
          <p:cNvPr id="68" name="Text 65"/>
          <p:cNvSpPr txBox="1"/>
          <p:nvPr/>
        </p:nvSpPr>
        <p:spPr>
          <a:xfrm>
            <a:off x="7170420" y="3977640"/>
            <a:ext cx="457200" cy="219456"/>
          </a:xfrm>
          <a:prstGeom prst="rect">
            <a:avLst/>
          </a:prstGeom>
          <a:noFill/>
          <a:ln/>
        </p:spPr>
        <p:txBody>
          <a:bodyPr wrap="square" lIns="0" tIns="0" rIns="0" bIns="0" rtlCol="0" anchor="t"/>
          <a:lstStyle/>
          <a:p>
            <a:pPr algn="ctr" indent="0" marL="0">
              <a:buNone/>
            </a:pPr>
            <a:r>
              <a:rPr lang="tr-TR" sz="1050" dirty="0">
                <a:solidFill>
                  <a:srgbClr val="6B7679"/>
                </a:solidFill>
                <a:latin typeface="Calibri" pitchFamily="34" charset="0"/>
                <a:ea typeface="Calibri" pitchFamily="34" charset="-122"/>
                <a:cs typeface="Calibri" pitchFamily="34" charset="-120"/>
              </a:rPr>
              <a:t>5</a:t>
            </a:r>
            <a:endParaRPr lang="tr-TR" sz="1050" dirty="0"/>
          </a:p>
        </p:txBody>
      </p:sp>
      <p:sp>
        <p:nvSpPr>
          <p:cNvPr id="69" name="Shape 66"/>
          <p:cNvSpPr/>
          <p:nvPr/>
        </p:nvSpPr>
        <p:spPr>
          <a:xfrm>
            <a:off x="8382000" y="3922776"/>
            <a:ext cx="91" cy="64008"/>
          </a:xfrm>
          <a:prstGeom prst="line">
            <a:avLst/>
          </a:prstGeom>
          <a:noFill/>
          <a:ln w="12700">
            <a:solidFill>
              <a:srgbClr val="6B7679"/>
            </a:solidFill>
            <a:prstDash val="solid"/>
          </a:ln>
        </p:spPr>
      </p:sp>
      <p:sp>
        <p:nvSpPr>
          <p:cNvPr id="70" name="Text 67"/>
          <p:cNvSpPr txBox="1"/>
          <p:nvPr/>
        </p:nvSpPr>
        <p:spPr>
          <a:xfrm>
            <a:off x="8153400" y="3977640"/>
            <a:ext cx="457200" cy="219456"/>
          </a:xfrm>
          <a:prstGeom prst="rect">
            <a:avLst/>
          </a:prstGeom>
          <a:noFill/>
          <a:ln/>
        </p:spPr>
        <p:txBody>
          <a:bodyPr wrap="square" lIns="0" tIns="0" rIns="0" bIns="0" rtlCol="0" anchor="t"/>
          <a:lstStyle/>
          <a:p>
            <a:pPr algn="ctr" indent="0" marL="0">
              <a:buNone/>
            </a:pPr>
            <a:r>
              <a:rPr lang="tr-TR" sz="1050" dirty="0">
                <a:solidFill>
                  <a:srgbClr val="6B7679"/>
                </a:solidFill>
                <a:latin typeface="Calibri" pitchFamily="34" charset="0"/>
                <a:ea typeface="Calibri" pitchFamily="34" charset="-122"/>
                <a:cs typeface="Calibri" pitchFamily="34" charset="-120"/>
              </a:rPr>
              <a:t>8</a:t>
            </a:r>
            <a:endParaRPr lang="tr-TR" sz="1050" dirty="0"/>
          </a:p>
        </p:txBody>
      </p:sp>
      <p:sp>
        <p:nvSpPr>
          <p:cNvPr id="71" name="Shape 68"/>
          <p:cNvSpPr/>
          <p:nvPr/>
        </p:nvSpPr>
        <p:spPr>
          <a:xfrm>
            <a:off x="10020300" y="3922776"/>
            <a:ext cx="91" cy="64008"/>
          </a:xfrm>
          <a:prstGeom prst="line">
            <a:avLst/>
          </a:prstGeom>
          <a:noFill/>
          <a:ln w="12700">
            <a:solidFill>
              <a:srgbClr val="6B7679"/>
            </a:solidFill>
            <a:prstDash val="solid"/>
          </a:ln>
        </p:spPr>
      </p:sp>
      <p:sp>
        <p:nvSpPr>
          <p:cNvPr id="72" name="Text 69"/>
          <p:cNvSpPr txBox="1"/>
          <p:nvPr/>
        </p:nvSpPr>
        <p:spPr>
          <a:xfrm>
            <a:off x="9791700" y="3977640"/>
            <a:ext cx="457200" cy="219456"/>
          </a:xfrm>
          <a:prstGeom prst="rect">
            <a:avLst/>
          </a:prstGeom>
          <a:noFill/>
          <a:ln/>
        </p:spPr>
        <p:txBody>
          <a:bodyPr wrap="square" lIns="0" tIns="0" rIns="0" bIns="0" rtlCol="0" anchor="t"/>
          <a:lstStyle/>
          <a:p>
            <a:pPr algn="ctr" indent="0" marL="0">
              <a:buNone/>
            </a:pPr>
            <a:r>
              <a:rPr lang="tr-TR" sz="1050" dirty="0">
                <a:solidFill>
                  <a:srgbClr val="6B7679"/>
                </a:solidFill>
                <a:latin typeface="Calibri" pitchFamily="34" charset="0"/>
                <a:ea typeface="Calibri" pitchFamily="34" charset="-122"/>
                <a:cs typeface="Calibri" pitchFamily="34" charset="-120"/>
              </a:rPr>
              <a:t>13</a:t>
            </a:r>
            <a:endParaRPr lang="tr-TR" sz="1050" dirty="0"/>
          </a:p>
        </p:txBody>
      </p:sp>
      <p:sp>
        <p:nvSpPr>
          <p:cNvPr id="73" name="Shape 70"/>
          <p:cNvSpPr/>
          <p:nvPr/>
        </p:nvSpPr>
        <p:spPr>
          <a:xfrm>
            <a:off x="11658600" y="3922776"/>
            <a:ext cx="91" cy="64008"/>
          </a:xfrm>
          <a:prstGeom prst="line">
            <a:avLst/>
          </a:prstGeom>
          <a:noFill/>
          <a:ln w="12700">
            <a:solidFill>
              <a:srgbClr val="6B7679"/>
            </a:solidFill>
            <a:prstDash val="solid"/>
          </a:ln>
        </p:spPr>
      </p:sp>
      <p:sp>
        <p:nvSpPr>
          <p:cNvPr id="74" name="Text 71"/>
          <p:cNvSpPr txBox="1"/>
          <p:nvPr/>
        </p:nvSpPr>
        <p:spPr>
          <a:xfrm>
            <a:off x="11430000" y="3977640"/>
            <a:ext cx="457200" cy="219456"/>
          </a:xfrm>
          <a:prstGeom prst="rect">
            <a:avLst/>
          </a:prstGeom>
          <a:noFill/>
          <a:ln/>
        </p:spPr>
        <p:txBody>
          <a:bodyPr wrap="square" lIns="0" tIns="0" rIns="0" bIns="0" rtlCol="0" anchor="t"/>
          <a:lstStyle/>
          <a:p>
            <a:pPr algn="ctr" indent="0" marL="0">
              <a:buNone/>
            </a:pPr>
            <a:r>
              <a:rPr lang="tr-TR" sz="1050" dirty="0">
                <a:solidFill>
                  <a:srgbClr val="6B7679"/>
                </a:solidFill>
                <a:latin typeface="Calibri" pitchFamily="34" charset="0"/>
                <a:ea typeface="Calibri" pitchFamily="34" charset="-122"/>
                <a:cs typeface="Calibri" pitchFamily="34" charset="-120"/>
              </a:rPr>
              <a:t>18</a:t>
            </a:r>
            <a:endParaRPr lang="tr-TR" sz="1050" dirty="0"/>
          </a:p>
        </p:txBody>
      </p:sp>
      <p:sp>
        <p:nvSpPr>
          <p:cNvPr id="75" name="Text 72"/>
          <p:cNvSpPr txBox="1"/>
          <p:nvPr/>
        </p:nvSpPr>
        <p:spPr>
          <a:xfrm>
            <a:off x="4160520" y="4398264"/>
            <a:ext cx="1508760" cy="457200"/>
          </a:xfrm>
          <a:prstGeom prst="rect">
            <a:avLst/>
          </a:prstGeom>
          <a:noFill/>
          <a:ln/>
        </p:spPr>
        <p:txBody>
          <a:bodyPr wrap="square" lIns="0" tIns="0" rIns="0" bIns="0" rtlCol="0" anchor="ctr"/>
          <a:lstStyle/>
          <a:p>
            <a:pPr indent="0" marL="0">
              <a:buNone/>
            </a:pPr>
            <a:r>
              <a:rPr lang="tr-TR" sz="1300" b="1" dirty="0">
                <a:solidFill>
                  <a:srgbClr val="36454F"/>
                </a:solidFill>
                <a:latin typeface="Calibri" pitchFamily="34" charset="0"/>
                <a:ea typeface="Calibri" pitchFamily="34" charset="-122"/>
                <a:cs typeface="Calibri" pitchFamily="34" charset="-120"/>
              </a:rPr>
              <a:t>Öncelik (kes.)</a:t>
            </a:r>
            <a:endParaRPr lang="tr-TR" sz="1300" dirty="0"/>
          </a:p>
        </p:txBody>
      </p:sp>
      <p:sp>
        <p:nvSpPr>
          <p:cNvPr id="76" name="Shape 73"/>
          <p:cNvSpPr/>
          <p:nvPr/>
        </p:nvSpPr>
        <p:spPr>
          <a:xfrm>
            <a:off x="5769864" y="4398264"/>
            <a:ext cx="637032" cy="457200"/>
          </a:xfrm>
          <a:prstGeom prst="roundRect">
            <a:avLst>
              <a:gd name="adj" fmla="val 10000"/>
            </a:avLst>
          </a:prstGeom>
          <a:solidFill>
            <a:srgbClr val="02C39A"/>
          </a:solidFill>
          <a:ln/>
        </p:spPr>
      </p:sp>
      <p:sp>
        <p:nvSpPr>
          <p:cNvPr id="77" name="Text 74"/>
          <p:cNvSpPr txBox="1"/>
          <p:nvPr/>
        </p:nvSpPr>
        <p:spPr>
          <a:xfrm>
            <a:off x="5769864" y="4398264"/>
            <a:ext cx="637032" cy="457200"/>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P1</a:t>
            </a:r>
            <a:endParaRPr lang="tr-TR" sz="1200" dirty="0"/>
          </a:p>
        </p:txBody>
      </p:sp>
      <p:sp>
        <p:nvSpPr>
          <p:cNvPr id="78" name="Shape 75"/>
          <p:cNvSpPr/>
          <p:nvPr/>
        </p:nvSpPr>
        <p:spPr>
          <a:xfrm>
            <a:off x="6425184" y="4398264"/>
            <a:ext cx="1292352" cy="457200"/>
          </a:xfrm>
          <a:prstGeom prst="roundRect">
            <a:avLst>
              <a:gd name="adj" fmla="val 10000"/>
            </a:avLst>
          </a:prstGeom>
          <a:solidFill>
            <a:srgbClr val="50808E"/>
          </a:solidFill>
          <a:ln/>
        </p:spPr>
      </p:sp>
      <p:sp>
        <p:nvSpPr>
          <p:cNvPr id="79" name="Text 76"/>
          <p:cNvSpPr txBox="1"/>
          <p:nvPr/>
        </p:nvSpPr>
        <p:spPr>
          <a:xfrm>
            <a:off x="6425184" y="4398264"/>
            <a:ext cx="1292352" cy="457200"/>
          </a:xfrm>
          <a:prstGeom prst="rect">
            <a:avLst/>
          </a:prstGeom>
          <a:noFill/>
          <a:ln/>
        </p:spPr>
        <p:txBody>
          <a:bodyPr wrap="square" lIns="38100" tIns="38100" rIns="38100" bIns="3810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P2</a:t>
            </a:r>
            <a:endParaRPr lang="tr-TR" sz="1200" dirty="0"/>
          </a:p>
        </p:txBody>
      </p:sp>
      <p:sp>
        <p:nvSpPr>
          <p:cNvPr id="80" name="Shape 77"/>
          <p:cNvSpPr/>
          <p:nvPr/>
        </p:nvSpPr>
        <p:spPr>
          <a:xfrm>
            <a:off x="7735824" y="4398264"/>
            <a:ext cx="1620012" cy="457200"/>
          </a:xfrm>
          <a:prstGeom prst="roundRect">
            <a:avLst>
              <a:gd name="adj" fmla="val 10000"/>
            </a:avLst>
          </a:prstGeom>
          <a:solidFill>
            <a:srgbClr val="02C39A"/>
          </a:solidFill>
          <a:ln/>
        </p:spPr>
      </p:sp>
      <p:sp>
        <p:nvSpPr>
          <p:cNvPr id="81" name="Text 78"/>
          <p:cNvSpPr txBox="1"/>
          <p:nvPr/>
        </p:nvSpPr>
        <p:spPr>
          <a:xfrm>
            <a:off x="7735824" y="4398264"/>
            <a:ext cx="1620012" cy="457200"/>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P1</a:t>
            </a:r>
            <a:endParaRPr lang="tr-TR" sz="1200" dirty="0"/>
          </a:p>
        </p:txBody>
      </p:sp>
      <p:sp>
        <p:nvSpPr>
          <p:cNvPr id="82" name="Shape 79"/>
          <p:cNvSpPr/>
          <p:nvPr/>
        </p:nvSpPr>
        <p:spPr>
          <a:xfrm>
            <a:off x="9374124" y="4398264"/>
            <a:ext cx="1620012" cy="457200"/>
          </a:xfrm>
          <a:prstGeom prst="roundRect">
            <a:avLst>
              <a:gd name="adj" fmla="val 10000"/>
            </a:avLst>
          </a:prstGeom>
          <a:solidFill>
            <a:srgbClr val="36454F"/>
          </a:solidFill>
          <a:ln/>
        </p:spPr>
      </p:sp>
      <p:sp>
        <p:nvSpPr>
          <p:cNvPr id="83" name="Text 80"/>
          <p:cNvSpPr txBox="1"/>
          <p:nvPr/>
        </p:nvSpPr>
        <p:spPr>
          <a:xfrm>
            <a:off x="9374124" y="4398264"/>
            <a:ext cx="1620012" cy="457200"/>
          </a:xfrm>
          <a:prstGeom prst="rect">
            <a:avLst/>
          </a:prstGeom>
          <a:noFill/>
          <a:ln/>
        </p:spPr>
        <p:txBody>
          <a:bodyPr wrap="square" lIns="38100" tIns="38100" rIns="38100" bIns="3810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P4</a:t>
            </a:r>
            <a:endParaRPr lang="tr-TR" sz="1200" dirty="0"/>
          </a:p>
        </p:txBody>
      </p:sp>
      <p:sp>
        <p:nvSpPr>
          <p:cNvPr id="84" name="Shape 81"/>
          <p:cNvSpPr/>
          <p:nvPr/>
        </p:nvSpPr>
        <p:spPr>
          <a:xfrm>
            <a:off x="11012424" y="4398264"/>
            <a:ext cx="637032" cy="457200"/>
          </a:xfrm>
          <a:prstGeom prst="roundRect">
            <a:avLst>
              <a:gd name="adj" fmla="val 10000"/>
            </a:avLst>
          </a:prstGeom>
          <a:solidFill>
            <a:srgbClr val="C98A1B"/>
          </a:solidFill>
          <a:ln/>
        </p:spPr>
      </p:sp>
      <p:sp>
        <p:nvSpPr>
          <p:cNvPr id="85" name="Text 82"/>
          <p:cNvSpPr txBox="1"/>
          <p:nvPr/>
        </p:nvSpPr>
        <p:spPr>
          <a:xfrm>
            <a:off x="11012424" y="4398264"/>
            <a:ext cx="637032" cy="457200"/>
          </a:xfrm>
          <a:prstGeom prst="rect">
            <a:avLst/>
          </a:prstGeom>
          <a:noFill/>
          <a:ln/>
        </p:spPr>
        <p:txBody>
          <a:bodyPr wrap="square" lIns="38100" tIns="38100" rIns="38100" bIns="3810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P3</a:t>
            </a:r>
            <a:endParaRPr lang="tr-TR" sz="1200" dirty="0"/>
          </a:p>
        </p:txBody>
      </p:sp>
      <p:sp>
        <p:nvSpPr>
          <p:cNvPr id="86" name="Shape 83"/>
          <p:cNvSpPr/>
          <p:nvPr/>
        </p:nvSpPr>
        <p:spPr>
          <a:xfrm>
            <a:off x="5760720" y="4855464"/>
            <a:ext cx="91" cy="64008"/>
          </a:xfrm>
          <a:prstGeom prst="line">
            <a:avLst/>
          </a:prstGeom>
          <a:noFill/>
          <a:ln w="12700">
            <a:solidFill>
              <a:srgbClr val="6B7679"/>
            </a:solidFill>
            <a:prstDash val="solid"/>
          </a:ln>
        </p:spPr>
      </p:sp>
      <p:sp>
        <p:nvSpPr>
          <p:cNvPr id="87" name="Text 84"/>
          <p:cNvSpPr txBox="1"/>
          <p:nvPr/>
        </p:nvSpPr>
        <p:spPr>
          <a:xfrm>
            <a:off x="5532120" y="4910328"/>
            <a:ext cx="457200" cy="219456"/>
          </a:xfrm>
          <a:prstGeom prst="rect">
            <a:avLst/>
          </a:prstGeom>
          <a:noFill/>
          <a:ln/>
        </p:spPr>
        <p:txBody>
          <a:bodyPr wrap="square" lIns="0" tIns="0" rIns="0" bIns="0" rtlCol="0" anchor="t"/>
          <a:lstStyle/>
          <a:p>
            <a:pPr algn="ctr" indent="0" marL="0">
              <a:buNone/>
            </a:pPr>
            <a:r>
              <a:rPr lang="tr-TR" sz="1050" dirty="0">
                <a:solidFill>
                  <a:srgbClr val="6B7679"/>
                </a:solidFill>
                <a:latin typeface="Calibri" pitchFamily="34" charset="0"/>
                <a:ea typeface="Calibri" pitchFamily="34" charset="-122"/>
                <a:cs typeface="Calibri" pitchFamily="34" charset="-120"/>
              </a:rPr>
              <a:t>0</a:t>
            </a:r>
            <a:endParaRPr lang="tr-TR" sz="1050" dirty="0"/>
          </a:p>
        </p:txBody>
      </p:sp>
      <p:sp>
        <p:nvSpPr>
          <p:cNvPr id="88" name="Shape 85"/>
          <p:cNvSpPr/>
          <p:nvPr/>
        </p:nvSpPr>
        <p:spPr>
          <a:xfrm>
            <a:off x="6416040" y="4855464"/>
            <a:ext cx="91" cy="64008"/>
          </a:xfrm>
          <a:prstGeom prst="line">
            <a:avLst/>
          </a:prstGeom>
          <a:noFill/>
          <a:ln w="12700">
            <a:solidFill>
              <a:srgbClr val="6B7679"/>
            </a:solidFill>
            <a:prstDash val="solid"/>
          </a:ln>
        </p:spPr>
      </p:sp>
      <p:sp>
        <p:nvSpPr>
          <p:cNvPr id="89" name="Text 86"/>
          <p:cNvSpPr txBox="1"/>
          <p:nvPr/>
        </p:nvSpPr>
        <p:spPr>
          <a:xfrm>
            <a:off x="6187440" y="4910328"/>
            <a:ext cx="457200" cy="219456"/>
          </a:xfrm>
          <a:prstGeom prst="rect">
            <a:avLst/>
          </a:prstGeom>
          <a:noFill/>
          <a:ln/>
        </p:spPr>
        <p:txBody>
          <a:bodyPr wrap="square" lIns="0" tIns="0" rIns="0" bIns="0" rtlCol="0" anchor="t"/>
          <a:lstStyle/>
          <a:p>
            <a:pPr algn="ctr" indent="0" marL="0">
              <a:buNone/>
            </a:pPr>
            <a:r>
              <a:rPr lang="tr-TR" sz="1050" dirty="0">
                <a:solidFill>
                  <a:srgbClr val="6B7679"/>
                </a:solidFill>
                <a:latin typeface="Calibri" pitchFamily="34" charset="0"/>
                <a:ea typeface="Calibri" pitchFamily="34" charset="-122"/>
                <a:cs typeface="Calibri" pitchFamily="34" charset="-120"/>
              </a:rPr>
              <a:t>2</a:t>
            </a:r>
            <a:endParaRPr lang="tr-TR" sz="1050" dirty="0"/>
          </a:p>
        </p:txBody>
      </p:sp>
      <p:sp>
        <p:nvSpPr>
          <p:cNvPr id="90" name="Shape 87"/>
          <p:cNvSpPr/>
          <p:nvPr/>
        </p:nvSpPr>
        <p:spPr>
          <a:xfrm>
            <a:off x="7726680" y="4855464"/>
            <a:ext cx="91" cy="64008"/>
          </a:xfrm>
          <a:prstGeom prst="line">
            <a:avLst/>
          </a:prstGeom>
          <a:noFill/>
          <a:ln w="12700">
            <a:solidFill>
              <a:srgbClr val="6B7679"/>
            </a:solidFill>
            <a:prstDash val="solid"/>
          </a:ln>
        </p:spPr>
      </p:sp>
      <p:sp>
        <p:nvSpPr>
          <p:cNvPr id="91" name="Text 88"/>
          <p:cNvSpPr txBox="1"/>
          <p:nvPr/>
        </p:nvSpPr>
        <p:spPr>
          <a:xfrm>
            <a:off x="7498080" y="4910328"/>
            <a:ext cx="457200" cy="219456"/>
          </a:xfrm>
          <a:prstGeom prst="rect">
            <a:avLst/>
          </a:prstGeom>
          <a:noFill/>
          <a:ln/>
        </p:spPr>
        <p:txBody>
          <a:bodyPr wrap="square" lIns="0" tIns="0" rIns="0" bIns="0" rtlCol="0" anchor="t"/>
          <a:lstStyle/>
          <a:p>
            <a:pPr algn="ctr" indent="0" marL="0">
              <a:buNone/>
            </a:pPr>
            <a:r>
              <a:rPr lang="tr-TR" sz="1050" dirty="0">
                <a:solidFill>
                  <a:srgbClr val="6B7679"/>
                </a:solidFill>
                <a:latin typeface="Calibri" pitchFamily="34" charset="0"/>
                <a:ea typeface="Calibri" pitchFamily="34" charset="-122"/>
                <a:cs typeface="Calibri" pitchFamily="34" charset="-120"/>
              </a:rPr>
              <a:t>6</a:t>
            </a:r>
            <a:endParaRPr lang="tr-TR" sz="1050" dirty="0"/>
          </a:p>
        </p:txBody>
      </p:sp>
      <p:sp>
        <p:nvSpPr>
          <p:cNvPr id="92" name="Shape 89"/>
          <p:cNvSpPr/>
          <p:nvPr/>
        </p:nvSpPr>
        <p:spPr>
          <a:xfrm>
            <a:off x="9364980" y="4855464"/>
            <a:ext cx="91" cy="64008"/>
          </a:xfrm>
          <a:prstGeom prst="line">
            <a:avLst/>
          </a:prstGeom>
          <a:noFill/>
          <a:ln w="12700">
            <a:solidFill>
              <a:srgbClr val="6B7679"/>
            </a:solidFill>
            <a:prstDash val="solid"/>
          </a:ln>
        </p:spPr>
      </p:sp>
      <p:sp>
        <p:nvSpPr>
          <p:cNvPr id="93" name="Text 90"/>
          <p:cNvSpPr txBox="1"/>
          <p:nvPr/>
        </p:nvSpPr>
        <p:spPr>
          <a:xfrm>
            <a:off x="9136380" y="4910328"/>
            <a:ext cx="457200" cy="219456"/>
          </a:xfrm>
          <a:prstGeom prst="rect">
            <a:avLst/>
          </a:prstGeom>
          <a:noFill/>
          <a:ln/>
        </p:spPr>
        <p:txBody>
          <a:bodyPr wrap="square" lIns="0" tIns="0" rIns="0" bIns="0" rtlCol="0" anchor="t"/>
          <a:lstStyle/>
          <a:p>
            <a:pPr algn="ctr" indent="0" marL="0">
              <a:buNone/>
            </a:pPr>
            <a:r>
              <a:rPr lang="tr-TR" sz="1050" dirty="0">
                <a:solidFill>
                  <a:srgbClr val="6B7679"/>
                </a:solidFill>
                <a:latin typeface="Calibri" pitchFamily="34" charset="0"/>
                <a:ea typeface="Calibri" pitchFamily="34" charset="-122"/>
                <a:cs typeface="Calibri" pitchFamily="34" charset="-120"/>
              </a:rPr>
              <a:t>11</a:t>
            </a:r>
            <a:endParaRPr lang="tr-TR" sz="1050" dirty="0"/>
          </a:p>
        </p:txBody>
      </p:sp>
      <p:sp>
        <p:nvSpPr>
          <p:cNvPr id="94" name="Shape 91"/>
          <p:cNvSpPr/>
          <p:nvPr/>
        </p:nvSpPr>
        <p:spPr>
          <a:xfrm>
            <a:off x="11003280" y="4855464"/>
            <a:ext cx="91" cy="64008"/>
          </a:xfrm>
          <a:prstGeom prst="line">
            <a:avLst/>
          </a:prstGeom>
          <a:noFill/>
          <a:ln w="12700">
            <a:solidFill>
              <a:srgbClr val="6B7679"/>
            </a:solidFill>
            <a:prstDash val="solid"/>
          </a:ln>
        </p:spPr>
      </p:sp>
      <p:sp>
        <p:nvSpPr>
          <p:cNvPr id="95" name="Text 92"/>
          <p:cNvSpPr txBox="1"/>
          <p:nvPr/>
        </p:nvSpPr>
        <p:spPr>
          <a:xfrm>
            <a:off x="10774680" y="4910328"/>
            <a:ext cx="457200" cy="219456"/>
          </a:xfrm>
          <a:prstGeom prst="rect">
            <a:avLst/>
          </a:prstGeom>
          <a:noFill/>
          <a:ln/>
        </p:spPr>
        <p:txBody>
          <a:bodyPr wrap="square" lIns="0" tIns="0" rIns="0" bIns="0" rtlCol="0" anchor="t"/>
          <a:lstStyle/>
          <a:p>
            <a:pPr algn="ctr" indent="0" marL="0">
              <a:buNone/>
            </a:pPr>
            <a:r>
              <a:rPr lang="tr-TR" sz="1050" dirty="0">
                <a:solidFill>
                  <a:srgbClr val="6B7679"/>
                </a:solidFill>
                <a:latin typeface="Calibri" pitchFamily="34" charset="0"/>
                <a:ea typeface="Calibri" pitchFamily="34" charset="-122"/>
                <a:cs typeface="Calibri" pitchFamily="34" charset="-120"/>
              </a:rPr>
              <a:t>16</a:t>
            </a:r>
            <a:endParaRPr lang="tr-TR" sz="1050" dirty="0"/>
          </a:p>
        </p:txBody>
      </p:sp>
      <p:sp>
        <p:nvSpPr>
          <p:cNvPr id="96" name="Shape 93"/>
          <p:cNvSpPr/>
          <p:nvPr/>
        </p:nvSpPr>
        <p:spPr>
          <a:xfrm>
            <a:off x="11658600" y="4855464"/>
            <a:ext cx="91" cy="64008"/>
          </a:xfrm>
          <a:prstGeom prst="line">
            <a:avLst/>
          </a:prstGeom>
          <a:noFill/>
          <a:ln w="12700">
            <a:solidFill>
              <a:srgbClr val="6B7679"/>
            </a:solidFill>
            <a:prstDash val="solid"/>
          </a:ln>
        </p:spPr>
      </p:sp>
      <p:sp>
        <p:nvSpPr>
          <p:cNvPr id="97" name="Text 94"/>
          <p:cNvSpPr txBox="1"/>
          <p:nvPr/>
        </p:nvSpPr>
        <p:spPr>
          <a:xfrm>
            <a:off x="11430000" y="4910328"/>
            <a:ext cx="457200" cy="219456"/>
          </a:xfrm>
          <a:prstGeom prst="rect">
            <a:avLst/>
          </a:prstGeom>
          <a:noFill/>
          <a:ln/>
        </p:spPr>
        <p:txBody>
          <a:bodyPr wrap="square" lIns="0" tIns="0" rIns="0" bIns="0" rtlCol="0" anchor="t"/>
          <a:lstStyle/>
          <a:p>
            <a:pPr algn="ctr" indent="0" marL="0">
              <a:buNone/>
            </a:pPr>
            <a:r>
              <a:rPr lang="tr-TR" sz="1050" dirty="0">
                <a:solidFill>
                  <a:srgbClr val="6B7679"/>
                </a:solidFill>
                <a:latin typeface="Calibri" pitchFamily="34" charset="0"/>
                <a:ea typeface="Calibri" pitchFamily="34" charset="-122"/>
                <a:cs typeface="Calibri" pitchFamily="34" charset="-120"/>
              </a:rPr>
              <a:t>18</a:t>
            </a:r>
            <a:endParaRPr lang="tr-TR" sz="1050" dirty="0"/>
          </a:p>
        </p:txBody>
      </p:sp>
      <p:sp>
        <p:nvSpPr>
          <p:cNvPr id="98" name="Text 95"/>
          <p:cNvSpPr txBox="1"/>
          <p:nvPr/>
        </p:nvSpPr>
        <p:spPr>
          <a:xfrm>
            <a:off x="4160520" y="5330952"/>
            <a:ext cx="1508760" cy="457200"/>
          </a:xfrm>
          <a:prstGeom prst="rect">
            <a:avLst/>
          </a:prstGeom>
          <a:noFill/>
          <a:ln/>
        </p:spPr>
        <p:txBody>
          <a:bodyPr wrap="square" lIns="0" tIns="0" rIns="0" bIns="0" rtlCol="0" anchor="ctr"/>
          <a:lstStyle/>
          <a:p>
            <a:pPr indent="0" marL="0">
              <a:buNone/>
            </a:pPr>
            <a:r>
              <a:rPr lang="tr-TR" sz="1300" b="1" dirty="0">
                <a:solidFill>
                  <a:srgbClr val="36454F"/>
                </a:solidFill>
                <a:latin typeface="Calibri" pitchFamily="34" charset="0"/>
                <a:ea typeface="Calibri" pitchFamily="34" charset="-122"/>
                <a:cs typeface="Calibri" pitchFamily="34" charset="-120"/>
              </a:rPr>
              <a:t>RR, q = 3</a:t>
            </a:r>
            <a:endParaRPr lang="tr-TR" sz="1300" dirty="0"/>
          </a:p>
        </p:txBody>
      </p:sp>
      <p:sp>
        <p:nvSpPr>
          <p:cNvPr id="99" name="Shape 96"/>
          <p:cNvSpPr/>
          <p:nvPr/>
        </p:nvSpPr>
        <p:spPr>
          <a:xfrm>
            <a:off x="5769864" y="5330952"/>
            <a:ext cx="964692" cy="457200"/>
          </a:xfrm>
          <a:prstGeom prst="roundRect">
            <a:avLst>
              <a:gd name="adj" fmla="val 10000"/>
            </a:avLst>
          </a:prstGeom>
          <a:solidFill>
            <a:srgbClr val="02C39A"/>
          </a:solidFill>
          <a:ln/>
        </p:spPr>
      </p:sp>
      <p:sp>
        <p:nvSpPr>
          <p:cNvPr id="100" name="Text 97"/>
          <p:cNvSpPr txBox="1"/>
          <p:nvPr/>
        </p:nvSpPr>
        <p:spPr>
          <a:xfrm>
            <a:off x="5769864" y="5330952"/>
            <a:ext cx="964692" cy="457200"/>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P1</a:t>
            </a:r>
            <a:endParaRPr lang="tr-TR" sz="1200" dirty="0"/>
          </a:p>
        </p:txBody>
      </p:sp>
      <p:sp>
        <p:nvSpPr>
          <p:cNvPr id="101" name="Shape 98"/>
          <p:cNvSpPr/>
          <p:nvPr/>
        </p:nvSpPr>
        <p:spPr>
          <a:xfrm>
            <a:off x="6752844" y="5330952"/>
            <a:ext cx="964692" cy="457200"/>
          </a:xfrm>
          <a:prstGeom prst="roundRect">
            <a:avLst>
              <a:gd name="adj" fmla="val 10000"/>
            </a:avLst>
          </a:prstGeom>
          <a:solidFill>
            <a:srgbClr val="50808E"/>
          </a:solidFill>
          <a:ln/>
        </p:spPr>
      </p:sp>
      <p:sp>
        <p:nvSpPr>
          <p:cNvPr id="102" name="Text 99"/>
          <p:cNvSpPr txBox="1"/>
          <p:nvPr/>
        </p:nvSpPr>
        <p:spPr>
          <a:xfrm>
            <a:off x="6752844" y="5330952"/>
            <a:ext cx="964692" cy="457200"/>
          </a:xfrm>
          <a:prstGeom prst="rect">
            <a:avLst/>
          </a:prstGeom>
          <a:noFill/>
          <a:ln/>
        </p:spPr>
        <p:txBody>
          <a:bodyPr wrap="square" lIns="38100" tIns="38100" rIns="38100" bIns="3810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P2</a:t>
            </a:r>
            <a:endParaRPr lang="tr-TR" sz="1200" dirty="0"/>
          </a:p>
        </p:txBody>
      </p:sp>
      <p:sp>
        <p:nvSpPr>
          <p:cNvPr id="103" name="Shape 100"/>
          <p:cNvSpPr/>
          <p:nvPr/>
        </p:nvSpPr>
        <p:spPr>
          <a:xfrm>
            <a:off x="7735824" y="5330952"/>
            <a:ext cx="637032" cy="457200"/>
          </a:xfrm>
          <a:prstGeom prst="roundRect">
            <a:avLst>
              <a:gd name="adj" fmla="val 10000"/>
            </a:avLst>
          </a:prstGeom>
          <a:solidFill>
            <a:srgbClr val="C98A1B"/>
          </a:solidFill>
          <a:ln/>
        </p:spPr>
      </p:sp>
      <p:sp>
        <p:nvSpPr>
          <p:cNvPr id="104" name="Text 101"/>
          <p:cNvSpPr txBox="1"/>
          <p:nvPr/>
        </p:nvSpPr>
        <p:spPr>
          <a:xfrm>
            <a:off x="7735824" y="5330952"/>
            <a:ext cx="637032" cy="457200"/>
          </a:xfrm>
          <a:prstGeom prst="rect">
            <a:avLst/>
          </a:prstGeom>
          <a:noFill/>
          <a:ln/>
        </p:spPr>
        <p:txBody>
          <a:bodyPr wrap="square" lIns="38100" tIns="38100" rIns="38100" bIns="3810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P3</a:t>
            </a:r>
            <a:endParaRPr lang="tr-TR" sz="1200" dirty="0"/>
          </a:p>
        </p:txBody>
      </p:sp>
      <p:sp>
        <p:nvSpPr>
          <p:cNvPr id="105" name="Shape 102"/>
          <p:cNvSpPr/>
          <p:nvPr/>
        </p:nvSpPr>
        <p:spPr>
          <a:xfrm>
            <a:off x="8391144" y="5330952"/>
            <a:ext cx="964692" cy="457200"/>
          </a:xfrm>
          <a:prstGeom prst="roundRect">
            <a:avLst>
              <a:gd name="adj" fmla="val 10000"/>
            </a:avLst>
          </a:prstGeom>
          <a:solidFill>
            <a:srgbClr val="02C39A"/>
          </a:solidFill>
          <a:ln/>
        </p:spPr>
      </p:sp>
      <p:sp>
        <p:nvSpPr>
          <p:cNvPr id="106" name="Text 103"/>
          <p:cNvSpPr txBox="1"/>
          <p:nvPr/>
        </p:nvSpPr>
        <p:spPr>
          <a:xfrm>
            <a:off x="8391144" y="5330952"/>
            <a:ext cx="964692" cy="457200"/>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P1</a:t>
            </a:r>
            <a:endParaRPr lang="tr-TR" sz="1200" dirty="0"/>
          </a:p>
        </p:txBody>
      </p:sp>
      <p:sp>
        <p:nvSpPr>
          <p:cNvPr id="107" name="Shape 104"/>
          <p:cNvSpPr/>
          <p:nvPr/>
        </p:nvSpPr>
        <p:spPr>
          <a:xfrm>
            <a:off x="9374124" y="5330952"/>
            <a:ext cx="964692" cy="457200"/>
          </a:xfrm>
          <a:prstGeom prst="roundRect">
            <a:avLst>
              <a:gd name="adj" fmla="val 10000"/>
            </a:avLst>
          </a:prstGeom>
          <a:solidFill>
            <a:srgbClr val="36454F"/>
          </a:solidFill>
          <a:ln/>
        </p:spPr>
      </p:sp>
      <p:sp>
        <p:nvSpPr>
          <p:cNvPr id="108" name="Text 105"/>
          <p:cNvSpPr txBox="1"/>
          <p:nvPr/>
        </p:nvSpPr>
        <p:spPr>
          <a:xfrm>
            <a:off x="9374124" y="5330952"/>
            <a:ext cx="964692" cy="457200"/>
          </a:xfrm>
          <a:prstGeom prst="rect">
            <a:avLst/>
          </a:prstGeom>
          <a:noFill/>
          <a:ln/>
        </p:spPr>
        <p:txBody>
          <a:bodyPr wrap="square" lIns="38100" tIns="38100" rIns="38100" bIns="3810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P4</a:t>
            </a:r>
            <a:endParaRPr lang="tr-TR" sz="1200" dirty="0"/>
          </a:p>
        </p:txBody>
      </p:sp>
      <p:sp>
        <p:nvSpPr>
          <p:cNvPr id="109" name="Shape 106"/>
          <p:cNvSpPr/>
          <p:nvPr/>
        </p:nvSpPr>
        <p:spPr>
          <a:xfrm>
            <a:off x="10357104" y="5330952"/>
            <a:ext cx="309372" cy="457200"/>
          </a:xfrm>
          <a:prstGeom prst="roundRect">
            <a:avLst>
              <a:gd name="adj" fmla="val 14778"/>
            </a:avLst>
          </a:prstGeom>
          <a:solidFill>
            <a:srgbClr val="50808E"/>
          </a:solidFill>
          <a:ln/>
        </p:spPr>
      </p:sp>
      <p:sp>
        <p:nvSpPr>
          <p:cNvPr id="110" name="Text 107"/>
          <p:cNvSpPr txBox="1"/>
          <p:nvPr/>
        </p:nvSpPr>
        <p:spPr>
          <a:xfrm>
            <a:off x="10357104" y="5330952"/>
            <a:ext cx="309372" cy="457200"/>
          </a:xfrm>
          <a:prstGeom prst="rect">
            <a:avLst/>
          </a:prstGeom>
          <a:noFill/>
          <a:ln/>
        </p:spPr>
        <p:txBody>
          <a:bodyPr wrap="square" lIns="38100" tIns="38100" rIns="38100" bIns="3810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P2</a:t>
            </a:r>
            <a:endParaRPr lang="tr-TR" sz="1200" dirty="0"/>
          </a:p>
        </p:txBody>
      </p:sp>
      <p:sp>
        <p:nvSpPr>
          <p:cNvPr id="111" name="Shape 108"/>
          <p:cNvSpPr/>
          <p:nvPr/>
        </p:nvSpPr>
        <p:spPr>
          <a:xfrm>
            <a:off x="10684764" y="5330952"/>
            <a:ext cx="309372" cy="457200"/>
          </a:xfrm>
          <a:prstGeom prst="roundRect">
            <a:avLst>
              <a:gd name="adj" fmla="val 14778"/>
            </a:avLst>
          </a:prstGeom>
          <a:solidFill>
            <a:srgbClr val="02C39A"/>
          </a:solidFill>
          <a:ln/>
        </p:spPr>
      </p:sp>
      <p:sp>
        <p:nvSpPr>
          <p:cNvPr id="112" name="Text 109"/>
          <p:cNvSpPr txBox="1"/>
          <p:nvPr/>
        </p:nvSpPr>
        <p:spPr>
          <a:xfrm>
            <a:off x="10684764" y="5330952"/>
            <a:ext cx="309372" cy="457200"/>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P1</a:t>
            </a:r>
            <a:endParaRPr lang="tr-TR" sz="1200" dirty="0"/>
          </a:p>
        </p:txBody>
      </p:sp>
      <p:sp>
        <p:nvSpPr>
          <p:cNvPr id="113" name="Shape 110"/>
          <p:cNvSpPr/>
          <p:nvPr/>
        </p:nvSpPr>
        <p:spPr>
          <a:xfrm>
            <a:off x="11012424" y="5330952"/>
            <a:ext cx="637032" cy="457200"/>
          </a:xfrm>
          <a:prstGeom prst="roundRect">
            <a:avLst>
              <a:gd name="adj" fmla="val 10000"/>
            </a:avLst>
          </a:prstGeom>
          <a:solidFill>
            <a:srgbClr val="36454F"/>
          </a:solidFill>
          <a:ln/>
        </p:spPr>
      </p:sp>
      <p:sp>
        <p:nvSpPr>
          <p:cNvPr id="114" name="Text 111"/>
          <p:cNvSpPr txBox="1"/>
          <p:nvPr/>
        </p:nvSpPr>
        <p:spPr>
          <a:xfrm>
            <a:off x="11012424" y="5330952"/>
            <a:ext cx="637032" cy="457200"/>
          </a:xfrm>
          <a:prstGeom prst="rect">
            <a:avLst/>
          </a:prstGeom>
          <a:noFill/>
          <a:ln/>
        </p:spPr>
        <p:txBody>
          <a:bodyPr wrap="square" lIns="38100" tIns="38100" rIns="38100" bIns="3810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P4</a:t>
            </a:r>
            <a:endParaRPr lang="tr-TR" sz="1200" dirty="0"/>
          </a:p>
        </p:txBody>
      </p:sp>
      <p:sp>
        <p:nvSpPr>
          <p:cNvPr id="115" name="Shape 112"/>
          <p:cNvSpPr/>
          <p:nvPr/>
        </p:nvSpPr>
        <p:spPr>
          <a:xfrm>
            <a:off x="5760720" y="5788152"/>
            <a:ext cx="91" cy="64008"/>
          </a:xfrm>
          <a:prstGeom prst="line">
            <a:avLst/>
          </a:prstGeom>
          <a:noFill/>
          <a:ln w="12700">
            <a:solidFill>
              <a:srgbClr val="6B7679"/>
            </a:solidFill>
            <a:prstDash val="solid"/>
          </a:ln>
        </p:spPr>
      </p:sp>
      <p:sp>
        <p:nvSpPr>
          <p:cNvPr id="116" name="Text 113"/>
          <p:cNvSpPr txBox="1"/>
          <p:nvPr/>
        </p:nvSpPr>
        <p:spPr>
          <a:xfrm>
            <a:off x="5532120" y="5843016"/>
            <a:ext cx="457200" cy="219456"/>
          </a:xfrm>
          <a:prstGeom prst="rect">
            <a:avLst/>
          </a:prstGeom>
          <a:noFill/>
          <a:ln/>
        </p:spPr>
        <p:txBody>
          <a:bodyPr wrap="square" lIns="0" tIns="0" rIns="0" bIns="0" rtlCol="0" anchor="t"/>
          <a:lstStyle/>
          <a:p>
            <a:pPr algn="ctr" indent="0" marL="0">
              <a:buNone/>
            </a:pPr>
            <a:r>
              <a:rPr lang="tr-TR" sz="1050" dirty="0">
                <a:solidFill>
                  <a:srgbClr val="6B7679"/>
                </a:solidFill>
                <a:latin typeface="Calibri" pitchFamily="34" charset="0"/>
                <a:ea typeface="Calibri" pitchFamily="34" charset="-122"/>
                <a:cs typeface="Calibri" pitchFamily="34" charset="-120"/>
              </a:rPr>
              <a:t>0</a:t>
            </a:r>
            <a:endParaRPr lang="tr-TR" sz="1050" dirty="0"/>
          </a:p>
        </p:txBody>
      </p:sp>
      <p:sp>
        <p:nvSpPr>
          <p:cNvPr id="117" name="Shape 114"/>
          <p:cNvSpPr/>
          <p:nvPr/>
        </p:nvSpPr>
        <p:spPr>
          <a:xfrm>
            <a:off x="6743700" y="5788152"/>
            <a:ext cx="91" cy="64008"/>
          </a:xfrm>
          <a:prstGeom prst="line">
            <a:avLst/>
          </a:prstGeom>
          <a:noFill/>
          <a:ln w="12700">
            <a:solidFill>
              <a:srgbClr val="6B7679"/>
            </a:solidFill>
            <a:prstDash val="solid"/>
          </a:ln>
        </p:spPr>
      </p:sp>
      <p:sp>
        <p:nvSpPr>
          <p:cNvPr id="118" name="Text 115"/>
          <p:cNvSpPr txBox="1"/>
          <p:nvPr/>
        </p:nvSpPr>
        <p:spPr>
          <a:xfrm>
            <a:off x="6515100" y="5843016"/>
            <a:ext cx="457200" cy="219456"/>
          </a:xfrm>
          <a:prstGeom prst="rect">
            <a:avLst/>
          </a:prstGeom>
          <a:noFill/>
          <a:ln/>
        </p:spPr>
        <p:txBody>
          <a:bodyPr wrap="square" lIns="0" tIns="0" rIns="0" bIns="0" rtlCol="0" anchor="t"/>
          <a:lstStyle/>
          <a:p>
            <a:pPr algn="ctr" indent="0" marL="0">
              <a:buNone/>
            </a:pPr>
            <a:r>
              <a:rPr lang="tr-TR" sz="1050" dirty="0">
                <a:solidFill>
                  <a:srgbClr val="6B7679"/>
                </a:solidFill>
                <a:latin typeface="Calibri" pitchFamily="34" charset="0"/>
                <a:ea typeface="Calibri" pitchFamily="34" charset="-122"/>
                <a:cs typeface="Calibri" pitchFamily="34" charset="-120"/>
              </a:rPr>
              <a:t>3</a:t>
            </a:r>
            <a:endParaRPr lang="tr-TR" sz="1050" dirty="0"/>
          </a:p>
        </p:txBody>
      </p:sp>
      <p:sp>
        <p:nvSpPr>
          <p:cNvPr id="119" name="Shape 116"/>
          <p:cNvSpPr/>
          <p:nvPr/>
        </p:nvSpPr>
        <p:spPr>
          <a:xfrm>
            <a:off x="7726680" y="5788152"/>
            <a:ext cx="91" cy="64008"/>
          </a:xfrm>
          <a:prstGeom prst="line">
            <a:avLst/>
          </a:prstGeom>
          <a:noFill/>
          <a:ln w="12700">
            <a:solidFill>
              <a:srgbClr val="6B7679"/>
            </a:solidFill>
            <a:prstDash val="solid"/>
          </a:ln>
        </p:spPr>
      </p:sp>
      <p:sp>
        <p:nvSpPr>
          <p:cNvPr id="120" name="Text 117"/>
          <p:cNvSpPr txBox="1"/>
          <p:nvPr/>
        </p:nvSpPr>
        <p:spPr>
          <a:xfrm>
            <a:off x="7498080" y="5843016"/>
            <a:ext cx="457200" cy="219456"/>
          </a:xfrm>
          <a:prstGeom prst="rect">
            <a:avLst/>
          </a:prstGeom>
          <a:noFill/>
          <a:ln/>
        </p:spPr>
        <p:txBody>
          <a:bodyPr wrap="square" lIns="0" tIns="0" rIns="0" bIns="0" rtlCol="0" anchor="t"/>
          <a:lstStyle/>
          <a:p>
            <a:pPr algn="ctr" indent="0" marL="0">
              <a:buNone/>
            </a:pPr>
            <a:r>
              <a:rPr lang="tr-TR" sz="1050" dirty="0">
                <a:solidFill>
                  <a:srgbClr val="6B7679"/>
                </a:solidFill>
                <a:latin typeface="Calibri" pitchFamily="34" charset="0"/>
                <a:ea typeface="Calibri" pitchFamily="34" charset="-122"/>
                <a:cs typeface="Calibri" pitchFamily="34" charset="-120"/>
              </a:rPr>
              <a:t>6</a:t>
            </a:r>
            <a:endParaRPr lang="tr-TR" sz="1050" dirty="0"/>
          </a:p>
        </p:txBody>
      </p:sp>
      <p:sp>
        <p:nvSpPr>
          <p:cNvPr id="121" name="Shape 118"/>
          <p:cNvSpPr/>
          <p:nvPr/>
        </p:nvSpPr>
        <p:spPr>
          <a:xfrm>
            <a:off x="8382000" y="5788152"/>
            <a:ext cx="91" cy="64008"/>
          </a:xfrm>
          <a:prstGeom prst="line">
            <a:avLst/>
          </a:prstGeom>
          <a:noFill/>
          <a:ln w="12700">
            <a:solidFill>
              <a:srgbClr val="6B7679"/>
            </a:solidFill>
            <a:prstDash val="solid"/>
          </a:ln>
        </p:spPr>
      </p:sp>
      <p:sp>
        <p:nvSpPr>
          <p:cNvPr id="122" name="Text 119"/>
          <p:cNvSpPr txBox="1"/>
          <p:nvPr/>
        </p:nvSpPr>
        <p:spPr>
          <a:xfrm>
            <a:off x="8153400" y="5843016"/>
            <a:ext cx="457200" cy="219456"/>
          </a:xfrm>
          <a:prstGeom prst="rect">
            <a:avLst/>
          </a:prstGeom>
          <a:noFill/>
          <a:ln/>
        </p:spPr>
        <p:txBody>
          <a:bodyPr wrap="square" lIns="0" tIns="0" rIns="0" bIns="0" rtlCol="0" anchor="t"/>
          <a:lstStyle/>
          <a:p>
            <a:pPr algn="ctr" indent="0" marL="0">
              <a:buNone/>
            </a:pPr>
            <a:r>
              <a:rPr lang="tr-TR" sz="1050" dirty="0">
                <a:solidFill>
                  <a:srgbClr val="6B7679"/>
                </a:solidFill>
                <a:latin typeface="Calibri" pitchFamily="34" charset="0"/>
                <a:ea typeface="Calibri" pitchFamily="34" charset="-122"/>
                <a:cs typeface="Calibri" pitchFamily="34" charset="-120"/>
              </a:rPr>
              <a:t>8</a:t>
            </a:r>
            <a:endParaRPr lang="tr-TR" sz="1050" dirty="0"/>
          </a:p>
        </p:txBody>
      </p:sp>
      <p:sp>
        <p:nvSpPr>
          <p:cNvPr id="123" name="Shape 120"/>
          <p:cNvSpPr/>
          <p:nvPr/>
        </p:nvSpPr>
        <p:spPr>
          <a:xfrm>
            <a:off x="9364980" y="5788152"/>
            <a:ext cx="91" cy="64008"/>
          </a:xfrm>
          <a:prstGeom prst="line">
            <a:avLst/>
          </a:prstGeom>
          <a:noFill/>
          <a:ln w="12700">
            <a:solidFill>
              <a:srgbClr val="6B7679"/>
            </a:solidFill>
            <a:prstDash val="solid"/>
          </a:ln>
        </p:spPr>
      </p:sp>
      <p:sp>
        <p:nvSpPr>
          <p:cNvPr id="124" name="Text 121"/>
          <p:cNvSpPr txBox="1"/>
          <p:nvPr/>
        </p:nvSpPr>
        <p:spPr>
          <a:xfrm>
            <a:off x="9136380" y="5843016"/>
            <a:ext cx="457200" cy="219456"/>
          </a:xfrm>
          <a:prstGeom prst="rect">
            <a:avLst/>
          </a:prstGeom>
          <a:noFill/>
          <a:ln/>
        </p:spPr>
        <p:txBody>
          <a:bodyPr wrap="square" lIns="0" tIns="0" rIns="0" bIns="0" rtlCol="0" anchor="t"/>
          <a:lstStyle/>
          <a:p>
            <a:pPr algn="ctr" indent="0" marL="0">
              <a:buNone/>
            </a:pPr>
            <a:r>
              <a:rPr lang="tr-TR" sz="1050" dirty="0">
                <a:solidFill>
                  <a:srgbClr val="6B7679"/>
                </a:solidFill>
                <a:latin typeface="Calibri" pitchFamily="34" charset="0"/>
                <a:ea typeface="Calibri" pitchFamily="34" charset="-122"/>
                <a:cs typeface="Calibri" pitchFamily="34" charset="-120"/>
              </a:rPr>
              <a:t>11</a:t>
            </a:r>
            <a:endParaRPr lang="tr-TR" sz="1050" dirty="0"/>
          </a:p>
        </p:txBody>
      </p:sp>
      <p:sp>
        <p:nvSpPr>
          <p:cNvPr id="125" name="Shape 122"/>
          <p:cNvSpPr/>
          <p:nvPr/>
        </p:nvSpPr>
        <p:spPr>
          <a:xfrm>
            <a:off x="10347960" y="5788152"/>
            <a:ext cx="91" cy="64008"/>
          </a:xfrm>
          <a:prstGeom prst="line">
            <a:avLst/>
          </a:prstGeom>
          <a:noFill/>
          <a:ln w="12700">
            <a:solidFill>
              <a:srgbClr val="6B7679"/>
            </a:solidFill>
            <a:prstDash val="solid"/>
          </a:ln>
        </p:spPr>
      </p:sp>
      <p:sp>
        <p:nvSpPr>
          <p:cNvPr id="126" name="Text 123"/>
          <p:cNvSpPr txBox="1"/>
          <p:nvPr/>
        </p:nvSpPr>
        <p:spPr>
          <a:xfrm>
            <a:off x="10119360" y="5843016"/>
            <a:ext cx="457200" cy="219456"/>
          </a:xfrm>
          <a:prstGeom prst="rect">
            <a:avLst/>
          </a:prstGeom>
          <a:noFill/>
          <a:ln/>
        </p:spPr>
        <p:txBody>
          <a:bodyPr wrap="square" lIns="0" tIns="0" rIns="0" bIns="0" rtlCol="0" anchor="t"/>
          <a:lstStyle/>
          <a:p>
            <a:pPr algn="ctr" indent="0" marL="0">
              <a:buNone/>
            </a:pPr>
            <a:r>
              <a:rPr lang="tr-TR" sz="1050" dirty="0">
                <a:solidFill>
                  <a:srgbClr val="6B7679"/>
                </a:solidFill>
                <a:latin typeface="Calibri" pitchFamily="34" charset="0"/>
                <a:ea typeface="Calibri" pitchFamily="34" charset="-122"/>
                <a:cs typeface="Calibri" pitchFamily="34" charset="-120"/>
              </a:rPr>
              <a:t>14</a:t>
            </a:r>
            <a:endParaRPr lang="tr-TR" sz="1050" dirty="0"/>
          </a:p>
        </p:txBody>
      </p:sp>
      <p:sp>
        <p:nvSpPr>
          <p:cNvPr id="127" name="Shape 124"/>
          <p:cNvSpPr/>
          <p:nvPr/>
        </p:nvSpPr>
        <p:spPr>
          <a:xfrm>
            <a:off x="10675620" y="5788152"/>
            <a:ext cx="91" cy="64008"/>
          </a:xfrm>
          <a:prstGeom prst="line">
            <a:avLst/>
          </a:prstGeom>
          <a:noFill/>
          <a:ln w="12700">
            <a:solidFill>
              <a:srgbClr val="6B7679"/>
            </a:solidFill>
            <a:prstDash val="solid"/>
          </a:ln>
        </p:spPr>
      </p:sp>
      <p:sp>
        <p:nvSpPr>
          <p:cNvPr id="128" name="Text 125"/>
          <p:cNvSpPr txBox="1"/>
          <p:nvPr/>
        </p:nvSpPr>
        <p:spPr>
          <a:xfrm>
            <a:off x="10447020" y="5843016"/>
            <a:ext cx="457200" cy="219456"/>
          </a:xfrm>
          <a:prstGeom prst="rect">
            <a:avLst/>
          </a:prstGeom>
          <a:noFill/>
          <a:ln/>
        </p:spPr>
        <p:txBody>
          <a:bodyPr wrap="square" lIns="0" tIns="0" rIns="0" bIns="0" rtlCol="0" anchor="t"/>
          <a:lstStyle/>
          <a:p>
            <a:pPr algn="ctr" indent="0" marL="0">
              <a:buNone/>
            </a:pPr>
            <a:r>
              <a:rPr lang="tr-TR" sz="1050" dirty="0">
                <a:solidFill>
                  <a:srgbClr val="6B7679"/>
                </a:solidFill>
                <a:latin typeface="Calibri" pitchFamily="34" charset="0"/>
                <a:ea typeface="Calibri" pitchFamily="34" charset="-122"/>
                <a:cs typeface="Calibri" pitchFamily="34" charset="-120"/>
              </a:rPr>
              <a:t>15</a:t>
            </a:r>
            <a:endParaRPr lang="tr-TR" sz="1050" dirty="0"/>
          </a:p>
        </p:txBody>
      </p:sp>
      <p:sp>
        <p:nvSpPr>
          <p:cNvPr id="129" name="Shape 126"/>
          <p:cNvSpPr/>
          <p:nvPr/>
        </p:nvSpPr>
        <p:spPr>
          <a:xfrm>
            <a:off x="11003280" y="5788152"/>
            <a:ext cx="91" cy="64008"/>
          </a:xfrm>
          <a:prstGeom prst="line">
            <a:avLst/>
          </a:prstGeom>
          <a:noFill/>
          <a:ln w="12700">
            <a:solidFill>
              <a:srgbClr val="6B7679"/>
            </a:solidFill>
            <a:prstDash val="solid"/>
          </a:ln>
        </p:spPr>
      </p:sp>
      <p:sp>
        <p:nvSpPr>
          <p:cNvPr id="130" name="Text 127"/>
          <p:cNvSpPr txBox="1"/>
          <p:nvPr/>
        </p:nvSpPr>
        <p:spPr>
          <a:xfrm>
            <a:off x="10774680" y="5843016"/>
            <a:ext cx="457200" cy="219456"/>
          </a:xfrm>
          <a:prstGeom prst="rect">
            <a:avLst/>
          </a:prstGeom>
          <a:noFill/>
          <a:ln/>
        </p:spPr>
        <p:txBody>
          <a:bodyPr wrap="square" lIns="0" tIns="0" rIns="0" bIns="0" rtlCol="0" anchor="t"/>
          <a:lstStyle/>
          <a:p>
            <a:pPr algn="ctr" indent="0" marL="0">
              <a:buNone/>
            </a:pPr>
            <a:r>
              <a:rPr lang="tr-TR" sz="1050" dirty="0">
                <a:solidFill>
                  <a:srgbClr val="6B7679"/>
                </a:solidFill>
                <a:latin typeface="Calibri" pitchFamily="34" charset="0"/>
                <a:ea typeface="Calibri" pitchFamily="34" charset="-122"/>
                <a:cs typeface="Calibri" pitchFamily="34" charset="-120"/>
              </a:rPr>
              <a:t>16</a:t>
            </a:r>
            <a:endParaRPr lang="tr-TR" sz="1050" dirty="0"/>
          </a:p>
        </p:txBody>
      </p:sp>
      <p:sp>
        <p:nvSpPr>
          <p:cNvPr id="131" name="Shape 128"/>
          <p:cNvSpPr/>
          <p:nvPr/>
        </p:nvSpPr>
        <p:spPr>
          <a:xfrm>
            <a:off x="11658600" y="5788152"/>
            <a:ext cx="91" cy="64008"/>
          </a:xfrm>
          <a:prstGeom prst="line">
            <a:avLst/>
          </a:prstGeom>
          <a:noFill/>
          <a:ln w="12700">
            <a:solidFill>
              <a:srgbClr val="6B7679"/>
            </a:solidFill>
            <a:prstDash val="solid"/>
          </a:ln>
        </p:spPr>
      </p:sp>
      <p:sp>
        <p:nvSpPr>
          <p:cNvPr id="132" name="Text 129"/>
          <p:cNvSpPr txBox="1"/>
          <p:nvPr/>
        </p:nvSpPr>
        <p:spPr>
          <a:xfrm>
            <a:off x="11430000" y="5843016"/>
            <a:ext cx="457200" cy="219456"/>
          </a:xfrm>
          <a:prstGeom prst="rect">
            <a:avLst/>
          </a:prstGeom>
          <a:noFill/>
          <a:ln/>
        </p:spPr>
        <p:txBody>
          <a:bodyPr wrap="square" lIns="0" tIns="0" rIns="0" bIns="0" rtlCol="0" anchor="t"/>
          <a:lstStyle/>
          <a:p>
            <a:pPr algn="ctr" indent="0" marL="0">
              <a:buNone/>
            </a:pPr>
            <a:r>
              <a:rPr lang="tr-TR" sz="1050" dirty="0">
                <a:solidFill>
                  <a:srgbClr val="6B7679"/>
                </a:solidFill>
                <a:latin typeface="Calibri" pitchFamily="34" charset="0"/>
                <a:ea typeface="Calibri" pitchFamily="34" charset="-122"/>
                <a:cs typeface="Calibri" pitchFamily="34" charset="-120"/>
              </a:rPr>
              <a:t>18</a:t>
            </a:r>
            <a:endParaRPr lang="tr-TR"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2. PROBLEM · 5. HAFTA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Sonuçlar: Ortalamalar ve Bağlam Değişimleri</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8  ·  25</a:t>
            </a:r>
            <a:endParaRPr lang="tr-TR" sz="9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6675120" cy="914400"/>
        </p:xfrm>
        <a:graphic>
          <a:graphicData uri="http://schemas.openxmlformats.org/drawingml/2006/table">
            <a:tbl>
              <a:tblPr/>
              <a:tblGrid>
                <a:gridCol w="1325880"/>
                <a:gridCol w="1051560"/>
                <a:gridCol w="1143000"/>
                <a:gridCol w="1097280"/>
                <a:gridCol w="1097280"/>
                <a:gridCol w="960120"/>
              </a:tblGrid>
              <a:tr h="0">
                <a:tc>
                  <a:txBody>
                    <a:bodyPr/>
                    <a:lstStyle/>
                    <a:p>
                      <a:pPr algn="l" indent="0" marL="0">
                        <a:buNone/>
                      </a:pPr>
                      <a:r>
                        <a:rPr lang="tr-TR" sz="1300" b="1" dirty="0">
                          <a:solidFill>
                            <a:srgbClr val="FFFFFF"/>
                          </a:solidFill>
                          <a:latin typeface="Cambria" pitchFamily="34" charset="0"/>
                          <a:ea typeface="Cambria" pitchFamily="34" charset="-122"/>
                          <a:cs typeface="Cambria" pitchFamily="34" charset="-120"/>
                        </a:rPr>
                        <a:t>Algoritma</a:t>
                      </a:r>
                      <a:endParaRPr lang="tr-TR" sz="130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tr-TR" sz="1300" b="1" dirty="0">
                          <a:solidFill>
                            <a:srgbClr val="FFFFFF"/>
                          </a:solidFill>
                          <a:latin typeface="Cambria" pitchFamily="34" charset="0"/>
                          <a:ea typeface="Cambria" pitchFamily="34" charset="-122"/>
                          <a:cs typeface="Cambria" pitchFamily="34" charset="-120"/>
                        </a:rPr>
                        <a:t>Kesintili</a:t>
                      </a:r>
                      <a:endParaRPr lang="tr-TR" sz="130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tr-TR" sz="1300" b="1" dirty="0">
                          <a:solidFill>
                            <a:srgbClr val="FFFFFF"/>
                          </a:solidFill>
                          <a:latin typeface="Cambria" pitchFamily="34" charset="0"/>
                          <a:ea typeface="Cambria" pitchFamily="34" charset="-122"/>
                          <a:cs typeface="Cambria" pitchFamily="34" charset="-120"/>
                        </a:rPr>
                        <a:t>Ort. bekleme</a:t>
                      </a:r>
                      <a:endParaRPr lang="tr-TR" sz="130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tr-TR" sz="1300" b="1" dirty="0">
                          <a:solidFill>
                            <a:srgbClr val="FFFFFF"/>
                          </a:solidFill>
                          <a:latin typeface="Cambria" pitchFamily="34" charset="0"/>
                          <a:ea typeface="Cambria" pitchFamily="34" charset="-122"/>
                          <a:cs typeface="Cambria" pitchFamily="34" charset="-120"/>
                        </a:rPr>
                        <a:t>Ort. dönüş</a:t>
                      </a:r>
                      <a:endParaRPr lang="tr-TR" sz="130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tr-TR" sz="1300" b="1" dirty="0">
                          <a:solidFill>
                            <a:srgbClr val="FFFFFF"/>
                          </a:solidFill>
                          <a:latin typeface="Cambria" pitchFamily="34" charset="0"/>
                          <a:ea typeface="Cambria" pitchFamily="34" charset="-122"/>
                          <a:cs typeface="Cambria" pitchFamily="34" charset="-120"/>
                        </a:rPr>
                        <a:t>Ort. yanıt</a:t>
                      </a:r>
                      <a:endParaRPr lang="tr-TR" sz="130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tr-TR" sz="1300" b="1" dirty="0">
                          <a:solidFill>
                            <a:srgbClr val="FFFFFF"/>
                          </a:solidFill>
                          <a:latin typeface="Cambria" pitchFamily="34" charset="0"/>
                          <a:ea typeface="Cambria" pitchFamily="34" charset="-122"/>
                          <a:cs typeface="Cambria" pitchFamily="34" charset="-120"/>
                        </a:rPr>
                        <a:t>Geçiş</a:t>
                      </a:r>
                      <a:endParaRPr lang="tr-TR" sz="130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algn="l" indent="0" marL="0">
                        <a:buNone/>
                      </a:pPr>
                      <a:r>
                        <a:rPr lang="tr-TR" sz="1300" b="1" dirty="0">
                          <a:solidFill>
                            <a:srgbClr val="3A464C"/>
                          </a:solidFill>
                          <a:latin typeface="Calibri" pitchFamily="34" charset="0"/>
                          <a:ea typeface="Calibri" pitchFamily="34" charset="-122"/>
                          <a:cs typeface="Calibri" pitchFamily="34" charset="-120"/>
                        </a:rPr>
                        <a:t>FCFS</a:t>
                      </a:r>
                      <a:endParaRPr lang="tr-TR"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hayır</a:t>
                      </a:r>
                      <a:endParaRPr lang="tr-TR"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5,25</a:t>
                      </a:r>
                      <a:endParaRPr lang="tr-TR"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9,75</a:t>
                      </a:r>
                      <a:endParaRPr lang="tr-TR"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5,25</a:t>
                      </a:r>
                      <a:endParaRPr lang="tr-TR"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3</a:t>
                      </a:r>
                      <a:endParaRPr lang="tr-TR"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algn="l" indent="0" marL="0">
                        <a:buNone/>
                      </a:pPr>
                      <a:r>
                        <a:rPr lang="tr-TR" sz="1300" b="1" dirty="0">
                          <a:solidFill>
                            <a:srgbClr val="3A464C"/>
                          </a:solidFill>
                          <a:latin typeface="Calibri" pitchFamily="34" charset="0"/>
                          <a:ea typeface="Calibri" pitchFamily="34" charset="-122"/>
                          <a:cs typeface="Calibri" pitchFamily="34" charset="-120"/>
                        </a:rPr>
                        <a:t>SJF</a:t>
                      </a:r>
                      <a:endParaRPr lang="tr-TR"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hayır</a:t>
                      </a:r>
                      <a:endParaRPr lang="tr-TR"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4,75</a:t>
                      </a:r>
                      <a:endParaRPr lang="tr-TR"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9,25</a:t>
                      </a:r>
                      <a:endParaRPr lang="tr-TR"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4,75</a:t>
                      </a:r>
                      <a:endParaRPr lang="tr-TR"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3</a:t>
                      </a:r>
                      <a:endParaRPr lang="tr-TR"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algn="l" indent="0" marL="0">
                        <a:buNone/>
                      </a:pPr>
                      <a:r>
                        <a:rPr lang="tr-TR" sz="1300" b="1" dirty="0">
                          <a:solidFill>
                            <a:srgbClr val="3A464C"/>
                          </a:solidFill>
                          <a:latin typeface="Calibri" pitchFamily="34" charset="0"/>
                          <a:ea typeface="Calibri" pitchFamily="34" charset="-122"/>
                          <a:cs typeface="Calibri" pitchFamily="34" charset="-120"/>
                        </a:rPr>
                        <a:t>SRTF</a:t>
                      </a:r>
                      <a:endParaRPr lang="tr-TR"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evet</a:t>
                      </a:r>
                      <a:endParaRPr lang="tr-TR"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4</a:t>
                      </a:r>
                      <a:endParaRPr lang="tr-TR"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8,5</a:t>
                      </a:r>
                      <a:endParaRPr lang="tr-TR"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2</a:t>
                      </a:r>
                      <a:endParaRPr lang="tr-TR"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5</a:t>
                      </a:r>
                      <a:endParaRPr lang="tr-TR"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algn="l" indent="0" marL="0">
                        <a:buNone/>
                      </a:pPr>
                      <a:r>
                        <a:rPr lang="tr-TR" sz="1300" b="1" dirty="0">
                          <a:solidFill>
                            <a:srgbClr val="3A464C"/>
                          </a:solidFill>
                          <a:latin typeface="Calibri" pitchFamily="34" charset="0"/>
                          <a:ea typeface="Calibri" pitchFamily="34" charset="-122"/>
                          <a:cs typeface="Calibri" pitchFamily="34" charset="-120"/>
                        </a:rPr>
                        <a:t>Öncelikli</a:t>
                      </a:r>
                      <a:endParaRPr lang="tr-TR"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evet</a:t>
                      </a:r>
                      <a:endParaRPr lang="tr-TR"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5,75</a:t>
                      </a:r>
                      <a:endParaRPr lang="tr-TR"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10,25</a:t>
                      </a:r>
                      <a:endParaRPr lang="tr-TR"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4,75</a:t>
                      </a:r>
                      <a:endParaRPr lang="tr-TR"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4</a:t>
                      </a:r>
                      <a:endParaRPr lang="tr-TR"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algn="l" indent="0" marL="0">
                        <a:buNone/>
                      </a:pPr>
                      <a:r>
                        <a:rPr lang="tr-TR" sz="1300" b="1" dirty="0">
                          <a:solidFill>
                            <a:srgbClr val="3A464C"/>
                          </a:solidFill>
                          <a:latin typeface="Calibri" pitchFamily="34" charset="0"/>
                          <a:ea typeface="Calibri" pitchFamily="34" charset="-122"/>
                          <a:cs typeface="Calibri" pitchFamily="34" charset="-120"/>
                        </a:rPr>
                        <a:t>RR, q = 3</a:t>
                      </a:r>
                      <a:endParaRPr lang="tr-TR"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evet</a:t>
                      </a:r>
                      <a:endParaRPr lang="tr-TR"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7,25</a:t>
                      </a:r>
                      <a:endParaRPr lang="tr-TR"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11,75</a:t>
                      </a:r>
                      <a:endParaRPr lang="tr-TR"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2,5</a:t>
                      </a:r>
                      <a:endParaRPr lang="tr-TR"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7</a:t>
                      </a:r>
                      <a:endParaRPr lang="tr-TR"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bl>
          </a:graphicData>
        </a:graphic>
      </p:graphicFrame>
      <p:sp>
        <p:nvSpPr>
          <p:cNvPr id="7" name="Shape 4"/>
          <p:cNvSpPr/>
          <p:nvPr/>
        </p:nvSpPr>
        <p:spPr>
          <a:xfrm>
            <a:off x="7452360" y="1554480"/>
            <a:ext cx="4206240" cy="2788920"/>
          </a:xfrm>
          <a:prstGeom prst="roundRect">
            <a:avLst>
              <a:gd name="adj" fmla="val 1639"/>
            </a:avLst>
          </a:prstGeom>
          <a:solidFill>
            <a:srgbClr val="212121"/>
          </a:solidFill>
          <a:ln/>
        </p:spPr>
      </p:sp>
      <p:sp>
        <p:nvSpPr>
          <p:cNvPr id="8" name="Text 5"/>
          <p:cNvSpPr txBox="1"/>
          <p:nvPr/>
        </p:nvSpPr>
        <p:spPr>
          <a:xfrm>
            <a:off x="7635240" y="1664208"/>
            <a:ext cx="3840480" cy="2569464"/>
          </a:xfrm>
          <a:prstGeom prst="rect">
            <a:avLst/>
          </a:prstGeom>
          <a:noFill/>
          <a:ln/>
        </p:spPr>
        <p:txBody>
          <a:bodyPr wrap="square" lIns="0" tIns="0" rIns="0" bIns="0" rtlCol="0" anchor="t"/>
          <a:lstStyle/>
          <a:p>
            <a:pPr indent="0" marL="0">
              <a:lnSpc>
                <a:spcPct val="105000"/>
              </a:lnSpc>
              <a:buNone/>
            </a:pPr>
            <a:r>
              <a:rPr lang="tr-TR" sz="1200" dirty="0">
                <a:solidFill>
                  <a:srgbClr val="8A9AA0"/>
                </a:solidFill>
                <a:latin typeface="Consolas" pitchFamily="34" charset="0"/>
                <a:ea typeface="Consolas" pitchFamily="34" charset="-122"/>
                <a:cs typeface="Consolas" pitchFamily="34" charset="-120"/>
              </a:rPr>
              <a:t># SRTF, formüllerden</a:t>
            </a:r>
            <a:endParaRPr lang="tr-TR" sz="1200" dirty="0"/>
          </a:p>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P1: dönüş 13 − 0 = 13, bekleme 13 − 7 = 6</a:t>
            </a:r>
            <a:endParaRPr lang="tr-TR" sz="1200" dirty="0"/>
          </a:p>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P2: dönüş  8 − 2 = 6, bekleme  6 − 4 = 2</a:t>
            </a:r>
            <a:endParaRPr lang="tr-TR" sz="1200" dirty="0"/>
          </a:p>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P3: dönüş  5 − 3 = 2, bekleme  2 − 2 = 0</a:t>
            </a:r>
            <a:endParaRPr lang="tr-TR" sz="1200" dirty="0"/>
          </a:p>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P4: dönüş 18 − 5 = 13, bekleme 13 − 5 = 8</a:t>
            </a:r>
            <a:endParaRPr lang="tr-TR" sz="1200" dirty="0"/>
          </a:p>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ortalama bekleme = 16/4 = 4 ms</a:t>
            </a:r>
            <a:endParaRPr lang="tr-TR" sz="1200" dirty="0"/>
          </a:p>
        </p:txBody>
      </p:sp>
      <p:sp>
        <p:nvSpPr>
          <p:cNvPr id="9" name="Shape 6"/>
          <p:cNvSpPr/>
          <p:nvPr/>
        </p:nvSpPr>
        <p:spPr>
          <a:xfrm>
            <a:off x="548640" y="4526280"/>
            <a:ext cx="11109960" cy="1737360"/>
          </a:xfrm>
          <a:prstGeom prst="roundRect">
            <a:avLst>
              <a:gd name="adj" fmla="val 3158"/>
            </a:avLst>
          </a:prstGeom>
          <a:solidFill>
            <a:srgbClr val="F2F2F2"/>
          </a:solidFill>
          <a:ln/>
          <a:effectLst>
            <a:outerShdw sx="100000" sy="100000" kx="0" ky="0" algn="bl" rotWithShape="0" blurRad="101600" dist="25400" dir="5400000">
              <a:srgbClr val="000000">
                <a:alpha val="12000"/>
              </a:srgbClr>
            </a:outerShdw>
          </a:effectLst>
        </p:spPr>
      </p:sp>
      <p:sp>
        <p:nvSpPr>
          <p:cNvPr id="10" name="Text 7"/>
          <p:cNvSpPr txBox="1"/>
          <p:nvPr/>
        </p:nvSpPr>
        <p:spPr>
          <a:xfrm>
            <a:off x="777240" y="4709160"/>
            <a:ext cx="1065276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Sayılar ne söylüyor?</a:t>
            </a:r>
            <a:endParaRPr lang="tr-TR" sz="1500" dirty="0"/>
          </a:p>
        </p:txBody>
      </p:sp>
      <p:sp>
        <p:nvSpPr>
          <p:cNvPr id="11" name="Text 8"/>
          <p:cNvSpPr txBox="1"/>
          <p:nvPr/>
        </p:nvSpPr>
        <p:spPr>
          <a:xfrm>
            <a:off x="777240" y="5166360"/>
            <a:ext cx="10652760" cy="960120"/>
          </a:xfrm>
          <a:prstGeom prst="rect">
            <a:avLst/>
          </a:prstGeom>
          <a:noFill/>
          <a:ln/>
        </p:spPr>
        <p:txBody>
          <a:bodyPr wrap="square" lIns="0" tIns="0" rIns="0" bIns="0" rtlCol="0" anchor="t"/>
          <a:lstStyle/>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SRTF en küçük ortalama bekleme süresini (4 ms) verir — kuramın söylediği gibi — ama RR'den sonra en çok bağlam değişimini yapar.</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Öncelikli zamanlama ortalamaya değil öneme hizmet eder: düşük öncelikli P3 13 ms bekler. RR en kötü ortalama beklemeyi (7,25 ms) ama iyi bir yanıt süresini (2,5 ms) verir.</a:t>
            </a:r>
            <a:endParaRPr lang="tr-TR"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3. PROBLEM · 5. HAFTA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Bir Yarış ve Bir Semafor, Adım Adım</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8  ·  26</a:t>
            </a:r>
            <a:endParaRPr lang="tr-TR" sz="9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5852160" cy="914400"/>
        </p:xfrm>
        <a:graphic>
          <a:graphicData uri="http://schemas.openxmlformats.org/drawingml/2006/table">
            <a:tbl>
              <a:tblPr/>
              <a:tblGrid>
                <a:gridCol w="685800"/>
                <a:gridCol w="1874520"/>
                <a:gridCol w="1874520"/>
                <a:gridCol w="1417320"/>
              </a:tblGrid>
              <a:tr h="0">
                <a:tc>
                  <a:txBody>
                    <a:bodyPr/>
                    <a:lstStyle/>
                    <a:p>
                      <a:pPr algn="ctr" indent="0" marL="0">
                        <a:buNone/>
                      </a:pPr>
                      <a:r>
                        <a:rPr lang="tr-TR" sz="1200" b="1" dirty="0">
                          <a:solidFill>
                            <a:srgbClr val="FFFFFF"/>
                          </a:solidFill>
                          <a:latin typeface="Cambria" pitchFamily="34" charset="0"/>
                          <a:ea typeface="Cambria" pitchFamily="34" charset="-122"/>
                          <a:cs typeface="Cambria" pitchFamily="34" charset="-120"/>
                        </a:rPr>
                        <a:t>Adım</a:t>
                      </a:r>
                      <a:endParaRPr lang="tr-TR" sz="120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l" indent="0" marL="0">
                        <a:buNone/>
                      </a:pPr>
                      <a:r>
                        <a:rPr lang="tr-TR" sz="1200" b="1" dirty="0">
                          <a:solidFill>
                            <a:srgbClr val="FFFFFF"/>
                          </a:solidFill>
                          <a:latin typeface="Cambria" pitchFamily="34" charset="0"/>
                          <a:ea typeface="Cambria" pitchFamily="34" charset="-122"/>
                          <a:cs typeface="Cambria" pitchFamily="34" charset="-120"/>
                        </a:rPr>
                        <a:t>A: counter++</a:t>
                      </a:r>
                      <a:endParaRPr lang="tr-TR" sz="120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l" indent="0" marL="0">
                        <a:buNone/>
                      </a:pPr>
                      <a:r>
                        <a:rPr lang="tr-TR" sz="1200" b="1" dirty="0">
                          <a:solidFill>
                            <a:srgbClr val="FFFFFF"/>
                          </a:solidFill>
                          <a:latin typeface="Cambria" pitchFamily="34" charset="0"/>
                          <a:ea typeface="Cambria" pitchFamily="34" charset="-122"/>
                          <a:cs typeface="Cambria" pitchFamily="34" charset="-120"/>
                        </a:rPr>
                        <a:t>B: counter--</a:t>
                      </a:r>
                      <a:endParaRPr lang="tr-TR" sz="120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tr-TR" sz="1200" b="1" dirty="0">
                          <a:solidFill>
                            <a:srgbClr val="FFFFFF"/>
                          </a:solidFill>
                          <a:latin typeface="Cambria" pitchFamily="34" charset="0"/>
                          <a:ea typeface="Cambria" pitchFamily="34" charset="-122"/>
                          <a:cs typeface="Cambria" pitchFamily="34" charset="-120"/>
                        </a:rPr>
                        <a:t>counter</a:t>
                      </a:r>
                      <a:endParaRPr lang="tr-TR" sz="120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algn="ctr" indent="0" marL="0">
                        <a:buNone/>
                      </a:pPr>
                      <a:r>
                        <a:rPr lang="tr-TR" sz="1200" b="1" dirty="0">
                          <a:solidFill>
                            <a:srgbClr val="3A464C"/>
                          </a:solidFill>
                          <a:latin typeface="Calibri" pitchFamily="34" charset="0"/>
                          <a:ea typeface="Calibri" pitchFamily="34" charset="-122"/>
                          <a:cs typeface="Calibri" pitchFamily="34" charset="-120"/>
                        </a:rPr>
                        <a:t>1</a:t>
                      </a:r>
                      <a:endParaRPr lang="tr-TR" sz="12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l" indent="0" marL="0">
                        <a:buNone/>
                      </a:pPr>
                      <a:r>
                        <a:rPr lang="tr-TR" sz="1200" dirty="0">
                          <a:solidFill>
                            <a:srgbClr val="3A464C"/>
                          </a:solidFill>
                          <a:latin typeface="Calibri" pitchFamily="34" charset="0"/>
                          <a:ea typeface="Calibri" pitchFamily="34" charset="-122"/>
                          <a:cs typeface="Calibri" pitchFamily="34" charset="-120"/>
                        </a:rPr>
                        <a:t>oku (rax = 10)</a:t>
                      </a:r>
                      <a:endParaRPr lang="tr-TR" sz="12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l" indent="0" marL="0">
                        <a:buNone/>
                      </a:pPr>
                      <a:endParaRPr lang="tr-TR" sz="12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200" dirty="0">
                          <a:solidFill>
                            <a:srgbClr val="3A464C"/>
                          </a:solidFill>
                          <a:latin typeface="Calibri" pitchFamily="34" charset="0"/>
                          <a:ea typeface="Calibri" pitchFamily="34" charset="-122"/>
                          <a:cs typeface="Calibri" pitchFamily="34" charset="-120"/>
                        </a:rPr>
                        <a:t>10</a:t>
                      </a:r>
                      <a:endParaRPr lang="tr-TR" sz="12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algn="ctr" indent="0" marL="0">
                        <a:buNone/>
                      </a:pPr>
                      <a:r>
                        <a:rPr lang="tr-TR" sz="1200" b="1" dirty="0">
                          <a:solidFill>
                            <a:srgbClr val="3A464C"/>
                          </a:solidFill>
                          <a:latin typeface="Calibri" pitchFamily="34" charset="0"/>
                          <a:ea typeface="Calibri" pitchFamily="34" charset="-122"/>
                          <a:cs typeface="Calibri" pitchFamily="34" charset="-120"/>
                        </a:rPr>
                        <a:t>2</a:t>
                      </a:r>
                      <a:endParaRPr lang="tr-TR" sz="12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l" indent="0" marL="0">
                        <a:buNone/>
                      </a:pPr>
                      <a:endParaRPr lang="tr-TR" sz="12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l" indent="0" marL="0">
                        <a:buNone/>
                      </a:pPr>
                      <a:r>
                        <a:rPr lang="tr-TR" sz="1200" dirty="0">
                          <a:solidFill>
                            <a:srgbClr val="3A464C"/>
                          </a:solidFill>
                          <a:latin typeface="Calibri" pitchFamily="34" charset="0"/>
                          <a:ea typeface="Calibri" pitchFamily="34" charset="-122"/>
                          <a:cs typeface="Calibri" pitchFamily="34" charset="-120"/>
                        </a:rPr>
                        <a:t>oku (rax = 10)</a:t>
                      </a:r>
                      <a:endParaRPr lang="tr-TR" sz="12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200" dirty="0">
                          <a:solidFill>
                            <a:srgbClr val="3A464C"/>
                          </a:solidFill>
                          <a:latin typeface="Calibri" pitchFamily="34" charset="0"/>
                          <a:ea typeface="Calibri" pitchFamily="34" charset="-122"/>
                          <a:cs typeface="Calibri" pitchFamily="34" charset="-120"/>
                        </a:rPr>
                        <a:t>10</a:t>
                      </a:r>
                      <a:endParaRPr lang="tr-TR" sz="12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algn="ctr" indent="0" marL="0">
                        <a:buNone/>
                      </a:pPr>
                      <a:r>
                        <a:rPr lang="tr-TR" sz="1200" b="1" dirty="0">
                          <a:solidFill>
                            <a:srgbClr val="3A464C"/>
                          </a:solidFill>
                          <a:latin typeface="Calibri" pitchFamily="34" charset="0"/>
                          <a:ea typeface="Calibri" pitchFamily="34" charset="-122"/>
                          <a:cs typeface="Calibri" pitchFamily="34" charset="-120"/>
                        </a:rPr>
                        <a:t>3</a:t>
                      </a:r>
                      <a:endParaRPr lang="tr-TR" sz="12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l" indent="0" marL="0">
                        <a:buNone/>
                      </a:pPr>
                      <a:r>
                        <a:rPr lang="tr-TR" sz="1200" dirty="0">
                          <a:solidFill>
                            <a:srgbClr val="3A464C"/>
                          </a:solidFill>
                          <a:latin typeface="Calibri" pitchFamily="34" charset="0"/>
                          <a:ea typeface="Calibri" pitchFamily="34" charset="-122"/>
                          <a:cs typeface="Calibri" pitchFamily="34" charset="-120"/>
                        </a:rPr>
                        <a:t>1 ekle (rax = 11)</a:t>
                      </a:r>
                      <a:endParaRPr lang="tr-TR" sz="12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l" indent="0" marL="0">
                        <a:buNone/>
                      </a:pPr>
                      <a:endParaRPr lang="tr-TR" sz="12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200" dirty="0">
                          <a:solidFill>
                            <a:srgbClr val="3A464C"/>
                          </a:solidFill>
                          <a:latin typeface="Calibri" pitchFamily="34" charset="0"/>
                          <a:ea typeface="Calibri" pitchFamily="34" charset="-122"/>
                          <a:cs typeface="Calibri" pitchFamily="34" charset="-120"/>
                        </a:rPr>
                        <a:t>10</a:t>
                      </a:r>
                      <a:endParaRPr lang="tr-TR" sz="12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algn="ctr" indent="0" marL="0">
                        <a:buNone/>
                      </a:pPr>
                      <a:r>
                        <a:rPr lang="tr-TR" sz="1200" b="1" dirty="0">
                          <a:solidFill>
                            <a:srgbClr val="3A464C"/>
                          </a:solidFill>
                          <a:latin typeface="Calibri" pitchFamily="34" charset="0"/>
                          <a:ea typeface="Calibri" pitchFamily="34" charset="-122"/>
                          <a:cs typeface="Calibri" pitchFamily="34" charset="-120"/>
                        </a:rPr>
                        <a:t>4</a:t>
                      </a:r>
                      <a:endParaRPr lang="tr-TR" sz="12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l" indent="0" marL="0">
                        <a:buNone/>
                      </a:pPr>
                      <a:endParaRPr lang="tr-TR" sz="12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l" indent="0" marL="0">
                        <a:buNone/>
                      </a:pPr>
                      <a:r>
                        <a:rPr lang="tr-TR" sz="1200" dirty="0">
                          <a:solidFill>
                            <a:srgbClr val="3A464C"/>
                          </a:solidFill>
                          <a:latin typeface="Calibri" pitchFamily="34" charset="0"/>
                          <a:ea typeface="Calibri" pitchFamily="34" charset="-122"/>
                          <a:cs typeface="Calibri" pitchFamily="34" charset="-120"/>
                        </a:rPr>
                        <a:t>−1 ekle (rax = 9)</a:t>
                      </a:r>
                      <a:endParaRPr lang="tr-TR" sz="12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200" dirty="0">
                          <a:solidFill>
                            <a:srgbClr val="3A464C"/>
                          </a:solidFill>
                          <a:latin typeface="Calibri" pitchFamily="34" charset="0"/>
                          <a:ea typeface="Calibri" pitchFamily="34" charset="-122"/>
                          <a:cs typeface="Calibri" pitchFamily="34" charset="-120"/>
                        </a:rPr>
                        <a:t>10</a:t>
                      </a:r>
                      <a:endParaRPr lang="tr-TR" sz="12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algn="ctr" indent="0" marL="0">
                        <a:buNone/>
                      </a:pPr>
                      <a:r>
                        <a:rPr lang="tr-TR" sz="1200" b="1" dirty="0">
                          <a:solidFill>
                            <a:srgbClr val="3A464C"/>
                          </a:solidFill>
                          <a:latin typeface="Calibri" pitchFamily="34" charset="0"/>
                          <a:ea typeface="Calibri" pitchFamily="34" charset="-122"/>
                          <a:cs typeface="Calibri" pitchFamily="34" charset="-120"/>
                        </a:rPr>
                        <a:t>5</a:t>
                      </a:r>
                      <a:endParaRPr lang="tr-TR" sz="12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l" indent="0" marL="0">
                        <a:buNone/>
                      </a:pPr>
                      <a:r>
                        <a:rPr lang="tr-TR" sz="1200" dirty="0">
                          <a:solidFill>
                            <a:srgbClr val="3A464C"/>
                          </a:solidFill>
                          <a:latin typeface="Calibri" pitchFamily="34" charset="0"/>
                          <a:ea typeface="Calibri" pitchFamily="34" charset="-122"/>
                          <a:cs typeface="Calibri" pitchFamily="34" charset="-120"/>
                        </a:rPr>
                        <a:t>yaz</a:t>
                      </a:r>
                      <a:endParaRPr lang="tr-TR" sz="12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l" indent="0" marL="0">
                        <a:buNone/>
                      </a:pPr>
                      <a:endParaRPr lang="tr-TR" sz="12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200" dirty="0">
                          <a:solidFill>
                            <a:srgbClr val="3A464C"/>
                          </a:solidFill>
                          <a:latin typeface="Calibri" pitchFamily="34" charset="0"/>
                          <a:ea typeface="Calibri" pitchFamily="34" charset="-122"/>
                          <a:cs typeface="Calibri" pitchFamily="34" charset="-120"/>
                        </a:rPr>
                        <a:t>11</a:t>
                      </a:r>
                      <a:endParaRPr lang="tr-TR" sz="12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algn="ctr" indent="0" marL="0">
                        <a:buNone/>
                      </a:pPr>
                      <a:r>
                        <a:rPr lang="tr-TR" sz="1200" b="1" dirty="0">
                          <a:solidFill>
                            <a:srgbClr val="3A464C"/>
                          </a:solidFill>
                          <a:latin typeface="Calibri" pitchFamily="34" charset="0"/>
                          <a:ea typeface="Calibri" pitchFamily="34" charset="-122"/>
                          <a:cs typeface="Calibri" pitchFamily="34" charset="-120"/>
                        </a:rPr>
                        <a:t>6</a:t>
                      </a:r>
                      <a:endParaRPr lang="tr-TR" sz="12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l" indent="0" marL="0">
                        <a:buNone/>
                      </a:pPr>
                      <a:endParaRPr lang="tr-TR" sz="12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l" indent="0" marL="0">
                        <a:buNone/>
                      </a:pPr>
                      <a:r>
                        <a:rPr lang="tr-TR" sz="1200" dirty="0">
                          <a:solidFill>
                            <a:srgbClr val="3A464C"/>
                          </a:solidFill>
                          <a:latin typeface="Calibri" pitchFamily="34" charset="0"/>
                          <a:ea typeface="Calibri" pitchFamily="34" charset="-122"/>
                          <a:cs typeface="Calibri" pitchFamily="34" charset="-120"/>
                        </a:rPr>
                        <a:t>yaz</a:t>
                      </a:r>
                      <a:endParaRPr lang="tr-TR" sz="12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200" dirty="0">
                          <a:solidFill>
                            <a:srgbClr val="3A464C"/>
                          </a:solidFill>
                          <a:latin typeface="Calibri" pitchFamily="34" charset="0"/>
                          <a:ea typeface="Calibri" pitchFamily="34" charset="-122"/>
                          <a:cs typeface="Calibri" pitchFamily="34" charset="-120"/>
                        </a:rPr>
                        <a:t>9  (10 olmalı)</a:t>
                      </a:r>
                      <a:endParaRPr lang="tr-TR" sz="12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4572000"/>
            <a:ext cx="5852160" cy="1691640"/>
          </a:xfrm>
          <a:prstGeom prst="roundRect">
            <a:avLst>
              <a:gd name="adj" fmla="val 3243"/>
            </a:avLst>
          </a:prstGeom>
          <a:solidFill>
            <a:srgbClr val="36454F"/>
          </a:solidFill>
          <a:ln/>
          <a:effectLst>
            <a:outerShdw sx="100000" sy="100000" kx="0" ky="0" algn="bl" rotWithShape="0" blurRad="101600" dist="25400" dir="5400000">
              <a:srgbClr val="000000">
                <a:alpha val="12000"/>
              </a:srgbClr>
            </a:outerShdw>
          </a:effectLst>
        </p:spPr>
      </p:sp>
      <p:sp>
        <p:nvSpPr>
          <p:cNvPr id="8" name="Text 5"/>
          <p:cNvSpPr txBox="1"/>
          <p:nvPr/>
        </p:nvSpPr>
        <p:spPr>
          <a:xfrm>
            <a:off x="777240" y="4572000"/>
            <a:ext cx="5394960" cy="1691640"/>
          </a:xfrm>
          <a:prstGeom prst="rect">
            <a:avLst/>
          </a:prstGeom>
          <a:noFill/>
          <a:ln/>
        </p:spPr>
        <p:txBody>
          <a:bodyPr wrap="square" lIns="0" tIns="0" rIns="0" bIns="0" rtlCol="0" anchor="ctr"/>
          <a:lstStyle/>
          <a:p>
            <a:pPr indent="0" marL="0">
              <a:buNone/>
            </a:pPr>
            <a:r>
              <a:rPr lang="tr-TR" sz="1350" dirty="0">
                <a:solidFill>
                  <a:srgbClr val="F2F2F2"/>
                </a:solidFill>
                <a:latin typeface="Calibri" pitchFamily="34" charset="0"/>
                <a:ea typeface="Calibri" pitchFamily="34" charset="-122"/>
                <a:cs typeface="Calibri" pitchFamily="34" charset="-120"/>
              </a:rPr>
              <a:t>Altı adımın 20 iç içe geçmesinin hepsi denetlendi: counter 9 (9 sıra), 10 (2 sıra) ya da 11 (9 sıra) ile biter. 20 sıranın yalnızca 2'si doğru!</a:t>
            </a:r>
            <a:endParaRPr lang="tr-TR" sz="1350" dirty="0"/>
          </a:p>
        </p:txBody>
      </p:sp>
      <p:graphicFrame>
        <p:nvGraphicFramePr>
          <p:cNvPr id="53" name="Table 1"/>
          <p:cNvGraphicFramePr>
            <a:graphicFrameLocks noGrp="1"/>
          </p:cNvGraphicFramePr>
          <p:nvPr>
            <p:extLst>
              <p:ext uri="{D42A27DB-BD31-4B8C-83A1-F6EECF244321}">
                <p14:modId xmlns:p14="http://schemas.microsoft.com/office/powerpoint/2010/main" val="1579011935"/>
              </p:ext>
            </p:extLst>
          </p:nvPr>
        </p:nvGraphicFramePr>
        <p:xfrm>
          <a:off x="6629400" y="1554480"/>
          <a:ext cx="5029200" cy="914400"/>
        </p:xfrm>
        <a:graphic>
          <a:graphicData uri="http://schemas.openxmlformats.org/drawingml/2006/table">
            <a:tbl>
              <a:tblPr/>
              <a:tblGrid>
                <a:gridCol w="1783080"/>
                <a:gridCol w="960120"/>
                <a:gridCol w="2286000"/>
              </a:tblGrid>
              <a:tr h="0">
                <a:tc>
                  <a:txBody>
                    <a:bodyPr/>
                    <a:lstStyle/>
                    <a:p>
                      <a:pPr algn="l" indent="0" marL="0">
                        <a:buNone/>
                      </a:pPr>
                      <a:r>
                        <a:rPr lang="tr-TR" sz="1250" b="1" dirty="0">
                          <a:solidFill>
                            <a:srgbClr val="FFFFFF"/>
                          </a:solidFill>
                          <a:latin typeface="Cambria" pitchFamily="34" charset="0"/>
                          <a:ea typeface="Cambria" pitchFamily="34" charset="-122"/>
                          <a:cs typeface="Cambria" pitchFamily="34" charset="-120"/>
                        </a:rPr>
                        <a:t>Olay</a:t>
                      </a:r>
                      <a:endParaRPr lang="tr-TR" sz="125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tr-TR" sz="1250" b="1" dirty="0">
                          <a:solidFill>
                            <a:srgbClr val="FFFFFF"/>
                          </a:solidFill>
                          <a:latin typeface="Cambria" pitchFamily="34" charset="0"/>
                          <a:ea typeface="Cambria" pitchFamily="34" charset="-122"/>
                          <a:cs typeface="Cambria" pitchFamily="34" charset="-120"/>
                        </a:rPr>
                        <a:t>S</a:t>
                      </a:r>
                      <a:endParaRPr lang="tr-TR" sz="125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l" indent="0" marL="0">
                        <a:buNone/>
                      </a:pPr>
                      <a:r>
                        <a:rPr lang="tr-TR" sz="1250" b="1" dirty="0">
                          <a:solidFill>
                            <a:srgbClr val="FFFFFF"/>
                          </a:solidFill>
                          <a:latin typeface="Cambria" pitchFamily="34" charset="0"/>
                          <a:ea typeface="Cambria" pitchFamily="34" charset="-122"/>
                          <a:cs typeface="Cambria" pitchFamily="34" charset="-120"/>
                        </a:rPr>
                        <a:t>Sonuç</a:t>
                      </a:r>
                      <a:endParaRPr lang="tr-TR" sz="125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algn="l" indent="0" marL="0">
                        <a:buNone/>
                      </a:pPr>
                      <a:r>
                        <a:rPr lang="tr-TR" sz="1250" b="1" dirty="0">
                          <a:solidFill>
                            <a:srgbClr val="3A464C"/>
                          </a:solidFill>
                          <a:latin typeface="Calibri" pitchFamily="34" charset="0"/>
                          <a:ea typeface="Calibri" pitchFamily="34" charset="-122"/>
                          <a:cs typeface="Calibri" pitchFamily="34" charset="-120"/>
                        </a:rPr>
                        <a:t>başlangıç (2 yazıcı)</a:t>
                      </a:r>
                      <a:endParaRPr lang="tr-TR"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250" dirty="0">
                          <a:solidFill>
                            <a:srgbClr val="3A464C"/>
                          </a:solidFill>
                          <a:latin typeface="Calibri" pitchFamily="34" charset="0"/>
                          <a:ea typeface="Calibri" pitchFamily="34" charset="-122"/>
                          <a:cs typeface="Calibri" pitchFamily="34" charset="-120"/>
                        </a:rPr>
                        <a:t>2</a:t>
                      </a:r>
                      <a:endParaRPr lang="tr-TR"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l" indent="0" marL="0">
                        <a:buNone/>
                      </a:pPr>
                      <a:endParaRPr lang="tr-TR"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algn="l" indent="0" marL="0">
                        <a:buNone/>
                      </a:pPr>
                      <a:r>
                        <a:rPr lang="tr-TR" sz="1250" b="1" dirty="0">
                          <a:solidFill>
                            <a:srgbClr val="3A464C"/>
                          </a:solidFill>
                          <a:latin typeface="Calibri" pitchFamily="34" charset="0"/>
                          <a:ea typeface="Calibri" pitchFamily="34" charset="-122"/>
                          <a:cs typeface="Calibri" pitchFamily="34" charset="-120"/>
                        </a:rPr>
                        <a:t>T1 wait</a:t>
                      </a:r>
                      <a:endParaRPr lang="tr-TR"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250" dirty="0">
                          <a:solidFill>
                            <a:srgbClr val="3A464C"/>
                          </a:solidFill>
                          <a:latin typeface="Calibri" pitchFamily="34" charset="0"/>
                          <a:ea typeface="Calibri" pitchFamily="34" charset="-122"/>
                          <a:cs typeface="Calibri" pitchFamily="34" charset="-120"/>
                        </a:rPr>
                        <a:t>1</a:t>
                      </a:r>
                      <a:endParaRPr lang="tr-TR"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l" indent="0" marL="0">
                        <a:buNone/>
                      </a:pPr>
                      <a:r>
                        <a:rPr lang="tr-TR" sz="1250" dirty="0">
                          <a:solidFill>
                            <a:srgbClr val="3A464C"/>
                          </a:solidFill>
                          <a:latin typeface="Calibri" pitchFamily="34" charset="0"/>
                          <a:ea typeface="Calibri" pitchFamily="34" charset="-122"/>
                          <a:cs typeface="Calibri" pitchFamily="34" charset="-120"/>
                        </a:rPr>
                        <a:t>T1 girer</a:t>
                      </a:r>
                      <a:endParaRPr lang="tr-TR"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algn="l" indent="0" marL="0">
                        <a:buNone/>
                      </a:pPr>
                      <a:r>
                        <a:rPr lang="tr-TR" sz="1250" b="1" dirty="0">
                          <a:solidFill>
                            <a:srgbClr val="3A464C"/>
                          </a:solidFill>
                          <a:latin typeface="Calibri" pitchFamily="34" charset="0"/>
                          <a:ea typeface="Calibri" pitchFamily="34" charset="-122"/>
                          <a:cs typeface="Calibri" pitchFamily="34" charset="-120"/>
                        </a:rPr>
                        <a:t>T2 wait</a:t>
                      </a:r>
                      <a:endParaRPr lang="tr-TR"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250" dirty="0">
                          <a:solidFill>
                            <a:srgbClr val="3A464C"/>
                          </a:solidFill>
                          <a:latin typeface="Calibri" pitchFamily="34" charset="0"/>
                          <a:ea typeface="Calibri" pitchFamily="34" charset="-122"/>
                          <a:cs typeface="Calibri" pitchFamily="34" charset="-120"/>
                        </a:rPr>
                        <a:t>0</a:t>
                      </a:r>
                      <a:endParaRPr lang="tr-TR"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l" indent="0" marL="0">
                        <a:buNone/>
                      </a:pPr>
                      <a:r>
                        <a:rPr lang="tr-TR" sz="1250" dirty="0">
                          <a:solidFill>
                            <a:srgbClr val="3A464C"/>
                          </a:solidFill>
                          <a:latin typeface="Calibri" pitchFamily="34" charset="0"/>
                          <a:ea typeface="Calibri" pitchFamily="34" charset="-122"/>
                          <a:cs typeface="Calibri" pitchFamily="34" charset="-120"/>
                        </a:rPr>
                        <a:t>T2 girer</a:t>
                      </a:r>
                      <a:endParaRPr lang="tr-TR"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algn="l" indent="0" marL="0">
                        <a:buNone/>
                      </a:pPr>
                      <a:r>
                        <a:rPr lang="tr-TR" sz="1250" b="1" dirty="0">
                          <a:solidFill>
                            <a:srgbClr val="3A464C"/>
                          </a:solidFill>
                          <a:latin typeface="Calibri" pitchFamily="34" charset="0"/>
                          <a:ea typeface="Calibri" pitchFamily="34" charset="-122"/>
                          <a:cs typeface="Calibri" pitchFamily="34" charset="-120"/>
                        </a:rPr>
                        <a:t>T3 wait</a:t>
                      </a:r>
                      <a:endParaRPr lang="tr-TR"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250" dirty="0">
                          <a:solidFill>
                            <a:srgbClr val="3A464C"/>
                          </a:solidFill>
                          <a:latin typeface="Calibri" pitchFamily="34" charset="0"/>
                          <a:ea typeface="Calibri" pitchFamily="34" charset="-122"/>
                          <a:cs typeface="Calibri" pitchFamily="34" charset="-120"/>
                        </a:rPr>
                        <a:t>0</a:t>
                      </a:r>
                      <a:endParaRPr lang="tr-TR"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l" indent="0" marL="0">
                        <a:buNone/>
                      </a:pPr>
                      <a:r>
                        <a:rPr lang="tr-TR" sz="1250" dirty="0">
                          <a:solidFill>
                            <a:srgbClr val="3A464C"/>
                          </a:solidFill>
                          <a:latin typeface="Calibri" pitchFamily="34" charset="0"/>
                          <a:ea typeface="Calibri" pitchFamily="34" charset="-122"/>
                          <a:cs typeface="Calibri" pitchFamily="34" charset="-120"/>
                        </a:rPr>
                        <a:t>T3 bloklanır</a:t>
                      </a:r>
                      <a:endParaRPr lang="tr-TR"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algn="l" indent="0" marL="0">
                        <a:buNone/>
                      </a:pPr>
                      <a:r>
                        <a:rPr lang="tr-TR" sz="1250" b="1" dirty="0">
                          <a:solidFill>
                            <a:srgbClr val="3A464C"/>
                          </a:solidFill>
                          <a:latin typeface="Calibri" pitchFamily="34" charset="0"/>
                          <a:ea typeface="Calibri" pitchFamily="34" charset="-122"/>
                          <a:cs typeface="Calibri" pitchFamily="34" charset="-120"/>
                        </a:rPr>
                        <a:t>T1 signal</a:t>
                      </a:r>
                      <a:endParaRPr lang="tr-TR"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250" dirty="0">
                          <a:solidFill>
                            <a:srgbClr val="3A464C"/>
                          </a:solidFill>
                          <a:latin typeface="Calibri" pitchFamily="34" charset="0"/>
                          <a:ea typeface="Calibri" pitchFamily="34" charset="-122"/>
                          <a:cs typeface="Calibri" pitchFamily="34" charset="-120"/>
                        </a:rPr>
                        <a:t>1 → 0</a:t>
                      </a:r>
                      <a:endParaRPr lang="tr-TR"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l" indent="0" marL="0">
                        <a:buNone/>
                      </a:pPr>
                      <a:r>
                        <a:rPr lang="tr-TR" sz="1250" dirty="0">
                          <a:solidFill>
                            <a:srgbClr val="3A464C"/>
                          </a:solidFill>
                          <a:latin typeface="Calibri" pitchFamily="34" charset="0"/>
                          <a:ea typeface="Calibri" pitchFamily="34" charset="-122"/>
                          <a:cs typeface="Calibri" pitchFamily="34" charset="-120"/>
                        </a:rPr>
                        <a:t>T3 girer</a:t>
                      </a:r>
                      <a:endParaRPr lang="tr-TR"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algn="l" indent="0" marL="0">
                        <a:buNone/>
                      </a:pPr>
                      <a:r>
                        <a:rPr lang="tr-TR" sz="1250" b="1" dirty="0">
                          <a:solidFill>
                            <a:srgbClr val="3A464C"/>
                          </a:solidFill>
                          <a:latin typeface="Calibri" pitchFamily="34" charset="0"/>
                          <a:ea typeface="Calibri" pitchFamily="34" charset="-122"/>
                          <a:cs typeface="Calibri" pitchFamily="34" charset="-120"/>
                        </a:rPr>
                        <a:t>T2 signal</a:t>
                      </a:r>
                      <a:endParaRPr lang="tr-TR"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250" dirty="0">
                          <a:solidFill>
                            <a:srgbClr val="3A464C"/>
                          </a:solidFill>
                          <a:latin typeface="Calibri" pitchFamily="34" charset="0"/>
                          <a:ea typeface="Calibri" pitchFamily="34" charset="-122"/>
                          <a:cs typeface="Calibri" pitchFamily="34" charset="-120"/>
                        </a:rPr>
                        <a:t>1</a:t>
                      </a:r>
                      <a:endParaRPr lang="tr-TR"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l" indent="0" marL="0">
                        <a:buNone/>
                      </a:pPr>
                      <a:endParaRPr lang="tr-TR"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algn="l" indent="0" marL="0">
                        <a:buNone/>
                      </a:pPr>
                      <a:r>
                        <a:rPr lang="tr-TR" sz="1250" b="1" dirty="0">
                          <a:solidFill>
                            <a:srgbClr val="3A464C"/>
                          </a:solidFill>
                          <a:latin typeface="Calibri" pitchFamily="34" charset="0"/>
                          <a:ea typeface="Calibri" pitchFamily="34" charset="-122"/>
                          <a:cs typeface="Calibri" pitchFamily="34" charset="-120"/>
                        </a:rPr>
                        <a:t>T3 signal</a:t>
                      </a:r>
                      <a:endParaRPr lang="tr-TR"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250" dirty="0">
                          <a:solidFill>
                            <a:srgbClr val="3A464C"/>
                          </a:solidFill>
                          <a:latin typeface="Calibri" pitchFamily="34" charset="0"/>
                          <a:ea typeface="Calibri" pitchFamily="34" charset="-122"/>
                          <a:cs typeface="Calibri" pitchFamily="34" charset="-120"/>
                        </a:rPr>
                        <a:t>2</a:t>
                      </a:r>
                      <a:endParaRPr lang="tr-TR"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l" indent="0" marL="0">
                        <a:buNone/>
                      </a:pPr>
                      <a:r>
                        <a:rPr lang="tr-TR" sz="1250" dirty="0">
                          <a:solidFill>
                            <a:srgbClr val="3A464C"/>
                          </a:solidFill>
                          <a:latin typeface="Calibri" pitchFamily="34" charset="0"/>
                          <a:ea typeface="Calibri" pitchFamily="34" charset="-122"/>
                          <a:cs typeface="Calibri" pitchFamily="34" charset="-120"/>
                        </a:rPr>
                        <a:t>hepsi bitti</a:t>
                      </a:r>
                      <a:endParaRPr lang="tr-TR"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bl>
          </a:graphicData>
        </a:graphic>
      </p:graphicFrame>
      <p:sp>
        <p:nvSpPr>
          <p:cNvPr id="10" name="Text 6"/>
          <p:cNvSpPr txBox="1"/>
          <p:nvPr/>
        </p:nvSpPr>
        <p:spPr>
          <a:xfrm>
            <a:off x="6629400" y="4937760"/>
            <a:ext cx="5029200" cy="548640"/>
          </a:xfrm>
          <a:prstGeom prst="rect">
            <a:avLst/>
          </a:prstGeom>
          <a:noFill/>
          <a:ln/>
        </p:spPr>
        <p:txBody>
          <a:bodyPr wrap="square" lIns="0" tIns="0" rIns="0" bIns="0" rtlCol="0" anchor="t"/>
          <a:lstStyle/>
          <a:p>
            <a:pPr indent="0" marL="0">
              <a:buNone/>
            </a:pPr>
            <a:r>
              <a:rPr lang="tr-TR" sz="1300" i="1" dirty="0">
                <a:solidFill>
                  <a:srgbClr val="6B7679"/>
                </a:solidFill>
                <a:latin typeface="Calibri" pitchFamily="34" charset="0"/>
                <a:ea typeface="Calibri" pitchFamily="34" charset="-122"/>
                <a:cs typeface="Calibri" pitchFamily="34" charset="-120"/>
              </a:rPr>
              <a:t>Sayan semafor S = 2: aynı anda en çok iki iş parçacığı yazıcı kullanır.</a:t>
            </a:r>
            <a:endParaRPr lang="tr-TR"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4. PROBLEM · 6. HAFTA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İlk Uyan, En İyi Uyan, En Kötü Uyan</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8  ·  27</a:t>
            </a:r>
            <a:endParaRPr lang="tr-TR" sz="900" dirty="0"/>
          </a:p>
        </p:txBody>
      </p:sp>
      <p:sp>
        <p:nvSpPr>
          <p:cNvPr id="6" name="Shape 4"/>
          <p:cNvSpPr/>
          <p:nvPr/>
        </p:nvSpPr>
        <p:spPr>
          <a:xfrm>
            <a:off x="548640" y="1783080"/>
            <a:ext cx="11109960" cy="502920"/>
          </a:xfrm>
          <a:prstGeom prst="rect">
            <a:avLst/>
          </a:prstGeom>
          <a:solidFill>
            <a:srgbClr val="E4E8E9"/>
          </a:solidFill>
          <a:ln/>
        </p:spPr>
      </p:sp>
      <p:sp>
        <p:nvSpPr>
          <p:cNvPr id="7" name="Shape 5"/>
          <p:cNvSpPr/>
          <p:nvPr/>
        </p:nvSpPr>
        <p:spPr>
          <a:xfrm>
            <a:off x="952639" y="1783080"/>
            <a:ext cx="1211996" cy="502920"/>
          </a:xfrm>
          <a:prstGeom prst="roundRect">
            <a:avLst>
              <a:gd name="adj" fmla="val 9091"/>
            </a:avLst>
          </a:prstGeom>
          <a:solidFill>
            <a:srgbClr val="02C39A"/>
          </a:solidFill>
          <a:ln/>
        </p:spPr>
      </p:sp>
      <p:sp>
        <p:nvSpPr>
          <p:cNvPr id="8" name="Text 6"/>
          <p:cNvSpPr txBox="1"/>
          <p:nvPr/>
        </p:nvSpPr>
        <p:spPr>
          <a:xfrm>
            <a:off x="952639" y="1783080"/>
            <a:ext cx="1211996" cy="502920"/>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300</a:t>
            </a:r>
            <a:endParaRPr lang="tr-TR" sz="1300" dirty="0"/>
          </a:p>
        </p:txBody>
      </p:sp>
      <p:sp>
        <p:nvSpPr>
          <p:cNvPr id="9" name="Text 7"/>
          <p:cNvSpPr txBox="1"/>
          <p:nvPr/>
        </p:nvSpPr>
        <p:spPr>
          <a:xfrm>
            <a:off x="678319" y="2304288"/>
            <a:ext cx="548640" cy="228600"/>
          </a:xfrm>
          <a:prstGeom prst="rect">
            <a:avLst/>
          </a:prstGeom>
          <a:noFill/>
          <a:ln/>
        </p:spPr>
        <p:txBody>
          <a:bodyPr wrap="square" lIns="0" tIns="0" rIns="0" bIns="0" rtlCol="0" anchor="t"/>
          <a:lstStyle/>
          <a:p>
            <a:pPr algn="ctr" indent="0" marL="0">
              <a:buNone/>
            </a:pPr>
            <a:r>
              <a:rPr lang="tr-TR" sz="1000" dirty="0">
                <a:solidFill>
                  <a:srgbClr val="6B7679"/>
                </a:solidFill>
                <a:latin typeface="Calibri" pitchFamily="34" charset="0"/>
                <a:ea typeface="Calibri" pitchFamily="34" charset="-122"/>
                <a:cs typeface="Calibri" pitchFamily="34" charset="-120"/>
              </a:rPr>
              <a:t>100</a:t>
            </a:r>
            <a:endParaRPr lang="tr-TR" sz="1000" dirty="0"/>
          </a:p>
        </p:txBody>
      </p:sp>
      <p:sp>
        <p:nvSpPr>
          <p:cNvPr id="10" name="Shape 8"/>
          <p:cNvSpPr/>
          <p:nvPr/>
        </p:nvSpPr>
        <p:spPr>
          <a:xfrm>
            <a:off x="2568633" y="1783080"/>
            <a:ext cx="2423991" cy="502920"/>
          </a:xfrm>
          <a:prstGeom prst="roundRect">
            <a:avLst>
              <a:gd name="adj" fmla="val 9091"/>
            </a:avLst>
          </a:prstGeom>
          <a:solidFill>
            <a:srgbClr val="02C39A"/>
          </a:solidFill>
          <a:ln/>
        </p:spPr>
      </p:sp>
      <p:sp>
        <p:nvSpPr>
          <p:cNvPr id="11" name="Text 9"/>
          <p:cNvSpPr txBox="1"/>
          <p:nvPr/>
        </p:nvSpPr>
        <p:spPr>
          <a:xfrm>
            <a:off x="2568633" y="1783080"/>
            <a:ext cx="2423991" cy="502920"/>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600</a:t>
            </a:r>
            <a:endParaRPr lang="tr-TR" sz="1300" dirty="0"/>
          </a:p>
        </p:txBody>
      </p:sp>
      <p:sp>
        <p:nvSpPr>
          <p:cNvPr id="12" name="Text 10"/>
          <p:cNvSpPr txBox="1"/>
          <p:nvPr/>
        </p:nvSpPr>
        <p:spPr>
          <a:xfrm>
            <a:off x="2294313" y="2304288"/>
            <a:ext cx="548640" cy="228600"/>
          </a:xfrm>
          <a:prstGeom prst="rect">
            <a:avLst/>
          </a:prstGeom>
          <a:noFill/>
          <a:ln/>
        </p:spPr>
        <p:txBody>
          <a:bodyPr wrap="square" lIns="0" tIns="0" rIns="0" bIns="0" rtlCol="0" anchor="t"/>
          <a:lstStyle/>
          <a:p>
            <a:pPr algn="ctr" indent="0" marL="0">
              <a:buNone/>
            </a:pPr>
            <a:r>
              <a:rPr lang="tr-TR" sz="1000" dirty="0">
                <a:solidFill>
                  <a:srgbClr val="6B7679"/>
                </a:solidFill>
                <a:latin typeface="Calibri" pitchFamily="34" charset="0"/>
                <a:ea typeface="Calibri" pitchFamily="34" charset="-122"/>
                <a:cs typeface="Calibri" pitchFamily="34" charset="-120"/>
              </a:rPr>
              <a:t>500</a:t>
            </a:r>
            <a:endParaRPr lang="tr-TR" sz="1000" dirty="0"/>
          </a:p>
        </p:txBody>
      </p:sp>
      <p:sp>
        <p:nvSpPr>
          <p:cNvPr id="13" name="Shape 11"/>
          <p:cNvSpPr/>
          <p:nvPr/>
        </p:nvSpPr>
        <p:spPr>
          <a:xfrm>
            <a:off x="5800621" y="1783080"/>
            <a:ext cx="807997" cy="502920"/>
          </a:xfrm>
          <a:prstGeom prst="roundRect">
            <a:avLst>
              <a:gd name="adj" fmla="val 9091"/>
            </a:avLst>
          </a:prstGeom>
          <a:solidFill>
            <a:srgbClr val="02C39A"/>
          </a:solidFill>
          <a:ln/>
        </p:spPr>
      </p:sp>
      <p:sp>
        <p:nvSpPr>
          <p:cNvPr id="14" name="Text 12"/>
          <p:cNvSpPr txBox="1"/>
          <p:nvPr/>
        </p:nvSpPr>
        <p:spPr>
          <a:xfrm>
            <a:off x="5800621" y="1783080"/>
            <a:ext cx="807997" cy="502920"/>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200</a:t>
            </a:r>
            <a:endParaRPr lang="tr-TR" sz="1300" dirty="0"/>
          </a:p>
        </p:txBody>
      </p:sp>
      <p:sp>
        <p:nvSpPr>
          <p:cNvPr id="15" name="Text 13"/>
          <p:cNvSpPr txBox="1"/>
          <p:nvPr/>
        </p:nvSpPr>
        <p:spPr>
          <a:xfrm>
            <a:off x="5526301" y="2304288"/>
            <a:ext cx="548640" cy="228600"/>
          </a:xfrm>
          <a:prstGeom prst="rect">
            <a:avLst/>
          </a:prstGeom>
          <a:noFill/>
          <a:ln/>
        </p:spPr>
        <p:txBody>
          <a:bodyPr wrap="square" lIns="0" tIns="0" rIns="0" bIns="0" rtlCol="0" anchor="t"/>
          <a:lstStyle/>
          <a:p>
            <a:pPr algn="ctr" indent="0" marL="0">
              <a:buNone/>
            </a:pPr>
            <a:r>
              <a:rPr lang="tr-TR" sz="1000" dirty="0">
                <a:solidFill>
                  <a:srgbClr val="6B7679"/>
                </a:solidFill>
                <a:latin typeface="Calibri" pitchFamily="34" charset="0"/>
                <a:ea typeface="Calibri" pitchFamily="34" charset="-122"/>
                <a:cs typeface="Calibri" pitchFamily="34" charset="-120"/>
              </a:rPr>
              <a:t>1300</a:t>
            </a:r>
            <a:endParaRPr lang="tr-TR" sz="1000" dirty="0"/>
          </a:p>
        </p:txBody>
      </p:sp>
      <p:sp>
        <p:nvSpPr>
          <p:cNvPr id="16" name="Shape 14"/>
          <p:cNvSpPr/>
          <p:nvPr/>
        </p:nvSpPr>
        <p:spPr>
          <a:xfrm>
            <a:off x="7416615" y="1783080"/>
            <a:ext cx="1817993" cy="502920"/>
          </a:xfrm>
          <a:prstGeom prst="roundRect">
            <a:avLst>
              <a:gd name="adj" fmla="val 9091"/>
            </a:avLst>
          </a:prstGeom>
          <a:solidFill>
            <a:srgbClr val="02C39A"/>
          </a:solidFill>
          <a:ln/>
        </p:spPr>
      </p:sp>
      <p:sp>
        <p:nvSpPr>
          <p:cNvPr id="17" name="Text 15"/>
          <p:cNvSpPr txBox="1"/>
          <p:nvPr/>
        </p:nvSpPr>
        <p:spPr>
          <a:xfrm>
            <a:off x="7416615" y="1783080"/>
            <a:ext cx="1817993" cy="502920"/>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450</a:t>
            </a:r>
            <a:endParaRPr lang="tr-TR" sz="1300" dirty="0"/>
          </a:p>
        </p:txBody>
      </p:sp>
      <p:sp>
        <p:nvSpPr>
          <p:cNvPr id="18" name="Text 16"/>
          <p:cNvSpPr txBox="1"/>
          <p:nvPr/>
        </p:nvSpPr>
        <p:spPr>
          <a:xfrm>
            <a:off x="7142295" y="2304288"/>
            <a:ext cx="548640" cy="228600"/>
          </a:xfrm>
          <a:prstGeom prst="rect">
            <a:avLst/>
          </a:prstGeom>
          <a:noFill/>
          <a:ln/>
        </p:spPr>
        <p:txBody>
          <a:bodyPr wrap="square" lIns="0" tIns="0" rIns="0" bIns="0" rtlCol="0" anchor="t"/>
          <a:lstStyle/>
          <a:p>
            <a:pPr algn="ctr" indent="0" marL="0">
              <a:buNone/>
            </a:pPr>
            <a:r>
              <a:rPr lang="tr-TR" sz="1000" dirty="0">
                <a:solidFill>
                  <a:srgbClr val="6B7679"/>
                </a:solidFill>
                <a:latin typeface="Calibri" pitchFamily="34" charset="0"/>
                <a:ea typeface="Calibri" pitchFamily="34" charset="-122"/>
                <a:cs typeface="Calibri" pitchFamily="34" charset="-120"/>
              </a:rPr>
              <a:t>1700</a:t>
            </a:r>
            <a:endParaRPr lang="tr-TR" sz="1000" dirty="0"/>
          </a:p>
        </p:txBody>
      </p:sp>
      <p:sp>
        <p:nvSpPr>
          <p:cNvPr id="19" name="Shape 17"/>
          <p:cNvSpPr/>
          <p:nvPr/>
        </p:nvSpPr>
        <p:spPr>
          <a:xfrm>
            <a:off x="10244605" y="1783080"/>
            <a:ext cx="1413995" cy="502920"/>
          </a:xfrm>
          <a:prstGeom prst="roundRect">
            <a:avLst>
              <a:gd name="adj" fmla="val 9091"/>
            </a:avLst>
          </a:prstGeom>
          <a:solidFill>
            <a:srgbClr val="02C39A"/>
          </a:solidFill>
          <a:ln/>
        </p:spPr>
      </p:sp>
      <p:sp>
        <p:nvSpPr>
          <p:cNvPr id="20" name="Text 18"/>
          <p:cNvSpPr txBox="1"/>
          <p:nvPr/>
        </p:nvSpPr>
        <p:spPr>
          <a:xfrm>
            <a:off x="10244605" y="1783080"/>
            <a:ext cx="1413995" cy="502920"/>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350</a:t>
            </a:r>
            <a:endParaRPr lang="tr-TR" sz="1300" dirty="0"/>
          </a:p>
        </p:txBody>
      </p:sp>
      <p:sp>
        <p:nvSpPr>
          <p:cNvPr id="21" name="Text 19"/>
          <p:cNvSpPr txBox="1"/>
          <p:nvPr/>
        </p:nvSpPr>
        <p:spPr>
          <a:xfrm>
            <a:off x="9970285" y="2304288"/>
            <a:ext cx="548640" cy="228600"/>
          </a:xfrm>
          <a:prstGeom prst="rect">
            <a:avLst/>
          </a:prstGeom>
          <a:noFill/>
          <a:ln/>
        </p:spPr>
        <p:txBody>
          <a:bodyPr wrap="square" lIns="0" tIns="0" rIns="0" bIns="0" rtlCol="0" anchor="t"/>
          <a:lstStyle/>
          <a:p>
            <a:pPr algn="ctr" indent="0" marL="0">
              <a:buNone/>
            </a:pPr>
            <a:r>
              <a:rPr lang="tr-TR" sz="1000" dirty="0">
                <a:solidFill>
                  <a:srgbClr val="6B7679"/>
                </a:solidFill>
                <a:latin typeface="Calibri" pitchFamily="34" charset="0"/>
                <a:ea typeface="Calibri" pitchFamily="34" charset="-122"/>
                <a:cs typeface="Calibri" pitchFamily="34" charset="-120"/>
              </a:rPr>
              <a:t>2400</a:t>
            </a:r>
            <a:endParaRPr lang="tr-TR" sz="1000" dirty="0"/>
          </a:p>
        </p:txBody>
      </p:sp>
      <p:sp>
        <p:nvSpPr>
          <p:cNvPr id="22" name="Text 20"/>
          <p:cNvSpPr txBox="1"/>
          <p:nvPr/>
        </p:nvSpPr>
        <p:spPr>
          <a:xfrm>
            <a:off x="548640" y="1463040"/>
            <a:ext cx="11109960" cy="292608"/>
          </a:xfrm>
          <a:prstGeom prst="rect">
            <a:avLst/>
          </a:prstGeom>
          <a:noFill/>
          <a:ln/>
        </p:spPr>
        <p:txBody>
          <a:bodyPr wrap="square" lIns="0" tIns="0" rIns="0" bIns="0" rtlCol="0" anchor="t"/>
          <a:lstStyle/>
          <a:p>
            <a:pPr indent="0" marL="0">
              <a:buNone/>
            </a:pPr>
            <a:r>
              <a:rPr lang="tr-TR" sz="1300" i="1" dirty="0">
                <a:solidFill>
                  <a:srgbClr val="6B7679"/>
                </a:solidFill>
                <a:latin typeface="Calibri" pitchFamily="34" charset="0"/>
                <a:ea typeface="Calibri" pitchFamily="34" charset="-122"/>
                <a:cs typeface="Calibri" pitchFamily="34" charset="-120"/>
              </a:rPr>
              <a:t>Delikler (nane, boyut KB) adres sırasında; gri = kullanımda. İstekler sırayla: A = 340, B = 180, C = 420, D = 500 KB.</a:t>
            </a:r>
            <a:endParaRPr lang="tr-TR" sz="13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2788920"/>
          <a:ext cx="11109960" cy="914400"/>
        </p:xfrm>
        <a:graphic>
          <a:graphicData uri="http://schemas.openxmlformats.org/drawingml/2006/table">
            <a:tbl>
              <a:tblPr/>
              <a:tblGrid>
                <a:gridCol w="1508760"/>
                <a:gridCol w="3200400"/>
                <a:gridCol w="3200400"/>
                <a:gridCol w="3200400"/>
              </a:tblGrid>
              <a:tr h="0">
                <a:tc>
                  <a:txBody>
                    <a:bodyPr/>
                    <a:lstStyle/>
                    <a:p>
                      <a:pPr indent="0" marL="0">
                        <a:buNone/>
                      </a:pPr>
                      <a:r>
                        <a:rPr lang="tr-TR" sz="1400" b="1" dirty="0">
                          <a:solidFill>
                            <a:srgbClr val="FFFFFF"/>
                          </a:solidFill>
                          <a:latin typeface="Cambria" pitchFamily="34" charset="0"/>
                          <a:ea typeface="Cambria" pitchFamily="34" charset="-122"/>
                          <a:cs typeface="Cambria" pitchFamily="34" charset="-120"/>
                        </a:rPr>
                        <a:t>İstek</a:t>
                      </a:r>
                      <a:endParaRPr lang="tr-TR" sz="140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400" b="1" dirty="0">
                          <a:solidFill>
                            <a:srgbClr val="FFFFFF"/>
                          </a:solidFill>
                          <a:latin typeface="Cambria" pitchFamily="34" charset="0"/>
                          <a:ea typeface="Cambria" pitchFamily="34" charset="-122"/>
                          <a:cs typeface="Cambria" pitchFamily="34" charset="-120"/>
                        </a:rPr>
                        <a:t>İlk uyan</a:t>
                      </a:r>
                      <a:endParaRPr lang="tr-TR" sz="140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400" b="1" dirty="0">
                          <a:solidFill>
                            <a:srgbClr val="FFFFFF"/>
                          </a:solidFill>
                          <a:latin typeface="Cambria" pitchFamily="34" charset="0"/>
                          <a:ea typeface="Cambria" pitchFamily="34" charset="-122"/>
                          <a:cs typeface="Cambria" pitchFamily="34" charset="-120"/>
                        </a:rPr>
                        <a:t>En iyi uyan</a:t>
                      </a:r>
                      <a:endParaRPr lang="tr-TR" sz="140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400" b="1" dirty="0">
                          <a:solidFill>
                            <a:srgbClr val="FFFFFF"/>
                          </a:solidFill>
                          <a:latin typeface="Cambria" pitchFamily="34" charset="0"/>
                          <a:ea typeface="Cambria" pitchFamily="34" charset="-122"/>
                          <a:cs typeface="Cambria" pitchFamily="34" charset="-120"/>
                        </a:rPr>
                        <a:t>En kötü uyan</a:t>
                      </a:r>
                      <a:endParaRPr lang="tr-TR" sz="140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tr-TR" sz="1400" b="1" dirty="0">
                          <a:solidFill>
                            <a:srgbClr val="3A464C"/>
                          </a:solidFill>
                          <a:latin typeface="Calibri" pitchFamily="34" charset="0"/>
                          <a:ea typeface="Calibri" pitchFamily="34" charset="-122"/>
                          <a:cs typeface="Calibri" pitchFamily="34" charset="-120"/>
                        </a:rPr>
                        <a:t>A = 340</a:t>
                      </a:r>
                      <a:endParaRPr lang="tr-TR" sz="14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600@500 → kalan 260</a:t>
                      </a:r>
                      <a:endParaRPr lang="tr-TR" sz="14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350@2400 → kalan 10</a:t>
                      </a:r>
                      <a:endParaRPr lang="tr-TR" sz="14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600@500 → kalan 260</a:t>
                      </a:r>
                      <a:endParaRPr lang="tr-TR" sz="14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400" b="1" dirty="0">
                          <a:solidFill>
                            <a:srgbClr val="3A464C"/>
                          </a:solidFill>
                          <a:latin typeface="Calibri" pitchFamily="34" charset="0"/>
                          <a:ea typeface="Calibri" pitchFamily="34" charset="-122"/>
                          <a:cs typeface="Calibri" pitchFamily="34" charset="-120"/>
                        </a:rPr>
                        <a:t>B = 180</a:t>
                      </a:r>
                      <a:endParaRPr lang="tr-TR" sz="14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300@100 → kalan 120</a:t>
                      </a:r>
                      <a:endParaRPr lang="tr-TR" sz="14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200@1300 → kalan 20</a:t>
                      </a:r>
                      <a:endParaRPr lang="tr-TR" sz="14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450@1700 → kalan 270</a:t>
                      </a:r>
                      <a:endParaRPr lang="tr-TR" sz="14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400" b="1" dirty="0">
                          <a:solidFill>
                            <a:srgbClr val="3A464C"/>
                          </a:solidFill>
                          <a:latin typeface="Calibri" pitchFamily="34" charset="0"/>
                          <a:ea typeface="Calibri" pitchFamily="34" charset="-122"/>
                          <a:cs typeface="Calibri" pitchFamily="34" charset="-120"/>
                        </a:rPr>
                        <a:t>C = 420</a:t>
                      </a:r>
                      <a:endParaRPr lang="tr-TR" sz="14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450@1700 → kalan 30</a:t>
                      </a:r>
                      <a:endParaRPr lang="tr-TR" sz="14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450@1700 → kalan 30</a:t>
                      </a:r>
                      <a:endParaRPr lang="tr-TR" sz="14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beklemek zorunda</a:t>
                      </a:r>
                      <a:endParaRPr lang="tr-TR" sz="14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400" b="1" dirty="0">
                          <a:solidFill>
                            <a:srgbClr val="3A464C"/>
                          </a:solidFill>
                          <a:latin typeface="Calibri" pitchFamily="34" charset="0"/>
                          <a:ea typeface="Calibri" pitchFamily="34" charset="-122"/>
                          <a:cs typeface="Calibri" pitchFamily="34" charset="-120"/>
                        </a:rPr>
                        <a:t>D = 500</a:t>
                      </a:r>
                      <a:endParaRPr lang="tr-TR" sz="14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beklemek zorunda</a:t>
                      </a:r>
                      <a:endParaRPr lang="tr-TR" sz="14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600@500 → kalan 100</a:t>
                      </a:r>
                      <a:endParaRPr lang="tr-TR" sz="14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beklemek zorunda</a:t>
                      </a:r>
                      <a:endParaRPr lang="tr-TR" sz="14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bl>
          </a:graphicData>
        </a:graphic>
      </p:graphicFrame>
      <p:sp>
        <p:nvSpPr>
          <p:cNvPr id="24" name="Shape 21"/>
          <p:cNvSpPr/>
          <p:nvPr/>
        </p:nvSpPr>
        <p:spPr>
          <a:xfrm>
            <a:off x="548640" y="5074920"/>
            <a:ext cx="11109960" cy="1188720"/>
          </a:xfrm>
          <a:prstGeom prst="roundRect">
            <a:avLst>
              <a:gd name="adj" fmla="val 4615"/>
            </a:avLst>
          </a:prstGeom>
          <a:solidFill>
            <a:srgbClr val="36454F"/>
          </a:solidFill>
          <a:ln/>
          <a:effectLst>
            <a:outerShdw sx="100000" sy="100000" kx="0" ky="0" algn="bl" rotWithShape="0" blurRad="101600" dist="25400" dir="5400000">
              <a:srgbClr val="000000">
                <a:alpha val="12000"/>
              </a:srgbClr>
            </a:outerShdw>
          </a:effectLst>
        </p:spPr>
      </p:sp>
      <p:sp>
        <p:nvSpPr>
          <p:cNvPr id="25" name="Text 22"/>
          <p:cNvSpPr txBox="1"/>
          <p:nvPr/>
        </p:nvSpPr>
        <p:spPr>
          <a:xfrm>
            <a:off x="777240" y="5074920"/>
            <a:ext cx="10652760" cy="1188720"/>
          </a:xfrm>
          <a:prstGeom prst="rect">
            <a:avLst/>
          </a:prstGeom>
          <a:noFill/>
          <a:ln/>
        </p:spPr>
        <p:txBody>
          <a:bodyPr wrap="square" lIns="0" tIns="0" rIns="0" bIns="0" rtlCol="0" anchor="ctr"/>
          <a:lstStyle/>
          <a:p>
            <a:pPr indent="0" marL="0">
              <a:buNone/>
            </a:pPr>
            <a:r>
              <a:rPr lang="tr-TR" sz="1350" dirty="0">
                <a:solidFill>
                  <a:srgbClr val="F2F2F2"/>
                </a:solidFill>
                <a:latin typeface="Calibri" pitchFamily="34" charset="0"/>
                <a:ea typeface="Calibri" pitchFamily="34" charset="-122"/>
                <a:cs typeface="Calibri" pitchFamily="34" charset="-120"/>
              </a:rPr>
              <a:t>İlk uyan: 960 KB boş olduğu hâlde D bekler (en büyük delik 350 KB) — dış parçalanma. En iyi uyan dördünü de yerleştirir. En kötü uyan iki kez başarısız: 1380 KB boş, en büyük delik 350 KB. Tek bir örnek genel bir şey kanıtlamaz.</a:t>
            </a:r>
            <a:endParaRPr lang="tr-TR" sz="13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5. PROBLEM · 6. HAFTA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Adres Çevirisi ve TLB</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8  ·  28</a:t>
            </a:r>
            <a:endParaRPr lang="tr-TR" sz="9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2651760" cy="914400"/>
        </p:xfrm>
        <a:graphic>
          <a:graphicData uri="http://schemas.openxmlformats.org/drawingml/2006/table">
            <a:tbl>
              <a:tblPr/>
              <a:tblGrid>
                <a:gridCol w="731520"/>
                <a:gridCol w="1097280"/>
                <a:gridCol w="822960"/>
              </a:tblGrid>
              <a:tr h="0">
                <a:tc>
                  <a:txBody>
                    <a:bodyPr/>
                    <a:lstStyle/>
                    <a:p>
                      <a:pPr algn="ctr" indent="0" marL="0">
                        <a:buNone/>
                      </a:pPr>
                      <a:r>
                        <a:rPr lang="tr-TR" sz="1300" b="1" dirty="0">
                          <a:solidFill>
                            <a:srgbClr val="FFFFFF"/>
                          </a:solidFill>
                          <a:latin typeface="Cambria" pitchFamily="34" charset="0"/>
                          <a:ea typeface="Cambria" pitchFamily="34" charset="-122"/>
                          <a:cs typeface="Cambria" pitchFamily="34" charset="-120"/>
                        </a:rPr>
                        <a:t>Sayfa</a:t>
                      </a:r>
                      <a:endParaRPr lang="tr-TR" sz="130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tr-TR" sz="1300" b="1" dirty="0">
                          <a:solidFill>
                            <a:srgbClr val="FFFFFF"/>
                          </a:solidFill>
                          <a:latin typeface="Cambria" pitchFamily="34" charset="0"/>
                          <a:ea typeface="Cambria" pitchFamily="34" charset="-122"/>
                          <a:cs typeface="Cambria" pitchFamily="34" charset="-120"/>
                        </a:rPr>
                        <a:t>Çerçeve</a:t>
                      </a:r>
                      <a:endParaRPr lang="tr-TR" sz="130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tr-TR" sz="1300" b="1" dirty="0">
                          <a:solidFill>
                            <a:srgbClr val="FFFFFF"/>
                          </a:solidFill>
                          <a:latin typeface="Cambria" pitchFamily="34" charset="0"/>
                          <a:ea typeface="Cambria" pitchFamily="34" charset="-122"/>
                          <a:cs typeface="Cambria" pitchFamily="34" charset="-120"/>
                        </a:rPr>
                        <a:t>Geçerli</a:t>
                      </a:r>
                      <a:endParaRPr lang="tr-TR" sz="130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algn="ctr" indent="0" marL="0">
                        <a:buNone/>
                      </a:pPr>
                      <a:r>
                        <a:rPr lang="tr-TR" sz="1300" b="1" dirty="0">
                          <a:solidFill>
                            <a:srgbClr val="3A464C"/>
                          </a:solidFill>
                          <a:latin typeface="Calibri" pitchFamily="34" charset="0"/>
                          <a:ea typeface="Calibri" pitchFamily="34" charset="-122"/>
                          <a:cs typeface="Calibri" pitchFamily="34" charset="-120"/>
                        </a:rPr>
                        <a:t>0</a:t>
                      </a:r>
                      <a:endParaRPr lang="tr-TR"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3</a:t>
                      </a:r>
                      <a:endParaRPr lang="tr-TR"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v</a:t>
                      </a:r>
                      <a:endParaRPr lang="tr-TR"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algn="ctr" indent="0" marL="0">
                        <a:buNone/>
                      </a:pPr>
                      <a:r>
                        <a:rPr lang="tr-TR" sz="1300" b="1" dirty="0">
                          <a:solidFill>
                            <a:srgbClr val="3A464C"/>
                          </a:solidFill>
                          <a:latin typeface="Calibri" pitchFamily="34" charset="0"/>
                          <a:ea typeface="Calibri" pitchFamily="34" charset="-122"/>
                          <a:cs typeface="Calibri" pitchFamily="34" charset="-120"/>
                        </a:rPr>
                        <a:t>1</a:t>
                      </a:r>
                      <a:endParaRPr lang="tr-TR"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8</a:t>
                      </a:r>
                      <a:endParaRPr lang="tr-TR"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v</a:t>
                      </a:r>
                      <a:endParaRPr lang="tr-TR"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algn="ctr" indent="0" marL="0">
                        <a:buNone/>
                      </a:pPr>
                      <a:r>
                        <a:rPr lang="tr-TR" sz="1300" b="1" dirty="0">
                          <a:solidFill>
                            <a:srgbClr val="3A464C"/>
                          </a:solidFill>
                          <a:latin typeface="Calibri" pitchFamily="34" charset="0"/>
                          <a:ea typeface="Calibri" pitchFamily="34" charset="-122"/>
                          <a:cs typeface="Calibri" pitchFamily="34" charset="-120"/>
                        </a:rPr>
                        <a:t>2</a:t>
                      </a:r>
                      <a:endParaRPr lang="tr-TR"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6</a:t>
                      </a:r>
                      <a:endParaRPr lang="tr-TR"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v</a:t>
                      </a:r>
                      <a:endParaRPr lang="tr-TR"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algn="ctr" indent="0" marL="0">
                        <a:buNone/>
                      </a:pPr>
                      <a:r>
                        <a:rPr lang="tr-TR" sz="1300" b="1" dirty="0">
                          <a:solidFill>
                            <a:srgbClr val="3A464C"/>
                          </a:solidFill>
                          <a:latin typeface="Calibri" pitchFamily="34" charset="0"/>
                          <a:ea typeface="Calibri" pitchFamily="34" charset="-122"/>
                          <a:cs typeface="Calibri" pitchFamily="34" charset="-120"/>
                        </a:rPr>
                        <a:t>3</a:t>
                      </a:r>
                      <a:endParaRPr lang="tr-TR"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a:t>
                      </a:r>
                      <a:endParaRPr lang="tr-TR"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i</a:t>
                      </a:r>
                      <a:endParaRPr lang="tr-TR"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algn="ctr" indent="0" marL="0">
                        <a:buNone/>
                      </a:pPr>
                      <a:r>
                        <a:rPr lang="tr-TR" sz="1300" b="1" dirty="0">
                          <a:solidFill>
                            <a:srgbClr val="3A464C"/>
                          </a:solidFill>
                          <a:latin typeface="Calibri" pitchFamily="34" charset="0"/>
                          <a:ea typeface="Calibri" pitchFamily="34" charset="-122"/>
                          <a:cs typeface="Calibri" pitchFamily="34" charset="-120"/>
                        </a:rPr>
                        <a:t>4</a:t>
                      </a:r>
                      <a:endParaRPr lang="tr-TR"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10 (0xA)</a:t>
                      </a:r>
                      <a:endParaRPr lang="tr-TR"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v</a:t>
                      </a:r>
                      <a:endParaRPr lang="tr-TR"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algn="ctr" indent="0" marL="0">
                        <a:buNone/>
                      </a:pPr>
                      <a:r>
                        <a:rPr lang="tr-TR" sz="1300" b="1" dirty="0">
                          <a:solidFill>
                            <a:srgbClr val="3A464C"/>
                          </a:solidFill>
                          <a:latin typeface="Calibri" pitchFamily="34" charset="0"/>
                          <a:ea typeface="Calibri" pitchFamily="34" charset="-122"/>
                          <a:cs typeface="Calibri" pitchFamily="34" charset="-120"/>
                        </a:rPr>
                        <a:t>5</a:t>
                      </a:r>
                      <a:endParaRPr lang="tr-TR"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2</a:t>
                      </a:r>
                      <a:endParaRPr lang="tr-TR"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v</a:t>
                      </a:r>
                      <a:endParaRPr lang="tr-TR"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548640" y="4297680"/>
            <a:ext cx="2651760" cy="914400"/>
          </a:xfrm>
          <a:prstGeom prst="rect">
            <a:avLst/>
          </a:prstGeom>
          <a:noFill/>
          <a:ln/>
        </p:spPr>
        <p:txBody>
          <a:bodyPr wrap="square" lIns="0" tIns="0" rIns="0" bIns="0" rtlCol="0" anchor="t"/>
          <a:lstStyle/>
          <a:p>
            <a:pPr indent="0" marL="0">
              <a:buNone/>
            </a:pPr>
            <a:r>
              <a:rPr lang="tr-TR" sz="1200" i="1" dirty="0">
                <a:solidFill>
                  <a:srgbClr val="6B7679"/>
                </a:solidFill>
                <a:latin typeface="Calibri" pitchFamily="34" charset="0"/>
                <a:ea typeface="Calibri" pitchFamily="34" charset="-122"/>
                <a:cs typeface="Calibri" pitchFamily="34" charset="-120"/>
              </a:rPr>
              <a:t>16 bitlik adresler, 4 KB sayfalar: p = ilk onaltılık basamak, d = son üç basamak.</a:t>
            </a:r>
            <a:endParaRPr lang="tr-TR" sz="1200" dirty="0"/>
          </a:p>
        </p:txBody>
      </p:sp>
      <p:sp>
        <p:nvSpPr>
          <p:cNvPr id="8" name="Shape 5"/>
          <p:cNvSpPr/>
          <p:nvPr/>
        </p:nvSpPr>
        <p:spPr>
          <a:xfrm>
            <a:off x="3429000" y="1554480"/>
            <a:ext cx="4206240" cy="4709160"/>
          </a:xfrm>
          <a:prstGeom prst="roundRect">
            <a:avLst>
              <a:gd name="adj" fmla="val 1087"/>
            </a:avLst>
          </a:prstGeom>
          <a:solidFill>
            <a:srgbClr val="212121"/>
          </a:solidFill>
          <a:ln/>
        </p:spPr>
      </p:sp>
      <p:sp>
        <p:nvSpPr>
          <p:cNvPr id="9" name="Text 6"/>
          <p:cNvSpPr txBox="1"/>
          <p:nvPr/>
        </p:nvSpPr>
        <p:spPr>
          <a:xfrm>
            <a:off x="3611880" y="1664208"/>
            <a:ext cx="3840480" cy="4489704"/>
          </a:xfrm>
          <a:prstGeom prst="rect">
            <a:avLst/>
          </a:prstGeom>
          <a:noFill/>
          <a:ln/>
        </p:spPr>
        <p:txBody>
          <a:bodyPr wrap="square" lIns="0" tIns="0" rIns="0" bIns="0" rtlCol="0" anchor="t"/>
          <a:lstStyle/>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0x1C3B: p = 1, d = 0xC3B</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  çerçeve 8 → 0x8C3B = 35899</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  (8 × 4096 + 3131)</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 </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0x4F0E: p = 4, d = 0xF0E</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  çerçeve 10 → 0xAF0E = 44814</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 </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0x2010: p = 2 → 0x6010 = 24592</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 </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0x3004: p = 3 geçersiz</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  → TUZAK (çeviri yok)</a:t>
            </a:r>
            <a:endParaRPr lang="tr-TR" sz="1300" dirty="0"/>
          </a:p>
        </p:txBody>
      </p:sp>
      <p:sp>
        <p:nvSpPr>
          <p:cNvPr id="10" name="Shape 7"/>
          <p:cNvSpPr/>
          <p:nvPr/>
        </p:nvSpPr>
        <p:spPr>
          <a:xfrm>
            <a:off x="7863840" y="1554480"/>
            <a:ext cx="3794760" cy="3108960"/>
          </a:xfrm>
          <a:prstGeom prst="roundRect">
            <a:avLst>
              <a:gd name="adj" fmla="val 1471"/>
            </a:avLst>
          </a:prstGeom>
          <a:solidFill>
            <a:srgbClr val="212121"/>
          </a:solidFill>
          <a:ln/>
        </p:spPr>
      </p:sp>
      <p:sp>
        <p:nvSpPr>
          <p:cNvPr id="11" name="Text 8"/>
          <p:cNvSpPr txBox="1"/>
          <p:nvPr/>
        </p:nvSpPr>
        <p:spPr>
          <a:xfrm>
            <a:off x="8046720" y="1664208"/>
            <a:ext cx="3429000" cy="2889504"/>
          </a:xfrm>
          <a:prstGeom prst="rect">
            <a:avLst/>
          </a:prstGeom>
          <a:noFill/>
          <a:ln/>
        </p:spPr>
        <p:txBody>
          <a:bodyPr wrap="square" lIns="0" tIns="0" rIns="0" bIns="0" rtlCol="0" anchor="t"/>
          <a:lstStyle/>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t_TLB = 10, t_m = 80 ns, α = 0.95</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EAT = 0.95 × 90 + 0.05 × 170</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    = 85.5 + 8.5 = 94 ns</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denetim: 10 + 1.05 × 80 = 94</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TLB'siz: 2 × 80 = 160 ns</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 </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EAT = 100 ns → α = ?</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10 + (2 − α) 80 = 100</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α = 0.875</a:t>
            </a:r>
            <a:endParaRPr lang="tr-TR" sz="1250" dirty="0"/>
          </a:p>
        </p:txBody>
      </p:sp>
      <p:sp>
        <p:nvSpPr>
          <p:cNvPr id="12" name="Shape 9"/>
          <p:cNvSpPr/>
          <p:nvPr/>
        </p:nvSpPr>
        <p:spPr>
          <a:xfrm>
            <a:off x="7863840" y="4846320"/>
            <a:ext cx="3794760" cy="1417320"/>
          </a:xfrm>
          <a:prstGeom prst="roundRect">
            <a:avLst>
              <a:gd name="adj" fmla="val 3871"/>
            </a:avLst>
          </a:prstGeom>
          <a:solidFill>
            <a:srgbClr val="F2F2F2"/>
          </a:solidFill>
          <a:ln/>
          <a:effectLst>
            <a:outerShdw sx="100000" sy="100000" kx="0" ky="0" algn="bl" rotWithShape="0" blurRad="101600" dist="25400" dir="5400000">
              <a:srgbClr val="000000">
                <a:alpha val="12000"/>
              </a:srgbClr>
            </a:outerShdw>
          </a:effectLst>
        </p:spPr>
      </p:sp>
      <p:sp>
        <p:nvSpPr>
          <p:cNvPr id="13" name="Text 10"/>
          <p:cNvSpPr txBox="1"/>
          <p:nvPr/>
        </p:nvSpPr>
        <p:spPr>
          <a:xfrm>
            <a:off x="8092440" y="5029200"/>
            <a:ext cx="333756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Sadeleştirilmiş (t_TLB ≈ 0)</a:t>
            </a:r>
            <a:endParaRPr lang="tr-TR" sz="1500" dirty="0"/>
          </a:p>
        </p:txBody>
      </p:sp>
      <p:sp>
        <p:nvSpPr>
          <p:cNvPr id="14" name="Text 11"/>
          <p:cNvSpPr txBox="1"/>
          <p:nvPr/>
        </p:nvSpPr>
        <p:spPr>
          <a:xfrm>
            <a:off x="8092440" y="5486400"/>
            <a:ext cx="3337560" cy="640080"/>
          </a:xfrm>
          <a:prstGeom prst="rect">
            <a:avLst/>
          </a:prstGeom>
          <a:noFill/>
          <a:ln/>
        </p:spPr>
        <p:txBody>
          <a:bodyPr wrap="square" lIns="0" tIns="0" rIns="0" bIns="0" rtlCol="0" anchor="t"/>
          <a:lstStyle/>
          <a:p>
            <a:pPr indent="0" marL="0">
              <a:spcAft>
                <a:spcPts val="400"/>
              </a:spcAft>
              <a:buNone/>
            </a:pPr>
            <a:r>
              <a:rPr lang="tr-TR" sz="1300" dirty="0">
                <a:solidFill>
                  <a:srgbClr val="3A464C"/>
                </a:solidFill>
                <a:latin typeface="Calibri" pitchFamily="34" charset="0"/>
                <a:ea typeface="Calibri" pitchFamily="34" charset="-122"/>
                <a:cs typeface="Calibri" pitchFamily="34" charset="-120"/>
              </a:rPr>
              <a:t>0,95 × 80 + 0,05 × 160 = 84 ns. Uzlaşımınızı yazın!</a:t>
            </a:r>
            <a:endParaRPr lang="tr-TR"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6. PROBLEM · 7. HAFTA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Sayfa Değiştirme: FIFO ve LRU, 3 Çerçeve</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8  ·  29</a:t>
            </a:r>
            <a:endParaRPr lang="tr-TR" sz="900" dirty="0"/>
          </a:p>
        </p:txBody>
      </p:sp>
      <p:sp>
        <p:nvSpPr>
          <p:cNvPr id="6" name="Text 4"/>
          <p:cNvSpPr txBox="1"/>
          <p:nvPr/>
        </p:nvSpPr>
        <p:spPr>
          <a:xfrm>
            <a:off x="548640" y="1417320"/>
            <a:ext cx="11109960" cy="292608"/>
          </a:xfrm>
          <a:prstGeom prst="rect">
            <a:avLst/>
          </a:prstGeom>
          <a:noFill/>
          <a:ln/>
        </p:spPr>
        <p:txBody>
          <a:bodyPr wrap="square" lIns="0" tIns="0" rIns="0" bIns="0" rtlCol="0" anchor="t"/>
          <a:lstStyle/>
          <a:p>
            <a:pPr indent="0" marL="0">
              <a:buNone/>
            </a:pPr>
            <a:r>
              <a:rPr lang="tr-TR" sz="1300" i="1" dirty="0">
                <a:solidFill>
                  <a:srgbClr val="6B7679"/>
                </a:solidFill>
                <a:latin typeface="Calibri" pitchFamily="34" charset="0"/>
                <a:ea typeface="Calibri" pitchFamily="34" charset="-122"/>
                <a:cs typeface="Calibri" pitchFamily="34" charset="-120"/>
              </a:rPr>
              <a:t>Başvuru dizisi: 1, 2, 0, 4, 2, 3, 2, 1, 2, 4, 0, 2, 0, 1   ·   3 çerçeve, başlangıçta boş</a:t>
            </a:r>
            <a:endParaRPr lang="tr-TR" sz="1300" dirty="0"/>
          </a:p>
        </p:txBody>
      </p:sp>
      <p:sp>
        <p:nvSpPr>
          <p:cNvPr id="7" name="Text 5"/>
          <p:cNvSpPr txBox="1"/>
          <p:nvPr/>
        </p:nvSpPr>
        <p:spPr>
          <a:xfrm>
            <a:off x="548640" y="1737360"/>
            <a:ext cx="1828800" cy="292608"/>
          </a:xfrm>
          <a:prstGeom prst="rect">
            <a:avLst/>
          </a:prstGeom>
          <a:noFill/>
          <a:ln/>
        </p:spPr>
        <p:txBody>
          <a:bodyPr wrap="square" lIns="0" tIns="0" rIns="0" bIns="0" rtlCol="0" anchor="t"/>
          <a:lstStyle/>
          <a:p>
            <a:pPr indent="0" marL="0">
              <a:buNone/>
            </a:pPr>
            <a:r>
              <a:rPr lang="tr-TR" sz="1400" b="1" dirty="0">
                <a:solidFill>
                  <a:srgbClr val="028090"/>
                </a:solidFill>
                <a:latin typeface="Calibri" pitchFamily="34" charset="0"/>
                <a:ea typeface="Calibri" pitchFamily="34" charset="-122"/>
                <a:cs typeface="Calibri" pitchFamily="34" charset="-120"/>
              </a:rPr>
              <a:t>FIFO</a:t>
            </a:r>
            <a:endParaRPr lang="tr-TR" sz="1400" dirty="0"/>
          </a:p>
        </p:txBody>
      </p:sp>
      <p:sp>
        <p:nvSpPr>
          <p:cNvPr id="8" name="Text 6"/>
          <p:cNvSpPr txBox="1"/>
          <p:nvPr/>
        </p:nvSpPr>
        <p:spPr>
          <a:xfrm>
            <a:off x="548640" y="2011680"/>
            <a:ext cx="795528" cy="329184"/>
          </a:xfrm>
          <a:prstGeom prst="rect">
            <a:avLst/>
          </a:prstGeom>
          <a:noFill/>
          <a:ln/>
        </p:spPr>
        <p:txBody>
          <a:bodyPr wrap="square" lIns="0" tIns="0" rIns="0" bIns="0" rtlCol="0" anchor="ctr"/>
          <a:lstStyle/>
          <a:p>
            <a:pPr algn="r" indent="0" marL="0">
              <a:buNone/>
            </a:pPr>
            <a:r>
              <a:rPr lang="tr-TR" sz="1050" i="1" dirty="0">
                <a:solidFill>
                  <a:srgbClr val="6B7679"/>
                </a:solidFill>
                <a:latin typeface="Calibri" pitchFamily="34" charset="0"/>
                <a:ea typeface="Calibri" pitchFamily="34" charset="-122"/>
                <a:cs typeface="Calibri" pitchFamily="34" charset="-120"/>
              </a:rPr>
              <a:t>başvuru</a:t>
            </a:r>
            <a:endParaRPr lang="tr-TR" sz="1050" dirty="0"/>
          </a:p>
        </p:txBody>
      </p:sp>
      <p:sp>
        <p:nvSpPr>
          <p:cNvPr id="9" name="Text 7"/>
          <p:cNvSpPr txBox="1"/>
          <p:nvPr/>
        </p:nvSpPr>
        <p:spPr>
          <a:xfrm>
            <a:off x="548640" y="2340864"/>
            <a:ext cx="795528" cy="329184"/>
          </a:xfrm>
          <a:prstGeom prst="rect">
            <a:avLst/>
          </a:prstGeom>
          <a:noFill/>
          <a:ln/>
        </p:spPr>
        <p:txBody>
          <a:bodyPr wrap="square" lIns="0" tIns="0" rIns="0" bIns="0" rtlCol="0" anchor="ctr"/>
          <a:lstStyle/>
          <a:p>
            <a:pPr algn="r" indent="0" marL="0">
              <a:buNone/>
            </a:pPr>
            <a:r>
              <a:rPr lang="tr-TR" sz="1050" i="1" dirty="0">
                <a:solidFill>
                  <a:srgbClr val="6B7679"/>
                </a:solidFill>
                <a:latin typeface="Calibri" pitchFamily="34" charset="0"/>
                <a:ea typeface="Calibri" pitchFamily="34" charset="-122"/>
                <a:cs typeface="Calibri" pitchFamily="34" charset="-120"/>
              </a:rPr>
              <a:t>çerçeve 0</a:t>
            </a:r>
            <a:endParaRPr lang="tr-TR" sz="1050" dirty="0"/>
          </a:p>
        </p:txBody>
      </p:sp>
      <p:sp>
        <p:nvSpPr>
          <p:cNvPr id="10" name="Text 8"/>
          <p:cNvSpPr txBox="1"/>
          <p:nvPr/>
        </p:nvSpPr>
        <p:spPr>
          <a:xfrm>
            <a:off x="548640" y="2670048"/>
            <a:ext cx="795528" cy="329184"/>
          </a:xfrm>
          <a:prstGeom prst="rect">
            <a:avLst/>
          </a:prstGeom>
          <a:noFill/>
          <a:ln/>
        </p:spPr>
        <p:txBody>
          <a:bodyPr wrap="square" lIns="0" tIns="0" rIns="0" bIns="0" rtlCol="0" anchor="ctr"/>
          <a:lstStyle/>
          <a:p>
            <a:pPr algn="r" indent="0" marL="0">
              <a:buNone/>
            </a:pPr>
            <a:r>
              <a:rPr lang="tr-TR" sz="1050" i="1" dirty="0">
                <a:solidFill>
                  <a:srgbClr val="6B7679"/>
                </a:solidFill>
                <a:latin typeface="Calibri" pitchFamily="34" charset="0"/>
                <a:ea typeface="Calibri" pitchFamily="34" charset="-122"/>
                <a:cs typeface="Calibri" pitchFamily="34" charset="-120"/>
              </a:rPr>
              <a:t>çerçeve 1</a:t>
            </a:r>
            <a:endParaRPr lang="tr-TR" sz="1050" dirty="0"/>
          </a:p>
        </p:txBody>
      </p:sp>
      <p:sp>
        <p:nvSpPr>
          <p:cNvPr id="11" name="Text 9"/>
          <p:cNvSpPr txBox="1"/>
          <p:nvPr/>
        </p:nvSpPr>
        <p:spPr>
          <a:xfrm>
            <a:off x="548640" y="2999232"/>
            <a:ext cx="795528" cy="329184"/>
          </a:xfrm>
          <a:prstGeom prst="rect">
            <a:avLst/>
          </a:prstGeom>
          <a:noFill/>
          <a:ln/>
        </p:spPr>
        <p:txBody>
          <a:bodyPr wrap="square" lIns="0" tIns="0" rIns="0" bIns="0" rtlCol="0" anchor="ctr"/>
          <a:lstStyle/>
          <a:p>
            <a:pPr algn="r" indent="0" marL="0">
              <a:buNone/>
            </a:pPr>
            <a:r>
              <a:rPr lang="tr-TR" sz="1050" i="1" dirty="0">
                <a:solidFill>
                  <a:srgbClr val="6B7679"/>
                </a:solidFill>
                <a:latin typeface="Calibri" pitchFamily="34" charset="0"/>
                <a:ea typeface="Calibri" pitchFamily="34" charset="-122"/>
                <a:cs typeface="Calibri" pitchFamily="34" charset="-120"/>
              </a:rPr>
              <a:t>çerçeve 2</a:t>
            </a:r>
            <a:endParaRPr lang="tr-TR" sz="1050" dirty="0"/>
          </a:p>
        </p:txBody>
      </p:sp>
      <p:sp>
        <p:nvSpPr>
          <p:cNvPr id="12" name="Text 10"/>
          <p:cNvSpPr txBox="1"/>
          <p:nvPr/>
        </p:nvSpPr>
        <p:spPr>
          <a:xfrm>
            <a:off x="548640" y="3328416"/>
            <a:ext cx="795528" cy="329184"/>
          </a:xfrm>
          <a:prstGeom prst="rect">
            <a:avLst/>
          </a:prstGeom>
          <a:noFill/>
          <a:ln/>
        </p:spPr>
        <p:txBody>
          <a:bodyPr wrap="square" lIns="0" tIns="0" rIns="0" bIns="0" rtlCol="0" anchor="ctr"/>
          <a:lstStyle/>
          <a:p>
            <a:pPr algn="r" indent="0" marL="0">
              <a:buNone/>
            </a:pPr>
            <a:r>
              <a:rPr lang="tr-TR" sz="1050" i="1" dirty="0">
                <a:solidFill>
                  <a:srgbClr val="6B7679"/>
                </a:solidFill>
                <a:latin typeface="Calibri" pitchFamily="34" charset="0"/>
                <a:ea typeface="Calibri" pitchFamily="34" charset="-122"/>
                <a:cs typeface="Calibri" pitchFamily="34" charset="-120"/>
              </a:rPr>
              <a:t>hata?</a:t>
            </a:r>
            <a:endParaRPr lang="tr-TR" sz="1050" dirty="0"/>
          </a:p>
        </p:txBody>
      </p:sp>
      <p:sp>
        <p:nvSpPr>
          <p:cNvPr id="13" name="Shape 11"/>
          <p:cNvSpPr/>
          <p:nvPr/>
        </p:nvSpPr>
        <p:spPr>
          <a:xfrm>
            <a:off x="1435608" y="2029968"/>
            <a:ext cx="528393" cy="292608"/>
          </a:xfrm>
          <a:prstGeom prst="roundRect">
            <a:avLst>
              <a:gd name="adj" fmla="val 15625"/>
            </a:avLst>
          </a:prstGeom>
          <a:solidFill>
            <a:srgbClr val="36454F"/>
          </a:solidFill>
          <a:ln/>
        </p:spPr>
      </p:sp>
      <p:sp>
        <p:nvSpPr>
          <p:cNvPr id="14" name="Text 12"/>
          <p:cNvSpPr txBox="1"/>
          <p:nvPr/>
        </p:nvSpPr>
        <p:spPr>
          <a:xfrm>
            <a:off x="1435608" y="2029968"/>
            <a:ext cx="528393" cy="29260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1</a:t>
            </a:r>
            <a:endParaRPr lang="tr-TR" sz="1300" dirty="0"/>
          </a:p>
        </p:txBody>
      </p:sp>
      <p:sp>
        <p:nvSpPr>
          <p:cNvPr id="15" name="Shape 13"/>
          <p:cNvSpPr/>
          <p:nvPr/>
        </p:nvSpPr>
        <p:spPr>
          <a:xfrm>
            <a:off x="1435608" y="2359152"/>
            <a:ext cx="528393" cy="292608"/>
          </a:xfrm>
          <a:prstGeom prst="roundRect">
            <a:avLst>
              <a:gd name="adj" fmla="val 15625"/>
            </a:avLst>
          </a:prstGeom>
          <a:solidFill>
            <a:srgbClr val="02C39A"/>
          </a:solidFill>
          <a:ln/>
        </p:spPr>
      </p:sp>
      <p:sp>
        <p:nvSpPr>
          <p:cNvPr id="16" name="Text 14"/>
          <p:cNvSpPr txBox="1"/>
          <p:nvPr/>
        </p:nvSpPr>
        <p:spPr>
          <a:xfrm>
            <a:off x="1435608" y="2359152"/>
            <a:ext cx="528393" cy="292608"/>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1</a:t>
            </a:r>
            <a:endParaRPr lang="tr-TR" sz="1300" dirty="0"/>
          </a:p>
        </p:txBody>
      </p:sp>
      <p:sp>
        <p:nvSpPr>
          <p:cNvPr id="17" name="Shape 15"/>
          <p:cNvSpPr/>
          <p:nvPr/>
        </p:nvSpPr>
        <p:spPr>
          <a:xfrm>
            <a:off x="1435608" y="2688336"/>
            <a:ext cx="528393" cy="292608"/>
          </a:xfrm>
          <a:prstGeom prst="roundRect">
            <a:avLst>
              <a:gd name="adj" fmla="val 15625"/>
            </a:avLst>
          </a:prstGeom>
          <a:solidFill>
            <a:srgbClr val="D7E9E6"/>
          </a:solidFill>
          <a:ln/>
        </p:spPr>
      </p:sp>
      <p:sp>
        <p:nvSpPr>
          <p:cNvPr id="18" name="Text 16"/>
          <p:cNvSpPr txBox="1"/>
          <p:nvPr/>
        </p:nvSpPr>
        <p:spPr>
          <a:xfrm>
            <a:off x="1435608" y="2688336"/>
            <a:ext cx="528393" cy="292608"/>
          </a:xfrm>
          <a:prstGeom prst="rect">
            <a:avLst/>
          </a:prstGeom>
          <a:noFill/>
          <a:ln/>
        </p:spPr>
        <p:txBody>
          <a:bodyPr wrap="square" lIns="38100" tIns="38100" rIns="38100" bIns="38100" rtlCol="0" anchor="ctr"/>
          <a:lstStyle/>
          <a:p>
            <a:pPr algn="ctr" indent="0" marL="0">
              <a:buNone/>
            </a:pPr>
            <a:endParaRPr lang="tr-TR" sz="1300" dirty="0"/>
          </a:p>
        </p:txBody>
      </p:sp>
      <p:sp>
        <p:nvSpPr>
          <p:cNvPr id="19" name="Shape 17"/>
          <p:cNvSpPr/>
          <p:nvPr/>
        </p:nvSpPr>
        <p:spPr>
          <a:xfrm>
            <a:off x="1435608" y="3017520"/>
            <a:ext cx="528393" cy="292608"/>
          </a:xfrm>
          <a:prstGeom prst="roundRect">
            <a:avLst>
              <a:gd name="adj" fmla="val 15625"/>
            </a:avLst>
          </a:prstGeom>
          <a:solidFill>
            <a:srgbClr val="D7E9E6"/>
          </a:solidFill>
          <a:ln/>
        </p:spPr>
      </p:sp>
      <p:sp>
        <p:nvSpPr>
          <p:cNvPr id="20" name="Text 18"/>
          <p:cNvSpPr txBox="1"/>
          <p:nvPr/>
        </p:nvSpPr>
        <p:spPr>
          <a:xfrm>
            <a:off x="1435608" y="3017520"/>
            <a:ext cx="528393" cy="292608"/>
          </a:xfrm>
          <a:prstGeom prst="rect">
            <a:avLst/>
          </a:prstGeom>
          <a:noFill/>
          <a:ln/>
        </p:spPr>
        <p:txBody>
          <a:bodyPr wrap="square" lIns="38100" tIns="38100" rIns="38100" bIns="38100" rtlCol="0" anchor="ctr"/>
          <a:lstStyle/>
          <a:p>
            <a:pPr algn="ctr" indent="0" marL="0">
              <a:buNone/>
            </a:pPr>
            <a:endParaRPr lang="tr-TR" sz="1300" dirty="0"/>
          </a:p>
        </p:txBody>
      </p:sp>
      <p:sp>
        <p:nvSpPr>
          <p:cNvPr id="21" name="Text 19"/>
          <p:cNvSpPr txBox="1"/>
          <p:nvPr/>
        </p:nvSpPr>
        <p:spPr>
          <a:xfrm>
            <a:off x="1417320" y="3328416"/>
            <a:ext cx="564969" cy="329184"/>
          </a:xfrm>
          <a:prstGeom prst="rect">
            <a:avLst/>
          </a:prstGeom>
          <a:noFill/>
          <a:ln/>
        </p:spPr>
        <p:txBody>
          <a:bodyPr wrap="square" lIns="0" tIns="0" rIns="0" bIns="0" rtlCol="0" anchor="ctr"/>
          <a:lstStyle/>
          <a:p>
            <a:pPr algn="ctr" indent="0" marL="0">
              <a:buNone/>
            </a:pPr>
            <a:r>
              <a:rPr lang="tr-TR" sz="1300" b="1" dirty="0">
                <a:solidFill>
                  <a:srgbClr val="B5453A"/>
                </a:solidFill>
                <a:latin typeface="Calibri" pitchFamily="34" charset="0"/>
                <a:ea typeface="Calibri" pitchFamily="34" charset="-122"/>
                <a:cs typeface="Calibri" pitchFamily="34" charset="-120"/>
              </a:rPr>
              <a:t>F</a:t>
            </a:r>
            <a:endParaRPr lang="tr-TR" sz="1300" dirty="0"/>
          </a:p>
        </p:txBody>
      </p:sp>
      <p:sp>
        <p:nvSpPr>
          <p:cNvPr id="22" name="Shape 20"/>
          <p:cNvSpPr/>
          <p:nvPr/>
        </p:nvSpPr>
        <p:spPr>
          <a:xfrm>
            <a:off x="2000577" y="2029968"/>
            <a:ext cx="528393" cy="292608"/>
          </a:xfrm>
          <a:prstGeom prst="roundRect">
            <a:avLst>
              <a:gd name="adj" fmla="val 15625"/>
            </a:avLst>
          </a:prstGeom>
          <a:solidFill>
            <a:srgbClr val="36454F"/>
          </a:solidFill>
          <a:ln/>
        </p:spPr>
      </p:sp>
      <p:sp>
        <p:nvSpPr>
          <p:cNvPr id="23" name="Text 21"/>
          <p:cNvSpPr txBox="1"/>
          <p:nvPr/>
        </p:nvSpPr>
        <p:spPr>
          <a:xfrm>
            <a:off x="2000577" y="2029968"/>
            <a:ext cx="528393" cy="29260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2</a:t>
            </a:r>
            <a:endParaRPr lang="tr-TR" sz="1300" dirty="0"/>
          </a:p>
        </p:txBody>
      </p:sp>
      <p:sp>
        <p:nvSpPr>
          <p:cNvPr id="24" name="Shape 22"/>
          <p:cNvSpPr/>
          <p:nvPr/>
        </p:nvSpPr>
        <p:spPr>
          <a:xfrm>
            <a:off x="2000577" y="2359152"/>
            <a:ext cx="528393" cy="292608"/>
          </a:xfrm>
          <a:prstGeom prst="roundRect">
            <a:avLst>
              <a:gd name="adj" fmla="val 15625"/>
            </a:avLst>
          </a:prstGeom>
          <a:solidFill>
            <a:srgbClr val="D7E9E6"/>
          </a:solidFill>
          <a:ln/>
        </p:spPr>
      </p:sp>
      <p:sp>
        <p:nvSpPr>
          <p:cNvPr id="25" name="Text 23"/>
          <p:cNvSpPr txBox="1"/>
          <p:nvPr/>
        </p:nvSpPr>
        <p:spPr>
          <a:xfrm>
            <a:off x="2000577" y="2359152"/>
            <a:ext cx="528393"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1</a:t>
            </a:r>
            <a:endParaRPr lang="tr-TR" sz="1300" dirty="0"/>
          </a:p>
        </p:txBody>
      </p:sp>
      <p:sp>
        <p:nvSpPr>
          <p:cNvPr id="26" name="Shape 24"/>
          <p:cNvSpPr/>
          <p:nvPr/>
        </p:nvSpPr>
        <p:spPr>
          <a:xfrm>
            <a:off x="2000577" y="2688336"/>
            <a:ext cx="528393" cy="292608"/>
          </a:xfrm>
          <a:prstGeom prst="roundRect">
            <a:avLst>
              <a:gd name="adj" fmla="val 15625"/>
            </a:avLst>
          </a:prstGeom>
          <a:solidFill>
            <a:srgbClr val="02C39A"/>
          </a:solidFill>
          <a:ln/>
        </p:spPr>
      </p:sp>
      <p:sp>
        <p:nvSpPr>
          <p:cNvPr id="27" name="Text 25"/>
          <p:cNvSpPr txBox="1"/>
          <p:nvPr/>
        </p:nvSpPr>
        <p:spPr>
          <a:xfrm>
            <a:off x="2000577" y="2688336"/>
            <a:ext cx="528393" cy="292608"/>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2</a:t>
            </a:r>
            <a:endParaRPr lang="tr-TR" sz="1300" dirty="0"/>
          </a:p>
        </p:txBody>
      </p:sp>
      <p:sp>
        <p:nvSpPr>
          <p:cNvPr id="28" name="Shape 26"/>
          <p:cNvSpPr/>
          <p:nvPr/>
        </p:nvSpPr>
        <p:spPr>
          <a:xfrm>
            <a:off x="2000577" y="3017520"/>
            <a:ext cx="528393" cy="292608"/>
          </a:xfrm>
          <a:prstGeom prst="roundRect">
            <a:avLst>
              <a:gd name="adj" fmla="val 15625"/>
            </a:avLst>
          </a:prstGeom>
          <a:solidFill>
            <a:srgbClr val="D7E9E6"/>
          </a:solidFill>
          <a:ln/>
        </p:spPr>
      </p:sp>
      <p:sp>
        <p:nvSpPr>
          <p:cNvPr id="29" name="Text 27"/>
          <p:cNvSpPr txBox="1"/>
          <p:nvPr/>
        </p:nvSpPr>
        <p:spPr>
          <a:xfrm>
            <a:off x="2000577" y="3017520"/>
            <a:ext cx="528393" cy="292608"/>
          </a:xfrm>
          <a:prstGeom prst="rect">
            <a:avLst/>
          </a:prstGeom>
          <a:noFill/>
          <a:ln/>
        </p:spPr>
        <p:txBody>
          <a:bodyPr wrap="square" lIns="38100" tIns="38100" rIns="38100" bIns="38100" rtlCol="0" anchor="ctr"/>
          <a:lstStyle/>
          <a:p>
            <a:pPr algn="ctr" indent="0" marL="0">
              <a:buNone/>
            </a:pPr>
            <a:endParaRPr lang="tr-TR" sz="1300" dirty="0"/>
          </a:p>
        </p:txBody>
      </p:sp>
      <p:sp>
        <p:nvSpPr>
          <p:cNvPr id="30" name="Text 28"/>
          <p:cNvSpPr txBox="1"/>
          <p:nvPr/>
        </p:nvSpPr>
        <p:spPr>
          <a:xfrm>
            <a:off x="1982289" y="3328416"/>
            <a:ext cx="564969" cy="329184"/>
          </a:xfrm>
          <a:prstGeom prst="rect">
            <a:avLst/>
          </a:prstGeom>
          <a:noFill/>
          <a:ln/>
        </p:spPr>
        <p:txBody>
          <a:bodyPr wrap="square" lIns="0" tIns="0" rIns="0" bIns="0" rtlCol="0" anchor="ctr"/>
          <a:lstStyle/>
          <a:p>
            <a:pPr algn="ctr" indent="0" marL="0">
              <a:buNone/>
            </a:pPr>
            <a:r>
              <a:rPr lang="tr-TR" sz="1300" b="1" dirty="0">
                <a:solidFill>
                  <a:srgbClr val="B5453A"/>
                </a:solidFill>
                <a:latin typeface="Calibri" pitchFamily="34" charset="0"/>
                <a:ea typeface="Calibri" pitchFamily="34" charset="-122"/>
                <a:cs typeface="Calibri" pitchFamily="34" charset="-120"/>
              </a:rPr>
              <a:t>F</a:t>
            </a:r>
            <a:endParaRPr lang="tr-TR" sz="1300" dirty="0"/>
          </a:p>
        </p:txBody>
      </p:sp>
      <p:sp>
        <p:nvSpPr>
          <p:cNvPr id="31" name="Shape 29"/>
          <p:cNvSpPr/>
          <p:nvPr/>
        </p:nvSpPr>
        <p:spPr>
          <a:xfrm>
            <a:off x="2565545" y="2029968"/>
            <a:ext cx="528393" cy="292608"/>
          </a:xfrm>
          <a:prstGeom prst="roundRect">
            <a:avLst>
              <a:gd name="adj" fmla="val 15625"/>
            </a:avLst>
          </a:prstGeom>
          <a:solidFill>
            <a:srgbClr val="36454F"/>
          </a:solidFill>
          <a:ln/>
        </p:spPr>
      </p:sp>
      <p:sp>
        <p:nvSpPr>
          <p:cNvPr id="32" name="Text 30"/>
          <p:cNvSpPr txBox="1"/>
          <p:nvPr/>
        </p:nvSpPr>
        <p:spPr>
          <a:xfrm>
            <a:off x="2565545" y="2029968"/>
            <a:ext cx="528393" cy="29260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0</a:t>
            </a:r>
            <a:endParaRPr lang="tr-TR" sz="1300" dirty="0"/>
          </a:p>
        </p:txBody>
      </p:sp>
      <p:sp>
        <p:nvSpPr>
          <p:cNvPr id="33" name="Shape 31"/>
          <p:cNvSpPr/>
          <p:nvPr/>
        </p:nvSpPr>
        <p:spPr>
          <a:xfrm>
            <a:off x="2565545" y="2359152"/>
            <a:ext cx="528393" cy="292608"/>
          </a:xfrm>
          <a:prstGeom prst="roundRect">
            <a:avLst>
              <a:gd name="adj" fmla="val 15625"/>
            </a:avLst>
          </a:prstGeom>
          <a:solidFill>
            <a:srgbClr val="D7E9E6"/>
          </a:solidFill>
          <a:ln/>
        </p:spPr>
      </p:sp>
      <p:sp>
        <p:nvSpPr>
          <p:cNvPr id="34" name="Text 32"/>
          <p:cNvSpPr txBox="1"/>
          <p:nvPr/>
        </p:nvSpPr>
        <p:spPr>
          <a:xfrm>
            <a:off x="2565545" y="2359152"/>
            <a:ext cx="528393"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1</a:t>
            </a:r>
            <a:endParaRPr lang="tr-TR" sz="1300" dirty="0"/>
          </a:p>
        </p:txBody>
      </p:sp>
      <p:sp>
        <p:nvSpPr>
          <p:cNvPr id="35" name="Shape 33"/>
          <p:cNvSpPr/>
          <p:nvPr/>
        </p:nvSpPr>
        <p:spPr>
          <a:xfrm>
            <a:off x="2565545" y="2688336"/>
            <a:ext cx="528393" cy="292608"/>
          </a:xfrm>
          <a:prstGeom prst="roundRect">
            <a:avLst>
              <a:gd name="adj" fmla="val 15625"/>
            </a:avLst>
          </a:prstGeom>
          <a:solidFill>
            <a:srgbClr val="D7E9E6"/>
          </a:solidFill>
          <a:ln/>
        </p:spPr>
      </p:sp>
      <p:sp>
        <p:nvSpPr>
          <p:cNvPr id="36" name="Text 34"/>
          <p:cNvSpPr txBox="1"/>
          <p:nvPr/>
        </p:nvSpPr>
        <p:spPr>
          <a:xfrm>
            <a:off x="2565545" y="2688336"/>
            <a:ext cx="528393"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2</a:t>
            </a:r>
            <a:endParaRPr lang="tr-TR" sz="1300" dirty="0"/>
          </a:p>
        </p:txBody>
      </p:sp>
      <p:sp>
        <p:nvSpPr>
          <p:cNvPr id="37" name="Shape 35"/>
          <p:cNvSpPr/>
          <p:nvPr/>
        </p:nvSpPr>
        <p:spPr>
          <a:xfrm>
            <a:off x="2565545" y="3017520"/>
            <a:ext cx="528393" cy="292608"/>
          </a:xfrm>
          <a:prstGeom prst="roundRect">
            <a:avLst>
              <a:gd name="adj" fmla="val 15625"/>
            </a:avLst>
          </a:prstGeom>
          <a:solidFill>
            <a:srgbClr val="02C39A"/>
          </a:solidFill>
          <a:ln/>
        </p:spPr>
      </p:sp>
      <p:sp>
        <p:nvSpPr>
          <p:cNvPr id="38" name="Text 36"/>
          <p:cNvSpPr txBox="1"/>
          <p:nvPr/>
        </p:nvSpPr>
        <p:spPr>
          <a:xfrm>
            <a:off x="2565545" y="3017520"/>
            <a:ext cx="528393" cy="292608"/>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0</a:t>
            </a:r>
            <a:endParaRPr lang="tr-TR" sz="1300" dirty="0"/>
          </a:p>
        </p:txBody>
      </p:sp>
      <p:sp>
        <p:nvSpPr>
          <p:cNvPr id="39" name="Text 37"/>
          <p:cNvSpPr txBox="1"/>
          <p:nvPr/>
        </p:nvSpPr>
        <p:spPr>
          <a:xfrm>
            <a:off x="2547257" y="3328416"/>
            <a:ext cx="564969" cy="329184"/>
          </a:xfrm>
          <a:prstGeom prst="rect">
            <a:avLst/>
          </a:prstGeom>
          <a:noFill/>
          <a:ln/>
        </p:spPr>
        <p:txBody>
          <a:bodyPr wrap="square" lIns="0" tIns="0" rIns="0" bIns="0" rtlCol="0" anchor="ctr"/>
          <a:lstStyle/>
          <a:p>
            <a:pPr algn="ctr" indent="0" marL="0">
              <a:buNone/>
            </a:pPr>
            <a:r>
              <a:rPr lang="tr-TR" sz="1300" b="1" dirty="0">
                <a:solidFill>
                  <a:srgbClr val="B5453A"/>
                </a:solidFill>
                <a:latin typeface="Calibri" pitchFamily="34" charset="0"/>
                <a:ea typeface="Calibri" pitchFamily="34" charset="-122"/>
                <a:cs typeface="Calibri" pitchFamily="34" charset="-120"/>
              </a:rPr>
              <a:t>F</a:t>
            </a:r>
            <a:endParaRPr lang="tr-TR" sz="1300" dirty="0"/>
          </a:p>
        </p:txBody>
      </p:sp>
      <p:sp>
        <p:nvSpPr>
          <p:cNvPr id="40" name="Shape 38"/>
          <p:cNvSpPr/>
          <p:nvPr/>
        </p:nvSpPr>
        <p:spPr>
          <a:xfrm>
            <a:off x="3130514" y="2029968"/>
            <a:ext cx="528393" cy="292608"/>
          </a:xfrm>
          <a:prstGeom prst="roundRect">
            <a:avLst>
              <a:gd name="adj" fmla="val 15625"/>
            </a:avLst>
          </a:prstGeom>
          <a:solidFill>
            <a:srgbClr val="36454F"/>
          </a:solidFill>
          <a:ln/>
        </p:spPr>
      </p:sp>
      <p:sp>
        <p:nvSpPr>
          <p:cNvPr id="41" name="Text 39"/>
          <p:cNvSpPr txBox="1"/>
          <p:nvPr/>
        </p:nvSpPr>
        <p:spPr>
          <a:xfrm>
            <a:off x="3130514" y="2029968"/>
            <a:ext cx="528393" cy="29260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4</a:t>
            </a:r>
            <a:endParaRPr lang="tr-TR" sz="1300" dirty="0"/>
          </a:p>
        </p:txBody>
      </p:sp>
      <p:sp>
        <p:nvSpPr>
          <p:cNvPr id="42" name="Shape 40"/>
          <p:cNvSpPr/>
          <p:nvPr/>
        </p:nvSpPr>
        <p:spPr>
          <a:xfrm>
            <a:off x="3130514" y="2359152"/>
            <a:ext cx="528393" cy="292608"/>
          </a:xfrm>
          <a:prstGeom prst="roundRect">
            <a:avLst>
              <a:gd name="adj" fmla="val 15625"/>
            </a:avLst>
          </a:prstGeom>
          <a:solidFill>
            <a:srgbClr val="02C39A"/>
          </a:solidFill>
          <a:ln/>
        </p:spPr>
      </p:sp>
      <p:sp>
        <p:nvSpPr>
          <p:cNvPr id="43" name="Text 41"/>
          <p:cNvSpPr txBox="1"/>
          <p:nvPr/>
        </p:nvSpPr>
        <p:spPr>
          <a:xfrm>
            <a:off x="3130514" y="2359152"/>
            <a:ext cx="528393" cy="292608"/>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4</a:t>
            </a:r>
            <a:endParaRPr lang="tr-TR" sz="1300" dirty="0"/>
          </a:p>
        </p:txBody>
      </p:sp>
      <p:sp>
        <p:nvSpPr>
          <p:cNvPr id="44" name="Shape 42"/>
          <p:cNvSpPr/>
          <p:nvPr/>
        </p:nvSpPr>
        <p:spPr>
          <a:xfrm>
            <a:off x="3130514" y="2688336"/>
            <a:ext cx="528393" cy="292608"/>
          </a:xfrm>
          <a:prstGeom prst="roundRect">
            <a:avLst>
              <a:gd name="adj" fmla="val 15625"/>
            </a:avLst>
          </a:prstGeom>
          <a:solidFill>
            <a:srgbClr val="D7E9E6"/>
          </a:solidFill>
          <a:ln/>
        </p:spPr>
      </p:sp>
      <p:sp>
        <p:nvSpPr>
          <p:cNvPr id="45" name="Text 43"/>
          <p:cNvSpPr txBox="1"/>
          <p:nvPr/>
        </p:nvSpPr>
        <p:spPr>
          <a:xfrm>
            <a:off x="3130514" y="2688336"/>
            <a:ext cx="528393"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2</a:t>
            </a:r>
            <a:endParaRPr lang="tr-TR" sz="1300" dirty="0"/>
          </a:p>
        </p:txBody>
      </p:sp>
      <p:sp>
        <p:nvSpPr>
          <p:cNvPr id="46" name="Shape 44"/>
          <p:cNvSpPr/>
          <p:nvPr/>
        </p:nvSpPr>
        <p:spPr>
          <a:xfrm>
            <a:off x="3130514" y="3017520"/>
            <a:ext cx="528393" cy="292608"/>
          </a:xfrm>
          <a:prstGeom prst="roundRect">
            <a:avLst>
              <a:gd name="adj" fmla="val 15625"/>
            </a:avLst>
          </a:prstGeom>
          <a:solidFill>
            <a:srgbClr val="D7E9E6"/>
          </a:solidFill>
          <a:ln/>
        </p:spPr>
      </p:sp>
      <p:sp>
        <p:nvSpPr>
          <p:cNvPr id="47" name="Text 45"/>
          <p:cNvSpPr txBox="1"/>
          <p:nvPr/>
        </p:nvSpPr>
        <p:spPr>
          <a:xfrm>
            <a:off x="3130514" y="3017520"/>
            <a:ext cx="528393"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0</a:t>
            </a:r>
            <a:endParaRPr lang="tr-TR" sz="1300" dirty="0"/>
          </a:p>
        </p:txBody>
      </p:sp>
      <p:sp>
        <p:nvSpPr>
          <p:cNvPr id="48" name="Text 46"/>
          <p:cNvSpPr txBox="1"/>
          <p:nvPr/>
        </p:nvSpPr>
        <p:spPr>
          <a:xfrm>
            <a:off x="3112226" y="3328416"/>
            <a:ext cx="564969" cy="329184"/>
          </a:xfrm>
          <a:prstGeom prst="rect">
            <a:avLst/>
          </a:prstGeom>
          <a:noFill/>
          <a:ln/>
        </p:spPr>
        <p:txBody>
          <a:bodyPr wrap="square" lIns="0" tIns="0" rIns="0" bIns="0" rtlCol="0" anchor="ctr"/>
          <a:lstStyle/>
          <a:p>
            <a:pPr algn="ctr" indent="0" marL="0">
              <a:buNone/>
            </a:pPr>
            <a:r>
              <a:rPr lang="tr-TR" sz="1300" b="1" dirty="0">
                <a:solidFill>
                  <a:srgbClr val="B5453A"/>
                </a:solidFill>
                <a:latin typeface="Calibri" pitchFamily="34" charset="0"/>
                <a:ea typeface="Calibri" pitchFamily="34" charset="-122"/>
                <a:cs typeface="Calibri" pitchFamily="34" charset="-120"/>
              </a:rPr>
              <a:t>F</a:t>
            </a:r>
            <a:endParaRPr lang="tr-TR" sz="1300" dirty="0"/>
          </a:p>
        </p:txBody>
      </p:sp>
      <p:sp>
        <p:nvSpPr>
          <p:cNvPr id="49" name="Shape 47"/>
          <p:cNvSpPr/>
          <p:nvPr/>
        </p:nvSpPr>
        <p:spPr>
          <a:xfrm>
            <a:off x="3695482" y="2029968"/>
            <a:ext cx="528393" cy="292608"/>
          </a:xfrm>
          <a:prstGeom prst="roundRect">
            <a:avLst>
              <a:gd name="adj" fmla="val 15625"/>
            </a:avLst>
          </a:prstGeom>
          <a:solidFill>
            <a:srgbClr val="36454F"/>
          </a:solidFill>
          <a:ln/>
        </p:spPr>
      </p:sp>
      <p:sp>
        <p:nvSpPr>
          <p:cNvPr id="50" name="Text 48"/>
          <p:cNvSpPr txBox="1"/>
          <p:nvPr/>
        </p:nvSpPr>
        <p:spPr>
          <a:xfrm>
            <a:off x="3695482" y="2029968"/>
            <a:ext cx="528393" cy="29260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2</a:t>
            </a:r>
            <a:endParaRPr lang="tr-TR" sz="1300" dirty="0"/>
          </a:p>
        </p:txBody>
      </p:sp>
      <p:sp>
        <p:nvSpPr>
          <p:cNvPr id="51" name="Shape 49"/>
          <p:cNvSpPr/>
          <p:nvPr/>
        </p:nvSpPr>
        <p:spPr>
          <a:xfrm>
            <a:off x="3695482" y="2359152"/>
            <a:ext cx="528393" cy="292608"/>
          </a:xfrm>
          <a:prstGeom prst="roundRect">
            <a:avLst>
              <a:gd name="adj" fmla="val 15625"/>
            </a:avLst>
          </a:prstGeom>
          <a:solidFill>
            <a:srgbClr val="F2F2F2"/>
          </a:solidFill>
          <a:ln/>
        </p:spPr>
      </p:sp>
      <p:sp>
        <p:nvSpPr>
          <p:cNvPr id="52" name="Text 50"/>
          <p:cNvSpPr txBox="1"/>
          <p:nvPr/>
        </p:nvSpPr>
        <p:spPr>
          <a:xfrm>
            <a:off x="3695482" y="2359152"/>
            <a:ext cx="528393" cy="292608"/>
          </a:xfrm>
          <a:prstGeom prst="rect">
            <a:avLst/>
          </a:prstGeom>
          <a:noFill/>
          <a:ln/>
        </p:spPr>
        <p:txBody>
          <a:bodyPr wrap="square" lIns="38100" tIns="38100" rIns="38100" bIns="38100" rtlCol="0" anchor="ctr"/>
          <a:lstStyle/>
          <a:p>
            <a:pPr algn="ctr" indent="0" marL="0">
              <a:buNone/>
            </a:pPr>
            <a:r>
              <a:rPr lang="tr-TR" sz="1300" dirty="0">
                <a:solidFill>
                  <a:srgbClr val="9AA5A8"/>
                </a:solidFill>
                <a:latin typeface="Calibri" pitchFamily="34" charset="0"/>
                <a:ea typeface="Calibri" pitchFamily="34" charset="-122"/>
                <a:cs typeface="Calibri" pitchFamily="34" charset="-120"/>
              </a:rPr>
              <a:t>4</a:t>
            </a:r>
            <a:endParaRPr lang="tr-TR" sz="1300" dirty="0"/>
          </a:p>
        </p:txBody>
      </p:sp>
      <p:sp>
        <p:nvSpPr>
          <p:cNvPr id="53" name="Shape 51"/>
          <p:cNvSpPr/>
          <p:nvPr/>
        </p:nvSpPr>
        <p:spPr>
          <a:xfrm>
            <a:off x="3695482" y="2688336"/>
            <a:ext cx="528393" cy="292608"/>
          </a:xfrm>
          <a:prstGeom prst="roundRect">
            <a:avLst>
              <a:gd name="adj" fmla="val 15625"/>
            </a:avLst>
          </a:prstGeom>
          <a:solidFill>
            <a:srgbClr val="F2F2F2"/>
          </a:solidFill>
          <a:ln/>
        </p:spPr>
      </p:sp>
      <p:sp>
        <p:nvSpPr>
          <p:cNvPr id="54" name="Text 52"/>
          <p:cNvSpPr txBox="1"/>
          <p:nvPr/>
        </p:nvSpPr>
        <p:spPr>
          <a:xfrm>
            <a:off x="3695482" y="2688336"/>
            <a:ext cx="528393" cy="292608"/>
          </a:xfrm>
          <a:prstGeom prst="rect">
            <a:avLst/>
          </a:prstGeom>
          <a:noFill/>
          <a:ln/>
        </p:spPr>
        <p:txBody>
          <a:bodyPr wrap="square" lIns="38100" tIns="38100" rIns="38100" bIns="38100" rtlCol="0" anchor="ctr"/>
          <a:lstStyle/>
          <a:p>
            <a:pPr algn="ctr" indent="0" marL="0">
              <a:buNone/>
            </a:pPr>
            <a:r>
              <a:rPr lang="tr-TR" sz="1300" dirty="0">
                <a:solidFill>
                  <a:srgbClr val="9AA5A8"/>
                </a:solidFill>
                <a:latin typeface="Calibri" pitchFamily="34" charset="0"/>
                <a:ea typeface="Calibri" pitchFamily="34" charset="-122"/>
                <a:cs typeface="Calibri" pitchFamily="34" charset="-120"/>
              </a:rPr>
              <a:t>2</a:t>
            </a:r>
            <a:endParaRPr lang="tr-TR" sz="1300" dirty="0"/>
          </a:p>
        </p:txBody>
      </p:sp>
      <p:sp>
        <p:nvSpPr>
          <p:cNvPr id="55" name="Shape 53"/>
          <p:cNvSpPr/>
          <p:nvPr/>
        </p:nvSpPr>
        <p:spPr>
          <a:xfrm>
            <a:off x="3695482" y="3017520"/>
            <a:ext cx="528393" cy="292608"/>
          </a:xfrm>
          <a:prstGeom prst="roundRect">
            <a:avLst>
              <a:gd name="adj" fmla="val 15625"/>
            </a:avLst>
          </a:prstGeom>
          <a:solidFill>
            <a:srgbClr val="F2F2F2"/>
          </a:solidFill>
          <a:ln/>
        </p:spPr>
      </p:sp>
      <p:sp>
        <p:nvSpPr>
          <p:cNvPr id="56" name="Text 54"/>
          <p:cNvSpPr txBox="1"/>
          <p:nvPr/>
        </p:nvSpPr>
        <p:spPr>
          <a:xfrm>
            <a:off x="3695482" y="3017520"/>
            <a:ext cx="528393" cy="292608"/>
          </a:xfrm>
          <a:prstGeom prst="rect">
            <a:avLst/>
          </a:prstGeom>
          <a:noFill/>
          <a:ln/>
        </p:spPr>
        <p:txBody>
          <a:bodyPr wrap="square" lIns="38100" tIns="38100" rIns="38100" bIns="38100" rtlCol="0" anchor="ctr"/>
          <a:lstStyle/>
          <a:p>
            <a:pPr algn="ctr" indent="0" marL="0">
              <a:buNone/>
            </a:pPr>
            <a:r>
              <a:rPr lang="tr-TR" sz="1300" dirty="0">
                <a:solidFill>
                  <a:srgbClr val="9AA5A8"/>
                </a:solidFill>
                <a:latin typeface="Calibri" pitchFamily="34" charset="0"/>
                <a:ea typeface="Calibri" pitchFamily="34" charset="-122"/>
                <a:cs typeface="Calibri" pitchFamily="34" charset="-120"/>
              </a:rPr>
              <a:t>0</a:t>
            </a:r>
            <a:endParaRPr lang="tr-TR" sz="1300" dirty="0"/>
          </a:p>
        </p:txBody>
      </p:sp>
      <p:sp>
        <p:nvSpPr>
          <p:cNvPr id="57" name="Text 55"/>
          <p:cNvSpPr txBox="1"/>
          <p:nvPr/>
        </p:nvSpPr>
        <p:spPr>
          <a:xfrm>
            <a:off x="3677194" y="3328416"/>
            <a:ext cx="564969" cy="329184"/>
          </a:xfrm>
          <a:prstGeom prst="rect">
            <a:avLst/>
          </a:prstGeom>
          <a:noFill/>
          <a:ln/>
        </p:spPr>
        <p:txBody>
          <a:bodyPr wrap="square" lIns="0" tIns="0" rIns="0" bIns="0" rtlCol="0" anchor="ctr"/>
          <a:lstStyle/>
          <a:p>
            <a:pPr algn="ctr" indent="0" marL="0">
              <a:buNone/>
            </a:pPr>
            <a:endParaRPr lang="tr-TR" sz="1300" dirty="0"/>
          </a:p>
        </p:txBody>
      </p:sp>
      <p:sp>
        <p:nvSpPr>
          <p:cNvPr id="58" name="Shape 56"/>
          <p:cNvSpPr/>
          <p:nvPr/>
        </p:nvSpPr>
        <p:spPr>
          <a:xfrm>
            <a:off x="4260451" y="2029968"/>
            <a:ext cx="528393" cy="292608"/>
          </a:xfrm>
          <a:prstGeom prst="roundRect">
            <a:avLst>
              <a:gd name="adj" fmla="val 15625"/>
            </a:avLst>
          </a:prstGeom>
          <a:solidFill>
            <a:srgbClr val="36454F"/>
          </a:solidFill>
          <a:ln/>
        </p:spPr>
      </p:sp>
      <p:sp>
        <p:nvSpPr>
          <p:cNvPr id="59" name="Text 57"/>
          <p:cNvSpPr txBox="1"/>
          <p:nvPr/>
        </p:nvSpPr>
        <p:spPr>
          <a:xfrm>
            <a:off x="4260451" y="2029968"/>
            <a:ext cx="528393" cy="29260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3</a:t>
            </a:r>
            <a:endParaRPr lang="tr-TR" sz="1300" dirty="0"/>
          </a:p>
        </p:txBody>
      </p:sp>
      <p:sp>
        <p:nvSpPr>
          <p:cNvPr id="60" name="Shape 58"/>
          <p:cNvSpPr/>
          <p:nvPr/>
        </p:nvSpPr>
        <p:spPr>
          <a:xfrm>
            <a:off x="4260451" y="2359152"/>
            <a:ext cx="528393" cy="292608"/>
          </a:xfrm>
          <a:prstGeom prst="roundRect">
            <a:avLst>
              <a:gd name="adj" fmla="val 15625"/>
            </a:avLst>
          </a:prstGeom>
          <a:solidFill>
            <a:srgbClr val="D7E9E6"/>
          </a:solidFill>
          <a:ln/>
        </p:spPr>
      </p:sp>
      <p:sp>
        <p:nvSpPr>
          <p:cNvPr id="61" name="Text 59"/>
          <p:cNvSpPr txBox="1"/>
          <p:nvPr/>
        </p:nvSpPr>
        <p:spPr>
          <a:xfrm>
            <a:off x="4260451" y="2359152"/>
            <a:ext cx="528393"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4</a:t>
            </a:r>
            <a:endParaRPr lang="tr-TR" sz="1300" dirty="0"/>
          </a:p>
        </p:txBody>
      </p:sp>
      <p:sp>
        <p:nvSpPr>
          <p:cNvPr id="62" name="Shape 60"/>
          <p:cNvSpPr/>
          <p:nvPr/>
        </p:nvSpPr>
        <p:spPr>
          <a:xfrm>
            <a:off x="4260451" y="2688336"/>
            <a:ext cx="528393" cy="292608"/>
          </a:xfrm>
          <a:prstGeom prst="roundRect">
            <a:avLst>
              <a:gd name="adj" fmla="val 15625"/>
            </a:avLst>
          </a:prstGeom>
          <a:solidFill>
            <a:srgbClr val="02C39A"/>
          </a:solidFill>
          <a:ln/>
        </p:spPr>
      </p:sp>
      <p:sp>
        <p:nvSpPr>
          <p:cNvPr id="63" name="Text 61"/>
          <p:cNvSpPr txBox="1"/>
          <p:nvPr/>
        </p:nvSpPr>
        <p:spPr>
          <a:xfrm>
            <a:off x="4260451" y="2688336"/>
            <a:ext cx="528393" cy="292608"/>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3</a:t>
            </a:r>
            <a:endParaRPr lang="tr-TR" sz="1300" dirty="0"/>
          </a:p>
        </p:txBody>
      </p:sp>
      <p:sp>
        <p:nvSpPr>
          <p:cNvPr id="64" name="Shape 62"/>
          <p:cNvSpPr/>
          <p:nvPr/>
        </p:nvSpPr>
        <p:spPr>
          <a:xfrm>
            <a:off x="4260451" y="3017520"/>
            <a:ext cx="528393" cy="292608"/>
          </a:xfrm>
          <a:prstGeom prst="roundRect">
            <a:avLst>
              <a:gd name="adj" fmla="val 15625"/>
            </a:avLst>
          </a:prstGeom>
          <a:solidFill>
            <a:srgbClr val="D7E9E6"/>
          </a:solidFill>
          <a:ln/>
        </p:spPr>
      </p:sp>
      <p:sp>
        <p:nvSpPr>
          <p:cNvPr id="65" name="Text 63"/>
          <p:cNvSpPr txBox="1"/>
          <p:nvPr/>
        </p:nvSpPr>
        <p:spPr>
          <a:xfrm>
            <a:off x="4260451" y="3017520"/>
            <a:ext cx="528393"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0</a:t>
            </a:r>
            <a:endParaRPr lang="tr-TR" sz="1300" dirty="0"/>
          </a:p>
        </p:txBody>
      </p:sp>
      <p:sp>
        <p:nvSpPr>
          <p:cNvPr id="66" name="Text 64"/>
          <p:cNvSpPr txBox="1"/>
          <p:nvPr/>
        </p:nvSpPr>
        <p:spPr>
          <a:xfrm>
            <a:off x="4242163" y="3328416"/>
            <a:ext cx="564969" cy="329184"/>
          </a:xfrm>
          <a:prstGeom prst="rect">
            <a:avLst/>
          </a:prstGeom>
          <a:noFill/>
          <a:ln/>
        </p:spPr>
        <p:txBody>
          <a:bodyPr wrap="square" lIns="0" tIns="0" rIns="0" bIns="0" rtlCol="0" anchor="ctr"/>
          <a:lstStyle/>
          <a:p>
            <a:pPr algn="ctr" indent="0" marL="0">
              <a:buNone/>
            </a:pPr>
            <a:r>
              <a:rPr lang="tr-TR" sz="1300" b="1" dirty="0">
                <a:solidFill>
                  <a:srgbClr val="B5453A"/>
                </a:solidFill>
                <a:latin typeface="Calibri" pitchFamily="34" charset="0"/>
                <a:ea typeface="Calibri" pitchFamily="34" charset="-122"/>
                <a:cs typeface="Calibri" pitchFamily="34" charset="-120"/>
              </a:rPr>
              <a:t>F</a:t>
            </a:r>
            <a:endParaRPr lang="tr-TR" sz="1300" dirty="0"/>
          </a:p>
        </p:txBody>
      </p:sp>
      <p:sp>
        <p:nvSpPr>
          <p:cNvPr id="67" name="Shape 65"/>
          <p:cNvSpPr/>
          <p:nvPr/>
        </p:nvSpPr>
        <p:spPr>
          <a:xfrm>
            <a:off x="4825419" y="2029968"/>
            <a:ext cx="528393" cy="292608"/>
          </a:xfrm>
          <a:prstGeom prst="roundRect">
            <a:avLst>
              <a:gd name="adj" fmla="val 15625"/>
            </a:avLst>
          </a:prstGeom>
          <a:solidFill>
            <a:srgbClr val="36454F"/>
          </a:solidFill>
          <a:ln/>
        </p:spPr>
      </p:sp>
      <p:sp>
        <p:nvSpPr>
          <p:cNvPr id="68" name="Text 66"/>
          <p:cNvSpPr txBox="1"/>
          <p:nvPr/>
        </p:nvSpPr>
        <p:spPr>
          <a:xfrm>
            <a:off x="4825419" y="2029968"/>
            <a:ext cx="528393" cy="29260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2</a:t>
            </a:r>
            <a:endParaRPr lang="tr-TR" sz="1300" dirty="0"/>
          </a:p>
        </p:txBody>
      </p:sp>
      <p:sp>
        <p:nvSpPr>
          <p:cNvPr id="69" name="Shape 67"/>
          <p:cNvSpPr/>
          <p:nvPr/>
        </p:nvSpPr>
        <p:spPr>
          <a:xfrm>
            <a:off x="4825419" y="2359152"/>
            <a:ext cx="528393" cy="292608"/>
          </a:xfrm>
          <a:prstGeom prst="roundRect">
            <a:avLst>
              <a:gd name="adj" fmla="val 15625"/>
            </a:avLst>
          </a:prstGeom>
          <a:solidFill>
            <a:srgbClr val="D7E9E6"/>
          </a:solidFill>
          <a:ln/>
        </p:spPr>
      </p:sp>
      <p:sp>
        <p:nvSpPr>
          <p:cNvPr id="70" name="Text 68"/>
          <p:cNvSpPr txBox="1"/>
          <p:nvPr/>
        </p:nvSpPr>
        <p:spPr>
          <a:xfrm>
            <a:off x="4825419" y="2359152"/>
            <a:ext cx="528393"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4</a:t>
            </a:r>
            <a:endParaRPr lang="tr-TR" sz="1300" dirty="0"/>
          </a:p>
        </p:txBody>
      </p:sp>
      <p:sp>
        <p:nvSpPr>
          <p:cNvPr id="71" name="Shape 69"/>
          <p:cNvSpPr/>
          <p:nvPr/>
        </p:nvSpPr>
        <p:spPr>
          <a:xfrm>
            <a:off x="4825419" y="2688336"/>
            <a:ext cx="528393" cy="292608"/>
          </a:xfrm>
          <a:prstGeom prst="roundRect">
            <a:avLst>
              <a:gd name="adj" fmla="val 15625"/>
            </a:avLst>
          </a:prstGeom>
          <a:solidFill>
            <a:srgbClr val="D7E9E6"/>
          </a:solidFill>
          <a:ln/>
        </p:spPr>
      </p:sp>
      <p:sp>
        <p:nvSpPr>
          <p:cNvPr id="72" name="Text 70"/>
          <p:cNvSpPr txBox="1"/>
          <p:nvPr/>
        </p:nvSpPr>
        <p:spPr>
          <a:xfrm>
            <a:off x="4825419" y="2688336"/>
            <a:ext cx="528393"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3</a:t>
            </a:r>
            <a:endParaRPr lang="tr-TR" sz="1300" dirty="0"/>
          </a:p>
        </p:txBody>
      </p:sp>
      <p:sp>
        <p:nvSpPr>
          <p:cNvPr id="73" name="Shape 71"/>
          <p:cNvSpPr/>
          <p:nvPr/>
        </p:nvSpPr>
        <p:spPr>
          <a:xfrm>
            <a:off x="4825419" y="3017520"/>
            <a:ext cx="528393" cy="292608"/>
          </a:xfrm>
          <a:prstGeom prst="roundRect">
            <a:avLst>
              <a:gd name="adj" fmla="val 15625"/>
            </a:avLst>
          </a:prstGeom>
          <a:solidFill>
            <a:srgbClr val="02C39A"/>
          </a:solidFill>
          <a:ln/>
        </p:spPr>
      </p:sp>
      <p:sp>
        <p:nvSpPr>
          <p:cNvPr id="74" name="Text 72"/>
          <p:cNvSpPr txBox="1"/>
          <p:nvPr/>
        </p:nvSpPr>
        <p:spPr>
          <a:xfrm>
            <a:off x="4825419" y="3017520"/>
            <a:ext cx="528393" cy="292608"/>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2</a:t>
            </a:r>
            <a:endParaRPr lang="tr-TR" sz="1300" dirty="0"/>
          </a:p>
        </p:txBody>
      </p:sp>
      <p:sp>
        <p:nvSpPr>
          <p:cNvPr id="75" name="Text 73"/>
          <p:cNvSpPr txBox="1"/>
          <p:nvPr/>
        </p:nvSpPr>
        <p:spPr>
          <a:xfrm>
            <a:off x="4807131" y="3328416"/>
            <a:ext cx="564969" cy="329184"/>
          </a:xfrm>
          <a:prstGeom prst="rect">
            <a:avLst/>
          </a:prstGeom>
          <a:noFill/>
          <a:ln/>
        </p:spPr>
        <p:txBody>
          <a:bodyPr wrap="square" lIns="0" tIns="0" rIns="0" bIns="0" rtlCol="0" anchor="ctr"/>
          <a:lstStyle/>
          <a:p>
            <a:pPr algn="ctr" indent="0" marL="0">
              <a:buNone/>
            </a:pPr>
            <a:r>
              <a:rPr lang="tr-TR" sz="1300" b="1" dirty="0">
                <a:solidFill>
                  <a:srgbClr val="B5453A"/>
                </a:solidFill>
                <a:latin typeface="Calibri" pitchFamily="34" charset="0"/>
                <a:ea typeface="Calibri" pitchFamily="34" charset="-122"/>
                <a:cs typeface="Calibri" pitchFamily="34" charset="-120"/>
              </a:rPr>
              <a:t>F</a:t>
            </a:r>
            <a:endParaRPr lang="tr-TR" sz="1300" dirty="0"/>
          </a:p>
        </p:txBody>
      </p:sp>
      <p:sp>
        <p:nvSpPr>
          <p:cNvPr id="76" name="Shape 74"/>
          <p:cNvSpPr/>
          <p:nvPr/>
        </p:nvSpPr>
        <p:spPr>
          <a:xfrm>
            <a:off x="5390388" y="2029968"/>
            <a:ext cx="528393" cy="292608"/>
          </a:xfrm>
          <a:prstGeom prst="roundRect">
            <a:avLst>
              <a:gd name="adj" fmla="val 15625"/>
            </a:avLst>
          </a:prstGeom>
          <a:solidFill>
            <a:srgbClr val="36454F"/>
          </a:solidFill>
          <a:ln/>
        </p:spPr>
      </p:sp>
      <p:sp>
        <p:nvSpPr>
          <p:cNvPr id="77" name="Text 75"/>
          <p:cNvSpPr txBox="1"/>
          <p:nvPr/>
        </p:nvSpPr>
        <p:spPr>
          <a:xfrm>
            <a:off x="5390388" y="2029968"/>
            <a:ext cx="528393" cy="29260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1</a:t>
            </a:r>
            <a:endParaRPr lang="tr-TR" sz="1300" dirty="0"/>
          </a:p>
        </p:txBody>
      </p:sp>
      <p:sp>
        <p:nvSpPr>
          <p:cNvPr id="78" name="Shape 76"/>
          <p:cNvSpPr/>
          <p:nvPr/>
        </p:nvSpPr>
        <p:spPr>
          <a:xfrm>
            <a:off x="5390388" y="2359152"/>
            <a:ext cx="528393" cy="292608"/>
          </a:xfrm>
          <a:prstGeom prst="roundRect">
            <a:avLst>
              <a:gd name="adj" fmla="val 15625"/>
            </a:avLst>
          </a:prstGeom>
          <a:solidFill>
            <a:srgbClr val="02C39A"/>
          </a:solidFill>
          <a:ln/>
        </p:spPr>
      </p:sp>
      <p:sp>
        <p:nvSpPr>
          <p:cNvPr id="79" name="Text 77"/>
          <p:cNvSpPr txBox="1"/>
          <p:nvPr/>
        </p:nvSpPr>
        <p:spPr>
          <a:xfrm>
            <a:off x="5390388" y="2359152"/>
            <a:ext cx="528393" cy="292608"/>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1</a:t>
            </a:r>
            <a:endParaRPr lang="tr-TR" sz="1300" dirty="0"/>
          </a:p>
        </p:txBody>
      </p:sp>
      <p:sp>
        <p:nvSpPr>
          <p:cNvPr id="80" name="Shape 78"/>
          <p:cNvSpPr/>
          <p:nvPr/>
        </p:nvSpPr>
        <p:spPr>
          <a:xfrm>
            <a:off x="5390388" y="2688336"/>
            <a:ext cx="528393" cy="292608"/>
          </a:xfrm>
          <a:prstGeom prst="roundRect">
            <a:avLst>
              <a:gd name="adj" fmla="val 15625"/>
            </a:avLst>
          </a:prstGeom>
          <a:solidFill>
            <a:srgbClr val="D7E9E6"/>
          </a:solidFill>
          <a:ln/>
        </p:spPr>
      </p:sp>
      <p:sp>
        <p:nvSpPr>
          <p:cNvPr id="81" name="Text 79"/>
          <p:cNvSpPr txBox="1"/>
          <p:nvPr/>
        </p:nvSpPr>
        <p:spPr>
          <a:xfrm>
            <a:off x="5390388" y="2688336"/>
            <a:ext cx="528393"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3</a:t>
            </a:r>
            <a:endParaRPr lang="tr-TR" sz="1300" dirty="0"/>
          </a:p>
        </p:txBody>
      </p:sp>
      <p:sp>
        <p:nvSpPr>
          <p:cNvPr id="82" name="Shape 80"/>
          <p:cNvSpPr/>
          <p:nvPr/>
        </p:nvSpPr>
        <p:spPr>
          <a:xfrm>
            <a:off x="5390388" y="3017520"/>
            <a:ext cx="528393" cy="292608"/>
          </a:xfrm>
          <a:prstGeom prst="roundRect">
            <a:avLst>
              <a:gd name="adj" fmla="val 15625"/>
            </a:avLst>
          </a:prstGeom>
          <a:solidFill>
            <a:srgbClr val="D7E9E6"/>
          </a:solidFill>
          <a:ln/>
        </p:spPr>
      </p:sp>
      <p:sp>
        <p:nvSpPr>
          <p:cNvPr id="83" name="Text 81"/>
          <p:cNvSpPr txBox="1"/>
          <p:nvPr/>
        </p:nvSpPr>
        <p:spPr>
          <a:xfrm>
            <a:off x="5390388" y="3017520"/>
            <a:ext cx="528393"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2</a:t>
            </a:r>
            <a:endParaRPr lang="tr-TR" sz="1300" dirty="0"/>
          </a:p>
        </p:txBody>
      </p:sp>
      <p:sp>
        <p:nvSpPr>
          <p:cNvPr id="84" name="Text 82"/>
          <p:cNvSpPr txBox="1"/>
          <p:nvPr/>
        </p:nvSpPr>
        <p:spPr>
          <a:xfrm>
            <a:off x="5372100" y="3328416"/>
            <a:ext cx="564969" cy="329184"/>
          </a:xfrm>
          <a:prstGeom prst="rect">
            <a:avLst/>
          </a:prstGeom>
          <a:noFill/>
          <a:ln/>
        </p:spPr>
        <p:txBody>
          <a:bodyPr wrap="square" lIns="0" tIns="0" rIns="0" bIns="0" rtlCol="0" anchor="ctr"/>
          <a:lstStyle/>
          <a:p>
            <a:pPr algn="ctr" indent="0" marL="0">
              <a:buNone/>
            </a:pPr>
            <a:r>
              <a:rPr lang="tr-TR" sz="1300" b="1" dirty="0">
                <a:solidFill>
                  <a:srgbClr val="B5453A"/>
                </a:solidFill>
                <a:latin typeface="Calibri" pitchFamily="34" charset="0"/>
                <a:ea typeface="Calibri" pitchFamily="34" charset="-122"/>
                <a:cs typeface="Calibri" pitchFamily="34" charset="-120"/>
              </a:rPr>
              <a:t>F</a:t>
            </a:r>
            <a:endParaRPr lang="tr-TR" sz="1300" dirty="0"/>
          </a:p>
        </p:txBody>
      </p:sp>
      <p:sp>
        <p:nvSpPr>
          <p:cNvPr id="85" name="Shape 83"/>
          <p:cNvSpPr/>
          <p:nvPr/>
        </p:nvSpPr>
        <p:spPr>
          <a:xfrm>
            <a:off x="5955357" y="2029968"/>
            <a:ext cx="528393" cy="292608"/>
          </a:xfrm>
          <a:prstGeom prst="roundRect">
            <a:avLst>
              <a:gd name="adj" fmla="val 15625"/>
            </a:avLst>
          </a:prstGeom>
          <a:solidFill>
            <a:srgbClr val="36454F"/>
          </a:solidFill>
          <a:ln/>
        </p:spPr>
      </p:sp>
      <p:sp>
        <p:nvSpPr>
          <p:cNvPr id="86" name="Text 84"/>
          <p:cNvSpPr txBox="1"/>
          <p:nvPr/>
        </p:nvSpPr>
        <p:spPr>
          <a:xfrm>
            <a:off x="5955357" y="2029968"/>
            <a:ext cx="528393" cy="29260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2</a:t>
            </a:r>
            <a:endParaRPr lang="tr-TR" sz="1300" dirty="0"/>
          </a:p>
        </p:txBody>
      </p:sp>
      <p:sp>
        <p:nvSpPr>
          <p:cNvPr id="87" name="Shape 85"/>
          <p:cNvSpPr/>
          <p:nvPr/>
        </p:nvSpPr>
        <p:spPr>
          <a:xfrm>
            <a:off x="5955357" y="2359152"/>
            <a:ext cx="528393" cy="292608"/>
          </a:xfrm>
          <a:prstGeom prst="roundRect">
            <a:avLst>
              <a:gd name="adj" fmla="val 15625"/>
            </a:avLst>
          </a:prstGeom>
          <a:solidFill>
            <a:srgbClr val="F2F2F2"/>
          </a:solidFill>
          <a:ln/>
        </p:spPr>
      </p:sp>
      <p:sp>
        <p:nvSpPr>
          <p:cNvPr id="88" name="Text 86"/>
          <p:cNvSpPr txBox="1"/>
          <p:nvPr/>
        </p:nvSpPr>
        <p:spPr>
          <a:xfrm>
            <a:off x="5955357" y="2359152"/>
            <a:ext cx="528393" cy="292608"/>
          </a:xfrm>
          <a:prstGeom prst="rect">
            <a:avLst/>
          </a:prstGeom>
          <a:noFill/>
          <a:ln/>
        </p:spPr>
        <p:txBody>
          <a:bodyPr wrap="square" lIns="38100" tIns="38100" rIns="38100" bIns="38100" rtlCol="0" anchor="ctr"/>
          <a:lstStyle/>
          <a:p>
            <a:pPr algn="ctr" indent="0" marL="0">
              <a:buNone/>
            </a:pPr>
            <a:r>
              <a:rPr lang="tr-TR" sz="1300" dirty="0">
                <a:solidFill>
                  <a:srgbClr val="9AA5A8"/>
                </a:solidFill>
                <a:latin typeface="Calibri" pitchFamily="34" charset="0"/>
                <a:ea typeface="Calibri" pitchFamily="34" charset="-122"/>
                <a:cs typeface="Calibri" pitchFamily="34" charset="-120"/>
              </a:rPr>
              <a:t>1</a:t>
            </a:r>
            <a:endParaRPr lang="tr-TR" sz="1300" dirty="0"/>
          </a:p>
        </p:txBody>
      </p:sp>
      <p:sp>
        <p:nvSpPr>
          <p:cNvPr id="89" name="Shape 87"/>
          <p:cNvSpPr/>
          <p:nvPr/>
        </p:nvSpPr>
        <p:spPr>
          <a:xfrm>
            <a:off x="5955357" y="2688336"/>
            <a:ext cx="528393" cy="292608"/>
          </a:xfrm>
          <a:prstGeom prst="roundRect">
            <a:avLst>
              <a:gd name="adj" fmla="val 15625"/>
            </a:avLst>
          </a:prstGeom>
          <a:solidFill>
            <a:srgbClr val="F2F2F2"/>
          </a:solidFill>
          <a:ln/>
        </p:spPr>
      </p:sp>
      <p:sp>
        <p:nvSpPr>
          <p:cNvPr id="90" name="Text 88"/>
          <p:cNvSpPr txBox="1"/>
          <p:nvPr/>
        </p:nvSpPr>
        <p:spPr>
          <a:xfrm>
            <a:off x="5955357" y="2688336"/>
            <a:ext cx="528393" cy="292608"/>
          </a:xfrm>
          <a:prstGeom prst="rect">
            <a:avLst/>
          </a:prstGeom>
          <a:noFill/>
          <a:ln/>
        </p:spPr>
        <p:txBody>
          <a:bodyPr wrap="square" lIns="38100" tIns="38100" rIns="38100" bIns="38100" rtlCol="0" anchor="ctr"/>
          <a:lstStyle/>
          <a:p>
            <a:pPr algn="ctr" indent="0" marL="0">
              <a:buNone/>
            </a:pPr>
            <a:r>
              <a:rPr lang="tr-TR" sz="1300" dirty="0">
                <a:solidFill>
                  <a:srgbClr val="9AA5A8"/>
                </a:solidFill>
                <a:latin typeface="Calibri" pitchFamily="34" charset="0"/>
                <a:ea typeface="Calibri" pitchFamily="34" charset="-122"/>
                <a:cs typeface="Calibri" pitchFamily="34" charset="-120"/>
              </a:rPr>
              <a:t>3</a:t>
            </a:r>
            <a:endParaRPr lang="tr-TR" sz="1300" dirty="0"/>
          </a:p>
        </p:txBody>
      </p:sp>
      <p:sp>
        <p:nvSpPr>
          <p:cNvPr id="91" name="Shape 89"/>
          <p:cNvSpPr/>
          <p:nvPr/>
        </p:nvSpPr>
        <p:spPr>
          <a:xfrm>
            <a:off x="5955357" y="3017520"/>
            <a:ext cx="528393" cy="292608"/>
          </a:xfrm>
          <a:prstGeom prst="roundRect">
            <a:avLst>
              <a:gd name="adj" fmla="val 15625"/>
            </a:avLst>
          </a:prstGeom>
          <a:solidFill>
            <a:srgbClr val="F2F2F2"/>
          </a:solidFill>
          <a:ln/>
        </p:spPr>
      </p:sp>
      <p:sp>
        <p:nvSpPr>
          <p:cNvPr id="92" name="Text 90"/>
          <p:cNvSpPr txBox="1"/>
          <p:nvPr/>
        </p:nvSpPr>
        <p:spPr>
          <a:xfrm>
            <a:off x="5955357" y="3017520"/>
            <a:ext cx="528393" cy="292608"/>
          </a:xfrm>
          <a:prstGeom prst="rect">
            <a:avLst/>
          </a:prstGeom>
          <a:noFill/>
          <a:ln/>
        </p:spPr>
        <p:txBody>
          <a:bodyPr wrap="square" lIns="38100" tIns="38100" rIns="38100" bIns="38100" rtlCol="0" anchor="ctr"/>
          <a:lstStyle/>
          <a:p>
            <a:pPr algn="ctr" indent="0" marL="0">
              <a:buNone/>
            </a:pPr>
            <a:r>
              <a:rPr lang="tr-TR" sz="1300" dirty="0">
                <a:solidFill>
                  <a:srgbClr val="9AA5A8"/>
                </a:solidFill>
                <a:latin typeface="Calibri" pitchFamily="34" charset="0"/>
                <a:ea typeface="Calibri" pitchFamily="34" charset="-122"/>
                <a:cs typeface="Calibri" pitchFamily="34" charset="-120"/>
              </a:rPr>
              <a:t>2</a:t>
            </a:r>
            <a:endParaRPr lang="tr-TR" sz="1300" dirty="0"/>
          </a:p>
        </p:txBody>
      </p:sp>
      <p:sp>
        <p:nvSpPr>
          <p:cNvPr id="93" name="Text 91"/>
          <p:cNvSpPr txBox="1"/>
          <p:nvPr/>
        </p:nvSpPr>
        <p:spPr>
          <a:xfrm>
            <a:off x="5937069" y="3328416"/>
            <a:ext cx="564969" cy="329184"/>
          </a:xfrm>
          <a:prstGeom prst="rect">
            <a:avLst/>
          </a:prstGeom>
          <a:noFill/>
          <a:ln/>
        </p:spPr>
        <p:txBody>
          <a:bodyPr wrap="square" lIns="0" tIns="0" rIns="0" bIns="0" rtlCol="0" anchor="ctr"/>
          <a:lstStyle/>
          <a:p>
            <a:pPr algn="ctr" indent="0" marL="0">
              <a:buNone/>
            </a:pPr>
            <a:endParaRPr lang="tr-TR" sz="1300" dirty="0"/>
          </a:p>
        </p:txBody>
      </p:sp>
      <p:sp>
        <p:nvSpPr>
          <p:cNvPr id="94" name="Shape 92"/>
          <p:cNvSpPr/>
          <p:nvPr/>
        </p:nvSpPr>
        <p:spPr>
          <a:xfrm>
            <a:off x="6520325" y="2029968"/>
            <a:ext cx="528393" cy="292608"/>
          </a:xfrm>
          <a:prstGeom prst="roundRect">
            <a:avLst>
              <a:gd name="adj" fmla="val 15625"/>
            </a:avLst>
          </a:prstGeom>
          <a:solidFill>
            <a:srgbClr val="36454F"/>
          </a:solidFill>
          <a:ln/>
        </p:spPr>
      </p:sp>
      <p:sp>
        <p:nvSpPr>
          <p:cNvPr id="95" name="Text 93"/>
          <p:cNvSpPr txBox="1"/>
          <p:nvPr/>
        </p:nvSpPr>
        <p:spPr>
          <a:xfrm>
            <a:off x="6520325" y="2029968"/>
            <a:ext cx="528393" cy="29260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4</a:t>
            </a:r>
            <a:endParaRPr lang="tr-TR" sz="1300" dirty="0"/>
          </a:p>
        </p:txBody>
      </p:sp>
      <p:sp>
        <p:nvSpPr>
          <p:cNvPr id="96" name="Shape 94"/>
          <p:cNvSpPr/>
          <p:nvPr/>
        </p:nvSpPr>
        <p:spPr>
          <a:xfrm>
            <a:off x="6520325" y="2359152"/>
            <a:ext cx="528393" cy="292608"/>
          </a:xfrm>
          <a:prstGeom prst="roundRect">
            <a:avLst>
              <a:gd name="adj" fmla="val 15625"/>
            </a:avLst>
          </a:prstGeom>
          <a:solidFill>
            <a:srgbClr val="D7E9E6"/>
          </a:solidFill>
          <a:ln/>
        </p:spPr>
      </p:sp>
      <p:sp>
        <p:nvSpPr>
          <p:cNvPr id="97" name="Text 95"/>
          <p:cNvSpPr txBox="1"/>
          <p:nvPr/>
        </p:nvSpPr>
        <p:spPr>
          <a:xfrm>
            <a:off x="6520325" y="2359152"/>
            <a:ext cx="528393"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1</a:t>
            </a:r>
            <a:endParaRPr lang="tr-TR" sz="1300" dirty="0"/>
          </a:p>
        </p:txBody>
      </p:sp>
      <p:sp>
        <p:nvSpPr>
          <p:cNvPr id="98" name="Shape 96"/>
          <p:cNvSpPr/>
          <p:nvPr/>
        </p:nvSpPr>
        <p:spPr>
          <a:xfrm>
            <a:off x="6520325" y="2688336"/>
            <a:ext cx="528393" cy="292608"/>
          </a:xfrm>
          <a:prstGeom prst="roundRect">
            <a:avLst>
              <a:gd name="adj" fmla="val 15625"/>
            </a:avLst>
          </a:prstGeom>
          <a:solidFill>
            <a:srgbClr val="02C39A"/>
          </a:solidFill>
          <a:ln/>
        </p:spPr>
      </p:sp>
      <p:sp>
        <p:nvSpPr>
          <p:cNvPr id="99" name="Text 97"/>
          <p:cNvSpPr txBox="1"/>
          <p:nvPr/>
        </p:nvSpPr>
        <p:spPr>
          <a:xfrm>
            <a:off x="6520325" y="2688336"/>
            <a:ext cx="528393" cy="292608"/>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4</a:t>
            </a:r>
            <a:endParaRPr lang="tr-TR" sz="1300" dirty="0"/>
          </a:p>
        </p:txBody>
      </p:sp>
      <p:sp>
        <p:nvSpPr>
          <p:cNvPr id="100" name="Shape 98"/>
          <p:cNvSpPr/>
          <p:nvPr/>
        </p:nvSpPr>
        <p:spPr>
          <a:xfrm>
            <a:off x="6520325" y="3017520"/>
            <a:ext cx="528393" cy="292608"/>
          </a:xfrm>
          <a:prstGeom prst="roundRect">
            <a:avLst>
              <a:gd name="adj" fmla="val 15625"/>
            </a:avLst>
          </a:prstGeom>
          <a:solidFill>
            <a:srgbClr val="D7E9E6"/>
          </a:solidFill>
          <a:ln/>
        </p:spPr>
      </p:sp>
      <p:sp>
        <p:nvSpPr>
          <p:cNvPr id="101" name="Text 99"/>
          <p:cNvSpPr txBox="1"/>
          <p:nvPr/>
        </p:nvSpPr>
        <p:spPr>
          <a:xfrm>
            <a:off x="6520325" y="3017520"/>
            <a:ext cx="528393"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2</a:t>
            </a:r>
            <a:endParaRPr lang="tr-TR" sz="1300" dirty="0"/>
          </a:p>
        </p:txBody>
      </p:sp>
      <p:sp>
        <p:nvSpPr>
          <p:cNvPr id="102" name="Text 100"/>
          <p:cNvSpPr txBox="1"/>
          <p:nvPr/>
        </p:nvSpPr>
        <p:spPr>
          <a:xfrm>
            <a:off x="6502037" y="3328416"/>
            <a:ext cx="564969" cy="329184"/>
          </a:xfrm>
          <a:prstGeom prst="rect">
            <a:avLst/>
          </a:prstGeom>
          <a:noFill/>
          <a:ln/>
        </p:spPr>
        <p:txBody>
          <a:bodyPr wrap="square" lIns="0" tIns="0" rIns="0" bIns="0" rtlCol="0" anchor="ctr"/>
          <a:lstStyle/>
          <a:p>
            <a:pPr algn="ctr" indent="0" marL="0">
              <a:buNone/>
            </a:pPr>
            <a:r>
              <a:rPr lang="tr-TR" sz="1300" b="1" dirty="0">
                <a:solidFill>
                  <a:srgbClr val="B5453A"/>
                </a:solidFill>
                <a:latin typeface="Calibri" pitchFamily="34" charset="0"/>
                <a:ea typeface="Calibri" pitchFamily="34" charset="-122"/>
                <a:cs typeface="Calibri" pitchFamily="34" charset="-120"/>
              </a:rPr>
              <a:t>F</a:t>
            </a:r>
            <a:endParaRPr lang="tr-TR" sz="1300" dirty="0"/>
          </a:p>
        </p:txBody>
      </p:sp>
      <p:sp>
        <p:nvSpPr>
          <p:cNvPr id="103" name="Shape 101"/>
          <p:cNvSpPr/>
          <p:nvPr/>
        </p:nvSpPr>
        <p:spPr>
          <a:xfrm>
            <a:off x="7085294" y="2029968"/>
            <a:ext cx="528393" cy="292608"/>
          </a:xfrm>
          <a:prstGeom prst="roundRect">
            <a:avLst>
              <a:gd name="adj" fmla="val 15625"/>
            </a:avLst>
          </a:prstGeom>
          <a:solidFill>
            <a:srgbClr val="36454F"/>
          </a:solidFill>
          <a:ln/>
        </p:spPr>
      </p:sp>
      <p:sp>
        <p:nvSpPr>
          <p:cNvPr id="104" name="Text 102"/>
          <p:cNvSpPr txBox="1"/>
          <p:nvPr/>
        </p:nvSpPr>
        <p:spPr>
          <a:xfrm>
            <a:off x="7085294" y="2029968"/>
            <a:ext cx="528393" cy="29260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0</a:t>
            </a:r>
            <a:endParaRPr lang="tr-TR" sz="1300" dirty="0"/>
          </a:p>
        </p:txBody>
      </p:sp>
      <p:sp>
        <p:nvSpPr>
          <p:cNvPr id="105" name="Shape 103"/>
          <p:cNvSpPr/>
          <p:nvPr/>
        </p:nvSpPr>
        <p:spPr>
          <a:xfrm>
            <a:off x="7085294" y="2359152"/>
            <a:ext cx="528393" cy="292608"/>
          </a:xfrm>
          <a:prstGeom prst="roundRect">
            <a:avLst>
              <a:gd name="adj" fmla="val 15625"/>
            </a:avLst>
          </a:prstGeom>
          <a:solidFill>
            <a:srgbClr val="D7E9E6"/>
          </a:solidFill>
          <a:ln/>
        </p:spPr>
      </p:sp>
      <p:sp>
        <p:nvSpPr>
          <p:cNvPr id="106" name="Text 104"/>
          <p:cNvSpPr txBox="1"/>
          <p:nvPr/>
        </p:nvSpPr>
        <p:spPr>
          <a:xfrm>
            <a:off x="7085294" y="2359152"/>
            <a:ext cx="528393"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1</a:t>
            </a:r>
            <a:endParaRPr lang="tr-TR" sz="1300" dirty="0"/>
          </a:p>
        </p:txBody>
      </p:sp>
      <p:sp>
        <p:nvSpPr>
          <p:cNvPr id="107" name="Shape 105"/>
          <p:cNvSpPr/>
          <p:nvPr/>
        </p:nvSpPr>
        <p:spPr>
          <a:xfrm>
            <a:off x="7085294" y="2688336"/>
            <a:ext cx="528393" cy="292608"/>
          </a:xfrm>
          <a:prstGeom prst="roundRect">
            <a:avLst>
              <a:gd name="adj" fmla="val 15625"/>
            </a:avLst>
          </a:prstGeom>
          <a:solidFill>
            <a:srgbClr val="D7E9E6"/>
          </a:solidFill>
          <a:ln/>
        </p:spPr>
      </p:sp>
      <p:sp>
        <p:nvSpPr>
          <p:cNvPr id="108" name="Text 106"/>
          <p:cNvSpPr txBox="1"/>
          <p:nvPr/>
        </p:nvSpPr>
        <p:spPr>
          <a:xfrm>
            <a:off x="7085294" y="2688336"/>
            <a:ext cx="528393"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4</a:t>
            </a:r>
            <a:endParaRPr lang="tr-TR" sz="1300" dirty="0"/>
          </a:p>
        </p:txBody>
      </p:sp>
      <p:sp>
        <p:nvSpPr>
          <p:cNvPr id="109" name="Shape 107"/>
          <p:cNvSpPr/>
          <p:nvPr/>
        </p:nvSpPr>
        <p:spPr>
          <a:xfrm>
            <a:off x="7085294" y="3017520"/>
            <a:ext cx="528393" cy="292608"/>
          </a:xfrm>
          <a:prstGeom prst="roundRect">
            <a:avLst>
              <a:gd name="adj" fmla="val 15625"/>
            </a:avLst>
          </a:prstGeom>
          <a:solidFill>
            <a:srgbClr val="02C39A"/>
          </a:solidFill>
          <a:ln/>
        </p:spPr>
      </p:sp>
      <p:sp>
        <p:nvSpPr>
          <p:cNvPr id="110" name="Text 108"/>
          <p:cNvSpPr txBox="1"/>
          <p:nvPr/>
        </p:nvSpPr>
        <p:spPr>
          <a:xfrm>
            <a:off x="7085294" y="3017520"/>
            <a:ext cx="528393" cy="292608"/>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0</a:t>
            </a:r>
            <a:endParaRPr lang="tr-TR" sz="1300" dirty="0"/>
          </a:p>
        </p:txBody>
      </p:sp>
      <p:sp>
        <p:nvSpPr>
          <p:cNvPr id="111" name="Text 109"/>
          <p:cNvSpPr txBox="1"/>
          <p:nvPr/>
        </p:nvSpPr>
        <p:spPr>
          <a:xfrm>
            <a:off x="7067006" y="3328416"/>
            <a:ext cx="564969" cy="329184"/>
          </a:xfrm>
          <a:prstGeom prst="rect">
            <a:avLst/>
          </a:prstGeom>
          <a:noFill/>
          <a:ln/>
        </p:spPr>
        <p:txBody>
          <a:bodyPr wrap="square" lIns="0" tIns="0" rIns="0" bIns="0" rtlCol="0" anchor="ctr"/>
          <a:lstStyle/>
          <a:p>
            <a:pPr algn="ctr" indent="0" marL="0">
              <a:buNone/>
            </a:pPr>
            <a:r>
              <a:rPr lang="tr-TR" sz="1300" b="1" dirty="0">
                <a:solidFill>
                  <a:srgbClr val="B5453A"/>
                </a:solidFill>
                <a:latin typeface="Calibri" pitchFamily="34" charset="0"/>
                <a:ea typeface="Calibri" pitchFamily="34" charset="-122"/>
                <a:cs typeface="Calibri" pitchFamily="34" charset="-120"/>
              </a:rPr>
              <a:t>F</a:t>
            </a:r>
            <a:endParaRPr lang="tr-TR" sz="1300" dirty="0"/>
          </a:p>
        </p:txBody>
      </p:sp>
      <p:sp>
        <p:nvSpPr>
          <p:cNvPr id="112" name="Shape 110"/>
          <p:cNvSpPr/>
          <p:nvPr/>
        </p:nvSpPr>
        <p:spPr>
          <a:xfrm>
            <a:off x="7650262" y="2029968"/>
            <a:ext cx="528393" cy="292608"/>
          </a:xfrm>
          <a:prstGeom prst="roundRect">
            <a:avLst>
              <a:gd name="adj" fmla="val 15625"/>
            </a:avLst>
          </a:prstGeom>
          <a:solidFill>
            <a:srgbClr val="36454F"/>
          </a:solidFill>
          <a:ln/>
        </p:spPr>
      </p:sp>
      <p:sp>
        <p:nvSpPr>
          <p:cNvPr id="113" name="Text 111"/>
          <p:cNvSpPr txBox="1"/>
          <p:nvPr/>
        </p:nvSpPr>
        <p:spPr>
          <a:xfrm>
            <a:off x="7650262" y="2029968"/>
            <a:ext cx="528393" cy="29260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2</a:t>
            </a:r>
            <a:endParaRPr lang="tr-TR" sz="1300" dirty="0"/>
          </a:p>
        </p:txBody>
      </p:sp>
      <p:sp>
        <p:nvSpPr>
          <p:cNvPr id="114" name="Shape 112"/>
          <p:cNvSpPr/>
          <p:nvPr/>
        </p:nvSpPr>
        <p:spPr>
          <a:xfrm>
            <a:off x="7650262" y="2359152"/>
            <a:ext cx="528393" cy="292608"/>
          </a:xfrm>
          <a:prstGeom prst="roundRect">
            <a:avLst>
              <a:gd name="adj" fmla="val 15625"/>
            </a:avLst>
          </a:prstGeom>
          <a:solidFill>
            <a:srgbClr val="02C39A"/>
          </a:solidFill>
          <a:ln/>
        </p:spPr>
      </p:sp>
      <p:sp>
        <p:nvSpPr>
          <p:cNvPr id="115" name="Text 113"/>
          <p:cNvSpPr txBox="1"/>
          <p:nvPr/>
        </p:nvSpPr>
        <p:spPr>
          <a:xfrm>
            <a:off x="7650262" y="2359152"/>
            <a:ext cx="528393" cy="292608"/>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2</a:t>
            </a:r>
            <a:endParaRPr lang="tr-TR" sz="1300" dirty="0"/>
          </a:p>
        </p:txBody>
      </p:sp>
      <p:sp>
        <p:nvSpPr>
          <p:cNvPr id="116" name="Shape 114"/>
          <p:cNvSpPr/>
          <p:nvPr/>
        </p:nvSpPr>
        <p:spPr>
          <a:xfrm>
            <a:off x="7650262" y="2688336"/>
            <a:ext cx="528393" cy="292608"/>
          </a:xfrm>
          <a:prstGeom prst="roundRect">
            <a:avLst>
              <a:gd name="adj" fmla="val 15625"/>
            </a:avLst>
          </a:prstGeom>
          <a:solidFill>
            <a:srgbClr val="D7E9E6"/>
          </a:solidFill>
          <a:ln/>
        </p:spPr>
      </p:sp>
      <p:sp>
        <p:nvSpPr>
          <p:cNvPr id="117" name="Text 115"/>
          <p:cNvSpPr txBox="1"/>
          <p:nvPr/>
        </p:nvSpPr>
        <p:spPr>
          <a:xfrm>
            <a:off x="7650262" y="2688336"/>
            <a:ext cx="528393"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4</a:t>
            </a:r>
            <a:endParaRPr lang="tr-TR" sz="1300" dirty="0"/>
          </a:p>
        </p:txBody>
      </p:sp>
      <p:sp>
        <p:nvSpPr>
          <p:cNvPr id="118" name="Shape 116"/>
          <p:cNvSpPr/>
          <p:nvPr/>
        </p:nvSpPr>
        <p:spPr>
          <a:xfrm>
            <a:off x="7650262" y="3017520"/>
            <a:ext cx="528393" cy="292608"/>
          </a:xfrm>
          <a:prstGeom prst="roundRect">
            <a:avLst>
              <a:gd name="adj" fmla="val 15625"/>
            </a:avLst>
          </a:prstGeom>
          <a:solidFill>
            <a:srgbClr val="D7E9E6"/>
          </a:solidFill>
          <a:ln/>
        </p:spPr>
      </p:sp>
      <p:sp>
        <p:nvSpPr>
          <p:cNvPr id="119" name="Text 117"/>
          <p:cNvSpPr txBox="1"/>
          <p:nvPr/>
        </p:nvSpPr>
        <p:spPr>
          <a:xfrm>
            <a:off x="7650262" y="3017520"/>
            <a:ext cx="528393"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0</a:t>
            </a:r>
            <a:endParaRPr lang="tr-TR" sz="1300" dirty="0"/>
          </a:p>
        </p:txBody>
      </p:sp>
      <p:sp>
        <p:nvSpPr>
          <p:cNvPr id="120" name="Text 118"/>
          <p:cNvSpPr txBox="1"/>
          <p:nvPr/>
        </p:nvSpPr>
        <p:spPr>
          <a:xfrm>
            <a:off x="7631974" y="3328416"/>
            <a:ext cx="564969" cy="329184"/>
          </a:xfrm>
          <a:prstGeom prst="rect">
            <a:avLst/>
          </a:prstGeom>
          <a:noFill/>
          <a:ln/>
        </p:spPr>
        <p:txBody>
          <a:bodyPr wrap="square" lIns="0" tIns="0" rIns="0" bIns="0" rtlCol="0" anchor="ctr"/>
          <a:lstStyle/>
          <a:p>
            <a:pPr algn="ctr" indent="0" marL="0">
              <a:buNone/>
            </a:pPr>
            <a:r>
              <a:rPr lang="tr-TR" sz="1300" b="1" dirty="0">
                <a:solidFill>
                  <a:srgbClr val="B5453A"/>
                </a:solidFill>
                <a:latin typeface="Calibri" pitchFamily="34" charset="0"/>
                <a:ea typeface="Calibri" pitchFamily="34" charset="-122"/>
                <a:cs typeface="Calibri" pitchFamily="34" charset="-120"/>
              </a:rPr>
              <a:t>F</a:t>
            </a:r>
            <a:endParaRPr lang="tr-TR" sz="1300" dirty="0"/>
          </a:p>
        </p:txBody>
      </p:sp>
      <p:sp>
        <p:nvSpPr>
          <p:cNvPr id="121" name="Shape 119"/>
          <p:cNvSpPr/>
          <p:nvPr/>
        </p:nvSpPr>
        <p:spPr>
          <a:xfrm>
            <a:off x="8215231" y="2029968"/>
            <a:ext cx="528393" cy="292608"/>
          </a:xfrm>
          <a:prstGeom prst="roundRect">
            <a:avLst>
              <a:gd name="adj" fmla="val 15625"/>
            </a:avLst>
          </a:prstGeom>
          <a:solidFill>
            <a:srgbClr val="36454F"/>
          </a:solidFill>
          <a:ln/>
        </p:spPr>
      </p:sp>
      <p:sp>
        <p:nvSpPr>
          <p:cNvPr id="122" name="Text 120"/>
          <p:cNvSpPr txBox="1"/>
          <p:nvPr/>
        </p:nvSpPr>
        <p:spPr>
          <a:xfrm>
            <a:off x="8215231" y="2029968"/>
            <a:ext cx="528393" cy="29260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0</a:t>
            </a:r>
            <a:endParaRPr lang="tr-TR" sz="1300" dirty="0"/>
          </a:p>
        </p:txBody>
      </p:sp>
      <p:sp>
        <p:nvSpPr>
          <p:cNvPr id="123" name="Shape 121"/>
          <p:cNvSpPr/>
          <p:nvPr/>
        </p:nvSpPr>
        <p:spPr>
          <a:xfrm>
            <a:off x="8215231" y="2359152"/>
            <a:ext cx="528393" cy="292608"/>
          </a:xfrm>
          <a:prstGeom prst="roundRect">
            <a:avLst>
              <a:gd name="adj" fmla="val 15625"/>
            </a:avLst>
          </a:prstGeom>
          <a:solidFill>
            <a:srgbClr val="F2F2F2"/>
          </a:solidFill>
          <a:ln/>
        </p:spPr>
      </p:sp>
      <p:sp>
        <p:nvSpPr>
          <p:cNvPr id="124" name="Text 122"/>
          <p:cNvSpPr txBox="1"/>
          <p:nvPr/>
        </p:nvSpPr>
        <p:spPr>
          <a:xfrm>
            <a:off x="8215231" y="2359152"/>
            <a:ext cx="528393" cy="292608"/>
          </a:xfrm>
          <a:prstGeom prst="rect">
            <a:avLst/>
          </a:prstGeom>
          <a:noFill/>
          <a:ln/>
        </p:spPr>
        <p:txBody>
          <a:bodyPr wrap="square" lIns="38100" tIns="38100" rIns="38100" bIns="38100" rtlCol="0" anchor="ctr"/>
          <a:lstStyle/>
          <a:p>
            <a:pPr algn="ctr" indent="0" marL="0">
              <a:buNone/>
            </a:pPr>
            <a:r>
              <a:rPr lang="tr-TR" sz="1300" dirty="0">
                <a:solidFill>
                  <a:srgbClr val="9AA5A8"/>
                </a:solidFill>
                <a:latin typeface="Calibri" pitchFamily="34" charset="0"/>
                <a:ea typeface="Calibri" pitchFamily="34" charset="-122"/>
                <a:cs typeface="Calibri" pitchFamily="34" charset="-120"/>
              </a:rPr>
              <a:t>2</a:t>
            </a:r>
            <a:endParaRPr lang="tr-TR" sz="1300" dirty="0"/>
          </a:p>
        </p:txBody>
      </p:sp>
      <p:sp>
        <p:nvSpPr>
          <p:cNvPr id="125" name="Shape 123"/>
          <p:cNvSpPr/>
          <p:nvPr/>
        </p:nvSpPr>
        <p:spPr>
          <a:xfrm>
            <a:off x="8215231" y="2688336"/>
            <a:ext cx="528393" cy="292608"/>
          </a:xfrm>
          <a:prstGeom prst="roundRect">
            <a:avLst>
              <a:gd name="adj" fmla="val 15625"/>
            </a:avLst>
          </a:prstGeom>
          <a:solidFill>
            <a:srgbClr val="F2F2F2"/>
          </a:solidFill>
          <a:ln/>
        </p:spPr>
      </p:sp>
      <p:sp>
        <p:nvSpPr>
          <p:cNvPr id="126" name="Text 124"/>
          <p:cNvSpPr txBox="1"/>
          <p:nvPr/>
        </p:nvSpPr>
        <p:spPr>
          <a:xfrm>
            <a:off x="8215231" y="2688336"/>
            <a:ext cx="528393" cy="292608"/>
          </a:xfrm>
          <a:prstGeom prst="rect">
            <a:avLst/>
          </a:prstGeom>
          <a:noFill/>
          <a:ln/>
        </p:spPr>
        <p:txBody>
          <a:bodyPr wrap="square" lIns="38100" tIns="38100" rIns="38100" bIns="38100" rtlCol="0" anchor="ctr"/>
          <a:lstStyle/>
          <a:p>
            <a:pPr algn="ctr" indent="0" marL="0">
              <a:buNone/>
            </a:pPr>
            <a:r>
              <a:rPr lang="tr-TR" sz="1300" dirty="0">
                <a:solidFill>
                  <a:srgbClr val="9AA5A8"/>
                </a:solidFill>
                <a:latin typeface="Calibri" pitchFamily="34" charset="0"/>
                <a:ea typeface="Calibri" pitchFamily="34" charset="-122"/>
                <a:cs typeface="Calibri" pitchFamily="34" charset="-120"/>
              </a:rPr>
              <a:t>4</a:t>
            </a:r>
            <a:endParaRPr lang="tr-TR" sz="1300" dirty="0"/>
          </a:p>
        </p:txBody>
      </p:sp>
      <p:sp>
        <p:nvSpPr>
          <p:cNvPr id="127" name="Shape 125"/>
          <p:cNvSpPr/>
          <p:nvPr/>
        </p:nvSpPr>
        <p:spPr>
          <a:xfrm>
            <a:off x="8215231" y="3017520"/>
            <a:ext cx="528393" cy="292608"/>
          </a:xfrm>
          <a:prstGeom prst="roundRect">
            <a:avLst>
              <a:gd name="adj" fmla="val 15625"/>
            </a:avLst>
          </a:prstGeom>
          <a:solidFill>
            <a:srgbClr val="F2F2F2"/>
          </a:solidFill>
          <a:ln/>
        </p:spPr>
      </p:sp>
      <p:sp>
        <p:nvSpPr>
          <p:cNvPr id="128" name="Text 126"/>
          <p:cNvSpPr txBox="1"/>
          <p:nvPr/>
        </p:nvSpPr>
        <p:spPr>
          <a:xfrm>
            <a:off x="8215231" y="3017520"/>
            <a:ext cx="528393" cy="292608"/>
          </a:xfrm>
          <a:prstGeom prst="rect">
            <a:avLst/>
          </a:prstGeom>
          <a:noFill/>
          <a:ln/>
        </p:spPr>
        <p:txBody>
          <a:bodyPr wrap="square" lIns="38100" tIns="38100" rIns="38100" bIns="38100" rtlCol="0" anchor="ctr"/>
          <a:lstStyle/>
          <a:p>
            <a:pPr algn="ctr" indent="0" marL="0">
              <a:buNone/>
            </a:pPr>
            <a:r>
              <a:rPr lang="tr-TR" sz="1300" dirty="0">
                <a:solidFill>
                  <a:srgbClr val="9AA5A8"/>
                </a:solidFill>
                <a:latin typeface="Calibri" pitchFamily="34" charset="0"/>
                <a:ea typeface="Calibri" pitchFamily="34" charset="-122"/>
                <a:cs typeface="Calibri" pitchFamily="34" charset="-120"/>
              </a:rPr>
              <a:t>0</a:t>
            </a:r>
            <a:endParaRPr lang="tr-TR" sz="1300" dirty="0"/>
          </a:p>
        </p:txBody>
      </p:sp>
      <p:sp>
        <p:nvSpPr>
          <p:cNvPr id="129" name="Text 127"/>
          <p:cNvSpPr txBox="1"/>
          <p:nvPr/>
        </p:nvSpPr>
        <p:spPr>
          <a:xfrm>
            <a:off x="8196943" y="3328416"/>
            <a:ext cx="564969" cy="329184"/>
          </a:xfrm>
          <a:prstGeom prst="rect">
            <a:avLst/>
          </a:prstGeom>
          <a:noFill/>
          <a:ln/>
        </p:spPr>
        <p:txBody>
          <a:bodyPr wrap="square" lIns="0" tIns="0" rIns="0" bIns="0" rtlCol="0" anchor="ctr"/>
          <a:lstStyle/>
          <a:p>
            <a:pPr algn="ctr" indent="0" marL="0">
              <a:buNone/>
            </a:pPr>
            <a:endParaRPr lang="tr-TR" sz="1300" dirty="0"/>
          </a:p>
        </p:txBody>
      </p:sp>
      <p:sp>
        <p:nvSpPr>
          <p:cNvPr id="130" name="Shape 128"/>
          <p:cNvSpPr/>
          <p:nvPr/>
        </p:nvSpPr>
        <p:spPr>
          <a:xfrm>
            <a:off x="8780199" y="2029968"/>
            <a:ext cx="528393" cy="292608"/>
          </a:xfrm>
          <a:prstGeom prst="roundRect">
            <a:avLst>
              <a:gd name="adj" fmla="val 15625"/>
            </a:avLst>
          </a:prstGeom>
          <a:solidFill>
            <a:srgbClr val="36454F"/>
          </a:solidFill>
          <a:ln/>
        </p:spPr>
      </p:sp>
      <p:sp>
        <p:nvSpPr>
          <p:cNvPr id="131" name="Text 129"/>
          <p:cNvSpPr txBox="1"/>
          <p:nvPr/>
        </p:nvSpPr>
        <p:spPr>
          <a:xfrm>
            <a:off x="8780199" y="2029968"/>
            <a:ext cx="528393" cy="29260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1</a:t>
            </a:r>
            <a:endParaRPr lang="tr-TR" sz="1300" dirty="0"/>
          </a:p>
        </p:txBody>
      </p:sp>
      <p:sp>
        <p:nvSpPr>
          <p:cNvPr id="132" name="Shape 130"/>
          <p:cNvSpPr/>
          <p:nvPr/>
        </p:nvSpPr>
        <p:spPr>
          <a:xfrm>
            <a:off x="8780199" y="2359152"/>
            <a:ext cx="528393" cy="292608"/>
          </a:xfrm>
          <a:prstGeom prst="roundRect">
            <a:avLst>
              <a:gd name="adj" fmla="val 15625"/>
            </a:avLst>
          </a:prstGeom>
          <a:solidFill>
            <a:srgbClr val="D7E9E6"/>
          </a:solidFill>
          <a:ln/>
        </p:spPr>
      </p:sp>
      <p:sp>
        <p:nvSpPr>
          <p:cNvPr id="133" name="Text 131"/>
          <p:cNvSpPr txBox="1"/>
          <p:nvPr/>
        </p:nvSpPr>
        <p:spPr>
          <a:xfrm>
            <a:off x="8780199" y="2359152"/>
            <a:ext cx="528393"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2</a:t>
            </a:r>
            <a:endParaRPr lang="tr-TR" sz="1300" dirty="0"/>
          </a:p>
        </p:txBody>
      </p:sp>
      <p:sp>
        <p:nvSpPr>
          <p:cNvPr id="134" name="Shape 132"/>
          <p:cNvSpPr/>
          <p:nvPr/>
        </p:nvSpPr>
        <p:spPr>
          <a:xfrm>
            <a:off x="8780199" y="2688336"/>
            <a:ext cx="528393" cy="292608"/>
          </a:xfrm>
          <a:prstGeom prst="roundRect">
            <a:avLst>
              <a:gd name="adj" fmla="val 15625"/>
            </a:avLst>
          </a:prstGeom>
          <a:solidFill>
            <a:srgbClr val="02C39A"/>
          </a:solidFill>
          <a:ln/>
        </p:spPr>
      </p:sp>
      <p:sp>
        <p:nvSpPr>
          <p:cNvPr id="135" name="Text 133"/>
          <p:cNvSpPr txBox="1"/>
          <p:nvPr/>
        </p:nvSpPr>
        <p:spPr>
          <a:xfrm>
            <a:off x="8780199" y="2688336"/>
            <a:ext cx="528393" cy="292608"/>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1</a:t>
            </a:r>
            <a:endParaRPr lang="tr-TR" sz="1300" dirty="0"/>
          </a:p>
        </p:txBody>
      </p:sp>
      <p:sp>
        <p:nvSpPr>
          <p:cNvPr id="136" name="Shape 134"/>
          <p:cNvSpPr/>
          <p:nvPr/>
        </p:nvSpPr>
        <p:spPr>
          <a:xfrm>
            <a:off x="8780199" y="3017520"/>
            <a:ext cx="528393" cy="292608"/>
          </a:xfrm>
          <a:prstGeom prst="roundRect">
            <a:avLst>
              <a:gd name="adj" fmla="val 15625"/>
            </a:avLst>
          </a:prstGeom>
          <a:solidFill>
            <a:srgbClr val="D7E9E6"/>
          </a:solidFill>
          <a:ln/>
        </p:spPr>
      </p:sp>
      <p:sp>
        <p:nvSpPr>
          <p:cNvPr id="137" name="Text 135"/>
          <p:cNvSpPr txBox="1"/>
          <p:nvPr/>
        </p:nvSpPr>
        <p:spPr>
          <a:xfrm>
            <a:off x="8780199" y="3017520"/>
            <a:ext cx="528393"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0</a:t>
            </a:r>
            <a:endParaRPr lang="tr-TR" sz="1300" dirty="0"/>
          </a:p>
        </p:txBody>
      </p:sp>
      <p:sp>
        <p:nvSpPr>
          <p:cNvPr id="138" name="Text 136"/>
          <p:cNvSpPr txBox="1"/>
          <p:nvPr/>
        </p:nvSpPr>
        <p:spPr>
          <a:xfrm>
            <a:off x="8761911" y="3328416"/>
            <a:ext cx="564969" cy="329184"/>
          </a:xfrm>
          <a:prstGeom prst="rect">
            <a:avLst/>
          </a:prstGeom>
          <a:noFill/>
          <a:ln/>
        </p:spPr>
        <p:txBody>
          <a:bodyPr wrap="square" lIns="0" tIns="0" rIns="0" bIns="0" rtlCol="0" anchor="ctr"/>
          <a:lstStyle/>
          <a:p>
            <a:pPr algn="ctr" indent="0" marL="0">
              <a:buNone/>
            </a:pPr>
            <a:r>
              <a:rPr lang="tr-TR" sz="1300" b="1" dirty="0">
                <a:solidFill>
                  <a:srgbClr val="B5453A"/>
                </a:solidFill>
                <a:latin typeface="Calibri" pitchFamily="34" charset="0"/>
                <a:ea typeface="Calibri" pitchFamily="34" charset="-122"/>
                <a:cs typeface="Calibri" pitchFamily="34" charset="-120"/>
              </a:rPr>
              <a:t>F</a:t>
            </a:r>
            <a:endParaRPr lang="tr-TR" sz="1300" dirty="0"/>
          </a:p>
        </p:txBody>
      </p:sp>
      <p:sp>
        <p:nvSpPr>
          <p:cNvPr id="139" name="Text 137"/>
          <p:cNvSpPr txBox="1"/>
          <p:nvPr/>
        </p:nvSpPr>
        <p:spPr>
          <a:xfrm>
            <a:off x="548640" y="4023360"/>
            <a:ext cx="1828800" cy="292608"/>
          </a:xfrm>
          <a:prstGeom prst="rect">
            <a:avLst/>
          </a:prstGeom>
          <a:noFill/>
          <a:ln/>
        </p:spPr>
        <p:txBody>
          <a:bodyPr wrap="square" lIns="0" tIns="0" rIns="0" bIns="0" rtlCol="0" anchor="t"/>
          <a:lstStyle/>
          <a:p>
            <a:pPr indent="0" marL="0">
              <a:buNone/>
            </a:pPr>
            <a:r>
              <a:rPr lang="tr-TR" sz="1400" b="1" dirty="0">
                <a:solidFill>
                  <a:srgbClr val="028090"/>
                </a:solidFill>
                <a:latin typeface="Calibri" pitchFamily="34" charset="0"/>
                <a:ea typeface="Calibri" pitchFamily="34" charset="-122"/>
                <a:cs typeface="Calibri" pitchFamily="34" charset="-120"/>
              </a:rPr>
              <a:t>LRU</a:t>
            </a:r>
            <a:endParaRPr lang="tr-TR" sz="1400" dirty="0"/>
          </a:p>
        </p:txBody>
      </p:sp>
      <p:sp>
        <p:nvSpPr>
          <p:cNvPr id="140" name="Text 138"/>
          <p:cNvSpPr txBox="1"/>
          <p:nvPr/>
        </p:nvSpPr>
        <p:spPr>
          <a:xfrm>
            <a:off x="548640" y="4297680"/>
            <a:ext cx="795528" cy="329184"/>
          </a:xfrm>
          <a:prstGeom prst="rect">
            <a:avLst/>
          </a:prstGeom>
          <a:noFill/>
          <a:ln/>
        </p:spPr>
        <p:txBody>
          <a:bodyPr wrap="square" lIns="0" tIns="0" rIns="0" bIns="0" rtlCol="0" anchor="ctr"/>
          <a:lstStyle/>
          <a:p>
            <a:pPr algn="r" indent="0" marL="0">
              <a:buNone/>
            </a:pPr>
            <a:r>
              <a:rPr lang="tr-TR" sz="1050" i="1" dirty="0">
                <a:solidFill>
                  <a:srgbClr val="6B7679"/>
                </a:solidFill>
                <a:latin typeface="Calibri" pitchFamily="34" charset="0"/>
                <a:ea typeface="Calibri" pitchFamily="34" charset="-122"/>
                <a:cs typeface="Calibri" pitchFamily="34" charset="-120"/>
              </a:rPr>
              <a:t>başvuru</a:t>
            </a:r>
            <a:endParaRPr lang="tr-TR" sz="1050" dirty="0"/>
          </a:p>
        </p:txBody>
      </p:sp>
      <p:sp>
        <p:nvSpPr>
          <p:cNvPr id="141" name="Text 139"/>
          <p:cNvSpPr txBox="1"/>
          <p:nvPr/>
        </p:nvSpPr>
        <p:spPr>
          <a:xfrm>
            <a:off x="548640" y="4626864"/>
            <a:ext cx="795528" cy="329184"/>
          </a:xfrm>
          <a:prstGeom prst="rect">
            <a:avLst/>
          </a:prstGeom>
          <a:noFill/>
          <a:ln/>
        </p:spPr>
        <p:txBody>
          <a:bodyPr wrap="square" lIns="0" tIns="0" rIns="0" bIns="0" rtlCol="0" anchor="ctr"/>
          <a:lstStyle/>
          <a:p>
            <a:pPr algn="r" indent="0" marL="0">
              <a:buNone/>
            </a:pPr>
            <a:r>
              <a:rPr lang="tr-TR" sz="1050" i="1" dirty="0">
                <a:solidFill>
                  <a:srgbClr val="6B7679"/>
                </a:solidFill>
                <a:latin typeface="Calibri" pitchFamily="34" charset="0"/>
                <a:ea typeface="Calibri" pitchFamily="34" charset="-122"/>
                <a:cs typeface="Calibri" pitchFamily="34" charset="-120"/>
              </a:rPr>
              <a:t>çerçeve 0</a:t>
            </a:r>
            <a:endParaRPr lang="tr-TR" sz="1050" dirty="0"/>
          </a:p>
        </p:txBody>
      </p:sp>
      <p:sp>
        <p:nvSpPr>
          <p:cNvPr id="142" name="Text 140"/>
          <p:cNvSpPr txBox="1"/>
          <p:nvPr/>
        </p:nvSpPr>
        <p:spPr>
          <a:xfrm>
            <a:off x="548640" y="4956048"/>
            <a:ext cx="795528" cy="329184"/>
          </a:xfrm>
          <a:prstGeom prst="rect">
            <a:avLst/>
          </a:prstGeom>
          <a:noFill/>
          <a:ln/>
        </p:spPr>
        <p:txBody>
          <a:bodyPr wrap="square" lIns="0" tIns="0" rIns="0" bIns="0" rtlCol="0" anchor="ctr"/>
          <a:lstStyle/>
          <a:p>
            <a:pPr algn="r" indent="0" marL="0">
              <a:buNone/>
            </a:pPr>
            <a:r>
              <a:rPr lang="tr-TR" sz="1050" i="1" dirty="0">
                <a:solidFill>
                  <a:srgbClr val="6B7679"/>
                </a:solidFill>
                <a:latin typeface="Calibri" pitchFamily="34" charset="0"/>
                <a:ea typeface="Calibri" pitchFamily="34" charset="-122"/>
                <a:cs typeface="Calibri" pitchFamily="34" charset="-120"/>
              </a:rPr>
              <a:t>çerçeve 1</a:t>
            </a:r>
            <a:endParaRPr lang="tr-TR" sz="1050" dirty="0"/>
          </a:p>
        </p:txBody>
      </p:sp>
      <p:sp>
        <p:nvSpPr>
          <p:cNvPr id="143" name="Text 141"/>
          <p:cNvSpPr txBox="1"/>
          <p:nvPr/>
        </p:nvSpPr>
        <p:spPr>
          <a:xfrm>
            <a:off x="548640" y="5285232"/>
            <a:ext cx="795528" cy="329184"/>
          </a:xfrm>
          <a:prstGeom prst="rect">
            <a:avLst/>
          </a:prstGeom>
          <a:noFill/>
          <a:ln/>
        </p:spPr>
        <p:txBody>
          <a:bodyPr wrap="square" lIns="0" tIns="0" rIns="0" bIns="0" rtlCol="0" anchor="ctr"/>
          <a:lstStyle/>
          <a:p>
            <a:pPr algn="r" indent="0" marL="0">
              <a:buNone/>
            </a:pPr>
            <a:r>
              <a:rPr lang="tr-TR" sz="1050" i="1" dirty="0">
                <a:solidFill>
                  <a:srgbClr val="6B7679"/>
                </a:solidFill>
                <a:latin typeface="Calibri" pitchFamily="34" charset="0"/>
                <a:ea typeface="Calibri" pitchFamily="34" charset="-122"/>
                <a:cs typeface="Calibri" pitchFamily="34" charset="-120"/>
              </a:rPr>
              <a:t>çerçeve 2</a:t>
            </a:r>
            <a:endParaRPr lang="tr-TR" sz="1050" dirty="0"/>
          </a:p>
        </p:txBody>
      </p:sp>
      <p:sp>
        <p:nvSpPr>
          <p:cNvPr id="144" name="Text 142"/>
          <p:cNvSpPr txBox="1"/>
          <p:nvPr/>
        </p:nvSpPr>
        <p:spPr>
          <a:xfrm>
            <a:off x="548640" y="5614416"/>
            <a:ext cx="795528" cy="329184"/>
          </a:xfrm>
          <a:prstGeom prst="rect">
            <a:avLst/>
          </a:prstGeom>
          <a:noFill/>
          <a:ln/>
        </p:spPr>
        <p:txBody>
          <a:bodyPr wrap="square" lIns="0" tIns="0" rIns="0" bIns="0" rtlCol="0" anchor="ctr"/>
          <a:lstStyle/>
          <a:p>
            <a:pPr algn="r" indent="0" marL="0">
              <a:buNone/>
            </a:pPr>
            <a:r>
              <a:rPr lang="tr-TR" sz="1050" i="1" dirty="0">
                <a:solidFill>
                  <a:srgbClr val="6B7679"/>
                </a:solidFill>
                <a:latin typeface="Calibri" pitchFamily="34" charset="0"/>
                <a:ea typeface="Calibri" pitchFamily="34" charset="-122"/>
                <a:cs typeface="Calibri" pitchFamily="34" charset="-120"/>
              </a:rPr>
              <a:t>hata?</a:t>
            </a:r>
            <a:endParaRPr lang="tr-TR" sz="1050" dirty="0"/>
          </a:p>
        </p:txBody>
      </p:sp>
      <p:sp>
        <p:nvSpPr>
          <p:cNvPr id="145" name="Shape 143"/>
          <p:cNvSpPr/>
          <p:nvPr/>
        </p:nvSpPr>
        <p:spPr>
          <a:xfrm>
            <a:off x="1435608" y="4315968"/>
            <a:ext cx="528393" cy="292608"/>
          </a:xfrm>
          <a:prstGeom prst="roundRect">
            <a:avLst>
              <a:gd name="adj" fmla="val 15625"/>
            </a:avLst>
          </a:prstGeom>
          <a:solidFill>
            <a:srgbClr val="36454F"/>
          </a:solidFill>
          <a:ln/>
        </p:spPr>
      </p:sp>
      <p:sp>
        <p:nvSpPr>
          <p:cNvPr id="146" name="Text 144"/>
          <p:cNvSpPr txBox="1"/>
          <p:nvPr/>
        </p:nvSpPr>
        <p:spPr>
          <a:xfrm>
            <a:off x="1435608" y="4315968"/>
            <a:ext cx="528393" cy="29260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1</a:t>
            </a:r>
            <a:endParaRPr lang="tr-TR" sz="1300" dirty="0"/>
          </a:p>
        </p:txBody>
      </p:sp>
      <p:sp>
        <p:nvSpPr>
          <p:cNvPr id="147" name="Shape 145"/>
          <p:cNvSpPr/>
          <p:nvPr/>
        </p:nvSpPr>
        <p:spPr>
          <a:xfrm>
            <a:off x="1435608" y="4645152"/>
            <a:ext cx="528393" cy="292608"/>
          </a:xfrm>
          <a:prstGeom prst="roundRect">
            <a:avLst>
              <a:gd name="adj" fmla="val 15625"/>
            </a:avLst>
          </a:prstGeom>
          <a:solidFill>
            <a:srgbClr val="02C39A"/>
          </a:solidFill>
          <a:ln/>
        </p:spPr>
      </p:sp>
      <p:sp>
        <p:nvSpPr>
          <p:cNvPr id="148" name="Text 146"/>
          <p:cNvSpPr txBox="1"/>
          <p:nvPr/>
        </p:nvSpPr>
        <p:spPr>
          <a:xfrm>
            <a:off x="1435608" y="4645152"/>
            <a:ext cx="528393" cy="292608"/>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1</a:t>
            </a:r>
            <a:endParaRPr lang="tr-TR" sz="1300" dirty="0"/>
          </a:p>
        </p:txBody>
      </p:sp>
      <p:sp>
        <p:nvSpPr>
          <p:cNvPr id="149" name="Shape 147"/>
          <p:cNvSpPr/>
          <p:nvPr/>
        </p:nvSpPr>
        <p:spPr>
          <a:xfrm>
            <a:off x="1435608" y="4974336"/>
            <a:ext cx="528393" cy="292608"/>
          </a:xfrm>
          <a:prstGeom prst="roundRect">
            <a:avLst>
              <a:gd name="adj" fmla="val 15625"/>
            </a:avLst>
          </a:prstGeom>
          <a:solidFill>
            <a:srgbClr val="D7E9E6"/>
          </a:solidFill>
          <a:ln/>
        </p:spPr>
      </p:sp>
      <p:sp>
        <p:nvSpPr>
          <p:cNvPr id="150" name="Text 148"/>
          <p:cNvSpPr txBox="1"/>
          <p:nvPr/>
        </p:nvSpPr>
        <p:spPr>
          <a:xfrm>
            <a:off x="1435608" y="4974336"/>
            <a:ext cx="528393" cy="292608"/>
          </a:xfrm>
          <a:prstGeom prst="rect">
            <a:avLst/>
          </a:prstGeom>
          <a:noFill/>
          <a:ln/>
        </p:spPr>
        <p:txBody>
          <a:bodyPr wrap="square" lIns="38100" tIns="38100" rIns="38100" bIns="38100" rtlCol="0" anchor="ctr"/>
          <a:lstStyle/>
          <a:p>
            <a:pPr algn="ctr" indent="0" marL="0">
              <a:buNone/>
            </a:pPr>
            <a:endParaRPr lang="tr-TR" sz="1300" dirty="0"/>
          </a:p>
        </p:txBody>
      </p:sp>
      <p:sp>
        <p:nvSpPr>
          <p:cNvPr id="151" name="Shape 149"/>
          <p:cNvSpPr/>
          <p:nvPr/>
        </p:nvSpPr>
        <p:spPr>
          <a:xfrm>
            <a:off x="1435608" y="5303520"/>
            <a:ext cx="528393" cy="292608"/>
          </a:xfrm>
          <a:prstGeom prst="roundRect">
            <a:avLst>
              <a:gd name="adj" fmla="val 15625"/>
            </a:avLst>
          </a:prstGeom>
          <a:solidFill>
            <a:srgbClr val="D7E9E6"/>
          </a:solidFill>
          <a:ln/>
        </p:spPr>
      </p:sp>
      <p:sp>
        <p:nvSpPr>
          <p:cNvPr id="152" name="Text 150"/>
          <p:cNvSpPr txBox="1"/>
          <p:nvPr/>
        </p:nvSpPr>
        <p:spPr>
          <a:xfrm>
            <a:off x="1435608" y="5303520"/>
            <a:ext cx="528393" cy="292608"/>
          </a:xfrm>
          <a:prstGeom prst="rect">
            <a:avLst/>
          </a:prstGeom>
          <a:noFill/>
          <a:ln/>
        </p:spPr>
        <p:txBody>
          <a:bodyPr wrap="square" lIns="38100" tIns="38100" rIns="38100" bIns="38100" rtlCol="0" anchor="ctr"/>
          <a:lstStyle/>
          <a:p>
            <a:pPr algn="ctr" indent="0" marL="0">
              <a:buNone/>
            </a:pPr>
            <a:endParaRPr lang="tr-TR" sz="1300" dirty="0"/>
          </a:p>
        </p:txBody>
      </p:sp>
      <p:sp>
        <p:nvSpPr>
          <p:cNvPr id="153" name="Text 151"/>
          <p:cNvSpPr txBox="1"/>
          <p:nvPr/>
        </p:nvSpPr>
        <p:spPr>
          <a:xfrm>
            <a:off x="1417320" y="5614416"/>
            <a:ext cx="564969" cy="329184"/>
          </a:xfrm>
          <a:prstGeom prst="rect">
            <a:avLst/>
          </a:prstGeom>
          <a:noFill/>
          <a:ln/>
        </p:spPr>
        <p:txBody>
          <a:bodyPr wrap="square" lIns="0" tIns="0" rIns="0" bIns="0" rtlCol="0" anchor="ctr"/>
          <a:lstStyle/>
          <a:p>
            <a:pPr algn="ctr" indent="0" marL="0">
              <a:buNone/>
            </a:pPr>
            <a:r>
              <a:rPr lang="tr-TR" sz="1300" b="1" dirty="0">
                <a:solidFill>
                  <a:srgbClr val="B5453A"/>
                </a:solidFill>
                <a:latin typeface="Calibri" pitchFamily="34" charset="0"/>
                <a:ea typeface="Calibri" pitchFamily="34" charset="-122"/>
                <a:cs typeface="Calibri" pitchFamily="34" charset="-120"/>
              </a:rPr>
              <a:t>F</a:t>
            </a:r>
            <a:endParaRPr lang="tr-TR" sz="1300" dirty="0"/>
          </a:p>
        </p:txBody>
      </p:sp>
      <p:sp>
        <p:nvSpPr>
          <p:cNvPr id="154" name="Shape 152"/>
          <p:cNvSpPr/>
          <p:nvPr/>
        </p:nvSpPr>
        <p:spPr>
          <a:xfrm>
            <a:off x="2000577" y="4315968"/>
            <a:ext cx="528393" cy="292608"/>
          </a:xfrm>
          <a:prstGeom prst="roundRect">
            <a:avLst>
              <a:gd name="adj" fmla="val 15625"/>
            </a:avLst>
          </a:prstGeom>
          <a:solidFill>
            <a:srgbClr val="36454F"/>
          </a:solidFill>
          <a:ln/>
        </p:spPr>
      </p:sp>
      <p:sp>
        <p:nvSpPr>
          <p:cNvPr id="155" name="Text 153"/>
          <p:cNvSpPr txBox="1"/>
          <p:nvPr/>
        </p:nvSpPr>
        <p:spPr>
          <a:xfrm>
            <a:off x="2000577" y="4315968"/>
            <a:ext cx="528393" cy="29260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2</a:t>
            </a:r>
            <a:endParaRPr lang="tr-TR" sz="1300" dirty="0"/>
          </a:p>
        </p:txBody>
      </p:sp>
      <p:sp>
        <p:nvSpPr>
          <p:cNvPr id="156" name="Shape 154"/>
          <p:cNvSpPr/>
          <p:nvPr/>
        </p:nvSpPr>
        <p:spPr>
          <a:xfrm>
            <a:off x="2000577" y="4645152"/>
            <a:ext cx="528393" cy="292608"/>
          </a:xfrm>
          <a:prstGeom prst="roundRect">
            <a:avLst>
              <a:gd name="adj" fmla="val 15625"/>
            </a:avLst>
          </a:prstGeom>
          <a:solidFill>
            <a:srgbClr val="D7E9E6"/>
          </a:solidFill>
          <a:ln/>
        </p:spPr>
      </p:sp>
      <p:sp>
        <p:nvSpPr>
          <p:cNvPr id="157" name="Text 155"/>
          <p:cNvSpPr txBox="1"/>
          <p:nvPr/>
        </p:nvSpPr>
        <p:spPr>
          <a:xfrm>
            <a:off x="2000577" y="4645152"/>
            <a:ext cx="528393"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1</a:t>
            </a:r>
            <a:endParaRPr lang="tr-TR" sz="1300" dirty="0"/>
          </a:p>
        </p:txBody>
      </p:sp>
      <p:sp>
        <p:nvSpPr>
          <p:cNvPr id="158" name="Shape 156"/>
          <p:cNvSpPr/>
          <p:nvPr/>
        </p:nvSpPr>
        <p:spPr>
          <a:xfrm>
            <a:off x="2000577" y="4974336"/>
            <a:ext cx="528393" cy="292608"/>
          </a:xfrm>
          <a:prstGeom prst="roundRect">
            <a:avLst>
              <a:gd name="adj" fmla="val 15625"/>
            </a:avLst>
          </a:prstGeom>
          <a:solidFill>
            <a:srgbClr val="02C39A"/>
          </a:solidFill>
          <a:ln/>
        </p:spPr>
      </p:sp>
      <p:sp>
        <p:nvSpPr>
          <p:cNvPr id="159" name="Text 157"/>
          <p:cNvSpPr txBox="1"/>
          <p:nvPr/>
        </p:nvSpPr>
        <p:spPr>
          <a:xfrm>
            <a:off x="2000577" y="4974336"/>
            <a:ext cx="528393" cy="292608"/>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2</a:t>
            </a:r>
            <a:endParaRPr lang="tr-TR" sz="1300" dirty="0"/>
          </a:p>
        </p:txBody>
      </p:sp>
      <p:sp>
        <p:nvSpPr>
          <p:cNvPr id="160" name="Shape 158"/>
          <p:cNvSpPr/>
          <p:nvPr/>
        </p:nvSpPr>
        <p:spPr>
          <a:xfrm>
            <a:off x="2000577" y="5303520"/>
            <a:ext cx="528393" cy="292608"/>
          </a:xfrm>
          <a:prstGeom prst="roundRect">
            <a:avLst>
              <a:gd name="adj" fmla="val 15625"/>
            </a:avLst>
          </a:prstGeom>
          <a:solidFill>
            <a:srgbClr val="D7E9E6"/>
          </a:solidFill>
          <a:ln/>
        </p:spPr>
      </p:sp>
      <p:sp>
        <p:nvSpPr>
          <p:cNvPr id="161" name="Text 159"/>
          <p:cNvSpPr txBox="1"/>
          <p:nvPr/>
        </p:nvSpPr>
        <p:spPr>
          <a:xfrm>
            <a:off x="2000577" y="5303520"/>
            <a:ext cx="528393" cy="292608"/>
          </a:xfrm>
          <a:prstGeom prst="rect">
            <a:avLst/>
          </a:prstGeom>
          <a:noFill/>
          <a:ln/>
        </p:spPr>
        <p:txBody>
          <a:bodyPr wrap="square" lIns="38100" tIns="38100" rIns="38100" bIns="38100" rtlCol="0" anchor="ctr"/>
          <a:lstStyle/>
          <a:p>
            <a:pPr algn="ctr" indent="0" marL="0">
              <a:buNone/>
            </a:pPr>
            <a:endParaRPr lang="tr-TR" sz="1300" dirty="0"/>
          </a:p>
        </p:txBody>
      </p:sp>
      <p:sp>
        <p:nvSpPr>
          <p:cNvPr id="162" name="Text 160"/>
          <p:cNvSpPr txBox="1"/>
          <p:nvPr/>
        </p:nvSpPr>
        <p:spPr>
          <a:xfrm>
            <a:off x="1982289" y="5614416"/>
            <a:ext cx="564969" cy="329184"/>
          </a:xfrm>
          <a:prstGeom prst="rect">
            <a:avLst/>
          </a:prstGeom>
          <a:noFill/>
          <a:ln/>
        </p:spPr>
        <p:txBody>
          <a:bodyPr wrap="square" lIns="0" tIns="0" rIns="0" bIns="0" rtlCol="0" anchor="ctr"/>
          <a:lstStyle/>
          <a:p>
            <a:pPr algn="ctr" indent="0" marL="0">
              <a:buNone/>
            </a:pPr>
            <a:r>
              <a:rPr lang="tr-TR" sz="1300" b="1" dirty="0">
                <a:solidFill>
                  <a:srgbClr val="B5453A"/>
                </a:solidFill>
                <a:latin typeface="Calibri" pitchFamily="34" charset="0"/>
                <a:ea typeface="Calibri" pitchFamily="34" charset="-122"/>
                <a:cs typeface="Calibri" pitchFamily="34" charset="-120"/>
              </a:rPr>
              <a:t>F</a:t>
            </a:r>
            <a:endParaRPr lang="tr-TR" sz="1300" dirty="0"/>
          </a:p>
        </p:txBody>
      </p:sp>
      <p:sp>
        <p:nvSpPr>
          <p:cNvPr id="163" name="Shape 161"/>
          <p:cNvSpPr/>
          <p:nvPr/>
        </p:nvSpPr>
        <p:spPr>
          <a:xfrm>
            <a:off x="2565545" y="4315968"/>
            <a:ext cx="528393" cy="292608"/>
          </a:xfrm>
          <a:prstGeom prst="roundRect">
            <a:avLst>
              <a:gd name="adj" fmla="val 15625"/>
            </a:avLst>
          </a:prstGeom>
          <a:solidFill>
            <a:srgbClr val="36454F"/>
          </a:solidFill>
          <a:ln/>
        </p:spPr>
      </p:sp>
      <p:sp>
        <p:nvSpPr>
          <p:cNvPr id="164" name="Text 162"/>
          <p:cNvSpPr txBox="1"/>
          <p:nvPr/>
        </p:nvSpPr>
        <p:spPr>
          <a:xfrm>
            <a:off x="2565545" y="4315968"/>
            <a:ext cx="528393" cy="29260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0</a:t>
            </a:r>
            <a:endParaRPr lang="tr-TR" sz="1300" dirty="0"/>
          </a:p>
        </p:txBody>
      </p:sp>
      <p:sp>
        <p:nvSpPr>
          <p:cNvPr id="165" name="Shape 163"/>
          <p:cNvSpPr/>
          <p:nvPr/>
        </p:nvSpPr>
        <p:spPr>
          <a:xfrm>
            <a:off x="2565545" y="4645152"/>
            <a:ext cx="528393" cy="292608"/>
          </a:xfrm>
          <a:prstGeom prst="roundRect">
            <a:avLst>
              <a:gd name="adj" fmla="val 15625"/>
            </a:avLst>
          </a:prstGeom>
          <a:solidFill>
            <a:srgbClr val="D7E9E6"/>
          </a:solidFill>
          <a:ln/>
        </p:spPr>
      </p:sp>
      <p:sp>
        <p:nvSpPr>
          <p:cNvPr id="166" name="Text 164"/>
          <p:cNvSpPr txBox="1"/>
          <p:nvPr/>
        </p:nvSpPr>
        <p:spPr>
          <a:xfrm>
            <a:off x="2565545" y="4645152"/>
            <a:ext cx="528393"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1</a:t>
            </a:r>
            <a:endParaRPr lang="tr-TR" sz="1300" dirty="0"/>
          </a:p>
        </p:txBody>
      </p:sp>
      <p:sp>
        <p:nvSpPr>
          <p:cNvPr id="167" name="Shape 165"/>
          <p:cNvSpPr/>
          <p:nvPr/>
        </p:nvSpPr>
        <p:spPr>
          <a:xfrm>
            <a:off x="2565545" y="4974336"/>
            <a:ext cx="528393" cy="292608"/>
          </a:xfrm>
          <a:prstGeom prst="roundRect">
            <a:avLst>
              <a:gd name="adj" fmla="val 15625"/>
            </a:avLst>
          </a:prstGeom>
          <a:solidFill>
            <a:srgbClr val="D7E9E6"/>
          </a:solidFill>
          <a:ln/>
        </p:spPr>
      </p:sp>
      <p:sp>
        <p:nvSpPr>
          <p:cNvPr id="168" name="Text 166"/>
          <p:cNvSpPr txBox="1"/>
          <p:nvPr/>
        </p:nvSpPr>
        <p:spPr>
          <a:xfrm>
            <a:off x="2565545" y="4974336"/>
            <a:ext cx="528393"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2</a:t>
            </a:r>
            <a:endParaRPr lang="tr-TR" sz="1300" dirty="0"/>
          </a:p>
        </p:txBody>
      </p:sp>
      <p:sp>
        <p:nvSpPr>
          <p:cNvPr id="169" name="Shape 167"/>
          <p:cNvSpPr/>
          <p:nvPr/>
        </p:nvSpPr>
        <p:spPr>
          <a:xfrm>
            <a:off x="2565545" y="5303520"/>
            <a:ext cx="528393" cy="292608"/>
          </a:xfrm>
          <a:prstGeom prst="roundRect">
            <a:avLst>
              <a:gd name="adj" fmla="val 15625"/>
            </a:avLst>
          </a:prstGeom>
          <a:solidFill>
            <a:srgbClr val="02C39A"/>
          </a:solidFill>
          <a:ln/>
        </p:spPr>
      </p:sp>
      <p:sp>
        <p:nvSpPr>
          <p:cNvPr id="170" name="Text 168"/>
          <p:cNvSpPr txBox="1"/>
          <p:nvPr/>
        </p:nvSpPr>
        <p:spPr>
          <a:xfrm>
            <a:off x="2565545" y="5303520"/>
            <a:ext cx="528393" cy="292608"/>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0</a:t>
            </a:r>
            <a:endParaRPr lang="tr-TR" sz="1300" dirty="0"/>
          </a:p>
        </p:txBody>
      </p:sp>
      <p:sp>
        <p:nvSpPr>
          <p:cNvPr id="171" name="Text 169"/>
          <p:cNvSpPr txBox="1"/>
          <p:nvPr/>
        </p:nvSpPr>
        <p:spPr>
          <a:xfrm>
            <a:off x="2547257" y="5614416"/>
            <a:ext cx="564969" cy="329184"/>
          </a:xfrm>
          <a:prstGeom prst="rect">
            <a:avLst/>
          </a:prstGeom>
          <a:noFill/>
          <a:ln/>
        </p:spPr>
        <p:txBody>
          <a:bodyPr wrap="square" lIns="0" tIns="0" rIns="0" bIns="0" rtlCol="0" anchor="ctr"/>
          <a:lstStyle/>
          <a:p>
            <a:pPr algn="ctr" indent="0" marL="0">
              <a:buNone/>
            </a:pPr>
            <a:r>
              <a:rPr lang="tr-TR" sz="1300" b="1" dirty="0">
                <a:solidFill>
                  <a:srgbClr val="B5453A"/>
                </a:solidFill>
                <a:latin typeface="Calibri" pitchFamily="34" charset="0"/>
                <a:ea typeface="Calibri" pitchFamily="34" charset="-122"/>
                <a:cs typeface="Calibri" pitchFamily="34" charset="-120"/>
              </a:rPr>
              <a:t>F</a:t>
            </a:r>
            <a:endParaRPr lang="tr-TR" sz="1300" dirty="0"/>
          </a:p>
        </p:txBody>
      </p:sp>
      <p:sp>
        <p:nvSpPr>
          <p:cNvPr id="172" name="Shape 170"/>
          <p:cNvSpPr/>
          <p:nvPr/>
        </p:nvSpPr>
        <p:spPr>
          <a:xfrm>
            <a:off x="3130514" y="4315968"/>
            <a:ext cx="528393" cy="292608"/>
          </a:xfrm>
          <a:prstGeom prst="roundRect">
            <a:avLst>
              <a:gd name="adj" fmla="val 15625"/>
            </a:avLst>
          </a:prstGeom>
          <a:solidFill>
            <a:srgbClr val="36454F"/>
          </a:solidFill>
          <a:ln/>
        </p:spPr>
      </p:sp>
      <p:sp>
        <p:nvSpPr>
          <p:cNvPr id="173" name="Text 171"/>
          <p:cNvSpPr txBox="1"/>
          <p:nvPr/>
        </p:nvSpPr>
        <p:spPr>
          <a:xfrm>
            <a:off x="3130514" y="4315968"/>
            <a:ext cx="528393" cy="29260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4</a:t>
            </a:r>
            <a:endParaRPr lang="tr-TR" sz="1300" dirty="0"/>
          </a:p>
        </p:txBody>
      </p:sp>
      <p:sp>
        <p:nvSpPr>
          <p:cNvPr id="174" name="Shape 172"/>
          <p:cNvSpPr/>
          <p:nvPr/>
        </p:nvSpPr>
        <p:spPr>
          <a:xfrm>
            <a:off x="3130514" y="4645152"/>
            <a:ext cx="528393" cy="292608"/>
          </a:xfrm>
          <a:prstGeom prst="roundRect">
            <a:avLst>
              <a:gd name="adj" fmla="val 15625"/>
            </a:avLst>
          </a:prstGeom>
          <a:solidFill>
            <a:srgbClr val="02C39A"/>
          </a:solidFill>
          <a:ln/>
        </p:spPr>
      </p:sp>
      <p:sp>
        <p:nvSpPr>
          <p:cNvPr id="175" name="Text 173"/>
          <p:cNvSpPr txBox="1"/>
          <p:nvPr/>
        </p:nvSpPr>
        <p:spPr>
          <a:xfrm>
            <a:off x="3130514" y="4645152"/>
            <a:ext cx="528393" cy="292608"/>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4</a:t>
            </a:r>
            <a:endParaRPr lang="tr-TR" sz="1300" dirty="0"/>
          </a:p>
        </p:txBody>
      </p:sp>
      <p:sp>
        <p:nvSpPr>
          <p:cNvPr id="176" name="Shape 174"/>
          <p:cNvSpPr/>
          <p:nvPr/>
        </p:nvSpPr>
        <p:spPr>
          <a:xfrm>
            <a:off x="3130514" y="4974336"/>
            <a:ext cx="528393" cy="292608"/>
          </a:xfrm>
          <a:prstGeom prst="roundRect">
            <a:avLst>
              <a:gd name="adj" fmla="val 15625"/>
            </a:avLst>
          </a:prstGeom>
          <a:solidFill>
            <a:srgbClr val="D7E9E6"/>
          </a:solidFill>
          <a:ln/>
        </p:spPr>
      </p:sp>
      <p:sp>
        <p:nvSpPr>
          <p:cNvPr id="177" name="Text 175"/>
          <p:cNvSpPr txBox="1"/>
          <p:nvPr/>
        </p:nvSpPr>
        <p:spPr>
          <a:xfrm>
            <a:off x="3130514" y="4974336"/>
            <a:ext cx="528393"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2</a:t>
            </a:r>
            <a:endParaRPr lang="tr-TR" sz="1300" dirty="0"/>
          </a:p>
        </p:txBody>
      </p:sp>
      <p:sp>
        <p:nvSpPr>
          <p:cNvPr id="178" name="Shape 176"/>
          <p:cNvSpPr/>
          <p:nvPr/>
        </p:nvSpPr>
        <p:spPr>
          <a:xfrm>
            <a:off x="3130514" y="5303520"/>
            <a:ext cx="528393" cy="292608"/>
          </a:xfrm>
          <a:prstGeom prst="roundRect">
            <a:avLst>
              <a:gd name="adj" fmla="val 15625"/>
            </a:avLst>
          </a:prstGeom>
          <a:solidFill>
            <a:srgbClr val="D7E9E6"/>
          </a:solidFill>
          <a:ln/>
        </p:spPr>
      </p:sp>
      <p:sp>
        <p:nvSpPr>
          <p:cNvPr id="179" name="Text 177"/>
          <p:cNvSpPr txBox="1"/>
          <p:nvPr/>
        </p:nvSpPr>
        <p:spPr>
          <a:xfrm>
            <a:off x="3130514" y="5303520"/>
            <a:ext cx="528393"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0</a:t>
            </a:r>
            <a:endParaRPr lang="tr-TR" sz="1300" dirty="0"/>
          </a:p>
        </p:txBody>
      </p:sp>
      <p:sp>
        <p:nvSpPr>
          <p:cNvPr id="180" name="Text 178"/>
          <p:cNvSpPr txBox="1"/>
          <p:nvPr/>
        </p:nvSpPr>
        <p:spPr>
          <a:xfrm>
            <a:off x="3112226" y="5614416"/>
            <a:ext cx="564969" cy="329184"/>
          </a:xfrm>
          <a:prstGeom prst="rect">
            <a:avLst/>
          </a:prstGeom>
          <a:noFill/>
          <a:ln/>
        </p:spPr>
        <p:txBody>
          <a:bodyPr wrap="square" lIns="0" tIns="0" rIns="0" bIns="0" rtlCol="0" anchor="ctr"/>
          <a:lstStyle/>
          <a:p>
            <a:pPr algn="ctr" indent="0" marL="0">
              <a:buNone/>
            </a:pPr>
            <a:r>
              <a:rPr lang="tr-TR" sz="1300" b="1" dirty="0">
                <a:solidFill>
                  <a:srgbClr val="B5453A"/>
                </a:solidFill>
                <a:latin typeface="Calibri" pitchFamily="34" charset="0"/>
                <a:ea typeface="Calibri" pitchFamily="34" charset="-122"/>
                <a:cs typeface="Calibri" pitchFamily="34" charset="-120"/>
              </a:rPr>
              <a:t>F</a:t>
            </a:r>
            <a:endParaRPr lang="tr-TR" sz="1300" dirty="0"/>
          </a:p>
        </p:txBody>
      </p:sp>
      <p:sp>
        <p:nvSpPr>
          <p:cNvPr id="181" name="Shape 179"/>
          <p:cNvSpPr/>
          <p:nvPr/>
        </p:nvSpPr>
        <p:spPr>
          <a:xfrm>
            <a:off x="3695482" y="4315968"/>
            <a:ext cx="528393" cy="292608"/>
          </a:xfrm>
          <a:prstGeom prst="roundRect">
            <a:avLst>
              <a:gd name="adj" fmla="val 15625"/>
            </a:avLst>
          </a:prstGeom>
          <a:solidFill>
            <a:srgbClr val="36454F"/>
          </a:solidFill>
          <a:ln/>
        </p:spPr>
      </p:sp>
      <p:sp>
        <p:nvSpPr>
          <p:cNvPr id="182" name="Text 180"/>
          <p:cNvSpPr txBox="1"/>
          <p:nvPr/>
        </p:nvSpPr>
        <p:spPr>
          <a:xfrm>
            <a:off x="3695482" y="4315968"/>
            <a:ext cx="528393" cy="29260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2</a:t>
            </a:r>
            <a:endParaRPr lang="tr-TR" sz="1300" dirty="0"/>
          </a:p>
        </p:txBody>
      </p:sp>
      <p:sp>
        <p:nvSpPr>
          <p:cNvPr id="183" name="Shape 181"/>
          <p:cNvSpPr/>
          <p:nvPr/>
        </p:nvSpPr>
        <p:spPr>
          <a:xfrm>
            <a:off x="3695482" y="4645152"/>
            <a:ext cx="528393" cy="292608"/>
          </a:xfrm>
          <a:prstGeom prst="roundRect">
            <a:avLst>
              <a:gd name="adj" fmla="val 15625"/>
            </a:avLst>
          </a:prstGeom>
          <a:solidFill>
            <a:srgbClr val="F2F2F2"/>
          </a:solidFill>
          <a:ln/>
        </p:spPr>
      </p:sp>
      <p:sp>
        <p:nvSpPr>
          <p:cNvPr id="184" name="Text 182"/>
          <p:cNvSpPr txBox="1"/>
          <p:nvPr/>
        </p:nvSpPr>
        <p:spPr>
          <a:xfrm>
            <a:off x="3695482" y="4645152"/>
            <a:ext cx="528393" cy="292608"/>
          </a:xfrm>
          <a:prstGeom prst="rect">
            <a:avLst/>
          </a:prstGeom>
          <a:noFill/>
          <a:ln/>
        </p:spPr>
        <p:txBody>
          <a:bodyPr wrap="square" lIns="38100" tIns="38100" rIns="38100" bIns="38100" rtlCol="0" anchor="ctr"/>
          <a:lstStyle/>
          <a:p>
            <a:pPr algn="ctr" indent="0" marL="0">
              <a:buNone/>
            </a:pPr>
            <a:r>
              <a:rPr lang="tr-TR" sz="1300" dirty="0">
                <a:solidFill>
                  <a:srgbClr val="9AA5A8"/>
                </a:solidFill>
                <a:latin typeface="Calibri" pitchFamily="34" charset="0"/>
                <a:ea typeface="Calibri" pitchFamily="34" charset="-122"/>
                <a:cs typeface="Calibri" pitchFamily="34" charset="-120"/>
              </a:rPr>
              <a:t>4</a:t>
            </a:r>
            <a:endParaRPr lang="tr-TR" sz="1300" dirty="0"/>
          </a:p>
        </p:txBody>
      </p:sp>
      <p:sp>
        <p:nvSpPr>
          <p:cNvPr id="185" name="Shape 183"/>
          <p:cNvSpPr/>
          <p:nvPr/>
        </p:nvSpPr>
        <p:spPr>
          <a:xfrm>
            <a:off x="3695482" y="4974336"/>
            <a:ext cx="528393" cy="292608"/>
          </a:xfrm>
          <a:prstGeom prst="roundRect">
            <a:avLst>
              <a:gd name="adj" fmla="val 15625"/>
            </a:avLst>
          </a:prstGeom>
          <a:solidFill>
            <a:srgbClr val="F2F2F2"/>
          </a:solidFill>
          <a:ln/>
        </p:spPr>
      </p:sp>
      <p:sp>
        <p:nvSpPr>
          <p:cNvPr id="186" name="Text 184"/>
          <p:cNvSpPr txBox="1"/>
          <p:nvPr/>
        </p:nvSpPr>
        <p:spPr>
          <a:xfrm>
            <a:off x="3695482" y="4974336"/>
            <a:ext cx="528393" cy="292608"/>
          </a:xfrm>
          <a:prstGeom prst="rect">
            <a:avLst/>
          </a:prstGeom>
          <a:noFill/>
          <a:ln/>
        </p:spPr>
        <p:txBody>
          <a:bodyPr wrap="square" lIns="38100" tIns="38100" rIns="38100" bIns="38100" rtlCol="0" anchor="ctr"/>
          <a:lstStyle/>
          <a:p>
            <a:pPr algn="ctr" indent="0" marL="0">
              <a:buNone/>
            </a:pPr>
            <a:r>
              <a:rPr lang="tr-TR" sz="1300" dirty="0">
                <a:solidFill>
                  <a:srgbClr val="9AA5A8"/>
                </a:solidFill>
                <a:latin typeface="Calibri" pitchFamily="34" charset="0"/>
                <a:ea typeface="Calibri" pitchFamily="34" charset="-122"/>
                <a:cs typeface="Calibri" pitchFamily="34" charset="-120"/>
              </a:rPr>
              <a:t>2</a:t>
            </a:r>
            <a:endParaRPr lang="tr-TR" sz="1300" dirty="0"/>
          </a:p>
        </p:txBody>
      </p:sp>
      <p:sp>
        <p:nvSpPr>
          <p:cNvPr id="187" name="Shape 185"/>
          <p:cNvSpPr/>
          <p:nvPr/>
        </p:nvSpPr>
        <p:spPr>
          <a:xfrm>
            <a:off x="3695482" y="5303520"/>
            <a:ext cx="528393" cy="292608"/>
          </a:xfrm>
          <a:prstGeom prst="roundRect">
            <a:avLst>
              <a:gd name="adj" fmla="val 15625"/>
            </a:avLst>
          </a:prstGeom>
          <a:solidFill>
            <a:srgbClr val="F2F2F2"/>
          </a:solidFill>
          <a:ln/>
        </p:spPr>
      </p:sp>
      <p:sp>
        <p:nvSpPr>
          <p:cNvPr id="188" name="Text 186"/>
          <p:cNvSpPr txBox="1"/>
          <p:nvPr/>
        </p:nvSpPr>
        <p:spPr>
          <a:xfrm>
            <a:off x="3695482" y="5303520"/>
            <a:ext cx="528393" cy="292608"/>
          </a:xfrm>
          <a:prstGeom prst="rect">
            <a:avLst/>
          </a:prstGeom>
          <a:noFill/>
          <a:ln/>
        </p:spPr>
        <p:txBody>
          <a:bodyPr wrap="square" lIns="38100" tIns="38100" rIns="38100" bIns="38100" rtlCol="0" anchor="ctr"/>
          <a:lstStyle/>
          <a:p>
            <a:pPr algn="ctr" indent="0" marL="0">
              <a:buNone/>
            </a:pPr>
            <a:r>
              <a:rPr lang="tr-TR" sz="1300" dirty="0">
                <a:solidFill>
                  <a:srgbClr val="9AA5A8"/>
                </a:solidFill>
                <a:latin typeface="Calibri" pitchFamily="34" charset="0"/>
                <a:ea typeface="Calibri" pitchFamily="34" charset="-122"/>
                <a:cs typeface="Calibri" pitchFamily="34" charset="-120"/>
              </a:rPr>
              <a:t>0</a:t>
            </a:r>
            <a:endParaRPr lang="tr-TR" sz="1300" dirty="0"/>
          </a:p>
        </p:txBody>
      </p:sp>
      <p:sp>
        <p:nvSpPr>
          <p:cNvPr id="189" name="Text 187"/>
          <p:cNvSpPr txBox="1"/>
          <p:nvPr/>
        </p:nvSpPr>
        <p:spPr>
          <a:xfrm>
            <a:off x="3677194" y="5614416"/>
            <a:ext cx="564969" cy="329184"/>
          </a:xfrm>
          <a:prstGeom prst="rect">
            <a:avLst/>
          </a:prstGeom>
          <a:noFill/>
          <a:ln/>
        </p:spPr>
        <p:txBody>
          <a:bodyPr wrap="square" lIns="0" tIns="0" rIns="0" bIns="0" rtlCol="0" anchor="ctr"/>
          <a:lstStyle/>
          <a:p>
            <a:pPr algn="ctr" indent="0" marL="0">
              <a:buNone/>
            </a:pPr>
            <a:endParaRPr lang="tr-TR" sz="1300" dirty="0"/>
          </a:p>
        </p:txBody>
      </p:sp>
      <p:sp>
        <p:nvSpPr>
          <p:cNvPr id="190" name="Shape 188"/>
          <p:cNvSpPr/>
          <p:nvPr/>
        </p:nvSpPr>
        <p:spPr>
          <a:xfrm>
            <a:off x="4260451" y="4315968"/>
            <a:ext cx="528393" cy="292608"/>
          </a:xfrm>
          <a:prstGeom prst="roundRect">
            <a:avLst>
              <a:gd name="adj" fmla="val 15625"/>
            </a:avLst>
          </a:prstGeom>
          <a:solidFill>
            <a:srgbClr val="36454F"/>
          </a:solidFill>
          <a:ln/>
        </p:spPr>
      </p:sp>
      <p:sp>
        <p:nvSpPr>
          <p:cNvPr id="191" name="Text 189"/>
          <p:cNvSpPr txBox="1"/>
          <p:nvPr/>
        </p:nvSpPr>
        <p:spPr>
          <a:xfrm>
            <a:off x="4260451" y="4315968"/>
            <a:ext cx="528393" cy="29260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3</a:t>
            </a:r>
            <a:endParaRPr lang="tr-TR" sz="1300" dirty="0"/>
          </a:p>
        </p:txBody>
      </p:sp>
      <p:sp>
        <p:nvSpPr>
          <p:cNvPr id="192" name="Shape 190"/>
          <p:cNvSpPr/>
          <p:nvPr/>
        </p:nvSpPr>
        <p:spPr>
          <a:xfrm>
            <a:off x="4260451" y="4645152"/>
            <a:ext cx="528393" cy="292608"/>
          </a:xfrm>
          <a:prstGeom prst="roundRect">
            <a:avLst>
              <a:gd name="adj" fmla="val 15625"/>
            </a:avLst>
          </a:prstGeom>
          <a:solidFill>
            <a:srgbClr val="D7E9E6"/>
          </a:solidFill>
          <a:ln/>
        </p:spPr>
      </p:sp>
      <p:sp>
        <p:nvSpPr>
          <p:cNvPr id="193" name="Text 191"/>
          <p:cNvSpPr txBox="1"/>
          <p:nvPr/>
        </p:nvSpPr>
        <p:spPr>
          <a:xfrm>
            <a:off x="4260451" y="4645152"/>
            <a:ext cx="528393"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4</a:t>
            </a:r>
            <a:endParaRPr lang="tr-TR" sz="1300" dirty="0"/>
          </a:p>
        </p:txBody>
      </p:sp>
      <p:sp>
        <p:nvSpPr>
          <p:cNvPr id="194" name="Shape 192"/>
          <p:cNvSpPr/>
          <p:nvPr/>
        </p:nvSpPr>
        <p:spPr>
          <a:xfrm>
            <a:off x="4260451" y="4974336"/>
            <a:ext cx="528393" cy="292608"/>
          </a:xfrm>
          <a:prstGeom prst="roundRect">
            <a:avLst>
              <a:gd name="adj" fmla="val 15625"/>
            </a:avLst>
          </a:prstGeom>
          <a:solidFill>
            <a:srgbClr val="D7E9E6"/>
          </a:solidFill>
          <a:ln/>
        </p:spPr>
      </p:sp>
      <p:sp>
        <p:nvSpPr>
          <p:cNvPr id="195" name="Text 193"/>
          <p:cNvSpPr txBox="1"/>
          <p:nvPr/>
        </p:nvSpPr>
        <p:spPr>
          <a:xfrm>
            <a:off x="4260451" y="4974336"/>
            <a:ext cx="528393"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2</a:t>
            </a:r>
            <a:endParaRPr lang="tr-TR" sz="1300" dirty="0"/>
          </a:p>
        </p:txBody>
      </p:sp>
      <p:sp>
        <p:nvSpPr>
          <p:cNvPr id="196" name="Shape 194"/>
          <p:cNvSpPr/>
          <p:nvPr/>
        </p:nvSpPr>
        <p:spPr>
          <a:xfrm>
            <a:off x="4260451" y="5303520"/>
            <a:ext cx="528393" cy="292608"/>
          </a:xfrm>
          <a:prstGeom prst="roundRect">
            <a:avLst>
              <a:gd name="adj" fmla="val 15625"/>
            </a:avLst>
          </a:prstGeom>
          <a:solidFill>
            <a:srgbClr val="02C39A"/>
          </a:solidFill>
          <a:ln/>
        </p:spPr>
      </p:sp>
      <p:sp>
        <p:nvSpPr>
          <p:cNvPr id="197" name="Text 195"/>
          <p:cNvSpPr txBox="1"/>
          <p:nvPr/>
        </p:nvSpPr>
        <p:spPr>
          <a:xfrm>
            <a:off x="4260451" y="5303520"/>
            <a:ext cx="528393" cy="292608"/>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3</a:t>
            </a:r>
            <a:endParaRPr lang="tr-TR" sz="1300" dirty="0"/>
          </a:p>
        </p:txBody>
      </p:sp>
      <p:sp>
        <p:nvSpPr>
          <p:cNvPr id="198" name="Text 196"/>
          <p:cNvSpPr txBox="1"/>
          <p:nvPr/>
        </p:nvSpPr>
        <p:spPr>
          <a:xfrm>
            <a:off x="4242163" y="5614416"/>
            <a:ext cx="564969" cy="329184"/>
          </a:xfrm>
          <a:prstGeom prst="rect">
            <a:avLst/>
          </a:prstGeom>
          <a:noFill/>
          <a:ln/>
        </p:spPr>
        <p:txBody>
          <a:bodyPr wrap="square" lIns="0" tIns="0" rIns="0" bIns="0" rtlCol="0" anchor="ctr"/>
          <a:lstStyle/>
          <a:p>
            <a:pPr algn="ctr" indent="0" marL="0">
              <a:buNone/>
            </a:pPr>
            <a:r>
              <a:rPr lang="tr-TR" sz="1300" b="1" dirty="0">
                <a:solidFill>
                  <a:srgbClr val="B5453A"/>
                </a:solidFill>
                <a:latin typeface="Calibri" pitchFamily="34" charset="0"/>
                <a:ea typeface="Calibri" pitchFamily="34" charset="-122"/>
                <a:cs typeface="Calibri" pitchFamily="34" charset="-120"/>
              </a:rPr>
              <a:t>F</a:t>
            </a:r>
            <a:endParaRPr lang="tr-TR" sz="1300" dirty="0"/>
          </a:p>
        </p:txBody>
      </p:sp>
      <p:sp>
        <p:nvSpPr>
          <p:cNvPr id="199" name="Shape 197"/>
          <p:cNvSpPr/>
          <p:nvPr/>
        </p:nvSpPr>
        <p:spPr>
          <a:xfrm>
            <a:off x="4825419" y="4315968"/>
            <a:ext cx="528393" cy="292608"/>
          </a:xfrm>
          <a:prstGeom prst="roundRect">
            <a:avLst>
              <a:gd name="adj" fmla="val 15625"/>
            </a:avLst>
          </a:prstGeom>
          <a:solidFill>
            <a:srgbClr val="36454F"/>
          </a:solidFill>
          <a:ln/>
        </p:spPr>
      </p:sp>
      <p:sp>
        <p:nvSpPr>
          <p:cNvPr id="200" name="Text 198"/>
          <p:cNvSpPr txBox="1"/>
          <p:nvPr/>
        </p:nvSpPr>
        <p:spPr>
          <a:xfrm>
            <a:off x="4825419" y="4315968"/>
            <a:ext cx="528393" cy="29260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2</a:t>
            </a:r>
            <a:endParaRPr lang="tr-TR" sz="1300" dirty="0"/>
          </a:p>
        </p:txBody>
      </p:sp>
      <p:sp>
        <p:nvSpPr>
          <p:cNvPr id="201" name="Shape 199"/>
          <p:cNvSpPr/>
          <p:nvPr/>
        </p:nvSpPr>
        <p:spPr>
          <a:xfrm>
            <a:off x="4825419" y="4645152"/>
            <a:ext cx="528393" cy="292608"/>
          </a:xfrm>
          <a:prstGeom prst="roundRect">
            <a:avLst>
              <a:gd name="adj" fmla="val 15625"/>
            </a:avLst>
          </a:prstGeom>
          <a:solidFill>
            <a:srgbClr val="F2F2F2"/>
          </a:solidFill>
          <a:ln/>
        </p:spPr>
      </p:sp>
      <p:sp>
        <p:nvSpPr>
          <p:cNvPr id="202" name="Text 200"/>
          <p:cNvSpPr txBox="1"/>
          <p:nvPr/>
        </p:nvSpPr>
        <p:spPr>
          <a:xfrm>
            <a:off x="4825419" y="4645152"/>
            <a:ext cx="528393" cy="292608"/>
          </a:xfrm>
          <a:prstGeom prst="rect">
            <a:avLst/>
          </a:prstGeom>
          <a:noFill/>
          <a:ln/>
        </p:spPr>
        <p:txBody>
          <a:bodyPr wrap="square" lIns="38100" tIns="38100" rIns="38100" bIns="38100" rtlCol="0" anchor="ctr"/>
          <a:lstStyle/>
          <a:p>
            <a:pPr algn="ctr" indent="0" marL="0">
              <a:buNone/>
            </a:pPr>
            <a:r>
              <a:rPr lang="tr-TR" sz="1300" dirty="0">
                <a:solidFill>
                  <a:srgbClr val="9AA5A8"/>
                </a:solidFill>
                <a:latin typeface="Calibri" pitchFamily="34" charset="0"/>
                <a:ea typeface="Calibri" pitchFamily="34" charset="-122"/>
                <a:cs typeface="Calibri" pitchFamily="34" charset="-120"/>
              </a:rPr>
              <a:t>4</a:t>
            </a:r>
            <a:endParaRPr lang="tr-TR" sz="1300" dirty="0"/>
          </a:p>
        </p:txBody>
      </p:sp>
      <p:sp>
        <p:nvSpPr>
          <p:cNvPr id="203" name="Shape 201"/>
          <p:cNvSpPr/>
          <p:nvPr/>
        </p:nvSpPr>
        <p:spPr>
          <a:xfrm>
            <a:off x="4825419" y="4974336"/>
            <a:ext cx="528393" cy="292608"/>
          </a:xfrm>
          <a:prstGeom prst="roundRect">
            <a:avLst>
              <a:gd name="adj" fmla="val 15625"/>
            </a:avLst>
          </a:prstGeom>
          <a:solidFill>
            <a:srgbClr val="F2F2F2"/>
          </a:solidFill>
          <a:ln/>
        </p:spPr>
      </p:sp>
      <p:sp>
        <p:nvSpPr>
          <p:cNvPr id="204" name="Text 202"/>
          <p:cNvSpPr txBox="1"/>
          <p:nvPr/>
        </p:nvSpPr>
        <p:spPr>
          <a:xfrm>
            <a:off x="4825419" y="4974336"/>
            <a:ext cx="528393" cy="292608"/>
          </a:xfrm>
          <a:prstGeom prst="rect">
            <a:avLst/>
          </a:prstGeom>
          <a:noFill/>
          <a:ln/>
        </p:spPr>
        <p:txBody>
          <a:bodyPr wrap="square" lIns="38100" tIns="38100" rIns="38100" bIns="38100" rtlCol="0" anchor="ctr"/>
          <a:lstStyle/>
          <a:p>
            <a:pPr algn="ctr" indent="0" marL="0">
              <a:buNone/>
            </a:pPr>
            <a:r>
              <a:rPr lang="tr-TR" sz="1300" dirty="0">
                <a:solidFill>
                  <a:srgbClr val="9AA5A8"/>
                </a:solidFill>
                <a:latin typeface="Calibri" pitchFamily="34" charset="0"/>
                <a:ea typeface="Calibri" pitchFamily="34" charset="-122"/>
                <a:cs typeface="Calibri" pitchFamily="34" charset="-120"/>
              </a:rPr>
              <a:t>2</a:t>
            </a:r>
            <a:endParaRPr lang="tr-TR" sz="1300" dirty="0"/>
          </a:p>
        </p:txBody>
      </p:sp>
      <p:sp>
        <p:nvSpPr>
          <p:cNvPr id="205" name="Shape 203"/>
          <p:cNvSpPr/>
          <p:nvPr/>
        </p:nvSpPr>
        <p:spPr>
          <a:xfrm>
            <a:off x="4825419" y="5303520"/>
            <a:ext cx="528393" cy="292608"/>
          </a:xfrm>
          <a:prstGeom prst="roundRect">
            <a:avLst>
              <a:gd name="adj" fmla="val 15625"/>
            </a:avLst>
          </a:prstGeom>
          <a:solidFill>
            <a:srgbClr val="F2F2F2"/>
          </a:solidFill>
          <a:ln/>
        </p:spPr>
      </p:sp>
      <p:sp>
        <p:nvSpPr>
          <p:cNvPr id="206" name="Text 204"/>
          <p:cNvSpPr txBox="1"/>
          <p:nvPr/>
        </p:nvSpPr>
        <p:spPr>
          <a:xfrm>
            <a:off x="4825419" y="5303520"/>
            <a:ext cx="528393" cy="292608"/>
          </a:xfrm>
          <a:prstGeom prst="rect">
            <a:avLst/>
          </a:prstGeom>
          <a:noFill/>
          <a:ln/>
        </p:spPr>
        <p:txBody>
          <a:bodyPr wrap="square" lIns="38100" tIns="38100" rIns="38100" bIns="38100" rtlCol="0" anchor="ctr"/>
          <a:lstStyle/>
          <a:p>
            <a:pPr algn="ctr" indent="0" marL="0">
              <a:buNone/>
            </a:pPr>
            <a:r>
              <a:rPr lang="tr-TR" sz="1300" dirty="0">
                <a:solidFill>
                  <a:srgbClr val="9AA5A8"/>
                </a:solidFill>
                <a:latin typeface="Calibri" pitchFamily="34" charset="0"/>
                <a:ea typeface="Calibri" pitchFamily="34" charset="-122"/>
                <a:cs typeface="Calibri" pitchFamily="34" charset="-120"/>
              </a:rPr>
              <a:t>3</a:t>
            </a:r>
            <a:endParaRPr lang="tr-TR" sz="1300" dirty="0"/>
          </a:p>
        </p:txBody>
      </p:sp>
      <p:sp>
        <p:nvSpPr>
          <p:cNvPr id="207" name="Text 205"/>
          <p:cNvSpPr txBox="1"/>
          <p:nvPr/>
        </p:nvSpPr>
        <p:spPr>
          <a:xfrm>
            <a:off x="4807131" y="5614416"/>
            <a:ext cx="564969" cy="329184"/>
          </a:xfrm>
          <a:prstGeom prst="rect">
            <a:avLst/>
          </a:prstGeom>
          <a:noFill/>
          <a:ln/>
        </p:spPr>
        <p:txBody>
          <a:bodyPr wrap="square" lIns="0" tIns="0" rIns="0" bIns="0" rtlCol="0" anchor="ctr"/>
          <a:lstStyle/>
          <a:p>
            <a:pPr algn="ctr" indent="0" marL="0">
              <a:buNone/>
            </a:pPr>
            <a:endParaRPr lang="tr-TR" sz="1300" dirty="0"/>
          </a:p>
        </p:txBody>
      </p:sp>
      <p:sp>
        <p:nvSpPr>
          <p:cNvPr id="208" name="Shape 206"/>
          <p:cNvSpPr/>
          <p:nvPr/>
        </p:nvSpPr>
        <p:spPr>
          <a:xfrm>
            <a:off x="5390388" y="4315968"/>
            <a:ext cx="528393" cy="292608"/>
          </a:xfrm>
          <a:prstGeom prst="roundRect">
            <a:avLst>
              <a:gd name="adj" fmla="val 15625"/>
            </a:avLst>
          </a:prstGeom>
          <a:solidFill>
            <a:srgbClr val="36454F"/>
          </a:solidFill>
          <a:ln/>
        </p:spPr>
      </p:sp>
      <p:sp>
        <p:nvSpPr>
          <p:cNvPr id="209" name="Text 207"/>
          <p:cNvSpPr txBox="1"/>
          <p:nvPr/>
        </p:nvSpPr>
        <p:spPr>
          <a:xfrm>
            <a:off x="5390388" y="4315968"/>
            <a:ext cx="528393" cy="29260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1</a:t>
            </a:r>
            <a:endParaRPr lang="tr-TR" sz="1300" dirty="0"/>
          </a:p>
        </p:txBody>
      </p:sp>
      <p:sp>
        <p:nvSpPr>
          <p:cNvPr id="210" name="Shape 208"/>
          <p:cNvSpPr/>
          <p:nvPr/>
        </p:nvSpPr>
        <p:spPr>
          <a:xfrm>
            <a:off x="5390388" y="4645152"/>
            <a:ext cx="528393" cy="292608"/>
          </a:xfrm>
          <a:prstGeom prst="roundRect">
            <a:avLst>
              <a:gd name="adj" fmla="val 15625"/>
            </a:avLst>
          </a:prstGeom>
          <a:solidFill>
            <a:srgbClr val="02C39A"/>
          </a:solidFill>
          <a:ln/>
        </p:spPr>
      </p:sp>
      <p:sp>
        <p:nvSpPr>
          <p:cNvPr id="211" name="Text 209"/>
          <p:cNvSpPr txBox="1"/>
          <p:nvPr/>
        </p:nvSpPr>
        <p:spPr>
          <a:xfrm>
            <a:off x="5390388" y="4645152"/>
            <a:ext cx="528393" cy="292608"/>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1</a:t>
            </a:r>
            <a:endParaRPr lang="tr-TR" sz="1300" dirty="0"/>
          </a:p>
        </p:txBody>
      </p:sp>
      <p:sp>
        <p:nvSpPr>
          <p:cNvPr id="212" name="Shape 210"/>
          <p:cNvSpPr/>
          <p:nvPr/>
        </p:nvSpPr>
        <p:spPr>
          <a:xfrm>
            <a:off x="5390388" y="4974336"/>
            <a:ext cx="528393" cy="292608"/>
          </a:xfrm>
          <a:prstGeom prst="roundRect">
            <a:avLst>
              <a:gd name="adj" fmla="val 15625"/>
            </a:avLst>
          </a:prstGeom>
          <a:solidFill>
            <a:srgbClr val="D7E9E6"/>
          </a:solidFill>
          <a:ln/>
        </p:spPr>
      </p:sp>
      <p:sp>
        <p:nvSpPr>
          <p:cNvPr id="213" name="Text 211"/>
          <p:cNvSpPr txBox="1"/>
          <p:nvPr/>
        </p:nvSpPr>
        <p:spPr>
          <a:xfrm>
            <a:off x="5390388" y="4974336"/>
            <a:ext cx="528393"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2</a:t>
            </a:r>
            <a:endParaRPr lang="tr-TR" sz="1300" dirty="0"/>
          </a:p>
        </p:txBody>
      </p:sp>
      <p:sp>
        <p:nvSpPr>
          <p:cNvPr id="214" name="Shape 212"/>
          <p:cNvSpPr/>
          <p:nvPr/>
        </p:nvSpPr>
        <p:spPr>
          <a:xfrm>
            <a:off x="5390388" y="5303520"/>
            <a:ext cx="528393" cy="292608"/>
          </a:xfrm>
          <a:prstGeom prst="roundRect">
            <a:avLst>
              <a:gd name="adj" fmla="val 15625"/>
            </a:avLst>
          </a:prstGeom>
          <a:solidFill>
            <a:srgbClr val="D7E9E6"/>
          </a:solidFill>
          <a:ln/>
        </p:spPr>
      </p:sp>
      <p:sp>
        <p:nvSpPr>
          <p:cNvPr id="215" name="Text 213"/>
          <p:cNvSpPr txBox="1"/>
          <p:nvPr/>
        </p:nvSpPr>
        <p:spPr>
          <a:xfrm>
            <a:off x="5390388" y="5303520"/>
            <a:ext cx="528393"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3</a:t>
            </a:r>
            <a:endParaRPr lang="tr-TR" sz="1300" dirty="0"/>
          </a:p>
        </p:txBody>
      </p:sp>
      <p:sp>
        <p:nvSpPr>
          <p:cNvPr id="216" name="Text 214"/>
          <p:cNvSpPr txBox="1"/>
          <p:nvPr/>
        </p:nvSpPr>
        <p:spPr>
          <a:xfrm>
            <a:off x="5372100" y="5614416"/>
            <a:ext cx="564969" cy="329184"/>
          </a:xfrm>
          <a:prstGeom prst="rect">
            <a:avLst/>
          </a:prstGeom>
          <a:noFill/>
          <a:ln/>
        </p:spPr>
        <p:txBody>
          <a:bodyPr wrap="square" lIns="0" tIns="0" rIns="0" bIns="0" rtlCol="0" anchor="ctr"/>
          <a:lstStyle/>
          <a:p>
            <a:pPr algn="ctr" indent="0" marL="0">
              <a:buNone/>
            </a:pPr>
            <a:r>
              <a:rPr lang="tr-TR" sz="1300" b="1" dirty="0">
                <a:solidFill>
                  <a:srgbClr val="B5453A"/>
                </a:solidFill>
                <a:latin typeface="Calibri" pitchFamily="34" charset="0"/>
                <a:ea typeface="Calibri" pitchFamily="34" charset="-122"/>
                <a:cs typeface="Calibri" pitchFamily="34" charset="-120"/>
              </a:rPr>
              <a:t>F</a:t>
            </a:r>
            <a:endParaRPr lang="tr-TR" sz="1300" dirty="0"/>
          </a:p>
        </p:txBody>
      </p:sp>
      <p:sp>
        <p:nvSpPr>
          <p:cNvPr id="217" name="Shape 215"/>
          <p:cNvSpPr/>
          <p:nvPr/>
        </p:nvSpPr>
        <p:spPr>
          <a:xfrm>
            <a:off x="5955357" y="4315968"/>
            <a:ext cx="528393" cy="292608"/>
          </a:xfrm>
          <a:prstGeom prst="roundRect">
            <a:avLst>
              <a:gd name="adj" fmla="val 15625"/>
            </a:avLst>
          </a:prstGeom>
          <a:solidFill>
            <a:srgbClr val="36454F"/>
          </a:solidFill>
          <a:ln/>
        </p:spPr>
      </p:sp>
      <p:sp>
        <p:nvSpPr>
          <p:cNvPr id="218" name="Text 216"/>
          <p:cNvSpPr txBox="1"/>
          <p:nvPr/>
        </p:nvSpPr>
        <p:spPr>
          <a:xfrm>
            <a:off x="5955357" y="4315968"/>
            <a:ext cx="528393" cy="29260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2</a:t>
            </a:r>
            <a:endParaRPr lang="tr-TR" sz="1300" dirty="0"/>
          </a:p>
        </p:txBody>
      </p:sp>
      <p:sp>
        <p:nvSpPr>
          <p:cNvPr id="219" name="Shape 217"/>
          <p:cNvSpPr/>
          <p:nvPr/>
        </p:nvSpPr>
        <p:spPr>
          <a:xfrm>
            <a:off x="5955357" y="4645152"/>
            <a:ext cx="528393" cy="292608"/>
          </a:xfrm>
          <a:prstGeom prst="roundRect">
            <a:avLst>
              <a:gd name="adj" fmla="val 15625"/>
            </a:avLst>
          </a:prstGeom>
          <a:solidFill>
            <a:srgbClr val="F2F2F2"/>
          </a:solidFill>
          <a:ln/>
        </p:spPr>
      </p:sp>
      <p:sp>
        <p:nvSpPr>
          <p:cNvPr id="220" name="Text 218"/>
          <p:cNvSpPr txBox="1"/>
          <p:nvPr/>
        </p:nvSpPr>
        <p:spPr>
          <a:xfrm>
            <a:off x="5955357" y="4645152"/>
            <a:ext cx="528393" cy="292608"/>
          </a:xfrm>
          <a:prstGeom prst="rect">
            <a:avLst/>
          </a:prstGeom>
          <a:noFill/>
          <a:ln/>
        </p:spPr>
        <p:txBody>
          <a:bodyPr wrap="square" lIns="38100" tIns="38100" rIns="38100" bIns="38100" rtlCol="0" anchor="ctr"/>
          <a:lstStyle/>
          <a:p>
            <a:pPr algn="ctr" indent="0" marL="0">
              <a:buNone/>
            </a:pPr>
            <a:r>
              <a:rPr lang="tr-TR" sz="1300" dirty="0">
                <a:solidFill>
                  <a:srgbClr val="9AA5A8"/>
                </a:solidFill>
                <a:latin typeface="Calibri" pitchFamily="34" charset="0"/>
                <a:ea typeface="Calibri" pitchFamily="34" charset="-122"/>
                <a:cs typeface="Calibri" pitchFamily="34" charset="-120"/>
              </a:rPr>
              <a:t>1</a:t>
            </a:r>
            <a:endParaRPr lang="tr-TR" sz="1300" dirty="0"/>
          </a:p>
        </p:txBody>
      </p:sp>
      <p:sp>
        <p:nvSpPr>
          <p:cNvPr id="221" name="Shape 219"/>
          <p:cNvSpPr/>
          <p:nvPr/>
        </p:nvSpPr>
        <p:spPr>
          <a:xfrm>
            <a:off x="5955357" y="4974336"/>
            <a:ext cx="528393" cy="292608"/>
          </a:xfrm>
          <a:prstGeom prst="roundRect">
            <a:avLst>
              <a:gd name="adj" fmla="val 15625"/>
            </a:avLst>
          </a:prstGeom>
          <a:solidFill>
            <a:srgbClr val="F2F2F2"/>
          </a:solidFill>
          <a:ln/>
        </p:spPr>
      </p:sp>
      <p:sp>
        <p:nvSpPr>
          <p:cNvPr id="222" name="Text 220"/>
          <p:cNvSpPr txBox="1"/>
          <p:nvPr/>
        </p:nvSpPr>
        <p:spPr>
          <a:xfrm>
            <a:off x="5955357" y="4974336"/>
            <a:ext cx="528393" cy="292608"/>
          </a:xfrm>
          <a:prstGeom prst="rect">
            <a:avLst/>
          </a:prstGeom>
          <a:noFill/>
          <a:ln/>
        </p:spPr>
        <p:txBody>
          <a:bodyPr wrap="square" lIns="38100" tIns="38100" rIns="38100" bIns="38100" rtlCol="0" anchor="ctr"/>
          <a:lstStyle/>
          <a:p>
            <a:pPr algn="ctr" indent="0" marL="0">
              <a:buNone/>
            </a:pPr>
            <a:r>
              <a:rPr lang="tr-TR" sz="1300" dirty="0">
                <a:solidFill>
                  <a:srgbClr val="9AA5A8"/>
                </a:solidFill>
                <a:latin typeface="Calibri" pitchFamily="34" charset="0"/>
                <a:ea typeface="Calibri" pitchFamily="34" charset="-122"/>
                <a:cs typeface="Calibri" pitchFamily="34" charset="-120"/>
              </a:rPr>
              <a:t>2</a:t>
            </a:r>
            <a:endParaRPr lang="tr-TR" sz="1300" dirty="0"/>
          </a:p>
        </p:txBody>
      </p:sp>
      <p:sp>
        <p:nvSpPr>
          <p:cNvPr id="223" name="Shape 221"/>
          <p:cNvSpPr/>
          <p:nvPr/>
        </p:nvSpPr>
        <p:spPr>
          <a:xfrm>
            <a:off x="5955357" y="5303520"/>
            <a:ext cx="528393" cy="292608"/>
          </a:xfrm>
          <a:prstGeom prst="roundRect">
            <a:avLst>
              <a:gd name="adj" fmla="val 15625"/>
            </a:avLst>
          </a:prstGeom>
          <a:solidFill>
            <a:srgbClr val="F2F2F2"/>
          </a:solidFill>
          <a:ln/>
        </p:spPr>
      </p:sp>
      <p:sp>
        <p:nvSpPr>
          <p:cNvPr id="224" name="Text 222"/>
          <p:cNvSpPr txBox="1"/>
          <p:nvPr/>
        </p:nvSpPr>
        <p:spPr>
          <a:xfrm>
            <a:off x="5955357" y="5303520"/>
            <a:ext cx="528393" cy="292608"/>
          </a:xfrm>
          <a:prstGeom prst="rect">
            <a:avLst/>
          </a:prstGeom>
          <a:noFill/>
          <a:ln/>
        </p:spPr>
        <p:txBody>
          <a:bodyPr wrap="square" lIns="38100" tIns="38100" rIns="38100" bIns="38100" rtlCol="0" anchor="ctr"/>
          <a:lstStyle/>
          <a:p>
            <a:pPr algn="ctr" indent="0" marL="0">
              <a:buNone/>
            </a:pPr>
            <a:r>
              <a:rPr lang="tr-TR" sz="1300" dirty="0">
                <a:solidFill>
                  <a:srgbClr val="9AA5A8"/>
                </a:solidFill>
                <a:latin typeface="Calibri" pitchFamily="34" charset="0"/>
                <a:ea typeface="Calibri" pitchFamily="34" charset="-122"/>
                <a:cs typeface="Calibri" pitchFamily="34" charset="-120"/>
              </a:rPr>
              <a:t>3</a:t>
            </a:r>
            <a:endParaRPr lang="tr-TR" sz="1300" dirty="0"/>
          </a:p>
        </p:txBody>
      </p:sp>
      <p:sp>
        <p:nvSpPr>
          <p:cNvPr id="225" name="Text 223"/>
          <p:cNvSpPr txBox="1"/>
          <p:nvPr/>
        </p:nvSpPr>
        <p:spPr>
          <a:xfrm>
            <a:off x="5937069" y="5614416"/>
            <a:ext cx="564969" cy="329184"/>
          </a:xfrm>
          <a:prstGeom prst="rect">
            <a:avLst/>
          </a:prstGeom>
          <a:noFill/>
          <a:ln/>
        </p:spPr>
        <p:txBody>
          <a:bodyPr wrap="square" lIns="0" tIns="0" rIns="0" bIns="0" rtlCol="0" anchor="ctr"/>
          <a:lstStyle/>
          <a:p>
            <a:pPr algn="ctr" indent="0" marL="0">
              <a:buNone/>
            </a:pPr>
            <a:endParaRPr lang="tr-TR" sz="1300" dirty="0"/>
          </a:p>
        </p:txBody>
      </p:sp>
      <p:sp>
        <p:nvSpPr>
          <p:cNvPr id="226" name="Shape 224"/>
          <p:cNvSpPr/>
          <p:nvPr/>
        </p:nvSpPr>
        <p:spPr>
          <a:xfrm>
            <a:off x="6520325" y="4315968"/>
            <a:ext cx="528393" cy="292608"/>
          </a:xfrm>
          <a:prstGeom prst="roundRect">
            <a:avLst>
              <a:gd name="adj" fmla="val 15625"/>
            </a:avLst>
          </a:prstGeom>
          <a:solidFill>
            <a:srgbClr val="36454F"/>
          </a:solidFill>
          <a:ln/>
        </p:spPr>
      </p:sp>
      <p:sp>
        <p:nvSpPr>
          <p:cNvPr id="227" name="Text 225"/>
          <p:cNvSpPr txBox="1"/>
          <p:nvPr/>
        </p:nvSpPr>
        <p:spPr>
          <a:xfrm>
            <a:off x="6520325" y="4315968"/>
            <a:ext cx="528393" cy="29260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4</a:t>
            </a:r>
            <a:endParaRPr lang="tr-TR" sz="1300" dirty="0"/>
          </a:p>
        </p:txBody>
      </p:sp>
      <p:sp>
        <p:nvSpPr>
          <p:cNvPr id="228" name="Shape 226"/>
          <p:cNvSpPr/>
          <p:nvPr/>
        </p:nvSpPr>
        <p:spPr>
          <a:xfrm>
            <a:off x="6520325" y="4645152"/>
            <a:ext cx="528393" cy="292608"/>
          </a:xfrm>
          <a:prstGeom prst="roundRect">
            <a:avLst>
              <a:gd name="adj" fmla="val 15625"/>
            </a:avLst>
          </a:prstGeom>
          <a:solidFill>
            <a:srgbClr val="D7E9E6"/>
          </a:solidFill>
          <a:ln/>
        </p:spPr>
      </p:sp>
      <p:sp>
        <p:nvSpPr>
          <p:cNvPr id="229" name="Text 227"/>
          <p:cNvSpPr txBox="1"/>
          <p:nvPr/>
        </p:nvSpPr>
        <p:spPr>
          <a:xfrm>
            <a:off x="6520325" y="4645152"/>
            <a:ext cx="528393"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1</a:t>
            </a:r>
            <a:endParaRPr lang="tr-TR" sz="1300" dirty="0"/>
          </a:p>
        </p:txBody>
      </p:sp>
      <p:sp>
        <p:nvSpPr>
          <p:cNvPr id="230" name="Shape 228"/>
          <p:cNvSpPr/>
          <p:nvPr/>
        </p:nvSpPr>
        <p:spPr>
          <a:xfrm>
            <a:off x="6520325" y="4974336"/>
            <a:ext cx="528393" cy="292608"/>
          </a:xfrm>
          <a:prstGeom prst="roundRect">
            <a:avLst>
              <a:gd name="adj" fmla="val 15625"/>
            </a:avLst>
          </a:prstGeom>
          <a:solidFill>
            <a:srgbClr val="D7E9E6"/>
          </a:solidFill>
          <a:ln/>
        </p:spPr>
      </p:sp>
      <p:sp>
        <p:nvSpPr>
          <p:cNvPr id="231" name="Text 229"/>
          <p:cNvSpPr txBox="1"/>
          <p:nvPr/>
        </p:nvSpPr>
        <p:spPr>
          <a:xfrm>
            <a:off x="6520325" y="4974336"/>
            <a:ext cx="528393"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2</a:t>
            </a:r>
            <a:endParaRPr lang="tr-TR" sz="1300" dirty="0"/>
          </a:p>
        </p:txBody>
      </p:sp>
      <p:sp>
        <p:nvSpPr>
          <p:cNvPr id="232" name="Shape 230"/>
          <p:cNvSpPr/>
          <p:nvPr/>
        </p:nvSpPr>
        <p:spPr>
          <a:xfrm>
            <a:off x="6520325" y="5303520"/>
            <a:ext cx="528393" cy="292608"/>
          </a:xfrm>
          <a:prstGeom prst="roundRect">
            <a:avLst>
              <a:gd name="adj" fmla="val 15625"/>
            </a:avLst>
          </a:prstGeom>
          <a:solidFill>
            <a:srgbClr val="02C39A"/>
          </a:solidFill>
          <a:ln/>
        </p:spPr>
      </p:sp>
      <p:sp>
        <p:nvSpPr>
          <p:cNvPr id="233" name="Text 231"/>
          <p:cNvSpPr txBox="1"/>
          <p:nvPr/>
        </p:nvSpPr>
        <p:spPr>
          <a:xfrm>
            <a:off x="6520325" y="5303520"/>
            <a:ext cx="528393" cy="292608"/>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4</a:t>
            </a:r>
            <a:endParaRPr lang="tr-TR" sz="1300" dirty="0"/>
          </a:p>
        </p:txBody>
      </p:sp>
      <p:sp>
        <p:nvSpPr>
          <p:cNvPr id="234" name="Text 232"/>
          <p:cNvSpPr txBox="1"/>
          <p:nvPr/>
        </p:nvSpPr>
        <p:spPr>
          <a:xfrm>
            <a:off x="6502037" y="5614416"/>
            <a:ext cx="564969" cy="329184"/>
          </a:xfrm>
          <a:prstGeom prst="rect">
            <a:avLst/>
          </a:prstGeom>
          <a:noFill/>
          <a:ln/>
        </p:spPr>
        <p:txBody>
          <a:bodyPr wrap="square" lIns="0" tIns="0" rIns="0" bIns="0" rtlCol="0" anchor="ctr"/>
          <a:lstStyle/>
          <a:p>
            <a:pPr algn="ctr" indent="0" marL="0">
              <a:buNone/>
            </a:pPr>
            <a:r>
              <a:rPr lang="tr-TR" sz="1300" b="1" dirty="0">
                <a:solidFill>
                  <a:srgbClr val="B5453A"/>
                </a:solidFill>
                <a:latin typeface="Calibri" pitchFamily="34" charset="0"/>
                <a:ea typeface="Calibri" pitchFamily="34" charset="-122"/>
                <a:cs typeface="Calibri" pitchFamily="34" charset="-120"/>
              </a:rPr>
              <a:t>F</a:t>
            </a:r>
            <a:endParaRPr lang="tr-TR" sz="1300" dirty="0"/>
          </a:p>
        </p:txBody>
      </p:sp>
      <p:sp>
        <p:nvSpPr>
          <p:cNvPr id="235" name="Shape 233"/>
          <p:cNvSpPr/>
          <p:nvPr/>
        </p:nvSpPr>
        <p:spPr>
          <a:xfrm>
            <a:off x="7085294" y="4315968"/>
            <a:ext cx="528393" cy="292608"/>
          </a:xfrm>
          <a:prstGeom prst="roundRect">
            <a:avLst>
              <a:gd name="adj" fmla="val 15625"/>
            </a:avLst>
          </a:prstGeom>
          <a:solidFill>
            <a:srgbClr val="36454F"/>
          </a:solidFill>
          <a:ln/>
        </p:spPr>
      </p:sp>
      <p:sp>
        <p:nvSpPr>
          <p:cNvPr id="236" name="Text 234"/>
          <p:cNvSpPr txBox="1"/>
          <p:nvPr/>
        </p:nvSpPr>
        <p:spPr>
          <a:xfrm>
            <a:off x="7085294" y="4315968"/>
            <a:ext cx="528393" cy="29260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0</a:t>
            </a:r>
            <a:endParaRPr lang="tr-TR" sz="1300" dirty="0"/>
          </a:p>
        </p:txBody>
      </p:sp>
      <p:sp>
        <p:nvSpPr>
          <p:cNvPr id="237" name="Shape 235"/>
          <p:cNvSpPr/>
          <p:nvPr/>
        </p:nvSpPr>
        <p:spPr>
          <a:xfrm>
            <a:off x="7085294" y="4645152"/>
            <a:ext cx="528393" cy="292608"/>
          </a:xfrm>
          <a:prstGeom prst="roundRect">
            <a:avLst>
              <a:gd name="adj" fmla="val 15625"/>
            </a:avLst>
          </a:prstGeom>
          <a:solidFill>
            <a:srgbClr val="02C39A"/>
          </a:solidFill>
          <a:ln/>
        </p:spPr>
      </p:sp>
      <p:sp>
        <p:nvSpPr>
          <p:cNvPr id="238" name="Text 236"/>
          <p:cNvSpPr txBox="1"/>
          <p:nvPr/>
        </p:nvSpPr>
        <p:spPr>
          <a:xfrm>
            <a:off x="7085294" y="4645152"/>
            <a:ext cx="528393" cy="292608"/>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0</a:t>
            </a:r>
            <a:endParaRPr lang="tr-TR" sz="1300" dirty="0"/>
          </a:p>
        </p:txBody>
      </p:sp>
      <p:sp>
        <p:nvSpPr>
          <p:cNvPr id="239" name="Shape 237"/>
          <p:cNvSpPr/>
          <p:nvPr/>
        </p:nvSpPr>
        <p:spPr>
          <a:xfrm>
            <a:off x="7085294" y="4974336"/>
            <a:ext cx="528393" cy="292608"/>
          </a:xfrm>
          <a:prstGeom prst="roundRect">
            <a:avLst>
              <a:gd name="adj" fmla="val 15625"/>
            </a:avLst>
          </a:prstGeom>
          <a:solidFill>
            <a:srgbClr val="D7E9E6"/>
          </a:solidFill>
          <a:ln/>
        </p:spPr>
      </p:sp>
      <p:sp>
        <p:nvSpPr>
          <p:cNvPr id="240" name="Text 238"/>
          <p:cNvSpPr txBox="1"/>
          <p:nvPr/>
        </p:nvSpPr>
        <p:spPr>
          <a:xfrm>
            <a:off x="7085294" y="4974336"/>
            <a:ext cx="528393"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2</a:t>
            </a:r>
            <a:endParaRPr lang="tr-TR" sz="1300" dirty="0"/>
          </a:p>
        </p:txBody>
      </p:sp>
      <p:sp>
        <p:nvSpPr>
          <p:cNvPr id="241" name="Shape 239"/>
          <p:cNvSpPr/>
          <p:nvPr/>
        </p:nvSpPr>
        <p:spPr>
          <a:xfrm>
            <a:off x="7085294" y="5303520"/>
            <a:ext cx="528393" cy="292608"/>
          </a:xfrm>
          <a:prstGeom prst="roundRect">
            <a:avLst>
              <a:gd name="adj" fmla="val 15625"/>
            </a:avLst>
          </a:prstGeom>
          <a:solidFill>
            <a:srgbClr val="D7E9E6"/>
          </a:solidFill>
          <a:ln/>
        </p:spPr>
      </p:sp>
      <p:sp>
        <p:nvSpPr>
          <p:cNvPr id="242" name="Text 240"/>
          <p:cNvSpPr txBox="1"/>
          <p:nvPr/>
        </p:nvSpPr>
        <p:spPr>
          <a:xfrm>
            <a:off x="7085294" y="5303520"/>
            <a:ext cx="528393"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4</a:t>
            </a:r>
            <a:endParaRPr lang="tr-TR" sz="1300" dirty="0"/>
          </a:p>
        </p:txBody>
      </p:sp>
      <p:sp>
        <p:nvSpPr>
          <p:cNvPr id="243" name="Text 241"/>
          <p:cNvSpPr txBox="1"/>
          <p:nvPr/>
        </p:nvSpPr>
        <p:spPr>
          <a:xfrm>
            <a:off x="7067006" y="5614416"/>
            <a:ext cx="564969" cy="329184"/>
          </a:xfrm>
          <a:prstGeom prst="rect">
            <a:avLst/>
          </a:prstGeom>
          <a:noFill/>
          <a:ln/>
        </p:spPr>
        <p:txBody>
          <a:bodyPr wrap="square" lIns="0" tIns="0" rIns="0" bIns="0" rtlCol="0" anchor="ctr"/>
          <a:lstStyle/>
          <a:p>
            <a:pPr algn="ctr" indent="0" marL="0">
              <a:buNone/>
            </a:pPr>
            <a:r>
              <a:rPr lang="tr-TR" sz="1300" b="1" dirty="0">
                <a:solidFill>
                  <a:srgbClr val="B5453A"/>
                </a:solidFill>
                <a:latin typeface="Calibri" pitchFamily="34" charset="0"/>
                <a:ea typeface="Calibri" pitchFamily="34" charset="-122"/>
                <a:cs typeface="Calibri" pitchFamily="34" charset="-120"/>
              </a:rPr>
              <a:t>F</a:t>
            </a:r>
            <a:endParaRPr lang="tr-TR" sz="1300" dirty="0"/>
          </a:p>
        </p:txBody>
      </p:sp>
      <p:sp>
        <p:nvSpPr>
          <p:cNvPr id="244" name="Shape 242"/>
          <p:cNvSpPr/>
          <p:nvPr/>
        </p:nvSpPr>
        <p:spPr>
          <a:xfrm>
            <a:off x="7650262" y="4315968"/>
            <a:ext cx="528393" cy="292608"/>
          </a:xfrm>
          <a:prstGeom prst="roundRect">
            <a:avLst>
              <a:gd name="adj" fmla="val 15625"/>
            </a:avLst>
          </a:prstGeom>
          <a:solidFill>
            <a:srgbClr val="36454F"/>
          </a:solidFill>
          <a:ln/>
        </p:spPr>
      </p:sp>
      <p:sp>
        <p:nvSpPr>
          <p:cNvPr id="245" name="Text 243"/>
          <p:cNvSpPr txBox="1"/>
          <p:nvPr/>
        </p:nvSpPr>
        <p:spPr>
          <a:xfrm>
            <a:off x="7650262" y="4315968"/>
            <a:ext cx="528393" cy="29260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2</a:t>
            </a:r>
            <a:endParaRPr lang="tr-TR" sz="1300" dirty="0"/>
          </a:p>
        </p:txBody>
      </p:sp>
      <p:sp>
        <p:nvSpPr>
          <p:cNvPr id="246" name="Shape 244"/>
          <p:cNvSpPr/>
          <p:nvPr/>
        </p:nvSpPr>
        <p:spPr>
          <a:xfrm>
            <a:off x="7650262" y="4645152"/>
            <a:ext cx="528393" cy="292608"/>
          </a:xfrm>
          <a:prstGeom prst="roundRect">
            <a:avLst>
              <a:gd name="adj" fmla="val 15625"/>
            </a:avLst>
          </a:prstGeom>
          <a:solidFill>
            <a:srgbClr val="F2F2F2"/>
          </a:solidFill>
          <a:ln/>
        </p:spPr>
      </p:sp>
      <p:sp>
        <p:nvSpPr>
          <p:cNvPr id="247" name="Text 245"/>
          <p:cNvSpPr txBox="1"/>
          <p:nvPr/>
        </p:nvSpPr>
        <p:spPr>
          <a:xfrm>
            <a:off x="7650262" y="4645152"/>
            <a:ext cx="528393" cy="292608"/>
          </a:xfrm>
          <a:prstGeom prst="rect">
            <a:avLst/>
          </a:prstGeom>
          <a:noFill/>
          <a:ln/>
        </p:spPr>
        <p:txBody>
          <a:bodyPr wrap="square" lIns="38100" tIns="38100" rIns="38100" bIns="38100" rtlCol="0" anchor="ctr"/>
          <a:lstStyle/>
          <a:p>
            <a:pPr algn="ctr" indent="0" marL="0">
              <a:buNone/>
            </a:pPr>
            <a:r>
              <a:rPr lang="tr-TR" sz="1300" dirty="0">
                <a:solidFill>
                  <a:srgbClr val="9AA5A8"/>
                </a:solidFill>
                <a:latin typeface="Calibri" pitchFamily="34" charset="0"/>
                <a:ea typeface="Calibri" pitchFamily="34" charset="-122"/>
                <a:cs typeface="Calibri" pitchFamily="34" charset="-120"/>
              </a:rPr>
              <a:t>0</a:t>
            </a:r>
            <a:endParaRPr lang="tr-TR" sz="1300" dirty="0"/>
          </a:p>
        </p:txBody>
      </p:sp>
      <p:sp>
        <p:nvSpPr>
          <p:cNvPr id="248" name="Shape 246"/>
          <p:cNvSpPr/>
          <p:nvPr/>
        </p:nvSpPr>
        <p:spPr>
          <a:xfrm>
            <a:off x="7650262" y="4974336"/>
            <a:ext cx="528393" cy="292608"/>
          </a:xfrm>
          <a:prstGeom prst="roundRect">
            <a:avLst>
              <a:gd name="adj" fmla="val 15625"/>
            </a:avLst>
          </a:prstGeom>
          <a:solidFill>
            <a:srgbClr val="F2F2F2"/>
          </a:solidFill>
          <a:ln/>
        </p:spPr>
      </p:sp>
      <p:sp>
        <p:nvSpPr>
          <p:cNvPr id="249" name="Text 247"/>
          <p:cNvSpPr txBox="1"/>
          <p:nvPr/>
        </p:nvSpPr>
        <p:spPr>
          <a:xfrm>
            <a:off x="7650262" y="4974336"/>
            <a:ext cx="528393" cy="292608"/>
          </a:xfrm>
          <a:prstGeom prst="rect">
            <a:avLst/>
          </a:prstGeom>
          <a:noFill/>
          <a:ln/>
        </p:spPr>
        <p:txBody>
          <a:bodyPr wrap="square" lIns="38100" tIns="38100" rIns="38100" bIns="38100" rtlCol="0" anchor="ctr"/>
          <a:lstStyle/>
          <a:p>
            <a:pPr algn="ctr" indent="0" marL="0">
              <a:buNone/>
            </a:pPr>
            <a:r>
              <a:rPr lang="tr-TR" sz="1300" dirty="0">
                <a:solidFill>
                  <a:srgbClr val="9AA5A8"/>
                </a:solidFill>
                <a:latin typeface="Calibri" pitchFamily="34" charset="0"/>
                <a:ea typeface="Calibri" pitchFamily="34" charset="-122"/>
                <a:cs typeface="Calibri" pitchFamily="34" charset="-120"/>
              </a:rPr>
              <a:t>2</a:t>
            </a:r>
            <a:endParaRPr lang="tr-TR" sz="1300" dirty="0"/>
          </a:p>
        </p:txBody>
      </p:sp>
      <p:sp>
        <p:nvSpPr>
          <p:cNvPr id="250" name="Shape 248"/>
          <p:cNvSpPr/>
          <p:nvPr/>
        </p:nvSpPr>
        <p:spPr>
          <a:xfrm>
            <a:off x="7650262" y="5303520"/>
            <a:ext cx="528393" cy="292608"/>
          </a:xfrm>
          <a:prstGeom prst="roundRect">
            <a:avLst>
              <a:gd name="adj" fmla="val 15625"/>
            </a:avLst>
          </a:prstGeom>
          <a:solidFill>
            <a:srgbClr val="F2F2F2"/>
          </a:solidFill>
          <a:ln/>
        </p:spPr>
      </p:sp>
      <p:sp>
        <p:nvSpPr>
          <p:cNvPr id="251" name="Text 249"/>
          <p:cNvSpPr txBox="1"/>
          <p:nvPr/>
        </p:nvSpPr>
        <p:spPr>
          <a:xfrm>
            <a:off x="7650262" y="5303520"/>
            <a:ext cx="528393" cy="292608"/>
          </a:xfrm>
          <a:prstGeom prst="rect">
            <a:avLst/>
          </a:prstGeom>
          <a:noFill/>
          <a:ln/>
        </p:spPr>
        <p:txBody>
          <a:bodyPr wrap="square" lIns="38100" tIns="38100" rIns="38100" bIns="38100" rtlCol="0" anchor="ctr"/>
          <a:lstStyle/>
          <a:p>
            <a:pPr algn="ctr" indent="0" marL="0">
              <a:buNone/>
            </a:pPr>
            <a:r>
              <a:rPr lang="tr-TR" sz="1300" dirty="0">
                <a:solidFill>
                  <a:srgbClr val="9AA5A8"/>
                </a:solidFill>
                <a:latin typeface="Calibri" pitchFamily="34" charset="0"/>
                <a:ea typeface="Calibri" pitchFamily="34" charset="-122"/>
                <a:cs typeface="Calibri" pitchFamily="34" charset="-120"/>
              </a:rPr>
              <a:t>4</a:t>
            </a:r>
            <a:endParaRPr lang="tr-TR" sz="1300" dirty="0"/>
          </a:p>
        </p:txBody>
      </p:sp>
      <p:sp>
        <p:nvSpPr>
          <p:cNvPr id="252" name="Text 250"/>
          <p:cNvSpPr txBox="1"/>
          <p:nvPr/>
        </p:nvSpPr>
        <p:spPr>
          <a:xfrm>
            <a:off x="7631974" y="5614416"/>
            <a:ext cx="564969" cy="329184"/>
          </a:xfrm>
          <a:prstGeom prst="rect">
            <a:avLst/>
          </a:prstGeom>
          <a:noFill/>
          <a:ln/>
        </p:spPr>
        <p:txBody>
          <a:bodyPr wrap="square" lIns="0" tIns="0" rIns="0" bIns="0" rtlCol="0" anchor="ctr"/>
          <a:lstStyle/>
          <a:p>
            <a:pPr algn="ctr" indent="0" marL="0">
              <a:buNone/>
            </a:pPr>
            <a:endParaRPr lang="tr-TR" sz="1300" dirty="0"/>
          </a:p>
        </p:txBody>
      </p:sp>
      <p:sp>
        <p:nvSpPr>
          <p:cNvPr id="253" name="Shape 251"/>
          <p:cNvSpPr/>
          <p:nvPr/>
        </p:nvSpPr>
        <p:spPr>
          <a:xfrm>
            <a:off x="8215231" y="4315968"/>
            <a:ext cx="528393" cy="292608"/>
          </a:xfrm>
          <a:prstGeom prst="roundRect">
            <a:avLst>
              <a:gd name="adj" fmla="val 15625"/>
            </a:avLst>
          </a:prstGeom>
          <a:solidFill>
            <a:srgbClr val="36454F"/>
          </a:solidFill>
          <a:ln/>
        </p:spPr>
      </p:sp>
      <p:sp>
        <p:nvSpPr>
          <p:cNvPr id="254" name="Text 252"/>
          <p:cNvSpPr txBox="1"/>
          <p:nvPr/>
        </p:nvSpPr>
        <p:spPr>
          <a:xfrm>
            <a:off x="8215231" y="4315968"/>
            <a:ext cx="528393" cy="29260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0</a:t>
            </a:r>
            <a:endParaRPr lang="tr-TR" sz="1300" dirty="0"/>
          </a:p>
        </p:txBody>
      </p:sp>
      <p:sp>
        <p:nvSpPr>
          <p:cNvPr id="255" name="Shape 253"/>
          <p:cNvSpPr/>
          <p:nvPr/>
        </p:nvSpPr>
        <p:spPr>
          <a:xfrm>
            <a:off x="8215231" y="4645152"/>
            <a:ext cx="528393" cy="292608"/>
          </a:xfrm>
          <a:prstGeom prst="roundRect">
            <a:avLst>
              <a:gd name="adj" fmla="val 15625"/>
            </a:avLst>
          </a:prstGeom>
          <a:solidFill>
            <a:srgbClr val="F2F2F2"/>
          </a:solidFill>
          <a:ln/>
        </p:spPr>
      </p:sp>
      <p:sp>
        <p:nvSpPr>
          <p:cNvPr id="256" name="Text 254"/>
          <p:cNvSpPr txBox="1"/>
          <p:nvPr/>
        </p:nvSpPr>
        <p:spPr>
          <a:xfrm>
            <a:off x="8215231" y="4645152"/>
            <a:ext cx="528393" cy="292608"/>
          </a:xfrm>
          <a:prstGeom prst="rect">
            <a:avLst/>
          </a:prstGeom>
          <a:noFill/>
          <a:ln/>
        </p:spPr>
        <p:txBody>
          <a:bodyPr wrap="square" lIns="38100" tIns="38100" rIns="38100" bIns="38100" rtlCol="0" anchor="ctr"/>
          <a:lstStyle/>
          <a:p>
            <a:pPr algn="ctr" indent="0" marL="0">
              <a:buNone/>
            </a:pPr>
            <a:r>
              <a:rPr lang="tr-TR" sz="1300" dirty="0">
                <a:solidFill>
                  <a:srgbClr val="9AA5A8"/>
                </a:solidFill>
                <a:latin typeface="Calibri" pitchFamily="34" charset="0"/>
                <a:ea typeface="Calibri" pitchFamily="34" charset="-122"/>
                <a:cs typeface="Calibri" pitchFamily="34" charset="-120"/>
              </a:rPr>
              <a:t>0</a:t>
            </a:r>
            <a:endParaRPr lang="tr-TR" sz="1300" dirty="0"/>
          </a:p>
        </p:txBody>
      </p:sp>
      <p:sp>
        <p:nvSpPr>
          <p:cNvPr id="257" name="Shape 255"/>
          <p:cNvSpPr/>
          <p:nvPr/>
        </p:nvSpPr>
        <p:spPr>
          <a:xfrm>
            <a:off x="8215231" y="4974336"/>
            <a:ext cx="528393" cy="292608"/>
          </a:xfrm>
          <a:prstGeom prst="roundRect">
            <a:avLst>
              <a:gd name="adj" fmla="val 15625"/>
            </a:avLst>
          </a:prstGeom>
          <a:solidFill>
            <a:srgbClr val="F2F2F2"/>
          </a:solidFill>
          <a:ln/>
        </p:spPr>
      </p:sp>
      <p:sp>
        <p:nvSpPr>
          <p:cNvPr id="258" name="Text 256"/>
          <p:cNvSpPr txBox="1"/>
          <p:nvPr/>
        </p:nvSpPr>
        <p:spPr>
          <a:xfrm>
            <a:off x="8215231" y="4974336"/>
            <a:ext cx="528393" cy="292608"/>
          </a:xfrm>
          <a:prstGeom prst="rect">
            <a:avLst/>
          </a:prstGeom>
          <a:noFill/>
          <a:ln/>
        </p:spPr>
        <p:txBody>
          <a:bodyPr wrap="square" lIns="38100" tIns="38100" rIns="38100" bIns="38100" rtlCol="0" anchor="ctr"/>
          <a:lstStyle/>
          <a:p>
            <a:pPr algn="ctr" indent="0" marL="0">
              <a:buNone/>
            </a:pPr>
            <a:r>
              <a:rPr lang="tr-TR" sz="1300" dirty="0">
                <a:solidFill>
                  <a:srgbClr val="9AA5A8"/>
                </a:solidFill>
                <a:latin typeface="Calibri" pitchFamily="34" charset="0"/>
                <a:ea typeface="Calibri" pitchFamily="34" charset="-122"/>
                <a:cs typeface="Calibri" pitchFamily="34" charset="-120"/>
              </a:rPr>
              <a:t>2</a:t>
            </a:r>
            <a:endParaRPr lang="tr-TR" sz="1300" dirty="0"/>
          </a:p>
        </p:txBody>
      </p:sp>
      <p:sp>
        <p:nvSpPr>
          <p:cNvPr id="259" name="Shape 257"/>
          <p:cNvSpPr/>
          <p:nvPr/>
        </p:nvSpPr>
        <p:spPr>
          <a:xfrm>
            <a:off x="8215231" y="5303520"/>
            <a:ext cx="528393" cy="292608"/>
          </a:xfrm>
          <a:prstGeom prst="roundRect">
            <a:avLst>
              <a:gd name="adj" fmla="val 15625"/>
            </a:avLst>
          </a:prstGeom>
          <a:solidFill>
            <a:srgbClr val="F2F2F2"/>
          </a:solidFill>
          <a:ln/>
        </p:spPr>
      </p:sp>
      <p:sp>
        <p:nvSpPr>
          <p:cNvPr id="260" name="Text 258"/>
          <p:cNvSpPr txBox="1"/>
          <p:nvPr/>
        </p:nvSpPr>
        <p:spPr>
          <a:xfrm>
            <a:off x="8215231" y="5303520"/>
            <a:ext cx="528393" cy="292608"/>
          </a:xfrm>
          <a:prstGeom prst="rect">
            <a:avLst/>
          </a:prstGeom>
          <a:noFill/>
          <a:ln/>
        </p:spPr>
        <p:txBody>
          <a:bodyPr wrap="square" lIns="38100" tIns="38100" rIns="38100" bIns="38100" rtlCol="0" anchor="ctr"/>
          <a:lstStyle/>
          <a:p>
            <a:pPr algn="ctr" indent="0" marL="0">
              <a:buNone/>
            </a:pPr>
            <a:r>
              <a:rPr lang="tr-TR" sz="1300" dirty="0">
                <a:solidFill>
                  <a:srgbClr val="9AA5A8"/>
                </a:solidFill>
                <a:latin typeface="Calibri" pitchFamily="34" charset="0"/>
                <a:ea typeface="Calibri" pitchFamily="34" charset="-122"/>
                <a:cs typeface="Calibri" pitchFamily="34" charset="-120"/>
              </a:rPr>
              <a:t>4</a:t>
            </a:r>
            <a:endParaRPr lang="tr-TR" sz="1300" dirty="0"/>
          </a:p>
        </p:txBody>
      </p:sp>
      <p:sp>
        <p:nvSpPr>
          <p:cNvPr id="261" name="Text 259"/>
          <p:cNvSpPr txBox="1"/>
          <p:nvPr/>
        </p:nvSpPr>
        <p:spPr>
          <a:xfrm>
            <a:off x="8196943" y="5614416"/>
            <a:ext cx="564969" cy="329184"/>
          </a:xfrm>
          <a:prstGeom prst="rect">
            <a:avLst/>
          </a:prstGeom>
          <a:noFill/>
          <a:ln/>
        </p:spPr>
        <p:txBody>
          <a:bodyPr wrap="square" lIns="0" tIns="0" rIns="0" bIns="0" rtlCol="0" anchor="ctr"/>
          <a:lstStyle/>
          <a:p>
            <a:pPr algn="ctr" indent="0" marL="0">
              <a:buNone/>
            </a:pPr>
            <a:endParaRPr lang="tr-TR" sz="1300" dirty="0"/>
          </a:p>
        </p:txBody>
      </p:sp>
      <p:sp>
        <p:nvSpPr>
          <p:cNvPr id="262" name="Shape 260"/>
          <p:cNvSpPr/>
          <p:nvPr/>
        </p:nvSpPr>
        <p:spPr>
          <a:xfrm>
            <a:off x="8780199" y="4315968"/>
            <a:ext cx="528393" cy="292608"/>
          </a:xfrm>
          <a:prstGeom prst="roundRect">
            <a:avLst>
              <a:gd name="adj" fmla="val 15625"/>
            </a:avLst>
          </a:prstGeom>
          <a:solidFill>
            <a:srgbClr val="36454F"/>
          </a:solidFill>
          <a:ln/>
        </p:spPr>
      </p:sp>
      <p:sp>
        <p:nvSpPr>
          <p:cNvPr id="263" name="Text 261"/>
          <p:cNvSpPr txBox="1"/>
          <p:nvPr/>
        </p:nvSpPr>
        <p:spPr>
          <a:xfrm>
            <a:off x="8780199" y="4315968"/>
            <a:ext cx="528393" cy="29260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1</a:t>
            </a:r>
            <a:endParaRPr lang="tr-TR" sz="1300" dirty="0"/>
          </a:p>
        </p:txBody>
      </p:sp>
      <p:sp>
        <p:nvSpPr>
          <p:cNvPr id="264" name="Shape 262"/>
          <p:cNvSpPr/>
          <p:nvPr/>
        </p:nvSpPr>
        <p:spPr>
          <a:xfrm>
            <a:off x="8780199" y="4645152"/>
            <a:ext cx="528393" cy="292608"/>
          </a:xfrm>
          <a:prstGeom prst="roundRect">
            <a:avLst>
              <a:gd name="adj" fmla="val 15625"/>
            </a:avLst>
          </a:prstGeom>
          <a:solidFill>
            <a:srgbClr val="D7E9E6"/>
          </a:solidFill>
          <a:ln/>
        </p:spPr>
      </p:sp>
      <p:sp>
        <p:nvSpPr>
          <p:cNvPr id="265" name="Text 263"/>
          <p:cNvSpPr txBox="1"/>
          <p:nvPr/>
        </p:nvSpPr>
        <p:spPr>
          <a:xfrm>
            <a:off x="8780199" y="4645152"/>
            <a:ext cx="528393"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0</a:t>
            </a:r>
            <a:endParaRPr lang="tr-TR" sz="1300" dirty="0"/>
          </a:p>
        </p:txBody>
      </p:sp>
      <p:sp>
        <p:nvSpPr>
          <p:cNvPr id="266" name="Shape 264"/>
          <p:cNvSpPr/>
          <p:nvPr/>
        </p:nvSpPr>
        <p:spPr>
          <a:xfrm>
            <a:off x="8780199" y="4974336"/>
            <a:ext cx="528393" cy="292608"/>
          </a:xfrm>
          <a:prstGeom prst="roundRect">
            <a:avLst>
              <a:gd name="adj" fmla="val 15625"/>
            </a:avLst>
          </a:prstGeom>
          <a:solidFill>
            <a:srgbClr val="D7E9E6"/>
          </a:solidFill>
          <a:ln/>
        </p:spPr>
      </p:sp>
      <p:sp>
        <p:nvSpPr>
          <p:cNvPr id="267" name="Text 265"/>
          <p:cNvSpPr txBox="1"/>
          <p:nvPr/>
        </p:nvSpPr>
        <p:spPr>
          <a:xfrm>
            <a:off x="8780199" y="4974336"/>
            <a:ext cx="528393"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2</a:t>
            </a:r>
            <a:endParaRPr lang="tr-TR" sz="1300" dirty="0"/>
          </a:p>
        </p:txBody>
      </p:sp>
      <p:sp>
        <p:nvSpPr>
          <p:cNvPr id="268" name="Shape 266"/>
          <p:cNvSpPr/>
          <p:nvPr/>
        </p:nvSpPr>
        <p:spPr>
          <a:xfrm>
            <a:off x="8780199" y="5303520"/>
            <a:ext cx="528393" cy="292608"/>
          </a:xfrm>
          <a:prstGeom prst="roundRect">
            <a:avLst>
              <a:gd name="adj" fmla="val 15625"/>
            </a:avLst>
          </a:prstGeom>
          <a:solidFill>
            <a:srgbClr val="02C39A"/>
          </a:solidFill>
          <a:ln/>
        </p:spPr>
      </p:sp>
      <p:sp>
        <p:nvSpPr>
          <p:cNvPr id="269" name="Text 267"/>
          <p:cNvSpPr txBox="1"/>
          <p:nvPr/>
        </p:nvSpPr>
        <p:spPr>
          <a:xfrm>
            <a:off x="8780199" y="5303520"/>
            <a:ext cx="528393" cy="292608"/>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1</a:t>
            </a:r>
            <a:endParaRPr lang="tr-TR" sz="1300" dirty="0"/>
          </a:p>
        </p:txBody>
      </p:sp>
      <p:sp>
        <p:nvSpPr>
          <p:cNvPr id="270" name="Text 268"/>
          <p:cNvSpPr txBox="1"/>
          <p:nvPr/>
        </p:nvSpPr>
        <p:spPr>
          <a:xfrm>
            <a:off x="8761911" y="5614416"/>
            <a:ext cx="564969" cy="329184"/>
          </a:xfrm>
          <a:prstGeom prst="rect">
            <a:avLst/>
          </a:prstGeom>
          <a:noFill/>
          <a:ln/>
        </p:spPr>
        <p:txBody>
          <a:bodyPr wrap="square" lIns="0" tIns="0" rIns="0" bIns="0" rtlCol="0" anchor="ctr"/>
          <a:lstStyle/>
          <a:p>
            <a:pPr algn="ctr" indent="0" marL="0">
              <a:buNone/>
            </a:pPr>
            <a:r>
              <a:rPr lang="tr-TR" sz="1300" b="1" dirty="0">
                <a:solidFill>
                  <a:srgbClr val="B5453A"/>
                </a:solidFill>
                <a:latin typeface="Calibri" pitchFamily="34" charset="0"/>
                <a:ea typeface="Calibri" pitchFamily="34" charset="-122"/>
                <a:cs typeface="Calibri" pitchFamily="34" charset="-120"/>
              </a:rPr>
              <a:t>F</a:t>
            </a:r>
            <a:endParaRPr lang="tr-TR" sz="1300" dirty="0"/>
          </a:p>
        </p:txBody>
      </p:sp>
      <p:sp>
        <p:nvSpPr>
          <p:cNvPr id="271" name="Shape 269"/>
          <p:cNvSpPr/>
          <p:nvPr/>
        </p:nvSpPr>
        <p:spPr>
          <a:xfrm>
            <a:off x="9555480" y="2011680"/>
            <a:ext cx="2103120" cy="1645920"/>
          </a:xfrm>
          <a:prstGeom prst="roundRect">
            <a:avLst>
              <a:gd name="adj" fmla="val 3333"/>
            </a:avLst>
          </a:prstGeom>
          <a:solidFill>
            <a:srgbClr val="36454F"/>
          </a:solidFill>
          <a:ln/>
        </p:spPr>
      </p:sp>
      <p:sp>
        <p:nvSpPr>
          <p:cNvPr id="272" name="Text 270"/>
          <p:cNvSpPr txBox="1"/>
          <p:nvPr/>
        </p:nvSpPr>
        <p:spPr>
          <a:xfrm>
            <a:off x="9692640" y="2011680"/>
            <a:ext cx="1828800" cy="1645920"/>
          </a:xfrm>
          <a:prstGeom prst="rect">
            <a:avLst/>
          </a:prstGeom>
          <a:noFill/>
          <a:ln/>
        </p:spPr>
        <p:txBody>
          <a:bodyPr wrap="square" lIns="0" tIns="0" rIns="0" bIns="0" rtlCol="0" anchor="ctr"/>
          <a:lstStyle/>
          <a:p>
            <a:pPr algn="ctr" indent="0" marL="0">
              <a:buNone/>
            </a:pPr>
            <a:r>
              <a:rPr lang="tr-TR" sz="3400" b="1" dirty="0">
                <a:solidFill>
                  <a:srgbClr val="02C39A"/>
                </a:solidFill>
                <a:latin typeface="Cambria" pitchFamily="34" charset="0"/>
                <a:ea typeface="Cambria" pitchFamily="34" charset="-122"/>
                <a:cs typeface="Cambria" pitchFamily="34" charset="-120"/>
              </a:rPr>
              <a:t>11</a:t>
            </a:r>
            <a:endParaRPr lang="tr-TR" sz="1400" dirty="0"/>
          </a:p>
          <a:p>
            <a:pPr algn="ctr" indent="0" marL="0">
              <a:buNone/>
            </a:pPr>
            <a:r>
              <a:rPr lang="tr-TR" sz="1250" dirty="0">
                <a:solidFill>
                  <a:srgbClr val="F2F2F2"/>
                </a:solidFill>
                <a:latin typeface="Calibri" pitchFamily="34" charset="0"/>
                <a:ea typeface="Calibri" pitchFamily="34" charset="-122"/>
                <a:cs typeface="Calibri" pitchFamily="34" charset="-120"/>
              </a:rPr>
              <a:t>FIFO ile hata</a:t>
            </a:r>
            <a:endParaRPr lang="tr-TR" sz="1400" dirty="0"/>
          </a:p>
        </p:txBody>
      </p:sp>
      <p:sp>
        <p:nvSpPr>
          <p:cNvPr id="273" name="Shape 271"/>
          <p:cNvSpPr/>
          <p:nvPr/>
        </p:nvSpPr>
        <p:spPr>
          <a:xfrm>
            <a:off x="9555480" y="4297680"/>
            <a:ext cx="2103120" cy="1645920"/>
          </a:xfrm>
          <a:prstGeom prst="roundRect">
            <a:avLst>
              <a:gd name="adj" fmla="val 3333"/>
            </a:avLst>
          </a:prstGeom>
          <a:solidFill>
            <a:srgbClr val="36454F"/>
          </a:solidFill>
          <a:ln/>
        </p:spPr>
      </p:sp>
      <p:sp>
        <p:nvSpPr>
          <p:cNvPr id="274" name="Text 272"/>
          <p:cNvSpPr txBox="1"/>
          <p:nvPr/>
        </p:nvSpPr>
        <p:spPr>
          <a:xfrm>
            <a:off x="9692640" y="4297680"/>
            <a:ext cx="1828800" cy="1645920"/>
          </a:xfrm>
          <a:prstGeom prst="rect">
            <a:avLst/>
          </a:prstGeom>
          <a:noFill/>
          <a:ln/>
        </p:spPr>
        <p:txBody>
          <a:bodyPr wrap="square" lIns="0" tIns="0" rIns="0" bIns="0" rtlCol="0" anchor="ctr"/>
          <a:lstStyle/>
          <a:p>
            <a:pPr algn="ctr" indent="0" marL="0">
              <a:buNone/>
            </a:pPr>
            <a:r>
              <a:rPr lang="tr-TR" sz="3400" b="1" dirty="0">
                <a:solidFill>
                  <a:srgbClr val="02C39A"/>
                </a:solidFill>
                <a:latin typeface="Cambria" pitchFamily="34" charset="0"/>
                <a:ea typeface="Cambria" pitchFamily="34" charset="-122"/>
                <a:cs typeface="Cambria" pitchFamily="34" charset="-120"/>
              </a:rPr>
              <a:t>9</a:t>
            </a:r>
            <a:endParaRPr lang="tr-TR" sz="1400" dirty="0"/>
          </a:p>
          <a:p>
            <a:pPr algn="ctr" indent="0" marL="0">
              <a:buNone/>
            </a:pPr>
            <a:r>
              <a:rPr lang="tr-TR" sz="1250" dirty="0">
                <a:solidFill>
                  <a:srgbClr val="F2F2F2"/>
                </a:solidFill>
                <a:latin typeface="Calibri" pitchFamily="34" charset="0"/>
                <a:ea typeface="Calibri" pitchFamily="34" charset="-122"/>
                <a:cs typeface="Calibri" pitchFamily="34" charset="-120"/>
              </a:rPr>
              <a:t>LRU ile hata</a:t>
            </a:r>
            <a:endParaRPr lang="tr-TR"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6. PROBLEM · 7. HAFTA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Sayfa Değiştirme: OPT ve Karşılaştırma</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8  ·  30</a:t>
            </a:r>
            <a:endParaRPr lang="tr-TR" sz="900" dirty="0"/>
          </a:p>
        </p:txBody>
      </p:sp>
      <p:sp>
        <p:nvSpPr>
          <p:cNvPr id="6" name="Text 4"/>
          <p:cNvSpPr txBox="1"/>
          <p:nvPr/>
        </p:nvSpPr>
        <p:spPr>
          <a:xfrm>
            <a:off x="548640" y="1463040"/>
            <a:ext cx="11109960" cy="292608"/>
          </a:xfrm>
          <a:prstGeom prst="rect">
            <a:avLst/>
          </a:prstGeom>
          <a:noFill/>
          <a:ln/>
        </p:spPr>
        <p:txBody>
          <a:bodyPr wrap="square" lIns="0" tIns="0" rIns="0" bIns="0" rtlCol="0" anchor="t"/>
          <a:lstStyle/>
          <a:p>
            <a:pPr indent="0" marL="0">
              <a:buNone/>
            </a:pPr>
            <a:r>
              <a:rPr lang="tr-TR" sz="1400" b="1" dirty="0">
                <a:solidFill>
                  <a:srgbClr val="028090"/>
                </a:solidFill>
                <a:latin typeface="Calibri" pitchFamily="34" charset="0"/>
                <a:ea typeface="Calibri" pitchFamily="34" charset="-122"/>
                <a:cs typeface="Calibri" pitchFamily="34" charset="-120"/>
              </a:rPr>
              <a:t>OPT (ileriye bak: en uzak gelecekte kullanılacak sayfayı değiştir)</a:t>
            </a:r>
            <a:endParaRPr lang="tr-TR" sz="1400" dirty="0"/>
          </a:p>
        </p:txBody>
      </p:sp>
      <p:sp>
        <p:nvSpPr>
          <p:cNvPr id="7" name="Text 5"/>
          <p:cNvSpPr txBox="1"/>
          <p:nvPr/>
        </p:nvSpPr>
        <p:spPr>
          <a:xfrm>
            <a:off x="548640" y="1783080"/>
            <a:ext cx="795528" cy="329184"/>
          </a:xfrm>
          <a:prstGeom prst="rect">
            <a:avLst/>
          </a:prstGeom>
          <a:noFill/>
          <a:ln/>
        </p:spPr>
        <p:txBody>
          <a:bodyPr wrap="square" lIns="0" tIns="0" rIns="0" bIns="0" rtlCol="0" anchor="ctr"/>
          <a:lstStyle/>
          <a:p>
            <a:pPr algn="r" indent="0" marL="0">
              <a:buNone/>
            </a:pPr>
            <a:r>
              <a:rPr lang="tr-TR" sz="1050" i="1" dirty="0">
                <a:solidFill>
                  <a:srgbClr val="6B7679"/>
                </a:solidFill>
                <a:latin typeface="Calibri" pitchFamily="34" charset="0"/>
                <a:ea typeface="Calibri" pitchFamily="34" charset="-122"/>
                <a:cs typeface="Calibri" pitchFamily="34" charset="-120"/>
              </a:rPr>
              <a:t>başvuru</a:t>
            </a:r>
            <a:endParaRPr lang="tr-TR" sz="1050" dirty="0"/>
          </a:p>
        </p:txBody>
      </p:sp>
      <p:sp>
        <p:nvSpPr>
          <p:cNvPr id="8" name="Text 6"/>
          <p:cNvSpPr txBox="1"/>
          <p:nvPr/>
        </p:nvSpPr>
        <p:spPr>
          <a:xfrm>
            <a:off x="548640" y="2112264"/>
            <a:ext cx="795528" cy="329184"/>
          </a:xfrm>
          <a:prstGeom prst="rect">
            <a:avLst/>
          </a:prstGeom>
          <a:noFill/>
          <a:ln/>
        </p:spPr>
        <p:txBody>
          <a:bodyPr wrap="square" lIns="0" tIns="0" rIns="0" bIns="0" rtlCol="0" anchor="ctr"/>
          <a:lstStyle/>
          <a:p>
            <a:pPr algn="r" indent="0" marL="0">
              <a:buNone/>
            </a:pPr>
            <a:r>
              <a:rPr lang="tr-TR" sz="1050" i="1" dirty="0">
                <a:solidFill>
                  <a:srgbClr val="6B7679"/>
                </a:solidFill>
                <a:latin typeface="Calibri" pitchFamily="34" charset="0"/>
                <a:ea typeface="Calibri" pitchFamily="34" charset="-122"/>
                <a:cs typeface="Calibri" pitchFamily="34" charset="-120"/>
              </a:rPr>
              <a:t>çerçeve 0</a:t>
            </a:r>
            <a:endParaRPr lang="tr-TR" sz="1050" dirty="0"/>
          </a:p>
        </p:txBody>
      </p:sp>
      <p:sp>
        <p:nvSpPr>
          <p:cNvPr id="9" name="Text 7"/>
          <p:cNvSpPr txBox="1"/>
          <p:nvPr/>
        </p:nvSpPr>
        <p:spPr>
          <a:xfrm>
            <a:off x="548640" y="2441448"/>
            <a:ext cx="795528" cy="329184"/>
          </a:xfrm>
          <a:prstGeom prst="rect">
            <a:avLst/>
          </a:prstGeom>
          <a:noFill/>
          <a:ln/>
        </p:spPr>
        <p:txBody>
          <a:bodyPr wrap="square" lIns="0" tIns="0" rIns="0" bIns="0" rtlCol="0" anchor="ctr"/>
          <a:lstStyle/>
          <a:p>
            <a:pPr algn="r" indent="0" marL="0">
              <a:buNone/>
            </a:pPr>
            <a:r>
              <a:rPr lang="tr-TR" sz="1050" i="1" dirty="0">
                <a:solidFill>
                  <a:srgbClr val="6B7679"/>
                </a:solidFill>
                <a:latin typeface="Calibri" pitchFamily="34" charset="0"/>
                <a:ea typeface="Calibri" pitchFamily="34" charset="-122"/>
                <a:cs typeface="Calibri" pitchFamily="34" charset="-120"/>
              </a:rPr>
              <a:t>çerçeve 1</a:t>
            </a:r>
            <a:endParaRPr lang="tr-TR" sz="1050" dirty="0"/>
          </a:p>
        </p:txBody>
      </p:sp>
      <p:sp>
        <p:nvSpPr>
          <p:cNvPr id="10" name="Text 8"/>
          <p:cNvSpPr txBox="1"/>
          <p:nvPr/>
        </p:nvSpPr>
        <p:spPr>
          <a:xfrm>
            <a:off x="548640" y="2770632"/>
            <a:ext cx="795528" cy="329184"/>
          </a:xfrm>
          <a:prstGeom prst="rect">
            <a:avLst/>
          </a:prstGeom>
          <a:noFill/>
          <a:ln/>
        </p:spPr>
        <p:txBody>
          <a:bodyPr wrap="square" lIns="0" tIns="0" rIns="0" bIns="0" rtlCol="0" anchor="ctr"/>
          <a:lstStyle/>
          <a:p>
            <a:pPr algn="r" indent="0" marL="0">
              <a:buNone/>
            </a:pPr>
            <a:r>
              <a:rPr lang="tr-TR" sz="1050" i="1" dirty="0">
                <a:solidFill>
                  <a:srgbClr val="6B7679"/>
                </a:solidFill>
                <a:latin typeface="Calibri" pitchFamily="34" charset="0"/>
                <a:ea typeface="Calibri" pitchFamily="34" charset="-122"/>
                <a:cs typeface="Calibri" pitchFamily="34" charset="-120"/>
              </a:rPr>
              <a:t>çerçeve 2</a:t>
            </a:r>
            <a:endParaRPr lang="tr-TR" sz="1050" dirty="0"/>
          </a:p>
        </p:txBody>
      </p:sp>
      <p:sp>
        <p:nvSpPr>
          <p:cNvPr id="11" name="Text 9"/>
          <p:cNvSpPr txBox="1"/>
          <p:nvPr/>
        </p:nvSpPr>
        <p:spPr>
          <a:xfrm>
            <a:off x="548640" y="3099816"/>
            <a:ext cx="795528" cy="329184"/>
          </a:xfrm>
          <a:prstGeom prst="rect">
            <a:avLst/>
          </a:prstGeom>
          <a:noFill/>
          <a:ln/>
        </p:spPr>
        <p:txBody>
          <a:bodyPr wrap="square" lIns="0" tIns="0" rIns="0" bIns="0" rtlCol="0" anchor="ctr"/>
          <a:lstStyle/>
          <a:p>
            <a:pPr algn="r" indent="0" marL="0">
              <a:buNone/>
            </a:pPr>
            <a:r>
              <a:rPr lang="tr-TR" sz="1050" i="1" dirty="0">
                <a:solidFill>
                  <a:srgbClr val="6B7679"/>
                </a:solidFill>
                <a:latin typeface="Calibri" pitchFamily="34" charset="0"/>
                <a:ea typeface="Calibri" pitchFamily="34" charset="-122"/>
                <a:cs typeface="Calibri" pitchFamily="34" charset="-120"/>
              </a:rPr>
              <a:t>hata?</a:t>
            </a:r>
            <a:endParaRPr lang="tr-TR" sz="1050" dirty="0"/>
          </a:p>
        </p:txBody>
      </p:sp>
      <p:sp>
        <p:nvSpPr>
          <p:cNvPr id="12" name="Shape 10"/>
          <p:cNvSpPr/>
          <p:nvPr/>
        </p:nvSpPr>
        <p:spPr>
          <a:xfrm>
            <a:off x="1435608" y="1801368"/>
            <a:ext cx="528393" cy="292608"/>
          </a:xfrm>
          <a:prstGeom prst="roundRect">
            <a:avLst>
              <a:gd name="adj" fmla="val 15625"/>
            </a:avLst>
          </a:prstGeom>
          <a:solidFill>
            <a:srgbClr val="36454F"/>
          </a:solidFill>
          <a:ln/>
        </p:spPr>
      </p:sp>
      <p:sp>
        <p:nvSpPr>
          <p:cNvPr id="13" name="Text 11"/>
          <p:cNvSpPr txBox="1"/>
          <p:nvPr/>
        </p:nvSpPr>
        <p:spPr>
          <a:xfrm>
            <a:off x="1435608" y="1801368"/>
            <a:ext cx="528393" cy="29260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1</a:t>
            </a:r>
            <a:endParaRPr lang="tr-TR" sz="1300" dirty="0"/>
          </a:p>
        </p:txBody>
      </p:sp>
      <p:sp>
        <p:nvSpPr>
          <p:cNvPr id="14" name="Shape 12"/>
          <p:cNvSpPr/>
          <p:nvPr/>
        </p:nvSpPr>
        <p:spPr>
          <a:xfrm>
            <a:off x="1435608" y="2130552"/>
            <a:ext cx="528393" cy="292608"/>
          </a:xfrm>
          <a:prstGeom prst="roundRect">
            <a:avLst>
              <a:gd name="adj" fmla="val 15625"/>
            </a:avLst>
          </a:prstGeom>
          <a:solidFill>
            <a:srgbClr val="02C39A"/>
          </a:solidFill>
          <a:ln/>
        </p:spPr>
      </p:sp>
      <p:sp>
        <p:nvSpPr>
          <p:cNvPr id="15" name="Text 13"/>
          <p:cNvSpPr txBox="1"/>
          <p:nvPr/>
        </p:nvSpPr>
        <p:spPr>
          <a:xfrm>
            <a:off x="1435608" y="2130552"/>
            <a:ext cx="528393" cy="292608"/>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1</a:t>
            </a:r>
            <a:endParaRPr lang="tr-TR" sz="1300" dirty="0"/>
          </a:p>
        </p:txBody>
      </p:sp>
      <p:sp>
        <p:nvSpPr>
          <p:cNvPr id="16" name="Shape 14"/>
          <p:cNvSpPr/>
          <p:nvPr/>
        </p:nvSpPr>
        <p:spPr>
          <a:xfrm>
            <a:off x="1435608" y="2459736"/>
            <a:ext cx="528393" cy="292608"/>
          </a:xfrm>
          <a:prstGeom prst="roundRect">
            <a:avLst>
              <a:gd name="adj" fmla="val 15625"/>
            </a:avLst>
          </a:prstGeom>
          <a:solidFill>
            <a:srgbClr val="D7E9E6"/>
          </a:solidFill>
          <a:ln/>
        </p:spPr>
      </p:sp>
      <p:sp>
        <p:nvSpPr>
          <p:cNvPr id="17" name="Text 15"/>
          <p:cNvSpPr txBox="1"/>
          <p:nvPr/>
        </p:nvSpPr>
        <p:spPr>
          <a:xfrm>
            <a:off x="1435608" y="2459736"/>
            <a:ext cx="528393" cy="292608"/>
          </a:xfrm>
          <a:prstGeom prst="rect">
            <a:avLst/>
          </a:prstGeom>
          <a:noFill/>
          <a:ln/>
        </p:spPr>
        <p:txBody>
          <a:bodyPr wrap="square" lIns="38100" tIns="38100" rIns="38100" bIns="38100" rtlCol="0" anchor="ctr"/>
          <a:lstStyle/>
          <a:p>
            <a:pPr algn="ctr" indent="0" marL="0">
              <a:buNone/>
            </a:pPr>
            <a:endParaRPr lang="tr-TR" sz="1300" dirty="0"/>
          </a:p>
        </p:txBody>
      </p:sp>
      <p:sp>
        <p:nvSpPr>
          <p:cNvPr id="18" name="Shape 16"/>
          <p:cNvSpPr/>
          <p:nvPr/>
        </p:nvSpPr>
        <p:spPr>
          <a:xfrm>
            <a:off x="1435608" y="2788920"/>
            <a:ext cx="528393" cy="292608"/>
          </a:xfrm>
          <a:prstGeom prst="roundRect">
            <a:avLst>
              <a:gd name="adj" fmla="val 15625"/>
            </a:avLst>
          </a:prstGeom>
          <a:solidFill>
            <a:srgbClr val="D7E9E6"/>
          </a:solidFill>
          <a:ln/>
        </p:spPr>
      </p:sp>
      <p:sp>
        <p:nvSpPr>
          <p:cNvPr id="19" name="Text 17"/>
          <p:cNvSpPr txBox="1"/>
          <p:nvPr/>
        </p:nvSpPr>
        <p:spPr>
          <a:xfrm>
            <a:off x="1435608" y="2788920"/>
            <a:ext cx="528393" cy="292608"/>
          </a:xfrm>
          <a:prstGeom prst="rect">
            <a:avLst/>
          </a:prstGeom>
          <a:noFill/>
          <a:ln/>
        </p:spPr>
        <p:txBody>
          <a:bodyPr wrap="square" lIns="38100" tIns="38100" rIns="38100" bIns="38100" rtlCol="0" anchor="ctr"/>
          <a:lstStyle/>
          <a:p>
            <a:pPr algn="ctr" indent="0" marL="0">
              <a:buNone/>
            </a:pPr>
            <a:endParaRPr lang="tr-TR" sz="1300" dirty="0"/>
          </a:p>
        </p:txBody>
      </p:sp>
      <p:sp>
        <p:nvSpPr>
          <p:cNvPr id="20" name="Text 18"/>
          <p:cNvSpPr txBox="1"/>
          <p:nvPr/>
        </p:nvSpPr>
        <p:spPr>
          <a:xfrm>
            <a:off x="1417320" y="3099816"/>
            <a:ext cx="564969" cy="329184"/>
          </a:xfrm>
          <a:prstGeom prst="rect">
            <a:avLst/>
          </a:prstGeom>
          <a:noFill/>
          <a:ln/>
        </p:spPr>
        <p:txBody>
          <a:bodyPr wrap="square" lIns="0" tIns="0" rIns="0" bIns="0" rtlCol="0" anchor="ctr"/>
          <a:lstStyle/>
          <a:p>
            <a:pPr algn="ctr" indent="0" marL="0">
              <a:buNone/>
            </a:pPr>
            <a:r>
              <a:rPr lang="tr-TR" sz="1300" b="1" dirty="0">
                <a:solidFill>
                  <a:srgbClr val="B5453A"/>
                </a:solidFill>
                <a:latin typeface="Calibri" pitchFamily="34" charset="0"/>
                <a:ea typeface="Calibri" pitchFamily="34" charset="-122"/>
                <a:cs typeface="Calibri" pitchFamily="34" charset="-120"/>
              </a:rPr>
              <a:t>F</a:t>
            </a:r>
            <a:endParaRPr lang="tr-TR" sz="1300" dirty="0"/>
          </a:p>
        </p:txBody>
      </p:sp>
      <p:sp>
        <p:nvSpPr>
          <p:cNvPr id="21" name="Shape 19"/>
          <p:cNvSpPr/>
          <p:nvPr/>
        </p:nvSpPr>
        <p:spPr>
          <a:xfrm>
            <a:off x="2000577" y="1801368"/>
            <a:ext cx="528393" cy="292608"/>
          </a:xfrm>
          <a:prstGeom prst="roundRect">
            <a:avLst>
              <a:gd name="adj" fmla="val 15625"/>
            </a:avLst>
          </a:prstGeom>
          <a:solidFill>
            <a:srgbClr val="36454F"/>
          </a:solidFill>
          <a:ln/>
        </p:spPr>
      </p:sp>
      <p:sp>
        <p:nvSpPr>
          <p:cNvPr id="22" name="Text 20"/>
          <p:cNvSpPr txBox="1"/>
          <p:nvPr/>
        </p:nvSpPr>
        <p:spPr>
          <a:xfrm>
            <a:off x="2000577" y="1801368"/>
            <a:ext cx="528393" cy="29260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2</a:t>
            </a:r>
            <a:endParaRPr lang="tr-TR" sz="1300" dirty="0"/>
          </a:p>
        </p:txBody>
      </p:sp>
      <p:sp>
        <p:nvSpPr>
          <p:cNvPr id="23" name="Shape 21"/>
          <p:cNvSpPr/>
          <p:nvPr/>
        </p:nvSpPr>
        <p:spPr>
          <a:xfrm>
            <a:off x="2000577" y="2130552"/>
            <a:ext cx="528393" cy="292608"/>
          </a:xfrm>
          <a:prstGeom prst="roundRect">
            <a:avLst>
              <a:gd name="adj" fmla="val 15625"/>
            </a:avLst>
          </a:prstGeom>
          <a:solidFill>
            <a:srgbClr val="D7E9E6"/>
          </a:solidFill>
          <a:ln/>
        </p:spPr>
      </p:sp>
      <p:sp>
        <p:nvSpPr>
          <p:cNvPr id="24" name="Text 22"/>
          <p:cNvSpPr txBox="1"/>
          <p:nvPr/>
        </p:nvSpPr>
        <p:spPr>
          <a:xfrm>
            <a:off x="2000577" y="2130552"/>
            <a:ext cx="528393"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1</a:t>
            </a:r>
            <a:endParaRPr lang="tr-TR" sz="1300" dirty="0"/>
          </a:p>
        </p:txBody>
      </p:sp>
      <p:sp>
        <p:nvSpPr>
          <p:cNvPr id="25" name="Shape 23"/>
          <p:cNvSpPr/>
          <p:nvPr/>
        </p:nvSpPr>
        <p:spPr>
          <a:xfrm>
            <a:off x="2000577" y="2459736"/>
            <a:ext cx="528393" cy="292608"/>
          </a:xfrm>
          <a:prstGeom prst="roundRect">
            <a:avLst>
              <a:gd name="adj" fmla="val 15625"/>
            </a:avLst>
          </a:prstGeom>
          <a:solidFill>
            <a:srgbClr val="02C39A"/>
          </a:solidFill>
          <a:ln/>
        </p:spPr>
      </p:sp>
      <p:sp>
        <p:nvSpPr>
          <p:cNvPr id="26" name="Text 24"/>
          <p:cNvSpPr txBox="1"/>
          <p:nvPr/>
        </p:nvSpPr>
        <p:spPr>
          <a:xfrm>
            <a:off x="2000577" y="2459736"/>
            <a:ext cx="528393" cy="292608"/>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2</a:t>
            </a:r>
            <a:endParaRPr lang="tr-TR" sz="1300" dirty="0"/>
          </a:p>
        </p:txBody>
      </p:sp>
      <p:sp>
        <p:nvSpPr>
          <p:cNvPr id="27" name="Shape 25"/>
          <p:cNvSpPr/>
          <p:nvPr/>
        </p:nvSpPr>
        <p:spPr>
          <a:xfrm>
            <a:off x="2000577" y="2788920"/>
            <a:ext cx="528393" cy="292608"/>
          </a:xfrm>
          <a:prstGeom prst="roundRect">
            <a:avLst>
              <a:gd name="adj" fmla="val 15625"/>
            </a:avLst>
          </a:prstGeom>
          <a:solidFill>
            <a:srgbClr val="D7E9E6"/>
          </a:solidFill>
          <a:ln/>
        </p:spPr>
      </p:sp>
      <p:sp>
        <p:nvSpPr>
          <p:cNvPr id="28" name="Text 26"/>
          <p:cNvSpPr txBox="1"/>
          <p:nvPr/>
        </p:nvSpPr>
        <p:spPr>
          <a:xfrm>
            <a:off x="2000577" y="2788920"/>
            <a:ext cx="528393" cy="292608"/>
          </a:xfrm>
          <a:prstGeom prst="rect">
            <a:avLst/>
          </a:prstGeom>
          <a:noFill/>
          <a:ln/>
        </p:spPr>
        <p:txBody>
          <a:bodyPr wrap="square" lIns="38100" tIns="38100" rIns="38100" bIns="38100" rtlCol="0" anchor="ctr"/>
          <a:lstStyle/>
          <a:p>
            <a:pPr algn="ctr" indent="0" marL="0">
              <a:buNone/>
            </a:pPr>
            <a:endParaRPr lang="tr-TR" sz="1300" dirty="0"/>
          </a:p>
        </p:txBody>
      </p:sp>
      <p:sp>
        <p:nvSpPr>
          <p:cNvPr id="29" name="Text 27"/>
          <p:cNvSpPr txBox="1"/>
          <p:nvPr/>
        </p:nvSpPr>
        <p:spPr>
          <a:xfrm>
            <a:off x="1982289" y="3099816"/>
            <a:ext cx="564969" cy="329184"/>
          </a:xfrm>
          <a:prstGeom prst="rect">
            <a:avLst/>
          </a:prstGeom>
          <a:noFill/>
          <a:ln/>
        </p:spPr>
        <p:txBody>
          <a:bodyPr wrap="square" lIns="0" tIns="0" rIns="0" bIns="0" rtlCol="0" anchor="ctr"/>
          <a:lstStyle/>
          <a:p>
            <a:pPr algn="ctr" indent="0" marL="0">
              <a:buNone/>
            </a:pPr>
            <a:r>
              <a:rPr lang="tr-TR" sz="1300" b="1" dirty="0">
                <a:solidFill>
                  <a:srgbClr val="B5453A"/>
                </a:solidFill>
                <a:latin typeface="Calibri" pitchFamily="34" charset="0"/>
                <a:ea typeface="Calibri" pitchFamily="34" charset="-122"/>
                <a:cs typeface="Calibri" pitchFamily="34" charset="-120"/>
              </a:rPr>
              <a:t>F</a:t>
            </a:r>
            <a:endParaRPr lang="tr-TR" sz="1300" dirty="0"/>
          </a:p>
        </p:txBody>
      </p:sp>
      <p:sp>
        <p:nvSpPr>
          <p:cNvPr id="30" name="Shape 28"/>
          <p:cNvSpPr/>
          <p:nvPr/>
        </p:nvSpPr>
        <p:spPr>
          <a:xfrm>
            <a:off x="2565545" y="1801368"/>
            <a:ext cx="528393" cy="292608"/>
          </a:xfrm>
          <a:prstGeom prst="roundRect">
            <a:avLst>
              <a:gd name="adj" fmla="val 15625"/>
            </a:avLst>
          </a:prstGeom>
          <a:solidFill>
            <a:srgbClr val="36454F"/>
          </a:solidFill>
          <a:ln/>
        </p:spPr>
      </p:sp>
      <p:sp>
        <p:nvSpPr>
          <p:cNvPr id="31" name="Text 29"/>
          <p:cNvSpPr txBox="1"/>
          <p:nvPr/>
        </p:nvSpPr>
        <p:spPr>
          <a:xfrm>
            <a:off x="2565545" y="1801368"/>
            <a:ext cx="528393" cy="29260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0</a:t>
            </a:r>
            <a:endParaRPr lang="tr-TR" sz="1300" dirty="0"/>
          </a:p>
        </p:txBody>
      </p:sp>
      <p:sp>
        <p:nvSpPr>
          <p:cNvPr id="32" name="Shape 30"/>
          <p:cNvSpPr/>
          <p:nvPr/>
        </p:nvSpPr>
        <p:spPr>
          <a:xfrm>
            <a:off x="2565545" y="2130552"/>
            <a:ext cx="528393" cy="292608"/>
          </a:xfrm>
          <a:prstGeom prst="roundRect">
            <a:avLst>
              <a:gd name="adj" fmla="val 15625"/>
            </a:avLst>
          </a:prstGeom>
          <a:solidFill>
            <a:srgbClr val="D7E9E6"/>
          </a:solidFill>
          <a:ln/>
        </p:spPr>
      </p:sp>
      <p:sp>
        <p:nvSpPr>
          <p:cNvPr id="33" name="Text 31"/>
          <p:cNvSpPr txBox="1"/>
          <p:nvPr/>
        </p:nvSpPr>
        <p:spPr>
          <a:xfrm>
            <a:off x="2565545" y="2130552"/>
            <a:ext cx="528393"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1</a:t>
            </a:r>
            <a:endParaRPr lang="tr-TR" sz="1300" dirty="0"/>
          </a:p>
        </p:txBody>
      </p:sp>
      <p:sp>
        <p:nvSpPr>
          <p:cNvPr id="34" name="Shape 32"/>
          <p:cNvSpPr/>
          <p:nvPr/>
        </p:nvSpPr>
        <p:spPr>
          <a:xfrm>
            <a:off x="2565545" y="2459736"/>
            <a:ext cx="528393" cy="292608"/>
          </a:xfrm>
          <a:prstGeom prst="roundRect">
            <a:avLst>
              <a:gd name="adj" fmla="val 15625"/>
            </a:avLst>
          </a:prstGeom>
          <a:solidFill>
            <a:srgbClr val="D7E9E6"/>
          </a:solidFill>
          <a:ln/>
        </p:spPr>
      </p:sp>
      <p:sp>
        <p:nvSpPr>
          <p:cNvPr id="35" name="Text 33"/>
          <p:cNvSpPr txBox="1"/>
          <p:nvPr/>
        </p:nvSpPr>
        <p:spPr>
          <a:xfrm>
            <a:off x="2565545" y="2459736"/>
            <a:ext cx="528393"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2</a:t>
            </a:r>
            <a:endParaRPr lang="tr-TR" sz="1300" dirty="0"/>
          </a:p>
        </p:txBody>
      </p:sp>
      <p:sp>
        <p:nvSpPr>
          <p:cNvPr id="36" name="Shape 34"/>
          <p:cNvSpPr/>
          <p:nvPr/>
        </p:nvSpPr>
        <p:spPr>
          <a:xfrm>
            <a:off x="2565545" y="2788920"/>
            <a:ext cx="528393" cy="292608"/>
          </a:xfrm>
          <a:prstGeom prst="roundRect">
            <a:avLst>
              <a:gd name="adj" fmla="val 15625"/>
            </a:avLst>
          </a:prstGeom>
          <a:solidFill>
            <a:srgbClr val="02C39A"/>
          </a:solidFill>
          <a:ln/>
        </p:spPr>
      </p:sp>
      <p:sp>
        <p:nvSpPr>
          <p:cNvPr id="37" name="Text 35"/>
          <p:cNvSpPr txBox="1"/>
          <p:nvPr/>
        </p:nvSpPr>
        <p:spPr>
          <a:xfrm>
            <a:off x="2565545" y="2788920"/>
            <a:ext cx="528393" cy="292608"/>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0</a:t>
            </a:r>
            <a:endParaRPr lang="tr-TR" sz="1300" dirty="0"/>
          </a:p>
        </p:txBody>
      </p:sp>
      <p:sp>
        <p:nvSpPr>
          <p:cNvPr id="38" name="Text 36"/>
          <p:cNvSpPr txBox="1"/>
          <p:nvPr/>
        </p:nvSpPr>
        <p:spPr>
          <a:xfrm>
            <a:off x="2547257" y="3099816"/>
            <a:ext cx="564969" cy="329184"/>
          </a:xfrm>
          <a:prstGeom prst="rect">
            <a:avLst/>
          </a:prstGeom>
          <a:noFill/>
          <a:ln/>
        </p:spPr>
        <p:txBody>
          <a:bodyPr wrap="square" lIns="0" tIns="0" rIns="0" bIns="0" rtlCol="0" anchor="ctr"/>
          <a:lstStyle/>
          <a:p>
            <a:pPr algn="ctr" indent="0" marL="0">
              <a:buNone/>
            </a:pPr>
            <a:r>
              <a:rPr lang="tr-TR" sz="1300" b="1" dirty="0">
                <a:solidFill>
                  <a:srgbClr val="B5453A"/>
                </a:solidFill>
                <a:latin typeface="Calibri" pitchFamily="34" charset="0"/>
                <a:ea typeface="Calibri" pitchFamily="34" charset="-122"/>
                <a:cs typeface="Calibri" pitchFamily="34" charset="-120"/>
              </a:rPr>
              <a:t>F</a:t>
            </a:r>
            <a:endParaRPr lang="tr-TR" sz="1300" dirty="0"/>
          </a:p>
        </p:txBody>
      </p:sp>
      <p:sp>
        <p:nvSpPr>
          <p:cNvPr id="39" name="Shape 37"/>
          <p:cNvSpPr/>
          <p:nvPr/>
        </p:nvSpPr>
        <p:spPr>
          <a:xfrm>
            <a:off x="3130514" y="1801368"/>
            <a:ext cx="528393" cy="292608"/>
          </a:xfrm>
          <a:prstGeom prst="roundRect">
            <a:avLst>
              <a:gd name="adj" fmla="val 15625"/>
            </a:avLst>
          </a:prstGeom>
          <a:solidFill>
            <a:srgbClr val="36454F"/>
          </a:solidFill>
          <a:ln/>
        </p:spPr>
      </p:sp>
      <p:sp>
        <p:nvSpPr>
          <p:cNvPr id="40" name="Text 38"/>
          <p:cNvSpPr txBox="1"/>
          <p:nvPr/>
        </p:nvSpPr>
        <p:spPr>
          <a:xfrm>
            <a:off x="3130514" y="1801368"/>
            <a:ext cx="528393" cy="29260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4</a:t>
            </a:r>
            <a:endParaRPr lang="tr-TR" sz="1300" dirty="0"/>
          </a:p>
        </p:txBody>
      </p:sp>
      <p:sp>
        <p:nvSpPr>
          <p:cNvPr id="41" name="Shape 39"/>
          <p:cNvSpPr/>
          <p:nvPr/>
        </p:nvSpPr>
        <p:spPr>
          <a:xfrm>
            <a:off x="3130514" y="2130552"/>
            <a:ext cx="528393" cy="292608"/>
          </a:xfrm>
          <a:prstGeom prst="roundRect">
            <a:avLst>
              <a:gd name="adj" fmla="val 15625"/>
            </a:avLst>
          </a:prstGeom>
          <a:solidFill>
            <a:srgbClr val="D7E9E6"/>
          </a:solidFill>
          <a:ln/>
        </p:spPr>
      </p:sp>
      <p:sp>
        <p:nvSpPr>
          <p:cNvPr id="42" name="Text 40"/>
          <p:cNvSpPr txBox="1"/>
          <p:nvPr/>
        </p:nvSpPr>
        <p:spPr>
          <a:xfrm>
            <a:off x="3130514" y="2130552"/>
            <a:ext cx="528393"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1</a:t>
            </a:r>
            <a:endParaRPr lang="tr-TR" sz="1300" dirty="0"/>
          </a:p>
        </p:txBody>
      </p:sp>
      <p:sp>
        <p:nvSpPr>
          <p:cNvPr id="43" name="Shape 41"/>
          <p:cNvSpPr/>
          <p:nvPr/>
        </p:nvSpPr>
        <p:spPr>
          <a:xfrm>
            <a:off x="3130514" y="2459736"/>
            <a:ext cx="528393" cy="292608"/>
          </a:xfrm>
          <a:prstGeom prst="roundRect">
            <a:avLst>
              <a:gd name="adj" fmla="val 15625"/>
            </a:avLst>
          </a:prstGeom>
          <a:solidFill>
            <a:srgbClr val="D7E9E6"/>
          </a:solidFill>
          <a:ln/>
        </p:spPr>
      </p:sp>
      <p:sp>
        <p:nvSpPr>
          <p:cNvPr id="44" name="Text 42"/>
          <p:cNvSpPr txBox="1"/>
          <p:nvPr/>
        </p:nvSpPr>
        <p:spPr>
          <a:xfrm>
            <a:off x="3130514" y="2459736"/>
            <a:ext cx="528393"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2</a:t>
            </a:r>
            <a:endParaRPr lang="tr-TR" sz="1300" dirty="0"/>
          </a:p>
        </p:txBody>
      </p:sp>
      <p:sp>
        <p:nvSpPr>
          <p:cNvPr id="45" name="Shape 43"/>
          <p:cNvSpPr/>
          <p:nvPr/>
        </p:nvSpPr>
        <p:spPr>
          <a:xfrm>
            <a:off x="3130514" y="2788920"/>
            <a:ext cx="528393" cy="292608"/>
          </a:xfrm>
          <a:prstGeom prst="roundRect">
            <a:avLst>
              <a:gd name="adj" fmla="val 15625"/>
            </a:avLst>
          </a:prstGeom>
          <a:solidFill>
            <a:srgbClr val="02C39A"/>
          </a:solidFill>
          <a:ln/>
        </p:spPr>
      </p:sp>
      <p:sp>
        <p:nvSpPr>
          <p:cNvPr id="46" name="Text 44"/>
          <p:cNvSpPr txBox="1"/>
          <p:nvPr/>
        </p:nvSpPr>
        <p:spPr>
          <a:xfrm>
            <a:off x="3130514" y="2788920"/>
            <a:ext cx="528393" cy="292608"/>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4</a:t>
            </a:r>
            <a:endParaRPr lang="tr-TR" sz="1300" dirty="0"/>
          </a:p>
        </p:txBody>
      </p:sp>
      <p:sp>
        <p:nvSpPr>
          <p:cNvPr id="47" name="Text 45"/>
          <p:cNvSpPr txBox="1"/>
          <p:nvPr/>
        </p:nvSpPr>
        <p:spPr>
          <a:xfrm>
            <a:off x="3112226" y="3099816"/>
            <a:ext cx="564969" cy="329184"/>
          </a:xfrm>
          <a:prstGeom prst="rect">
            <a:avLst/>
          </a:prstGeom>
          <a:noFill/>
          <a:ln/>
        </p:spPr>
        <p:txBody>
          <a:bodyPr wrap="square" lIns="0" tIns="0" rIns="0" bIns="0" rtlCol="0" anchor="ctr"/>
          <a:lstStyle/>
          <a:p>
            <a:pPr algn="ctr" indent="0" marL="0">
              <a:buNone/>
            </a:pPr>
            <a:r>
              <a:rPr lang="tr-TR" sz="1300" b="1" dirty="0">
                <a:solidFill>
                  <a:srgbClr val="B5453A"/>
                </a:solidFill>
                <a:latin typeface="Calibri" pitchFamily="34" charset="0"/>
                <a:ea typeface="Calibri" pitchFamily="34" charset="-122"/>
                <a:cs typeface="Calibri" pitchFamily="34" charset="-120"/>
              </a:rPr>
              <a:t>F</a:t>
            </a:r>
            <a:endParaRPr lang="tr-TR" sz="1300" dirty="0"/>
          </a:p>
        </p:txBody>
      </p:sp>
      <p:sp>
        <p:nvSpPr>
          <p:cNvPr id="48" name="Shape 46"/>
          <p:cNvSpPr/>
          <p:nvPr/>
        </p:nvSpPr>
        <p:spPr>
          <a:xfrm>
            <a:off x="3695482" y="1801368"/>
            <a:ext cx="528393" cy="292608"/>
          </a:xfrm>
          <a:prstGeom prst="roundRect">
            <a:avLst>
              <a:gd name="adj" fmla="val 15625"/>
            </a:avLst>
          </a:prstGeom>
          <a:solidFill>
            <a:srgbClr val="36454F"/>
          </a:solidFill>
          <a:ln/>
        </p:spPr>
      </p:sp>
      <p:sp>
        <p:nvSpPr>
          <p:cNvPr id="49" name="Text 47"/>
          <p:cNvSpPr txBox="1"/>
          <p:nvPr/>
        </p:nvSpPr>
        <p:spPr>
          <a:xfrm>
            <a:off x="3695482" y="1801368"/>
            <a:ext cx="528393" cy="29260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2</a:t>
            </a:r>
            <a:endParaRPr lang="tr-TR" sz="1300" dirty="0"/>
          </a:p>
        </p:txBody>
      </p:sp>
      <p:sp>
        <p:nvSpPr>
          <p:cNvPr id="50" name="Shape 48"/>
          <p:cNvSpPr/>
          <p:nvPr/>
        </p:nvSpPr>
        <p:spPr>
          <a:xfrm>
            <a:off x="3695482" y="2130552"/>
            <a:ext cx="528393" cy="292608"/>
          </a:xfrm>
          <a:prstGeom prst="roundRect">
            <a:avLst>
              <a:gd name="adj" fmla="val 15625"/>
            </a:avLst>
          </a:prstGeom>
          <a:solidFill>
            <a:srgbClr val="F2F2F2"/>
          </a:solidFill>
          <a:ln/>
        </p:spPr>
      </p:sp>
      <p:sp>
        <p:nvSpPr>
          <p:cNvPr id="51" name="Text 49"/>
          <p:cNvSpPr txBox="1"/>
          <p:nvPr/>
        </p:nvSpPr>
        <p:spPr>
          <a:xfrm>
            <a:off x="3695482" y="2130552"/>
            <a:ext cx="528393" cy="292608"/>
          </a:xfrm>
          <a:prstGeom prst="rect">
            <a:avLst/>
          </a:prstGeom>
          <a:noFill/>
          <a:ln/>
        </p:spPr>
        <p:txBody>
          <a:bodyPr wrap="square" lIns="38100" tIns="38100" rIns="38100" bIns="38100" rtlCol="0" anchor="ctr"/>
          <a:lstStyle/>
          <a:p>
            <a:pPr algn="ctr" indent="0" marL="0">
              <a:buNone/>
            </a:pPr>
            <a:r>
              <a:rPr lang="tr-TR" sz="1300" dirty="0">
                <a:solidFill>
                  <a:srgbClr val="9AA5A8"/>
                </a:solidFill>
                <a:latin typeface="Calibri" pitchFamily="34" charset="0"/>
                <a:ea typeface="Calibri" pitchFamily="34" charset="-122"/>
                <a:cs typeface="Calibri" pitchFamily="34" charset="-120"/>
              </a:rPr>
              <a:t>1</a:t>
            </a:r>
            <a:endParaRPr lang="tr-TR" sz="1300" dirty="0"/>
          </a:p>
        </p:txBody>
      </p:sp>
      <p:sp>
        <p:nvSpPr>
          <p:cNvPr id="52" name="Shape 50"/>
          <p:cNvSpPr/>
          <p:nvPr/>
        </p:nvSpPr>
        <p:spPr>
          <a:xfrm>
            <a:off x="3695482" y="2459736"/>
            <a:ext cx="528393" cy="292608"/>
          </a:xfrm>
          <a:prstGeom prst="roundRect">
            <a:avLst>
              <a:gd name="adj" fmla="val 15625"/>
            </a:avLst>
          </a:prstGeom>
          <a:solidFill>
            <a:srgbClr val="F2F2F2"/>
          </a:solidFill>
          <a:ln/>
        </p:spPr>
      </p:sp>
      <p:sp>
        <p:nvSpPr>
          <p:cNvPr id="53" name="Text 51"/>
          <p:cNvSpPr txBox="1"/>
          <p:nvPr/>
        </p:nvSpPr>
        <p:spPr>
          <a:xfrm>
            <a:off x="3695482" y="2459736"/>
            <a:ext cx="528393" cy="292608"/>
          </a:xfrm>
          <a:prstGeom prst="rect">
            <a:avLst/>
          </a:prstGeom>
          <a:noFill/>
          <a:ln/>
        </p:spPr>
        <p:txBody>
          <a:bodyPr wrap="square" lIns="38100" tIns="38100" rIns="38100" bIns="38100" rtlCol="0" anchor="ctr"/>
          <a:lstStyle/>
          <a:p>
            <a:pPr algn="ctr" indent="0" marL="0">
              <a:buNone/>
            </a:pPr>
            <a:r>
              <a:rPr lang="tr-TR" sz="1300" dirty="0">
                <a:solidFill>
                  <a:srgbClr val="9AA5A8"/>
                </a:solidFill>
                <a:latin typeface="Calibri" pitchFamily="34" charset="0"/>
                <a:ea typeface="Calibri" pitchFamily="34" charset="-122"/>
                <a:cs typeface="Calibri" pitchFamily="34" charset="-120"/>
              </a:rPr>
              <a:t>2</a:t>
            </a:r>
            <a:endParaRPr lang="tr-TR" sz="1300" dirty="0"/>
          </a:p>
        </p:txBody>
      </p:sp>
      <p:sp>
        <p:nvSpPr>
          <p:cNvPr id="54" name="Shape 52"/>
          <p:cNvSpPr/>
          <p:nvPr/>
        </p:nvSpPr>
        <p:spPr>
          <a:xfrm>
            <a:off x="3695482" y="2788920"/>
            <a:ext cx="528393" cy="292608"/>
          </a:xfrm>
          <a:prstGeom prst="roundRect">
            <a:avLst>
              <a:gd name="adj" fmla="val 15625"/>
            </a:avLst>
          </a:prstGeom>
          <a:solidFill>
            <a:srgbClr val="F2F2F2"/>
          </a:solidFill>
          <a:ln/>
        </p:spPr>
      </p:sp>
      <p:sp>
        <p:nvSpPr>
          <p:cNvPr id="55" name="Text 53"/>
          <p:cNvSpPr txBox="1"/>
          <p:nvPr/>
        </p:nvSpPr>
        <p:spPr>
          <a:xfrm>
            <a:off x="3695482" y="2788920"/>
            <a:ext cx="528393" cy="292608"/>
          </a:xfrm>
          <a:prstGeom prst="rect">
            <a:avLst/>
          </a:prstGeom>
          <a:noFill/>
          <a:ln/>
        </p:spPr>
        <p:txBody>
          <a:bodyPr wrap="square" lIns="38100" tIns="38100" rIns="38100" bIns="38100" rtlCol="0" anchor="ctr"/>
          <a:lstStyle/>
          <a:p>
            <a:pPr algn="ctr" indent="0" marL="0">
              <a:buNone/>
            </a:pPr>
            <a:r>
              <a:rPr lang="tr-TR" sz="1300" dirty="0">
                <a:solidFill>
                  <a:srgbClr val="9AA5A8"/>
                </a:solidFill>
                <a:latin typeface="Calibri" pitchFamily="34" charset="0"/>
                <a:ea typeface="Calibri" pitchFamily="34" charset="-122"/>
                <a:cs typeface="Calibri" pitchFamily="34" charset="-120"/>
              </a:rPr>
              <a:t>4</a:t>
            </a:r>
            <a:endParaRPr lang="tr-TR" sz="1300" dirty="0"/>
          </a:p>
        </p:txBody>
      </p:sp>
      <p:sp>
        <p:nvSpPr>
          <p:cNvPr id="56" name="Text 54"/>
          <p:cNvSpPr txBox="1"/>
          <p:nvPr/>
        </p:nvSpPr>
        <p:spPr>
          <a:xfrm>
            <a:off x="3677194" y="3099816"/>
            <a:ext cx="564969" cy="329184"/>
          </a:xfrm>
          <a:prstGeom prst="rect">
            <a:avLst/>
          </a:prstGeom>
          <a:noFill/>
          <a:ln/>
        </p:spPr>
        <p:txBody>
          <a:bodyPr wrap="square" lIns="0" tIns="0" rIns="0" bIns="0" rtlCol="0" anchor="ctr"/>
          <a:lstStyle/>
          <a:p>
            <a:pPr algn="ctr" indent="0" marL="0">
              <a:buNone/>
            </a:pPr>
            <a:endParaRPr lang="tr-TR" sz="1300" dirty="0"/>
          </a:p>
        </p:txBody>
      </p:sp>
      <p:sp>
        <p:nvSpPr>
          <p:cNvPr id="57" name="Shape 55"/>
          <p:cNvSpPr/>
          <p:nvPr/>
        </p:nvSpPr>
        <p:spPr>
          <a:xfrm>
            <a:off x="4260451" y="1801368"/>
            <a:ext cx="528393" cy="292608"/>
          </a:xfrm>
          <a:prstGeom prst="roundRect">
            <a:avLst>
              <a:gd name="adj" fmla="val 15625"/>
            </a:avLst>
          </a:prstGeom>
          <a:solidFill>
            <a:srgbClr val="36454F"/>
          </a:solidFill>
          <a:ln/>
        </p:spPr>
      </p:sp>
      <p:sp>
        <p:nvSpPr>
          <p:cNvPr id="58" name="Text 56"/>
          <p:cNvSpPr txBox="1"/>
          <p:nvPr/>
        </p:nvSpPr>
        <p:spPr>
          <a:xfrm>
            <a:off x="4260451" y="1801368"/>
            <a:ext cx="528393" cy="29260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3</a:t>
            </a:r>
            <a:endParaRPr lang="tr-TR" sz="1300" dirty="0"/>
          </a:p>
        </p:txBody>
      </p:sp>
      <p:sp>
        <p:nvSpPr>
          <p:cNvPr id="59" name="Shape 57"/>
          <p:cNvSpPr/>
          <p:nvPr/>
        </p:nvSpPr>
        <p:spPr>
          <a:xfrm>
            <a:off x="4260451" y="2130552"/>
            <a:ext cx="528393" cy="292608"/>
          </a:xfrm>
          <a:prstGeom prst="roundRect">
            <a:avLst>
              <a:gd name="adj" fmla="val 15625"/>
            </a:avLst>
          </a:prstGeom>
          <a:solidFill>
            <a:srgbClr val="D7E9E6"/>
          </a:solidFill>
          <a:ln/>
        </p:spPr>
      </p:sp>
      <p:sp>
        <p:nvSpPr>
          <p:cNvPr id="60" name="Text 58"/>
          <p:cNvSpPr txBox="1"/>
          <p:nvPr/>
        </p:nvSpPr>
        <p:spPr>
          <a:xfrm>
            <a:off x="4260451" y="2130552"/>
            <a:ext cx="528393"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1</a:t>
            </a:r>
            <a:endParaRPr lang="tr-TR" sz="1300" dirty="0"/>
          </a:p>
        </p:txBody>
      </p:sp>
      <p:sp>
        <p:nvSpPr>
          <p:cNvPr id="61" name="Shape 59"/>
          <p:cNvSpPr/>
          <p:nvPr/>
        </p:nvSpPr>
        <p:spPr>
          <a:xfrm>
            <a:off x="4260451" y="2459736"/>
            <a:ext cx="528393" cy="292608"/>
          </a:xfrm>
          <a:prstGeom prst="roundRect">
            <a:avLst>
              <a:gd name="adj" fmla="val 15625"/>
            </a:avLst>
          </a:prstGeom>
          <a:solidFill>
            <a:srgbClr val="D7E9E6"/>
          </a:solidFill>
          <a:ln/>
        </p:spPr>
      </p:sp>
      <p:sp>
        <p:nvSpPr>
          <p:cNvPr id="62" name="Text 60"/>
          <p:cNvSpPr txBox="1"/>
          <p:nvPr/>
        </p:nvSpPr>
        <p:spPr>
          <a:xfrm>
            <a:off x="4260451" y="2459736"/>
            <a:ext cx="528393"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2</a:t>
            </a:r>
            <a:endParaRPr lang="tr-TR" sz="1300" dirty="0"/>
          </a:p>
        </p:txBody>
      </p:sp>
      <p:sp>
        <p:nvSpPr>
          <p:cNvPr id="63" name="Shape 61"/>
          <p:cNvSpPr/>
          <p:nvPr/>
        </p:nvSpPr>
        <p:spPr>
          <a:xfrm>
            <a:off x="4260451" y="2788920"/>
            <a:ext cx="528393" cy="292608"/>
          </a:xfrm>
          <a:prstGeom prst="roundRect">
            <a:avLst>
              <a:gd name="adj" fmla="val 15625"/>
            </a:avLst>
          </a:prstGeom>
          <a:solidFill>
            <a:srgbClr val="02C39A"/>
          </a:solidFill>
          <a:ln/>
        </p:spPr>
      </p:sp>
      <p:sp>
        <p:nvSpPr>
          <p:cNvPr id="64" name="Text 62"/>
          <p:cNvSpPr txBox="1"/>
          <p:nvPr/>
        </p:nvSpPr>
        <p:spPr>
          <a:xfrm>
            <a:off x="4260451" y="2788920"/>
            <a:ext cx="528393" cy="292608"/>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3</a:t>
            </a:r>
            <a:endParaRPr lang="tr-TR" sz="1300" dirty="0"/>
          </a:p>
        </p:txBody>
      </p:sp>
      <p:sp>
        <p:nvSpPr>
          <p:cNvPr id="65" name="Text 63"/>
          <p:cNvSpPr txBox="1"/>
          <p:nvPr/>
        </p:nvSpPr>
        <p:spPr>
          <a:xfrm>
            <a:off x="4242163" y="3099816"/>
            <a:ext cx="564969" cy="329184"/>
          </a:xfrm>
          <a:prstGeom prst="rect">
            <a:avLst/>
          </a:prstGeom>
          <a:noFill/>
          <a:ln/>
        </p:spPr>
        <p:txBody>
          <a:bodyPr wrap="square" lIns="0" tIns="0" rIns="0" bIns="0" rtlCol="0" anchor="ctr"/>
          <a:lstStyle/>
          <a:p>
            <a:pPr algn="ctr" indent="0" marL="0">
              <a:buNone/>
            </a:pPr>
            <a:r>
              <a:rPr lang="tr-TR" sz="1300" b="1" dirty="0">
                <a:solidFill>
                  <a:srgbClr val="B5453A"/>
                </a:solidFill>
                <a:latin typeface="Calibri" pitchFamily="34" charset="0"/>
                <a:ea typeface="Calibri" pitchFamily="34" charset="-122"/>
                <a:cs typeface="Calibri" pitchFamily="34" charset="-120"/>
              </a:rPr>
              <a:t>F</a:t>
            </a:r>
            <a:endParaRPr lang="tr-TR" sz="1300" dirty="0"/>
          </a:p>
        </p:txBody>
      </p:sp>
      <p:sp>
        <p:nvSpPr>
          <p:cNvPr id="66" name="Shape 64"/>
          <p:cNvSpPr/>
          <p:nvPr/>
        </p:nvSpPr>
        <p:spPr>
          <a:xfrm>
            <a:off x="4825419" y="1801368"/>
            <a:ext cx="528393" cy="292608"/>
          </a:xfrm>
          <a:prstGeom prst="roundRect">
            <a:avLst>
              <a:gd name="adj" fmla="val 15625"/>
            </a:avLst>
          </a:prstGeom>
          <a:solidFill>
            <a:srgbClr val="36454F"/>
          </a:solidFill>
          <a:ln/>
        </p:spPr>
      </p:sp>
      <p:sp>
        <p:nvSpPr>
          <p:cNvPr id="67" name="Text 65"/>
          <p:cNvSpPr txBox="1"/>
          <p:nvPr/>
        </p:nvSpPr>
        <p:spPr>
          <a:xfrm>
            <a:off x="4825419" y="1801368"/>
            <a:ext cx="528393" cy="29260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2</a:t>
            </a:r>
            <a:endParaRPr lang="tr-TR" sz="1300" dirty="0"/>
          </a:p>
        </p:txBody>
      </p:sp>
      <p:sp>
        <p:nvSpPr>
          <p:cNvPr id="68" name="Shape 66"/>
          <p:cNvSpPr/>
          <p:nvPr/>
        </p:nvSpPr>
        <p:spPr>
          <a:xfrm>
            <a:off x="4825419" y="2130552"/>
            <a:ext cx="528393" cy="292608"/>
          </a:xfrm>
          <a:prstGeom prst="roundRect">
            <a:avLst>
              <a:gd name="adj" fmla="val 15625"/>
            </a:avLst>
          </a:prstGeom>
          <a:solidFill>
            <a:srgbClr val="F2F2F2"/>
          </a:solidFill>
          <a:ln/>
        </p:spPr>
      </p:sp>
      <p:sp>
        <p:nvSpPr>
          <p:cNvPr id="69" name="Text 67"/>
          <p:cNvSpPr txBox="1"/>
          <p:nvPr/>
        </p:nvSpPr>
        <p:spPr>
          <a:xfrm>
            <a:off x="4825419" y="2130552"/>
            <a:ext cx="528393" cy="292608"/>
          </a:xfrm>
          <a:prstGeom prst="rect">
            <a:avLst/>
          </a:prstGeom>
          <a:noFill/>
          <a:ln/>
        </p:spPr>
        <p:txBody>
          <a:bodyPr wrap="square" lIns="38100" tIns="38100" rIns="38100" bIns="38100" rtlCol="0" anchor="ctr"/>
          <a:lstStyle/>
          <a:p>
            <a:pPr algn="ctr" indent="0" marL="0">
              <a:buNone/>
            </a:pPr>
            <a:r>
              <a:rPr lang="tr-TR" sz="1300" dirty="0">
                <a:solidFill>
                  <a:srgbClr val="9AA5A8"/>
                </a:solidFill>
                <a:latin typeface="Calibri" pitchFamily="34" charset="0"/>
                <a:ea typeface="Calibri" pitchFamily="34" charset="-122"/>
                <a:cs typeface="Calibri" pitchFamily="34" charset="-120"/>
              </a:rPr>
              <a:t>1</a:t>
            </a:r>
            <a:endParaRPr lang="tr-TR" sz="1300" dirty="0"/>
          </a:p>
        </p:txBody>
      </p:sp>
      <p:sp>
        <p:nvSpPr>
          <p:cNvPr id="70" name="Shape 68"/>
          <p:cNvSpPr/>
          <p:nvPr/>
        </p:nvSpPr>
        <p:spPr>
          <a:xfrm>
            <a:off x="4825419" y="2459736"/>
            <a:ext cx="528393" cy="292608"/>
          </a:xfrm>
          <a:prstGeom prst="roundRect">
            <a:avLst>
              <a:gd name="adj" fmla="val 15625"/>
            </a:avLst>
          </a:prstGeom>
          <a:solidFill>
            <a:srgbClr val="F2F2F2"/>
          </a:solidFill>
          <a:ln/>
        </p:spPr>
      </p:sp>
      <p:sp>
        <p:nvSpPr>
          <p:cNvPr id="71" name="Text 69"/>
          <p:cNvSpPr txBox="1"/>
          <p:nvPr/>
        </p:nvSpPr>
        <p:spPr>
          <a:xfrm>
            <a:off x="4825419" y="2459736"/>
            <a:ext cx="528393" cy="292608"/>
          </a:xfrm>
          <a:prstGeom prst="rect">
            <a:avLst/>
          </a:prstGeom>
          <a:noFill/>
          <a:ln/>
        </p:spPr>
        <p:txBody>
          <a:bodyPr wrap="square" lIns="38100" tIns="38100" rIns="38100" bIns="38100" rtlCol="0" anchor="ctr"/>
          <a:lstStyle/>
          <a:p>
            <a:pPr algn="ctr" indent="0" marL="0">
              <a:buNone/>
            </a:pPr>
            <a:r>
              <a:rPr lang="tr-TR" sz="1300" dirty="0">
                <a:solidFill>
                  <a:srgbClr val="9AA5A8"/>
                </a:solidFill>
                <a:latin typeface="Calibri" pitchFamily="34" charset="0"/>
                <a:ea typeface="Calibri" pitchFamily="34" charset="-122"/>
                <a:cs typeface="Calibri" pitchFamily="34" charset="-120"/>
              </a:rPr>
              <a:t>2</a:t>
            </a:r>
            <a:endParaRPr lang="tr-TR" sz="1300" dirty="0"/>
          </a:p>
        </p:txBody>
      </p:sp>
      <p:sp>
        <p:nvSpPr>
          <p:cNvPr id="72" name="Shape 70"/>
          <p:cNvSpPr/>
          <p:nvPr/>
        </p:nvSpPr>
        <p:spPr>
          <a:xfrm>
            <a:off x="4825419" y="2788920"/>
            <a:ext cx="528393" cy="292608"/>
          </a:xfrm>
          <a:prstGeom prst="roundRect">
            <a:avLst>
              <a:gd name="adj" fmla="val 15625"/>
            </a:avLst>
          </a:prstGeom>
          <a:solidFill>
            <a:srgbClr val="F2F2F2"/>
          </a:solidFill>
          <a:ln/>
        </p:spPr>
      </p:sp>
      <p:sp>
        <p:nvSpPr>
          <p:cNvPr id="73" name="Text 71"/>
          <p:cNvSpPr txBox="1"/>
          <p:nvPr/>
        </p:nvSpPr>
        <p:spPr>
          <a:xfrm>
            <a:off x="4825419" y="2788920"/>
            <a:ext cx="528393" cy="292608"/>
          </a:xfrm>
          <a:prstGeom prst="rect">
            <a:avLst/>
          </a:prstGeom>
          <a:noFill/>
          <a:ln/>
        </p:spPr>
        <p:txBody>
          <a:bodyPr wrap="square" lIns="38100" tIns="38100" rIns="38100" bIns="38100" rtlCol="0" anchor="ctr"/>
          <a:lstStyle/>
          <a:p>
            <a:pPr algn="ctr" indent="0" marL="0">
              <a:buNone/>
            </a:pPr>
            <a:r>
              <a:rPr lang="tr-TR" sz="1300" dirty="0">
                <a:solidFill>
                  <a:srgbClr val="9AA5A8"/>
                </a:solidFill>
                <a:latin typeface="Calibri" pitchFamily="34" charset="0"/>
                <a:ea typeface="Calibri" pitchFamily="34" charset="-122"/>
                <a:cs typeface="Calibri" pitchFamily="34" charset="-120"/>
              </a:rPr>
              <a:t>3</a:t>
            </a:r>
            <a:endParaRPr lang="tr-TR" sz="1300" dirty="0"/>
          </a:p>
        </p:txBody>
      </p:sp>
      <p:sp>
        <p:nvSpPr>
          <p:cNvPr id="74" name="Text 72"/>
          <p:cNvSpPr txBox="1"/>
          <p:nvPr/>
        </p:nvSpPr>
        <p:spPr>
          <a:xfrm>
            <a:off x="4807131" y="3099816"/>
            <a:ext cx="564969" cy="329184"/>
          </a:xfrm>
          <a:prstGeom prst="rect">
            <a:avLst/>
          </a:prstGeom>
          <a:noFill/>
          <a:ln/>
        </p:spPr>
        <p:txBody>
          <a:bodyPr wrap="square" lIns="0" tIns="0" rIns="0" bIns="0" rtlCol="0" anchor="ctr"/>
          <a:lstStyle/>
          <a:p>
            <a:pPr algn="ctr" indent="0" marL="0">
              <a:buNone/>
            </a:pPr>
            <a:endParaRPr lang="tr-TR" sz="1300" dirty="0"/>
          </a:p>
        </p:txBody>
      </p:sp>
      <p:sp>
        <p:nvSpPr>
          <p:cNvPr id="75" name="Shape 73"/>
          <p:cNvSpPr/>
          <p:nvPr/>
        </p:nvSpPr>
        <p:spPr>
          <a:xfrm>
            <a:off x="5390388" y="1801368"/>
            <a:ext cx="528393" cy="292608"/>
          </a:xfrm>
          <a:prstGeom prst="roundRect">
            <a:avLst>
              <a:gd name="adj" fmla="val 15625"/>
            </a:avLst>
          </a:prstGeom>
          <a:solidFill>
            <a:srgbClr val="36454F"/>
          </a:solidFill>
          <a:ln/>
        </p:spPr>
      </p:sp>
      <p:sp>
        <p:nvSpPr>
          <p:cNvPr id="76" name="Text 74"/>
          <p:cNvSpPr txBox="1"/>
          <p:nvPr/>
        </p:nvSpPr>
        <p:spPr>
          <a:xfrm>
            <a:off x="5390388" y="1801368"/>
            <a:ext cx="528393" cy="29260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1</a:t>
            </a:r>
            <a:endParaRPr lang="tr-TR" sz="1300" dirty="0"/>
          </a:p>
        </p:txBody>
      </p:sp>
      <p:sp>
        <p:nvSpPr>
          <p:cNvPr id="77" name="Shape 75"/>
          <p:cNvSpPr/>
          <p:nvPr/>
        </p:nvSpPr>
        <p:spPr>
          <a:xfrm>
            <a:off x="5390388" y="2130552"/>
            <a:ext cx="528393" cy="292608"/>
          </a:xfrm>
          <a:prstGeom prst="roundRect">
            <a:avLst>
              <a:gd name="adj" fmla="val 15625"/>
            </a:avLst>
          </a:prstGeom>
          <a:solidFill>
            <a:srgbClr val="F2F2F2"/>
          </a:solidFill>
          <a:ln/>
        </p:spPr>
      </p:sp>
      <p:sp>
        <p:nvSpPr>
          <p:cNvPr id="78" name="Text 76"/>
          <p:cNvSpPr txBox="1"/>
          <p:nvPr/>
        </p:nvSpPr>
        <p:spPr>
          <a:xfrm>
            <a:off x="5390388" y="2130552"/>
            <a:ext cx="528393" cy="292608"/>
          </a:xfrm>
          <a:prstGeom prst="rect">
            <a:avLst/>
          </a:prstGeom>
          <a:noFill/>
          <a:ln/>
        </p:spPr>
        <p:txBody>
          <a:bodyPr wrap="square" lIns="38100" tIns="38100" rIns="38100" bIns="38100" rtlCol="0" anchor="ctr"/>
          <a:lstStyle/>
          <a:p>
            <a:pPr algn="ctr" indent="0" marL="0">
              <a:buNone/>
            </a:pPr>
            <a:r>
              <a:rPr lang="tr-TR" sz="1300" dirty="0">
                <a:solidFill>
                  <a:srgbClr val="9AA5A8"/>
                </a:solidFill>
                <a:latin typeface="Calibri" pitchFamily="34" charset="0"/>
                <a:ea typeface="Calibri" pitchFamily="34" charset="-122"/>
                <a:cs typeface="Calibri" pitchFamily="34" charset="-120"/>
              </a:rPr>
              <a:t>1</a:t>
            </a:r>
            <a:endParaRPr lang="tr-TR" sz="1300" dirty="0"/>
          </a:p>
        </p:txBody>
      </p:sp>
      <p:sp>
        <p:nvSpPr>
          <p:cNvPr id="79" name="Shape 77"/>
          <p:cNvSpPr/>
          <p:nvPr/>
        </p:nvSpPr>
        <p:spPr>
          <a:xfrm>
            <a:off x="5390388" y="2459736"/>
            <a:ext cx="528393" cy="292608"/>
          </a:xfrm>
          <a:prstGeom prst="roundRect">
            <a:avLst>
              <a:gd name="adj" fmla="val 15625"/>
            </a:avLst>
          </a:prstGeom>
          <a:solidFill>
            <a:srgbClr val="F2F2F2"/>
          </a:solidFill>
          <a:ln/>
        </p:spPr>
      </p:sp>
      <p:sp>
        <p:nvSpPr>
          <p:cNvPr id="80" name="Text 78"/>
          <p:cNvSpPr txBox="1"/>
          <p:nvPr/>
        </p:nvSpPr>
        <p:spPr>
          <a:xfrm>
            <a:off x="5390388" y="2459736"/>
            <a:ext cx="528393" cy="292608"/>
          </a:xfrm>
          <a:prstGeom prst="rect">
            <a:avLst/>
          </a:prstGeom>
          <a:noFill/>
          <a:ln/>
        </p:spPr>
        <p:txBody>
          <a:bodyPr wrap="square" lIns="38100" tIns="38100" rIns="38100" bIns="38100" rtlCol="0" anchor="ctr"/>
          <a:lstStyle/>
          <a:p>
            <a:pPr algn="ctr" indent="0" marL="0">
              <a:buNone/>
            </a:pPr>
            <a:r>
              <a:rPr lang="tr-TR" sz="1300" dirty="0">
                <a:solidFill>
                  <a:srgbClr val="9AA5A8"/>
                </a:solidFill>
                <a:latin typeface="Calibri" pitchFamily="34" charset="0"/>
                <a:ea typeface="Calibri" pitchFamily="34" charset="-122"/>
                <a:cs typeface="Calibri" pitchFamily="34" charset="-120"/>
              </a:rPr>
              <a:t>2</a:t>
            </a:r>
            <a:endParaRPr lang="tr-TR" sz="1300" dirty="0"/>
          </a:p>
        </p:txBody>
      </p:sp>
      <p:sp>
        <p:nvSpPr>
          <p:cNvPr id="81" name="Shape 79"/>
          <p:cNvSpPr/>
          <p:nvPr/>
        </p:nvSpPr>
        <p:spPr>
          <a:xfrm>
            <a:off x="5390388" y="2788920"/>
            <a:ext cx="528393" cy="292608"/>
          </a:xfrm>
          <a:prstGeom prst="roundRect">
            <a:avLst>
              <a:gd name="adj" fmla="val 15625"/>
            </a:avLst>
          </a:prstGeom>
          <a:solidFill>
            <a:srgbClr val="F2F2F2"/>
          </a:solidFill>
          <a:ln/>
        </p:spPr>
      </p:sp>
      <p:sp>
        <p:nvSpPr>
          <p:cNvPr id="82" name="Text 80"/>
          <p:cNvSpPr txBox="1"/>
          <p:nvPr/>
        </p:nvSpPr>
        <p:spPr>
          <a:xfrm>
            <a:off x="5390388" y="2788920"/>
            <a:ext cx="528393" cy="292608"/>
          </a:xfrm>
          <a:prstGeom prst="rect">
            <a:avLst/>
          </a:prstGeom>
          <a:noFill/>
          <a:ln/>
        </p:spPr>
        <p:txBody>
          <a:bodyPr wrap="square" lIns="38100" tIns="38100" rIns="38100" bIns="38100" rtlCol="0" anchor="ctr"/>
          <a:lstStyle/>
          <a:p>
            <a:pPr algn="ctr" indent="0" marL="0">
              <a:buNone/>
            </a:pPr>
            <a:r>
              <a:rPr lang="tr-TR" sz="1300" dirty="0">
                <a:solidFill>
                  <a:srgbClr val="9AA5A8"/>
                </a:solidFill>
                <a:latin typeface="Calibri" pitchFamily="34" charset="0"/>
                <a:ea typeface="Calibri" pitchFamily="34" charset="-122"/>
                <a:cs typeface="Calibri" pitchFamily="34" charset="-120"/>
              </a:rPr>
              <a:t>3</a:t>
            </a:r>
            <a:endParaRPr lang="tr-TR" sz="1300" dirty="0"/>
          </a:p>
        </p:txBody>
      </p:sp>
      <p:sp>
        <p:nvSpPr>
          <p:cNvPr id="83" name="Text 81"/>
          <p:cNvSpPr txBox="1"/>
          <p:nvPr/>
        </p:nvSpPr>
        <p:spPr>
          <a:xfrm>
            <a:off x="5372100" y="3099816"/>
            <a:ext cx="564969" cy="329184"/>
          </a:xfrm>
          <a:prstGeom prst="rect">
            <a:avLst/>
          </a:prstGeom>
          <a:noFill/>
          <a:ln/>
        </p:spPr>
        <p:txBody>
          <a:bodyPr wrap="square" lIns="0" tIns="0" rIns="0" bIns="0" rtlCol="0" anchor="ctr"/>
          <a:lstStyle/>
          <a:p>
            <a:pPr algn="ctr" indent="0" marL="0">
              <a:buNone/>
            </a:pPr>
            <a:endParaRPr lang="tr-TR" sz="1300" dirty="0"/>
          </a:p>
        </p:txBody>
      </p:sp>
      <p:sp>
        <p:nvSpPr>
          <p:cNvPr id="84" name="Shape 82"/>
          <p:cNvSpPr/>
          <p:nvPr/>
        </p:nvSpPr>
        <p:spPr>
          <a:xfrm>
            <a:off x="5955357" y="1801368"/>
            <a:ext cx="528393" cy="292608"/>
          </a:xfrm>
          <a:prstGeom prst="roundRect">
            <a:avLst>
              <a:gd name="adj" fmla="val 15625"/>
            </a:avLst>
          </a:prstGeom>
          <a:solidFill>
            <a:srgbClr val="36454F"/>
          </a:solidFill>
          <a:ln/>
        </p:spPr>
      </p:sp>
      <p:sp>
        <p:nvSpPr>
          <p:cNvPr id="85" name="Text 83"/>
          <p:cNvSpPr txBox="1"/>
          <p:nvPr/>
        </p:nvSpPr>
        <p:spPr>
          <a:xfrm>
            <a:off x="5955357" y="1801368"/>
            <a:ext cx="528393" cy="29260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2</a:t>
            </a:r>
            <a:endParaRPr lang="tr-TR" sz="1300" dirty="0"/>
          </a:p>
        </p:txBody>
      </p:sp>
      <p:sp>
        <p:nvSpPr>
          <p:cNvPr id="86" name="Shape 84"/>
          <p:cNvSpPr/>
          <p:nvPr/>
        </p:nvSpPr>
        <p:spPr>
          <a:xfrm>
            <a:off x="5955357" y="2130552"/>
            <a:ext cx="528393" cy="292608"/>
          </a:xfrm>
          <a:prstGeom prst="roundRect">
            <a:avLst>
              <a:gd name="adj" fmla="val 15625"/>
            </a:avLst>
          </a:prstGeom>
          <a:solidFill>
            <a:srgbClr val="F2F2F2"/>
          </a:solidFill>
          <a:ln/>
        </p:spPr>
      </p:sp>
      <p:sp>
        <p:nvSpPr>
          <p:cNvPr id="87" name="Text 85"/>
          <p:cNvSpPr txBox="1"/>
          <p:nvPr/>
        </p:nvSpPr>
        <p:spPr>
          <a:xfrm>
            <a:off x="5955357" y="2130552"/>
            <a:ext cx="528393" cy="292608"/>
          </a:xfrm>
          <a:prstGeom prst="rect">
            <a:avLst/>
          </a:prstGeom>
          <a:noFill/>
          <a:ln/>
        </p:spPr>
        <p:txBody>
          <a:bodyPr wrap="square" lIns="38100" tIns="38100" rIns="38100" bIns="38100" rtlCol="0" anchor="ctr"/>
          <a:lstStyle/>
          <a:p>
            <a:pPr algn="ctr" indent="0" marL="0">
              <a:buNone/>
            </a:pPr>
            <a:r>
              <a:rPr lang="tr-TR" sz="1300" dirty="0">
                <a:solidFill>
                  <a:srgbClr val="9AA5A8"/>
                </a:solidFill>
                <a:latin typeface="Calibri" pitchFamily="34" charset="0"/>
                <a:ea typeface="Calibri" pitchFamily="34" charset="-122"/>
                <a:cs typeface="Calibri" pitchFamily="34" charset="-120"/>
              </a:rPr>
              <a:t>1</a:t>
            </a:r>
            <a:endParaRPr lang="tr-TR" sz="1300" dirty="0"/>
          </a:p>
        </p:txBody>
      </p:sp>
      <p:sp>
        <p:nvSpPr>
          <p:cNvPr id="88" name="Shape 86"/>
          <p:cNvSpPr/>
          <p:nvPr/>
        </p:nvSpPr>
        <p:spPr>
          <a:xfrm>
            <a:off x="5955357" y="2459736"/>
            <a:ext cx="528393" cy="292608"/>
          </a:xfrm>
          <a:prstGeom prst="roundRect">
            <a:avLst>
              <a:gd name="adj" fmla="val 15625"/>
            </a:avLst>
          </a:prstGeom>
          <a:solidFill>
            <a:srgbClr val="F2F2F2"/>
          </a:solidFill>
          <a:ln/>
        </p:spPr>
      </p:sp>
      <p:sp>
        <p:nvSpPr>
          <p:cNvPr id="89" name="Text 87"/>
          <p:cNvSpPr txBox="1"/>
          <p:nvPr/>
        </p:nvSpPr>
        <p:spPr>
          <a:xfrm>
            <a:off x="5955357" y="2459736"/>
            <a:ext cx="528393" cy="292608"/>
          </a:xfrm>
          <a:prstGeom prst="rect">
            <a:avLst/>
          </a:prstGeom>
          <a:noFill/>
          <a:ln/>
        </p:spPr>
        <p:txBody>
          <a:bodyPr wrap="square" lIns="38100" tIns="38100" rIns="38100" bIns="38100" rtlCol="0" anchor="ctr"/>
          <a:lstStyle/>
          <a:p>
            <a:pPr algn="ctr" indent="0" marL="0">
              <a:buNone/>
            </a:pPr>
            <a:r>
              <a:rPr lang="tr-TR" sz="1300" dirty="0">
                <a:solidFill>
                  <a:srgbClr val="9AA5A8"/>
                </a:solidFill>
                <a:latin typeface="Calibri" pitchFamily="34" charset="0"/>
                <a:ea typeface="Calibri" pitchFamily="34" charset="-122"/>
                <a:cs typeface="Calibri" pitchFamily="34" charset="-120"/>
              </a:rPr>
              <a:t>2</a:t>
            </a:r>
            <a:endParaRPr lang="tr-TR" sz="1300" dirty="0"/>
          </a:p>
        </p:txBody>
      </p:sp>
      <p:sp>
        <p:nvSpPr>
          <p:cNvPr id="90" name="Shape 88"/>
          <p:cNvSpPr/>
          <p:nvPr/>
        </p:nvSpPr>
        <p:spPr>
          <a:xfrm>
            <a:off x="5955357" y="2788920"/>
            <a:ext cx="528393" cy="292608"/>
          </a:xfrm>
          <a:prstGeom prst="roundRect">
            <a:avLst>
              <a:gd name="adj" fmla="val 15625"/>
            </a:avLst>
          </a:prstGeom>
          <a:solidFill>
            <a:srgbClr val="F2F2F2"/>
          </a:solidFill>
          <a:ln/>
        </p:spPr>
      </p:sp>
      <p:sp>
        <p:nvSpPr>
          <p:cNvPr id="91" name="Text 89"/>
          <p:cNvSpPr txBox="1"/>
          <p:nvPr/>
        </p:nvSpPr>
        <p:spPr>
          <a:xfrm>
            <a:off x="5955357" y="2788920"/>
            <a:ext cx="528393" cy="292608"/>
          </a:xfrm>
          <a:prstGeom prst="rect">
            <a:avLst/>
          </a:prstGeom>
          <a:noFill/>
          <a:ln/>
        </p:spPr>
        <p:txBody>
          <a:bodyPr wrap="square" lIns="38100" tIns="38100" rIns="38100" bIns="38100" rtlCol="0" anchor="ctr"/>
          <a:lstStyle/>
          <a:p>
            <a:pPr algn="ctr" indent="0" marL="0">
              <a:buNone/>
            </a:pPr>
            <a:r>
              <a:rPr lang="tr-TR" sz="1300" dirty="0">
                <a:solidFill>
                  <a:srgbClr val="9AA5A8"/>
                </a:solidFill>
                <a:latin typeface="Calibri" pitchFamily="34" charset="0"/>
                <a:ea typeface="Calibri" pitchFamily="34" charset="-122"/>
                <a:cs typeface="Calibri" pitchFamily="34" charset="-120"/>
              </a:rPr>
              <a:t>3</a:t>
            </a:r>
            <a:endParaRPr lang="tr-TR" sz="1300" dirty="0"/>
          </a:p>
        </p:txBody>
      </p:sp>
      <p:sp>
        <p:nvSpPr>
          <p:cNvPr id="92" name="Text 90"/>
          <p:cNvSpPr txBox="1"/>
          <p:nvPr/>
        </p:nvSpPr>
        <p:spPr>
          <a:xfrm>
            <a:off x="5937069" y="3099816"/>
            <a:ext cx="564969" cy="329184"/>
          </a:xfrm>
          <a:prstGeom prst="rect">
            <a:avLst/>
          </a:prstGeom>
          <a:noFill/>
          <a:ln/>
        </p:spPr>
        <p:txBody>
          <a:bodyPr wrap="square" lIns="0" tIns="0" rIns="0" bIns="0" rtlCol="0" anchor="ctr"/>
          <a:lstStyle/>
          <a:p>
            <a:pPr algn="ctr" indent="0" marL="0">
              <a:buNone/>
            </a:pPr>
            <a:endParaRPr lang="tr-TR" sz="1300" dirty="0"/>
          </a:p>
        </p:txBody>
      </p:sp>
      <p:sp>
        <p:nvSpPr>
          <p:cNvPr id="93" name="Shape 91"/>
          <p:cNvSpPr/>
          <p:nvPr/>
        </p:nvSpPr>
        <p:spPr>
          <a:xfrm>
            <a:off x="6520325" y="1801368"/>
            <a:ext cx="528393" cy="292608"/>
          </a:xfrm>
          <a:prstGeom prst="roundRect">
            <a:avLst>
              <a:gd name="adj" fmla="val 15625"/>
            </a:avLst>
          </a:prstGeom>
          <a:solidFill>
            <a:srgbClr val="36454F"/>
          </a:solidFill>
          <a:ln/>
        </p:spPr>
      </p:sp>
      <p:sp>
        <p:nvSpPr>
          <p:cNvPr id="94" name="Text 92"/>
          <p:cNvSpPr txBox="1"/>
          <p:nvPr/>
        </p:nvSpPr>
        <p:spPr>
          <a:xfrm>
            <a:off x="6520325" y="1801368"/>
            <a:ext cx="528393" cy="29260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4</a:t>
            </a:r>
            <a:endParaRPr lang="tr-TR" sz="1300" dirty="0"/>
          </a:p>
        </p:txBody>
      </p:sp>
      <p:sp>
        <p:nvSpPr>
          <p:cNvPr id="95" name="Shape 93"/>
          <p:cNvSpPr/>
          <p:nvPr/>
        </p:nvSpPr>
        <p:spPr>
          <a:xfrm>
            <a:off x="6520325" y="2130552"/>
            <a:ext cx="528393" cy="292608"/>
          </a:xfrm>
          <a:prstGeom prst="roundRect">
            <a:avLst>
              <a:gd name="adj" fmla="val 15625"/>
            </a:avLst>
          </a:prstGeom>
          <a:solidFill>
            <a:srgbClr val="D7E9E6"/>
          </a:solidFill>
          <a:ln/>
        </p:spPr>
      </p:sp>
      <p:sp>
        <p:nvSpPr>
          <p:cNvPr id="96" name="Text 94"/>
          <p:cNvSpPr txBox="1"/>
          <p:nvPr/>
        </p:nvSpPr>
        <p:spPr>
          <a:xfrm>
            <a:off x="6520325" y="2130552"/>
            <a:ext cx="528393"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1</a:t>
            </a:r>
            <a:endParaRPr lang="tr-TR" sz="1300" dirty="0"/>
          </a:p>
        </p:txBody>
      </p:sp>
      <p:sp>
        <p:nvSpPr>
          <p:cNvPr id="97" name="Shape 95"/>
          <p:cNvSpPr/>
          <p:nvPr/>
        </p:nvSpPr>
        <p:spPr>
          <a:xfrm>
            <a:off x="6520325" y="2459736"/>
            <a:ext cx="528393" cy="292608"/>
          </a:xfrm>
          <a:prstGeom prst="roundRect">
            <a:avLst>
              <a:gd name="adj" fmla="val 15625"/>
            </a:avLst>
          </a:prstGeom>
          <a:solidFill>
            <a:srgbClr val="D7E9E6"/>
          </a:solidFill>
          <a:ln/>
        </p:spPr>
      </p:sp>
      <p:sp>
        <p:nvSpPr>
          <p:cNvPr id="98" name="Text 96"/>
          <p:cNvSpPr txBox="1"/>
          <p:nvPr/>
        </p:nvSpPr>
        <p:spPr>
          <a:xfrm>
            <a:off x="6520325" y="2459736"/>
            <a:ext cx="528393"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2</a:t>
            </a:r>
            <a:endParaRPr lang="tr-TR" sz="1300" dirty="0"/>
          </a:p>
        </p:txBody>
      </p:sp>
      <p:sp>
        <p:nvSpPr>
          <p:cNvPr id="99" name="Shape 97"/>
          <p:cNvSpPr/>
          <p:nvPr/>
        </p:nvSpPr>
        <p:spPr>
          <a:xfrm>
            <a:off x="6520325" y="2788920"/>
            <a:ext cx="528393" cy="292608"/>
          </a:xfrm>
          <a:prstGeom prst="roundRect">
            <a:avLst>
              <a:gd name="adj" fmla="val 15625"/>
            </a:avLst>
          </a:prstGeom>
          <a:solidFill>
            <a:srgbClr val="02C39A"/>
          </a:solidFill>
          <a:ln/>
        </p:spPr>
      </p:sp>
      <p:sp>
        <p:nvSpPr>
          <p:cNvPr id="100" name="Text 98"/>
          <p:cNvSpPr txBox="1"/>
          <p:nvPr/>
        </p:nvSpPr>
        <p:spPr>
          <a:xfrm>
            <a:off x="6520325" y="2788920"/>
            <a:ext cx="528393" cy="292608"/>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4</a:t>
            </a:r>
            <a:endParaRPr lang="tr-TR" sz="1300" dirty="0"/>
          </a:p>
        </p:txBody>
      </p:sp>
      <p:sp>
        <p:nvSpPr>
          <p:cNvPr id="101" name="Text 99"/>
          <p:cNvSpPr txBox="1"/>
          <p:nvPr/>
        </p:nvSpPr>
        <p:spPr>
          <a:xfrm>
            <a:off x="6502037" y="3099816"/>
            <a:ext cx="564969" cy="329184"/>
          </a:xfrm>
          <a:prstGeom prst="rect">
            <a:avLst/>
          </a:prstGeom>
          <a:noFill/>
          <a:ln/>
        </p:spPr>
        <p:txBody>
          <a:bodyPr wrap="square" lIns="0" tIns="0" rIns="0" bIns="0" rtlCol="0" anchor="ctr"/>
          <a:lstStyle/>
          <a:p>
            <a:pPr algn="ctr" indent="0" marL="0">
              <a:buNone/>
            </a:pPr>
            <a:r>
              <a:rPr lang="tr-TR" sz="1300" b="1" dirty="0">
                <a:solidFill>
                  <a:srgbClr val="B5453A"/>
                </a:solidFill>
                <a:latin typeface="Calibri" pitchFamily="34" charset="0"/>
                <a:ea typeface="Calibri" pitchFamily="34" charset="-122"/>
                <a:cs typeface="Calibri" pitchFamily="34" charset="-120"/>
              </a:rPr>
              <a:t>F</a:t>
            </a:r>
            <a:endParaRPr lang="tr-TR" sz="1300" dirty="0"/>
          </a:p>
        </p:txBody>
      </p:sp>
      <p:sp>
        <p:nvSpPr>
          <p:cNvPr id="102" name="Shape 100"/>
          <p:cNvSpPr/>
          <p:nvPr/>
        </p:nvSpPr>
        <p:spPr>
          <a:xfrm>
            <a:off x="7085294" y="1801368"/>
            <a:ext cx="528393" cy="292608"/>
          </a:xfrm>
          <a:prstGeom prst="roundRect">
            <a:avLst>
              <a:gd name="adj" fmla="val 15625"/>
            </a:avLst>
          </a:prstGeom>
          <a:solidFill>
            <a:srgbClr val="36454F"/>
          </a:solidFill>
          <a:ln/>
        </p:spPr>
      </p:sp>
      <p:sp>
        <p:nvSpPr>
          <p:cNvPr id="103" name="Text 101"/>
          <p:cNvSpPr txBox="1"/>
          <p:nvPr/>
        </p:nvSpPr>
        <p:spPr>
          <a:xfrm>
            <a:off x="7085294" y="1801368"/>
            <a:ext cx="528393" cy="29260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0</a:t>
            </a:r>
            <a:endParaRPr lang="tr-TR" sz="1300" dirty="0"/>
          </a:p>
        </p:txBody>
      </p:sp>
      <p:sp>
        <p:nvSpPr>
          <p:cNvPr id="104" name="Shape 102"/>
          <p:cNvSpPr/>
          <p:nvPr/>
        </p:nvSpPr>
        <p:spPr>
          <a:xfrm>
            <a:off x="7085294" y="2130552"/>
            <a:ext cx="528393" cy="292608"/>
          </a:xfrm>
          <a:prstGeom prst="roundRect">
            <a:avLst>
              <a:gd name="adj" fmla="val 15625"/>
            </a:avLst>
          </a:prstGeom>
          <a:solidFill>
            <a:srgbClr val="D7E9E6"/>
          </a:solidFill>
          <a:ln/>
        </p:spPr>
      </p:sp>
      <p:sp>
        <p:nvSpPr>
          <p:cNvPr id="105" name="Text 103"/>
          <p:cNvSpPr txBox="1"/>
          <p:nvPr/>
        </p:nvSpPr>
        <p:spPr>
          <a:xfrm>
            <a:off x="7085294" y="2130552"/>
            <a:ext cx="528393"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1</a:t>
            </a:r>
            <a:endParaRPr lang="tr-TR" sz="1300" dirty="0"/>
          </a:p>
        </p:txBody>
      </p:sp>
      <p:sp>
        <p:nvSpPr>
          <p:cNvPr id="106" name="Shape 104"/>
          <p:cNvSpPr/>
          <p:nvPr/>
        </p:nvSpPr>
        <p:spPr>
          <a:xfrm>
            <a:off x="7085294" y="2459736"/>
            <a:ext cx="528393" cy="292608"/>
          </a:xfrm>
          <a:prstGeom prst="roundRect">
            <a:avLst>
              <a:gd name="adj" fmla="val 15625"/>
            </a:avLst>
          </a:prstGeom>
          <a:solidFill>
            <a:srgbClr val="D7E9E6"/>
          </a:solidFill>
          <a:ln/>
        </p:spPr>
      </p:sp>
      <p:sp>
        <p:nvSpPr>
          <p:cNvPr id="107" name="Text 105"/>
          <p:cNvSpPr txBox="1"/>
          <p:nvPr/>
        </p:nvSpPr>
        <p:spPr>
          <a:xfrm>
            <a:off x="7085294" y="2459736"/>
            <a:ext cx="528393"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2</a:t>
            </a:r>
            <a:endParaRPr lang="tr-TR" sz="1300" dirty="0"/>
          </a:p>
        </p:txBody>
      </p:sp>
      <p:sp>
        <p:nvSpPr>
          <p:cNvPr id="108" name="Shape 106"/>
          <p:cNvSpPr/>
          <p:nvPr/>
        </p:nvSpPr>
        <p:spPr>
          <a:xfrm>
            <a:off x="7085294" y="2788920"/>
            <a:ext cx="528393" cy="292608"/>
          </a:xfrm>
          <a:prstGeom prst="roundRect">
            <a:avLst>
              <a:gd name="adj" fmla="val 15625"/>
            </a:avLst>
          </a:prstGeom>
          <a:solidFill>
            <a:srgbClr val="02C39A"/>
          </a:solidFill>
          <a:ln/>
        </p:spPr>
      </p:sp>
      <p:sp>
        <p:nvSpPr>
          <p:cNvPr id="109" name="Text 107"/>
          <p:cNvSpPr txBox="1"/>
          <p:nvPr/>
        </p:nvSpPr>
        <p:spPr>
          <a:xfrm>
            <a:off x="7085294" y="2788920"/>
            <a:ext cx="528393" cy="292608"/>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0</a:t>
            </a:r>
            <a:endParaRPr lang="tr-TR" sz="1300" dirty="0"/>
          </a:p>
        </p:txBody>
      </p:sp>
      <p:sp>
        <p:nvSpPr>
          <p:cNvPr id="110" name="Text 108"/>
          <p:cNvSpPr txBox="1"/>
          <p:nvPr/>
        </p:nvSpPr>
        <p:spPr>
          <a:xfrm>
            <a:off x="7067006" y="3099816"/>
            <a:ext cx="564969" cy="329184"/>
          </a:xfrm>
          <a:prstGeom prst="rect">
            <a:avLst/>
          </a:prstGeom>
          <a:noFill/>
          <a:ln/>
        </p:spPr>
        <p:txBody>
          <a:bodyPr wrap="square" lIns="0" tIns="0" rIns="0" bIns="0" rtlCol="0" anchor="ctr"/>
          <a:lstStyle/>
          <a:p>
            <a:pPr algn="ctr" indent="0" marL="0">
              <a:buNone/>
            </a:pPr>
            <a:r>
              <a:rPr lang="tr-TR" sz="1300" b="1" dirty="0">
                <a:solidFill>
                  <a:srgbClr val="B5453A"/>
                </a:solidFill>
                <a:latin typeface="Calibri" pitchFamily="34" charset="0"/>
                <a:ea typeface="Calibri" pitchFamily="34" charset="-122"/>
                <a:cs typeface="Calibri" pitchFamily="34" charset="-120"/>
              </a:rPr>
              <a:t>F</a:t>
            </a:r>
            <a:endParaRPr lang="tr-TR" sz="1300" dirty="0"/>
          </a:p>
        </p:txBody>
      </p:sp>
      <p:sp>
        <p:nvSpPr>
          <p:cNvPr id="111" name="Shape 109"/>
          <p:cNvSpPr/>
          <p:nvPr/>
        </p:nvSpPr>
        <p:spPr>
          <a:xfrm>
            <a:off x="7650262" y="1801368"/>
            <a:ext cx="528393" cy="292608"/>
          </a:xfrm>
          <a:prstGeom prst="roundRect">
            <a:avLst>
              <a:gd name="adj" fmla="val 15625"/>
            </a:avLst>
          </a:prstGeom>
          <a:solidFill>
            <a:srgbClr val="36454F"/>
          </a:solidFill>
          <a:ln/>
        </p:spPr>
      </p:sp>
      <p:sp>
        <p:nvSpPr>
          <p:cNvPr id="112" name="Text 110"/>
          <p:cNvSpPr txBox="1"/>
          <p:nvPr/>
        </p:nvSpPr>
        <p:spPr>
          <a:xfrm>
            <a:off x="7650262" y="1801368"/>
            <a:ext cx="528393" cy="29260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2</a:t>
            </a:r>
            <a:endParaRPr lang="tr-TR" sz="1300" dirty="0"/>
          </a:p>
        </p:txBody>
      </p:sp>
      <p:sp>
        <p:nvSpPr>
          <p:cNvPr id="113" name="Shape 111"/>
          <p:cNvSpPr/>
          <p:nvPr/>
        </p:nvSpPr>
        <p:spPr>
          <a:xfrm>
            <a:off x="7650262" y="2130552"/>
            <a:ext cx="528393" cy="292608"/>
          </a:xfrm>
          <a:prstGeom prst="roundRect">
            <a:avLst>
              <a:gd name="adj" fmla="val 15625"/>
            </a:avLst>
          </a:prstGeom>
          <a:solidFill>
            <a:srgbClr val="F2F2F2"/>
          </a:solidFill>
          <a:ln/>
        </p:spPr>
      </p:sp>
      <p:sp>
        <p:nvSpPr>
          <p:cNvPr id="114" name="Text 112"/>
          <p:cNvSpPr txBox="1"/>
          <p:nvPr/>
        </p:nvSpPr>
        <p:spPr>
          <a:xfrm>
            <a:off x="7650262" y="2130552"/>
            <a:ext cx="528393" cy="292608"/>
          </a:xfrm>
          <a:prstGeom prst="rect">
            <a:avLst/>
          </a:prstGeom>
          <a:noFill/>
          <a:ln/>
        </p:spPr>
        <p:txBody>
          <a:bodyPr wrap="square" lIns="38100" tIns="38100" rIns="38100" bIns="38100" rtlCol="0" anchor="ctr"/>
          <a:lstStyle/>
          <a:p>
            <a:pPr algn="ctr" indent="0" marL="0">
              <a:buNone/>
            </a:pPr>
            <a:r>
              <a:rPr lang="tr-TR" sz="1300" dirty="0">
                <a:solidFill>
                  <a:srgbClr val="9AA5A8"/>
                </a:solidFill>
                <a:latin typeface="Calibri" pitchFamily="34" charset="0"/>
                <a:ea typeface="Calibri" pitchFamily="34" charset="-122"/>
                <a:cs typeface="Calibri" pitchFamily="34" charset="-120"/>
              </a:rPr>
              <a:t>1</a:t>
            </a:r>
            <a:endParaRPr lang="tr-TR" sz="1300" dirty="0"/>
          </a:p>
        </p:txBody>
      </p:sp>
      <p:sp>
        <p:nvSpPr>
          <p:cNvPr id="115" name="Shape 113"/>
          <p:cNvSpPr/>
          <p:nvPr/>
        </p:nvSpPr>
        <p:spPr>
          <a:xfrm>
            <a:off x="7650262" y="2459736"/>
            <a:ext cx="528393" cy="292608"/>
          </a:xfrm>
          <a:prstGeom prst="roundRect">
            <a:avLst>
              <a:gd name="adj" fmla="val 15625"/>
            </a:avLst>
          </a:prstGeom>
          <a:solidFill>
            <a:srgbClr val="F2F2F2"/>
          </a:solidFill>
          <a:ln/>
        </p:spPr>
      </p:sp>
      <p:sp>
        <p:nvSpPr>
          <p:cNvPr id="116" name="Text 114"/>
          <p:cNvSpPr txBox="1"/>
          <p:nvPr/>
        </p:nvSpPr>
        <p:spPr>
          <a:xfrm>
            <a:off x="7650262" y="2459736"/>
            <a:ext cx="528393" cy="292608"/>
          </a:xfrm>
          <a:prstGeom prst="rect">
            <a:avLst/>
          </a:prstGeom>
          <a:noFill/>
          <a:ln/>
        </p:spPr>
        <p:txBody>
          <a:bodyPr wrap="square" lIns="38100" tIns="38100" rIns="38100" bIns="38100" rtlCol="0" anchor="ctr"/>
          <a:lstStyle/>
          <a:p>
            <a:pPr algn="ctr" indent="0" marL="0">
              <a:buNone/>
            </a:pPr>
            <a:r>
              <a:rPr lang="tr-TR" sz="1300" dirty="0">
                <a:solidFill>
                  <a:srgbClr val="9AA5A8"/>
                </a:solidFill>
                <a:latin typeface="Calibri" pitchFamily="34" charset="0"/>
                <a:ea typeface="Calibri" pitchFamily="34" charset="-122"/>
                <a:cs typeface="Calibri" pitchFamily="34" charset="-120"/>
              </a:rPr>
              <a:t>2</a:t>
            </a:r>
            <a:endParaRPr lang="tr-TR" sz="1300" dirty="0"/>
          </a:p>
        </p:txBody>
      </p:sp>
      <p:sp>
        <p:nvSpPr>
          <p:cNvPr id="117" name="Shape 115"/>
          <p:cNvSpPr/>
          <p:nvPr/>
        </p:nvSpPr>
        <p:spPr>
          <a:xfrm>
            <a:off x="7650262" y="2788920"/>
            <a:ext cx="528393" cy="292608"/>
          </a:xfrm>
          <a:prstGeom prst="roundRect">
            <a:avLst>
              <a:gd name="adj" fmla="val 15625"/>
            </a:avLst>
          </a:prstGeom>
          <a:solidFill>
            <a:srgbClr val="F2F2F2"/>
          </a:solidFill>
          <a:ln/>
        </p:spPr>
      </p:sp>
      <p:sp>
        <p:nvSpPr>
          <p:cNvPr id="118" name="Text 116"/>
          <p:cNvSpPr txBox="1"/>
          <p:nvPr/>
        </p:nvSpPr>
        <p:spPr>
          <a:xfrm>
            <a:off x="7650262" y="2788920"/>
            <a:ext cx="528393" cy="292608"/>
          </a:xfrm>
          <a:prstGeom prst="rect">
            <a:avLst/>
          </a:prstGeom>
          <a:noFill/>
          <a:ln/>
        </p:spPr>
        <p:txBody>
          <a:bodyPr wrap="square" lIns="38100" tIns="38100" rIns="38100" bIns="38100" rtlCol="0" anchor="ctr"/>
          <a:lstStyle/>
          <a:p>
            <a:pPr algn="ctr" indent="0" marL="0">
              <a:buNone/>
            </a:pPr>
            <a:r>
              <a:rPr lang="tr-TR" sz="1300" dirty="0">
                <a:solidFill>
                  <a:srgbClr val="9AA5A8"/>
                </a:solidFill>
                <a:latin typeface="Calibri" pitchFamily="34" charset="0"/>
                <a:ea typeface="Calibri" pitchFamily="34" charset="-122"/>
                <a:cs typeface="Calibri" pitchFamily="34" charset="-120"/>
              </a:rPr>
              <a:t>0</a:t>
            </a:r>
            <a:endParaRPr lang="tr-TR" sz="1300" dirty="0"/>
          </a:p>
        </p:txBody>
      </p:sp>
      <p:sp>
        <p:nvSpPr>
          <p:cNvPr id="119" name="Text 117"/>
          <p:cNvSpPr txBox="1"/>
          <p:nvPr/>
        </p:nvSpPr>
        <p:spPr>
          <a:xfrm>
            <a:off x="7631974" y="3099816"/>
            <a:ext cx="564969" cy="329184"/>
          </a:xfrm>
          <a:prstGeom prst="rect">
            <a:avLst/>
          </a:prstGeom>
          <a:noFill/>
          <a:ln/>
        </p:spPr>
        <p:txBody>
          <a:bodyPr wrap="square" lIns="0" tIns="0" rIns="0" bIns="0" rtlCol="0" anchor="ctr"/>
          <a:lstStyle/>
          <a:p>
            <a:pPr algn="ctr" indent="0" marL="0">
              <a:buNone/>
            </a:pPr>
            <a:endParaRPr lang="tr-TR" sz="1300" dirty="0"/>
          </a:p>
        </p:txBody>
      </p:sp>
      <p:sp>
        <p:nvSpPr>
          <p:cNvPr id="120" name="Shape 118"/>
          <p:cNvSpPr/>
          <p:nvPr/>
        </p:nvSpPr>
        <p:spPr>
          <a:xfrm>
            <a:off x="8215231" y="1801368"/>
            <a:ext cx="528393" cy="292608"/>
          </a:xfrm>
          <a:prstGeom prst="roundRect">
            <a:avLst>
              <a:gd name="adj" fmla="val 15625"/>
            </a:avLst>
          </a:prstGeom>
          <a:solidFill>
            <a:srgbClr val="36454F"/>
          </a:solidFill>
          <a:ln/>
        </p:spPr>
      </p:sp>
      <p:sp>
        <p:nvSpPr>
          <p:cNvPr id="121" name="Text 119"/>
          <p:cNvSpPr txBox="1"/>
          <p:nvPr/>
        </p:nvSpPr>
        <p:spPr>
          <a:xfrm>
            <a:off x="8215231" y="1801368"/>
            <a:ext cx="528393" cy="29260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0</a:t>
            </a:r>
            <a:endParaRPr lang="tr-TR" sz="1300" dirty="0"/>
          </a:p>
        </p:txBody>
      </p:sp>
      <p:sp>
        <p:nvSpPr>
          <p:cNvPr id="122" name="Shape 120"/>
          <p:cNvSpPr/>
          <p:nvPr/>
        </p:nvSpPr>
        <p:spPr>
          <a:xfrm>
            <a:off x="8215231" y="2130552"/>
            <a:ext cx="528393" cy="292608"/>
          </a:xfrm>
          <a:prstGeom prst="roundRect">
            <a:avLst>
              <a:gd name="adj" fmla="val 15625"/>
            </a:avLst>
          </a:prstGeom>
          <a:solidFill>
            <a:srgbClr val="F2F2F2"/>
          </a:solidFill>
          <a:ln/>
        </p:spPr>
      </p:sp>
      <p:sp>
        <p:nvSpPr>
          <p:cNvPr id="123" name="Text 121"/>
          <p:cNvSpPr txBox="1"/>
          <p:nvPr/>
        </p:nvSpPr>
        <p:spPr>
          <a:xfrm>
            <a:off x="8215231" y="2130552"/>
            <a:ext cx="528393" cy="292608"/>
          </a:xfrm>
          <a:prstGeom prst="rect">
            <a:avLst/>
          </a:prstGeom>
          <a:noFill/>
          <a:ln/>
        </p:spPr>
        <p:txBody>
          <a:bodyPr wrap="square" lIns="38100" tIns="38100" rIns="38100" bIns="38100" rtlCol="0" anchor="ctr"/>
          <a:lstStyle/>
          <a:p>
            <a:pPr algn="ctr" indent="0" marL="0">
              <a:buNone/>
            </a:pPr>
            <a:r>
              <a:rPr lang="tr-TR" sz="1300" dirty="0">
                <a:solidFill>
                  <a:srgbClr val="9AA5A8"/>
                </a:solidFill>
                <a:latin typeface="Calibri" pitchFamily="34" charset="0"/>
                <a:ea typeface="Calibri" pitchFamily="34" charset="-122"/>
                <a:cs typeface="Calibri" pitchFamily="34" charset="-120"/>
              </a:rPr>
              <a:t>1</a:t>
            </a:r>
            <a:endParaRPr lang="tr-TR" sz="1300" dirty="0"/>
          </a:p>
        </p:txBody>
      </p:sp>
      <p:sp>
        <p:nvSpPr>
          <p:cNvPr id="124" name="Shape 122"/>
          <p:cNvSpPr/>
          <p:nvPr/>
        </p:nvSpPr>
        <p:spPr>
          <a:xfrm>
            <a:off x="8215231" y="2459736"/>
            <a:ext cx="528393" cy="292608"/>
          </a:xfrm>
          <a:prstGeom prst="roundRect">
            <a:avLst>
              <a:gd name="adj" fmla="val 15625"/>
            </a:avLst>
          </a:prstGeom>
          <a:solidFill>
            <a:srgbClr val="F2F2F2"/>
          </a:solidFill>
          <a:ln/>
        </p:spPr>
      </p:sp>
      <p:sp>
        <p:nvSpPr>
          <p:cNvPr id="125" name="Text 123"/>
          <p:cNvSpPr txBox="1"/>
          <p:nvPr/>
        </p:nvSpPr>
        <p:spPr>
          <a:xfrm>
            <a:off x="8215231" y="2459736"/>
            <a:ext cx="528393" cy="292608"/>
          </a:xfrm>
          <a:prstGeom prst="rect">
            <a:avLst/>
          </a:prstGeom>
          <a:noFill/>
          <a:ln/>
        </p:spPr>
        <p:txBody>
          <a:bodyPr wrap="square" lIns="38100" tIns="38100" rIns="38100" bIns="38100" rtlCol="0" anchor="ctr"/>
          <a:lstStyle/>
          <a:p>
            <a:pPr algn="ctr" indent="0" marL="0">
              <a:buNone/>
            </a:pPr>
            <a:r>
              <a:rPr lang="tr-TR" sz="1300" dirty="0">
                <a:solidFill>
                  <a:srgbClr val="9AA5A8"/>
                </a:solidFill>
                <a:latin typeface="Calibri" pitchFamily="34" charset="0"/>
                <a:ea typeface="Calibri" pitchFamily="34" charset="-122"/>
                <a:cs typeface="Calibri" pitchFamily="34" charset="-120"/>
              </a:rPr>
              <a:t>2</a:t>
            </a:r>
            <a:endParaRPr lang="tr-TR" sz="1300" dirty="0"/>
          </a:p>
        </p:txBody>
      </p:sp>
      <p:sp>
        <p:nvSpPr>
          <p:cNvPr id="126" name="Shape 124"/>
          <p:cNvSpPr/>
          <p:nvPr/>
        </p:nvSpPr>
        <p:spPr>
          <a:xfrm>
            <a:off x="8215231" y="2788920"/>
            <a:ext cx="528393" cy="292608"/>
          </a:xfrm>
          <a:prstGeom prst="roundRect">
            <a:avLst>
              <a:gd name="adj" fmla="val 15625"/>
            </a:avLst>
          </a:prstGeom>
          <a:solidFill>
            <a:srgbClr val="F2F2F2"/>
          </a:solidFill>
          <a:ln/>
        </p:spPr>
      </p:sp>
      <p:sp>
        <p:nvSpPr>
          <p:cNvPr id="127" name="Text 125"/>
          <p:cNvSpPr txBox="1"/>
          <p:nvPr/>
        </p:nvSpPr>
        <p:spPr>
          <a:xfrm>
            <a:off x="8215231" y="2788920"/>
            <a:ext cx="528393" cy="292608"/>
          </a:xfrm>
          <a:prstGeom prst="rect">
            <a:avLst/>
          </a:prstGeom>
          <a:noFill/>
          <a:ln/>
        </p:spPr>
        <p:txBody>
          <a:bodyPr wrap="square" lIns="38100" tIns="38100" rIns="38100" bIns="38100" rtlCol="0" anchor="ctr"/>
          <a:lstStyle/>
          <a:p>
            <a:pPr algn="ctr" indent="0" marL="0">
              <a:buNone/>
            </a:pPr>
            <a:r>
              <a:rPr lang="tr-TR" sz="1300" dirty="0">
                <a:solidFill>
                  <a:srgbClr val="9AA5A8"/>
                </a:solidFill>
                <a:latin typeface="Calibri" pitchFamily="34" charset="0"/>
                <a:ea typeface="Calibri" pitchFamily="34" charset="-122"/>
                <a:cs typeface="Calibri" pitchFamily="34" charset="-120"/>
              </a:rPr>
              <a:t>0</a:t>
            </a:r>
            <a:endParaRPr lang="tr-TR" sz="1300" dirty="0"/>
          </a:p>
        </p:txBody>
      </p:sp>
      <p:sp>
        <p:nvSpPr>
          <p:cNvPr id="128" name="Text 126"/>
          <p:cNvSpPr txBox="1"/>
          <p:nvPr/>
        </p:nvSpPr>
        <p:spPr>
          <a:xfrm>
            <a:off x="8196943" y="3099816"/>
            <a:ext cx="564969" cy="329184"/>
          </a:xfrm>
          <a:prstGeom prst="rect">
            <a:avLst/>
          </a:prstGeom>
          <a:noFill/>
          <a:ln/>
        </p:spPr>
        <p:txBody>
          <a:bodyPr wrap="square" lIns="0" tIns="0" rIns="0" bIns="0" rtlCol="0" anchor="ctr"/>
          <a:lstStyle/>
          <a:p>
            <a:pPr algn="ctr" indent="0" marL="0">
              <a:buNone/>
            </a:pPr>
            <a:endParaRPr lang="tr-TR" sz="1300" dirty="0"/>
          </a:p>
        </p:txBody>
      </p:sp>
      <p:sp>
        <p:nvSpPr>
          <p:cNvPr id="129" name="Shape 127"/>
          <p:cNvSpPr/>
          <p:nvPr/>
        </p:nvSpPr>
        <p:spPr>
          <a:xfrm>
            <a:off x="8780199" y="1801368"/>
            <a:ext cx="528393" cy="292608"/>
          </a:xfrm>
          <a:prstGeom prst="roundRect">
            <a:avLst>
              <a:gd name="adj" fmla="val 15625"/>
            </a:avLst>
          </a:prstGeom>
          <a:solidFill>
            <a:srgbClr val="36454F"/>
          </a:solidFill>
          <a:ln/>
        </p:spPr>
      </p:sp>
      <p:sp>
        <p:nvSpPr>
          <p:cNvPr id="130" name="Text 128"/>
          <p:cNvSpPr txBox="1"/>
          <p:nvPr/>
        </p:nvSpPr>
        <p:spPr>
          <a:xfrm>
            <a:off x="8780199" y="1801368"/>
            <a:ext cx="528393" cy="29260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1</a:t>
            </a:r>
            <a:endParaRPr lang="tr-TR" sz="1300" dirty="0"/>
          </a:p>
        </p:txBody>
      </p:sp>
      <p:sp>
        <p:nvSpPr>
          <p:cNvPr id="131" name="Shape 129"/>
          <p:cNvSpPr/>
          <p:nvPr/>
        </p:nvSpPr>
        <p:spPr>
          <a:xfrm>
            <a:off x="8780199" y="2130552"/>
            <a:ext cx="528393" cy="292608"/>
          </a:xfrm>
          <a:prstGeom prst="roundRect">
            <a:avLst>
              <a:gd name="adj" fmla="val 15625"/>
            </a:avLst>
          </a:prstGeom>
          <a:solidFill>
            <a:srgbClr val="F2F2F2"/>
          </a:solidFill>
          <a:ln/>
        </p:spPr>
      </p:sp>
      <p:sp>
        <p:nvSpPr>
          <p:cNvPr id="132" name="Text 130"/>
          <p:cNvSpPr txBox="1"/>
          <p:nvPr/>
        </p:nvSpPr>
        <p:spPr>
          <a:xfrm>
            <a:off x="8780199" y="2130552"/>
            <a:ext cx="528393" cy="292608"/>
          </a:xfrm>
          <a:prstGeom prst="rect">
            <a:avLst/>
          </a:prstGeom>
          <a:noFill/>
          <a:ln/>
        </p:spPr>
        <p:txBody>
          <a:bodyPr wrap="square" lIns="38100" tIns="38100" rIns="38100" bIns="38100" rtlCol="0" anchor="ctr"/>
          <a:lstStyle/>
          <a:p>
            <a:pPr algn="ctr" indent="0" marL="0">
              <a:buNone/>
            </a:pPr>
            <a:r>
              <a:rPr lang="tr-TR" sz="1300" dirty="0">
                <a:solidFill>
                  <a:srgbClr val="9AA5A8"/>
                </a:solidFill>
                <a:latin typeface="Calibri" pitchFamily="34" charset="0"/>
                <a:ea typeface="Calibri" pitchFamily="34" charset="-122"/>
                <a:cs typeface="Calibri" pitchFamily="34" charset="-120"/>
              </a:rPr>
              <a:t>1</a:t>
            </a:r>
            <a:endParaRPr lang="tr-TR" sz="1300" dirty="0"/>
          </a:p>
        </p:txBody>
      </p:sp>
      <p:sp>
        <p:nvSpPr>
          <p:cNvPr id="133" name="Shape 131"/>
          <p:cNvSpPr/>
          <p:nvPr/>
        </p:nvSpPr>
        <p:spPr>
          <a:xfrm>
            <a:off x="8780199" y="2459736"/>
            <a:ext cx="528393" cy="292608"/>
          </a:xfrm>
          <a:prstGeom prst="roundRect">
            <a:avLst>
              <a:gd name="adj" fmla="val 15625"/>
            </a:avLst>
          </a:prstGeom>
          <a:solidFill>
            <a:srgbClr val="F2F2F2"/>
          </a:solidFill>
          <a:ln/>
        </p:spPr>
      </p:sp>
      <p:sp>
        <p:nvSpPr>
          <p:cNvPr id="134" name="Text 132"/>
          <p:cNvSpPr txBox="1"/>
          <p:nvPr/>
        </p:nvSpPr>
        <p:spPr>
          <a:xfrm>
            <a:off x="8780199" y="2459736"/>
            <a:ext cx="528393" cy="292608"/>
          </a:xfrm>
          <a:prstGeom prst="rect">
            <a:avLst/>
          </a:prstGeom>
          <a:noFill/>
          <a:ln/>
        </p:spPr>
        <p:txBody>
          <a:bodyPr wrap="square" lIns="38100" tIns="38100" rIns="38100" bIns="38100" rtlCol="0" anchor="ctr"/>
          <a:lstStyle/>
          <a:p>
            <a:pPr algn="ctr" indent="0" marL="0">
              <a:buNone/>
            </a:pPr>
            <a:r>
              <a:rPr lang="tr-TR" sz="1300" dirty="0">
                <a:solidFill>
                  <a:srgbClr val="9AA5A8"/>
                </a:solidFill>
                <a:latin typeface="Calibri" pitchFamily="34" charset="0"/>
                <a:ea typeface="Calibri" pitchFamily="34" charset="-122"/>
                <a:cs typeface="Calibri" pitchFamily="34" charset="-120"/>
              </a:rPr>
              <a:t>2</a:t>
            </a:r>
            <a:endParaRPr lang="tr-TR" sz="1300" dirty="0"/>
          </a:p>
        </p:txBody>
      </p:sp>
      <p:sp>
        <p:nvSpPr>
          <p:cNvPr id="135" name="Shape 133"/>
          <p:cNvSpPr/>
          <p:nvPr/>
        </p:nvSpPr>
        <p:spPr>
          <a:xfrm>
            <a:off x="8780199" y="2788920"/>
            <a:ext cx="528393" cy="292608"/>
          </a:xfrm>
          <a:prstGeom prst="roundRect">
            <a:avLst>
              <a:gd name="adj" fmla="val 15625"/>
            </a:avLst>
          </a:prstGeom>
          <a:solidFill>
            <a:srgbClr val="F2F2F2"/>
          </a:solidFill>
          <a:ln/>
        </p:spPr>
      </p:sp>
      <p:sp>
        <p:nvSpPr>
          <p:cNvPr id="136" name="Text 134"/>
          <p:cNvSpPr txBox="1"/>
          <p:nvPr/>
        </p:nvSpPr>
        <p:spPr>
          <a:xfrm>
            <a:off x="8780199" y="2788920"/>
            <a:ext cx="528393" cy="292608"/>
          </a:xfrm>
          <a:prstGeom prst="rect">
            <a:avLst/>
          </a:prstGeom>
          <a:noFill/>
          <a:ln/>
        </p:spPr>
        <p:txBody>
          <a:bodyPr wrap="square" lIns="38100" tIns="38100" rIns="38100" bIns="38100" rtlCol="0" anchor="ctr"/>
          <a:lstStyle/>
          <a:p>
            <a:pPr algn="ctr" indent="0" marL="0">
              <a:buNone/>
            </a:pPr>
            <a:r>
              <a:rPr lang="tr-TR" sz="1300" dirty="0">
                <a:solidFill>
                  <a:srgbClr val="9AA5A8"/>
                </a:solidFill>
                <a:latin typeface="Calibri" pitchFamily="34" charset="0"/>
                <a:ea typeface="Calibri" pitchFamily="34" charset="-122"/>
                <a:cs typeface="Calibri" pitchFamily="34" charset="-120"/>
              </a:rPr>
              <a:t>0</a:t>
            </a:r>
            <a:endParaRPr lang="tr-TR" sz="1300" dirty="0"/>
          </a:p>
        </p:txBody>
      </p:sp>
      <p:sp>
        <p:nvSpPr>
          <p:cNvPr id="137" name="Text 135"/>
          <p:cNvSpPr txBox="1"/>
          <p:nvPr/>
        </p:nvSpPr>
        <p:spPr>
          <a:xfrm>
            <a:off x="8761911" y="3099816"/>
            <a:ext cx="564969" cy="329184"/>
          </a:xfrm>
          <a:prstGeom prst="rect">
            <a:avLst/>
          </a:prstGeom>
          <a:noFill/>
          <a:ln/>
        </p:spPr>
        <p:txBody>
          <a:bodyPr wrap="square" lIns="0" tIns="0" rIns="0" bIns="0" rtlCol="0" anchor="ctr"/>
          <a:lstStyle/>
          <a:p>
            <a:pPr algn="ctr" indent="0" marL="0">
              <a:buNone/>
            </a:pPr>
            <a:endParaRPr lang="tr-TR" sz="1300" dirty="0"/>
          </a:p>
        </p:txBody>
      </p:sp>
      <p:sp>
        <p:nvSpPr>
          <p:cNvPr id="138" name="Shape 136"/>
          <p:cNvSpPr/>
          <p:nvPr/>
        </p:nvSpPr>
        <p:spPr>
          <a:xfrm>
            <a:off x="9555480" y="1783080"/>
            <a:ext cx="2103120" cy="1645920"/>
          </a:xfrm>
          <a:prstGeom prst="roundRect">
            <a:avLst>
              <a:gd name="adj" fmla="val 3333"/>
            </a:avLst>
          </a:prstGeom>
          <a:solidFill>
            <a:srgbClr val="36454F"/>
          </a:solidFill>
          <a:ln/>
        </p:spPr>
      </p:sp>
      <p:sp>
        <p:nvSpPr>
          <p:cNvPr id="139" name="Text 137"/>
          <p:cNvSpPr txBox="1"/>
          <p:nvPr/>
        </p:nvSpPr>
        <p:spPr>
          <a:xfrm>
            <a:off x="9692640" y="1783080"/>
            <a:ext cx="1828800" cy="1645920"/>
          </a:xfrm>
          <a:prstGeom prst="rect">
            <a:avLst/>
          </a:prstGeom>
          <a:noFill/>
          <a:ln/>
        </p:spPr>
        <p:txBody>
          <a:bodyPr wrap="square" lIns="0" tIns="0" rIns="0" bIns="0" rtlCol="0" anchor="ctr"/>
          <a:lstStyle/>
          <a:p>
            <a:pPr algn="ctr" indent="0" marL="0">
              <a:buNone/>
            </a:pPr>
            <a:r>
              <a:rPr lang="tr-TR" sz="3400" b="1" dirty="0">
                <a:solidFill>
                  <a:srgbClr val="02C39A"/>
                </a:solidFill>
                <a:latin typeface="Cambria" pitchFamily="34" charset="0"/>
                <a:ea typeface="Cambria" pitchFamily="34" charset="-122"/>
                <a:cs typeface="Cambria" pitchFamily="34" charset="-120"/>
              </a:rPr>
              <a:t>7</a:t>
            </a:r>
            <a:endParaRPr lang="tr-TR" sz="1400" dirty="0"/>
          </a:p>
          <a:p>
            <a:pPr algn="ctr" indent="0" marL="0">
              <a:buNone/>
            </a:pPr>
            <a:r>
              <a:rPr lang="tr-TR" sz="1250" dirty="0">
                <a:solidFill>
                  <a:srgbClr val="F2F2F2"/>
                </a:solidFill>
                <a:latin typeface="Calibri" pitchFamily="34" charset="0"/>
                <a:ea typeface="Calibri" pitchFamily="34" charset="-122"/>
                <a:cs typeface="Calibri" pitchFamily="34" charset="-120"/>
              </a:rPr>
              <a:t>OPT ile hata (en az)</a:t>
            </a:r>
            <a:endParaRPr lang="tr-TR" sz="1400" dirty="0"/>
          </a:p>
        </p:txBody>
      </p:sp>
      <p:sp>
        <p:nvSpPr>
          <p:cNvPr id="140" name="Text 138"/>
          <p:cNvSpPr txBox="1"/>
          <p:nvPr/>
        </p:nvSpPr>
        <p:spPr>
          <a:xfrm>
            <a:off x="548640" y="3931920"/>
            <a:ext cx="822960" cy="411480"/>
          </a:xfrm>
          <a:prstGeom prst="rect">
            <a:avLst/>
          </a:prstGeom>
          <a:noFill/>
          <a:ln/>
        </p:spPr>
        <p:txBody>
          <a:bodyPr wrap="square" lIns="0" tIns="0" rIns="0" bIns="0" rtlCol="0" anchor="ctr"/>
          <a:lstStyle/>
          <a:p>
            <a:pPr indent="0" marL="0">
              <a:buNone/>
            </a:pPr>
            <a:r>
              <a:rPr lang="tr-TR" sz="1400" b="1" dirty="0">
                <a:solidFill>
                  <a:srgbClr val="36454F"/>
                </a:solidFill>
                <a:latin typeface="Calibri" pitchFamily="34" charset="0"/>
                <a:ea typeface="Calibri" pitchFamily="34" charset="-122"/>
                <a:cs typeface="Calibri" pitchFamily="34" charset="-120"/>
              </a:rPr>
              <a:t>OPT</a:t>
            </a:r>
            <a:endParaRPr lang="tr-TR" sz="1400" dirty="0"/>
          </a:p>
        </p:txBody>
      </p:sp>
      <p:sp>
        <p:nvSpPr>
          <p:cNvPr id="141" name="Shape 139"/>
          <p:cNvSpPr/>
          <p:nvPr/>
        </p:nvSpPr>
        <p:spPr>
          <a:xfrm>
            <a:off x="1417320" y="3986784"/>
            <a:ext cx="2377440" cy="310896"/>
          </a:xfrm>
          <a:prstGeom prst="rect">
            <a:avLst/>
          </a:prstGeom>
          <a:solidFill>
            <a:srgbClr val="02C39A"/>
          </a:solidFill>
          <a:ln/>
        </p:spPr>
      </p:sp>
      <p:sp>
        <p:nvSpPr>
          <p:cNvPr id="142" name="Text 140"/>
          <p:cNvSpPr txBox="1"/>
          <p:nvPr/>
        </p:nvSpPr>
        <p:spPr>
          <a:xfrm>
            <a:off x="3886200" y="3931920"/>
            <a:ext cx="1280160" cy="411480"/>
          </a:xfrm>
          <a:prstGeom prst="rect">
            <a:avLst/>
          </a:prstGeom>
          <a:noFill/>
          <a:ln/>
        </p:spPr>
        <p:txBody>
          <a:bodyPr wrap="square" lIns="0" tIns="0" rIns="0" bIns="0" rtlCol="0" anchor="ctr"/>
          <a:lstStyle/>
          <a:p>
            <a:pPr indent="0" marL="0">
              <a:buNone/>
            </a:pPr>
            <a:r>
              <a:rPr lang="tr-TR" sz="1300" b="1" dirty="0">
                <a:solidFill>
                  <a:srgbClr val="36454F"/>
                </a:solidFill>
                <a:latin typeface="Calibri" pitchFamily="34" charset="0"/>
                <a:ea typeface="Calibri" pitchFamily="34" charset="-122"/>
                <a:cs typeface="Calibri" pitchFamily="34" charset="-120"/>
              </a:rPr>
              <a:t>7 hata</a:t>
            </a:r>
            <a:endParaRPr lang="tr-TR" sz="1300" dirty="0"/>
          </a:p>
        </p:txBody>
      </p:sp>
      <p:sp>
        <p:nvSpPr>
          <p:cNvPr id="143" name="Text 141"/>
          <p:cNvSpPr txBox="1"/>
          <p:nvPr/>
        </p:nvSpPr>
        <p:spPr>
          <a:xfrm>
            <a:off x="548640" y="4434840"/>
            <a:ext cx="822960" cy="411480"/>
          </a:xfrm>
          <a:prstGeom prst="rect">
            <a:avLst/>
          </a:prstGeom>
          <a:noFill/>
          <a:ln/>
        </p:spPr>
        <p:txBody>
          <a:bodyPr wrap="square" lIns="0" tIns="0" rIns="0" bIns="0" rtlCol="0" anchor="ctr"/>
          <a:lstStyle/>
          <a:p>
            <a:pPr indent="0" marL="0">
              <a:buNone/>
            </a:pPr>
            <a:r>
              <a:rPr lang="tr-TR" sz="1400" b="1" dirty="0">
                <a:solidFill>
                  <a:srgbClr val="36454F"/>
                </a:solidFill>
                <a:latin typeface="Calibri" pitchFamily="34" charset="0"/>
                <a:ea typeface="Calibri" pitchFamily="34" charset="-122"/>
                <a:cs typeface="Calibri" pitchFamily="34" charset="-120"/>
              </a:rPr>
              <a:t>LRU</a:t>
            </a:r>
            <a:endParaRPr lang="tr-TR" sz="1400" dirty="0"/>
          </a:p>
        </p:txBody>
      </p:sp>
      <p:sp>
        <p:nvSpPr>
          <p:cNvPr id="144" name="Shape 142"/>
          <p:cNvSpPr/>
          <p:nvPr/>
        </p:nvSpPr>
        <p:spPr>
          <a:xfrm>
            <a:off x="1417320" y="4489704"/>
            <a:ext cx="3056709" cy="310896"/>
          </a:xfrm>
          <a:prstGeom prst="rect">
            <a:avLst/>
          </a:prstGeom>
          <a:solidFill>
            <a:srgbClr val="028090"/>
          </a:solidFill>
          <a:ln/>
        </p:spPr>
      </p:sp>
      <p:sp>
        <p:nvSpPr>
          <p:cNvPr id="145" name="Text 143"/>
          <p:cNvSpPr txBox="1"/>
          <p:nvPr/>
        </p:nvSpPr>
        <p:spPr>
          <a:xfrm>
            <a:off x="4565469" y="4434840"/>
            <a:ext cx="1280160" cy="411480"/>
          </a:xfrm>
          <a:prstGeom prst="rect">
            <a:avLst/>
          </a:prstGeom>
          <a:noFill/>
          <a:ln/>
        </p:spPr>
        <p:txBody>
          <a:bodyPr wrap="square" lIns="0" tIns="0" rIns="0" bIns="0" rtlCol="0" anchor="ctr"/>
          <a:lstStyle/>
          <a:p>
            <a:pPr indent="0" marL="0">
              <a:buNone/>
            </a:pPr>
            <a:r>
              <a:rPr lang="tr-TR" sz="1300" b="1" dirty="0">
                <a:solidFill>
                  <a:srgbClr val="36454F"/>
                </a:solidFill>
                <a:latin typeface="Calibri" pitchFamily="34" charset="0"/>
                <a:ea typeface="Calibri" pitchFamily="34" charset="-122"/>
                <a:cs typeface="Calibri" pitchFamily="34" charset="-120"/>
              </a:rPr>
              <a:t>9 hata</a:t>
            </a:r>
            <a:endParaRPr lang="tr-TR" sz="1300" dirty="0"/>
          </a:p>
        </p:txBody>
      </p:sp>
      <p:sp>
        <p:nvSpPr>
          <p:cNvPr id="146" name="Text 144"/>
          <p:cNvSpPr txBox="1"/>
          <p:nvPr/>
        </p:nvSpPr>
        <p:spPr>
          <a:xfrm>
            <a:off x="548640" y="4937760"/>
            <a:ext cx="822960" cy="411480"/>
          </a:xfrm>
          <a:prstGeom prst="rect">
            <a:avLst/>
          </a:prstGeom>
          <a:noFill/>
          <a:ln/>
        </p:spPr>
        <p:txBody>
          <a:bodyPr wrap="square" lIns="0" tIns="0" rIns="0" bIns="0" rtlCol="0" anchor="ctr"/>
          <a:lstStyle/>
          <a:p>
            <a:pPr indent="0" marL="0">
              <a:buNone/>
            </a:pPr>
            <a:r>
              <a:rPr lang="tr-TR" sz="1400" b="1" dirty="0">
                <a:solidFill>
                  <a:srgbClr val="36454F"/>
                </a:solidFill>
                <a:latin typeface="Calibri" pitchFamily="34" charset="0"/>
                <a:ea typeface="Calibri" pitchFamily="34" charset="-122"/>
                <a:cs typeface="Calibri" pitchFamily="34" charset="-120"/>
              </a:rPr>
              <a:t>FIFO</a:t>
            </a:r>
            <a:endParaRPr lang="tr-TR" sz="1400" dirty="0"/>
          </a:p>
        </p:txBody>
      </p:sp>
      <p:sp>
        <p:nvSpPr>
          <p:cNvPr id="147" name="Shape 145"/>
          <p:cNvSpPr/>
          <p:nvPr/>
        </p:nvSpPr>
        <p:spPr>
          <a:xfrm>
            <a:off x="1417320" y="4992624"/>
            <a:ext cx="3735977" cy="310896"/>
          </a:xfrm>
          <a:prstGeom prst="rect">
            <a:avLst/>
          </a:prstGeom>
          <a:solidFill>
            <a:srgbClr val="50808E"/>
          </a:solidFill>
          <a:ln/>
        </p:spPr>
      </p:sp>
      <p:sp>
        <p:nvSpPr>
          <p:cNvPr id="148" name="Text 146"/>
          <p:cNvSpPr txBox="1"/>
          <p:nvPr/>
        </p:nvSpPr>
        <p:spPr>
          <a:xfrm>
            <a:off x="5244737" y="4937760"/>
            <a:ext cx="1280160" cy="411480"/>
          </a:xfrm>
          <a:prstGeom prst="rect">
            <a:avLst/>
          </a:prstGeom>
          <a:noFill/>
          <a:ln/>
        </p:spPr>
        <p:txBody>
          <a:bodyPr wrap="square" lIns="0" tIns="0" rIns="0" bIns="0" rtlCol="0" anchor="ctr"/>
          <a:lstStyle/>
          <a:p>
            <a:pPr indent="0" marL="0">
              <a:buNone/>
            </a:pPr>
            <a:r>
              <a:rPr lang="tr-TR" sz="1300" b="1" dirty="0">
                <a:solidFill>
                  <a:srgbClr val="36454F"/>
                </a:solidFill>
                <a:latin typeface="Calibri" pitchFamily="34" charset="0"/>
                <a:ea typeface="Calibri" pitchFamily="34" charset="-122"/>
                <a:cs typeface="Calibri" pitchFamily="34" charset="-120"/>
              </a:rPr>
              <a:t>11 hata</a:t>
            </a:r>
            <a:endParaRPr lang="tr-TR" sz="1300" dirty="0"/>
          </a:p>
        </p:txBody>
      </p:sp>
      <p:sp>
        <p:nvSpPr>
          <p:cNvPr id="149" name="Text 147"/>
          <p:cNvSpPr txBox="1"/>
          <p:nvPr/>
        </p:nvSpPr>
        <p:spPr>
          <a:xfrm>
            <a:off x="548640" y="5440680"/>
            <a:ext cx="4572000" cy="274320"/>
          </a:xfrm>
          <a:prstGeom prst="rect">
            <a:avLst/>
          </a:prstGeom>
          <a:noFill/>
          <a:ln/>
        </p:spPr>
        <p:txBody>
          <a:bodyPr wrap="square" lIns="0" tIns="0" rIns="0" bIns="0" rtlCol="0" anchor="t"/>
          <a:lstStyle/>
          <a:p>
            <a:pPr indent="0" marL="0">
              <a:buNone/>
            </a:pPr>
            <a:r>
              <a:rPr lang="tr-TR" sz="1100" i="1" dirty="0">
                <a:solidFill>
                  <a:srgbClr val="6B7679"/>
                </a:solidFill>
                <a:latin typeface="Calibri" pitchFamily="34" charset="0"/>
                <a:ea typeface="Calibri" pitchFamily="34" charset="-122"/>
                <a:cs typeface="Calibri" pitchFamily="34" charset="-120"/>
              </a:rPr>
              <a:t>14 başvuru içinde</a:t>
            </a:r>
            <a:endParaRPr lang="tr-TR" sz="1100" dirty="0"/>
          </a:p>
        </p:txBody>
      </p:sp>
      <p:sp>
        <p:nvSpPr>
          <p:cNvPr id="150" name="Shape 148"/>
          <p:cNvSpPr/>
          <p:nvPr/>
        </p:nvSpPr>
        <p:spPr>
          <a:xfrm>
            <a:off x="6949440" y="3794760"/>
            <a:ext cx="4709160" cy="2468880"/>
          </a:xfrm>
          <a:prstGeom prst="roundRect">
            <a:avLst>
              <a:gd name="adj" fmla="val 2222"/>
            </a:avLst>
          </a:prstGeom>
          <a:solidFill>
            <a:srgbClr val="F2F2F2"/>
          </a:solidFill>
          <a:ln/>
          <a:effectLst>
            <a:outerShdw sx="100000" sy="100000" kx="0" ky="0" algn="bl" rotWithShape="0" blurRad="101600" dist="25400" dir="5400000">
              <a:srgbClr val="000000">
                <a:alpha val="12000"/>
              </a:srgbClr>
            </a:outerShdw>
          </a:effectLst>
        </p:spPr>
      </p:sp>
      <p:sp>
        <p:nvSpPr>
          <p:cNvPr id="151" name="Text 149"/>
          <p:cNvSpPr txBox="1"/>
          <p:nvPr/>
        </p:nvSpPr>
        <p:spPr>
          <a:xfrm>
            <a:off x="7178040" y="3977640"/>
            <a:ext cx="425196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Yapabileceğiniz denetimler</a:t>
            </a:r>
            <a:endParaRPr lang="tr-TR" sz="1500" dirty="0"/>
          </a:p>
        </p:txBody>
      </p:sp>
      <p:sp>
        <p:nvSpPr>
          <p:cNvPr id="152" name="Text 150"/>
          <p:cNvSpPr txBox="1"/>
          <p:nvPr/>
        </p:nvSpPr>
        <p:spPr>
          <a:xfrm>
            <a:off x="7178040" y="4434840"/>
            <a:ext cx="4251960" cy="1691640"/>
          </a:xfrm>
          <a:prstGeom prst="rect">
            <a:avLst/>
          </a:prstGeom>
          <a:noFill/>
          <a:ln/>
        </p:spPr>
        <p:txBody>
          <a:bodyPr wrap="square" lIns="0" tIns="0" rIns="0" bIns="0" rtlCol="0" anchor="t"/>
          <a:lstStyle/>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Zorunlu hatalar: 5 farklı sayfa (0, 1, 2, 3, 4) → her algoritmada en az 5 hata.</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Her zaman OPT ≤ LRU ve OPT ≤ FIFO.</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4 çerçeveyle: FIFO 8, LRU 7, OPT 6 — burada anomali yok.</a:t>
            </a:r>
            <a:endParaRPr lang="tr-TR"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7. PROBLEM · 7. HAFTA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Sayfa Hatalı EAT ve Doğrudan Erişim Hesabı</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8  ·  31</a:t>
            </a:r>
            <a:endParaRPr lang="tr-TR" sz="900" dirty="0"/>
          </a:p>
        </p:txBody>
      </p:sp>
      <p:sp>
        <p:nvSpPr>
          <p:cNvPr id="6" name="Text 4"/>
          <p:cNvSpPr txBox="1"/>
          <p:nvPr/>
        </p:nvSpPr>
        <p:spPr>
          <a:xfrm>
            <a:off x="548640" y="1463040"/>
            <a:ext cx="5486400" cy="320040"/>
          </a:xfrm>
          <a:prstGeom prst="rect">
            <a:avLst/>
          </a:prstGeom>
          <a:noFill/>
          <a:ln/>
        </p:spPr>
        <p:txBody>
          <a:bodyPr wrap="square" lIns="0" tIns="0" rIns="0" bIns="0" rtlCol="0" anchor="t"/>
          <a:lstStyle/>
          <a:p>
            <a:pPr indent="0" marL="0">
              <a:buNone/>
            </a:pPr>
            <a:r>
              <a:rPr lang="tr-TR" sz="1400" b="1" dirty="0">
                <a:solidFill>
                  <a:srgbClr val="028090"/>
                </a:solidFill>
                <a:latin typeface="Calibri" pitchFamily="34" charset="0"/>
                <a:ea typeface="Calibri" pitchFamily="34" charset="-122"/>
                <a:cs typeface="Calibri" pitchFamily="34" charset="-120"/>
              </a:rPr>
              <a:t>(a) t_m = 100 ns, t_fault = 6 ms, p = 0,0002</a:t>
            </a:r>
            <a:endParaRPr lang="tr-TR" sz="1400" dirty="0"/>
          </a:p>
        </p:txBody>
      </p:sp>
      <p:sp>
        <p:nvSpPr>
          <p:cNvPr id="7" name="Shape 5"/>
          <p:cNvSpPr/>
          <p:nvPr/>
        </p:nvSpPr>
        <p:spPr>
          <a:xfrm>
            <a:off x="548640" y="1828800"/>
            <a:ext cx="5486400" cy="3017520"/>
          </a:xfrm>
          <a:prstGeom prst="roundRect">
            <a:avLst>
              <a:gd name="adj" fmla="val 1515"/>
            </a:avLst>
          </a:prstGeom>
          <a:solidFill>
            <a:srgbClr val="212121"/>
          </a:solidFill>
          <a:ln/>
        </p:spPr>
      </p:sp>
      <p:sp>
        <p:nvSpPr>
          <p:cNvPr id="8" name="Text 6"/>
          <p:cNvSpPr txBox="1"/>
          <p:nvPr/>
        </p:nvSpPr>
        <p:spPr>
          <a:xfrm>
            <a:off x="731520" y="1938528"/>
            <a:ext cx="5120640" cy="2798064"/>
          </a:xfrm>
          <a:prstGeom prst="rect">
            <a:avLst/>
          </a:prstGeom>
          <a:noFill/>
          <a:ln/>
        </p:spPr>
        <p:txBody>
          <a:bodyPr wrap="square" lIns="0" tIns="0" rIns="0" bIns="0" rtlCol="0" anchor="t"/>
          <a:lstStyle/>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t_fault = 6 ms = 6,000,000 ns</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EAT = 0.9998 × 100 + 0.0002 × 6,000,000</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    = 99.98 + 1,200 = 1299.98 ns</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 RAM'den yaklaşık 13 kat yavaş</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 </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yavaşlama &lt; %5:  EAT &lt; 105 ns</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100 + p (6,000,000 − 100) &lt; 105</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p &lt; 5 / 5,999,900 ≈ 8.3 × 10⁻⁷</a:t>
            </a:r>
            <a:endParaRPr lang="tr-TR" sz="1300" dirty="0"/>
          </a:p>
        </p:txBody>
      </p:sp>
      <p:sp>
        <p:nvSpPr>
          <p:cNvPr id="9" name="Text 7"/>
          <p:cNvSpPr txBox="1"/>
          <p:nvPr/>
        </p:nvSpPr>
        <p:spPr>
          <a:xfrm>
            <a:off x="6172200" y="1463040"/>
            <a:ext cx="5486400" cy="320040"/>
          </a:xfrm>
          <a:prstGeom prst="rect">
            <a:avLst/>
          </a:prstGeom>
          <a:noFill/>
          <a:ln/>
        </p:spPr>
        <p:txBody>
          <a:bodyPr wrap="square" lIns="0" tIns="0" rIns="0" bIns="0" rtlCol="0" anchor="t"/>
          <a:lstStyle/>
          <a:p>
            <a:pPr indent="0" marL="0">
              <a:buNone/>
            </a:pPr>
            <a:r>
              <a:rPr lang="tr-TR" sz="1400" b="1" dirty="0">
                <a:solidFill>
                  <a:srgbClr val="028090"/>
                </a:solidFill>
                <a:latin typeface="Calibri" pitchFamily="34" charset="0"/>
                <a:ea typeface="Calibri" pitchFamily="34" charset="-122"/>
                <a:cs typeface="Calibri" pitchFamily="34" charset="-120"/>
              </a:rPr>
              <a:t>(b) 120 baytlık kayıtlar, 4096 baytlık bloklar: 750. kayıt?</a:t>
            </a:r>
            <a:endParaRPr lang="tr-TR" sz="1400" dirty="0"/>
          </a:p>
        </p:txBody>
      </p:sp>
      <p:sp>
        <p:nvSpPr>
          <p:cNvPr id="10" name="Shape 8"/>
          <p:cNvSpPr/>
          <p:nvPr/>
        </p:nvSpPr>
        <p:spPr>
          <a:xfrm>
            <a:off x="6172200" y="1828800"/>
            <a:ext cx="5486400" cy="3017520"/>
          </a:xfrm>
          <a:prstGeom prst="roundRect">
            <a:avLst>
              <a:gd name="adj" fmla="val 1515"/>
            </a:avLst>
          </a:prstGeom>
          <a:solidFill>
            <a:srgbClr val="212121"/>
          </a:solidFill>
          <a:ln/>
        </p:spPr>
      </p:sp>
      <p:sp>
        <p:nvSpPr>
          <p:cNvPr id="11" name="Text 9"/>
          <p:cNvSpPr txBox="1"/>
          <p:nvPr/>
        </p:nvSpPr>
        <p:spPr>
          <a:xfrm>
            <a:off x="6355080" y="1938528"/>
            <a:ext cx="5120640" cy="2798064"/>
          </a:xfrm>
          <a:prstGeom prst="rect">
            <a:avLst/>
          </a:prstGeom>
          <a:noFill/>
          <a:ln/>
        </p:spPr>
        <p:txBody>
          <a:bodyPr wrap="square" lIns="0" tIns="0" rIns="0" bIns="0" rtlCol="0" anchor="t"/>
          <a:lstStyle/>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konum    = 750 × 120 = 90,000</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blok     = ⌊90,000 / 4096⌋ = 21</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blok içi = 90,000 − 21 × 4096 = 3984</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 </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son bayt = 90,000 + 119 = 90,119</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⌊90,119 / 4096⌋ = 22  → sonraki blok!</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 21. bloğun 3984…4095 baytları</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  ve 22. bloğun 0…7 baytları: iki okuma</a:t>
            </a:r>
            <a:endParaRPr lang="tr-TR" sz="1300" dirty="0"/>
          </a:p>
        </p:txBody>
      </p:sp>
      <p:sp>
        <p:nvSpPr>
          <p:cNvPr id="12" name="Shape 10"/>
          <p:cNvSpPr/>
          <p:nvPr/>
        </p:nvSpPr>
        <p:spPr>
          <a:xfrm>
            <a:off x="548640" y="5074920"/>
            <a:ext cx="11109960" cy="1188720"/>
          </a:xfrm>
          <a:prstGeom prst="roundRect">
            <a:avLst>
              <a:gd name="adj" fmla="val 4615"/>
            </a:avLst>
          </a:prstGeom>
          <a:solidFill>
            <a:srgbClr val="36454F"/>
          </a:solidFill>
          <a:ln/>
          <a:effectLst>
            <a:outerShdw sx="100000" sy="100000" kx="0" ky="0" algn="bl" rotWithShape="0" blurRad="101600" dist="25400" dir="5400000">
              <a:srgbClr val="000000">
                <a:alpha val="12000"/>
              </a:srgbClr>
            </a:outerShdw>
          </a:effectLst>
        </p:spPr>
      </p:sp>
      <p:sp>
        <p:nvSpPr>
          <p:cNvPr id="13" name="Text 11"/>
          <p:cNvSpPr txBox="1"/>
          <p:nvPr/>
        </p:nvSpPr>
        <p:spPr>
          <a:xfrm>
            <a:off x="777240" y="5074920"/>
            <a:ext cx="10652760" cy="1188720"/>
          </a:xfrm>
          <a:prstGeom prst="rect">
            <a:avLst/>
          </a:prstGeom>
          <a:noFill/>
          <a:ln/>
        </p:spPr>
        <p:txBody>
          <a:bodyPr wrap="square" lIns="0" tIns="0" rIns="0" bIns="0" rtlCol="0" anchor="ctr"/>
          <a:lstStyle/>
          <a:p>
            <a:pPr indent="0" marL="0">
              <a:buNone/>
            </a:pPr>
            <a:r>
              <a:rPr lang="tr-TR" sz="1350" dirty="0">
                <a:solidFill>
                  <a:srgbClr val="F2F2F2"/>
                </a:solidFill>
                <a:latin typeface="Calibri" pitchFamily="34" charset="0"/>
                <a:ea typeface="Calibri" pitchFamily="34" charset="-122"/>
                <a:cs typeface="Calibri" pitchFamily="34" charset="-120"/>
              </a:rPr>
              <a:t>Ders (a): önce her şeyi ns'ye çevirin; 5.000 erişimde tek bir hata bile belleği 13 kat yavaşlatır. Ders (b): kaydın son baytını her zaman denetleyin — burada kayıt bir blok sınırını aşıyor.</a:t>
            </a:r>
            <a:endParaRPr lang="tr-TR" sz="13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SINAV TEKNİĞİ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Puanlar Genellikle Nerede Kaybedilir?</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8  ·  32</a:t>
            </a:r>
            <a:endParaRPr lang="tr-TR" sz="900" dirty="0"/>
          </a:p>
        </p:txBody>
      </p:sp>
      <p:sp>
        <p:nvSpPr>
          <p:cNvPr id="6" name="Shape 4"/>
          <p:cNvSpPr/>
          <p:nvPr/>
        </p:nvSpPr>
        <p:spPr>
          <a:xfrm>
            <a:off x="548640" y="1508760"/>
            <a:ext cx="355092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sp>
      <p:sp>
        <p:nvSpPr>
          <p:cNvPr id="7" name="Text 5"/>
          <p:cNvSpPr txBox="1"/>
          <p:nvPr/>
        </p:nvSpPr>
        <p:spPr>
          <a:xfrm>
            <a:off x="777240" y="169164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Zamanlama</a:t>
            </a:r>
            <a:endParaRPr lang="tr-TR" sz="1600" dirty="0"/>
          </a:p>
        </p:txBody>
      </p:sp>
      <p:sp>
        <p:nvSpPr>
          <p:cNvPr id="8" name="Text 6"/>
          <p:cNvSpPr txBox="1"/>
          <p:nvPr/>
        </p:nvSpPr>
        <p:spPr>
          <a:xfrm>
            <a:off x="777240" y="2148840"/>
            <a:ext cx="3093720" cy="1485900"/>
          </a:xfrm>
          <a:prstGeom prst="rect">
            <a:avLst/>
          </a:prstGeom>
          <a:noFill/>
          <a:ln/>
        </p:spPr>
        <p:txBody>
          <a:bodyPr wrap="square" lIns="0" tIns="0" rIns="0" bIns="0" rtlCol="0" anchor="t"/>
          <a:lstStyle/>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Bekleme = dönüş − patlama, 'başlama zamanı' değil.</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SRTF KALAN süreyle karşılaştırır.</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RR: yeni gelen kesilen süreçten önce.</a:t>
            </a:r>
            <a:endParaRPr lang="tr-TR" sz="1350" dirty="0"/>
          </a:p>
        </p:txBody>
      </p:sp>
      <p:sp>
        <p:nvSpPr>
          <p:cNvPr id="9" name="Shape 7"/>
          <p:cNvSpPr/>
          <p:nvPr/>
        </p:nvSpPr>
        <p:spPr>
          <a:xfrm>
            <a:off x="4328160" y="1508760"/>
            <a:ext cx="355092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sp>
      <p:sp>
        <p:nvSpPr>
          <p:cNvPr id="10" name="Text 8"/>
          <p:cNvSpPr txBox="1"/>
          <p:nvPr/>
        </p:nvSpPr>
        <p:spPr>
          <a:xfrm>
            <a:off x="4556760" y="169164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Birimler</a:t>
            </a:r>
            <a:endParaRPr lang="tr-TR" sz="1600" dirty="0"/>
          </a:p>
        </p:txBody>
      </p:sp>
      <p:sp>
        <p:nvSpPr>
          <p:cNvPr id="11" name="Text 9"/>
          <p:cNvSpPr txBox="1"/>
          <p:nvPr/>
        </p:nvSpPr>
        <p:spPr>
          <a:xfrm>
            <a:off x="4556760" y="2148840"/>
            <a:ext cx="3093720" cy="1485900"/>
          </a:xfrm>
          <a:prstGeom prst="rect">
            <a:avLst/>
          </a:prstGeom>
          <a:noFill/>
          <a:ln/>
        </p:spPr>
        <p:txBody>
          <a:bodyPr wrap="square" lIns="0" tIns="0" rIns="0" bIns="0" rtlCol="0" anchor="t"/>
          <a:lstStyle/>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8 ms = 8.000.000 ns; 2 ms = 2000 µs.</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Sayfalamada KB = 1024 B; takas sürelerinde MB/s verildiği gibi.</a:t>
            </a:r>
            <a:endParaRPr lang="tr-TR" sz="1350" dirty="0"/>
          </a:p>
        </p:txBody>
      </p:sp>
      <p:sp>
        <p:nvSpPr>
          <p:cNvPr id="12" name="Shape 10"/>
          <p:cNvSpPr/>
          <p:nvPr/>
        </p:nvSpPr>
        <p:spPr>
          <a:xfrm>
            <a:off x="8107680" y="1508760"/>
            <a:ext cx="355092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sp>
      <p:sp>
        <p:nvSpPr>
          <p:cNvPr id="13" name="Text 11"/>
          <p:cNvSpPr txBox="1"/>
          <p:nvPr/>
        </p:nvSpPr>
        <p:spPr>
          <a:xfrm>
            <a:off x="8336280" y="169164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Sayfalama</a:t>
            </a:r>
            <a:endParaRPr lang="tr-TR" sz="1600" dirty="0"/>
          </a:p>
        </p:txBody>
      </p:sp>
      <p:sp>
        <p:nvSpPr>
          <p:cNvPr id="14" name="Text 12"/>
          <p:cNvSpPr txBox="1"/>
          <p:nvPr/>
        </p:nvSpPr>
        <p:spPr>
          <a:xfrm>
            <a:off x="8336280" y="2148840"/>
            <a:ext cx="3093720" cy="1485900"/>
          </a:xfrm>
          <a:prstGeom prst="rect">
            <a:avLst/>
          </a:prstGeom>
          <a:noFill/>
          <a:ln/>
        </p:spPr>
        <p:txBody>
          <a:bodyPr wrap="square" lIns="0" tIns="0" rIns="0" bIns="0" rtlCol="0" anchor="t"/>
          <a:lstStyle/>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Ofset hiçbir zaman çevrilmez.</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Geçersiz sayfa → tuzak, sayı değil.</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a = sınır zaten tuzak (katı &lt;).</a:t>
            </a:r>
            <a:endParaRPr lang="tr-TR" sz="1350" dirty="0"/>
          </a:p>
        </p:txBody>
      </p:sp>
      <p:sp>
        <p:nvSpPr>
          <p:cNvPr id="15" name="Shape 13"/>
          <p:cNvSpPr/>
          <p:nvPr/>
        </p:nvSpPr>
        <p:spPr>
          <a:xfrm>
            <a:off x="548640" y="4000500"/>
            <a:ext cx="355092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sp>
      <p:sp>
        <p:nvSpPr>
          <p:cNvPr id="16" name="Text 14"/>
          <p:cNvSpPr txBox="1"/>
          <p:nvPr/>
        </p:nvSpPr>
        <p:spPr>
          <a:xfrm>
            <a:off x="777240" y="418338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Çerçeve tabloları</a:t>
            </a:r>
            <a:endParaRPr lang="tr-TR" sz="1600" dirty="0"/>
          </a:p>
        </p:txBody>
      </p:sp>
      <p:sp>
        <p:nvSpPr>
          <p:cNvPr id="17" name="Text 15"/>
          <p:cNvSpPr txBox="1"/>
          <p:nvPr/>
        </p:nvSpPr>
        <p:spPr>
          <a:xfrm>
            <a:off x="777240" y="4640580"/>
            <a:ext cx="3093720" cy="1485900"/>
          </a:xfrm>
          <a:prstGeom prst="rect">
            <a:avLst/>
          </a:prstGeom>
          <a:noFill/>
          <a:ln/>
        </p:spPr>
        <p:txBody>
          <a:bodyPr wrap="square" lIns="0" tIns="0" rIns="0" bIns="0" rtlCol="0" anchor="t"/>
          <a:lstStyle/>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FIFO: isabet sırayı değiştirmez.</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LRU: isabet sayfayı en yeni yapar.</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Hataları iki kez sayın.</a:t>
            </a:r>
            <a:endParaRPr lang="tr-TR" sz="1350" dirty="0"/>
          </a:p>
        </p:txBody>
      </p:sp>
      <p:sp>
        <p:nvSpPr>
          <p:cNvPr id="18" name="Shape 16"/>
          <p:cNvSpPr/>
          <p:nvPr/>
        </p:nvSpPr>
        <p:spPr>
          <a:xfrm>
            <a:off x="4328160" y="4000500"/>
            <a:ext cx="355092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sp>
      <p:sp>
        <p:nvSpPr>
          <p:cNvPr id="19" name="Text 17"/>
          <p:cNvSpPr txBox="1"/>
          <p:nvPr/>
        </p:nvSpPr>
        <p:spPr>
          <a:xfrm>
            <a:off x="4556760" y="418338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Tanımlar</a:t>
            </a:r>
            <a:endParaRPr lang="tr-TR" sz="1600" dirty="0"/>
          </a:p>
        </p:txBody>
      </p:sp>
      <p:sp>
        <p:nvSpPr>
          <p:cNvPr id="20" name="Text 18"/>
          <p:cNvSpPr txBox="1"/>
          <p:nvPr/>
        </p:nvSpPr>
        <p:spPr>
          <a:xfrm>
            <a:off x="4556760" y="4640580"/>
            <a:ext cx="3093720" cy="1485900"/>
          </a:xfrm>
          <a:prstGeom prst="rect">
            <a:avLst/>
          </a:prstGeom>
          <a:noFill/>
          <a:ln/>
        </p:spPr>
        <p:txBody>
          <a:bodyPr wrap="square" lIns="0" tIns="0" rIns="0" bIns="0" rtlCol="0" anchor="t"/>
          <a:lstStyle/>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Eşzamanlılık ≠ paralellik.</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Karşılıklı dışlama ≠ ilerleme ≠ sınırlı bekleme.</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Açlık ≠ kilitlenme.</a:t>
            </a:r>
            <a:endParaRPr lang="tr-TR" sz="1350" dirty="0"/>
          </a:p>
        </p:txBody>
      </p:sp>
      <p:sp>
        <p:nvSpPr>
          <p:cNvPr id="21" name="Shape 19"/>
          <p:cNvSpPr/>
          <p:nvPr/>
        </p:nvSpPr>
        <p:spPr>
          <a:xfrm>
            <a:off x="8107680" y="4000500"/>
            <a:ext cx="355092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sp>
      <p:sp>
        <p:nvSpPr>
          <p:cNvPr id="22" name="Text 20"/>
          <p:cNvSpPr txBox="1"/>
          <p:nvPr/>
        </p:nvSpPr>
        <p:spPr>
          <a:xfrm>
            <a:off x="8336280" y="418338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Yanıtlar</a:t>
            </a:r>
            <a:endParaRPr lang="tr-TR" sz="1600" dirty="0"/>
          </a:p>
        </p:txBody>
      </p:sp>
      <p:sp>
        <p:nvSpPr>
          <p:cNvPr id="23" name="Text 21"/>
          <p:cNvSpPr txBox="1"/>
          <p:nvPr/>
        </p:nvSpPr>
        <p:spPr>
          <a:xfrm>
            <a:off x="8336280" y="4640580"/>
            <a:ext cx="3093720" cy="1485900"/>
          </a:xfrm>
          <a:prstGeom prst="rect">
            <a:avLst/>
          </a:prstGeom>
          <a:noFill/>
          <a:ln/>
        </p:spPr>
        <p:txBody>
          <a:bodyPr wrap="square" lIns="0" tIns="0" rIns="0" bIns="0" rtlCol="0" anchor="t"/>
          <a:lstStyle/>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Uzlaşımları ve birimleri yazın.</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Sayıdan önce formülü gösterin.</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'Neden'i tek cümleyle açıklayın.</a:t>
            </a:r>
            <a:endParaRPr lang="tr-TR" sz="13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SINAV TEKNİĞİ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90 Dakikayı İyi Kullanmak</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8  ·  33</a:t>
            </a:r>
            <a:endParaRPr lang="tr-TR" sz="900" dirty="0"/>
          </a:p>
        </p:txBody>
      </p:sp>
      <p:sp>
        <p:nvSpPr>
          <p:cNvPr id="6" name="Shape 4"/>
          <p:cNvSpPr/>
          <p:nvPr/>
        </p:nvSpPr>
        <p:spPr>
          <a:xfrm>
            <a:off x="566928" y="1645920"/>
            <a:ext cx="580644" cy="685800"/>
          </a:xfrm>
          <a:prstGeom prst="roundRect">
            <a:avLst>
              <a:gd name="adj" fmla="val 7874"/>
            </a:avLst>
          </a:prstGeom>
          <a:solidFill>
            <a:srgbClr val="50808E"/>
          </a:solidFill>
          <a:ln/>
        </p:spPr>
      </p:sp>
      <p:sp>
        <p:nvSpPr>
          <p:cNvPr id="7" name="Text 5"/>
          <p:cNvSpPr txBox="1"/>
          <p:nvPr/>
        </p:nvSpPr>
        <p:spPr>
          <a:xfrm>
            <a:off x="566928" y="1645920"/>
            <a:ext cx="580644" cy="685800"/>
          </a:xfrm>
          <a:prstGeom prst="rect">
            <a:avLst/>
          </a:prstGeom>
          <a:noFill/>
          <a:ln/>
        </p:spPr>
        <p:txBody>
          <a:bodyPr wrap="square" lIns="38100" tIns="38100" rIns="38100" bIns="38100" rtlCol="0" anchor="ctr"/>
          <a:lstStyle/>
          <a:p>
            <a:pPr algn="ctr" indent="0" marL="0">
              <a:buNone/>
            </a:pPr>
            <a:r>
              <a:rPr lang="tr-TR" sz="1100" b="1" dirty="0">
                <a:solidFill>
                  <a:srgbClr val="FFFFFF"/>
                </a:solidFill>
                <a:latin typeface="Calibri" pitchFamily="34" charset="0"/>
                <a:ea typeface="Calibri" pitchFamily="34" charset="-122"/>
                <a:cs typeface="Calibri" pitchFamily="34" charset="-120"/>
              </a:rPr>
              <a:t>Oku</a:t>
            </a:r>
            <a:endParaRPr lang="tr-TR" sz="1100" dirty="0"/>
          </a:p>
          <a:p>
            <a:pPr algn="ctr" indent="0" marL="0">
              <a:buNone/>
            </a:pPr>
            <a:r>
              <a:rPr lang="tr-TR" sz="1100" dirty="0">
                <a:solidFill>
                  <a:srgbClr val="FFFFFF"/>
                </a:solidFill>
                <a:latin typeface="Calibri" pitchFamily="34" charset="0"/>
                <a:ea typeface="Calibri" pitchFamily="34" charset="-122"/>
                <a:cs typeface="Calibri" pitchFamily="34" charset="-120"/>
              </a:rPr>
              <a:t>5 dk</a:t>
            </a:r>
            <a:endParaRPr lang="tr-TR" sz="1100" dirty="0"/>
          </a:p>
        </p:txBody>
      </p:sp>
      <p:sp>
        <p:nvSpPr>
          <p:cNvPr id="8" name="Shape 6"/>
          <p:cNvSpPr/>
          <p:nvPr/>
        </p:nvSpPr>
        <p:spPr>
          <a:xfrm>
            <a:off x="1184148" y="1645920"/>
            <a:ext cx="1815084" cy="685800"/>
          </a:xfrm>
          <a:prstGeom prst="roundRect">
            <a:avLst>
              <a:gd name="adj" fmla="val 6667"/>
            </a:avLst>
          </a:prstGeom>
          <a:solidFill>
            <a:srgbClr val="02C39A"/>
          </a:solidFill>
          <a:ln/>
        </p:spPr>
      </p:sp>
      <p:sp>
        <p:nvSpPr>
          <p:cNvPr id="9" name="Text 7"/>
          <p:cNvSpPr txBox="1"/>
          <p:nvPr/>
        </p:nvSpPr>
        <p:spPr>
          <a:xfrm>
            <a:off x="1184148" y="1645920"/>
            <a:ext cx="1815084" cy="685800"/>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A Bölümü · 20 puan</a:t>
            </a:r>
            <a:endParaRPr lang="tr-TR" sz="1300" dirty="0"/>
          </a:p>
          <a:p>
            <a:pPr algn="ctr" indent="0" marL="0">
              <a:buNone/>
            </a:pPr>
            <a:r>
              <a:rPr lang="tr-TR" sz="1100" dirty="0">
                <a:solidFill>
                  <a:srgbClr val="212121"/>
                </a:solidFill>
                <a:latin typeface="Calibri" pitchFamily="34" charset="0"/>
                <a:ea typeface="Calibri" pitchFamily="34" charset="-122"/>
                <a:cs typeface="Calibri" pitchFamily="34" charset="-120"/>
              </a:rPr>
              <a:t>15 dk</a:t>
            </a:r>
            <a:endParaRPr lang="tr-TR" sz="1300" dirty="0"/>
          </a:p>
        </p:txBody>
      </p:sp>
      <p:sp>
        <p:nvSpPr>
          <p:cNvPr id="10" name="Shape 8"/>
          <p:cNvSpPr/>
          <p:nvPr/>
        </p:nvSpPr>
        <p:spPr>
          <a:xfrm>
            <a:off x="3035808" y="1645920"/>
            <a:ext cx="2432304" cy="685800"/>
          </a:xfrm>
          <a:prstGeom prst="roundRect">
            <a:avLst>
              <a:gd name="adj" fmla="val 6667"/>
            </a:avLst>
          </a:prstGeom>
          <a:solidFill>
            <a:srgbClr val="028090"/>
          </a:solidFill>
          <a:ln/>
        </p:spPr>
      </p:sp>
      <p:sp>
        <p:nvSpPr>
          <p:cNvPr id="11" name="Text 9"/>
          <p:cNvSpPr txBox="1"/>
          <p:nvPr/>
        </p:nvSpPr>
        <p:spPr>
          <a:xfrm>
            <a:off x="3035808" y="1645920"/>
            <a:ext cx="2432304" cy="685800"/>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B Bölümü · 20 puan</a:t>
            </a:r>
            <a:endParaRPr lang="tr-TR" sz="1300" dirty="0"/>
          </a:p>
          <a:p>
            <a:pPr algn="ctr" indent="0" marL="0">
              <a:buNone/>
            </a:pPr>
            <a:r>
              <a:rPr lang="tr-TR" sz="1100" dirty="0">
                <a:solidFill>
                  <a:srgbClr val="FFFFFF"/>
                </a:solidFill>
                <a:latin typeface="Calibri" pitchFamily="34" charset="0"/>
                <a:ea typeface="Calibri" pitchFamily="34" charset="-122"/>
                <a:cs typeface="Calibri" pitchFamily="34" charset="-120"/>
              </a:rPr>
              <a:t>20 dk</a:t>
            </a:r>
            <a:endParaRPr lang="tr-TR" sz="1300" dirty="0"/>
          </a:p>
        </p:txBody>
      </p:sp>
      <p:sp>
        <p:nvSpPr>
          <p:cNvPr id="12" name="Shape 10"/>
          <p:cNvSpPr/>
          <p:nvPr/>
        </p:nvSpPr>
        <p:spPr>
          <a:xfrm>
            <a:off x="5504688" y="1645920"/>
            <a:ext cx="5518404" cy="685800"/>
          </a:xfrm>
          <a:prstGeom prst="roundRect">
            <a:avLst>
              <a:gd name="adj" fmla="val 6667"/>
            </a:avLst>
          </a:prstGeom>
          <a:solidFill>
            <a:srgbClr val="36454F"/>
          </a:solidFill>
          <a:ln/>
        </p:spPr>
      </p:sp>
      <p:sp>
        <p:nvSpPr>
          <p:cNvPr id="13" name="Text 11"/>
          <p:cNvSpPr txBox="1"/>
          <p:nvPr/>
        </p:nvSpPr>
        <p:spPr>
          <a:xfrm>
            <a:off x="5504688" y="1645920"/>
            <a:ext cx="5518404" cy="685800"/>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C Bölümü · 60 puan</a:t>
            </a:r>
            <a:endParaRPr lang="tr-TR" sz="1300" dirty="0"/>
          </a:p>
          <a:p>
            <a:pPr algn="ctr" indent="0" marL="0">
              <a:buNone/>
            </a:pPr>
            <a:r>
              <a:rPr lang="tr-TR" sz="1100" dirty="0">
                <a:solidFill>
                  <a:srgbClr val="FFFFFF"/>
                </a:solidFill>
                <a:latin typeface="Calibri" pitchFamily="34" charset="0"/>
                <a:ea typeface="Calibri" pitchFamily="34" charset="-122"/>
                <a:cs typeface="Calibri" pitchFamily="34" charset="-120"/>
              </a:rPr>
              <a:t>45 dk</a:t>
            </a:r>
            <a:endParaRPr lang="tr-TR" sz="1300" dirty="0"/>
          </a:p>
        </p:txBody>
      </p:sp>
      <p:sp>
        <p:nvSpPr>
          <p:cNvPr id="14" name="Shape 12"/>
          <p:cNvSpPr/>
          <p:nvPr/>
        </p:nvSpPr>
        <p:spPr>
          <a:xfrm>
            <a:off x="11059668" y="1645920"/>
            <a:ext cx="580644" cy="685800"/>
          </a:xfrm>
          <a:prstGeom prst="roundRect">
            <a:avLst>
              <a:gd name="adj" fmla="val 7874"/>
            </a:avLst>
          </a:prstGeom>
          <a:solidFill>
            <a:srgbClr val="C98A1B"/>
          </a:solidFill>
          <a:ln/>
        </p:spPr>
      </p:sp>
      <p:sp>
        <p:nvSpPr>
          <p:cNvPr id="15" name="Text 13"/>
          <p:cNvSpPr txBox="1"/>
          <p:nvPr/>
        </p:nvSpPr>
        <p:spPr>
          <a:xfrm>
            <a:off x="11059668" y="1645920"/>
            <a:ext cx="580644" cy="685800"/>
          </a:xfrm>
          <a:prstGeom prst="rect">
            <a:avLst/>
          </a:prstGeom>
          <a:noFill/>
          <a:ln/>
        </p:spPr>
        <p:txBody>
          <a:bodyPr wrap="square" lIns="38100" tIns="38100" rIns="38100" bIns="38100" rtlCol="0" anchor="ctr"/>
          <a:lstStyle/>
          <a:p>
            <a:pPr algn="ctr" indent="0" marL="0">
              <a:buNone/>
            </a:pPr>
            <a:r>
              <a:rPr lang="tr-TR" sz="1100" b="1" dirty="0">
                <a:solidFill>
                  <a:srgbClr val="FFFFFF"/>
                </a:solidFill>
                <a:latin typeface="Calibri" pitchFamily="34" charset="0"/>
                <a:ea typeface="Calibri" pitchFamily="34" charset="-122"/>
                <a:cs typeface="Calibri" pitchFamily="34" charset="-120"/>
              </a:rPr>
              <a:t>Denetim</a:t>
            </a:r>
            <a:endParaRPr lang="tr-TR" sz="1100" dirty="0"/>
          </a:p>
          <a:p>
            <a:pPr algn="ctr" indent="0" marL="0">
              <a:buNone/>
            </a:pPr>
            <a:r>
              <a:rPr lang="tr-TR" sz="1100" dirty="0">
                <a:solidFill>
                  <a:srgbClr val="FFFFFF"/>
                </a:solidFill>
                <a:latin typeface="Calibri" pitchFamily="34" charset="0"/>
                <a:ea typeface="Calibri" pitchFamily="34" charset="-122"/>
                <a:cs typeface="Calibri" pitchFamily="34" charset="-120"/>
              </a:rPr>
              <a:t>5 dk</a:t>
            </a:r>
            <a:endParaRPr lang="tr-TR" sz="1100" dirty="0"/>
          </a:p>
        </p:txBody>
      </p:sp>
      <p:sp>
        <p:nvSpPr>
          <p:cNvPr id="16" name="Text 14"/>
          <p:cNvSpPr txBox="1"/>
          <p:nvPr/>
        </p:nvSpPr>
        <p:spPr>
          <a:xfrm>
            <a:off x="548640" y="2423160"/>
            <a:ext cx="11109960" cy="320040"/>
          </a:xfrm>
          <a:prstGeom prst="rect">
            <a:avLst/>
          </a:prstGeom>
          <a:noFill/>
          <a:ln/>
        </p:spPr>
        <p:txBody>
          <a:bodyPr wrap="square" lIns="0" tIns="0" rIns="0" bIns="0" rtlCol="0" anchor="t"/>
          <a:lstStyle/>
          <a:p>
            <a:pPr indent="0" marL="0">
              <a:buNone/>
            </a:pPr>
            <a:r>
              <a:rPr lang="tr-TR" sz="1300" i="1" dirty="0">
                <a:solidFill>
                  <a:srgbClr val="6B7679"/>
                </a:solidFill>
                <a:latin typeface="Calibri" pitchFamily="34" charset="0"/>
                <a:ea typeface="Calibri" pitchFamily="34" charset="-122"/>
                <a:cs typeface="Calibri" pitchFamily="34" charset="-120"/>
              </a:rPr>
              <a:t>Puan başına ≈ 0,9 dakika: 2 puanlık bir soru 10 dakika sürmemeli. [Süreler 90 dakikalık bir sınav varsayar.]</a:t>
            </a:r>
            <a:endParaRPr lang="tr-TR" sz="1300" dirty="0"/>
          </a:p>
        </p:txBody>
      </p:sp>
      <p:sp>
        <p:nvSpPr>
          <p:cNvPr id="17" name="Shape 15"/>
          <p:cNvSpPr/>
          <p:nvPr/>
        </p:nvSpPr>
        <p:spPr>
          <a:xfrm>
            <a:off x="548640" y="2926080"/>
            <a:ext cx="3611880" cy="3337560"/>
          </a:xfrm>
          <a:prstGeom prst="roundRect">
            <a:avLst>
              <a:gd name="adj" fmla="val 1644"/>
            </a:avLst>
          </a:prstGeom>
          <a:solidFill>
            <a:srgbClr val="F2F2F2"/>
          </a:solidFill>
          <a:ln/>
          <a:effectLst>
            <a:outerShdw sx="100000" sy="100000" kx="0" ky="0" algn="bl" rotWithShape="0" blurRad="101600" dist="25400" dir="5400000">
              <a:srgbClr val="000000">
                <a:alpha val="12000"/>
              </a:srgbClr>
            </a:outerShdw>
          </a:effectLst>
        </p:spPr>
      </p:sp>
      <p:sp>
        <p:nvSpPr>
          <p:cNvPr id="18" name="Text 16"/>
          <p:cNvSpPr txBox="1"/>
          <p:nvPr/>
        </p:nvSpPr>
        <p:spPr>
          <a:xfrm>
            <a:off x="777240" y="3108960"/>
            <a:ext cx="315468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Sınavdan önce</a:t>
            </a:r>
            <a:endParaRPr lang="tr-TR" sz="1500" dirty="0"/>
          </a:p>
        </p:txBody>
      </p:sp>
      <p:sp>
        <p:nvSpPr>
          <p:cNvPr id="19" name="Text 17"/>
          <p:cNvSpPr txBox="1"/>
          <p:nvPr/>
        </p:nvSpPr>
        <p:spPr>
          <a:xfrm>
            <a:off x="777240" y="3566160"/>
            <a:ext cx="3154680" cy="2560320"/>
          </a:xfrm>
          <a:prstGeom prst="rect">
            <a:avLst/>
          </a:prstGeom>
          <a:noFill/>
          <a:ln/>
        </p:spPr>
        <p:txBody>
          <a:bodyPr wrap="square" lIns="0" tIns="0" rIns="0" bIns="0" rtlCol="0" anchor="t"/>
          <a:lstStyle/>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1–7. problemleri bakmadan yeniden çözün.</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Notlardaki deneme sınavını 90 dakikada yazın, sonra puanlayın.</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Kendi sayılarınızı denetlemek için code/*.py betiklerini çalıştırın.</a:t>
            </a:r>
            <a:endParaRPr lang="tr-TR" sz="1350" dirty="0"/>
          </a:p>
        </p:txBody>
      </p:sp>
      <p:sp>
        <p:nvSpPr>
          <p:cNvPr id="20" name="Shape 18"/>
          <p:cNvSpPr/>
          <p:nvPr/>
        </p:nvSpPr>
        <p:spPr>
          <a:xfrm>
            <a:off x="4297680" y="2926080"/>
            <a:ext cx="3611880" cy="3337560"/>
          </a:xfrm>
          <a:prstGeom prst="roundRect">
            <a:avLst>
              <a:gd name="adj" fmla="val 1644"/>
            </a:avLst>
          </a:prstGeom>
          <a:solidFill>
            <a:srgbClr val="F2F2F2"/>
          </a:solidFill>
          <a:ln/>
          <a:effectLst>
            <a:outerShdw sx="100000" sy="100000" kx="0" ky="0" algn="bl" rotWithShape="0" blurRad="101600" dist="25400" dir="5400000">
              <a:srgbClr val="000000">
                <a:alpha val="12000"/>
              </a:srgbClr>
            </a:outerShdw>
          </a:effectLst>
        </p:spPr>
      </p:sp>
      <p:sp>
        <p:nvSpPr>
          <p:cNvPr id="21" name="Text 19"/>
          <p:cNvSpPr txBox="1"/>
          <p:nvPr/>
        </p:nvSpPr>
        <p:spPr>
          <a:xfrm>
            <a:off x="4526280" y="3108960"/>
            <a:ext cx="315468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Sınav sırasında</a:t>
            </a:r>
            <a:endParaRPr lang="tr-TR" sz="1500" dirty="0"/>
          </a:p>
        </p:txBody>
      </p:sp>
      <p:sp>
        <p:nvSpPr>
          <p:cNvPr id="22" name="Text 20"/>
          <p:cNvSpPr txBox="1"/>
          <p:nvPr/>
        </p:nvSpPr>
        <p:spPr>
          <a:xfrm>
            <a:off x="4526280" y="3566160"/>
            <a:ext cx="3154680" cy="2560320"/>
          </a:xfrm>
          <a:prstGeom prst="rect">
            <a:avLst/>
          </a:prstGeom>
          <a:noFill/>
          <a:ln/>
        </p:spPr>
        <p:txBody>
          <a:bodyPr wrap="square" lIns="0" tIns="0" rIns="0" bIns="0" rtlCol="0" anchor="t"/>
          <a:lstStyle/>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En iyi bildiğinizle başlayın.</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Gantt şemalarını ve çerçeve tablolarını zamanlarıyla düzgünce çizin.</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Takıldınız mı? Formülü yazın ve geçin — sonra geri dönün.</a:t>
            </a:r>
            <a:endParaRPr lang="tr-TR" sz="1350" dirty="0"/>
          </a:p>
        </p:txBody>
      </p:sp>
      <p:sp>
        <p:nvSpPr>
          <p:cNvPr id="23" name="Shape 21"/>
          <p:cNvSpPr/>
          <p:nvPr/>
        </p:nvSpPr>
        <p:spPr>
          <a:xfrm>
            <a:off x="8046720" y="2926080"/>
            <a:ext cx="3611880" cy="3337560"/>
          </a:xfrm>
          <a:prstGeom prst="roundRect">
            <a:avLst>
              <a:gd name="adj" fmla="val 1644"/>
            </a:avLst>
          </a:prstGeom>
          <a:solidFill>
            <a:srgbClr val="F2F2F2"/>
          </a:solidFill>
          <a:ln/>
          <a:effectLst>
            <a:outerShdw sx="100000" sy="100000" kx="0" ky="0" algn="bl" rotWithShape="0" blurRad="101600" dist="25400" dir="5400000">
              <a:srgbClr val="000000">
                <a:alpha val="12000"/>
              </a:srgbClr>
            </a:outerShdw>
          </a:effectLst>
        </p:spPr>
      </p:sp>
      <p:sp>
        <p:nvSpPr>
          <p:cNvPr id="24" name="Text 22"/>
          <p:cNvSpPr txBox="1"/>
          <p:nvPr/>
        </p:nvSpPr>
        <p:spPr>
          <a:xfrm>
            <a:off x="8275320" y="3108960"/>
            <a:ext cx="315468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Kısmi puan</a:t>
            </a:r>
            <a:endParaRPr lang="tr-TR" sz="1500" dirty="0"/>
          </a:p>
        </p:txBody>
      </p:sp>
      <p:sp>
        <p:nvSpPr>
          <p:cNvPr id="25" name="Text 23"/>
          <p:cNvSpPr txBox="1"/>
          <p:nvPr/>
        </p:nvSpPr>
        <p:spPr>
          <a:xfrm>
            <a:off x="8275320" y="3566160"/>
            <a:ext cx="3154680" cy="2560320"/>
          </a:xfrm>
          <a:prstGeom prst="rect">
            <a:avLst/>
          </a:prstGeom>
          <a:noFill/>
          <a:ln/>
        </p:spPr>
        <p:txBody>
          <a:bodyPr wrap="square" lIns="0" tIns="0" rIns="0" bIns="0" rtlCol="0" anchor="t"/>
          <a:lstStyle/>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Yöntem sayılır: formül, yerine koyma, sonuç.</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Doğru yöntemle bulunan yanlış bir sayı da puan alır.</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Her yanıta birim yazın.</a:t>
            </a:r>
            <a:endParaRPr lang="tr-TR" sz="13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KISA SINAV</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Kendinizi Sınayın</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8  ·  34</a:t>
            </a:r>
            <a:endParaRPr lang="tr-TR" sz="900" dirty="0"/>
          </a:p>
        </p:txBody>
      </p:sp>
      <p:sp>
        <p:nvSpPr>
          <p:cNvPr id="6" name="Shape 4"/>
          <p:cNvSpPr/>
          <p:nvPr/>
        </p:nvSpPr>
        <p:spPr>
          <a:xfrm>
            <a:off x="548640" y="1508760"/>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sp>
      <p:sp>
        <p:nvSpPr>
          <p:cNvPr id="7" name="Shape 5"/>
          <p:cNvSpPr/>
          <p:nvPr/>
        </p:nvSpPr>
        <p:spPr>
          <a:xfrm>
            <a:off x="777240" y="1780794"/>
            <a:ext cx="493776" cy="493776"/>
          </a:xfrm>
          <a:prstGeom prst="ellipse">
            <a:avLst/>
          </a:prstGeom>
          <a:solidFill>
            <a:srgbClr val="02C39A"/>
          </a:solidFill>
          <a:ln/>
        </p:spPr>
      </p:sp>
      <p:sp>
        <p:nvSpPr>
          <p:cNvPr id="8" name="Text 6"/>
          <p:cNvSpPr txBox="1"/>
          <p:nvPr/>
        </p:nvSpPr>
        <p:spPr>
          <a:xfrm>
            <a:off x="777240" y="1780794"/>
            <a:ext cx="493776" cy="493776"/>
          </a:xfrm>
          <a:prstGeom prst="rect">
            <a:avLst/>
          </a:prstGeom>
          <a:noFill/>
          <a:ln/>
        </p:spPr>
        <p:txBody>
          <a:bodyPr wrap="square" lIns="0" tIns="0" rIns="0" bIns="0" rtlCol="0" anchor="ctr"/>
          <a:lstStyle/>
          <a:p>
            <a:pPr algn="ctr" indent="0" marL="0">
              <a:buNone/>
            </a:pPr>
            <a:r>
              <a:rPr lang="tr-TR" sz="1600" b="1" dirty="0">
                <a:solidFill>
                  <a:srgbClr val="FFFFFF"/>
                </a:solidFill>
                <a:latin typeface="Cambria" pitchFamily="34" charset="0"/>
                <a:ea typeface="Cambria" pitchFamily="34" charset="-122"/>
                <a:cs typeface="Cambria" pitchFamily="34" charset="-120"/>
              </a:rPr>
              <a:t>1</a:t>
            </a:r>
            <a:endParaRPr lang="tr-TR" sz="1600" dirty="0"/>
          </a:p>
        </p:txBody>
      </p:sp>
      <p:sp>
        <p:nvSpPr>
          <p:cNvPr id="9" name="Text 7"/>
          <p:cNvSpPr txBox="1"/>
          <p:nvPr/>
        </p:nvSpPr>
        <p:spPr>
          <a:xfrm>
            <a:off x="1508760" y="1508760"/>
            <a:ext cx="9921240" cy="1037844"/>
          </a:xfrm>
          <a:prstGeom prst="rect">
            <a:avLst/>
          </a:prstGeom>
          <a:noFill/>
          <a:ln/>
        </p:spPr>
        <p:txBody>
          <a:bodyPr wrap="square" lIns="0" tIns="0" rIns="0" bIns="0" rtlCol="0" anchor="ctr"/>
          <a:lstStyle/>
          <a:p>
            <a:pPr indent="0" marL="0">
              <a:buNone/>
            </a:pPr>
            <a:r>
              <a:rPr lang="tr-TR" sz="1600" dirty="0">
                <a:solidFill>
                  <a:srgbClr val="3A464C"/>
                </a:solidFill>
                <a:latin typeface="Calibri" pitchFamily="34" charset="0"/>
                <a:ea typeface="Calibri" pitchFamily="34" charset="-122"/>
                <a:cs typeface="Calibri" pitchFamily="34" charset="-120"/>
              </a:rPr>
              <a:t>Bir süreç t = 3'te geliyor, 4 ms işlemci süresine ihtiyaç duyuyor ve t = 15'te bitiyor. Dönüş ve bekleme süreleri nedir?</a:t>
            </a:r>
            <a:endParaRPr lang="tr-TR" sz="1600" dirty="0"/>
          </a:p>
        </p:txBody>
      </p:sp>
      <p:sp>
        <p:nvSpPr>
          <p:cNvPr id="10" name="Shape 8"/>
          <p:cNvSpPr/>
          <p:nvPr/>
        </p:nvSpPr>
        <p:spPr>
          <a:xfrm>
            <a:off x="548640" y="2747772"/>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sp>
      <p:sp>
        <p:nvSpPr>
          <p:cNvPr id="11" name="Shape 9"/>
          <p:cNvSpPr/>
          <p:nvPr/>
        </p:nvSpPr>
        <p:spPr>
          <a:xfrm>
            <a:off x="777240" y="3019806"/>
            <a:ext cx="493776" cy="493776"/>
          </a:xfrm>
          <a:prstGeom prst="ellipse">
            <a:avLst/>
          </a:prstGeom>
          <a:solidFill>
            <a:srgbClr val="02C39A"/>
          </a:solidFill>
          <a:ln/>
        </p:spPr>
      </p:sp>
      <p:sp>
        <p:nvSpPr>
          <p:cNvPr id="12" name="Text 10"/>
          <p:cNvSpPr txBox="1"/>
          <p:nvPr/>
        </p:nvSpPr>
        <p:spPr>
          <a:xfrm>
            <a:off x="777240" y="3019806"/>
            <a:ext cx="493776" cy="493776"/>
          </a:xfrm>
          <a:prstGeom prst="rect">
            <a:avLst/>
          </a:prstGeom>
          <a:noFill/>
          <a:ln/>
        </p:spPr>
        <p:txBody>
          <a:bodyPr wrap="square" lIns="0" tIns="0" rIns="0" bIns="0" rtlCol="0" anchor="ctr"/>
          <a:lstStyle/>
          <a:p>
            <a:pPr algn="ctr" indent="0" marL="0">
              <a:buNone/>
            </a:pPr>
            <a:r>
              <a:rPr lang="tr-TR" sz="1600" b="1" dirty="0">
                <a:solidFill>
                  <a:srgbClr val="FFFFFF"/>
                </a:solidFill>
                <a:latin typeface="Cambria" pitchFamily="34" charset="0"/>
                <a:ea typeface="Cambria" pitchFamily="34" charset="-122"/>
                <a:cs typeface="Cambria" pitchFamily="34" charset="-120"/>
              </a:rPr>
              <a:t>2</a:t>
            </a:r>
            <a:endParaRPr lang="tr-TR" sz="1600" dirty="0"/>
          </a:p>
        </p:txBody>
      </p:sp>
      <p:sp>
        <p:nvSpPr>
          <p:cNvPr id="13" name="Text 11"/>
          <p:cNvSpPr txBox="1"/>
          <p:nvPr/>
        </p:nvSpPr>
        <p:spPr>
          <a:xfrm>
            <a:off x="1508760" y="2747772"/>
            <a:ext cx="9921240" cy="1037844"/>
          </a:xfrm>
          <a:prstGeom prst="rect">
            <a:avLst/>
          </a:prstGeom>
          <a:noFill/>
          <a:ln/>
        </p:spPr>
        <p:txBody>
          <a:bodyPr wrap="square" lIns="0" tIns="0" rIns="0" bIns="0" rtlCol="0" anchor="ctr"/>
          <a:lstStyle/>
          <a:p>
            <a:pPr indent="0" marL="0">
              <a:buNone/>
            </a:pPr>
            <a:r>
              <a:rPr lang="tr-TR" sz="1600" dirty="0">
                <a:solidFill>
                  <a:srgbClr val="3A464C"/>
                </a:solidFill>
                <a:latin typeface="Calibri" pitchFamily="34" charset="0"/>
                <a:ea typeface="Calibri" pitchFamily="34" charset="-122"/>
                <a:cs typeface="Calibri" pitchFamily="34" charset="-120"/>
              </a:rPr>
              <a:t>5. problemdeki sayfa tablosuyla (2. sayfa → 6. çerçeve) 0x2ABC mantıksal adresini çevirin.</a:t>
            </a:r>
            <a:endParaRPr lang="tr-TR" sz="1600" dirty="0"/>
          </a:p>
        </p:txBody>
      </p:sp>
      <p:sp>
        <p:nvSpPr>
          <p:cNvPr id="14" name="Shape 12"/>
          <p:cNvSpPr/>
          <p:nvPr/>
        </p:nvSpPr>
        <p:spPr>
          <a:xfrm>
            <a:off x="548640" y="3986784"/>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sp>
      <p:sp>
        <p:nvSpPr>
          <p:cNvPr id="15" name="Shape 13"/>
          <p:cNvSpPr/>
          <p:nvPr/>
        </p:nvSpPr>
        <p:spPr>
          <a:xfrm>
            <a:off x="777240" y="4258818"/>
            <a:ext cx="493776" cy="493776"/>
          </a:xfrm>
          <a:prstGeom prst="ellipse">
            <a:avLst/>
          </a:prstGeom>
          <a:solidFill>
            <a:srgbClr val="02C39A"/>
          </a:solidFill>
          <a:ln/>
        </p:spPr>
      </p:sp>
      <p:sp>
        <p:nvSpPr>
          <p:cNvPr id="16" name="Text 14"/>
          <p:cNvSpPr txBox="1"/>
          <p:nvPr/>
        </p:nvSpPr>
        <p:spPr>
          <a:xfrm>
            <a:off x="777240" y="4258818"/>
            <a:ext cx="493776" cy="493776"/>
          </a:xfrm>
          <a:prstGeom prst="rect">
            <a:avLst/>
          </a:prstGeom>
          <a:noFill/>
          <a:ln/>
        </p:spPr>
        <p:txBody>
          <a:bodyPr wrap="square" lIns="0" tIns="0" rIns="0" bIns="0" rtlCol="0" anchor="ctr"/>
          <a:lstStyle/>
          <a:p>
            <a:pPr algn="ctr" indent="0" marL="0">
              <a:buNone/>
            </a:pPr>
            <a:r>
              <a:rPr lang="tr-TR" sz="1600" b="1" dirty="0">
                <a:solidFill>
                  <a:srgbClr val="FFFFFF"/>
                </a:solidFill>
                <a:latin typeface="Cambria" pitchFamily="34" charset="0"/>
                <a:ea typeface="Cambria" pitchFamily="34" charset="-122"/>
                <a:cs typeface="Cambria" pitchFamily="34" charset="-120"/>
              </a:rPr>
              <a:t>3</a:t>
            </a:r>
            <a:endParaRPr lang="tr-TR" sz="1600" dirty="0"/>
          </a:p>
        </p:txBody>
      </p:sp>
      <p:sp>
        <p:nvSpPr>
          <p:cNvPr id="17" name="Text 15"/>
          <p:cNvSpPr txBox="1"/>
          <p:nvPr/>
        </p:nvSpPr>
        <p:spPr>
          <a:xfrm>
            <a:off x="1508760" y="3986784"/>
            <a:ext cx="9921240" cy="1037844"/>
          </a:xfrm>
          <a:prstGeom prst="rect">
            <a:avLst/>
          </a:prstGeom>
          <a:noFill/>
          <a:ln/>
        </p:spPr>
        <p:txBody>
          <a:bodyPr wrap="square" lIns="0" tIns="0" rIns="0" bIns="0" rtlCol="0" anchor="ctr"/>
          <a:lstStyle/>
          <a:p>
            <a:pPr indent="0" marL="0">
              <a:buNone/>
            </a:pPr>
            <a:r>
              <a:rPr lang="tr-TR" sz="1600" dirty="0">
                <a:solidFill>
                  <a:srgbClr val="3A464C"/>
                </a:solidFill>
                <a:latin typeface="Calibri" pitchFamily="34" charset="0"/>
                <a:ea typeface="Calibri" pitchFamily="34" charset="-122"/>
                <a:cs typeface="Calibri" pitchFamily="34" charset="-120"/>
              </a:rPr>
              <a:t>t_TLB = 10 ns, t_m = 100 ns, isabet oranı α = 0,9. Etkin erişim süresi (ders uzlaşımı)?</a:t>
            </a:r>
            <a:endParaRPr lang="tr-TR" sz="1600" dirty="0"/>
          </a:p>
        </p:txBody>
      </p:sp>
      <p:sp>
        <p:nvSpPr>
          <p:cNvPr id="18" name="Shape 16"/>
          <p:cNvSpPr/>
          <p:nvPr/>
        </p:nvSpPr>
        <p:spPr>
          <a:xfrm>
            <a:off x="548640" y="5225796"/>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sp>
      <p:sp>
        <p:nvSpPr>
          <p:cNvPr id="19" name="Shape 17"/>
          <p:cNvSpPr/>
          <p:nvPr/>
        </p:nvSpPr>
        <p:spPr>
          <a:xfrm>
            <a:off x="777240" y="5497830"/>
            <a:ext cx="493776" cy="493776"/>
          </a:xfrm>
          <a:prstGeom prst="ellipse">
            <a:avLst/>
          </a:prstGeom>
          <a:solidFill>
            <a:srgbClr val="02C39A"/>
          </a:solidFill>
          <a:ln/>
        </p:spPr>
      </p:sp>
      <p:sp>
        <p:nvSpPr>
          <p:cNvPr id="20" name="Text 18"/>
          <p:cNvSpPr txBox="1"/>
          <p:nvPr/>
        </p:nvSpPr>
        <p:spPr>
          <a:xfrm>
            <a:off x="777240" y="5497830"/>
            <a:ext cx="493776" cy="493776"/>
          </a:xfrm>
          <a:prstGeom prst="rect">
            <a:avLst/>
          </a:prstGeom>
          <a:noFill/>
          <a:ln/>
        </p:spPr>
        <p:txBody>
          <a:bodyPr wrap="square" lIns="0" tIns="0" rIns="0" bIns="0" rtlCol="0" anchor="ctr"/>
          <a:lstStyle/>
          <a:p>
            <a:pPr algn="ctr" indent="0" marL="0">
              <a:buNone/>
            </a:pPr>
            <a:r>
              <a:rPr lang="tr-TR" sz="1600" b="1" dirty="0">
                <a:solidFill>
                  <a:srgbClr val="FFFFFF"/>
                </a:solidFill>
                <a:latin typeface="Cambria" pitchFamily="34" charset="0"/>
                <a:ea typeface="Cambria" pitchFamily="34" charset="-122"/>
                <a:cs typeface="Cambria" pitchFamily="34" charset="-120"/>
              </a:rPr>
              <a:t>4</a:t>
            </a:r>
            <a:endParaRPr lang="tr-TR" sz="1600" dirty="0"/>
          </a:p>
        </p:txBody>
      </p:sp>
      <p:sp>
        <p:nvSpPr>
          <p:cNvPr id="21" name="Text 19"/>
          <p:cNvSpPr txBox="1"/>
          <p:nvPr/>
        </p:nvSpPr>
        <p:spPr>
          <a:xfrm>
            <a:off x="1508760" y="5225796"/>
            <a:ext cx="9921240" cy="1037844"/>
          </a:xfrm>
          <a:prstGeom prst="rect">
            <a:avLst/>
          </a:prstGeom>
          <a:noFill/>
          <a:ln/>
        </p:spPr>
        <p:txBody>
          <a:bodyPr wrap="square" lIns="0" tIns="0" rIns="0" bIns="0" rtlCol="0" anchor="ctr"/>
          <a:lstStyle/>
          <a:p>
            <a:pPr indent="0" marL="0">
              <a:buNone/>
            </a:pPr>
            <a:r>
              <a:rPr lang="tr-TR" sz="1600" dirty="0">
                <a:solidFill>
                  <a:srgbClr val="3A464C"/>
                </a:solidFill>
                <a:latin typeface="Calibri" pitchFamily="34" charset="0"/>
                <a:ea typeface="Calibri" pitchFamily="34" charset="-122"/>
                <a:cs typeface="Calibri" pitchFamily="34" charset="-120"/>
              </a:rPr>
              <a:t>ln -s a.txt b.txt, ardından rm a.txt. Veriyi b.txt üzerinden hâlâ okuyabilir misiniz? Neden?</a:t>
            </a:r>
            <a:endParaRPr lang="tr-TR" sz="1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TOPARLAMA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8. Hafta: Akılda Kalması Gerekenler</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8  ·  35</a:t>
            </a:r>
            <a:endParaRPr lang="tr-TR" sz="900" dirty="0"/>
          </a:p>
        </p:txBody>
      </p:sp>
      <p:sp>
        <p:nvSpPr>
          <p:cNvPr id="6" name="Text 4"/>
          <p:cNvSpPr txBox="1"/>
          <p:nvPr/>
        </p:nvSpPr>
        <p:spPr>
          <a:xfrm>
            <a:off x="548640" y="1554480"/>
            <a:ext cx="11064240" cy="4709160"/>
          </a:xfrm>
          <a:prstGeom prst="rect">
            <a:avLst/>
          </a:prstGeom>
          <a:noFill/>
          <a:ln/>
        </p:spPr>
        <p:txBody>
          <a:bodyPr wrap="square" lIns="0" tIns="0" rIns="0" bIns="0" rtlCol="0" anchor="t"/>
          <a:lstStyle/>
          <a:p>
            <a:pPr marL="228600" indent="-228600">
              <a:spcAft>
                <a:spcPts val="1200"/>
              </a:spcAft>
              <a:buSzPct val="100000"/>
              <a:buChar char="•"/>
            </a:pPr>
            <a:r>
              <a:rPr lang="tr-TR" sz="1800" b="1" dirty="0">
                <a:solidFill>
                  <a:srgbClr val="3A464C"/>
                </a:solidFill>
                <a:latin typeface="Calibri" pitchFamily="34" charset="0"/>
                <a:ea typeface="Calibri" pitchFamily="34" charset="-122"/>
                <a:cs typeface="Calibri" pitchFamily="34" charset="-120"/>
              </a:rPr>
              <a:t>1–4. haftalar:</a:t>
            </a:r>
            <a:r>
              <a:rPr lang="tr-TR" sz="1800" dirty="0">
                <a:solidFill>
                  <a:srgbClr val="3A464C"/>
                </a:solidFill>
                <a:latin typeface="Calibri" pitchFamily="34" charset="0"/>
                <a:ea typeface="Calibri" pitchFamily="34" charset="-122"/>
                <a:cs typeface="Calibri" pitchFamily="34" charset="-120"/>
              </a:rPr>
              <a:t> tarihçe ve hedefler, ikili mod ve sistem çağrıları, süreç durumları ve PCB, iş parçacıkları — her birinin tanımını ve bir örneğini bilin.</a:t>
            </a:r>
            <a:endParaRPr lang="tr-TR" sz="1800" dirty="0"/>
          </a:p>
          <a:p>
            <a:pPr marL="228600" indent="-228600">
              <a:spcAft>
                <a:spcPts val="1200"/>
              </a:spcAft>
              <a:buSzPct val="100000"/>
              <a:buChar char="•"/>
            </a:pPr>
            <a:r>
              <a:rPr lang="tr-TR" sz="1800" b="1" dirty="0">
                <a:solidFill>
                  <a:srgbClr val="3A464C"/>
                </a:solidFill>
                <a:latin typeface="Calibri" pitchFamily="34" charset="0"/>
                <a:ea typeface="Calibri" pitchFamily="34" charset="-122"/>
                <a:cs typeface="Calibri" pitchFamily="34" charset="-120"/>
              </a:rPr>
              <a:t>Zamanlama:</a:t>
            </a:r>
            <a:r>
              <a:rPr lang="tr-TR" sz="1800" dirty="0">
                <a:solidFill>
                  <a:srgbClr val="3A464C"/>
                </a:solidFill>
                <a:latin typeface="Calibri" pitchFamily="34" charset="0"/>
                <a:ea typeface="Calibri" pitchFamily="34" charset="-122"/>
                <a:cs typeface="Calibri" pitchFamily="34" charset="-120"/>
              </a:rPr>
              <a:t> Gantt şemasını çizin, sonra dönüş = tamamlanma − geliş ve bekleme = dönüş − patlama; uzlaşımları yazın.</a:t>
            </a:r>
            <a:endParaRPr lang="tr-TR" sz="1800" dirty="0"/>
          </a:p>
          <a:p>
            <a:pPr marL="228600" indent="-228600">
              <a:spcAft>
                <a:spcPts val="1200"/>
              </a:spcAft>
              <a:buSzPct val="100000"/>
              <a:buChar char="•"/>
            </a:pPr>
            <a:r>
              <a:rPr lang="tr-TR" sz="1800" b="1" dirty="0">
                <a:solidFill>
                  <a:srgbClr val="3A464C"/>
                </a:solidFill>
                <a:latin typeface="Calibri" pitchFamily="34" charset="0"/>
                <a:ea typeface="Calibri" pitchFamily="34" charset="-122"/>
                <a:cs typeface="Calibri" pitchFamily="34" charset="-120"/>
              </a:rPr>
              <a:t>Eşzamanlama:</a:t>
            </a:r>
            <a:r>
              <a:rPr lang="tr-TR" sz="1800" dirty="0">
                <a:solidFill>
                  <a:srgbClr val="3A464C"/>
                </a:solidFill>
                <a:latin typeface="Calibri" pitchFamily="34" charset="0"/>
                <a:ea typeface="Calibri" pitchFamily="34" charset="-122"/>
                <a:cs typeface="Calibri" pitchFamily="34" charset="-120"/>
              </a:rPr>
              <a:t> counter++ = oku–ekle–yaz; üç gereksinim; muteks ve semaforlar; kilitlenmeye karşı kilit sırası.</a:t>
            </a:r>
            <a:endParaRPr lang="tr-TR" sz="1800" dirty="0"/>
          </a:p>
          <a:p>
            <a:pPr marL="228600" indent="-228600">
              <a:spcAft>
                <a:spcPts val="1200"/>
              </a:spcAft>
              <a:buSzPct val="100000"/>
              <a:buChar char="•"/>
            </a:pPr>
            <a:r>
              <a:rPr lang="tr-TR" sz="1800" b="1" dirty="0">
                <a:solidFill>
                  <a:srgbClr val="3A464C"/>
                </a:solidFill>
                <a:latin typeface="Calibri" pitchFamily="34" charset="0"/>
                <a:ea typeface="Calibri" pitchFamily="34" charset="-122"/>
                <a:cs typeface="Calibri" pitchFamily="34" charset="-120"/>
              </a:rPr>
              <a:t>Bellek:</a:t>
            </a:r>
            <a:r>
              <a:rPr lang="tr-TR" sz="1800" dirty="0">
                <a:solidFill>
                  <a:srgbClr val="3A464C"/>
                </a:solidFill>
                <a:latin typeface="Calibri" pitchFamily="34" charset="0"/>
                <a:ea typeface="Calibri" pitchFamily="34" charset="-122"/>
                <a:cs typeface="Calibri" pitchFamily="34" charset="-120"/>
              </a:rPr>
              <a:t> taban + sınır denetimi, uyan stratejileri ve parçalanma, p | d ayrımı, EAT = t_TLB + (2 − α) t_m.</a:t>
            </a:r>
            <a:endParaRPr lang="tr-TR" sz="1800" dirty="0"/>
          </a:p>
          <a:p>
            <a:pPr marL="228600" indent="-228600">
              <a:spcAft>
                <a:spcPts val="1200"/>
              </a:spcAft>
              <a:buSzPct val="100000"/>
              <a:buChar char="•"/>
            </a:pPr>
            <a:r>
              <a:rPr lang="tr-TR" sz="1800" b="1" dirty="0">
                <a:solidFill>
                  <a:srgbClr val="3A464C"/>
                </a:solidFill>
                <a:latin typeface="Calibri" pitchFamily="34" charset="0"/>
                <a:ea typeface="Calibri" pitchFamily="34" charset="-122"/>
                <a:cs typeface="Calibri" pitchFamily="34" charset="-120"/>
              </a:rPr>
              <a:t>Sanal bellek ve dosyalar:</a:t>
            </a:r>
            <a:r>
              <a:rPr lang="tr-TR" sz="1800" dirty="0">
                <a:solidFill>
                  <a:srgbClr val="3A464C"/>
                </a:solidFill>
                <a:latin typeface="Calibri" pitchFamily="34" charset="0"/>
                <a:ea typeface="Calibri" pitchFamily="34" charset="-122"/>
                <a:cs typeface="Calibri" pitchFamily="34" charset="-120"/>
              </a:rPr>
              <a:t> EAT = (1 − p) t_m + p t_fault; FIFO / OPT / LRU tabloları; blok = ⌊kR/B⌋; sabit ve sembolik bağlantılar.</a:t>
            </a:r>
            <a:endParaRPr lang="tr-TR" sz="1800" dirty="0"/>
          </a:p>
          <a:p>
            <a:pPr marL="228600" indent="-228600">
              <a:spcAft>
                <a:spcPts val="1200"/>
              </a:spcAft>
              <a:buSzPct val="100000"/>
              <a:buChar char="•"/>
            </a:pPr>
            <a:r>
              <a:rPr lang="tr-TR" sz="1800" b="1" dirty="0">
                <a:solidFill>
                  <a:srgbClr val="3A464C"/>
                </a:solidFill>
                <a:latin typeface="Calibri" pitchFamily="34" charset="0"/>
                <a:ea typeface="Calibri" pitchFamily="34" charset="-122"/>
                <a:cs typeface="Calibri" pitchFamily="34" charset="-120"/>
              </a:rPr>
              <a:t>Alıştırma:</a:t>
            </a:r>
            <a:r>
              <a:rPr lang="tr-TR" sz="1800" dirty="0">
                <a:solidFill>
                  <a:srgbClr val="3A464C"/>
                </a:solidFill>
                <a:latin typeface="Calibri" pitchFamily="34" charset="0"/>
                <a:ea typeface="Calibri" pitchFamily="34" charset="-122"/>
                <a:cs typeface="Calibri" pitchFamily="34" charset="-120"/>
              </a:rPr>
              <a:t> notlardaki deneme sınavı ve örnek kâğıt — saat tutarak.</a:t>
            </a:r>
            <a:endParaRPr lang="tr-TR" sz="1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1417320"/>
            <a:ext cx="91440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GELECEK HAFTA</a:t>
            </a:r>
            <a:endParaRPr lang="tr-TR" sz="1300" dirty="0"/>
          </a:p>
        </p:txBody>
      </p:sp>
      <p:sp>
        <p:nvSpPr>
          <p:cNvPr id="3" name="Text 1"/>
          <p:cNvSpPr txBox="1"/>
          <p:nvPr/>
        </p:nvSpPr>
        <p:spPr>
          <a:xfrm>
            <a:off x="548640" y="1783080"/>
            <a:ext cx="10972800" cy="777240"/>
          </a:xfrm>
          <a:prstGeom prst="rect">
            <a:avLst/>
          </a:prstGeom>
          <a:noFill/>
          <a:ln/>
        </p:spPr>
        <p:txBody>
          <a:bodyPr wrap="square" lIns="0" tIns="0" rIns="0" bIns="0" rtlCol="0" anchor="ctr"/>
          <a:lstStyle/>
          <a:p>
            <a:pPr indent="0" marL="0">
              <a:buNone/>
            </a:pPr>
            <a:r>
              <a:rPr lang="tr-TR" sz="3400" b="1" dirty="0">
                <a:solidFill>
                  <a:srgbClr val="FFFFFF"/>
                </a:solidFill>
                <a:latin typeface="Cambria" pitchFamily="34" charset="0"/>
                <a:ea typeface="Cambria" pitchFamily="34" charset="-122"/>
                <a:cs typeface="Cambria" pitchFamily="34" charset="-120"/>
              </a:rPr>
              <a:t>Linux Kabuğuna Giriş ve Dosya Sisteminde Gezinme</a:t>
            </a:r>
            <a:endParaRPr lang="tr-TR" sz="3400" dirty="0"/>
          </a:p>
        </p:txBody>
      </p:sp>
      <p:sp>
        <p:nvSpPr>
          <p:cNvPr id="4" name="Shape 2"/>
          <p:cNvSpPr/>
          <p:nvPr/>
        </p:nvSpPr>
        <p:spPr>
          <a:xfrm>
            <a:off x="548640" y="2834640"/>
            <a:ext cx="7680960" cy="2926080"/>
          </a:xfrm>
          <a:prstGeom prst="roundRect">
            <a:avLst>
              <a:gd name="adj" fmla="val 1875"/>
            </a:avLst>
          </a:prstGeom>
          <a:solidFill>
            <a:srgbClr val="36454F"/>
          </a:solidFill>
          <a:ln/>
        </p:spPr>
      </p:sp>
      <p:sp>
        <p:nvSpPr>
          <p:cNvPr id="5" name="Text 3"/>
          <p:cNvSpPr txBox="1"/>
          <p:nvPr/>
        </p:nvSpPr>
        <p:spPr>
          <a:xfrm>
            <a:off x="868680" y="3017520"/>
            <a:ext cx="7132320" cy="365760"/>
          </a:xfrm>
          <a:prstGeom prst="rect">
            <a:avLst/>
          </a:prstGeom>
          <a:noFill/>
          <a:ln/>
        </p:spPr>
        <p:txBody>
          <a:bodyPr wrap="square" lIns="0" tIns="0" rIns="0" bIns="0" rtlCol="0" anchor="ctr"/>
          <a:lstStyle/>
          <a:p>
            <a:pPr indent="0" marL="0">
              <a:buNone/>
            </a:pPr>
            <a:r>
              <a:rPr lang="tr-TR" sz="1400" b="1" dirty="0">
                <a:solidFill>
                  <a:srgbClr val="02C39A"/>
                </a:solidFill>
                <a:latin typeface="Calibri" pitchFamily="34" charset="0"/>
                <a:ea typeface="Calibri" pitchFamily="34" charset="-122"/>
                <a:cs typeface="Calibri" pitchFamily="34" charset="-120"/>
              </a:rPr>
              <a:t>9. haftanın konuları:</a:t>
            </a:r>
            <a:endParaRPr lang="tr-TR" sz="1400" dirty="0"/>
          </a:p>
        </p:txBody>
      </p:sp>
      <p:sp>
        <p:nvSpPr>
          <p:cNvPr id="6" name="Text 4"/>
          <p:cNvSpPr txBox="1"/>
          <p:nvPr/>
        </p:nvSpPr>
        <p:spPr>
          <a:xfrm>
            <a:off x="868680" y="3474720"/>
            <a:ext cx="7132320" cy="2148840"/>
          </a:xfrm>
          <a:prstGeom prst="rect">
            <a:avLst/>
          </a:prstGeom>
          <a:noFill/>
          <a:ln/>
        </p:spPr>
        <p:txBody>
          <a:bodyPr wrap="square" lIns="0" tIns="0" rIns="0" bIns="0" rtlCol="0" anchor="t"/>
          <a:lstStyle/>
          <a:p>
            <a:pPr marL="228600" indent="-228600">
              <a:spcAft>
                <a:spcPts val="600"/>
              </a:spcAft>
              <a:buSzPct val="100000"/>
              <a:buChar char="•"/>
            </a:pPr>
            <a:r>
              <a:rPr lang="tr-TR" sz="1500" dirty="0">
                <a:solidFill>
                  <a:srgbClr val="F2F2F2"/>
                </a:solidFill>
                <a:latin typeface="Calibri" pitchFamily="34" charset="0"/>
                <a:ea typeface="Calibri" pitchFamily="34" charset="-122"/>
                <a:cs typeface="Calibri" pitchFamily="34" charset="-120"/>
              </a:rPr>
              <a:t>Linux edinmek: laboratuvar bilgisayarları, WSL (wsl --install) ya da VirtualBox'ta bir Ubuntu sanal makinesi</a:t>
            </a:r>
            <a:endParaRPr lang="tr-TR" sz="1500" dirty="0"/>
          </a:p>
          <a:p>
            <a:pPr marL="228600" indent="-228600">
              <a:spcAft>
                <a:spcPts val="600"/>
              </a:spcAft>
              <a:buSzPct val="100000"/>
              <a:buChar char="•"/>
            </a:pPr>
            <a:r>
              <a:rPr lang="tr-TR" sz="1500" dirty="0">
                <a:solidFill>
                  <a:srgbClr val="F2F2F2"/>
                </a:solidFill>
                <a:latin typeface="Calibri" pitchFamily="34" charset="0"/>
                <a:ea typeface="Calibri" pitchFamily="34" charset="-122"/>
                <a:cs typeface="Calibri" pitchFamily="34" charset="-120"/>
              </a:rPr>
              <a:t>Terminal, kabuk ve çekirdek — kabuk bir sistem programıdır (2. hafta)</a:t>
            </a:r>
            <a:endParaRPr lang="tr-TR" sz="1500" dirty="0"/>
          </a:p>
          <a:p>
            <a:pPr marL="228600" indent="-228600">
              <a:spcAft>
                <a:spcPts val="600"/>
              </a:spcAft>
              <a:buSzPct val="100000"/>
              <a:buChar char="•"/>
            </a:pPr>
            <a:r>
              <a:rPr lang="tr-TR" sz="1500" dirty="0">
                <a:solidFill>
                  <a:srgbClr val="F2F2F2"/>
                </a:solidFill>
                <a:latin typeface="Calibri" pitchFamily="34" charset="0"/>
                <a:ea typeface="Calibri" pitchFamily="34" charset="-122"/>
                <a:cs typeface="Calibri" pitchFamily="34" charset="-120"/>
              </a:rPr>
              <a:t>İlk komutlar: whoami, date, uname -a, pwd, ls, cd</a:t>
            </a:r>
            <a:endParaRPr lang="tr-TR" sz="1500" dirty="0"/>
          </a:p>
          <a:p>
            <a:pPr marL="228600" indent="-228600">
              <a:spcAft>
                <a:spcPts val="600"/>
              </a:spcAft>
              <a:buSzPct val="100000"/>
              <a:buChar char="•"/>
            </a:pPr>
            <a:r>
              <a:rPr lang="tr-TR" sz="1500" dirty="0">
                <a:solidFill>
                  <a:srgbClr val="F2F2F2"/>
                </a:solidFill>
                <a:latin typeface="Calibri" pitchFamily="34" charset="0"/>
                <a:ea typeface="Calibri" pitchFamily="34" charset="-122"/>
                <a:cs typeface="Calibri" pitchFamily="34" charset="-120"/>
              </a:rPr>
              <a:t>Gerçek dizin ağacında mutlak ve göreli yollar (7. hafta)</a:t>
            </a:r>
            <a:endParaRPr lang="tr-TR" sz="1500" dirty="0"/>
          </a:p>
          <a:p>
            <a:pPr marL="228600" indent="-228600">
              <a:spcAft>
                <a:spcPts val="600"/>
              </a:spcAft>
              <a:buSzPct val="100000"/>
              <a:buChar char="•"/>
            </a:pPr>
            <a:r>
              <a:rPr lang="tr-TR" sz="1500" dirty="0">
                <a:solidFill>
                  <a:srgbClr val="F2F2F2"/>
                </a:solidFill>
                <a:latin typeface="Calibri" pitchFamily="34" charset="0"/>
                <a:ea typeface="Calibri" pitchFamily="34" charset="-122"/>
                <a:cs typeface="Calibri" pitchFamily="34" charset="-120"/>
              </a:rPr>
              <a:t>Yardım almak: --help, man, sekme tamamlama, komut geçmişi</a:t>
            </a:r>
            <a:endParaRPr lang="tr-TR" sz="1500" dirty="0"/>
          </a:p>
        </p:txBody>
      </p:sp>
      <p:sp>
        <p:nvSpPr>
          <p:cNvPr id="7" name="Text 5"/>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8A9AA0"/>
                </a:solidFill>
                <a:latin typeface="Calibri" pitchFamily="34" charset="0"/>
                <a:ea typeface="Calibri" pitchFamily="34" charset="-122"/>
                <a:cs typeface="Calibri" pitchFamily="34" charset="-120"/>
              </a:rPr>
              <a:t>MBLP131 — İşletim Sistemleri Temelleri</a:t>
            </a:r>
            <a:endParaRPr lang="tr-TR" sz="900" dirty="0"/>
          </a:p>
        </p:txBody>
      </p:sp>
      <p:sp>
        <p:nvSpPr>
          <p:cNvPr id="8" name="Text 6"/>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8A9AA0"/>
                </a:solidFill>
                <a:latin typeface="Calibri" pitchFamily="34" charset="0"/>
                <a:ea typeface="Calibri" pitchFamily="34" charset="-122"/>
                <a:cs typeface="Calibri" pitchFamily="34" charset="-120"/>
              </a:rPr>
              <a:t>Hafta 8  ·  36</a:t>
            </a:r>
            <a:endParaRPr lang="tr-TR"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1417320"/>
            <a:ext cx="91440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SORULAR?</a:t>
            </a:r>
            <a:endParaRPr lang="tr-TR" sz="1300" dirty="0"/>
          </a:p>
        </p:txBody>
      </p:sp>
      <p:sp>
        <p:nvSpPr>
          <p:cNvPr id="3" name="Text 1"/>
          <p:cNvSpPr txBox="1"/>
          <p:nvPr/>
        </p:nvSpPr>
        <p:spPr>
          <a:xfrm>
            <a:off x="548640" y="1783080"/>
            <a:ext cx="9144000" cy="777240"/>
          </a:xfrm>
          <a:prstGeom prst="rect">
            <a:avLst/>
          </a:prstGeom>
          <a:noFill/>
          <a:ln/>
        </p:spPr>
        <p:txBody>
          <a:bodyPr wrap="square" lIns="0" tIns="0" rIns="0" bIns="0" rtlCol="0" anchor="ctr"/>
          <a:lstStyle/>
          <a:p>
            <a:pPr indent="0" marL="0">
              <a:buNone/>
            </a:pPr>
            <a:r>
              <a:rPr lang="tr-TR" sz="3800" b="1" dirty="0">
                <a:solidFill>
                  <a:srgbClr val="FFFFFF"/>
                </a:solidFill>
                <a:latin typeface="Cambria" pitchFamily="34" charset="0"/>
                <a:ea typeface="Cambria" pitchFamily="34" charset="-122"/>
                <a:cs typeface="Cambria" pitchFamily="34" charset="-120"/>
              </a:rPr>
              <a:t>Tartışma</a:t>
            </a:r>
            <a:endParaRPr lang="tr-TR" sz="3800" dirty="0"/>
          </a:p>
        </p:txBody>
      </p:sp>
      <p:sp>
        <p:nvSpPr>
          <p:cNvPr id="4" name="Text 2"/>
          <p:cNvSpPr txBox="1"/>
          <p:nvPr/>
        </p:nvSpPr>
        <p:spPr>
          <a:xfrm>
            <a:off x="548640" y="2697480"/>
            <a:ext cx="6858000" cy="640080"/>
          </a:xfrm>
          <a:prstGeom prst="rect">
            <a:avLst/>
          </a:prstGeom>
          <a:noFill/>
          <a:ln/>
        </p:spPr>
        <p:txBody>
          <a:bodyPr wrap="square" lIns="0" tIns="0" rIns="0" bIns="0" rtlCol="0" anchor="ctr"/>
          <a:lstStyle/>
          <a:p>
            <a:pPr indent="0" marL="0">
              <a:buNone/>
            </a:pPr>
            <a:r>
              <a:rPr lang="tr-TR" sz="1400" i="1" dirty="0">
                <a:solidFill>
                  <a:srgbClr val="F2F2F2"/>
                </a:solidFill>
                <a:latin typeface="Calibri" pitchFamily="34" charset="0"/>
                <a:ea typeface="Calibri" pitchFamily="34" charset="-122"/>
                <a:cs typeface="Calibri" pitchFamily="34" charset="-120"/>
              </a:rPr>
              <a:t>Dersten sonra sorularınız olursa dersin Telegram kanalında sorun — yanıttan herkes yararlanır.</a:t>
            </a:r>
            <a:endParaRPr lang="tr-TR" sz="1400" dirty="0"/>
          </a:p>
        </p:txBody>
      </p:sp>
      <p:sp>
        <p:nvSpPr>
          <p:cNvPr id="7" name="Text 4"/>
          <p:cNvSpPr txBox="1"/>
          <p:nvPr/>
        </p:nvSpPr>
        <p:spPr>
          <a:xfrm>
            <a:off x="3108960" y="3703320"/>
            <a:ext cx="5486400" cy="1463040"/>
          </a:xfrm>
          <a:prstGeom prst="rect">
            <a:avLst/>
          </a:prstGeom>
          <a:noFill/>
          <a:ln/>
        </p:spPr>
        <p:txBody>
          <a:bodyPr wrap="square" lIns="0" tIns="0" rIns="0" bIns="0" rtlCol="0" anchor="t"/>
          <a:lstStyle/>
          <a:p>
            <a:pPr indent="0" marL="0">
              <a:spcAft>
                <a:spcPts val="400"/>
              </a:spcAft>
              <a:buNone/>
            </a:pPr>
            <a:r>
              <a:rPr lang="tr-TR" sz="1400" b="1" dirty="0">
                <a:solidFill>
                  <a:srgbClr val="F2F2F2"/>
                </a:solidFill>
                <a:latin typeface="Calibri" pitchFamily="34" charset="0"/>
                <a:ea typeface="Calibri" pitchFamily="34" charset="-122"/>
                <a:cs typeface="Calibri" pitchFamily="34" charset="-120"/>
              </a:rPr>
              <a:t>Dr. Öğr. Üyesi Hasan Oğuz</a:t>
            </a:r>
            <a:endParaRPr lang="tr-TR" sz="1400" dirty="0"/>
          </a:p>
        </p:txBody>
      </p:sp>
      <p:sp>
        <p:nvSpPr>
          <p:cNvPr id="8" name="Text 5"/>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8A9AA0"/>
                </a:solidFill>
                <a:latin typeface="Calibri" pitchFamily="34" charset="0"/>
                <a:ea typeface="Calibri" pitchFamily="34" charset="-122"/>
                <a:cs typeface="Calibri" pitchFamily="34" charset="-120"/>
              </a:rPr>
              <a:t>MBLP131 — İşletim Sistemleri Temelleri</a:t>
            </a:r>
            <a:endParaRPr lang="tr-TR" sz="900" dirty="0"/>
          </a:p>
        </p:txBody>
      </p:sp>
      <p:sp>
        <p:nvSpPr>
          <p:cNvPr id="9" name="Text 6"/>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8A9AA0"/>
                </a:solidFill>
                <a:latin typeface="Calibri" pitchFamily="34" charset="0"/>
                <a:ea typeface="Calibri" pitchFamily="34" charset="-122"/>
                <a:cs typeface="Calibri" pitchFamily="34" charset="-120"/>
              </a:rPr>
              <a:t>Hafta 8  ·  37</a:t>
            </a:r>
            <a:endParaRPr lang="tr-TR"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MBLP131 Hafta 8</dc:title>
  <dc:subject>PptxGenJS Presentation</dc:subject>
  <dc:creator>PptxGenJS</dc:creator>
  <cp:lastModifiedBy>PptxGenJS</cp:lastModifiedBy>
  <cp:revision>1</cp:revision>
  <dcterms:created xsi:type="dcterms:W3CDTF">2026-10-12T18:00:23Z</dcterms:created>
  <dcterms:modified xsi:type="dcterms:W3CDTF">2026-10-12T18:00:23Z</dcterms:modified>
</cp:coreProperties>
</file>