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114"/>
    <p:sldId id="270" r:id="rId115"/>
    <p:sldId id="271" r:id="rId116"/>
    <p:sldId id="272" r:id="rId117"/>
    <p:sldId id="273" r:id="rId118"/>
    <p:sldId id="274" r:id="rId119"/>
    <p:sldId id="275" r:id="rId120"/>
    <p:sldId id="276" r:id="rId121"/>
    <p:sldId id="277" r:id="rId122"/>
    <p:sldId id="278" r:id="rId123"/>
    <p:sldId id="279" r:id="rId124"/>
    <p:sldId id="280" r:id="rId125"/>
    <p:sldId id="281" r:id="rId126"/>
    <p:sldId id="282" r:id="rId127"/>
    <p:sldId id="283" r:id="rId128"/>
    <p:sldId id="284" r:id="rId129"/>
    <p:sldId id="285" r:id="rId130"/>
    <p:sldId id="286" r:id="rId131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Relationship Id="rId125" Type="http://schemas.openxmlformats.org/officeDocument/2006/relationships/slide" Target="slides/slide25.xml"/><Relationship Id="rId126" Type="http://schemas.openxmlformats.org/officeDocument/2006/relationships/slide" Target="slides/slide26.xml"/><Relationship Id="rId127" Type="http://schemas.openxmlformats.org/officeDocument/2006/relationships/slide" Target="slides/slide27.xml"/><Relationship Id="rId128" Type="http://schemas.openxmlformats.org/officeDocument/2006/relationships/slide" Target="slides/slide28.xml"/><Relationship Id="rId129" Type="http://schemas.openxmlformats.org/officeDocument/2006/relationships/slide" Target="slides/slide29.xml"/><Relationship Id="rId130" Type="http://schemas.openxmlformats.org/officeDocument/2006/relationships/slide" Target="slides/slide30.xml"/><Relationship Id="rId131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a_image-2-1.jp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b_image-5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b_image-6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b_image-18-1.png"/><Relationship Id="rId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b_image-30-1.png"/><Relationship Id="rId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a_image-17-1.jp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</a:t>
            </a:r>
            <a:endParaRPr lang="tr-TR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01168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tr-TR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İşletim Sistemleri</a:t>
            </a:r>
            <a:endParaRPr lang="tr-TR" sz="44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Temelleri</a:t>
            </a:r>
            <a:endParaRPr lang="tr-TR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Genel Bakış ve Bilişimin Tarihi</a:t>
            </a:r>
            <a:endParaRPr lang="tr-TR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89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nedir? İşletim sistemi nedir? Ve bugüne nasıl geldik?</a:t>
            </a:r>
            <a:endParaRPr lang="tr-TR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1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 Haberleşme Teknolojisi Programı  ·  Meslek Yüksekokulu</a:t>
            </a:r>
            <a:endParaRPr lang="tr-T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Hoş Geldiniz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2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035040" cy="4572000"/>
          </a:xfrm>
          <a:prstGeom prst="roundRect">
            <a:avLst>
              <a:gd name="adj" fmla="val 16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18488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tr-TR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691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ÖĞRETİM ÜYESİ</a:t>
            </a:r>
            <a:endParaRPr lang="tr-TR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116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Öğr. Üyesi Hasan Oğuz</a:t>
            </a:r>
            <a:endParaRPr lang="tr-TR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420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30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 Haberleşme Teknolojisi Program Başkanı</a:t>
            </a:r>
            <a:endParaRPr lang="tr-TR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2A343C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2296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tr-TR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3246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tr-TR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6791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2A343C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" y="38679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tr-TR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38679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tr-T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074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tr-TR" sz="125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Görüşme saatleri: Ofise uğrayın ya da ofiste olduğumdan emin olmak için önce Telegram’dan yazın.</a:t>
            </a:r>
            <a:endParaRPr lang="tr-TR" sz="1250" dirty="0"/>
          </a:p>
        </p:txBody>
      </p:sp>
      <p:sp>
        <p:nvSpPr>
          <p:cNvPr id="18" name="Shape 16"/>
          <p:cNvSpPr/>
          <p:nvPr/>
        </p:nvSpPr>
        <p:spPr>
          <a:xfrm>
            <a:off x="6858000" y="1417320"/>
            <a:ext cx="4800600" cy="4572000"/>
          </a:xfrm>
          <a:prstGeom prst="roundRect">
            <a:avLst>
              <a:gd name="adj" fmla="val 16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086600" y="1618488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tr-TR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16916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KANALINA KATILIN</a:t>
            </a:r>
            <a:endParaRPr lang="tr-TR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19933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tr-TR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boyunca duyurular, soru-cevap ve laboratuvar desteği.</a:t>
            </a:r>
            <a:endParaRPr lang="tr-TR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50292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[ders grubu bağlantısı]</a:t>
            </a:r>
            <a:endParaRPr lang="tr-TR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132320" y="5394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ile tarayın ya da slaytların PDF sürümündeki bağlantıya dokunun.</a:t>
            </a:r>
            <a:endParaRPr lang="tr-TR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Bugünün Gündemi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3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137160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tr-TR" sz="2000" dirty="0"/>
          </a:p>
        </p:txBody>
      </p:sp>
      <p:sp>
        <p:nvSpPr>
          <p:cNvPr id="8" name="Shape 6"/>
          <p:cNvSpPr/>
          <p:nvPr/>
        </p:nvSpPr>
        <p:spPr>
          <a:xfrm>
            <a:off x="1417320" y="1371600"/>
            <a:ext cx="9509760" cy="713232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691640" y="1371600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tr-TR" sz="15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aslında nedir?</a:t>
            </a:r>
            <a:endParaRPr lang="tr-TR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2212848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2212848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tr-TR" sz="2000" dirty="0"/>
          </a:p>
        </p:txBody>
      </p:sp>
      <p:sp>
        <p:nvSpPr>
          <p:cNvPr id="12" name="Shape 10"/>
          <p:cNvSpPr/>
          <p:nvPr/>
        </p:nvSpPr>
        <p:spPr>
          <a:xfrm>
            <a:off x="1417320" y="2212848"/>
            <a:ext cx="9509760" cy="713232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691640" y="2212848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tr-TR" sz="15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 nedir? (ilk, basit bir tanım)</a:t>
            </a:r>
            <a:endParaRPr lang="tr-TR" sz="1550" dirty="0"/>
          </a:p>
        </p:txBody>
      </p:sp>
      <p:sp>
        <p:nvSpPr>
          <p:cNvPr id="14" name="Shape 12"/>
          <p:cNvSpPr/>
          <p:nvPr/>
        </p:nvSpPr>
        <p:spPr>
          <a:xfrm>
            <a:off x="731520" y="3054096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3054096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tr-TR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3054096"/>
            <a:ext cx="9509760" cy="713232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691640" y="305409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tr-TR" sz="15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gereklidir? — amacı</a:t>
            </a:r>
            <a:endParaRPr lang="tr-TR" sz="1550" dirty="0"/>
          </a:p>
        </p:txBody>
      </p:sp>
      <p:sp>
        <p:nvSpPr>
          <p:cNvPr id="18" name="Shape 16"/>
          <p:cNvSpPr/>
          <p:nvPr/>
        </p:nvSpPr>
        <p:spPr>
          <a:xfrm>
            <a:off x="731520" y="3895344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31520" y="3895344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tr-TR" sz="2000" dirty="0"/>
          </a:p>
        </p:txBody>
      </p:sp>
      <p:sp>
        <p:nvSpPr>
          <p:cNvPr id="20" name="Shape 18"/>
          <p:cNvSpPr/>
          <p:nvPr/>
        </p:nvSpPr>
        <p:spPr>
          <a:xfrm>
            <a:off x="1417320" y="3895344"/>
            <a:ext cx="9509760" cy="713232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1691640" y="3895344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tr-TR" sz="15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 bir tarihçe — delikli kartlardan buluta</a:t>
            </a:r>
            <a:endParaRPr lang="tr-TR" sz="1550" dirty="0"/>
          </a:p>
        </p:txBody>
      </p:sp>
      <p:sp>
        <p:nvSpPr>
          <p:cNvPr id="22" name="Shape 20"/>
          <p:cNvSpPr/>
          <p:nvPr/>
        </p:nvSpPr>
        <p:spPr>
          <a:xfrm>
            <a:off x="731520" y="4736592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31520" y="4736592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tr-TR" sz="2000" dirty="0"/>
          </a:p>
        </p:txBody>
      </p:sp>
      <p:sp>
        <p:nvSpPr>
          <p:cNvPr id="24" name="Shape 22"/>
          <p:cNvSpPr/>
          <p:nvPr/>
        </p:nvSpPr>
        <p:spPr>
          <a:xfrm>
            <a:off x="1417320" y="4736592"/>
            <a:ext cx="9509760" cy="713232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1691640" y="4736592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tr-TR" sz="15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tarih neden önemli?</a:t>
            </a:r>
            <a:endParaRPr lang="tr-TR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9893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biçimsel tanımlar, işletim sisteminin hedefleri ve işletim sistemlerinin yapısı.</a:t>
            </a:r>
            <a:endParaRPr lang="tr-TR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Bilgisayar Aslında Nedir?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4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tr-TR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Ekranı, klavyeyi, uygulamaları bir kenara bırakın — özünde bilgisayar, komutları izleyen bir makinedir.</a:t>
            </a:r>
            <a:endParaRPr lang="tr-TR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Girdi</a:t>
            </a:r>
            <a:endParaRPr lang="tr-TR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tr-TR" sz="13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Sayılar, metin, bir tuşa basma, bir sensör ölçümü</a:t>
            </a:r>
            <a:endParaRPr lang="tr-TR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3877056"/>
            <a:ext cx="746608" cy="0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95648" y="28346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678528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İşlem</a:t>
            </a:r>
            <a:endParaRPr lang="tr-TR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24248" y="370332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tr-TR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komut dizisi — yani bir program — girdi üzerinde çalışır</a:t>
            </a:r>
            <a:endParaRPr lang="tr-TR" sz="1300" dirty="0"/>
          </a:p>
        </p:txBody>
      </p:sp>
      <p:sp>
        <p:nvSpPr>
          <p:cNvPr id="14" name="Shape 12"/>
          <p:cNvSpPr/>
          <p:nvPr/>
        </p:nvSpPr>
        <p:spPr>
          <a:xfrm>
            <a:off x="7696048" y="3877056"/>
            <a:ext cx="746608" cy="0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42655" y="28346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625535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Çıktı</a:t>
            </a:r>
            <a:endParaRPr lang="tr-TR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71255" y="370332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tr-TR" sz="13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sonuç: ekranda bir metin, kaydedilen bir dosya, dönen bir motor</a:t>
            </a:r>
            <a:endParaRPr lang="tr-TR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tr-TR" sz="13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Karşılaşacağınız her bilgisayar — telefon, dizüstü bilgisayar, bir dronun uçuş kontrolcüsü — saniyede milyarlarca kez tekrarlanan bu aynı döngüdür.</a:t>
            </a:r>
            <a:endParaRPr lang="tr-TR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İşletim Sistemi Nedir?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5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581912"/>
            <a:ext cx="10652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 TANIM (GELECEK HAFTA NETLEŞTİRECEĞİZ)</a:t>
            </a:r>
            <a:endParaRPr lang="tr-TR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84248"/>
            <a:ext cx="10652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sistemi, bilgisayarı açtığınızda ilk çalışan ve diğer her şeyi yöneten programdır — böylece diğer programlar çalışabilir.</a:t>
            </a:r>
            <a:endParaRPr lang="tr-TR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3685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 o başlar</a:t>
            </a:r>
            <a:endParaRPr lang="tr-T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87368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Bilgisayarı açtığınızda çalışan ilk programdır.</a:t>
            </a:r>
            <a:endParaRPr lang="tr-TR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352044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526280" y="3685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Diğer her şeyi yönetir</a:t>
            </a:r>
            <a:endParaRPr lang="tr-TR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4087368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programlar — tarayıcınız, bir oyun, bir metin düzenleyici — onun yardımıyla çalışır.</a:t>
            </a:r>
            <a:endParaRPr lang="tr-TR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352044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275320" y="3685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Zor kısımları gizler</a:t>
            </a:r>
            <a:endParaRPr lang="tr-TR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087368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dosyayı kaydetmek için diskin ya da belleğin nasıl çalıştığını bilmeniz gerekmez.</a:t>
            </a:r>
            <a:endParaRPr lang="tr-TR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İşletim Sistemine Neden İhtiyaç Duyarız? — Amacı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6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5819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İşletim sistemi olmadan</a:t>
            </a:r>
            <a:endParaRPr lang="tr-TR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84248"/>
            <a:ext cx="4937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Bilgisayarı aynı anda yalnızca bir program kullanabilirdi.</a:t>
            </a:r>
            <a:endParaRPr lang="tr-TR" sz="1400" dirty="0"/>
          </a:p>
          <a:p>
            <a:pPr indent="0" marL="0">
              <a:lnSpc>
                <a:spcPct val="115000"/>
              </a:lnSpc>
              <a:buNone/>
            </a:pPr>
            <a:endParaRPr lang="tr-TR" sz="1400" dirty="0"/>
          </a:p>
          <a:p>
            <a:pPr indent="0" marL="0">
              <a:lnSpc>
                <a:spcPct val="115000"/>
              </a:lnSpc>
              <a:buNone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 donanımla — disk, ekran, klavye — doğrudan konuşmak zorunda kalırdı; bunu doğru yapmak zor, bozmak ise kolaydır.</a:t>
            </a:r>
            <a:endParaRPr lang="tr-TR" sz="1400" dirty="0"/>
          </a:p>
          <a:p>
            <a:pPr indent="0" marL="0">
              <a:lnSpc>
                <a:spcPct val="115000"/>
              </a:lnSpc>
              <a:buNone/>
            </a:pPr>
            <a:endParaRPr lang="tr-TR" sz="1400" dirty="0"/>
          </a:p>
          <a:p>
            <a:pPr indent="0" marL="0">
              <a:lnSpc>
                <a:spcPct val="115000"/>
              </a:lnSpc>
              <a:buNone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Birazdan göreceğimiz gibi, ilk bilgisayarlar kabaca böyle çalışıyordu.</a:t>
            </a:r>
            <a:endParaRPr lang="tr-TR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00800" y="15819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İşletim sistemiyle</a:t>
            </a:r>
            <a:endParaRPr lang="tr-T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984248"/>
            <a:ext cx="4937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Birçok program aynı donanımı güvenle paylaşabilir.</a:t>
            </a:r>
            <a:endParaRPr lang="tr-TR" sz="1400" dirty="0"/>
          </a:p>
          <a:p>
            <a:pPr indent="0" marL="0">
              <a:lnSpc>
                <a:spcPct val="115000"/>
              </a:lnSpc>
              <a:buNone/>
            </a:pPr>
            <a:endParaRPr lang="tr-TR" sz="1400" dirty="0"/>
          </a:p>
          <a:p>
            <a:pPr indent="0" marL="0">
              <a:lnSpc>
                <a:spcPct val="115000"/>
              </a:lnSpc>
              <a:buNone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programı kullanmak için diski ya da belleği anlamanız gerekmez — bunu işletim sistemi halleder.</a:t>
            </a:r>
            <a:endParaRPr lang="tr-TR" sz="1400" dirty="0"/>
          </a:p>
          <a:p>
            <a:pPr indent="0" marL="0">
              <a:lnSpc>
                <a:spcPct val="115000"/>
              </a:lnSpc>
              <a:buNone/>
            </a:pPr>
            <a:endParaRPr lang="tr-TR" sz="1400" dirty="0"/>
          </a:p>
          <a:p>
            <a:pPr indent="0" marL="0">
              <a:lnSpc>
                <a:spcPct val="115000"/>
              </a:lnSpc>
              <a:buNone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çok kişi ya da birden çok program aynı makineyi aynı anda kullanabilir.</a:t>
            </a:r>
            <a:endParaRPr lang="tr-TR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TARİHÇE</a:t>
            </a:r>
            <a:endParaRPr lang="tr-TR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Bugüne Nasıl Geldik?</a:t>
            </a:r>
            <a:endParaRPr lang="tr-TR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7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 yazılımı olmayan bir makineden cebinizdeki işletim sistemine.</a:t>
            </a:r>
            <a:endParaRPr lang="tr-TR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7</a:t>
            </a:r>
            <a:endParaRPr lang="tr-TR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KUŞAK · 1940 ÖNCESİ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Bilgisayarlardan Önce Hesap Makineleri Vardı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8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1109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tr-TR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1837 — Charles Babbage, Analitik Makine’yi tasarlar: bir işlemcisi (“değirmen”), belleği (“depo”) ve komut verme yolu olan mekanik, genel amaçlı bir bilgisayar (kendi yaşamı boyunca hiçbir zaman tam olarak inşa edilemedi).</a:t>
            </a:r>
            <a:endParaRPr lang="tr-TR" sz="16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tr-TR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1843 — Ada Lovelace, Analitik Makine’nin sayıları hesaplamak için bir komut dizisini nasıl çalıştırabileceğini anlatan notlar yazar — bugün yayımlanmış ilk bilgisayar programı olarak kabul edilir.</a:t>
            </a:r>
            <a:endParaRPr lang="tr-TR" sz="16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tr-TR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1890 — Herman Hollerith, ABD nüfus sayımını işlemek için delikli kartlı bir tablolama makinesi yapar; yıllar süren elle sayımı aylara indirir. Şirketi daha sonra IBM’in parçası olur.</a:t>
            </a:r>
            <a:endParaRPr lang="tr-TR" sz="16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tr-TR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1936–41 — Konrad Zuse, Almanya’da Z1–Z3 makinelerini yapar; bunlar ilk programlanabilir, elektromekanik hesap makineleri arasındadır.</a:t>
            </a:r>
            <a:endParaRPr lang="tr-TR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KUŞAK · İLK GİRİŞ AYGITI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Delikli Kartlar — Veriyi Deliklerden Okumak</a:t>
            </a:r>
            <a:endParaRPr lang="tr-TR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9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assets/punch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56184"/>
            <a:ext cx="4937760" cy="372851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92240" y="5486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10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 delme/doğrulama makinesinde okunan bir delikli kart.</a:t>
            </a:r>
            <a:endParaRPr lang="tr-T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GERÇEKTE NASIL ÇALIŞIYORDU?</a:t>
            </a:r>
            <a:endParaRPr lang="tr-TR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2880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Delikli kart, sert bir kâğıt karttır; belirli bir satır ve sütundaki küçük dikdörtgen deliğin varlığı ya da yokluğu tek bir karakteri veya rakamı kodlar.</a:t>
            </a:r>
            <a:endParaRPr lang="tr-TR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Hollerith’in 1890 nüfus sayımı makinesi delikleri mekanik olarak okuyordu: yaylı iğneler her delikten geçerek bir elektrik devresini tamamlıyordu.</a:t>
            </a:r>
            <a:endParaRPr lang="tr-TR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1950’ler–60’larda delikli kartlar hem veriyi hem de program komutlarını taşıyordu — her kod satırı için bir kart tamamen olağandı.</a:t>
            </a:r>
            <a:endParaRPr lang="tr-TR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 düşüp sırası karışmış bir kart destesi, 1960’ların bir programcısı için gerçek bir felaketti — sonraki, daha kullanıcı dostu arayüzlerin ortaya çıkış nedenlerinden biri de buydu.</a:t>
            </a:r>
            <a:endParaRPr lang="tr-TR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KUŞAK · 1945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ENIAC — Oda Büyüklüğünde ve Tamamen Yalnız</a:t>
            </a:r>
            <a:endParaRPr lang="tr-TR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10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assets/eni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844" y="1645920"/>
            <a:ext cx="4808551" cy="3749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5486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ENIAC (Electronic Numerical Integrator and Computer — Elektronik Sayısal Entegratör ve Bilgisayar), 1945.</a:t>
            </a:r>
            <a:endParaRPr lang="tr-T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HİÇ İŞLETİM SİSTEMİ OLMAYAN MAKİNE</a:t>
            </a:r>
            <a:endParaRPr lang="tr-TR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82880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 × 15 m’lik bir odayı dolduruyor ve yaklaşık 30 ton ağırlığındaydı; ABD Ordusu için Pennsylvania Üniversitesi’nde yapıldı.</a:t>
            </a:r>
            <a:endParaRPr lang="tr-TR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Transistör yerine yaklaşık 18.000 vakum tüpü kullanıyordu — tüpler sürekli bozuluyor ve arızalı olan elle tek tek bulunmak zorundaydı.</a:t>
            </a:r>
            <a:endParaRPr lang="tr-TR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Monitör yok, klavye yok: “programlama”, bağlantı panolarını fiziksel olarak yeniden kablolamak ve anahtarları ayarlamak demekti; bu, günler sürebiliyordu.</a:t>
            </a:r>
            <a:endParaRPr lang="tr-TR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anda tek bir iş çalışır ve makinenin tüm denetimi ondadır — henüz “işletim sistemi” kavramı yoktur, çünkü yönetilecek başka bir yazılım yoktur.</a:t>
            </a:r>
            <a:endParaRPr lang="tr-TR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KUŞAK · 1956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GM-NAA I/O — Belki de İlk İşletim Sistemi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11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5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Motors Research ve North American Aviation tarafından GM’nin IBM 704 ana bilgisayarı için ortaklaşa yazılan GM-NAA I/O, programları birbiri ardına elle yüklemek gibi sıkıcı ve hataya açık bir işi otomatikleştirdi.</a:t>
            </a:r>
            <a:endParaRPr lang="tr-TR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2735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Çözdüğü sorun</a:t>
            </a:r>
            <a:endParaRPr lang="tr-TR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75888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704’te her iş bittiğinde bir operatör teypleri elle takıp bir sonraki işi başlatmak zorundaydı — pahalı bilgisayar arada boşta bekliyordu.</a:t>
            </a:r>
            <a:endParaRPr lang="tr-TR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31089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2735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Fikir</a:t>
            </a:r>
            <a:endParaRPr lang="tr-TR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675888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Bellekte sürekli duran küçük bir “monitör” programı bulundurmak; tek görevi kuyruktaki bir sonraki işi otomatik olarak yükleyip çalıştırmaktır.</a:t>
            </a:r>
            <a:endParaRPr lang="tr-TR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1089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2735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“ilk” sayılır?</a:t>
            </a:r>
            <a:endParaRPr lang="tr-TR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675888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 başka programları yönetmek için yazılmış ve en yaygın atıf yapılan en erken programdır — bu, o günden bu yana her işletim sisteminin belirleyici özelliğidir.</a:t>
            </a:r>
            <a:endParaRPr lang="tr-TR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1.–2. KUŞAK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 Adım Toplu İşleme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12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tr-TR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1950’lerden 1970’lere kadar baskın bilgi işlem biçimi — bilgisayarın gördüğü şey insanlar değil, işlerdir.</a:t>
            </a:r>
            <a:endParaRPr lang="tr-TR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496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Kartları del</a:t>
            </a:r>
            <a:endParaRPr lang="tr-TR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9864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Programcı işini bir deste delikli karta yazar — makineye doğrudan yazı yazmak mümkün değildir.</a:t>
            </a:r>
            <a:endParaRPr lang="tr-TR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3648456"/>
            <a:ext cx="137160" cy="0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37560" y="2331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566160" y="2496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Toplu işi oluştur</a:t>
            </a:r>
            <a:endParaRPr lang="tr-TR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89864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operatör birçok kişinin işlerini tek bir “toplu iş” (batch) hâlinde toplar ve birlikte yükler.</a:t>
            </a:r>
            <a:endParaRPr lang="tr-TR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3648456"/>
            <a:ext cx="137160" cy="0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26480" y="2331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355080" y="2496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Otomatik çalıştır</a:t>
            </a:r>
            <a:endParaRPr lang="tr-TR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89864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Monitör programı tüm toplu işi, arada hiçbir etkileşim olmadan iş iş çalıştırır.</a:t>
            </a:r>
            <a:endParaRPr lang="tr-TR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648456"/>
            <a:ext cx="137160" cy="0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915400" y="2331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9144000" y="2496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Çıktıyı al</a:t>
            </a:r>
            <a:endParaRPr lang="tr-TR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289864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Saatler (ya da bir gün) sonra programcı kâğıt çıktısını alır — ve bir yazım hatası olup olmadığını ancak o zaman öğrenir.</a:t>
            </a:r>
            <a:endParaRPr lang="tr-TR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77240" y="5458968"/>
            <a:ext cx="10652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programcıların işlerini elle kontrol etme konusunda bu kadar titiz olmasının nedeni de budur — tek bir hata, bütün bir günlük beklemeye mal olabilirdi.</a:t>
            </a:r>
            <a:endParaRPr lang="tr-TR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KUŞAK · 1964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System/360 — Tek İşletim Sistemi, Çok Sayıda Makine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13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Eski sorun</a:t>
            </a:r>
            <a:endParaRPr lang="tr-TR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1964’ten önce her IBM bilgisayar modeli kendine özgü, uyumsuz yazılım gerektiriyordu — yükseltme yapmak her şeyi yeniden yazmak demekti.</a:t>
            </a:r>
            <a:endParaRPr lang="tr-TR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4652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IBM’in iddiası</a:t>
            </a:r>
            <a:endParaRPr lang="tr-T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makinelerden dev ana bilgisayarlara uzanan ve hepsi aynı yazılım ailesini çalıştıran tek bir komut kümesi mimarisi tasarlamak: System/360.</a:t>
            </a:r>
            <a:endParaRPr lang="tr-TR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OS/360</a:t>
            </a:r>
            <a:endParaRPr lang="tr-TR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IBM’in bu seri için geliştirdiği işletim sistemi — o güne dek denenen en büyük yazılım projelerinden biri; bütçeyi aşması ve gecikmesiyle ünlüdür.</a:t>
            </a:r>
            <a:endParaRPr lang="tr-TR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4652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önemliydi?</a:t>
            </a:r>
            <a:endParaRPr lang="tr-TR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işletim sisteminin tek bir fiziksel makineye bağlı kalmadan, donanımlar arasında taşınabilen başlı başına bir ürün hattı olabileceğini kanıtladı.</a:t>
            </a:r>
            <a:endParaRPr lang="tr-TR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KUŞAK · KAVRAM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Çoklu Programlama — CPU’ya Aynı Anda Birden Çok İş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14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fikir: bir iş yavaş giriş/çıkış işlemini (teyp, disk, yazıcı) beklerken CPU boşta kalır. Bu arada neden başka bir iş onu kullanmasın?</a:t>
            </a:r>
            <a:endParaRPr lang="tr-TR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2735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Önce</a:t>
            </a:r>
            <a:endParaRPr lang="tr-TR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75888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iş CPU’yu baştan sona elinde tutar — bir teybin geri sarılmasını hiçbir şey yapmadan beklerken bile.</a:t>
            </a:r>
            <a:endParaRPr lang="tr-TR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31089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2735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Çözüm</a:t>
            </a:r>
            <a:endParaRPr lang="tr-TR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675888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Bellekte aynı anda birkaç iş tutmak. Bir iş G/Ç beklemeye başladığı anda işletim sistemi CPU’yu gerçekten yapacak işi olan başka bir işe geçirir.</a:t>
            </a:r>
            <a:endParaRPr lang="tr-TR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1089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2735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Kazanç</a:t>
            </a:r>
            <a:endParaRPr lang="tr-TR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675888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başına yapılan toplam faydalı iş keskin biçimde artar — aynı pahalı ana bilgisayar, daha hızlı donanım olmadan çok daha fazla iş çıkarır.</a:t>
            </a:r>
            <a:endParaRPr lang="tr-TR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2.–3. KUŞAK · KAVRAM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Zaman Paylaşımı — Aynı Anda Çok Kullanıcı, Tek Makine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15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Fikir</a:t>
            </a:r>
            <a:endParaRPr lang="tr-TR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29968"/>
            <a:ext cx="31546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seferinde tek bir toplu iş yerine birçok terminali tek bir bilgisayara bağlamak. İşletim sistemi her kullanıcıya, hızlı bir sırayla, küçük bir CPU zaman dilimi verir.</a:t>
            </a:r>
            <a:endParaRPr lang="tr-TR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526280" y="1627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anlık hissettirir?</a:t>
            </a:r>
            <a:endParaRPr lang="tr-TR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029968"/>
            <a:ext cx="31546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Dilimler milisaniyeler uzunluğundadır ve saniyede onlarca kez döner — insanın algılayabileceğinden çok daha hızlı; böylece her kullanıcı makinenin tamamı kendisindeymiş gibi hisseder.</a:t>
            </a:r>
            <a:endParaRPr lang="tr-TR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275320" y="1627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Nereye vardı?</a:t>
            </a:r>
            <a:endParaRPr lang="tr-TR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029968"/>
            <a:ext cx="31546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paylaşımlı sistemler (MIT’de CTSS, ardından Multics, ardından UNIX), telefonlar dâhil bugün çalışan tüm çok kullanıcılı ve çok süreçli sistemlerin doğrudan atalarıdır.</a:t>
            </a:r>
            <a:endParaRPr lang="tr-TR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77240" y="4956048"/>
            <a:ext cx="10652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4.–5. haftalarda inceleyeceğiniz CPU zamanlama algoritmalarının (FCFS, SJF, Öncelik, Round Robin) arkasındaki mekanizmanın ta kendisidir — zamanlama algoritmasını en baştan gerekli kılan şey zaman paylaşımıdır.</a:t>
            </a:r>
            <a:endParaRPr lang="tr-TR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</a:t>
            </a:r>
            <a:endParaRPr lang="tr-TR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Dakika Ara</a:t>
            </a:r>
            <a:endParaRPr lang="tr-TR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7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Sırada: Multics, UNIX ve kişisel bilgisayardan buluta uzanan yol.</a:t>
            </a:r>
            <a:endParaRPr lang="tr-TR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16</a:t>
            </a:r>
            <a:endParaRPr lang="tr-TR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KUŞAK · 1965–1969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Multics — (Zamanında) Teslim Edilemeyen Dev</a:t>
            </a:r>
            <a:endParaRPr lang="tr-TR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17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554480"/>
          </a:xfrm>
          <a:prstGeom prst="roundRect">
            <a:avLst>
              <a:gd name="adj" fmla="val 4706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5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MIT, Bell Labs ve General Electric, Multics’i inşa etmek için yola çıktı: bir kamu hizmeti gibi bütün bir şehre hizmet verecek tek bir zaman paylaşımlı sistem — sürekli açık, sınırsızca genişletilebilir, son derece güvenli.</a:t>
            </a:r>
            <a:endParaRPr lang="tr-TR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4107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vaat ediyordu?</a:t>
            </a:r>
            <a:endParaRPr lang="tr-TR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13048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Kesintisiz çalışma, dinamik bellek, hiyerarşik dosya ve dizinler ve ayrıntılı güvenlik denetimi — gerçekten çağının ötesindeydi.</a:t>
            </a:r>
            <a:endParaRPr lang="tr-TR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324612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4107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ters gitti?</a:t>
            </a:r>
            <a:endParaRPr lang="tr-TR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813048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o kadar iddialıydı ki planlanandan daha yavaş ve daha pahalı hâle geldi; Bell Labs 1969’da projeden çekildi.</a:t>
            </a:r>
            <a:endParaRPr lang="tr-TR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324612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4107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Geride ne bıraktı?</a:t>
            </a:r>
            <a:endParaRPr lang="tr-TR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813048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Projede çalışmış iki Bell Labs araştırmacısı — Ken Thompson ve Dennis Ritchie — en iyi fikirlerinin çoğunu alıp onun yerine daha küçük bir şey inşa etti.</a:t>
            </a:r>
            <a:endParaRPr lang="tr-TR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2.–3. KUŞAK · 1969–1973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UNIX, Multics’in Küllerinden Doğuyor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18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</a:t>
            </a:r>
            <a:endParaRPr lang="tr-TR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Thompson, UNIX’in ilk sürümünü Bell Labs’te, kimsenin istemediği boştaki bir PDP-7 mini bilgisayarında yazar — bilerek küçük ve basit, yani Multics’in tam tersi.</a:t>
            </a:r>
            <a:endParaRPr lang="tr-TR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4652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1970–72</a:t>
            </a:r>
            <a:endParaRPr lang="tr-T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ve Dennis Ritchie onu, her biri tek bir işi iyi yapan ve birbirine zincirlenebilen küçük ama güçlü araçlardan oluşan bir kümeye dönüştürür.</a:t>
            </a:r>
            <a:endParaRPr lang="tr-TR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1973</a:t>
            </a:r>
            <a:endParaRPr lang="tr-TR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UNIX, Ritchie’nin bu amaçla tasarladığı yeni ve taşınabilir bir dille yeniden yazılır: C. UNIX’in daha sonra neredeyse her donanımda çalışabilmesini sağlayan tek karar budur.</a:t>
            </a:r>
            <a:endParaRPr lang="tr-TR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4652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Felsefe</a:t>
            </a:r>
            <a:endParaRPr lang="tr-TR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“Tek bir iş yapan ve onu iyi yapan programlar yazın. Birlikte çalışacak programlar yazın.” Bu fikir, 9. haftada yazacağınız her Linux komutunu hâlâ şekillendirir.</a:t>
            </a:r>
            <a:endParaRPr lang="tr-TR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KUŞAK · 1977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II — Ev Bilgisayarı Yaygınlaşıyor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19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926080" cy="292608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1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][</a:t>
            </a:r>
            <a:endParaRPr lang="tr-TR" sz="1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][</a:t>
            </a:r>
            <a:endParaRPr lang="tr-TR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1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</a:t>
            </a:r>
            <a:endParaRPr lang="tr-TR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463040"/>
            <a:ext cx="78181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tr-TR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Wozniak tarafından tasarlanıp 1977’den itibaren Apple Computer (Jobs ve Wozniak) tarafından satıldı — seri üretilen ilk başarılı kişisel bilgisayarlardan biri.</a:t>
            </a:r>
            <a:endParaRPr lang="tr-TR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tr-TR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Renkli grafik ve yerleşik bir BASIC programlama dili sürümüyle geliyordu — açıldığı anda programlanmaya hazırdı.</a:t>
            </a:r>
            <a:endParaRPr lang="tr-TR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tr-TR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mimarisi (herkesin donanım üretebileceği genişleme yuvaları) tek bir makine etrafında koca bir üçüncü taraf sektörü yarattı.</a:t>
            </a:r>
            <a:endParaRPr lang="tr-TR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tr-TR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Bilgisayarın yalnızca bir şirketin makine dairesinde değil, evde ya da sınıfta bir masanın üzerinde de durabileceği fikrini yaygınlaştırdı.</a:t>
            </a:r>
            <a:endParaRPr lang="tr-TR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KUŞAK · 1981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PC ve MS-DOS</a:t>
            </a:r>
            <a:endParaRPr lang="tr-TR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20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assets/ibm_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78635"/>
            <a:ext cx="4937760" cy="32836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92240" y="5486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renkli/renkli ekranıyla bir IBM Kişisel Bilgisayarı (5150), 1981.</a:t>
            </a:r>
            <a:endParaRPr lang="tr-T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BİR KİŞİ, BİR BİLGİSAYAR</a:t>
            </a:r>
            <a:endParaRPr lang="tr-TR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2880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kişi, bir bilgisayar, bir masa — bu dersin ve o günden beri neredeyse her ofisin hâlâ olağan kabul ettiği düzen.</a:t>
            </a:r>
            <a:endParaRPr lang="tr-TR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MS-DOS’u çıkarılabilir bir disketten çalıştırıyordu — başlamak için sabit disk gerekmiyordu.</a:t>
            </a:r>
            <a:endParaRPr lang="tr-TR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Dahili yuvalarla genişletilebiliyordu; IBM PC “platformunun” tek tek modellerinden daha uzun ömürlü olmasının bir nedeni de budur.</a:t>
            </a:r>
            <a:endParaRPr lang="tr-TR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tr-TR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1991, on yıl sonra — Helsinki’de, bunun gibi bir donanım üzerinde Linus Torvalds Linux’u yazmaya başlar.</a:t>
            </a:r>
            <a:endParaRPr lang="tr-TR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KUŞAK · 1970’LER–1990’LAR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 Arayüzler Geliyor — Simgeler, Pencereler, Fare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21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Xerox PARC (1973)</a:t>
            </a:r>
            <a:endParaRPr lang="tr-TR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Araştırmacılar, üst üste binen pencereler, simgeler ve fare içeren ilk bilgisayar olan Alto’yu yapar — büyük ölçüde bir araştırma makinesiydi, hiçbir zaman yaygın olarak satılmadı.</a:t>
            </a:r>
            <a:endParaRPr lang="tr-TR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4652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Macintosh (1984)</a:t>
            </a:r>
            <a:endParaRPr lang="tr-T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Apple, PARC’ın fikirlerini kitlesel bir ürüne taşır: tıkla-seç kullanım, çöp kutusu simgesi, gerçek masaüstü benzetmeleri — hiçbir komut yazmaya gerek kalmadan.</a:t>
            </a:r>
            <a:endParaRPr lang="tr-TR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Windows (1985–95)</a:t>
            </a:r>
            <a:endParaRPr lang="tr-TR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MS-DOS’un üzerine grafik bir kabuk ekler ve onu sürümler boyunca geliştirir; Windows 95 ile bu, çoğu insanın PC kullanma biçiminin varsayılanı olur.</a:t>
            </a:r>
            <a:endParaRPr lang="tr-TR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4652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Kalıcı değişim</a:t>
            </a:r>
            <a:endParaRPr lang="tr-TR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 kullanıcı için “bilgisayara komut yazmak” olağan olmaktan çıkar — ancak 9.–14. haftalarda göreceğimiz gibi, yüzeyin altında hiçbir zaman kaybolmaz.</a:t>
            </a:r>
            <a:endParaRPr lang="tr-TR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4.–5. KUŞAK · 1991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Doğuyor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22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“(Ücretsiz) bir işletim sistemi yapıyorum (sadece bir hobi, GNU gibi büyük ve profesyonel olmayacak)” — Linus Torvalds, Helsinki’de 21 yaşında bir öğrenci, çekirdeğini duyurduğu 1991 tarihli Usenet iletisinde.</a:t>
            </a:r>
            <a:endParaRPr lang="tr-TR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5478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Neydi?</a:t>
            </a:r>
            <a:endParaRPr lang="tr-TR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50208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bir çekirdek (kernel) — bir işletim sisteminin özü — sıfırdan yazılmış ama davranış ve komutlar bakımından bilerek UNIX uyumlu.</a:t>
            </a:r>
            <a:endParaRPr lang="tr-TR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33832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5478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yayıldı?</a:t>
            </a:r>
            <a:endParaRPr lang="tr-TR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950208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Genel Kamu Lisansı (GPL) ile yayımlandı: kaynak kodu herkesin okuyabileceği, değiştirebileceği ve yeniden dağıtabileceği biçimde, süresiz olarak serbest.</a:t>
            </a:r>
            <a:endParaRPr lang="tr-TR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33832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5478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GNU ile birleşince</a:t>
            </a:r>
            <a:endParaRPr lang="tr-TR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950208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Projesi’nin (1983’te Richard Stallman tarafından başlatıldı) mevcut özgür komut satırı araçlarıyla birleşen Linux, GNU ile birlikte eksiksiz ve özgür bir işletim sistemi oldu.</a:t>
            </a:r>
            <a:endParaRPr lang="tr-TR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KUŞAK · 1990’LAR–2000’LER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Arada: Unix ve Linux Sunucu Odasını Ele Geçiriyor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23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5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masaüstünü kazanırken, çoğu insanın hiç görmediği makinelerde — sunucularda ve süper bilgisayarlarda — farklı ve daha sessiz bir rekabet yaşanıyordu.</a:t>
            </a:r>
            <a:endParaRPr lang="tr-TR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182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Kararlılık ve çok kullanıcılı tasarım</a:t>
            </a:r>
            <a:endParaRPr lang="tr-TR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84448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(ve daha sonra Linux) en baştan çok sayıda eşzamanlı kullanıcı ve uzun, kesintisiz çalışma süresi için tasarlandı — tam da bir sunucunun ihtiyaç duyduğu şey.</a:t>
            </a:r>
            <a:endParaRPr lang="tr-TR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301752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182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Maliyet</a:t>
            </a:r>
            <a:endParaRPr lang="tr-TR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584448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Ticari Unix ya da Windows Server’ın aksine Linux lisans ücreti gerektirmez — sunucu çiftlikleri binlerce makineye ulaştığında bu belirleyici bir avantaj oldu.</a:t>
            </a:r>
            <a:endParaRPr lang="tr-TR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01752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182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</a:t>
            </a:r>
            <a:endParaRPr lang="tr-TR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584448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2000’lere gelindiğinde Linux, TOP500 süper bilgisayarlarının ezici çoğunluğunda ve interneti ayakta tutan sunucuların büyük bir kısmında çalışıyordu.</a:t>
            </a:r>
            <a:endParaRPr lang="tr-TR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KUŞAK · 2007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 — Telefon Bilgisayara Dönüşüyor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24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Apple, 2007’de iPhone’u piyasaya sürer; cihaz, basitleştirilmiş bir telefon işletim sistemi değil, masaüstü işletim sisteminin eksiksiz, uyarlanmış bir sürümünü (daha sonraki adıyla iOS) çalıştırır.</a:t>
            </a:r>
            <a:endParaRPr lang="tr-TR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3649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Yenilik neydi?</a:t>
            </a:r>
            <a:endParaRPr lang="tr-TR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67328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Kapasitif çoklu dokunmatik ekran (kalem yok), gerçek bir mobil web tarayıcısı ve — 2008’den itibaren — yeni yazılım yüklemek için bir App Store.</a:t>
            </a:r>
            <a:endParaRPr lang="tr-TR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320040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3649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bir işletim sistemi dönüm noktası?</a:t>
            </a:r>
            <a:endParaRPr lang="tr-TR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767328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Eksiksiz, modern, çok görevli bir işletim sisteminin cebe sığan, pille çalışan bir cihazda çalışabileceğini kanıtladı.</a:t>
            </a:r>
            <a:endParaRPr lang="tr-TR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20040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3649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Dalga etkisi</a:t>
            </a:r>
            <a:endParaRPr lang="tr-TR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767328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büyük telefon üreticisi iki yıl içinde aynı yolu izler — bir sonraki slaydın doğrudan tetikleyicisi budur.</a:t>
            </a:r>
            <a:endParaRPr lang="tr-TR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KUŞAK · 2008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— Linux Cebinize Giriyor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25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Kökenler</a:t>
            </a:r>
            <a:endParaRPr lang="tr-TR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Inc. 2003’te kurulur, 2005’te Google tarafından satın alınır; ilk ticari Android telefon (HTC Dream / T-Mobile G1) 2008’de piyasaya çıkar.</a:t>
            </a:r>
            <a:endParaRPr lang="tr-TR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4652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üzerine kurulu</a:t>
            </a:r>
            <a:endParaRPr lang="tr-T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Android’in özü, uyarlanmış bir Linux çekirdeğidir — 22. slayttaki soyun devamı — ve yeni bir arayüz, uygulama çatısı ve Java tabanlı araçlarla sarılmıştır.</a:t>
            </a:r>
            <a:endParaRPr lang="tr-TR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Açık strateji</a:t>
            </a:r>
            <a:endParaRPr lang="tr-TR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iOS’un aksine Android her telefon üreticisine ücretsiz lisanslanır; bu yüzden bugün dünyada en fazla sayıda cihazda çalışan işletim sistemidir.</a:t>
            </a:r>
            <a:endParaRPr lang="tr-TR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4652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derste neden yer alıyor?</a:t>
            </a:r>
            <a:endParaRPr lang="tr-TR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sınıftaki her Android telefon, uygulama simgelerinin altında, 9. haftada komut yazacağınız çekirdek ailesinin aynısını çalıştırmaktadır.</a:t>
            </a:r>
            <a:endParaRPr lang="tr-TR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KUŞAK · 2000’LER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Bulut Bilişim — Çok Sayıda Makine Gibi Davranan Tek Makine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26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5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 donanımı giderek güçlendi, ancak çoğu program tek başına koca bir fiziksel makineye ihtiyaç duymuyordu. Sanallaştırma bu uyumsuzluğa bir yanıttır.</a:t>
            </a:r>
            <a:endParaRPr lang="tr-TR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182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Sanal makineler</a:t>
            </a:r>
            <a:endParaRPr lang="tr-TR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84448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hipervizör, tek bir fiziksel sunucunun, her biri kendi konuk işletim sistemini çalıştıran ve birbirinden yalıtılmış birkaç bağımsız bilgisayar gibi davranmasını sağlar.</a:t>
            </a:r>
            <a:endParaRPr lang="tr-TR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301752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182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“Bulut”</a:t>
            </a:r>
            <a:endParaRPr lang="tr-TR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584448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(AWS, 2006) gibi şirketler sanal makineleri saatlik olarak kiralar — başkasının veri merkezini kendi bilgisayarınızmış gibi kullanırsınız.</a:t>
            </a:r>
            <a:endParaRPr lang="tr-TR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01752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182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Burada neden önemli?</a:t>
            </a:r>
            <a:endParaRPr lang="tr-TR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584448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tr-TR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yazılım geliştirme ve dağıtımında kullanılan konteynerlerin arkasındaki yalıtım fikrinin aynısıdır; Kubernetes ve OpenShift (2011) gibi konteyner platformları da tam burada devreye girer.</a:t>
            </a:r>
            <a:endParaRPr lang="tr-TR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Zaman Çizelgesinin Tamamı, Bir Bakışta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27</a:t>
            </a:r>
            <a:endParaRPr lang="tr-TR" sz="900" dirty="0"/>
          </a:p>
        </p:txBody>
      </p:sp>
      <p:pic>
        <p:nvPicPr>
          <p:cNvPr id="6" name="Image 0" descr="assets/timeline_infograph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2513" y="1417320"/>
            <a:ext cx="7582215" cy="3931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44068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3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sunumdaki her dönem tek bir çizgide — IBM’in 1950’lerdeki ilk işletim sistemi çalışmalarından 2010’ların konteyner platformlarına.</a:t>
            </a:r>
            <a:endParaRPr lang="tr-TR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SENTEZ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Tarih Neden Önemli?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28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28016" cy="960120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43000" y="1691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kuşak gerçek bir sorunu çözdü</a:t>
            </a:r>
            <a:endParaRPr lang="tr-TR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12140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 yok → otomasyon → CPU’yu paylaşmak → etkileşimli paylaşmak → dünya çapında paylaşmak.</a:t>
            </a:r>
            <a:endParaRPr lang="tr-TR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128016" cy="960120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143000" y="30632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Eski fikirler hiçbir zaman gerçekten kaybolmaz</a:t>
            </a:r>
            <a:endParaRPr lang="tr-TR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49300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Telefonunuz hâlâ çoklu programlama ve zaman paylaşımı yapar, arka plan görevlerini hâlâ toplu olarak işler.</a:t>
            </a:r>
            <a:endParaRPr lang="tr-TR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128016" cy="960120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143000" y="44348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ders de aynı sırayı izler</a:t>
            </a:r>
            <a:endParaRPr lang="tr-TR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86460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Süreçleri, zamanlamayı, belleği ve dosyaları kabaca bu sorunları çözmek için icat edildikleri sırayla inceleyeceğiz.</a:t>
            </a:r>
            <a:endParaRPr lang="tr-TR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KAPANIŞ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Hafta — Temel Çıkarımlar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29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46304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tr-TR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özünde yalnızca komutları izler: girdi → işlem → çıktı.</a:t>
            </a:r>
            <a:endParaRPr lang="tr-TR" sz="16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tr-TR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çalışma tanımı: işletim sistemi, ilk başlayan ve diğer her şeyi yöneten programdır.</a:t>
            </a:r>
            <a:endParaRPr lang="tr-TR" sz="16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tr-TR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Programların donanımı güvenle paylaşabilmesi ve kullanıcıların onu kendilerinin yönetmek zorunda kalmaması için bir işletim sistemine ihtiyaç duyarız.</a:t>
            </a:r>
            <a:endParaRPr lang="tr-TR" sz="16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tr-TR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şu yolu izledi: yazılım yok (ENIAC) → toplu işleme → çoklu programlama/zaman paylaşımı → kişisel bilgisayarlar → mobil/bulut.</a:t>
            </a:r>
            <a:endParaRPr lang="tr-TR" sz="16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tr-TR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Akılda tutulmaya değer iki tarih: UNIX, 1969; Linux, 1991 — dönemin ilerleyen haftalarında uygulamalı olarak kullanacağımız sistem.</a:t>
            </a:r>
            <a:endParaRPr lang="tr-TR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</a:t>
            </a:r>
            <a:endParaRPr lang="tr-TR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9202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Tanımlar ve Yapılar</a:t>
            </a:r>
            <a:endParaRPr lang="tr-TR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8686800" cy="2651760"/>
          </a:xfrm>
          <a:prstGeom prst="roundRect">
            <a:avLst>
              <a:gd name="adj" fmla="val 3448"/>
            </a:avLst>
          </a:prstGeom>
          <a:solidFill>
            <a:srgbClr val="2A343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haftanın konuları:</a:t>
            </a:r>
            <a:endParaRPr lang="tr-TR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657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r-TR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sisteminin kesin, biçimsel tanımı</a:t>
            </a:r>
            <a:endParaRPr lang="tr-TR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r-TR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sisteminin tasarım hedefleri: kolaylık, verimlilik, gelişebilirlik</a:t>
            </a:r>
            <a:endParaRPr lang="tr-TR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r-TR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bilgisayar sisteminin dört bileşeni</a:t>
            </a:r>
            <a:endParaRPr lang="tr-TR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r-TR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sistemleri nasıl inşa edilir: monolitik, katmanlı, mikroçekirdek, modüler</a:t>
            </a:r>
            <a:endParaRPr lang="tr-TR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30</a:t>
            </a:r>
            <a:endParaRPr lang="tr-TR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SORULAR?</a:t>
            </a:r>
            <a:endParaRPr lang="tr-TR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600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Tartışma</a:t>
            </a:r>
            <a:endParaRPr lang="tr-TR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603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tr-TR" sz="14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Dersten sonra sorularınız olursa dersin Telegram kanalında sorun — yanıttan herkes yararlanır.</a:t>
            </a:r>
            <a:endParaRPr lang="tr-TR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36118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tr-TR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tr-TR" sz="1350" dirty="0"/>
          </a:p>
          <a:p>
            <a:pPr indent="0" marL="0">
              <a:lnSpc>
                <a:spcPct val="135000"/>
              </a:lnSpc>
              <a:buNone/>
            </a:pPr>
            <a:r>
              <a:rPr lang="tr-TR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tr-TR" sz="1350" dirty="0"/>
          </a:p>
          <a:p>
            <a:pPr indent="0" marL="0">
              <a:lnSpc>
                <a:spcPct val="135000"/>
              </a:lnSpc>
              <a:buNone/>
            </a:pPr>
            <a:r>
              <a:rPr lang="tr-TR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[ders grubu bağlantısı]</a:t>
            </a:r>
            <a:endParaRPr lang="tr-TR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31</a:t>
            </a:r>
            <a:endParaRPr lang="tr-T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MBLP131 İşletim Sistemleri Temelleri — Hafta 1</dc:title>
  <dc:subject>PptxGenJS Presentation</dc:subject>
  <dc:creator>PptxGenJS</dc:creator>
  <cp:lastModifiedBy>PptxGenJS</cp:lastModifiedBy>
  <cp:revision>1</cp:revision>
  <dcterms:created xsi:type="dcterms:W3CDTF">2026-09-28T09:36:38Z</dcterms:created>
  <dcterms:modified xsi:type="dcterms:W3CDTF">2026-09-28T09:36:38Z</dcterms:modified>
  <dc:language>tr-TR</dc:language>
</cp:coreProperties>
</file>