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Vizeden sonra tekrar hoş geldiniz. Bugün dersin uygulamalı yarısı başlıyor: altı hafta boyunca Linux kabuğunda çalışacağız (9–14. haftalar). Plan: önce herkesin bir Linux terminali açabildiğinden (laboratuvar bilgisayarı, WSL ya da sanal makine) ve laboratuvar klasörüne sahip olduğundan emin oluyoruz. Ardından: kabuk nedir, ilk komutlar, pwd ve ls, dizin ağacı ve cd, yardım alma ve laboratuvar klasöründe bir gezinme hazine avı. Öğrencilerden slaytların yanında bir terminal açık tutmalarını ve komutları birlikte yazmalarını isteyin.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 dakika. Vizeyi yeniden anlatmayın; yalnızca bağlantı kurun. Sorun: işletim sisteminin hangi parçası çekirdek modunda çalışır? (Çekirdek.) Bir kullanıcı programı çekirdekten nasıl hizmet ister? (Sistem çağrısıyla.) Kabuk bir programı başlatmak için hangi iki çağrıyı kullanır? (fork ve exec, 3. hafta.) Sonra motivasyon verin: bundan sonra her hafta bu fikirleri gerçek bir Linux sisteminde göreceğiz: bugün bir sistem programı olarak kabuk ve dizin ağacı, 11. haftada izinler (koruma), 13. haftada süreçler ve sinyaller.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bölümler moladan önce, 5 ve 6 moladan sonra. Son 30–40 dakika derste yapılacak laboratuvar çalışması (hazine avı) içindir. Bugün yazacağımız her şey bu haftanın code/ klasöründe gerçek çıktılarıyla birlikte duruyor (demo_*.sh betikleri ve out_*.txt çıktıları).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şeyden önce her öğrencinin çalışan bir terminale ihtiyacı var. Kimde zaten WSL ya da sanal makine olduğunu sorun. Dizüstü bilgisayarı olmayan öğrencileri bilgisayarı olan biriyle eşleştirin ya da laboratuvar bilgisayarlarını kullanın.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Slaytlardaki çıktılar Ubuntu 24.04 LTS üzerinde, 'student' kullanıcısıyla ve 'okan-lab' bilgisayar adıyla alındı. Türkçe yerel ayarlı (LANG=tr_TR.UTF-8) bir sistemde birçok mesaj Türkçe çıkar ve ls'nin sıralaması biraz farklı olabilir; derste gösterilen çıktılar LC_ALL=C.UTF-8 ile, yani İngilizce mesajlarla alındı. Mac'te yerleşik Terminal (macOS'ta zsh) bugünkü komutların çoğunu anlar ama bazı seçenekler farklıdır; önümüzdeki haftalar için bir Linux sanal makinesi daha iyidir (Apple Silicon Mac'lerde UTM ücretsiz bir seçenektir). Köşeli parantez içindeki yer tutucu: dersten önce laboratuvar dersliğini, oturum bilgisini ve işletim sistemini teyit edin.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wsl --install gerekli Windows özelliklerini etkinleştirir, WSL 2'yi ve varsayılan dağıtım olan Ubuntu'yu kurar. Koyu kutuda # ile başlayan satırlar komut değil, açıklamadır. wsl -l -v (list, verbose) kurulu dağıtımları ve WSL 2 kullanıp kullanmadıklarını gösterir. Belirli bir sürüm wsl --install -d Ubuntu-24.04 ile istenebilir. İlk açılışta oluşturulan Linux kullanıcısı o Ubuntu'nun yöneticisidir (sudo kullanabilir). Tipik sorunlar: eski Windows derlemesi (Windows Update çalıştırın), donanım yazılımında kapalı sanallaştırma ya da bunu engelleyen kurum bilgisayarları — o durumda laboratuvar bilgisayarını kullanın.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GB / 25 GB değerleri Ubuntu'nun kendi masaüstü önerilerine dayanır; ana makinede 8 GB RAM varsa sanal makineye 4 GB vermek sorun değildir; 4 GB'lık bir dizüstünde WSL'yi tercih edin. VirtualBox 7, kullanıcı adını ve parolayı sizin yerinize dolduran bir 'gözetimsiz kurulum' (unattended installation) yapabilir; iki yol da olur. Öğrencileri rahatlatın: sanal makinenin içindeki 'Erase disk and install Ubuntu' yalnızca sanal disk dosyasına (kullanıcı klasöründeki bir .vdi dosyası) dokunur. Sanal makine açılmıyorsa büyük olasılıkla BIOS/UEFI'de sanallaştırma (VT-x/AMD-V) kapalıdır.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 çıktı. Betik ~/lab altında belgeler, veri dosyaları, günlükler, küçük bir C programı, 'photos' klasörü ve küçük bir proje ağacı oluşturur. İçinde rastgelelik yoktur; böylece herkes slaytlardakiyle tıpatıp aynı dosyaları elde eder. Yeniden çalıştırmak güvenlidir: YALNIZCA lab klasörünü silip yeniden oluşturur — bu yüzden kendi çalışmalarınızı ~/lab içinde tutmayın. 'bash dosya.sh' betiği bash ile çalıştırır; şimdilik onu çalıştırılabilir yapmamız gerekmiyor (11. hafta, chmod). 'ayse' yerine kendi Windows kullanıcı adınızı yazın. Dosya Not Defteri'nde açılıp kaydedildiyse Windows satır sonlarını almış olabilir ve "$'\r': command not found" hatası verir — yeniden indirin.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 'terminal', 'kabuk', 'komut satırı' ve 'Linux' sözcüklerini çoğu zaman aynı şeymiş gibi kullanır. Bugün 2. haftadaki katman resmini kullanarak onları birbirinden ayırıyoruz.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hafta: çekirdek her zaman çalışan tek programdır; kabuk, ls ve cp gibi sistem programları kullanıcı modunda çalışır. 3. hafta: komut yorumlayıcısı çekirdeğin parçası değil, kullanıcı düzeyinde bir sistem programıdır. Kırmızı kesikli çizgiyi vurgulayın: kabuk diske ya da ekran donanımına doğrudan dokunamaz; o da başlattığı her komut da sistem çağrılarını kullanmak zorundadır. Tarihsel olarak 'terminal' fiziksel bir aygıttı (bir teleks makinesi ya da VT100 gibi bir video terminali); bugün onu taklit eden bir programdır.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haftadaki fork_exec_wait.c programını hatırlatın: ebeveyn çatallanır (fork), çocuk bir programı exec ile yükler, ebeveyn bekler. Kabuk, bu programın bir döngü içindeki hâlidir: bir satır oku, fork, exec, wait, tekrarla. Bazı komutlar 'yerleşik' (builtin) komutlardır; bash onları yeni bir süreç oluşturmadan kendisi çalıştırır — cd, pwd, echo, history; cd'nin neden yerleşik OLMAK ZORUNDA olduğunu bugün ileride göreceğiz. 'type ls' bir komutun hangi türden olduğunu söyler.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 çıktı; -e trace=... ile üç sistem çağrısına süzüldü. Süzgeç olmadan ls birkaç düzine çağrı yapar (bellek eşleme, kitaplıkları açma, yerel ayar dosyaları). 2. haftada strace'i bir C programı üzerinde kullanmıştık; burada aynı araç, basit bir komutun bile bir sistem çağrıları dizisinden ibaret olduğunu gösteriyor. 1 numaralı dosya tanımlayıcısı (file descriptor) standart çıktıdır — 12. haftanın konusu. strace kurulu olmayabilir: sudo apt install strace.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İstemin parçalarını gerçek bir terminal üzerinde gösterin. Öğrenciler cd yaptıkça istemin değiştiğini görecek. Ubuntu'da varsayılan istem kullanıcı@bilgisayar:dizin$ biçimindedir ve bash ev dizinini ~ ile gösterir. Tek harfli seçenekler birleştirilebilir: ls -l -a = ls -la = ls -al. Uzun seçenekler iki tireyle başlar (--all, --help) ve birleştirilemez. Bir seçenek değer alabilir: head -n 4. Tipik hata: boşluğu unutmak, örneğin 'ls-l' (command not found) ya da 'cd..' (bazı sistemlerde bir takma ad sayesinde çalışır, düz bash'te çalışmaz).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Ubuntu 24.04 test makinemizden gerçek çıktı. Seçeneksiz uname yalnızca çekirdeğin adını, Linux, yazar. uname -r çekirdek sürümünü yazar; normal bir Ubuntu 24.04 bilgisayarda 6.8.0-xx-generic gibi bir şey, WSL'de microsoft-standard-WSL2 ile biten bir sürüm görürsünüz. Makinemizdeki saat UTC'dir; sizinki yerel saati (İstanbul'da +03) gösterir. Sonraki haftalar için önemli ayrıntı: 'echo My shell is $SHELL and my home is ~' komutunda echo '$SHELL' ya da '~' görmez — kabuk onları önce genişletir. Türkçe yerel ayarlı bir sistemde date çıktısı Türkçe olabilir (ör. 'Pzt Eki 12 ...'). Öğrencilerden her komutu kendilerinin yazmasını isteyin.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kabuğun (aslında her sürecin) bir geçerli çalışma dizini vardır. Göreli yollar bu dizinden başlayarak çözülür. pwd onu gösterir; ls içeriğini listeler.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Ubuntu'da ls, 'ls --color=auto' için bir takma addır (~/.bashrc içinde tanımlı); bu yüzden öğrenciler dizinleri mavi görür — bizim kaydettiğimiz çıktı renksizdir. Gizli dosya, adı nokta ile başlayan sıradan bir dosyadır; genellikle yapılandırma dosyalarıdır (~/.bashrc). Her dizin . (kendisi) ve .. (üst dizini) girdilerini içerir — 7. haftada çizdiğimiz girdilerin aynısı. ' ' ile tırnaklama, GNU ls'nin adda boşluk bulunduğunu gösterme yoludur; tırnaklar adın parçası DEĞİLDİR.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'Etrafa bakmak' bölümünün en önemli slaytı budur: öğrenciler finale kadar her hafta ls -l satırları okuyacak. Bugün yalnızca her sütunun anlamı; izin dizgesini 11. hafta ayrıntılı açıklar. Bir dizinin bağlantı sayısı: üst dizindeki girdisi, kendi '.' girdisi ve her alt dizinindeki '..'. projects'in alpha ve beta alt dizinleri var, dolayısıyla 2 + 2 = 4 (code/check_numbers.py ile doğrulandı). Dosyalarda 1'den büyük bağlantı sayısı sabit bağlantılar (hard link) demektir (7. hafta, ln).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 çıktı. Sayılar code/check_numbers.py ile doğrulandı: 23604/1024 = 23,05, YUKARI yuvarlanarak 24K; 5207/1024 = 5,085 → 5.1K; 1208/1024 = 1,18 → 1.2K. 1024 bayttan küçük dosyalar bayt olarak gösterilir. 16 baytlık bir dosya neden 4K kullanır? Dosya sistemi bütün bloklar ayırır (7. hafta, blok hesabı). ls -l docs, tırnaksız adların önüne bir boşluk koyar; böylece bütün adlar tırnaklı adla aynı hizaya gelir.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 çıktı. tree her zaman kurulu değildir: 'sudo apt install tree'. sudo tek bir komutu yönetici (root) olarak çalıştırır ve SİZİN parolanızı sorar; bu derste onu yalnızca yazılım kurmak için kullanın — bir komut başarısız oldu diye asla başına sudo yazmayın (11. hafta). '7 directories, 6 files' — tree projects dizininin kendisini de sayar. Bir komut durmadan yazıyorsa Ctrl+C onu keser.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Seçenekler birleşir: ls -lah, ls -ltr (en eskiler önce — en yeni dosyayı en altta bulmak için kullanışlı), ls -lS. Ubuntu'nun ~/.bashrc dosyası ayrıca ll = ls -alF, la = ls -A ve l = ls -CF takma adlarını tanımlar. Ezberlemeyin; 'ls --help' komutunun hepsini listelediğini bilin.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dakika. Terminali çalışmayan öğrenciler: laboratuvardan önce WSL/sanal makine sorunlarını çözebilmemiz için molada öne gelin.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hafta ağaç yapılı dizinleri ve mutlak/göreli yolları kuramsal olarak tanıttı. Şimdi gerçek ağaçta yürüyoruz.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Dosya Sistemi Hiyerarşi Standardı (Filesystem Hierarchy Standard, FHS) hangi dizinin neyi tuttuğunu belirler; böylece bütün dağıtımlar birbirine benzer. Ek diskler ve USB bellekler ağaca 'bağlanır' (mount; genellikle /media ya da /mnt altına) — sürücü harfi yoktur. Ubuntu 24.04'te /bin, /usr/bin'e bir sembolik bağlantıdır ('birleşik /usr'), dolayısıyla iki ad da aynı programlara ulaşır. /root yöneticinin ev dizinidir; / (kök dizin) ile karıştırılmamalıdır.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 çıktı; / listesinden yalnızca test makinemizde bulunan iki girdiyi çıkardık. *.usr-is-merged dizinleri Ubuntu'nun birleşik /usr'ye geçişinden kalmadır — önemsemeyin. 'type ls' yanıtı: ls, /usr/bin içindeki bir program dosyasıdır. Sorun: /etc neden düz metin dosyalarıyla dolu? (Çünkü UNIX yapılandırmayı düzenlenebilir metin olarak tutar — 11. hafta /etc/passwd dosyasını okuyacak.) /tmp içindeki dosyalar yeniden başlatmada silinebilir.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UNIX'te 'her şey bir dosyadır': aygıtlara dosyalarla aynı open/read/write sistem çağrılarıyla erişilir (2. hafta, G/Ç). /dev/null 'kara delik'tir; /dev/zero sıfır baytları üretir; /dev/tty terminalinizdir. /proc/meminfo: test makinemizde yaklaşık 8 GB RAM var (MemTotal 8.222.320 kB). Kabuk S (uyuyor) durumundadır çünkü bekliyor — head'in bitmesini. 13. hafta /proc'a ve ps'ye geri dönecek. Sizin makinenizdeki PID farklı olacaktır.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Öğrencilere rotayı yüksek sesle söyletin: alpha/src'den alpha'ya çık (..), projects'e çık (..), beta'ya in, docs'a in: ../../beta/docs. Hedefin mutlak yolu /home/student/lab/projects/beta/docs'tur; ~/lab/projects/beta/docs aynı yolun ~ kısayoluyla yazılmış hâlidir (kabuk ~ yerine /home/student koyar). Sorun: 'lab/docs' mutlak mı göreli mi? (Göreli — yalnızca /home/student içindeyken çalışır.)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 çıktı (birkaç pwd satırı atlandı; kaydın tamamı code/out_cd.txt içinde). UNIX kuralı 'haber yoksa iyi haber': cd başarılı olduğunda hiçbir şey yazmaz; yalnızca cd - gittiği dizini yazar. Alıştırma: ~/lab/projects/alpha/docs'tan beta/src'ye nasıl gidersiniz? (../../beta/src — kaydın son satırları.)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ve .. gerçek dizin girdileridir (ls -a gösterir); ~ ve - kabuk kısayollarıdır — kabuk komutu çalıştırmadan önce ~ yerine $HOME değerini koyar, cd - ise $OLDPWD değişkenini kullanır (help cd bunu söyler). '.' 11. ve 14. haftalarda önem kazanacak: ./betik.sh geçerli dizindeki bir betiği çalıştırır.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 çıktı. Güzel bir sınav tipi akıl yürütme sorusudur. Aynı gerekçe, 'exit', 'export' ve kabuğun kendi durumunu değiştiren diğer komutların neden yerleşik olmak zorunda olduğunu da açıklar. pwd hem yerleşik olarak (hızlı, kabuğun kendi kaydını kullanır) hem de /bin/pwd programı olarak bulunur.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çok zaman kazandıran üç beceri: yardımı okumak, sekme tamamlama ve komut geçmişi.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--help, type ve help komutlarının gerçek çıktısı (kısaltılmış). Test makinemiz kılavuz sayfaları olmayan küçültülmüş (minimised) bir Ubuntu olduğu için burada man çıktısı göstermiyoruz; laboratuvar bilgisayarlarında, WSL'de ve sanal makinede 'man ls' çalışır — mümkünse canlı gösterin. SYNOPSIS içinde [ ] isteğe bağlı, ... ise 'tekrarlanabilir' demektir: ls [OPTION]... [FILE]... herhangi sayıda seçenek ve dosya, hepsi isteğe bağlı demektir. man 'bu sistem küçültülmüştür' derse 'sudo unminimize' kılavuzları geri yükler (biraz sürer). Türkçe yerel ayarlı sistemlerde --help çıktısı da Türkçe olabilir.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 oturum. Yazılanlar: 'cd pro' Tab 'al' Tab — kabuk bunu 'cd projects/alpha/' olarak tamamladı; 'ls ~/lab/docs/sy' Tab, syllabus.txt adını tamamladı (ve bir boşluk ekledi). Tab bir şey yapmıyorsa başlangıç birden çok ada uyuyordur: adayları görmek için Tab'a iki kez basın. !! son komutu yeniden çalıştırır ve önce onu yazar; !5 geçmişteki 5 numaralı girdiyi yeniden çalıştırır. Ctrl+C çalışan sürece SIGINT kesme sinyalini gönderir (13. hafta). İpucu: Ctrl+R geçmişte geriye doğru arar. Sekme tamamlama uzun adlarda yazım hatalarını da önler.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tablo notlarda da var (daha ayrıntılı). Laboratuvar sırasında açık tutun. cat bugün yalnızca hazine avında küçük dosyaları okumak için tanıtılıyor; cat, less, head ve tail'i 10. hafta düzgünce işleyecek.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Çözümler (laboratuvar sırasında göstermeyin): İpucu 1: src/ ('a small C program'), cd src. İpucu 2: hello.c 'Hello from the lab!' yazar. İpucu 3: cd ../docs. İpucu 4: cat "final report.txt" → son satır 'This file name contains a space.' İpucu 5: ls -a .settings'i gösterir; cat .settings → editor=nano. Bitiş: docs'tan cd ../projects/beta/src → pwd /home/student/lab/projects/beta/src yazar. Bütün çıktılar code/out_lab.txt içinde ve notlardaki Laboratuvar Föyü çözümlerinde. Sınıfta dolaşın; istenen yerlerde göreli yol kullanıldığını kontrol edin.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Yanıtlar: B1: 9 girdi, 8 dizin + README.txt. B2: syllabus.txt, 578 bayt. B3: 23.604 bayt = 24K (23604/1024 = 23,05, yukarı yuvarlanır). B4: /home/student/lab/projects/beta/src (cd - onu yazar). B5: type ls → /usr/bin/ls; ls -ld /bin → usr/bin'e sembolik bağlantı; head -n 2 /etc/os-release → makinemizde Ubuntu 24.04.4 LTS. B6: bir dizinin bağlantı sayısı = 2 + alt dizin sayısı: lab'ın 8 alt dizini var → 10; docs'un hiç yok → 2 (code/check_numbers.py ile doğrulandı).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 hata mesajları (LC_ALL=C.UTF-8 ile İngilizce; Türkçe yerel ayarlı bir sistemde örneğin 'No such file or directory' yerine 'Böyle bir dosya ya da dizin yok' görebilirsiniz). Linux büyük-küçük harfe duyarlıdır: Docs ve docs farklı adlardır. Normal bir Ubuntu'da yanlış yazılmış bir komut (sl) "Command 'sl' not found, but can be installed with: sudo apt install sl" gibi bir öneri de yazar — bizim küçük test kabuğumuzda bu yardımcı yok. 'Permission denied' mesajına sudo ile karşılık VERMEYİN: bu, koruma sisteminin tasarlandığı gibi çalışmasıdır (11. hafta). Betikteki "$'\r': command not found" hatası Windows satır sonları demektir — dosyayı yeniden indirin.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Yanıtlar. (1) /home/student/lab/projects/beta/src; cd - /home/student/lab/projects/alpha dizinine döner ve onu yazar. (2) Komut ls; seçenekler -l ve -h (-lh olarak birleşik); argüman /var/log. (3) 24K: 23604 / 1024 ≈ 23,05 KiB ve ls -h yukarı yuvarlar. (4) Geçerli dizin her sürece aittir; bir çocuk süreç (bir program) yalnızca kendi dizinini değiştirip sonlanabilir, kabuk değişmeden kalır. Bu yüzden chdir() çağrısını kabuğun kendisi yapmalıdır.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Hızlıca okuyun. Ödev: notlardaki Laboratuvar Föyünü bitirin; gelecek hafta dosya sistemini DEĞİŞTİRMEYE başlıyoruz, bu yüzden kendi bilgisayarınızda ~/lab klasörünün bulunduğundan emin olun.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Gelecek hafta yalnızca bakmayı bırakıp bir şeyleri değiştirmeye başlıyoruz: ~/lab içinde dosya ve dizin oluşturmak, kopyalamak, taşımak ve silmek. Çalışan bir terminal getirin (WSL, sanal makine ya da laboratuvar bilgisayarı) — dersin tamamı uygulamalı. Lab klasörü karışırsa kurulum betiğini yeniden çalıştırmanız yeter.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Özellikle kurulum sorunları için soruları alın. Öğrencilere hafta içindeki WSL/VirtualBox sorularının yerinin Telegram kanalı olduğunu hatırlatın; hata mesajlarının ekran görüntüleri yardımcı olur.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737360"/>
            <a:ext cx="73152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MBLP131  ·  HAFTA 9</a:t>
            </a:r>
            <a:endParaRPr lang="tr-TR" sz="1300" dirty="0"/>
          </a:p>
        </p:txBody>
      </p:sp>
      <p:sp>
        <p:nvSpPr>
          <p:cNvPr id="3" name="Text 1"/>
          <p:cNvSpPr txBox="1"/>
          <p:nvPr/>
        </p:nvSpPr>
        <p:spPr>
          <a:xfrm>
            <a:off x="548640" y="2148840"/>
            <a:ext cx="8229600" cy="1463040"/>
          </a:xfrm>
          <a:prstGeom prst="rect">
            <a:avLst/>
          </a:prstGeom>
          <a:noFill/>
          <a:ln/>
        </p:spPr>
        <p:txBody>
          <a:bodyPr wrap="square" lIns="0" tIns="0" rIns="0" bIns="0" rtlCol="0" anchor="t"/>
          <a:lstStyle/>
          <a:p>
            <a:pPr indent="0" marL="0">
              <a:buNone/>
            </a:pPr>
            <a:r>
              <a:rPr lang="tr-TR" sz="4000" b="1" dirty="0">
                <a:solidFill>
                  <a:srgbClr val="FFFFFF"/>
                </a:solidFill>
                <a:latin typeface="Cambria" pitchFamily="34" charset="0"/>
                <a:ea typeface="Cambria" pitchFamily="34" charset="-122"/>
                <a:cs typeface="Cambria" pitchFamily="34" charset="-120"/>
              </a:rPr>
              <a:t>İşletim Sistemleri</a:t>
            </a:r>
            <a:endParaRPr lang="tr-TR" sz="4000" dirty="0"/>
          </a:p>
          <a:p>
            <a:pPr indent="0" marL="0">
              <a:buNone/>
            </a:pPr>
            <a:r>
              <a:rPr lang="tr-TR" sz="4000" b="1" dirty="0">
                <a:solidFill>
                  <a:srgbClr val="FFFFFF"/>
                </a:solidFill>
                <a:latin typeface="Cambria" pitchFamily="34" charset="0"/>
                <a:ea typeface="Cambria" pitchFamily="34" charset="-122"/>
                <a:cs typeface="Cambria" pitchFamily="34" charset="-120"/>
              </a:rPr>
              <a:t>Temelleri</a:t>
            </a:r>
            <a:endParaRPr lang="tr-TR" sz="4000" dirty="0"/>
          </a:p>
        </p:txBody>
      </p:sp>
      <p:sp>
        <p:nvSpPr>
          <p:cNvPr id="4" name="Text 2"/>
          <p:cNvSpPr txBox="1"/>
          <p:nvPr/>
        </p:nvSpPr>
        <p:spPr>
          <a:xfrm>
            <a:off x="548640" y="3703320"/>
            <a:ext cx="10058400" cy="457200"/>
          </a:xfrm>
          <a:prstGeom prst="rect">
            <a:avLst/>
          </a:prstGeom>
          <a:noFill/>
          <a:ln/>
        </p:spPr>
        <p:txBody>
          <a:bodyPr wrap="square" lIns="0" tIns="0" rIns="0" bIns="0" rtlCol="0" anchor="ctr"/>
          <a:lstStyle/>
          <a:p>
            <a:pPr indent="0" marL="0">
              <a:buNone/>
            </a:pPr>
            <a:r>
              <a:rPr lang="tr-TR" sz="2000" dirty="0">
                <a:solidFill>
                  <a:srgbClr val="F2F2F2"/>
                </a:solidFill>
                <a:latin typeface="Calibri" pitchFamily="34" charset="0"/>
                <a:ea typeface="Calibri" pitchFamily="34" charset="-122"/>
                <a:cs typeface="Calibri" pitchFamily="34" charset="-120"/>
              </a:rPr>
              <a:t>Hafta 9  ·  Linux Kabuğuna Giriş ve Dosya Sisteminde Gezinme</a:t>
            </a:r>
            <a:endParaRPr lang="tr-TR" sz="2000" dirty="0"/>
          </a:p>
        </p:txBody>
      </p:sp>
      <p:sp>
        <p:nvSpPr>
          <p:cNvPr id="5" name="Text 3"/>
          <p:cNvSpPr txBox="1"/>
          <p:nvPr/>
        </p:nvSpPr>
        <p:spPr>
          <a:xfrm>
            <a:off x="548640" y="4160520"/>
            <a:ext cx="10058400" cy="365760"/>
          </a:xfrm>
          <a:prstGeom prst="rect">
            <a:avLst/>
          </a:prstGeom>
          <a:noFill/>
          <a:ln/>
        </p:spPr>
        <p:txBody>
          <a:bodyPr wrap="square" lIns="0" tIns="0" rIns="0" bIns="0" rtlCol="0" anchor="ctr"/>
          <a:lstStyle/>
          <a:p>
            <a:pPr indent="0" marL="0">
              <a:buNone/>
            </a:pPr>
            <a:r>
              <a:rPr lang="tr-TR" sz="1400" i="1" dirty="0">
                <a:solidFill>
                  <a:srgbClr val="8A9AA0"/>
                </a:solidFill>
                <a:latin typeface="Calibri" pitchFamily="34" charset="0"/>
                <a:ea typeface="Calibri" pitchFamily="34" charset="-122"/>
                <a:cs typeface="Calibri" pitchFamily="34" charset="-120"/>
              </a:rPr>
              <a:t>Kuramdan terminale: neredeyim, burada ne var ve nasıl hareket ederim?</a:t>
            </a:r>
            <a:endParaRPr lang="tr-TR" sz="1400" dirty="0"/>
          </a:p>
        </p:txBody>
      </p:sp>
      <p:sp>
        <p:nvSpPr>
          <p:cNvPr id="6" name="Text 4"/>
          <p:cNvSpPr txBox="1"/>
          <p:nvPr/>
        </p:nvSpPr>
        <p:spPr>
          <a:xfrm>
            <a:off x="548640" y="6217920"/>
            <a:ext cx="10058400" cy="274320"/>
          </a:xfrm>
          <a:prstGeom prst="rect">
            <a:avLst/>
          </a:prstGeom>
          <a:noFill/>
          <a:ln/>
        </p:spPr>
        <p:txBody>
          <a:bodyPr wrap="square" lIns="0" tIns="0" rIns="0" bIns="0" rtlCol="0" anchor="ctr"/>
          <a:lstStyle/>
          <a:p>
            <a:pPr indent="0" marL="0">
              <a:buNone/>
            </a:pPr>
            <a:r>
              <a:rPr lang="tr-TR" sz="1000" dirty="0">
                <a:solidFill>
                  <a:srgbClr val="8A9AA0"/>
                </a:solidFill>
                <a:latin typeface="Calibri" pitchFamily="34" charset="0"/>
                <a:ea typeface="Calibri" pitchFamily="34" charset="-122"/>
                <a:cs typeface="Calibri" pitchFamily="34" charset="-120"/>
              </a:rPr>
              <a:t>Elektronik Haberleşme Teknolojisi Programı  ·  Meslek Yüksekokulu  ·  İstanbul Okan Üniversitesi</a:t>
            </a:r>
            <a:endParaRPr lang="tr-TR"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1–7. HAFTALAR · VİZEDEN ÖNCE</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Dört Fikirde Kuramsal Yarı</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9  ·  2</a:t>
            </a:r>
            <a:endParaRPr lang="tr-TR" sz="900" dirty="0"/>
          </a:p>
        </p:txBody>
      </p:sp>
      <p:sp>
        <p:nvSpPr>
          <p:cNvPr id="6" name="Shape 4"/>
          <p:cNvSpPr/>
          <p:nvPr/>
        </p:nvSpPr>
        <p:spPr>
          <a:xfrm>
            <a:off x="54864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sp>
      <p:sp>
        <p:nvSpPr>
          <p:cNvPr id="7" name="Text 5"/>
          <p:cNvSpPr txBox="1"/>
          <p:nvPr/>
        </p:nvSpPr>
        <p:spPr>
          <a:xfrm>
            <a:off x="777240" y="169164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İşletim sistemi</a:t>
            </a:r>
            <a:endParaRPr lang="tr-TR" sz="1600" dirty="0"/>
          </a:p>
        </p:txBody>
      </p:sp>
      <p:sp>
        <p:nvSpPr>
          <p:cNvPr id="8" name="Text 6"/>
          <p:cNvSpPr txBox="1"/>
          <p:nvPr/>
        </p:nvSpPr>
        <p:spPr>
          <a:xfrm>
            <a:off x="777240" y="2148840"/>
            <a:ext cx="2148840" cy="2971800"/>
          </a:xfrm>
          <a:prstGeom prst="rect">
            <a:avLst/>
          </a:prstGeom>
          <a:noFill/>
          <a:ln/>
        </p:spPr>
        <p:txBody>
          <a:bodyPr wrap="square" lIns="0" tIns="0" rIns="0" bIns="0" rtlCol="0" anchor="t"/>
          <a:lstStyle/>
          <a:p>
            <a:pPr indent="0" marL="0">
              <a:spcAft>
                <a:spcPts val="400"/>
              </a:spcAft>
              <a:buNone/>
            </a:pPr>
            <a:r>
              <a:rPr lang="tr-TR" sz="1400" dirty="0">
                <a:solidFill>
                  <a:srgbClr val="3A464C"/>
                </a:solidFill>
                <a:latin typeface="Calibri" pitchFamily="34" charset="0"/>
                <a:ea typeface="Calibri" pitchFamily="34" charset="-122"/>
                <a:cs typeface="Calibri" pitchFamily="34" charset="-120"/>
              </a:rPr>
              <a:t>Bir kaynak yöneticisi ve genişletilmiş makine. Çekirdek, çekirdek modunda; geri kalan her şey kullanıcı modunda çalışır (1–2. hf.).</a:t>
            </a:r>
            <a:endParaRPr lang="tr-TR" sz="1400" dirty="0"/>
          </a:p>
        </p:txBody>
      </p:sp>
      <p:sp>
        <p:nvSpPr>
          <p:cNvPr id="9" name="Shape 7"/>
          <p:cNvSpPr/>
          <p:nvPr/>
        </p:nvSpPr>
        <p:spPr>
          <a:xfrm>
            <a:off x="338328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sp>
      <p:sp>
        <p:nvSpPr>
          <p:cNvPr id="10" name="Text 8"/>
          <p:cNvSpPr txBox="1"/>
          <p:nvPr/>
        </p:nvSpPr>
        <p:spPr>
          <a:xfrm>
            <a:off x="3611880" y="169164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Sistem çağrıları</a:t>
            </a:r>
            <a:endParaRPr lang="tr-TR" sz="1600" dirty="0"/>
          </a:p>
        </p:txBody>
      </p:sp>
      <p:sp>
        <p:nvSpPr>
          <p:cNvPr id="11" name="Text 9"/>
          <p:cNvSpPr txBox="1"/>
          <p:nvPr/>
        </p:nvSpPr>
        <p:spPr>
          <a:xfrm>
            <a:off x="3611880" y="2148840"/>
            <a:ext cx="2148840" cy="2971800"/>
          </a:xfrm>
          <a:prstGeom prst="rect">
            <a:avLst/>
          </a:prstGeom>
          <a:noFill/>
          <a:ln/>
        </p:spPr>
        <p:txBody>
          <a:bodyPr wrap="square" lIns="0" tIns="0" rIns="0" bIns="0" rtlCol="0" anchor="t"/>
          <a:lstStyle/>
          <a:p>
            <a:pPr indent="0" marL="0">
              <a:spcAft>
                <a:spcPts val="400"/>
              </a:spcAft>
              <a:buNone/>
            </a:pPr>
            <a:r>
              <a:rPr lang="tr-TR" sz="1400" dirty="0">
                <a:solidFill>
                  <a:srgbClr val="3A464C"/>
                </a:solidFill>
                <a:latin typeface="Calibri" pitchFamily="34" charset="0"/>
                <a:ea typeface="Calibri" pitchFamily="34" charset="-122"/>
                <a:cs typeface="Calibri" pitchFamily="34" charset="-120"/>
              </a:rPr>
              <a:t>Bir programın çekirdeğe açılan tek kapısı: open, read, write, fork, exec … (2–3. hf.).</a:t>
            </a:r>
            <a:endParaRPr lang="tr-TR" sz="1400" dirty="0"/>
          </a:p>
        </p:txBody>
      </p:sp>
      <p:sp>
        <p:nvSpPr>
          <p:cNvPr id="12" name="Shape 10"/>
          <p:cNvSpPr/>
          <p:nvPr/>
        </p:nvSpPr>
        <p:spPr>
          <a:xfrm>
            <a:off x="621792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6446520" y="169164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Süreçler</a:t>
            </a:r>
            <a:endParaRPr lang="tr-TR" sz="1600" dirty="0"/>
          </a:p>
        </p:txBody>
      </p:sp>
      <p:sp>
        <p:nvSpPr>
          <p:cNvPr id="14" name="Text 12"/>
          <p:cNvSpPr txBox="1"/>
          <p:nvPr/>
        </p:nvSpPr>
        <p:spPr>
          <a:xfrm>
            <a:off x="6446520" y="2148840"/>
            <a:ext cx="2148840" cy="2971800"/>
          </a:xfrm>
          <a:prstGeom prst="rect">
            <a:avLst/>
          </a:prstGeom>
          <a:noFill/>
          <a:ln/>
        </p:spPr>
        <p:txBody>
          <a:bodyPr wrap="square" lIns="0" tIns="0" rIns="0" bIns="0" rtlCol="0" anchor="t"/>
          <a:lstStyle/>
          <a:p>
            <a:pPr indent="0" marL="0">
              <a:spcAft>
                <a:spcPts val="400"/>
              </a:spcAft>
              <a:buNone/>
            </a:pPr>
            <a:r>
              <a:rPr lang="tr-TR" sz="1400" dirty="0">
                <a:solidFill>
                  <a:srgbClr val="3A464C"/>
                </a:solidFill>
                <a:latin typeface="Calibri" pitchFamily="34" charset="0"/>
                <a:ea typeface="Calibri" pitchFamily="34" charset="-122"/>
                <a:cs typeface="Calibri" pitchFamily="34" charset="-120"/>
              </a:rPr>
              <a:t>Çalışmakta olan program: PID, durum, PCB, fork() + exec(); işlemci zamanlayıcısı sıralar (3–5. hf.).</a:t>
            </a:r>
            <a:endParaRPr lang="tr-TR" sz="1400" dirty="0"/>
          </a:p>
        </p:txBody>
      </p:sp>
      <p:sp>
        <p:nvSpPr>
          <p:cNvPr id="15" name="Shape 13"/>
          <p:cNvSpPr/>
          <p:nvPr/>
        </p:nvSpPr>
        <p:spPr>
          <a:xfrm>
            <a:off x="905256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sp>
      <p:sp>
        <p:nvSpPr>
          <p:cNvPr id="16" name="Text 14"/>
          <p:cNvSpPr txBox="1"/>
          <p:nvPr/>
        </p:nvSpPr>
        <p:spPr>
          <a:xfrm>
            <a:off x="9281160" y="169164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Bellek ve dosyalar</a:t>
            </a:r>
            <a:endParaRPr lang="tr-TR" sz="1600" dirty="0"/>
          </a:p>
        </p:txBody>
      </p:sp>
      <p:sp>
        <p:nvSpPr>
          <p:cNvPr id="17" name="Text 15"/>
          <p:cNvSpPr txBox="1"/>
          <p:nvPr/>
        </p:nvSpPr>
        <p:spPr>
          <a:xfrm>
            <a:off x="9281160" y="2148840"/>
            <a:ext cx="2148840" cy="2971800"/>
          </a:xfrm>
          <a:prstGeom prst="rect">
            <a:avLst/>
          </a:prstGeom>
          <a:noFill/>
          <a:ln/>
        </p:spPr>
        <p:txBody>
          <a:bodyPr wrap="square" lIns="0" tIns="0" rIns="0" bIns="0" rtlCol="0" anchor="t"/>
          <a:lstStyle/>
          <a:p>
            <a:pPr indent="0" marL="0">
              <a:spcAft>
                <a:spcPts val="400"/>
              </a:spcAft>
              <a:buNone/>
            </a:pPr>
            <a:r>
              <a:rPr lang="tr-TR" sz="1400" dirty="0">
                <a:solidFill>
                  <a:srgbClr val="3A464C"/>
                </a:solidFill>
                <a:latin typeface="Calibri" pitchFamily="34" charset="0"/>
                <a:ea typeface="Calibri" pitchFamily="34" charset="-122"/>
                <a:cs typeface="Calibri" pitchFamily="34" charset="-120"/>
              </a:rPr>
              <a:t>Sayfalama ve sanal bellek (6–7. hf.); öznitelikleri düğümde (inode) tutulan dosyalar; yollarla gezilen bir dizin ağacı (7. hf.).</a:t>
            </a:r>
            <a:endParaRPr lang="tr-TR" sz="1400" dirty="0"/>
          </a:p>
        </p:txBody>
      </p:sp>
      <p:sp>
        <p:nvSpPr>
          <p:cNvPr id="18" name="Shape 16"/>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19" name="Text 17"/>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Vize bu fikirleri kâğıt üzerinde ölçtü. Bugünden itibaren onları iş başında göreceksiniz: yazdığınız her komut bir süreç olur, listelediğiniz her dosya 7. haftadaki dizin ağacının bir düğümüdür.</a:t>
            </a:r>
            <a:endParaRPr lang="tr-TR"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HAFTA 9</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Bugünün Gündemi</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9  ·  3</a:t>
            </a:r>
            <a:endParaRPr lang="tr-TR" sz="900" dirty="0"/>
          </a:p>
        </p:txBody>
      </p:sp>
      <p:sp>
        <p:nvSpPr>
          <p:cNvPr id="6" name="Shape 4"/>
          <p:cNvSpPr/>
          <p:nvPr/>
        </p:nvSpPr>
        <p:spPr>
          <a:xfrm>
            <a:off x="548640" y="1508760"/>
            <a:ext cx="658368" cy="658368"/>
          </a:xfrm>
          <a:prstGeom prst="roundRect">
            <a:avLst>
              <a:gd name="adj" fmla="val 6944"/>
            </a:avLst>
          </a:prstGeom>
          <a:solidFill>
            <a:srgbClr val="02C39A"/>
          </a:solidFill>
          <a:ln/>
        </p:spPr>
      </p:sp>
      <p:sp>
        <p:nvSpPr>
          <p:cNvPr id="7" name="Text 5"/>
          <p:cNvSpPr txBox="1"/>
          <p:nvPr/>
        </p:nvSpPr>
        <p:spPr>
          <a:xfrm>
            <a:off x="548640" y="1508760"/>
            <a:ext cx="658368" cy="65836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1</a:t>
            </a:r>
            <a:endParaRPr lang="tr-TR" sz="2000" dirty="0"/>
          </a:p>
        </p:txBody>
      </p:sp>
      <p:sp>
        <p:nvSpPr>
          <p:cNvPr id="8" name="Shape 6"/>
          <p:cNvSpPr/>
          <p:nvPr/>
        </p:nvSpPr>
        <p:spPr>
          <a:xfrm>
            <a:off x="1371600" y="1508760"/>
            <a:ext cx="10287000" cy="658368"/>
          </a:xfrm>
          <a:prstGeom prst="roundRect">
            <a:avLst>
              <a:gd name="adj" fmla="val 6944"/>
            </a:avLst>
          </a:prstGeom>
          <a:solidFill>
            <a:srgbClr val="F2F2F2"/>
          </a:solidFill>
          <a:ln/>
        </p:spPr>
      </p:sp>
      <p:sp>
        <p:nvSpPr>
          <p:cNvPr id="9" name="Text 7"/>
          <p:cNvSpPr txBox="1"/>
          <p:nvPr/>
        </p:nvSpPr>
        <p:spPr>
          <a:xfrm>
            <a:off x="1645920" y="1508760"/>
            <a:ext cx="9875520" cy="658368"/>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Linux terminaline ulaşmak   </a:t>
            </a:r>
            <a:r>
              <a:rPr lang="tr-TR" sz="1500" dirty="0">
                <a:solidFill>
                  <a:srgbClr val="3A464C"/>
                </a:solidFill>
                <a:latin typeface="Calibri" pitchFamily="34" charset="0"/>
                <a:ea typeface="Calibri" pitchFamily="34" charset="-122"/>
                <a:cs typeface="Calibri" pitchFamily="34" charset="-120"/>
              </a:rPr>
              <a:t>Laboratuvar bilgisayarları, Windows'ta WSL ya da VirtualBox sanal makinesi — ve lab klasörü.</a:t>
            </a:r>
            <a:endParaRPr lang="tr-TR" sz="1400" dirty="0"/>
          </a:p>
        </p:txBody>
      </p:sp>
      <p:sp>
        <p:nvSpPr>
          <p:cNvPr id="10" name="Shape 8"/>
          <p:cNvSpPr/>
          <p:nvPr/>
        </p:nvSpPr>
        <p:spPr>
          <a:xfrm>
            <a:off x="548640" y="2295144"/>
            <a:ext cx="658368" cy="658368"/>
          </a:xfrm>
          <a:prstGeom prst="roundRect">
            <a:avLst>
              <a:gd name="adj" fmla="val 6944"/>
            </a:avLst>
          </a:prstGeom>
          <a:solidFill>
            <a:srgbClr val="02C39A"/>
          </a:solidFill>
          <a:ln/>
        </p:spPr>
      </p:sp>
      <p:sp>
        <p:nvSpPr>
          <p:cNvPr id="11" name="Text 9"/>
          <p:cNvSpPr txBox="1"/>
          <p:nvPr/>
        </p:nvSpPr>
        <p:spPr>
          <a:xfrm>
            <a:off x="548640" y="2295144"/>
            <a:ext cx="658368" cy="65836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2</a:t>
            </a:r>
            <a:endParaRPr lang="tr-TR" sz="2000" dirty="0"/>
          </a:p>
        </p:txBody>
      </p:sp>
      <p:sp>
        <p:nvSpPr>
          <p:cNvPr id="12" name="Shape 10"/>
          <p:cNvSpPr/>
          <p:nvPr/>
        </p:nvSpPr>
        <p:spPr>
          <a:xfrm>
            <a:off x="1371600" y="2295144"/>
            <a:ext cx="10287000" cy="658368"/>
          </a:xfrm>
          <a:prstGeom prst="roundRect">
            <a:avLst>
              <a:gd name="adj" fmla="val 6944"/>
            </a:avLst>
          </a:prstGeom>
          <a:solidFill>
            <a:srgbClr val="F2F2F2"/>
          </a:solidFill>
          <a:ln/>
        </p:spPr>
      </p:sp>
      <p:sp>
        <p:nvSpPr>
          <p:cNvPr id="13" name="Text 11"/>
          <p:cNvSpPr txBox="1"/>
          <p:nvPr/>
        </p:nvSpPr>
        <p:spPr>
          <a:xfrm>
            <a:off x="1645920" y="2295144"/>
            <a:ext cx="9875520" cy="658368"/>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Terminal, kabuk, çekirdek   </a:t>
            </a:r>
            <a:r>
              <a:rPr lang="tr-TR" sz="1500" dirty="0">
                <a:solidFill>
                  <a:srgbClr val="3A464C"/>
                </a:solidFill>
                <a:latin typeface="Calibri" pitchFamily="34" charset="0"/>
                <a:ea typeface="Calibri" pitchFamily="34" charset="-122"/>
                <a:cs typeface="Calibri" pitchFamily="34" charset="-120"/>
              </a:rPr>
              <a:t>Bir komut yazdığınızda kim ne yapar; komutlar sistem çağrısına dönüşür.</a:t>
            </a:r>
            <a:endParaRPr lang="tr-TR" sz="1400" dirty="0"/>
          </a:p>
        </p:txBody>
      </p:sp>
      <p:sp>
        <p:nvSpPr>
          <p:cNvPr id="14" name="Shape 12"/>
          <p:cNvSpPr/>
          <p:nvPr/>
        </p:nvSpPr>
        <p:spPr>
          <a:xfrm>
            <a:off x="548640" y="3081528"/>
            <a:ext cx="658368" cy="658368"/>
          </a:xfrm>
          <a:prstGeom prst="roundRect">
            <a:avLst>
              <a:gd name="adj" fmla="val 6944"/>
            </a:avLst>
          </a:prstGeom>
          <a:solidFill>
            <a:srgbClr val="02C39A"/>
          </a:solidFill>
          <a:ln/>
        </p:spPr>
      </p:sp>
      <p:sp>
        <p:nvSpPr>
          <p:cNvPr id="15" name="Text 13"/>
          <p:cNvSpPr txBox="1"/>
          <p:nvPr/>
        </p:nvSpPr>
        <p:spPr>
          <a:xfrm>
            <a:off x="548640" y="3081528"/>
            <a:ext cx="658368" cy="65836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3</a:t>
            </a:r>
            <a:endParaRPr lang="tr-TR" sz="2000" dirty="0"/>
          </a:p>
        </p:txBody>
      </p:sp>
      <p:sp>
        <p:nvSpPr>
          <p:cNvPr id="16" name="Shape 14"/>
          <p:cNvSpPr/>
          <p:nvPr/>
        </p:nvSpPr>
        <p:spPr>
          <a:xfrm>
            <a:off x="1371600" y="3081528"/>
            <a:ext cx="10287000" cy="658368"/>
          </a:xfrm>
          <a:prstGeom prst="roundRect">
            <a:avLst>
              <a:gd name="adj" fmla="val 6944"/>
            </a:avLst>
          </a:prstGeom>
          <a:solidFill>
            <a:srgbClr val="F2F2F2"/>
          </a:solidFill>
          <a:ln/>
        </p:spPr>
      </p:sp>
      <p:sp>
        <p:nvSpPr>
          <p:cNvPr id="17" name="Text 15"/>
          <p:cNvSpPr txBox="1"/>
          <p:nvPr/>
        </p:nvSpPr>
        <p:spPr>
          <a:xfrm>
            <a:off x="1645920" y="3081528"/>
            <a:ext cx="9875520" cy="658368"/>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İlk komutlar   </a:t>
            </a:r>
            <a:r>
              <a:rPr lang="tr-TR" sz="1500" dirty="0">
                <a:solidFill>
                  <a:srgbClr val="3A464C"/>
                </a:solidFill>
                <a:latin typeface="Calibri" pitchFamily="34" charset="0"/>
                <a:ea typeface="Calibri" pitchFamily="34" charset="-122"/>
                <a:cs typeface="Calibri" pitchFamily="34" charset="-120"/>
              </a:rPr>
              <a:t>İstem, komutun anatomisi, whoami, date, echo, uname.</a:t>
            </a:r>
            <a:endParaRPr lang="tr-TR" sz="1400" dirty="0"/>
          </a:p>
        </p:txBody>
      </p:sp>
      <p:sp>
        <p:nvSpPr>
          <p:cNvPr id="18" name="Shape 16"/>
          <p:cNvSpPr/>
          <p:nvPr/>
        </p:nvSpPr>
        <p:spPr>
          <a:xfrm>
            <a:off x="548640" y="3867912"/>
            <a:ext cx="658368" cy="658368"/>
          </a:xfrm>
          <a:prstGeom prst="roundRect">
            <a:avLst>
              <a:gd name="adj" fmla="val 6944"/>
            </a:avLst>
          </a:prstGeom>
          <a:solidFill>
            <a:srgbClr val="02C39A"/>
          </a:solidFill>
          <a:ln/>
        </p:spPr>
      </p:sp>
      <p:sp>
        <p:nvSpPr>
          <p:cNvPr id="19" name="Text 17"/>
          <p:cNvSpPr txBox="1"/>
          <p:nvPr/>
        </p:nvSpPr>
        <p:spPr>
          <a:xfrm>
            <a:off x="548640" y="3867912"/>
            <a:ext cx="658368" cy="65836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4</a:t>
            </a:r>
            <a:endParaRPr lang="tr-TR" sz="2000" dirty="0"/>
          </a:p>
        </p:txBody>
      </p:sp>
      <p:sp>
        <p:nvSpPr>
          <p:cNvPr id="20" name="Shape 18"/>
          <p:cNvSpPr/>
          <p:nvPr/>
        </p:nvSpPr>
        <p:spPr>
          <a:xfrm>
            <a:off x="1371600" y="3867912"/>
            <a:ext cx="10287000" cy="658368"/>
          </a:xfrm>
          <a:prstGeom prst="roundRect">
            <a:avLst>
              <a:gd name="adj" fmla="val 6944"/>
            </a:avLst>
          </a:prstGeom>
          <a:solidFill>
            <a:srgbClr val="F2F2F2"/>
          </a:solidFill>
          <a:ln/>
        </p:spPr>
      </p:sp>
      <p:sp>
        <p:nvSpPr>
          <p:cNvPr id="21" name="Text 19"/>
          <p:cNvSpPr txBox="1"/>
          <p:nvPr/>
        </p:nvSpPr>
        <p:spPr>
          <a:xfrm>
            <a:off x="1645920" y="3867912"/>
            <a:ext cx="9875520" cy="658368"/>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Etrafa bakmak   </a:t>
            </a:r>
            <a:r>
              <a:rPr lang="tr-TR" sz="1500" dirty="0">
                <a:solidFill>
                  <a:srgbClr val="3A464C"/>
                </a:solidFill>
                <a:latin typeface="Calibri" pitchFamily="34" charset="0"/>
                <a:ea typeface="Calibri" pitchFamily="34" charset="-122"/>
                <a:cs typeface="Calibri" pitchFamily="34" charset="-120"/>
              </a:rPr>
              <a:t>pwd ve ls; ls -l çıktısını satır satır okumak.</a:t>
            </a:r>
            <a:endParaRPr lang="tr-TR" sz="1400" dirty="0"/>
          </a:p>
        </p:txBody>
      </p:sp>
      <p:sp>
        <p:nvSpPr>
          <p:cNvPr id="22" name="Shape 20"/>
          <p:cNvSpPr/>
          <p:nvPr/>
        </p:nvSpPr>
        <p:spPr>
          <a:xfrm>
            <a:off x="548640" y="4654296"/>
            <a:ext cx="658368" cy="658368"/>
          </a:xfrm>
          <a:prstGeom prst="roundRect">
            <a:avLst>
              <a:gd name="adj" fmla="val 6944"/>
            </a:avLst>
          </a:prstGeom>
          <a:solidFill>
            <a:srgbClr val="02C39A"/>
          </a:solidFill>
          <a:ln/>
        </p:spPr>
      </p:sp>
      <p:sp>
        <p:nvSpPr>
          <p:cNvPr id="23" name="Text 21"/>
          <p:cNvSpPr txBox="1"/>
          <p:nvPr/>
        </p:nvSpPr>
        <p:spPr>
          <a:xfrm>
            <a:off x="548640" y="4654296"/>
            <a:ext cx="658368" cy="65836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5</a:t>
            </a:r>
            <a:endParaRPr lang="tr-TR" sz="2000" dirty="0"/>
          </a:p>
        </p:txBody>
      </p:sp>
      <p:sp>
        <p:nvSpPr>
          <p:cNvPr id="24" name="Shape 22"/>
          <p:cNvSpPr/>
          <p:nvPr/>
        </p:nvSpPr>
        <p:spPr>
          <a:xfrm>
            <a:off x="1371600" y="4654296"/>
            <a:ext cx="10287000" cy="658368"/>
          </a:xfrm>
          <a:prstGeom prst="roundRect">
            <a:avLst>
              <a:gd name="adj" fmla="val 6944"/>
            </a:avLst>
          </a:prstGeom>
          <a:solidFill>
            <a:srgbClr val="F2F2F2"/>
          </a:solidFill>
          <a:ln/>
        </p:spPr>
      </p:sp>
      <p:sp>
        <p:nvSpPr>
          <p:cNvPr id="25" name="Text 23"/>
          <p:cNvSpPr txBox="1"/>
          <p:nvPr/>
        </p:nvSpPr>
        <p:spPr>
          <a:xfrm>
            <a:off x="1645920" y="4654296"/>
            <a:ext cx="9875520" cy="658368"/>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Dolaşmak   </a:t>
            </a:r>
            <a:r>
              <a:rPr lang="tr-TR" sz="1500" dirty="0">
                <a:solidFill>
                  <a:srgbClr val="3A464C"/>
                </a:solidFill>
                <a:latin typeface="Calibri" pitchFamily="34" charset="0"/>
                <a:ea typeface="Calibri" pitchFamily="34" charset="-122"/>
                <a:cs typeface="Calibri" pitchFamily="34" charset="-120"/>
              </a:rPr>
              <a:t>Linux dizin ağacı (FHS), cd, mutlak ve göreli yollar.</a:t>
            </a:r>
            <a:endParaRPr lang="tr-TR" sz="1400" dirty="0"/>
          </a:p>
        </p:txBody>
      </p:sp>
      <p:sp>
        <p:nvSpPr>
          <p:cNvPr id="26" name="Shape 24"/>
          <p:cNvSpPr/>
          <p:nvPr/>
        </p:nvSpPr>
        <p:spPr>
          <a:xfrm>
            <a:off x="548640" y="5440680"/>
            <a:ext cx="658368" cy="658368"/>
          </a:xfrm>
          <a:prstGeom prst="roundRect">
            <a:avLst>
              <a:gd name="adj" fmla="val 6944"/>
            </a:avLst>
          </a:prstGeom>
          <a:solidFill>
            <a:srgbClr val="02C39A"/>
          </a:solidFill>
          <a:ln/>
        </p:spPr>
      </p:sp>
      <p:sp>
        <p:nvSpPr>
          <p:cNvPr id="27" name="Text 25"/>
          <p:cNvSpPr txBox="1"/>
          <p:nvPr/>
        </p:nvSpPr>
        <p:spPr>
          <a:xfrm>
            <a:off x="548640" y="5440680"/>
            <a:ext cx="658368" cy="65836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6</a:t>
            </a:r>
            <a:endParaRPr lang="tr-TR" sz="2000" dirty="0"/>
          </a:p>
        </p:txBody>
      </p:sp>
      <p:sp>
        <p:nvSpPr>
          <p:cNvPr id="28" name="Shape 26"/>
          <p:cNvSpPr/>
          <p:nvPr/>
        </p:nvSpPr>
        <p:spPr>
          <a:xfrm>
            <a:off x="1371600" y="5440680"/>
            <a:ext cx="10287000" cy="658368"/>
          </a:xfrm>
          <a:prstGeom prst="roundRect">
            <a:avLst>
              <a:gd name="adj" fmla="val 6944"/>
            </a:avLst>
          </a:prstGeom>
          <a:solidFill>
            <a:srgbClr val="F2F2F2"/>
          </a:solidFill>
          <a:ln/>
        </p:spPr>
      </p:sp>
      <p:sp>
        <p:nvSpPr>
          <p:cNvPr id="29" name="Text 27"/>
          <p:cNvSpPr txBox="1"/>
          <p:nvPr/>
        </p:nvSpPr>
        <p:spPr>
          <a:xfrm>
            <a:off x="1645920" y="5440680"/>
            <a:ext cx="9875520" cy="658368"/>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Akıllı çalışma + lab   </a:t>
            </a:r>
            <a:r>
              <a:rPr lang="tr-TR" sz="1500" dirty="0">
                <a:solidFill>
                  <a:srgbClr val="3A464C"/>
                </a:solidFill>
                <a:latin typeface="Calibri" pitchFamily="34" charset="0"/>
                <a:ea typeface="Calibri" pitchFamily="34" charset="-122"/>
                <a:cs typeface="Calibri" pitchFamily="34" charset="-120"/>
              </a:rPr>
              <a:t>Yardım, sekme tamamlama, geçmiş, kısayollar — ardından hazine avı.</a:t>
            </a:r>
            <a:endParaRPr lang="tr-TR"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BÖLÜM 1</a:t>
            </a:r>
            <a:endParaRPr lang="tr-TR"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Linux Terminaline Ulaşmak</a:t>
            </a:r>
            <a:endParaRPr lang="tr-TR"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tr-TR" sz="1600" i="1" dirty="0">
                <a:solidFill>
                  <a:srgbClr val="F2F2F2"/>
                </a:solidFill>
                <a:latin typeface="Calibri" pitchFamily="34" charset="0"/>
                <a:ea typeface="Calibri" pitchFamily="34" charset="-122"/>
                <a:cs typeface="Calibri" pitchFamily="34" charset="-120"/>
              </a:rPr>
              <a:t>Önünüzde bir Linux kabuğu olmasının üç yolu — bugün birini seçin.</a:t>
            </a:r>
            <a:endParaRPr lang="tr-TR"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9  ·  4</a:t>
            </a:r>
            <a:endParaRPr lang="tr-TR"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LİNUX'A ULAŞMAK</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Bir Linux Kabuğuna Ulaşmanın Üç Yolu</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9  ·  5</a:t>
            </a:r>
            <a:endParaRPr lang="tr-TR" sz="900" dirty="0"/>
          </a:p>
        </p:txBody>
      </p:sp>
      <p:sp>
        <p:nvSpPr>
          <p:cNvPr id="6" name="Shape 4"/>
          <p:cNvSpPr/>
          <p:nvPr/>
        </p:nvSpPr>
        <p:spPr>
          <a:xfrm>
            <a:off x="548640" y="1508760"/>
            <a:ext cx="3550920" cy="3749040"/>
          </a:xfrm>
          <a:prstGeom prst="roundRect">
            <a:avLst>
              <a:gd name="adj" fmla="val 1545"/>
            </a:avLst>
          </a:prstGeom>
          <a:solidFill>
            <a:srgbClr val="F2F2F2"/>
          </a:solidFill>
          <a:ln/>
          <a:effectLst>
            <a:outerShdw sx="100000" sy="100000" kx="0" ky="0" algn="bl" rotWithShape="0" blurRad="101600" dist="25400" dir="5400000">
              <a:srgbClr val="000000">
                <a:alpha val="12000"/>
              </a:srgbClr>
            </a:outerShdw>
          </a:effectLst>
        </p:spPr>
      </p:sp>
      <p:sp>
        <p:nvSpPr>
          <p:cNvPr id="7" name="Text 5"/>
          <p:cNvSpPr txBox="1"/>
          <p:nvPr/>
        </p:nvSpPr>
        <p:spPr>
          <a:xfrm>
            <a:off x="777240" y="169164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1 · Laboratuvar bilgisayarları</a:t>
            </a:r>
            <a:endParaRPr lang="tr-TR" sz="1600" dirty="0"/>
          </a:p>
        </p:txBody>
      </p:sp>
      <p:sp>
        <p:nvSpPr>
          <p:cNvPr id="8" name="Text 6"/>
          <p:cNvSpPr txBox="1"/>
          <p:nvPr/>
        </p:nvSpPr>
        <p:spPr>
          <a:xfrm>
            <a:off x="777240" y="2148840"/>
            <a:ext cx="3093720" cy="297180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Kurulu hâlde gelir: oturum açın ve Terminal'i başlatın.</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[Derslik, oturum bilgisi ve sistem: öğretim üyesi tarafından teyit edilecek]</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Kurulum gerekmez — ama dosyalarınız o bilgisayarda kalır.</a:t>
            </a:r>
            <a:endParaRPr lang="tr-TR" sz="1400" dirty="0"/>
          </a:p>
        </p:txBody>
      </p:sp>
      <p:sp>
        <p:nvSpPr>
          <p:cNvPr id="9" name="Shape 7"/>
          <p:cNvSpPr/>
          <p:nvPr/>
        </p:nvSpPr>
        <p:spPr>
          <a:xfrm>
            <a:off x="4328160" y="1508760"/>
            <a:ext cx="3550920" cy="3749040"/>
          </a:xfrm>
          <a:prstGeom prst="roundRect">
            <a:avLst>
              <a:gd name="adj" fmla="val 1545"/>
            </a:avLst>
          </a:prstGeom>
          <a:solidFill>
            <a:srgbClr val="F2F2F2"/>
          </a:solidFill>
          <a:ln/>
          <a:effectLst>
            <a:outerShdw sx="100000" sy="100000" kx="0" ky="0" algn="bl" rotWithShape="0" blurRad="101600" dist="25400" dir="5400000">
              <a:srgbClr val="000000">
                <a:alpha val="12000"/>
              </a:srgbClr>
            </a:outerShdw>
          </a:effectLst>
        </p:spPr>
      </p:sp>
      <p:sp>
        <p:nvSpPr>
          <p:cNvPr id="10" name="Text 8"/>
          <p:cNvSpPr txBox="1"/>
          <p:nvPr/>
        </p:nvSpPr>
        <p:spPr>
          <a:xfrm>
            <a:off x="4556760" y="169164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2 · WSL (Windows 10/11)</a:t>
            </a:r>
            <a:endParaRPr lang="tr-TR" sz="1600" dirty="0"/>
          </a:p>
        </p:txBody>
      </p:sp>
      <p:sp>
        <p:nvSpPr>
          <p:cNvPr id="11" name="Text 9"/>
          <p:cNvSpPr txBox="1"/>
          <p:nvPr/>
        </p:nvSpPr>
        <p:spPr>
          <a:xfrm>
            <a:off x="4556760" y="2148840"/>
            <a:ext cx="3093720" cy="297180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Linux için Windows Alt Sistemi: Windows içinde gerçek bir Linux çekirdeği ve Ubuntu.</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Tek komut: wsl --install</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Windows dizüstüleri için önerilir: hızlı, hafif, geçiş için yeniden başlatma yok.</a:t>
            </a:r>
            <a:endParaRPr lang="tr-TR" sz="1400" dirty="0"/>
          </a:p>
        </p:txBody>
      </p:sp>
      <p:sp>
        <p:nvSpPr>
          <p:cNvPr id="12" name="Shape 10"/>
          <p:cNvSpPr/>
          <p:nvPr/>
        </p:nvSpPr>
        <p:spPr>
          <a:xfrm>
            <a:off x="8107680" y="1508760"/>
            <a:ext cx="3550920" cy="3749040"/>
          </a:xfrm>
          <a:prstGeom prst="roundRect">
            <a:avLst>
              <a:gd name="adj" fmla="val 1545"/>
            </a:avLst>
          </a:prstGeom>
          <a:solidFill>
            <a:srgbClr val="F2F2F2"/>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8336280" y="169164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3 · VirtualBox + Ubuntu</a:t>
            </a:r>
            <a:endParaRPr lang="tr-TR" sz="1600" dirty="0"/>
          </a:p>
        </p:txBody>
      </p:sp>
      <p:sp>
        <p:nvSpPr>
          <p:cNvPr id="14" name="Text 12"/>
          <p:cNvSpPr txBox="1"/>
          <p:nvPr/>
        </p:nvSpPr>
        <p:spPr>
          <a:xfrm>
            <a:off x="8336280" y="2148840"/>
            <a:ext cx="3093720" cy="297180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Bir pencerede çalışan, masaüstüyle birlikte eksiksiz bir Ubuntu bilgisayar.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Sanal makine için yaklaşık 4 GB RAM ve 25 GB disk gerekir.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Windows'ta ve Intel Mac'lerde çalışır; kurulumu da öğrenirsiniz.</a:t>
            </a:r>
            <a:endParaRPr lang="tr-TR" sz="1400" dirty="0"/>
          </a:p>
        </p:txBody>
      </p:sp>
      <p:sp>
        <p:nvSpPr>
          <p:cNvPr id="15" name="Shape 13"/>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16" name="Text 14"/>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Üçü de olur: komutlar aynıdır. Sizin makinenizdeki çıktılar (tarihler, boyutlar, kullanıcı adları, PID'ler) slaytlardakinden farklı olacaktır.</a:t>
            </a:r>
            <a:endParaRPr lang="tr-TR"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LİNUX'A ULAŞMAK · WSL</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WSL: Dört Adımda Windows İçinde Ubuntu</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9  ·  6</a:t>
            </a:r>
            <a:endParaRPr lang="tr-TR" sz="900" dirty="0"/>
          </a:p>
        </p:txBody>
      </p:sp>
      <p:sp>
        <p:nvSpPr>
          <p:cNvPr id="6" name="Shape 4"/>
          <p:cNvSpPr/>
          <p:nvPr/>
        </p:nvSpPr>
        <p:spPr>
          <a:xfrm>
            <a:off x="548640" y="1508760"/>
            <a:ext cx="6035040" cy="2743200"/>
          </a:xfrm>
          <a:prstGeom prst="roundRect">
            <a:avLst>
              <a:gd name="adj" fmla="val 1667"/>
            </a:avLst>
          </a:prstGeom>
          <a:solidFill>
            <a:srgbClr val="212121"/>
          </a:solidFill>
          <a:ln/>
        </p:spPr>
      </p:sp>
      <p:sp>
        <p:nvSpPr>
          <p:cNvPr id="7" name="Text 5"/>
          <p:cNvSpPr txBox="1"/>
          <p:nvPr/>
        </p:nvSpPr>
        <p:spPr>
          <a:xfrm>
            <a:off x="731520" y="1618488"/>
            <a:ext cx="5669280" cy="2523744"/>
          </a:xfrm>
          <a:prstGeom prst="rect">
            <a:avLst/>
          </a:prstGeom>
          <a:noFill/>
          <a:ln/>
        </p:spPr>
        <p:txBody>
          <a:bodyPr wrap="square" lIns="0" tIns="0" rIns="0" bIns="0" rtlCol="0" anchor="t"/>
          <a:lstStyle/>
          <a:p>
            <a:pPr indent="0" marL="0">
              <a:lnSpc>
                <a:spcPct val="100000"/>
              </a:lnSpc>
              <a:buNone/>
            </a:pPr>
            <a:r>
              <a:rPr lang="tr-TR" sz="1300" dirty="0">
                <a:solidFill>
                  <a:srgbClr val="8A9AA0"/>
                </a:solidFill>
                <a:latin typeface="Consolas" pitchFamily="34" charset="0"/>
                <a:ea typeface="Consolas" pitchFamily="34" charset="-122"/>
                <a:cs typeface="Consolas" pitchFamily="34" charset="-120"/>
              </a:rPr>
              <a:t># 1. PowerShell'i "Yönetici olarak çalıştır"</a:t>
            </a:r>
            <a:endParaRPr lang="tr-TR" sz="1300" dirty="0"/>
          </a:p>
          <a:p>
            <a:pPr indent="0" marL="0">
              <a:lnSpc>
                <a:spcPct val="100000"/>
              </a:lnSpc>
              <a:buNone/>
            </a:pPr>
            <a:r>
              <a:rPr lang="tr-TR" sz="1300" dirty="0">
                <a:solidFill>
                  <a:srgbClr val="02C39A"/>
                </a:solidFill>
                <a:latin typeface="Consolas" pitchFamily="34" charset="0"/>
                <a:ea typeface="Consolas" pitchFamily="34" charset="-122"/>
                <a:cs typeface="Consolas" pitchFamily="34" charset="-120"/>
              </a:rPr>
              <a:t>PS C:\Windows\system32&gt; </a:t>
            </a:r>
            <a:r>
              <a:rPr lang="tr-TR" sz="1300" b="1" dirty="0">
                <a:solidFill>
                  <a:srgbClr val="FFFFFF"/>
                </a:solidFill>
                <a:latin typeface="Consolas" pitchFamily="34" charset="0"/>
                <a:ea typeface="Consolas" pitchFamily="34" charset="-122"/>
                <a:cs typeface="Consolas" pitchFamily="34" charset="-120"/>
              </a:rPr>
              <a:t>wsl --install</a:t>
            </a:r>
            <a:endParaRPr lang="tr-TR" sz="1300" dirty="0"/>
          </a:p>
          <a:p>
            <a:pPr indent="0" marL="0">
              <a:lnSpc>
                <a:spcPct val="100000"/>
              </a:lnSpc>
              <a:buNone/>
            </a:pPr>
            <a:r>
              <a:rPr lang="tr-TR" sz="1300" dirty="0">
                <a:solidFill>
                  <a:srgbClr val="8A9AA0"/>
                </a:solidFill>
                <a:latin typeface="Consolas" pitchFamily="34" charset="0"/>
                <a:ea typeface="Consolas" pitchFamily="34" charset="-122"/>
                <a:cs typeface="Consolas" pitchFamily="34" charset="-120"/>
              </a:rPr>
              <a:t># ... WSL'yi ve Ubuntu'yu indirir, sonra</a:t>
            </a:r>
            <a:endParaRPr lang="tr-TR" sz="1300" dirty="0"/>
          </a:p>
          <a:p>
            <a:pPr indent="0" marL="0">
              <a:lnSpc>
                <a:spcPct val="100000"/>
              </a:lnSpc>
              <a:buNone/>
            </a:pPr>
            <a:r>
              <a:rPr lang="tr-TR" sz="1300" dirty="0">
                <a:solidFill>
                  <a:srgbClr val="8A9AA0"/>
                </a:solidFill>
                <a:latin typeface="Consolas" pitchFamily="34" charset="0"/>
                <a:ea typeface="Consolas" pitchFamily="34" charset="-122"/>
                <a:cs typeface="Consolas" pitchFamily="34" charset="-120"/>
              </a:rPr>
              <a:t>#     Windows'u yeniden başlatmanızı ister</a:t>
            </a:r>
            <a:endParaRPr lang="tr-TR" sz="1300" dirty="0"/>
          </a:p>
          <a:p>
            <a:pPr indent="0" marL="0">
              <a:lnSpc>
                <a:spcPct val="100000"/>
              </a:lnSpc>
              <a:buNone/>
            </a:pPr>
            <a:r>
              <a:rPr lang="tr-TR" sz="1300" dirty="0">
                <a:solidFill>
                  <a:srgbClr val="F2F2F2"/>
                </a:solidFill>
                <a:latin typeface="Consolas" pitchFamily="34" charset="0"/>
                <a:ea typeface="Consolas" pitchFamily="34" charset="-122"/>
                <a:cs typeface="Consolas" pitchFamily="34" charset="-120"/>
              </a:rPr>
              <a:t> </a:t>
            </a:r>
            <a:endParaRPr lang="tr-TR" sz="1300" dirty="0"/>
          </a:p>
          <a:p>
            <a:pPr indent="0" marL="0">
              <a:lnSpc>
                <a:spcPct val="100000"/>
              </a:lnSpc>
              <a:buNone/>
            </a:pPr>
            <a:r>
              <a:rPr lang="tr-TR" sz="1300" dirty="0">
                <a:solidFill>
                  <a:srgbClr val="8A9AA0"/>
                </a:solidFill>
                <a:latin typeface="Consolas" pitchFamily="34" charset="0"/>
                <a:ea typeface="Consolas" pitchFamily="34" charset="-122"/>
                <a:cs typeface="Consolas" pitchFamily="34" charset="-120"/>
              </a:rPr>
              <a:t># yeniden başlattıktan sonra: neler kurulu?</a:t>
            </a:r>
            <a:endParaRPr lang="tr-TR" sz="1300" dirty="0"/>
          </a:p>
          <a:p>
            <a:pPr indent="0" marL="0">
              <a:lnSpc>
                <a:spcPct val="100000"/>
              </a:lnSpc>
              <a:buNone/>
            </a:pPr>
            <a:r>
              <a:rPr lang="tr-TR" sz="1300" dirty="0">
                <a:solidFill>
                  <a:srgbClr val="02C39A"/>
                </a:solidFill>
                <a:latin typeface="Consolas" pitchFamily="34" charset="0"/>
                <a:ea typeface="Consolas" pitchFamily="34" charset="-122"/>
                <a:cs typeface="Consolas" pitchFamily="34" charset="-120"/>
              </a:rPr>
              <a:t>PS C:\Users\ayse&gt; </a:t>
            </a:r>
            <a:r>
              <a:rPr lang="tr-TR" sz="1300" b="1" dirty="0">
                <a:solidFill>
                  <a:srgbClr val="FFFFFF"/>
                </a:solidFill>
                <a:latin typeface="Consolas" pitchFamily="34" charset="0"/>
                <a:ea typeface="Consolas" pitchFamily="34" charset="-122"/>
                <a:cs typeface="Consolas" pitchFamily="34" charset="-120"/>
              </a:rPr>
              <a:t>wsl -l -v</a:t>
            </a:r>
            <a:endParaRPr lang="tr-TR" sz="1300" dirty="0"/>
          </a:p>
        </p:txBody>
      </p:sp>
      <p:sp>
        <p:nvSpPr>
          <p:cNvPr id="8" name="Shape 6"/>
          <p:cNvSpPr/>
          <p:nvPr/>
        </p:nvSpPr>
        <p:spPr>
          <a:xfrm>
            <a:off x="548640" y="4434840"/>
            <a:ext cx="6035040" cy="1828800"/>
          </a:xfrm>
          <a:prstGeom prst="roundRect">
            <a:avLst>
              <a:gd name="adj" fmla="val 3000"/>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777240" y="4617720"/>
            <a:ext cx="55778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Gereksinimler ve sorunlar</a:t>
            </a:r>
            <a:endParaRPr lang="tr-TR" sz="1500" dirty="0"/>
          </a:p>
        </p:txBody>
      </p:sp>
      <p:sp>
        <p:nvSpPr>
          <p:cNvPr id="10" name="Text 8"/>
          <p:cNvSpPr txBox="1"/>
          <p:nvPr/>
        </p:nvSpPr>
        <p:spPr>
          <a:xfrm>
            <a:off x="777240" y="5074920"/>
            <a:ext cx="5577840" cy="105156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Windows 10 sürüm 2004 (derleme 19041) ya da daha yenisi veya Windows 11.</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Sanallaştırma hatası mı? BIOS/UEFI'de açın (Intel VT-x / AMD-V).</a:t>
            </a:r>
            <a:endParaRPr lang="tr-TR" sz="1350" dirty="0"/>
          </a:p>
        </p:txBody>
      </p:sp>
      <p:sp>
        <p:nvSpPr>
          <p:cNvPr id="11" name="Shape 9"/>
          <p:cNvSpPr/>
          <p:nvPr/>
        </p:nvSpPr>
        <p:spPr>
          <a:xfrm>
            <a:off x="6812280" y="1508760"/>
            <a:ext cx="4846320" cy="4754880"/>
          </a:xfrm>
          <a:prstGeom prst="roundRect">
            <a:avLst>
              <a:gd name="adj" fmla="val 1154"/>
            </a:avLst>
          </a:prstGeom>
          <a:solidFill>
            <a:srgbClr val="F2F2F2"/>
          </a:solidFill>
          <a:ln/>
          <a:effectLst>
            <a:outerShdw sx="100000" sy="100000" kx="0" ky="0" algn="bl" rotWithShape="0" blurRad="101600" dist="25400" dir="5400000">
              <a:srgbClr val="000000">
                <a:alpha val="12000"/>
              </a:srgbClr>
            </a:outerShdw>
          </a:effectLst>
        </p:spPr>
      </p:sp>
      <p:sp>
        <p:nvSpPr>
          <p:cNvPr id="12" name="Text 10"/>
          <p:cNvSpPr txBox="1"/>
          <p:nvPr/>
        </p:nvSpPr>
        <p:spPr>
          <a:xfrm>
            <a:off x="7040880" y="1691640"/>
            <a:ext cx="438912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Adım adım</a:t>
            </a:r>
            <a:endParaRPr lang="tr-TR" sz="1500" dirty="0"/>
          </a:p>
        </p:txBody>
      </p:sp>
      <p:sp>
        <p:nvSpPr>
          <p:cNvPr id="13" name="Text 11"/>
          <p:cNvSpPr txBox="1"/>
          <p:nvPr/>
        </p:nvSpPr>
        <p:spPr>
          <a:xfrm>
            <a:off x="7040880" y="2148840"/>
            <a:ext cx="4389120" cy="3977640"/>
          </a:xfrm>
          <a:prstGeom prst="rect">
            <a:avLst/>
          </a:prstGeom>
          <a:noFill/>
          <a:ln/>
        </p:spPr>
        <p:txBody>
          <a:bodyPr wrap="square" lIns="0" tIns="0" rIns="0" bIns="0" rtlCol="0" anchor="t"/>
          <a:lstStyle/>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1 · Kurun:</a:t>
            </a:r>
            <a:r>
              <a:rPr lang="tr-TR" sz="1350" dirty="0">
                <a:solidFill>
                  <a:srgbClr val="3A464C"/>
                </a:solidFill>
                <a:latin typeface="Calibri" pitchFamily="34" charset="0"/>
                <a:ea typeface="Calibri" pitchFamily="34" charset="-122"/>
                <a:cs typeface="Calibri" pitchFamily="34" charset="-120"/>
              </a:rPr>
              <a:t> Başlat'a sağ tıklayın → Terminal (Yönetici) ya da PowerShell (Yönetici); wsl --install yazın.</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2 · Yeniden başlatın:</a:t>
            </a:r>
            <a:r>
              <a:rPr lang="tr-TR" sz="1350" dirty="0">
                <a:solidFill>
                  <a:srgbClr val="3A464C"/>
                </a:solidFill>
                <a:latin typeface="Calibri" pitchFamily="34" charset="0"/>
                <a:ea typeface="Calibri" pitchFamily="34" charset="-122"/>
                <a:cs typeface="Calibri" pitchFamily="34" charset="-120"/>
              </a:rPr>
              <a:t> Windows isteyince.</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3 · İlk açılış:</a:t>
            </a:r>
            <a:r>
              <a:rPr lang="tr-TR" sz="1350" dirty="0">
                <a:solidFill>
                  <a:srgbClr val="3A464C"/>
                </a:solidFill>
                <a:latin typeface="Calibri" pitchFamily="34" charset="0"/>
                <a:ea typeface="Calibri" pitchFamily="34" charset="-122"/>
                <a:cs typeface="Calibri" pitchFamily="34" charset="-120"/>
              </a:rPr>
              <a:t> Başlat menüsünden "Ubuntu"yu açın; bir Linux kullanıcı adı ve parola seçin. Parola yazılırken ekranda görünmez — bu normaldir.</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4 · Kullanın:</a:t>
            </a:r>
            <a:r>
              <a:rPr lang="tr-TR" sz="1350" dirty="0">
                <a:solidFill>
                  <a:srgbClr val="3A464C"/>
                </a:solidFill>
                <a:latin typeface="Calibri" pitchFamily="34" charset="0"/>
                <a:ea typeface="Calibri" pitchFamily="34" charset="-122"/>
                <a:cs typeface="Calibri" pitchFamily="34" charset="-120"/>
              </a:rPr>
              <a:t> kabuğa ihtiyaç duyduğunuzda Ubuntu'yu açın (ya da wsl yazın).</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İpucu:</a:t>
            </a:r>
            <a:r>
              <a:rPr lang="tr-TR" sz="1350" dirty="0">
                <a:solidFill>
                  <a:srgbClr val="3A464C"/>
                </a:solidFill>
                <a:latin typeface="Calibri" pitchFamily="34" charset="0"/>
                <a:ea typeface="Calibri" pitchFamily="34" charset="-122"/>
                <a:cs typeface="Calibri" pitchFamily="34" charset="-120"/>
              </a:rPr>
              <a:t> Windows C: sürücünüz Linux içinde /mnt/c'dir.</a:t>
            </a:r>
            <a:endParaRPr lang="tr-TR"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LİNUX'A ULAŞMAK · SANAL MAKİNE</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VirtualBox + Ubuntu: Bir Pencerede Bütün Bir Linux PC</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9  ·  7</a:t>
            </a:r>
            <a:endParaRPr lang="tr-TR" sz="900" dirty="0"/>
          </a:p>
        </p:txBody>
      </p:sp>
      <p:sp>
        <p:nvSpPr>
          <p:cNvPr id="6" name="Shape 4"/>
          <p:cNvSpPr/>
          <p:nvPr/>
        </p:nvSpPr>
        <p:spPr>
          <a:xfrm>
            <a:off x="1394460" y="1554480"/>
            <a:ext cx="365760" cy="365760"/>
          </a:xfrm>
          <a:prstGeom prst="ellipse">
            <a:avLst/>
          </a:prstGeom>
          <a:solidFill>
            <a:srgbClr val="02C39A"/>
          </a:solidFill>
          <a:ln/>
        </p:spPr>
      </p:sp>
      <p:sp>
        <p:nvSpPr>
          <p:cNvPr id="7" name="Text 5"/>
          <p:cNvSpPr txBox="1"/>
          <p:nvPr/>
        </p:nvSpPr>
        <p:spPr>
          <a:xfrm>
            <a:off x="1394460" y="1554480"/>
            <a:ext cx="365760" cy="365760"/>
          </a:xfrm>
          <a:prstGeom prst="rect">
            <a:avLst/>
          </a:prstGeom>
          <a:noFill/>
          <a:ln/>
        </p:spPr>
        <p:txBody>
          <a:bodyPr wrap="square" lIns="0" tIns="0" rIns="0" bIns="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1</a:t>
            </a:r>
            <a:endParaRPr lang="tr-TR" sz="1300" dirty="0"/>
          </a:p>
        </p:txBody>
      </p:sp>
      <p:sp>
        <p:nvSpPr>
          <p:cNvPr id="8" name="Shape 6"/>
          <p:cNvSpPr/>
          <p:nvPr/>
        </p:nvSpPr>
        <p:spPr>
          <a:xfrm>
            <a:off x="548640" y="2057400"/>
            <a:ext cx="2057400" cy="2514600"/>
          </a:xfrm>
          <a:prstGeom prst="roundRect">
            <a:avLst>
              <a:gd name="adj" fmla="val 2667"/>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777240" y="2240280"/>
            <a:ext cx="16002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İndirin</a:t>
            </a:r>
            <a:endParaRPr lang="tr-TR" sz="1500" dirty="0"/>
          </a:p>
        </p:txBody>
      </p:sp>
      <p:sp>
        <p:nvSpPr>
          <p:cNvPr id="10" name="Text 8"/>
          <p:cNvSpPr txBox="1"/>
          <p:nvPr/>
        </p:nvSpPr>
        <p:spPr>
          <a:xfrm>
            <a:off x="777240" y="2697480"/>
            <a:ext cx="1600200" cy="1737360"/>
          </a:xfrm>
          <a:prstGeom prst="rect">
            <a:avLst/>
          </a:prstGeom>
          <a:noFill/>
          <a:ln/>
        </p:spPr>
        <p:txBody>
          <a:bodyPr wrap="square" lIns="0" tIns="0" rIns="0" bIns="0" rtlCol="0" anchor="t"/>
          <a:lstStyle/>
          <a:p>
            <a:pPr indent="0" marL="0">
              <a:spcAft>
                <a:spcPts val="400"/>
              </a:spcAft>
              <a:buNone/>
            </a:pPr>
            <a:r>
              <a:rPr lang="tr-TR" sz="1300" dirty="0">
                <a:solidFill>
                  <a:srgbClr val="3A464C"/>
                </a:solidFill>
                <a:latin typeface="Calibri" pitchFamily="34" charset="0"/>
                <a:ea typeface="Calibri" pitchFamily="34" charset="-122"/>
                <a:cs typeface="Calibri" pitchFamily="34" charset="-120"/>
              </a:rPr>
              <a:t>VirtualBox (virtualbox.org) ve Ubuntu Desktop 24.04 LTS ISO kalıbı (ubuntu.com/download/desktop).</a:t>
            </a:r>
            <a:endParaRPr lang="tr-TR" sz="1300" dirty="0"/>
          </a:p>
        </p:txBody>
      </p:sp>
      <p:sp>
        <p:nvSpPr>
          <p:cNvPr id="11" name="Shape 9"/>
          <p:cNvSpPr/>
          <p:nvPr/>
        </p:nvSpPr>
        <p:spPr>
          <a:xfrm>
            <a:off x="2615184" y="3291840"/>
            <a:ext cx="182880" cy="91"/>
          </a:xfrm>
          <a:prstGeom prst="line">
            <a:avLst/>
          </a:prstGeom>
          <a:noFill/>
          <a:ln w="19050">
            <a:solidFill>
              <a:srgbClr val="50808E"/>
            </a:solidFill>
            <a:prstDash val="solid"/>
            <a:tailEnd type="triangle"/>
          </a:ln>
        </p:spPr>
      </p:sp>
      <p:sp>
        <p:nvSpPr>
          <p:cNvPr id="12" name="Shape 10"/>
          <p:cNvSpPr/>
          <p:nvPr/>
        </p:nvSpPr>
        <p:spPr>
          <a:xfrm>
            <a:off x="3653028" y="1554480"/>
            <a:ext cx="365760" cy="365760"/>
          </a:xfrm>
          <a:prstGeom prst="ellipse">
            <a:avLst/>
          </a:prstGeom>
          <a:solidFill>
            <a:srgbClr val="02C39A"/>
          </a:solidFill>
          <a:ln/>
        </p:spPr>
      </p:sp>
      <p:sp>
        <p:nvSpPr>
          <p:cNvPr id="13" name="Text 11"/>
          <p:cNvSpPr txBox="1"/>
          <p:nvPr/>
        </p:nvSpPr>
        <p:spPr>
          <a:xfrm>
            <a:off x="3653028" y="1554480"/>
            <a:ext cx="365760" cy="365760"/>
          </a:xfrm>
          <a:prstGeom prst="rect">
            <a:avLst/>
          </a:prstGeom>
          <a:noFill/>
          <a:ln/>
        </p:spPr>
        <p:txBody>
          <a:bodyPr wrap="square" lIns="0" tIns="0" rIns="0" bIns="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2</a:t>
            </a:r>
            <a:endParaRPr lang="tr-TR" sz="1300" dirty="0"/>
          </a:p>
        </p:txBody>
      </p:sp>
      <p:sp>
        <p:nvSpPr>
          <p:cNvPr id="14" name="Shape 12"/>
          <p:cNvSpPr/>
          <p:nvPr/>
        </p:nvSpPr>
        <p:spPr>
          <a:xfrm>
            <a:off x="2807208" y="2057400"/>
            <a:ext cx="2057400" cy="2514600"/>
          </a:xfrm>
          <a:prstGeom prst="roundRect">
            <a:avLst>
              <a:gd name="adj" fmla="val 2667"/>
            </a:avLst>
          </a:prstGeom>
          <a:solidFill>
            <a:srgbClr val="F2F2F2"/>
          </a:solidFill>
          <a:ln/>
          <a:effectLst>
            <a:outerShdw sx="100000" sy="100000" kx="0" ky="0" algn="bl" rotWithShape="0" blurRad="101600" dist="25400" dir="5400000">
              <a:srgbClr val="000000">
                <a:alpha val="12000"/>
              </a:srgbClr>
            </a:outerShdw>
          </a:effectLst>
        </p:spPr>
      </p:sp>
      <p:sp>
        <p:nvSpPr>
          <p:cNvPr id="15" name="Text 13"/>
          <p:cNvSpPr txBox="1"/>
          <p:nvPr/>
        </p:nvSpPr>
        <p:spPr>
          <a:xfrm>
            <a:off x="3035808" y="2240280"/>
            <a:ext cx="16002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Makineyi oluşturun</a:t>
            </a:r>
            <a:endParaRPr lang="tr-TR" sz="1500" dirty="0"/>
          </a:p>
        </p:txBody>
      </p:sp>
      <p:sp>
        <p:nvSpPr>
          <p:cNvPr id="16" name="Text 14"/>
          <p:cNvSpPr txBox="1"/>
          <p:nvPr/>
        </p:nvSpPr>
        <p:spPr>
          <a:xfrm>
            <a:off x="3035808" y="2697480"/>
            <a:ext cx="1600200" cy="1737360"/>
          </a:xfrm>
          <a:prstGeom prst="rect">
            <a:avLst/>
          </a:prstGeom>
          <a:noFill/>
          <a:ln/>
        </p:spPr>
        <p:txBody>
          <a:bodyPr wrap="square" lIns="0" tIns="0" rIns="0" bIns="0" rtlCol="0" anchor="t"/>
          <a:lstStyle/>
          <a:p>
            <a:pPr indent="0" marL="0">
              <a:spcAft>
                <a:spcPts val="400"/>
              </a:spcAft>
              <a:buNone/>
            </a:pPr>
            <a:r>
              <a:rPr lang="tr-TR" sz="1300" dirty="0">
                <a:solidFill>
                  <a:srgbClr val="3A464C"/>
                </a:solidFill>
                <a:latin typeface="Calibri" pitchFamily="34" charset="0"/>
                <a:ea typeface="Calibri" pitchFamily="34" charset="-122"/>
                <a:cs typeface="Calibri" pitchFamily="34" charset="-120"/>
              </a:rPr>
              <a:t>New (Yeni) → ad "Ubuntu", ISO'yu seçin, tür Linux / Ubuntu (64-bit).</a:t>
            </a:r>
            <a:endParaRPr lang="tr-TR" sz="1300" dirty="0"/>
          </a:p>
        </p:txBody>
      </p:sp>
      <p:sp>
        <p:nvSpPr>
          <p:cNvPr id="17" name="Shape 15"/>
          <p:cNvSpPr/>
          <p:nvPr/>
        </p:nvSpPr>
        <p:spPr>
          <a:xfrm>
            <a:off x="4873752" y="3291840"/>
            <a:ext cx="182880" cy="91"/>
          </a:xfrm>
          <a:prstGeom prst="line">
            <a:avLst/>
          </a:prstGeom>
          <a:noFill/>
          <a:ln w="19050">
            <a:solidFill>
              <a:srgbClr val="50808E"/>
            </a:solidFill>
            <a:prstDash val="solid"/>
            <a:tailEnd type="triangle"/>
          </a:ln>
        </p:spPr>
      </p:sp>
      <p:sp>
        <p:nvSpPr>
          <p:cNvPr id="18" name="Shape 16"/>
          <p:cNvSpPr/>
          <p:nvPr/>
        </p:nvSpPr>
        <p:spPr>
          <a:xfrm>
            <a:off x="5911596" y="1554480"/>
            <a:ext cx="365760" cy="365760"/>
          </a:xfrm>
          <a:prstGeom prst="ellipse">
            <a:avLst/>
          </a:prstGeom>
          <a:solidFill>
            <a:srgbClr val="02C39A"/>
          </a:solidFill>
          <a:ln/>
        </p:spPr>
      </p:sp>
      <p:sp>
        <p:nvSpPr>
          <p:cNvPr id="19" name="Text 17"/>
          <p:cNvSpPr txBox="1"/>
          <p:nvPr/>
        </p:nvSpPr>
        <p:spPr>
          <a:xfrm>
            <a:off x="5911596" y="1554480"/>
            <a:ext cx="365760" cy="365760"/>
          </a:xfrm>
          <a:prstGeom prst="rect">
            <a:avLst/>
          </a:prstGeom>
          <a:noFill/>
          <a:ln/>
        </p:spPr>
        <p:txBody>
          <a:bodyPr wrap="square" lIns="0" tIns="0" rIns="0" bIns="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3</a:t>
            </a:r>
            <a:endParaRPr lang="tr-TR" sz="1300" dirty="0"/>
          </a:p>
        </p:txBody>
      </p:sp>
      <p:sp>
        <p:nvSpPr>
          <p:cNvPr id="20" name="Shape 18"/>
          <p:cNvSpPr/>
          <p:nvPr/>
        </p:nvSpPr>
        <p:spPr>
          <a:xfrm>
            <a:off x="5065776" y="2057400"/>
            <a:ext cx="2057400" cy="2514600"/>
          </a:xfrm>
          <a:prstGeom prst="roundRect">
            <a:avLst>
              <a:gd name="adj" fmla="val 2667"/>
            </a:avLst>
          </a:prstGeom>
          <a:solidFill>
            <a:srgbClr val="F2F2F2"/>
          </a:solidFill>
          <a:ln/>
          <a:effectLst>
            <a:outerShdw sx="100000" sy="100000" kx="0" ky="0" algn="bl" rotWithShape="0" blurRad="101600" dist="25400" dir="5400000">
              <a:srgbClr val="000000">
                <a:alpha val="12000"/>
              </a:srgbClr>
            </a:outerShdw>
          </a:effectLst>
        </p:spPr>
      </p:sp>
      <p:sp>
        <p:nvSpPr>
          <p:cNvPr id="21" name="Text 19"/>
          <p:cNvSpPr txBox="1"/>
          <p:nvPr/>
        </p:nvSpPr>
        <p:spPr>
          <a:xfrm>
            <a:off x="5294376" y="2240280"/>
            <a:ext cx="16002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Kaynaklar</a:t>
            </a:r>
            <a:endParaRPr lang="tr-TR" sz="1500" dirty="0"/>
          </a:p>
        </p:txBody>
      </p:sp>
      <p:sp>
        <p:nvSpPr>
          <p:cNvPr id="22" name="Text 20"/>
          <p:cNvSpPr txBox="1"/>
          <p:nvPr/>
        </p:nvSpPr>
        <p:spPr>
          <a:xfrm>
            <a:off x="5294376" y="2697480"/>
            <a:ext cx="1600200" cy="1737360"/>
          </a:xfrm>
          <a:prstGeom prst="rect">
            <a:avLst/>
          </a:prstGeom>
          <a:noFill/>
          <a:ln/>
        </p:spPr>
        <p:txBody>
          <a:bodyPr wrap="square" lIns="0" tIns="0" rIns="0" bIns="0" rtlCol="0" anchor="t"/>
          <a:lstStyle/>
          <a:p>
            <a:pPr indent="0" marL="0">
              <a:spcAft>
                <a:spcPts val="400"/>
              </a:spcAft>
              <a:buNone/>
            </a:pPr>
            <a:r>
              <a:rPr lang="tr-TR" sz="1300" dirty="0">
                <a:solidFill>
                  <a:srgbClr val="3A464C"/>
                </a:solidFill>
                <a:latin typeface="Calibri" pitchFamily="34" charset="0"/>
                <a:ea typeface="Calibri" pitchFamily="34" charset="-122"/>
                <a:cs typeface="Calibri" pitchFamily="34" charset="-120"/>
              </a:rPr>
              <a:t>Bellek 4096 MB, 2 işlemci, sanal disk 25 GB (dinamik olarak ayrılan).</a:t>
            </a:r>
            <a:endParaRPr lang="tr-TR" sz="1300" dirty="0"/>
          </a:p>
        </p:txBody>
      </p:sp>
      <p:sp>
        <p:nvSpPr>
          <p:cNvPr id="23" name="Shape 21"/>
          <p:cNvSpPr/>
          <p:nvPr/>
        </p:nvSpPr>
        <p:spPr>
          <a:xfrm>
            <a:off x="7132320" y="3291840"/>
            <a:ext cx="182880" cy="91"/>
          </a:xfrm>
          <a:prstGeom prst="line">
            <a:avLst/>
          </a:prstGeom>
          <a:noFill/>
          <a:ln w="19050">
            <a:solidFill>
              <a:srgbClr val="50808E"/>
            </a:solidFill>
            <a:prstDash val="solid"/>
            <a:tailEnd type="triangle"/>
          </a:ln>
        </p:spPr>
      </p:sp>
      <p:sp>
        <p:nvSpPr>
          <p:cNvPr id="24" name="Shape 22"/>
          <p:cNvSpPr/>
          <p:nvPr/>
        </p:nvSpPr>
        <p:spPr>
          <a:xfrm>
            <a:off x="8170164" y="1554480"/>
            <a:ext cx="365760" cy="365760"/>
          </a:xfrm>
          <a:prstGeom prst="ellipse">
            <a:avLst/>
          </a:prstGeom>
          <a:solidFill>
            <a:srgbClr val="02C39A"/>
          </a:solidFill>
          <a:ln/>
        </p:spPr>
      </p:sp>
      <p:sp>
        <p:nvSpPr>
          <p:cNvPr id="25" name="Text 23"/>
          <p:cNvSpPr txBox="1"/>
          <p:nvPr/>
        </p:nvSpPr>
        <p:spPr>
          <a:xfrm>
            <a:off x="8170164" y="1554480"/>
            <a:ext cx="365760" cy="365760"/>
          </a:xfrm>
          <a:prstGeom prst="rect">
            <a:avLst/>
          </a:prstGeom>
          <a:noFill/>
          <a:ln/>
        </p:spPr>
        <p:txBody>
          <a:bodyPr wrap="square" lIns="0" tIns="0" rIns="0" bIns="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4</a:t>
            </a:r>
            <a:endParaRPr lang="tr-TR" sz="1300" dirty="0"/>
          </a:p>
        </p:txBody>
      </p:sp>
      <p:sp>
        <p:nvSpPr>
          <p:cNvPr id="26" name="Shape 24"/>
          <p:cNvSpPr/>
          <p:nvPr/>
        </p:nvSpPr>
        <p:spPr>
          <a:xfrm>
            <a:off x="7324344" y="2057400"/>
            <a:ext cx="2057400" cy="2514600"/>
          </a:xfrm>
          <a:prstGeom prst="roundRect">
            <a:avLst>
              <a:gd name="adj" fmla="val 2667"/>
            </a:avLst>
          </a:prstGeom>
          <a:solidFill>
            <a:srgbClr val="F2F2F2"/>
          </a:solidFill>
          <a:ln/>
          <a:effectLst>
            <a:outerShdw sx="100000" sy="100000" kx="0" ky="0" algn="bl" rotWithShape="0" blurRad="101600" dist="25400" dir="5400000">
              <a:srgbClr val="000000">
                <a:alpha val="12000"/>
              </a:srgbClr>
            </a:outerShdw>
          </a:effectLst>
        </p:spPr>
      </p:sp>
      <p:sp>
        <p:nvSpPr>
          <p:cNvPr id="27" name="Text 25"/>
          <p:cNvSpPr txBox="1"/>
          <p:nvPr/>
        </p:nvSpPr>
        <p:spPr>
          <a:xfrm>
            <a:off x="7552944" y="2240280"/>
            <a:ext cx="16002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Kurun</a:t>
            </a:r>
            <a:endParaRPr lang="tr-TR" sz="1500" dirty="0"/>
          </a:p>
        </p:txBody>
      </p:sp>
      <p:sp>
        <p:nvSpPr>
          <p:cNvPr id="28" name="Text 26"/>
          <p:cNvSpPr txBox="1"/>
          <p:nvPr/>
        </p:nvSpPr>
        <p:spPr>
          <a:xfrm>
            <a:off x="7552944" y="2697480"/>
            <a:ext cx="1600200" cy="1737360"/>
          </a:xfrm>
          <a:prstGeom prst="rect">
            <a:avLst/>
          </a:prstGeom>
          <a:noFill/>
          <a:ln/>
        </p:spPr>
        <p:txBody>
          <a:bodyPr wrap="square" lIns="0" tIns="0" rIns="0" bIns="0" rtlCol="0" anchor="t"/>
          <a:lstStyle/>
          <a:p>
            <a:pPr indent="0" marL="0">
              <a:spcAft>
                <a:spcPts val="400"/>
              </a:spcAft>
              <a:buNone/>
            </a:pPr>
            <a:r>
              <a:rPr lang="tr-TR" sz="1300" dirty="0">
                <a:solidFill>
                  <a:srgbClr val="3A464C"/>
                </a:solidFill>
                <a:latin typeface="Calibri" pitchFamily="34" charset="0"/>
                <a:ea typeface="Calibri" pitchFamily="34" charset="-122"/>
                <a:cs typeface="Calibri" pitchFamily="34" charset="-120"/>
              </a:rPr>
              <a:t>Makineyi başlatın, "Install Ubuntu"yu izleyin. "Erase disk" yalnızca sanal disk dosyasını siler.</a:t>
            </a:r>
            <a:endParaRPr lang="tr-TR" sz="1300" dirty="0"/>
          </a:p>
        </p:txBody>
      </p:sp>
      <p:sp>
        <p:nvSpPr>
          <p:cNvPr id="29" name="Shape 27"/>
          <p:cNvSpPr/>
          <p:nvPr/>
        </p:nvSpPr>
        <p:spPr>
          <a:xfrm>
            <a:off x="9390888" y="3291840"/>
            <a:ext cx="182880" cy="91"/>
          </a:xfrm>
          <a:prstGeom prst="line">
            <a:avLst/>
          </a:prstGeom>
          <a:noFill/>
          <a:ln w="19050">
            <a:solidFill>
              <a:srgbClr val="50808E"/>
            </a:solidFill>
            <a:prstDash val="solid"/>
            <a:tailEnd type="triangle"/>
          </a:ln>
        </p:spPr>
      </p:sp>
      <p:sp>
        <p:nvSpPr>
          <p:cNvPr id="30" name="Shape 28"/>
          <p:cNvSpPr/>
          <p:nvPr/>
        </p:nvSpPr>
        <p:spPr>
          <a:xfrm>
            <a:off x="10428732" y="1554480"/>
            <a:ext cx="365760" cy="365760"/>
          </a:xfrm>
          <a:prstGeom prst="ellipse">
            <a:avLst/>
          </a:prstGeom>
          <a:solidFill>
            <a:srgbClr val="02C39A"/>
          </a:solidFill>
          <a:ln/>
        </p:spPr>
      </p:sp>
      <p:sp>
        <p:nvSpPr>
          <p:cNvPr id="31" name="Text 29"/>
          <p:cNvSpPr txBox="1"/>
          <p:nvPr/>
        </p:nvSpPr>
        <p:spPr>
          <a:xfrm>
            <a:off x="10428732" y="1554480"/>
            <a:ext cx="365760" cy="365760"/>
          </a:xfrm>
          <a:prstGeom prst="rect">
            <a:avLst/>
          </a:prstGeom>
          <a:noFill/>
          <a:ln/>
        </p:spPr>
        <p:txBody>
          <a:bodyPr wrap="square" lIns="0" tIns="0" rIns="0" bIns="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5</a:t>
            </a:r>
            <a:endParaRPr lang="tr-TR" sz="1300" dirty="0"/>
          </a:p>
        </p:txBody>
      </p:sp>
      <p:sp>
        <p:nvSpPr>
          <p:cNvPr id="32" name="Shape 30"/>
          <p:cNvSpPr/>
          <p:nvPr/>
        </p:nvSpPr>
        <p:spPr>
          <a:xfrm>
            <a:off x="9582912" y="2057400"/>
            <a:ext cx="2057400" cy="2514600"/>
          </a:xfrm>
          <a:prstGeom prst="roundRect">
            <a:avLst>
              <a:gd name="adj" fmla="val 2667"/>
            </a:avLst>
          </a:prstGeom>
          <a:solidFill>
            <a:srgbClr val="D7E9E6"/>
          </a:solidFill>
          <a:ln/>
          <a:effectLst>
            <a:outerShdw sx="100000" sy="100000" kx="0" ky="0" algn="bl" rotWithShape="0" blurRad="101600" dist="25400" dir="5400000">
              <a:srgbClr val="000000">
                <a:alpha val="12000"/>
              </a:srgbClr>
            </a:outerShdw>
          </a:effectLst>
        </p:spPr>
      </p:sp>
      <p:sp>
        <p:nvSpPr>
          <p:cNvPr id="33" name="Text 31"/>
          <p:cNvSpPr txBox="1"/>
          <p:nvPr/>
        </p:nvSpPr>
        <p:spPr>
          <a:xfrm>
            <a:off x="9811512" y="2240280"/>
            <a:ext cx="16002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Terminal açın</a:t>
            </a:r>
            <a:endParaRPr lang="tr-TR" sz="1500" dirty="0"/>
          </a:p>
        </p:txBody>
      </p:sp>
      <p:sp>
        <p:nvSpPr>
          <p:cNvPr id="34" name="Text 32"/>
          <p:cNvSpPr txBox="1"/>
          <p:nvPr/>
        </p:nvSpPr>
        <p:spPr>
          <a:xfrm>
            <a:off x="9811512" y="2697480"/>
            <a:ext cx="1600200" cy="1737360"/>
          </a:xfrm>
          <a:prstGeom prst="rect">
            <a:avLst/>
          </a:prstGeom>
          <a:noFill/>
          <a:ln/>
        </p:spPr>
        <p:txBody>
          <a:bodyPr wrap="square" lIns="0" tIns="0" rIns="0" bIns="0" rtlCol="0" anchor="t"/>
          <a:lstStyle/>
          <a:p>
            <a:pPr indent="0" marL="0">
              <a:spcAft>
                <a:spcPts val="400"/>
              </a:spcAft>
              <a:buNone/>
            </a:pPr>
            <a:r>
              <a:rPr lang="tr-TR" sz="1300" dirty="0">
                <a:solidFill>
                  <a:srgbClr val="3A464C"/>
                </a:solidFill>
                <a:latin typeface="Calibri" pitchFamily="34" charset="0"/>
                <a:ea typeface="Calibri" pitchFamily="34" charset="-122"/>
                <a:cs typeface="Calibri" pitchFamily="34" charset="-120"/>
              </a:rPr>
              <a:t>Oturum açın, Ctrl+Alt+T'ye basın (ya da Etkinlikler → Terminal).</a:t>
            </a:r>
            <a:endParaRPr lang="tr-TR" sz="1300" dirty="0"/>
          </a:p>
        </p:txBody>
      </p:sp>
      <p:sp>
        <p:nvSpPr>
          <p:cNvPr id="35" name="Shape 33"/>
          <p:cNvSpPr/>
          <p:nvPr/>
        </p:nvSpPr>
        <p:spPr>
          <a:xfrm>
            <a:off x="548640" y="4846320"/>
            <a:ext cx="11109960" cy="1417320"/>
          </a:xfrm>
          <a:prstGeom prst="roundRect">
            <a:avLst>
              <a:gd name="adj" fmla="val 3871"/>
            </a:avLst>
          </a:prstGeom>
          <a:solidFill>
            <a:srgbClr val="36454F"/>
          </a:solidFill>
          <a:ln/>
          <a:effectLst>
            <a:outerShdw sx="100000" sy="100000" kx="0" ky="0" algn="bl" rotWithShape="0" blurRad="101600" dist="25400" dir="5400000">
              <a:srgbClr val="000000">
                <a:alpha val="12000"/>
              </a:srgbClr>
            </a:outerShdw>
          </a:effectLst>
        </p:spPr>
      </p:sp>
      <p:sp>
        <p:nvSpPr>
          <p:cNvPr id="36" name="Text 34"/>
          <p:cNvSpPr txBox="1"/>
          <p:nvPr/>
        </p:nvSpPr>
        <p:spPr>
          <a:xfrm>
            <a:off x="777240" y="4846320"/>
            <a:ext cx="10652760" cy="141732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Sanal makine (virtual machine), işletim sistemindeki sanallaştırma fikrinin bütün bir bilgisayara uygulanmasıdır: VirtualBox (bir hipervizör) Ubuntu'ya sanal işlemciler, bellek ve disk verir; Ubuntu makinenin sahibi olduğunu sanır. Sanal makinenin içinde bozduğunuz hiçbir şey Windows'a zarar veremez — alıştırma için mükemmel bir yer.</a:t>
            </a:r>
            <a:endParaRPr lang="tr-TR"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LİNUX'A ULAŞMAK · LAB KLASÖRÜ</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Laboratuvar Kurulum Betiğini Bir Kez Çalıştırın</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9  ·  8</a:t>
            </a:r>
            <a:endParaRPr lang="tr-TR" sz="900" dirty="0"/>
          </a:p>
        </p:txBody>
      </p:sp>
      <p:sp>
        <p:nvSpPr>
          <p:cNvPr id="6" name="Shape 4"/>
          <p:cNvSpPr/>
          <p:nvPr/>
        </p:nvSpPr>
        <p:spPr>
          <a:xfrm>
            <a:off x="548640" y="1508760"/>
            <a:ext cx="6949440" cy="3246120"/>
          </a:xfrm>
          <a:prstGeom prst="roundRect">
            <a:avLst>
              <a:gd name="adj" fmla="val 1408"/>
            </a:avLst>
          </a:prstGeom>
          <a:solidFill>
            <a:srgbClr val="212121"/>
          </a:solidFill>
          <a:ln/>
        </p:spPr>
      </p:sp>
      <p:sp>
        <p:nvSpPr>
          <p:cNvPr id="7" name="Text 5"/>
          <p:cNvSpPr txBox="1"/>
          <p:nvPr/>
        </p:nvSpPr>
        <p:spPr>
          <a:xfrm>
            <a:off x="731520" y="1618488"/>
            <a:ext cx="6583680" cy="3026664"/>
          </a:xfrm>
          <a:prstGeom prst="rect">
            <a:avLst/>
          </a:prstGeom>
          <a:noFill/>
          <a:ln/>
        </p:spPr>
        <p:txBody>
          <a:bodyPr wrap="square" lIns="0" tIns="0" rIns="0" bIns="0" rtlCol="0" anchor="t"/>
          <a:lstStyle/>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 </a:t>
            </a:r>
            <a:r>
              <a:rPr lang="tr-TR" sz="1100" b="1" dirty="0">
                <a:solidFill>
                  <a:srgbClr val="FFFFFF"/>
                </a:solidFill>
                <a:latin typeface="Consolas" pitchFamily="34" charset="0"/>
                <a:ea typeface="Consolas" pitchFamily="34" charset="-122"/>
                <a:cs typeface="Consolas" pitchFamily="34" charset="-120"/>
              </a:rPr>
              <a:t>pwd</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/home/student</a:t>
            </a:r>
            <a:endParaRPr lang="tr-TR" sz="1100" dirty="0"/>
          </a:p>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 </a:t>
            </a:r>
            <a:r>
              <a:rPr lang="tr-TR" sz="1100" b="1" dirty="0">
                <a:solidFill>
                  <a:srgbClr val="FFFFFF"/>
                </a:solidFill>
                <a:latin typeface="Consolas" pitchFamily="34" charset="0"/>
                <a:ea typeface="Consolas" pitchFamily="34" charset="-122"/>
                <a:cs typeface="Consolas" pitchFamily="34" charset="-120"/>
              </a:rPr>
              <a:t>ls</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lab  mcmp117_lab_setup.sh</a:t>
            </a:r>
            <a:endParaRPr lang="tr-TR" sz="1100" dirty="0"/>
          </a:p>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 </a:t>
            </a:r>
            <a:r>
              <a:rPr lang="tr-TR" sz="1100" b="1" dirty="0">
                <a:solidFill>
                  <a:srgbClr val="FFFFFF"/>
                </a:solidFill>
                <a:latin typeface="Consolas" pitchFamily="34" charset="0"/>
                <a:ea typeface="Consolas" pitchFamily="34" charset="-122"/>
                <a:cs typeface="Consolas" pitchFamily="34" charset="-120"/>
              </a:rPr>
              <a:t>bash mcmp117_lab_setup.sh</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Lab folder ready: /home/student/lab</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README.txt  backup  data  docs  logs  photos  projects  scripts  src</a:t>
            </a:r>
            <a:endParaRPr lang="tr-TR" sz="1100" dirty="0"/>
          </a:p>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 </a:t>
            </a:r>
            <a:r>
              <a:rPr lang="tr-TR" sz="1100" b="1" dirty="0">
                <a:solidFill>
                  <a:srgbClr val="FFFFFF"/>
                </a:solidFill>
                <a:latin typeface="Consolas" pitchFamily="34" charset="0"/>
                <a:ea typeface="Consolas" pitchFamily="34" charset="-122"/>
                <a:cs typeface="Consolas" pitchFamily="34" charset="-120"/>
              </a:rPr>
              <a:t>ls</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lab  mcmp117_lab_setup.sh</a:t>
            </a:r>
            <a:endParaRPr lang="tr-TR" sz="1100" dirty="0"/>
          </a:p>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 </a:t>
            </a:r>
            <a:r>
              <a:rPr lang="tr-TR" sz="1100" b="1" dirty="0">
                <a:solidFill>
                  <a:srgbClr val="FFFFFF"/>
                </a:solidFill>
                <a:latin typeface="Consolas" pitchFamily="34" charset="0"/>
                <a:ea typeface="Consolas" pitchFamily="34" charset="-122"/>
                <a:cs typeface="Consolas" pitchFamily="34" charset="-120"/>
              </a:rPr>
              <a:t>ls lab</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README.txt  backup  data  docs  logs  photos  projects  scripts  src</a:t>
            </a:r>
            <a:endParaRPr lang="tr-TR" sz="1100" dirty="0"/>
          </a:p>
        </p:txBody>
      </p:sp>
      <p:sp>
        <p:nvSpPr>
          <p:cNvPr id="8" name="Shape 6"/>
          <p:cNvSpPr/>
          <p:nvPr/>
        </p:nvSpPr>
        <p:spPr>
          <a:xfrm>
            <a:off x="7726680" y="1508760"/>
            <a:ext cx="3931920" cy="3246120"/>
          </a:xfrm>
          <a:prstGeom prst="roundRect">
            <a:avLst>
              <a:gd name="adj" fmla="val 1690"/>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7955280" y="1691640"/>
            <a:ext cx="347472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Betiği edinmek</a:t>
            </a:r>
            <a:endParaRPr lang="tr-TR" sz="1500" dirty="0"/>
          </a:p>
        </p:txBody>
      </p:sp>
      <p:sp>
        <p:nvSpPr>
          <p:cNvPr id="10" name="Text 8"/>
          <p:cNvSpPr txBox="1"/>
          <p:nvPr/>
        </p:nvSpPr>
        <p:spPr>
          <a:xfrm>
            <a:off x="7955280" y="2148840"/>
            <a:ext cx="3474720" cy="2468880"/>
          </a:xfrm>
          <a:prstGeom prst="rect">
            <a:avLst/>
          </a:prstGeom>
          <a:noFill/>
          <a:ln/>
        </p:spPr>
        <p:txBody>
          <a:bodyPr wrap="square" lIns="0" tIns="0" rIns="0" bIns="0" rtlCol="0" anchor="t"/>
          <a:lstStyle/>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mcmp117_lab_setup.sh dosyasını dersin Telegram kanalından indirin [bağlantı: teyit edilecek].</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Ev dizininize koyun ya da bulunduğu yerden çalıştırın (her zaman ~/lab'ı kurar).</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WSL: Windows'taki İndirilenler = /mnt/c/Users/&lt;siz&gt;/Downloads</a:t>
            </a:r>
            <a:endParaRPr lang="tr-TR" sz="1300" dirty="0"/>
          </a:p>
        </p:txBody>
      </p:sp>
      <p:sp>
        <p:nvSpPr>
          <p:cNvPr id="11" name="Shape 9"/>
          <p:cNvSpPr/>
          <p:nvPr/>
        </p:nvSpPr>
        <p:spPr>
          <a:xfrm>
            <a:off x="548640" y="4937760"/>
            <a:ext cx="11109960" cy="1325880"/>
          </a:xfrm>
          <a:prstGeom prst="roundRect">
            <a:avLst>
              <a:gd name="adj" fmla="val 3448"/>
            </a:avLst>
          </a:prstGeom>
          <a:solidFill>
            <a:srgbClr val="212121"/>
          </a:solidFill>
          <a:ln/>
        </p:spPr>
      </p:sp>
      <p:sp>
        <p:nvSpPr>
          <p:cNvPr id="12" name="Text 10"/>
          <p:cNvSpPr txBox="1"/>
          <p:nvPr/>
        </p:nvSpPr>
        <p:spPr>
          <a:xfrm>
            <a:off x="731520" y="5047488"/>
            <a:ext cx="10744200" cy="1106424"/>
          </a:xfrm>
          <a:prstGeom prst="rect">
            <a:avLst/>
          </a:prstGeom>
          <a:noFill/>
          <a:ln/>
        </p:spPr>
        <p:txBody>
          <a:bodyPr wrap="square" lIns="0" tIns="0" rIns="0" bIns="0" rtlCol="0" anchor="t"/>
          <a:lstStyle/>
          <a:p>
            <a:pPr indent="0" marL="0">
              <a:lnSpc>
                <a:spcPct val="100000"/>
              </a:lnSpc>
              <a:buNone/>
            </a:pPr>
            <a:r>
              <a:rPr lang="tr-TR" sz="1100" dirty="0">
                <a:solidFill>
                  <a:srgbClr val="8A9AA0"/>
                </a:solidFill>
                <a:latin typeface="Consolas" pitchFamily="34" charset="0"/>
                <a:ea typeface="Consolas" pitchFamily="34" charset="-122"/>
                <a:cs typeface="Consolas" pitchFamily="34" charset="-120"/>
              </a:rPr>
              <a:t># doğrudan indirme klasöründen çalıştırın (sanal makine / Ubuntu):</a:t>
            </a:r>
            <a:endParaRPr lang="tr-TR" sz="1100" dirty="0"/>
          </a:p>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 </a:t>
            </a:r>
            <a:r>
              <a:rPr lang="tr-TR" sz="1100" b="1" dirty="0">
                <a:solidFill>
                  <a:srgbClr val="FFFFFF"/>
                </a:solidFill>
                <a:latin typeface="Consolas" pitchFamily="34" charset="0"/>
                <a:ea typeface="Consolas" pitchFamily="34" charset="-122"/>
                <a:cs typeface="Consolas" pitchFamily="34" charset="-120"/>
              </a:rPr>
              <a:t>bash ~/Downloads/mcmp117_lab_setup.sh</a:t>
            </a:r>
            <a:endParaRPr lang="tr-TR" sz="1100" dirty="0"/>
          </a:p>
          <a:p>
            <a:pPr indent="0" marL="0">
              <a:lnSpc>
                <a:spcPct val="100000"/>
              </a:lnSpc>
              <a:buNone/>
            </a:pPr>
            <a:r>
              <a:rPr lang="tr-TR" sz="1100" dirty="0">
                <a:solidFill>
                  <a:srgbClr val="8A9AA0"/>
                </a:solidFill>
                <a:latin typeface="Consolas" pitchFamily="34" charset="0"/>
                <a:ea typeface="Consolas" pitchFamily="34" charset="-122"/>
                <a:cs typeface="Consolas" pitchFamily="34" charset="-120"/>
              </a:rPr>
              <a:t># ... ya da Windows'taki indirme klasöründen (WSL):</a:t>
            </a:r>
            <a:endParaRPr lang="tr-TR" sz="1100" dirty="0"/>
          </a:p>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 </a:t>
            </a:r>
            <a:r>
              <a:rPr lang="tr-TR" sz="1100" b="1" dirty="0">
                <a:solidFill>
                  <a:srgbClr val="FFFFFF"/>
                </a:solidFill>
                <a:latin typeface="Consolas" pitchFamily="34" charset="0"/>
                <a:ea typeface="Consolas" pitchFamily="34" charset="-122"/>
                <a:cs typeface="Consolas" pitchFamily="34" charset="-120"/>
              </a:rPr>
              <a:t>bash /mnt/c/Users/ayse/Downloads/mcmp117_lab_setup.sh</a:t>
            </a:r>
            <a:endParaRPr lang="tr-TR"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BÖLÜM 2</a:t>
            </a:r>
            <a:endParaRPr lang="tr-TR"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Terminal, Kabuk, Çekirdek</a:t>
            </a:r>
            <a:endParaRPr lang="tr-TR"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tr-TR" sz="1600" i="1" dirty="0">
                <a:solidFill>
                  <a:srgbClr val="F2F2F2"/>
                </a:solidFill>
                <a:latin typeface="Calibri" pitchFamily="34" charset="0"/>
                <a:ea typeface="Calibri" pitchFamily="34" charset="-122"/>
                <a:cs typeface="Calibri" pitchFamily="34" charset="-120"/>
              </a:rPr>
              <a:t>Sıkça karıştırılan üç ayrı program.</a:t>
            </a:r>
            <a:endParaRPr lang="tr-TR"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9  ·  9</a:t>
            </a:r>
            <a:endParaRPr lang="tr-TR"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KİM NE YAPAR</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Terminal ≠ Kabuk ≠ Çekirdek</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9  ·  10</a:t>
            </a:r>
            <a:endParaRPr lang="tr-TR" sz="900" dirty="0"/>
          </a:p>
        </p:txBody>
      </p:sp>
      <p:sp>
        <p:nvSpPr>
          <p:cNvPr id="6" name="Shape 4"/>
          <p:cNvSpPr/>
          <p:nvPr/>
        </p:nvSpPr>
        <p:spPr>
          <a:xfrm>
            <a:off x="548640" y="1554480"/>
            <a:ext cx="5852160" cy="749808"/>
          </a:xfrm>
          <a:prstGeom prst="roundRect">
            <a:avLst>
              <a:gd name="adj" fmla="val 6098"/>
            </a:avLst>
          </a:prstGeom>
          <a:solidFill>
            <a:srgbClr val="F2F2F2"/>
          </a:solidFill>
          <a:ln/>
        </p:spPr>
      </p:sp>
      <p:sp>
        <p:nvSpPr>
          <p:cNvPr id="7" name="Text 5"/>
          <p:cNvSpPr txBox="1"/>
          <p:nvPr/>
        </p:nvSpPr>
        <p:spPr>
          <a:xfrm>
            <a:off x="548640" y="1554480"/>
            <a:ext cx="5852160" cy="749808"/>
          </a:xfrm>
          <a:prstGeom prst="rect">
            <a:avLst/>
          </a:prstGeom>
          <a:noFill/>
          <a:ln/>
        </p:spPr>
        <p:txBody>
          <a:bodyPr wrap="square" lIns="38100" tIns="38100" rIns="38100" bIns="38100" rtlCol="0" anchor="ctr"/>
          <a:lstStyle/>
          <a:p>
            <a:pPr algn="ctr" indent="0" marL="0">
              <a:buNone/>
            </a:pPr>
            <a:r>
              <a:rPr lang="tr-TR" sz="1500" b="1" dirty="0">
                <a:solidFill>
                  <a:srgbClr val="212121"/>
                </a:solidFill>
                <a:latin typeface="Calibri" pitchFamily="34" charset="0"/>
                <a:ea typeface="Calibri" pitchFamily="34" charset="-122"/>
                <a:cs typeface="Calibri" pitchFamily="34" charset="-120"/>
              </a:rPr>
              <a:t>Siz</a:t>
            </a:r>
            <a:endParaRPr lang="tr-TR" sz="1500" dirty="0"/>
          </a:p>
          <a:p>
            <a:pPr algn="ctr" indent="0" marL="0">
              <a:buNone/>
            </a:pPr>
            <a:r>
              <a:rPr lang="tr-TR" sz="1100" dirty="0">
                <a:solidFill>
                  <a:srgbClr val="212121"/>
                </a:solidFill>
                <a:latin typeface="Calibri" pitchFamily="34" charset="0"/>
                <a:ea typeface="Calibri" pitchFamily="34" charset="-122"/>
                <a:cs typeface="Calibri" pitchFamily="34" charset="-120"/>
              </a:rPr>
              <a:t>klavye ve ekran</a:t>
            </a:r>
            <a:endParaRPr lang="tr-TR" sz="1500" dirty="0"/>
          </a:p>
        </p:txBody>
      </p:sp>
      <p:sp>
        <p:nvSpPr>
          <p:cNvPr id="8" name="Shape 6"/>
          <p:cNvSpPr/>
          <p:nvPr/>
        </p:nvSpPr>
        <p:spPr>
          <a:xfrm>
            <a:off x="3474720" y="2313432"/>
            <a:ext cx="91" cy="164592"/>
          </a:xfrm>
          <a:prstGeom prst="line">
            <a:avLst/>
          </a:prstGeom>
          <a:noFill/>
          <a:ln w="19050">
            <a:solidFill>
              <a:srgbClr val="50808E"/>
            </a:solidFill>
            <a:prstDash val="solid"/>
            <a:headEnd type="triangle"/>
            <a:tailEnd type="triangle"/>
          </a:ln>
        </p:spPr>
      </p:sp>
      <p:sp>
        <p:nvSpPr>
          <p:cNvPr id="9" name="Shape 7"/>
          <p:cNvSpPr/>
          <p:nvPr/>
        </p:nvSpPr>
        <p:spPr>
          <a:xfrm>
            <a:off x="548640" y="2487168"/>
            <a:ext cx="5852160" cy="749808"/>
          </a:xfrm>
          <a:prstGeom prst="roundRect">
            <a:avLst>
              <a:gd name="adj" fmla="val 6098"/>
            </a:avLst>
          </a:prstGeom>
          <a:solidFill>
            <a:srgbClr val="D7E9E6"/>
          </a:solidFill>
          <a:ln/>
        </p:spPr>
      </p:sp>
      <p:sp>
        <p:nvSpPr>
          <p:cNvPr id="10" name="Text 8"/>
          <p:cNvSpPr txBox="1"/>
          <p:nvPr/>
        </p:nvSpPr>
        <p:spPr>
          <a:xfrm>
            <a:off x="548640" y="2487168"/>
            <a:ext cx="5852160" cy="749808"/>
          </a:xfrm>
          <a:prstGeom prst="rect">
            <a:avLst/>
          </a:prstGeom>
          <a:noFill/>
          <a:ln/>
        </p:spPr>
        <p:txBody>
          <a:bodyPr wrap="square" lIns="38100" tIns="38100" rIns="38100" bIns="38100" rtlCol="0" anchor="ctr"/>
          <a:lstStyle/>
          <a:p>
            <a:pPr algn="ctr" indent="0" marL="0">
              <a:buNone/>
            </a:pPr>
            <a:r>
              <a:rPr lang="tr-TR" sz="1500" b="1" dirty="0">
                <a:solidFill>
                  <a:srgbClr val="212121"/>
                </a:solidFill>
                <a:latin typeface="Calibri" pitchFamily="34" charset="0"/>
                <a:ea typeface="Calibri" pitchFamily="34" charset="-122"/>
                <a:cs typeface="Calibri" pitchFamily="34" charset="-120"/>
              </a:rPr>
              <a:t>Terminal (öykünücü)</a:t>
            </a:r>
            <a:endParaRPr lang="tr-TR" sz="1500" dirty="0"/>
          </a:p>
          <a:p>
            <a:pPr algn="ctr" indent="0" marL="0">
              <a:buNone/>
            </a:pPr>
            <a:r>
              <a:rPr lang="tr-TR" sz="1100" dirty="0">
                <a:solidFill>
                  <a:srgbClr val="212121"/>
                </a:solidFill>
                <a:latin typeface="Calibri" pitchFamily="34" charset="0"/>
                <a:ea typeface="Calibri" pitchFamily="34" charset="-122"/>
                <a:cs typeface="Calibri" pitchFamily="34" charset="-120"/>
              </a:rPr>
              <a:t>bir pencere: tuşlarınızı gönderir, karakterleri çizer  ·  GNOME Terminal, Windows Terminal</a:t>
            </a:r>
            <a:endParaRPr lang="tr-TR" sz="1500" dirty="0"/>
          </a:p>
        </p:txBody>
      </p:sp>
      <p:sp>
        <p:nvSpPr>
          <p:cNvPr id="11" name="Shape 9"/>
          <p:cNvSpPr/>
          <p:nvPr/>
        </p:nvSpPr>
        <p:spPr>
          <a:xfrm>
            <a:off x="3474720" y="3246120"/>
            <a:ext cx="91" cy="164592"/>
          </a:xfrm>
          <a:prstGeom prst="line">
            <a:avLst/>
          </a:prstGeom>
          <a:noFill/>
          <a:ln w="19050">
            <a:solidFill>
              <a:srgbClr val="50808E"/>
            </a:solidFill>
            <a:prstDash val="solid"/>
            <a:headEnd type="triangle"/>
            <a:tailEnd type="triangle"/>
          </a:ln>
        </p:spPr>
      </p:sp>
      <p:sp>
        <p:nvSpPr>
          <p:cNvPr id="12" name="Shape 10"/>
          <p:cNvSpPr/>
          <p:nvPr/>
        </p:nvSpPr>
        <p:spPr>
          <a:xfrm>
            <a:off x="548640" y="3419856"/>
            <a:ext cx="5852160" cy="749808"/>
          </a:xfrm>
          <a:prstGeom prst="roundRect">
            <a:avLst>
              <a:gd name="adj" fmla="val 6098"/>
            </a:avLst>
          </a:prstGeom>
          <a:solidFill>
            <a:srgbClr val="02C39A"/>
          </a:solidFill>
          <a:ln/>
        </p:spPr>
      </p:sp>
      <p:sp>
        <p:nvSpPr>
          <p:cNvPr id="13" name="Text 11"/>
          <p:cNvSpPr txBox="1"/>
          <p:nvPr/>
        </p:nvSpPr>
        <p:spPr>
          <a:xfrm>
            <a:off x="548640" y="3419856"/>
            <a:ext cx="5852160" cy="749808"/>
          </a:xfrm>
          <a:prstGeom prst="rect">
            <a:avLst/>
          </a:prstGeom>
          <a:noFill/>
          <a:ln/>
        </p:spPr>
        <p:txBody>
          <a:bodyPr wrap="square" lIns="38100" tIns="38100" rIns="38100" bIns="38100" rtlCol="0" anchor="ctr"/>
          <a:lstStyle/>
          <a:p>
            <a:pPr algn="ctr" indent="0" marL="0">
              <a:buNone/>
            </a:pPr>
            <a:r>
              <a:rPr lang="tr-TR" sz="1500" b="1" dirty="0">
                <a:solidFill>
                  <a:srgbClr val="212121"/>
                </a:solidFill>
                <a:latin typeface="Calibri" pitchFamily="34" charset="0"/>
                <a:ea typeface="Calibri" pitchFamily="34" charset="-122"/>
                <a:cs typeface="Calibri" pitchFamily="34" charset="-120"/>
              </a:rPr>
              <a:t>Kabuk: bash</a:t>
            </a:r>
            <a:endParaRPr lang="tr-TR" sz="1500" dirty="0"/>
          </a:p>
          <a:p>
            <a:pPr algn="ctr" indent="0" marL="0">
              <a:buNone/>
            </a:pPr>
            <a:r>
              <a:rPr lang="tr-TR" sz="1100" dirty="0">
                <a:solidFill>
                  <a:srgbClr val="212121"/>
                </a:solidFill>
                <a:latin typeface="Calibri" pitchFamily="34" charset="0"/>
                <a:ea typeface="Calibri" pitchFamily="34" charset="-122"/>
                <a:cs typeface="Calibri" pitchFamily="34" charset="-120"/>
              </a:rPr>
              <a:t>satırı okur, yorumlar, programları başlatır  ·  kullanıcı modu, bir sistem programı (2. hafta)</a:t>
            </a:r>
            <a:endParaRPr lang="tr-TR" sz="1500" dirty="0"/>
          </a:p>
        </p:txBody>
      </p:sp>
      <p:sp>
        <p:nvSpPr>
          <p:cNvPr id="14" name="Shape 12"/>
          <p:cNvSpPr/>
          <p:nvPr/>
        </p:nvSpPr>
        <p:spPr>
          <a:xfrm>
            <a:off x="3474720" y="4178808"/>
            <a:ext cx="91" cy="164592"/>
          </a:xfrm>
          <a:prstGeom prst="line">
            <a:avLst/>
          </a:prstGeom>
          <a:noFill/>
          <a:ln w="19050">
            <a:solidFill>
              <a:srgbClr val="50808E"/>
            </a:solidFill>
            <a:prstDash val="solid"/>
            <a:headEnd type="triangle"/>
            <a:tailEnd type="triangle"/>
          </a:ln>
        </p:spPr>
      </p:sp>
      <p:sp>
        <p:nvSpPr>
          <p:cNvPr id="15" name="Shape 13"/>
          <p:cNvSpPr/>
          <p:nvPr/>
        </p:nvSpPr>
        <p:spPr>
          <a:xfrm>
            <a:off x="548640" y="4352544"/>
            <a:ext cx="5852160" cy="749808"/>
          </a:xfrm>
          <a:prstGeom prst="roundRect">
            <a:avLst>
              <a:gd name="adj" fmla="val 6098"/>
            </a:avLst>
          </a:prstGeom>
          <a:solidFill>
            <a:srgbClr val="36454F"/>
          </a:solidFill>
          <a:ln/>
        </p:spPr>
      </p:sp>
      <p:sp>
        <p:nvSpPr>
          <p:cNvPr id="16" name="Text 14"/>
          <p:cNvSpPr txBox="1"/>
          <p:nvPr/>
        </p:nvSpPr>
        <p:spPr>
          <a:xfrm>
            <a:off x="548640" y="4352544"/>
            <a:ext cx="5852160" cy="749808"/>
          </a:xfrm>
          <a:prstGeom prst="rect">
            <a:avLst/>
          </a:prstGeom>
          <a:noFill/>
          <a:ln/>
        </p:spPr>
        <p:txBody>
          <a:bodyPr wrap="square" lIns="38100" tIns="38100" rIns="38100" bIns="38100" rtlCol="0" anchor="ctr"/>
          <a:lstStyle/>
          <a:p>
            <a:pPr algn="ctr" indent="0" marL="0">
              <a:buNone/>
            </a:pPr>
            <a:r>
              <a:rPr lang="tr-TR" sz="1500" b="1" dirty="0">
                <a:solidFill>
                  <a:srgbClr val="FFFFFF"/>
                </a:solidFill>
                <a:latin typeface="Calibri" pitchFamily="34" charset="0"/>
                <a:ea typeface="Calibri" pitchFamily="34" charset="-122"/>
                <a:cs typeface="Calibri" pitchFamily="34" charset="-120"/>
              </a:rPr>
              <a:t>Çekirdek: Linux</a:t>
            </a:r>
            <a:endParaRPr lang="tr-TR" sz="1500" dirty="0"/>
          </a:p>
          <a:p>
            <a:pPr algn="ctr" indent="0" marL="0">
              <a:buNone/>
            </a:pPr>
            <a:r>
              <a:rPr lang="tr-TR" sz="1100" dirty="0">
                <a:solidFill>
                  <a:srgbClr val="FFFFFF"/>
                </a:solidFill>
                <a:latin typeface="Calibri" pitchFamily="34" charset="0"/>
                <a:ea typeface="Calibri" pitchFamily="34" charset="-122"/>
                <a:cs typeface="Calibri" pitchFamily="34" charset="-120"/>
              </a:rPr>
              <a:t>dosyalar, süreçler, bellek, aygıtlar  ·  çekirdek modu, yalnızca sistem çağrılarıyla erişilir</a:t>
            </a:r>
            <a:endParaRPr lang="tr-TR" sz="1500" dirty="0"/>
          </a:p>
        </p:txBody>
      </p:sp>
      <p:sp>
        <p:nvSpPr>
          <p:cNvPr id="17" name="Shape 15"/>
          <p:cNvSpPr/>
          <p:nvPr/>
        </p:nvSpPr>
        <p:spPr>
          <a:xfrm>
            <a:off x="3474720" y="5111496"/>
            <a:ext cx="91" cy="164592"/>
          </a:xfrm>
          <a:prstGeom prst="line">
            <a:avLst/>
          </a:prstGeom>
          <a:noFill/>
          <a:ln w="19050">
            <a:solidFill>
              <a:srgbClr val="50808E"/>
            </a:solidFill>
            <a:prstDash val="solid"/>
            <a:headEnd type="triangle"/>
            <a:tailEnd type="triangle"/>
          </a:ln>
        </p:spPr>
      </p:sp>
      <p:sp>
        <p:nvSpPr>
          <p:cNvPr id="18" name="Shape 16"/>
          <p:cNvSpPr/>
          <p:nvPr/>
        </p:nvSpPr>
        <p:spPr>
          <a:xfrm>
            <a:off x="548640" y="5285232"/>
            <a:ext cx="5852160" cy="749808"/>
          </a:xfrm>
          <a:prstGeom prst="roundRect">
            <a:avLst>
              <a:gd name="adj" fmla="val 6098"/>
            </a:avLst>
          </a:prstGeom>
          <a:solidFill>
            <a:srgbClr val="50808E"/>
          </a:solidFill>
          <a:ln/>
        </p:spPr>
      </p:sp>
      <p:sp>
        <p:nvSpPr>
          <p:cNvPr id="19" name="Text 17"/>
          <p:cNvSpPr txBox="1"/>
          <p:nvPr/>
        </p:nvSpPr>
        <p:spPr>
          <a:xfrm>
            <a:off x="548640" y="5285232"/>
            <a:ext cx="5852160" cy="749808"/>
          </a:xfrm>
          <a:prstGeom prst="rect">
            <a:avLst/>
          </a:prstGeom>
          <a:noFill/>
          <a:ln/>
        </p:spPr>
        <p:txBody>
          <a:bodyPr wrap="square" lIns="38100" tIns="38100" rIns="38100" bIns="38100" rtlCol="0" anchor="ctr"/>
          <a:lstStyle/>
          <a:p>
            <a:pPr algn="ctr" indent="0" marL="0">
              <a:buNone/>
            </a:pPr>
            <a:r>
              <a:rPr lang="tr-TR" sz="1500" b="1" dirty="0">
                <a:solidFill>
                  <a:srgbClr val="FFFFFF"/>
                </a:solidFill>
                <a:latin typeface="Calibri" pitchFamily="34" charset="0"/>
                <a:ea typeface="Calibri" pitchFamily="34" charset="-122"/>
                <a:cs typeface="Calibri" pitchFamily="34" charset="-120"/>
              </a:rPr>
              <a:t>Donanım</a:t>
            </a:r>
            <a:endParaRPr lang="tr-TR" sz="1500" dirty="0"/>
          </a:p>
          <a:p>
            <a:pPr algn="ctr" indent="0" marL="0">
              <a:buNone/>
            </a:pPr>
            <a:r>
              <a:rPr lang="tr-TR" sz="1100" dirty="0">
                <a:solidFill>
                  <a:srgbClr val="FFFFFF"/>
                </a:solidFill>
                <a:latin typeface="Calibri" pitchFamily="34" charset="0"/>
                <a:ea typeface="Calibri" pitchFamily="34" charset="-122"/>
                <a:cs typeface="Calibri" pitchFamily="34" charset="-120"/>
              </a:rPr>
              <a:t>işlemci, RAM, disk, ağ</a:t>
            </a:r>
            <a:endParaRPr lang="tr-TR" sz="1500" dirty="0"/>
          </a:p>
        </p:txBody>
      </p:sp>
      <p:sp>
        <p:nvSpPr>
          <p:cNvPr id="20" name="Shape 18"/>
          <p:cNvSpPr/>
          <p:nvPr/>
        </p:nvSpPr>
        <p:spPr>
          <a:xfrm>
            <a:off x="457200" y="4261104"/>
            <a:ext cx="6035040" cy="91"/>
          </a:xfrm>
          <a:prstGeom prst="line">
            <a:avLst/>
          </a:prstGeom>
          <a:noFill/>
          <a:ln w="19050">
            <a:solidFill>
              <a:srgbClr val="B5453A"/>
            </a:solidFill>
            <a:prstDash val="dash"/>
          </a:ln>
        </p:spPr>
      </p:sp>
      <p:sp>
        <p:nvSpPr>
          <p:cNvPr id="21" name="Shape 19"/>
          <p:cNvSpPr/>
          <p:nvPr/>
        </p:nvSpPr>
        <p:spPr>
          <a:xfrm>
            <a:off x="6720840" y="1508760"/>
            <a:ext cx="4937760" cy="4754880"/>
          </a:xfrm>
          <a:prstGeom prst="roundRect">
            <a:avLst>
              <a:gd name="adj" fmla="val 1154"/>
            </a:avLst>
          </a:prstGeom>
          <a:solidFill>
            <a:srgbClr val="F2F2F2"/>
          </a:solidFill>
          <a:ln/>
          <a:effectLst>
            <a:outerShdw sx="100000" sy="100000" kx="0" ky="0" algn="bl" rotWithShape="0" blurRad="101600" dist="25400" dir="5400000">
              <a:srgbClr val="000000">
                <a:alpha val="12000"/>
              </a:srgbClr>
            </a:outerShdw>
          </a:effectLst>
        </p:spPr>
      </p:sp>
      <p:sp>
        <p:nvSpPr>
          <p:cNvPr id="22" name="Text 20"/>
          <p:cNvSpPr txBox="1"/>
          <p:nvPr/>
        </p:nvSpPr>
        <p:spPr>
          <a:xfrm>
            <a:off x="6949440" y="1691640"/>
            <a:ext cx="44805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Birbirinden ayırın</a:t>
            </a:r>
            <a:endParaRPr lang="tr-TR" sz="1500" dirty="0"/>
          </a:p>
        </p:txBody>
      </p:sp>
      <p:sp>
        <p:nvSpPr>
          <p:cNvPr id="23" name="Text 21"/>
          <p:cNvSpPr txBox="1"/>
          <p:nvPr/>
        </p:nvSpPr>
        <p:spPr>
          <a:xfrm>
            <a:off x="6949440" y="2148840"/>
            <a:ext cx="4480560" cy="3977640"/>
          </a:xfrm>
          <a:prstGeom prst="rect">
            <a:avLst/>
          </a:prstGeom>
          <a:noFill/>
          <a:ln/>
        </p:spPr>
        <p:txBody>
          <a:bodyPr wrap="square" lIns="0" tIns="0" rIns="0" bIns="0" rtlCol="0" anchor="t"/>
          <a:lstStyle/>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Terminal:</a:t>
            </a:r>
            <a:r>
              <a:rPr lang="tr-TR" sz="1350" dirty="0">
                <a:solidFill>
                  <a:srgbClr val="3A464C"/>
                </a:solidFill>
                <a:latin typeface="Calibri" pitchFamily="34" charset="0"/>
                <a:ea typeface="Calibri" pitchFamily="34" charset="-122"/>
                <a:cs typeface="Calibri" pitchFamily="34" charset="-120"/>
              </a:rPr>
              <a:t> yalnızca girdi ve çıktı. Komutları anlamaz.</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Kabuk (shell):</a:t>
            </a:r>
            <a:r>
              <a:rPr lang="tr-TR" sz="1350" dirty="0">
                <a:solidFill>
                  <a:srgbClr val="3A464C"/>
                </a:solidFill>
                <a:latin typeface="Calibri" pitchFamily="34" charset="0"/>
                <a:ea typeface="Calibri" pitchFamily="34" charset="-122"/>
                <a:cs typeface="Calibri" pitchFamily="34" charset="-120"/>
              </a:rPr>
              <a:t> komut yorumlayıcısı (3. hafta). Linux'ta birkaç tane vardır: bash (Ubuntu'da varsayılan), zsh, sh, fish.</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Çekirdek:</a:t>
            </a:r>
            <a:r>
              <a:rPr lang="tr-TR" sz="1350" dirty="0">
                <a:solidFill>
                  <a:srgbClr val="3A464C"/>
                </a:solidFill>
                <a:latin typeface="Calibri" pitchFamily="34" charset="0"/>
                <a:ea typeface="Calibri" pitchFamily="34" charset="-122"/>
                <a:cs typeface="Calibri" pitchFamily="34" charset="-120"/>
              </a:rPr>
              <a:t> her komut için asıl işi sistem çağrıları aracılığıyla yapar (kırmızı kesikli çizgi = sistem çağrısı sınırı).</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"Linux"</a:t>
            </a:r>
            <a:r>
              <a:rPr lang="tr-TR" sz="1350" dirty="0">
                <a:solidFill>
                  <a:srgbClr val="3A464C"/>
                </a:solidFill>
                <a:latin typeface="Calibri" pitchFamily="34" charset="0"/>
                <a:ea typeface="Calibri" pitchFamily="34" charset="-122"/>
                <a:cs typeface="Calibri" pitchFamily="34" charset="-120"/>
              </a:rPr>
              <a:t> aslında yalnızca çekirdektir; Ubuntu = Linux çekirdeği + GNU araçları + çok daha fazlası (2. hafta).</a:t>
            </a:r>
            <a:endParaRPr lang="tr-TR"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3. HAFTAYLA BAĞLANTI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ls Yazıp Enter'a Bastığınızda Ne Olur?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9  ·  11</a:t>
            </a:r>
            <a:endParaRPr lang="tr-TR" sz="900" dirty="0"/>
          </a:p>
        </p:txBody>
      </p:sp>
      <p:sp>
        <p:nvSpPr>
          <p:cNvPr id="6" name="Shape 4"/>
          <p:cNvSpPr/>
          <p:nvPr/>
        </p:nvSpPr>
        <p:spPr>
          <a:xfrm>
            <a:off x="548640" y="1691640"/>
            <a:ext cx="2148840" cy="914400"/>
          </a:xfrm>
          <a:prstGeom prst="roundRect">
            <a:avLst>
              <a:gd name="adj" fmla="val 5000"/>
            </a:avLst>
          </a:prstGeom>
          <a:solidFill>
            <a:srgbClr val="02C39A"/>
          </a:solidFill>
          <a:ln/>
        </p:spPr>
      </p:sp>
      <p:sp>
        <p:nvSpPr>
          <p:cNvPr id="7" name="Text 5"/>
          <p:cNvSpPr txBox="1"/>
          <p:nvPr/>
        </p:nvSpPr>
        <p:spPr>
          <a:xfrm>
            <a:off x="548640" y="1691640"/>
            <a:ext cx="2148840" cy="914400"/>
          </a:xfrm>
          <a:prstGeom prst="rect">
            <a:avLst/>
          </a:prstGeom>
          <a:noFill/>
          <a:ln/>
        </p:spPr>
        <p:txBody>
          <a:bodyPr wrap="square" lIns="38100" tIns="38100" rIns="38100" bIns="38100" rtlCol="0" anchor="ctr"/>
          <a:lstStyle/>
          <a:p>
            <a:pPr algn="ctr" indent="0" marL="0">
              <a:buNone/>
            </a:pPr>
            <a:r>
              <a:rPr lang="tr-TR" sz="1600" b="1" dirty="0">
                <a:solidFill>
                  <a:srgbClr val="212121"/>
                </a:solidFill>
                <a:latin typeface="Calibri" pitchFamily="34" charset="0"/>
                <a:ea typeface="Calibri" pitchFamily="34" charset="-122"/>
                <a:cs typeface="Calibri" pitchFamily="34" charset="-120"/>
              </a:rPr>
              <a:t>bash</a:t>
            </a:r>
            <a:endParaRPr lang="tr-TR" sz="1600" dirty="0"/>
          </a:p>
          <a:p>
            <a:pPr algn="ctr" indent="0" marL="0">
              <a:buNone/>
            </a:pPr>
            <a:r>
              <a:rPr lang="tr-TR" sz="1100" dirty="0">
                <a:solidFill>
                  <a:srgbClr val="212121"/>
                </a:solidFill>
                <a:latin typeface="Calibri" pitchFamily="34" charset="0"/>
                <a:ea typeface="Calibri" pitchFamily="34" charset="-122"/>
                <a:cs typeface="Calibri" pitchFamily="34" charset="-120"/>
              </a:rPr>
              <a:t>kabuk (ebeveyn)</a:t>
            </a:r>
            <a:endParaRPr lang="tr-TR" sz="1600" dirty="0"/>
          </a:p>
        </p:txBody>
      </p:sp>
      <p:sp>
        <p:nvSpPr>
          <p:cNvPr id="8" name="Shape 6"/>
          <p:cNvSpPr/>
          <p:nvPr/>
        </p:nvSpPr>
        <p:spPr>
          <a:xfrm>
            <a:off x="3520440" y="1691640"/>
            <a:ext cx="2148840" cy="914400"/>
          </a:xfrm>
          <a:prstGeom prst="roundRect">
            <a:avLst>
              <a:gd name="adj" fmla="val 5000"/>
            </a:avLst>
          </a:prstGeom>
          <a:solidFill>
            <a:srgbClr val="D7E9E6"/>
          </a:solidFill>
          <a:ln/>
        </p:spPr>
      </p:sp>
      <p:sp>
        <p:nvSpPr>
          <p:cNvPr id="9" name="Text 7"/>
          <p:cNvSpPr txBox="1"/>
          <p:nvPr/>
        </p:nvSpPr>
        <p:spPr>
          <a:xfrm>
            <a:off x="3520440" y="1691640"/>
            <a:ext cx="2148840" cy="914400"/>
          </a:xfrm>
          <a:prstGeom prst="rect">
            <a:avLst/>
          </a:prstGeom>
          <a:noFill/>
          <a:ln/>
        </p:spPr>
        <p:txBody>
          <a:bodyPr wrap="square" lIns="38100" tIns="38100" rIns="38100" bIns="38100" rtlCol="0" anchor="ctr"/>
          <a:lstStyle/>
          <a:p>
            <a:pPr algn="ctr" indent="0" marL="0">
              <a:buNone/>
            </a:pPr>
            <a:r>
              <a:rPr lang="tr-TR" sz="1500" b="1" dirty="0">
                <a:solidFill>
                  <a:srgbClr val="212121"/>
                </a:solidFill>
                <a:latin typeface="Calibri" pitchFamily="34" charset="0"/>
                <a:ea typeface="Calibri" pitchFamily="34" charset="-122"/>
                <a:cs typeface="Calibri" pitchFamily="34" charset="-120"/>
              </a:rPr>
              <a:t>bash (kopya)</a:t>
            </a:r>
            <a:endParaRPr lang="tr-TR" sz="1500" dirty="0"/>
          </a:p>
          <a:p>
            <a:pPr algn="ctr" indent="0" marL="0">
              <a:buNone/>
            </a:pPr>
            <a:r>
              <a:rPr lang="tr-TR" sz="1100" dirty="0">
                <a:solidFill>
                  <a:srgbClr val="212121"/>
                </a:solidFill>
                <a:latin typeface="Calibri" pitchFamily="34" charset="0"/>
                <a:ea typeface="Calibri" pitchFamily="34" charset="-122"/>
                <a:cs typeface="Calibri" pitchFamily="34" charset="-120"/>
              </a:rPr>
              <a:t>fork() sonrası çocuk</a:t>
            </a:r>
            <a:endParaRPr lang="tr-TR" sz="1500" dirty="0"/>
          </a:p>
        </p:txBody>
      </p:sp>
      <p:sp>
        <p:nvSpPr>
          <p:cNvPr id="10" name="Shape 8"/>
          <p:cNvSpPr/>
          <p:nvPr/>
        </p:nvSpPr>
        <p:spPr>
          <a:xfrm>
            <a:off x="6492240" y="1691640"/>
            <a:ext cx="2148840" cy="914400"/>
          </a:xfrm>
          <a:prstGeom prst="roundRect">
            <a:avLst>
              <a:gd name="adj" fmla="val 5000"/>
            </a:avLst>
          </a:prstGeom>
          <a:solidFill>
            <a:srgbClr val="36454F"/>
          </a:solidFill>
          <a:ln/>
        </p:spPr>
      </p:sp>
      <p:sp>
        <p:nvSpPr>
          <p:cNvPr id="11" name="Text 9"/>
          <p:cNvSpPr txBox="1"/>
          <p:nvPr/>
        </p:nvSpPr>
        <p:spPr>
          <a:xfrm>
            <a:off x="6492240" y="1691640"/>
            <a:ext cx="2148840" cy="914400"/>
          </a:xfrm>
          <a:prstGeom prst="rect">
            <a:avLst/>
          </a:prstGeom>
          <a:noFill/>
          <a:ln/>
        </p:spPr>
        <p:txBody>
          <a:bodyPr wrap="square" lIns="38100" tIns="38100" rIns="38100" bIns="38100" rtlCol="0" anchor="ctr"/>
          <a:lstStyle/>
          <a:p>
            <a:pPr algn="ctr" indent="0" marL="0">
              <a:buNone/>
            </a:pPr>
            <a:r>
              <a:rPr lang="tr-TR" sz="1600" b="1" dirty="0">
                <a:solidFill>
                  <a:srgbClr val="FFFFFF"/>
                </a:solidFill>
                <a:latin typeface="Calibri" pitchFamily="34" charset="0"/>
                <a:ea typeface="Calibri" pitchFamily="34" charset="-122"/>
                <a:cs typeface="Calibri" pitchFamily="34" charset="-120"/>
              </a:rPr>
              <a:t>ls</a:t>
            </a:r>
            <a:endParaRPr lang="tr-TR" sz="1600" dirty="0"/>
          </a:p>
          <a:p>
            <a:pPr algn="ctr" indent="0" marL="0">
              <a:buNone/>
            </a:pPr>
            <a:r>
              <a:rPr lang="tr-TR" sz="1100" dirty="0">
                <a:solidFill>
                  <a:srgbClr val="FFFFFF"/>
                </a:solidFill>
                <a:latin typeface="Calibri" pitchFamily="34" charset="0"/>
                <a:ea typeface="Calibri" pitchFamily="34" charset="-122"/>
                <a:cs typeface="Calibri" pitchFamily="34" charset="-120"/>
              </a:rPr>
              <a:t>exec() sonrası çocuk</a:t>
            </a:r>
            <a:endParaRPr lang="tr-TR" sz="1600" dirty="0"/>
          </a:p>
        </p:txBody>
      </p:sp>
      <p:sp>
        <p:nvSpPr>
          <p:cNvPr id="12" name="Shape 10"/>
          <p:cNvSpPr/>
          <p:nvPr/>
        </p:nvSpPr>
        <p:spPr>
          <a:xfrm>
            <a:off x="2715768" y="2148840"/>
            <a:ext cx="786384" cy="91"/>
          </a:xfrm>
          <a:prstGeom prst="line">
            <a:avLst/>
          </a:prstGeom>
          <a:noFill/>
          <a:ln w="25400">
            <a:solidFill>
              <a:srgbClr val="028090"/>
            </a:solidFill>
            <a:prstDash val="solid"/>
            <a:tailEnd type="triangle"/>
          </a:ln>
        </p:spPr>
      </p:sp>
      <p:sp>
        <p:nvSpPr>
          <p:cNvPr id="13" name="Shape 11"/>
          <p:cNvSpPr/>
          <p:nvPr/>
        </p:nvSpPr>
        <p:spPr>
          <a:xfrm>
            <a:off x="5687568" y="2148840"/>
            <a:ext cx="786384" cy="91"/>
          </a:xfrm>
          <a:prstGeom prst="line">
            <a:avLst/>
          </a:prstGeom>
          <a:noFill/>
          <a:ln w="25400">
            <a:solidFill>
              <a:srgbClr val="028090"/>
            </a:solidFill>
            <a:prstDash val="solid"/>
            <a:tailEnd type="triangle"/>
          </a:ln>
        </p:spPr>
      </p:sp>
      <p:sp>
        <p:nvSpPr>
          <p:cNvPr id="14" name="Text 12"/>
          <p:cNvSpPr txBox="1"/>
          <p:nvPr/>
        </p:nvSpPr>
        <p:spPr>
          <a:xfrm>
            <a:off x="2697480" y="1737360"/>
            <a:ext cx="822960" cy="320040"/>
          </a:xfrm>
          <a:prstGeom prst="rect">
            <a:avLst/>
          </a:prstGeom>
          <a:noFill/>
          <a:ln/>
        </p:spPr>
        <p:txBody>
          <a:bodyPr wrap="square" lIns="0" tIns="0" rIns="0" bIns="0" rtlCol="0" anchor="t"/>
          <a:lstStyle/>
          <a:p>
            <a:pPr algn="ctr" indent="0" marL="0">
              <a:buNone/>
            </a:pPr>
            <a:r>
              <a:rPr lang="tr-TR" sz="1200" b="1" dirty="0">
                <a:solidFill>
                  <a:srgbClr val="028090"/>
                </a:solidFill>
                <a:latin typeface="Calibri" pitchFamily="34" charset="0"/>
                <a:ea typeface="Calibri" pitchFamily="34" charset="-122"/>
                <a:cs typeface="Calibri" pitchFamily="34" charset="-120"/>
              </a:rPr>
              <a:t>fork()</a:t>
            </a:r>
            <a:endParaRPr lang="tr-TR" sz="1200" dirty="0"/>
          </a:p>
        </p:txBody>
      </p:sp>
      <p:sp>
        <p:nvSpPr>
          <p:cNvPr id="15" name="Text 13"/>
          <p:cNvSpPr txBox="1"/>
          <p:nvPr/>
        </p:nvSpPr>
        <p:spPr>
          <a:xfrm>
            <a:off x="5669280" y="1737360"/>
            <a:ext cx="822960" cy="320040"/>
          </a:xfrm>
          <a:prstGeom prst="rect">
            <a:avLst/>
          </a:prstGeom>
          <a:noFill/>
          <a:ln/>
        </p:spPr>
        <p:txBody>
          <a:bodyPr wrap="square" lIns="0" tIns="0" rIns="0" bIns="0" rtlCol="0" anchor="t"/>
          <a:lstStyle/>
          <a:p>
            <a:pPr algn="ctr" indent="0" marL="0">
              <a:buNone/>
            </a:pPr>
            <a:r>
              <a:rPr lang="tr-TR" sz="1200" b="1" dirty="0">
                <a:solidFill>
                  <a:srgbClr val="028090"/>
                </a:solidFill>
                <a:latin typeface="Calibri" pitchFamily="34" charset="0"/>
                <a:ea typeface="Calibri" pitchFamily="34" charset="-122"/>
                <a:cs typeface="Calibri" pitchFamily="34" charset="-120"/>
              </a:rPr>
              <a:t>exec()</a:t>
            </a:r>
            <a:endParaRPr lang="tr-TR" sz="1200" dirty="0"/>
          </a:p>
        </p:txBody>
      </p:sp>
      <p:sp>
        <p:nvSpPr>
          <p:cNvPr id="16" name="Shape 14"/>
          <p:cNvSpPr/>
          <p:nvPr/>
        </p:nvSpPr>
        <p:spPr>
          <a:xfrm>
            <a:off x="7571232" y="2624328"/>
            <a:ext cx="91" cy="484632"/>
          </a:xfrm>
          <a:prstGeom prst="line">
            <a:avLst/>
          </a:prstGeom>
          <a:noFill/>
          <a:ln w="22225">
            <a:solidFill>
              <a:srgbClr val="50808E"/>
            </a:solidFill>
            <a:prstDash val="solid"/>
          </a:ln>
        </p:spPr>
      </p:sp>
      <p:sp>
        <p:nvSpPr>
          <p:cNvPr id="17" name="Shape 15"/>
          <p:cNvSpPr/>
          <p:nvPr/>
        </p:nvSpPr>
        <p:spPr>
          <a:xfrm flipH="1">
            <a:off x="1618488" y="3108960"/>
            <a:ext cx="5952744" cy="91"/>
          </a:xfrm>
          <a:prstGeom prst="line">
            <a:avLst/>
          </a:prstGeom>
          <a:noFill/>
          <a:ln w="22225">
            <a:solidFill>
              <a:srgbClr val="50808E"/>
            </a:solidFill>
            <a:prstDash val="solid"/>
          </a:ln>
        </p:spPr>
      </p:sp>
      <p:sp>
        <p:nvSpPr>
          <p:cNvPr id="18" name="Shape 16"/>
          <p:cNvSpPr/>
          <p:nvPr/>
        </p:nvSpPr>
        <p:spPr>
          <a:xfrm flipV="1">
            <a:off x="1618488" y="2633472"/>
            <a:ext cx="91" cy="475488"/>
          </a:xfrm>
          <a:prstGeom prst="line">
            <a:avLst/>
          </a:prstGeom>
          <a:noFill/>
          <a:ln w="22225">
            <a:solidFill>
              <a:srgbClr val="50808E"/>
            </a:solidFill>
            <a:prstDash val="solid"/>
            <a:tailEnd type="triangle"/>
          </a:ln>
        </p:spPr>
      </p:sp>
      <p:sp>
        <p:nvSpPr>
          <p:cNvPr id="19" name="Text 17"/>
          <p:cNvSpPr txBox="1"/>
          <p:nvPr/>
        </p:nvSpPr>
        <p:spPr>
          <a:xfrm>
            <a:off x="1828800" y="3154680"/>
            <a:ext cx="6035040" cy="320040"/>
          </a:xfrm>
          <a:prstGeom prst="rect">
            <a:avLst/>
          </a:prstGeom>
          <a:noFill/>
          <a:ln/>
        </p:spPr>
        <p:txBody>
          <a:bodyPr wrap="square" lIns="0" tIns="0" rIns="0" bIns="0" rtlCol="0" anchor="t"/>
          <a:lstStyle/>
          <a:p>
            <a:pPr indent="0" marL="0">
              <a:buNone/>
            </a:pPr>
            <a:r>
              <a:rPr lang="tr-TR" sz="1200" i="1" dirty="0">
                <a:solidFill>
                  <a:srgbClr val="50808E"/>
                </a:solidFill>
                <a:latin typeface="Calibri" pitchFamily="34" charset="0"/>
                <a:ea typeface="Calibri" pitchFamily="34" charset="-122"/>
                <a:cs typeface="Calibri" pitchFamily="34" charset="-120"/>
              </a:rPr>
              <a:t>ls exit() çağırır; bekleyen kabuğun wait() çağrısı döner → yeni istem</a:t>
            </a:r>
            <a:endParaRPr lang="tr-TR" sz="1200" dirty="0"/>
          </a:p>
        </p:txBody>
      </p:sp>
      <p:sp>
        <p:nvSpPr>
          <p:cNvPr id="20" name="Shape 18"/>
          <p:cNvSpPr/>
          <p:nvPr/>
        </p:nvSpPr>
        <p:spPr>
          <a:xfrm>
            <a:off x="548640" y="3703320"/>
            <a:ext cx="8092440" cy="2560320"/>
          </a:xfrm>
          <a:prstGeom prst="roundRect">
            <a:avLst>
              <a:gd name="adj" fmla="val 2143"/>
            </a:avLst>
          </a:prstGeom>
          <a:solidFill>
            <a:srgbClr val="F2F2F2"/>
          </a:solidFill>
          <a:ln/>
          <a:effectLst>
            <a:outerShdw sx="100000" sy="100000" kx="0" ky="0" algn="bl" rotWithShape="0" blurRad="101600" dist="25400" dir="5400000">
              <a:srgbClr val="000000">
                <a:alpha val="12000"/>
              </a:srgbClr>
            </a:outerShdw>
          </a:effectLst>
        </p:spPr>
      </p:sp>
      <p:sp>
        <p:nvSpPr>
          <p:cNvPr id="21" name="Text 19"/>
          <p:cNvSpPr txBox="1"/>
          <p:nvPr/>
        </p:nvSpPr>
        <p:spPr>
          <a:xfrm>
            <a:off x="777240" y="3886200"/>
            <a:ext cx="76352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Beş adım</a:t>
            </a:r>
            <a:endParaRPr lang="tr-TR" sz="1500" dirty="0"/>
          </a:p>
        </p:txBody>
      </p:sp>
      <p:sp>
        <p:nvSpPr>
          <p:cNvPr id="22" name="Text 20"/>
          <p:cNvSpPr txBox="1"/>
          <p:nvPr/>
        </p:nvSpPr>
        <p:spPr>
          <a:xfrm>
            <a:off x="777240" y="4343400"/>
            <a:ext cx="7635240" cy="1783080"/>
          </a:xfrm>
          <a:prstGeom prst="rect">
            <a:avLst/>
          </a:prstGeom>
          <a:noFill/>
          <a:ln/>
        </p:spPr>
        <p:txBody>
          <a:bodyPr wrap="square" lIns="0" tIns="0" rIns="0" bIns="0" rtlCol="0" anchor="t"/>
          <a:lstStyle/>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1 Oku:</a:t>
            </a:r>
            <a:r>
              <a:rPr lang="tr-TR" sz="1350" dirty="0">
                <a:solidFill>
                  <a:srgbClr val="3A464C"/>
                </a:solidFill>
                <a:latin typeface="Calibri" pitchFamily="34" charset="0"/>
                <a:ea typeface="Calibri" pitchFamily="34" charset="-122"/>
                <a:cs typeface="Calibri" pitchFamily="34" charset="-120"/>
              </a:rPr>
              <a:t> bash terminalden "ls" satırını okur.</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2 Bul:</a:t>
            </a:r>
            <a:r>
              <a:rPr lang="tr-TR" sz="1350" dirty="0">
                <a:solidFill>
                  <a:srgbClr val="3A464C"/>
                </a:solidFill>
                <a:latin typeface="Calibri" pitchFamily="34" charset="0"/>
                <a:ea typeface="Calibri" pitchFamily="34" charset="-122"/>
                <a:cs typeface="Calibri" pitchFamily="34" charset="-120"/>
              </a:rPr>
              <a:t> ls yerleşik değildir; bash $PATH içindeki dizinleri arar ve /usr/bin/ls'yi bulur.</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3 fork():</a:t>
            </a:r>
            <a:r>
              <a:rPr lang="tr-TR" sz="1350" dirty="0">
                <a:solidFill>
                  <a:srgbClr val="3A464C"/>
                </a:solidFill>
                <a:latin typeface="Calibri" pitchFamily="34" charset="0"/>
                <a:ea typeface="Calibri" pitchFamily="34" charset="-122"/>
                <a:cs typeface="Calibri" pitchFamily="34" charset="-120"/>
              </a:rPr>
              <a:t> bash bir çocuk süreç, yani kendinin bir kopyasını oluşturur.</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4 exec():</a:t>
            </a:r>
            <a:r>
              <a:rPr lang="tr-TR" sz="1350" dirty="0">
                <a:solidFill>
                  <a:srgbClr val="3A464C"/>
                </a:solidFill>
                <a:latin typeface="Calibri" pitchFamily="34" charset="0"/>
                <a:ea typeface="Calibri" pitchFamily="34" charset="-122"/>
                <a:cs typeface="Calibri" pitchFamily="34" charset="-120"/>
              </a:rPr>
              <a:t> çocuk kendi programını /usr/bin/ls ile değiştirir; ls çalışır, yazar, çıkar.</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5 wait():</a:t>
            </a:r>
            <a:r>
              <a:rPr lang="tr-TR" sz="1350" dirty="0">
                <a:solidFill>
                  <a:srgbClr val="3A464C"/>
                </a:solidFill>
                <a:latin typeface="Calibri" pitchFamily="34" charset="0"/>
                <a:ea typeface="Calibri" pitchFamily="34" charset="-122"/>
                <a:cs typeface="Calibri" pitchFamily="34" charset="-120"/>
              </a:rPr>
              <a:t> ebeveyn kabuk bekler, sonra yeni istemi yazar.</a:t>
            </a:r>
            <a:endParaRPr lang="tr-TR" sz="1350" dirty="0"/>
          </a:p>
        </p:txBody>
      </p:sp>
      <p:sp>
        <p:nvSpPr>
          <p:cNvPr id="23" name="Shape 21"/>
          <p:cNvSpPr/>
          <p:nvPr/>
        </p:nvSpPr>
        <p:spPr>
          <a:xfrm>
            <a:off x="8869680" y="3703320"/>
            <a:ext cx="2788920" cy="2560320"/>
          </a:xfrm>
          <a:prstGeom prst="roundRect">
            <a:avLst>
              <a:gd name="adj" fmla="val 2143"/>
            </a:avLst>
          </a:prstGeom>
          <a:solidFill>
            <a:srgbClr val="36454F"/>
          </a:solidFill>
          <a:ln/>
          <a:effectLst>
            <a:outerShdw sx="100000" sy="100000" kx="0" ky="0" algn="bl" rotWithShape="0" blurRad="101600" dist="25400" dir="5400000">
              <a:srgbClr val="000000">
                <a:alpha val="12000"/>
              </a:srgbClr>
            </a:outerShdw>
          </a:effectLst>
        </p:spPr>
      </p:sp>
      <p:sp>
        <p:nvSpPr>
          <p:cNvPr id="24" name="Text 22"/>
          <p:cNvSpPr txBox="1"/>
          <p:nvPr/>
        </p:nvSpPr>
        <p:spPr>
          <a:xfrm>
            <a:off x="9098280" y="3703320"/>
            <a:ext cx="2331720" cy="256032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Bu, 3. haftadaki fork–exec–wait kalıbının ta kendisidir. Yazdığınız her harici komut kendi PID'si olan yeni bir süreçtir.</a:t>
            </a:r>
            <a:endParaRPr lang="tr-TR"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2. HAFTAYLA BAĞLANTI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Komutlar Sistem Çağrısına Dönüşür: strace ls</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9  ·  12</a:t>
            </a:r>
            <a:endParaRPr lang="tr-TR" sz="900" dirty="0"/>
          </a:p>
        </p:txBody>
      </p:sp>
      <p:sp>
        <p:nvSpPr>
          <p:cNvPr id="6" name="Shape 4"/>
          <p:cNvSpPr/>
          <p:nvPr/>
        </p:nvSpPr>
        <p:spPr>
          <a:xfrm>
            <a:off x="548640" y="1508760"/>
            <a:ext cx="11109960" cy="2331720"/>
          </a:xfrm>
          <a:prstGeom prst="roundRect">
            <a:avLst>
              <a:gd name="adj" fmla="val 1961"/>
            </a:avLst>
          </a:prstGeom>
          <a:solidFill>
            <a:srgbClr val="212121"/>
          </a:solidFill>
          <a:ln/>
        </p:spPr>
      </p:sp>
      <p:sp>
        <p:nvSpPr>
          <p:cNvPr id="7" name="Text 5"/>
          <p:cNvSpPr txBox="1"/>
          <p:nvPr/>
        </p:nvSpPr>
        <p:spPr>
          <a:xfrm>
            <a:off x="731520" y="1618488"/>
            <a:ext cx="10744200" cy="2112264"/>
          </a:xfrm>
          <a:prstGeom prst="rect">
            <a:avLst/>
          </a:prstGeom>
          <a:noFill/>
          <a:ln/>
        </p:spPr>
        <p:txBody>
          <a:bodyPr wrap="square" lIns="0" tIns="0" rIns="0" bIns="0" rtlCol="0" anchor="t"/>
          <a:lstStyle/>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 </a:t>
            </a:r>
            <a:r>
              <a:rPr lang="tr-TR" sz="1200" b="1" dirty="0">
                <a:solidFill>
                  <a:srgbClr val="FFFFFF"/>
                </a:solidFill>
                <a:latin typeface="Consolas" pitchFamily="34" charset="0"/>
                <a:ea typeface="Consolas" pitchFamily="34" charset="-122"/>
                <a:cs typeface="Consolas" pitchFamily="34" charset="-120"/>
              </a:rPr>
              <a:t>strace -e trace=execve,getdents64,write ls docs &gt; /dev/null</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execve("/usr/bin/ls", ["ls", "docs"], 0x7ffc5b53bce8 /* 13 vars */) = 0</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getdents64(3, 0x55fd38daa8e0 /* 9 entries */, 32768) = 288</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getdents64(3, 0x55fd38daa8e0 /* 0 entries */, 32768) = 0</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write(1, "final report.txt\nlinux_quotes.tx"..., 86) = 86</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 exited with 0 +++</a:t>
            </a:r>
            <a:endParaRPr lang="tr-TR" sz="1200" dirty="0"/>
          </a:p>
        </p:txBody>
      </p:sp>
      <p:sp>
        <p:nvSpPr>
          <p:cNvPr id="8" name="Shape 6"/>
          <p:cNvSpPr/>
          <p:nvPr/>
        </p:nvSpPr>
        <p:spPr>
          <a:xfrm>
            <a:off x="548640" y="4023360"/>
            <a:ext cx="5486400" cy="2240280"/>
          </a:xfrm>
          <a:prstGeom prst="roundRect">
            <a:avLst>
              <a:gd name="adj" fmla="val 2449"/>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777240" y="4206240"/>
            <a:ext cx="50292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İzi okumak</a:t>
            </a:r>
            <a:endParaRPr lang="tr-TR" sz="1500" dirty="0"/>
          </a:p>
        </p:txBody>
      </p:sp>
      <p:sp>
        <p:nvSpPr>
          <p:cNvPr id="10" name="Text 8"/>
          <p:cNvSpPr txBox="1"/>
          <p:nvPr/>
        </p:nvSpPr>
        <p:spPr>
          <a:xfrm>
            <a:off x="777240" y="4663440"/>
            <a:ext cx="5029200" cy="1463040"/>
          </a:xfrm>
          <a:prstGeom prst="rect">
            <a:avLst/>
          </a:prstGeom>
          <a:noFill/>
          <a:ln/>
        </p:spPr>
        <p:txBody>
          <a:bodyPr wrap="square" lIns="0" tIns="0" rIns="0" bIns="0" rtlCol="0" anchor="t"/>
          <a:lstStyle/>
          <a:p>
            <a:pPr marL="228600" indent="-228600">
              <a:spcAft>
                <a:spcPts val="400"/>
              </a:spcAft>
              <a:buSzPct val="100000"/>
              <a:buChar char="•"/>
            </a:pPr>
            <a:r>
              <a:rPr lang="tr-TR" sz="1300" b="1" dirty="0">
                <a:solidFill>
                  <a:srgbClr val="3A464C"/>
                </a:solidFill>
                <a:latin typeface="Calibri" pitchFamily="34" charset="0"/>
                <a:ea typeface="Calibri" pitchFamily="34" charset="-122"/>
                <a:cs typeface="Calibri" pitchFamily="34" charset="-120"/>
              </a:rPr>
              <a:t>execve:</a:t>
            </a:r>
            <a:r>
              <a:rPr lang="tr-TR" sz="1300" dirty="0">
                <a:solidFill>
                  <a:srgbClr val="3A464C"/>
                </a:solidFill>
                <a:latin typeface="Calibri" pitchFamily="34" charset="0"/>
                <a:ea typeface="Calibri" pitchFamily="34" charset="-122"/>
                <a:cs typeface="Calibri" pitchFamily="34" charset="-120"/>
              </a:rPr>
              <a:t> çocuk, ["ls", "docs"] argümanlarıyla /usr/bin/ls'ye dönüşür.</a:t>
            </a:r>
            <a:endParaRPr lang="tr-TR" sz="1300" dirty="0"/>
          </a:p>
          <a:p>
            <a:pPr marL="228600" indent="-228600">
              <a:spcAft>
                <a:spcPts val="400"/>
              </a:spcAft>
              <a:buSzPct val="100000"/>
              <a:buChar char="•"/>
            </a:pPr>
            <a:r>
              <a:rPr lang="tr-TR" sz="1300" b="1" dirty="0">
                <a:solidFill>
                  <a:srgbClr val="3A464C"/>
                </a:solidFill>
                <a:latin typeface="Calibri" pitchFamily="34" charset="0"/>
                <a:ea typeface="Calibri" pitchFamily="34" charset="-122"/>
                <a:cs typeface="Calibri" pitchFamily="34" charset="-120"/>
              </a:rPr>
              <a:t>getdents64:</a:t>
            </a:r>
            <a:r>
              <a:rPr lang="tr-TR" sz="1300" dirty="0">
                <a:solidFill>
                  <a:srgbClr val="3A464C"/>
                </a:solidFill>
                <a:latin typeface="Calibri" pitchFamily="34" charset="0"/>
                <a:ea typeface="Calibri" pitchFamily="34" charset="-122"/>
                <a:cs typeface="Calibri" pitchFamily="34" charset="-120"/>
              </a:rPr>
              <a:t> "dizin girdilerini al" — dizini okur: 9 girdi (6 dosya, .settings, . ve ..).</a:t>
            </a:r>
            <a:endParaRPr lang="tr-TR" sz="1300" dirty="0"/>
          </a:p>
          <a:p>
            <a:pPr marL="228600" indent="-228600">
              <a:spcAft>
                <a:spcPts val="400"/>
              </a:spcAft>
              <a:buSzPct val="100000"/>
              <a:buChar char="•"/>
            </a:pPr>
            <a:r>
              <a:rPr lang="tr-TR" sz="1300" b="1" dirty="0">
                <a:solidFill>
                  <a:srgbClr val="3A464C"/>
                </a:solidFill>
                <a:latin typeface="Calibri" pitchFamily="34" charset="0"/>
                <a:ea typeface="Calibri" pitchFamily="34" charset="-122"/>
                <a:cs typeface="Calibri" pitchFamily="34" charset="-120"/>
              </a:rPr>
              <a:t>write(1, …):</a:t>
            </a:r>
            <a:r>
              <a:rPr lang="tr-TR" sz="1300" dirty="0">
                <a:solidFill>
                  <a:srgbClr val="3A464C"/>
                </a:solidFill>
                <a:latin typeface="Calibri" pitchFamily="34" charset="0"/>
                <a:ea typeface="Calibri" pitchFamily="34" charset="-122"/>
                <a:cs typeface="Calibri" pitchFamily="34" charset="-120"/>
              </a:rPr>
              <a:t> 1 numaralı dosya tanımlayıcısına (standart çıktı) 86 bayt yazar.</a:t>
            </a:r>
            <a:endParaRPr lang="tr-TR" sz="1300" dirty="0"/>
          </a:p>
        </p:txBody>
      </p:sp>
      <p:sp>
        <p:nvSpPr>
          <p:cNvPr id="11" name="Shape 9"/>
          <p:cNvSpPr/>
          <p:nvPr/>
        </p:nvSpPr>
        <p:spPr>
          <a:xfrm>
            <a:off x="6263640" y="4023360"/>
            <a:ext cx="5394960" cy="2240280"/>
          </a:xfrm>
          <a:prstGeom prst="roundRect">
            <a:avLst>
              <a:gd name="adj" fmla="val 2449"/>
            </a:avLst>
          </a:prstGeom>
          <a:solidFill>
            <a:srgbClr val="F2F2F2"/>
          </a:solidFill>
          <a:ln/>
          <a:effectLst>
            <a:outerShdw sx="100000" sy="100000" kx="0" ky="0" algn="bl" rotWithShape="0" blurRad="101600" dist="25400" dir="5400000">
              <a:srgbClr val="000000">
                <a:alpha val="12000"/>
              </a:srgbClr>
            </a:outerShdw>
          </a:effectLst>
        </p:spPr>
      </p:sp>
      <p:sp>
        <p:nvSpPr>
          <p:cNvPr id="12" name="Text 10"/>
          <p:cNvSpPr txBox="1"/>
          <p:nvPr/>
        </p:nvSpPr>
        <p:spPr>
          <a:xfrm>
            <a:off x="6492240" y="4206240"/>
            <a:ext cx="49377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Bu neden önemli?</a:t>
            </a:r>
            <a:endParaRPr lang="tr-TR" sz="1500" dirty="0"/>
          </a:p>
        </p:txBody>
      </p:sp>
      <p:sp>
        <p:nvSpPr>
          <p:cNvPr id="13" name="Text 11"/>
          <p:cNvSpPr txBox="1"/>
          <p:nvPr/>
        </p:nvSpPr>
        <p:spPr>
          <a:xfrm>
            <a:off x="6492240" y="4663440"/>
            <a:ext cx="4937760" cy="1463040"/>
          </a:xfrm>
          <a:prstGeom prst="rect">
            <a:avLst/>
          </a:prstGeom>
          <a:noFill/>
          <a:ln/>
        </p:spPr>
        <p:txBody>
          <a:bodyPr wrap="square" lIns="0" tIns="0" rIns="0" bIns="0" rtlCol="0" anchor="t"/>
          <a:lstStyle/>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ls diski kendisi okuyamaz: her program gibi çekirdekten ister (ikili mod, 2. hafta).</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Dizin, (ad, düğüm) çiftlerini tutan bir dosyadır (7. hafta); getdents64 bu çiftleri okur.</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&gt; /dev/null, ls'nin kendi çıktısını gizler (12. hafta); yalnızca strace'in raporu kalır.</a:t>
            </a:r>
            <a:endParaRPr lang="tr-TR"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EKRANI OKUMAK</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İstem ve Bir Komutun Anatomisi</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9  ·  13</a:t>
            </a:r>
            <a:endParaRPr lang="tr-TR" sz="900" dirty="0"/>
          </a:p>
        </p:txBody>
      </p:sp>
      <p:sp>
        <p:nvSpPr>
          <p:cNvPr id="6" name="Shape 4"/>
          <p:cNvSpPr/>
          <p:nvPr/>
        </p:nvSpPr>
        <p:spPr>
          <a:xfrm>
            <a:off x="640080" y="1600200"/>
            <a:ext cx="1179576" cy="566928"/>
          </a:xfrm>
          <a:prstGeom prst="roundRect">
            <a:avLst>
              <a:gd name="adj" fmla="val 8065"/>
            </a:avLst>
          </a:prstGeom>
          <a:solidFill>
            <a:srgbClr val="36454F"/>
          </a:solidFill>
          <a:ln/>
        </p:spPr>
      </p:sp>
      <p:sp>
        <p:nvSpPr>
          <p:cNvPr id="7" name="Text 5"/>
          <p:cNvSpPr txBox="1"/>
          <p:nvPr/>
        </p:nvSpPr>
        <p:spPr>
          <a:xfrm>
            <a:off x="640080" y="1600200"/>
            <a:ext cx="1179576" cy="566928"/>
          </a:xfrm>
          <a:prstGeom prst="rect">
            <a:avLst/>
          </a:prstGeom>
          <a:noFill/>
          <a:ln/>
        </p:spPr>
        <p:txBody>
          <a:bodyPr wrap="square" lIns="38100" tIns="38100" rIns="38100" bIns="38100" rtlCol="0" anchor="ctr"/>
          <a:lstStyle/>
          <a:p>
            <a:pPr algn="ctr" indent="0" marL="0">
              <a:buNone/>
            </a:pPr>
            <a:r>
              <a:rPr lang="tr-TR" sz="1800" b="1" dirty="0">
                <a:solidFill>
                  <a:srgbClr val="02C39A"/>
                </a:solidFill>
                <a:latin typeface="Consolas" pitchFamily="34" charset="0"/>
                <a:ea typeface="Consolas" pitchFamily="34" charset="-122"/>
                <a:cs typeface="Consolas" pitchFamily="34" charset="-120"/>
              </a:rPr>
              <a:t>student</a:t>
            </a:r>
            <a:endParaRPr lang="tr-TR" sz="1800" dirty="0"/>
          </a:p>
        </p:txBody>
      </p:sp>
      <p:sp>
        <p:nvSpPr>
          <p:cNvPr id="8" name="Text 6"/>
          <p:cNvSpPr txBox="1"/>
          <p:nvPr/>
        </p:nvSpPr>
        <p:spPr>
          <a:xfrm>
            <a:off x="548640" y="2203704"/>
            <a:ext cx="1362456" cy="274320"/>
          </a:xfrm>
          <a:prstGeom prst="rect">
            <a:avLst/>
          </a:prstGeom>
          <a:noFill/>
          <a:ln/>
        </p:spPr>
        <p:txBody>
          <a:bodyPr wrap="square" lIns="0" tIns="0" rIns="0" bIns="0" rtlCol="0" anchor="t"/>
          <a:lstStyle/>
          <a:p>
            <a:pPr algn="ctr" indent="0" marL="0">
              <a:buNone/>
            </a:pPr>
            <a:r>
              <a:rPr lang="tr-TR" sz="1100" i="1" dirty="0">
                <a:solidFill>
                  <a:srgbClr val="6B7679"/>
                </a:solidFill>
                <a:latin typeface="Calibri" pitchFamily="34" charset="0"/>
                <a:ea typeface="Calibri" pitchFamily="34" charset="-122"/>
                <a:cs typeface="Calibri" pitchFamily="34" charset="-120"/>
              </a:rPr>
              <a:t>kullanıcı</a:t>
            </a:r>
            <a:endParaRPr lang="tr-TR" sz="1100" dirty="0"/>
          </a:p>
        </p:txBody>
      </p:sp>
      <p:sp>
        <p:nvSpPr>
          <p:cNvPr id="9" name="Shape 7"/>
          <p:cNvSpPr/>
          <p:nvPr/>
        </p:nvSpPr>
        <p:spPr>
          <a:xfrm>
            <a:off x="1874520" y="1600200"/>
            <a:ext cx="265176" cy="566928"/>
          </a:xfrm>
          <a:prstGeom prst="roundRect">
            <a:avLst>
              <a:gd name="adj" fmla="val 17241"/>
            </a:avLst>
          </a:prstGeom>
          <a:solidFill>
            <a:srgbClr val="F2F2F2"/>
          </a:solidFill>
          <a:ln/>
        </p:spPr>
      </p:sp>
      <p:sp>
        <p:nvSpPr>
          <p:cNvPr id="10" name="Text 8"/>
          <p:cNvSpPr txBox="1"/>
          <p:nvPr/>
        </p:nvSpPr>
        <p:spPr>
          <a:xfrm>
            <a:off x="1874520" y="1600200"/>
            <a:ext cx="265176" cy="566928"/>
          </a:xfrm>
          <a:prstGeom prst="rect">
            <a:avLst/>
          </a:prstGeom>
          <a:noFill/>
          <a:ln/>
        </p:spPr>
        <p:txBody>
          <a:bodyPr wrap="square" lIns="38100" tIns="38100" rIns="38100" bIns="38100" rtlCol="0" anchor="ctr"/>
          <a:lstStyle/>
          <a:p>
            <a:pPr algn="ctr" indent="0" marL="0">
              <a:buNone/>
            </a:pPr>
            <a:r>
              <a:rPr lang="tr-TR" sz="1800" b="1" dirty="0">
                <a:solidFill>
                  <a:srgbClr val="212121"/>
                </a:solidFill>
                <a:latin typeface="Consolas" pitchFamily="34" charset="0"/>
                <a:ea typeface="Consolas" pitchFamily="34" charset="-122"/>
                <a:cs typeface="Consolas" pitchFamily="34" charset="-120"/>
              </a:rPr>
              <a:t>@</a:t>
            </a:r>
            <a:endParaRPr lang="tr-TR" sz="1800" dirty="0"/>
          </a:p>
        </p:txBody>
      </p:sp>
      <p:sp>
        <p:nvSpPr>
          <p:cNvPr id="11" name="Shape 9"/>
          <p:cNvSpPr/>
          <p:nvPr/>
        </p:nvSpPr>
        <p:spPr>
          <a:xfrm>
            <a:off x="2194560" y="1600200"/>
            <a:ext cx="1408176" cy="566928"/>
          </a:xfrm>
          <a:prstGeom prst="roundRect">
            <a:avLst>
              <a:gd name="adj" fmla="val 8065"/>
            </a:avLst>
          </a:prstGeom>
          <a:solidFill>
            <a:srgbClr val="36454F"/>
          </a:solidFill>
          <a:ln/>
        </p:spPr>
      </p:sp>
      <p:sp>
        <p:nvSpPr>
          <p:cNvPr id="12" name="Text 10"/>
          <p:cNvSpPr txBox="1"/>
          <p:nvPr/>
        </p:nvSpPr>
        <p:spPr>
          <a:xfrm>
            <a:off x="2194560" y="1600200"/>
            <a:ext cx="1408176" cy="566928"/>
          </a:xfrm>
          <a:prstGeom prst="rect">
            <a:avLst/>
          </a:prstGeom>
          <a:noFill/>
          <a:ln/>
        </p:spPr>
        <p:txBody>
          <a:bodyPr wrap="square" lIns="38100" tIns="38100" rIns="38100" bIns="38100" rtlCol="0" anchor="ctr"/>
          <a:lstStyle/>
          <a:p>
            <a:pPr algn="ctr" indent="0" marL="0">
              <a:buNone/>
            </a:pPr>
            <a:r>
              <a:rPr lang="tr-TR" sz="1800" b="1" dirty="0">
                <a:solidFill>
                  <a:srgbClr val="02C39A"/>
                </a:solidFill>
                <a:latin typeface="Consolas" pitchFamily="34" charset="0"/>
                <a:ea typeface="Consolas" pitchFamily="34" charset="-122"/>
                <a:cs typeface="Consolas" pitchFamily="34" charset="-120"/>
              </a:rPr>
              <a:t>okan-lab</a:t>
            </a:r>
            <a:endParaRPr lang="tr-TR" sz="1800" dirty="0"/>
          </a:p>
        </p:txBody>
      </p:sp>
      <p:sp>
        <p:nvSpPr>
          <p:cNvPr id="13" name="Text 11"/>
          <p:cNvSpPr txBox="1"/>
          <p:nvPr/>
        </p:nvSpPr>
        <p:spPr>
          <a:xfrm>
            <a:off x="2103120" y="2203704"/>
            <a:ext cx="1591056" cy="274320"/>
          </a:xfrm>
          <a:prstGeom prst="rect">
            <a:avLst/>
          </a:prstGeom>
          <a:noFill/>
          <a:ln/>
        </p:spPr>
        <p:txBody>
          <a:bodyPr wrap="square" lIns="0" tIns="0" rIns="0" bIns="0" rtlCol="0" anchor="t"/>
          <a:lstStyle/>
          <a:p>
            <a:pPr algn="ctr" indent="0" marL="0">
              <a:buNone/>
            </a:pPr>
            <a:r>
              <a:rPr lang="tr-TR" sz="1100" i="1" dirty="0">
                <a:solidFill>
                  <a:srgbClr val="6B7679"/>
                </a:solidFill>
                <a:latin typeface="Calibri" pitchFamily="34" charset="0"/>
                <a:ea typeface="Calibri" pitchFamily="34" charset="-122"/>
                <a:cs typeface="Calibri" pitchFamily="34" charset="-120"/>
              </a:rPr>
              <a:t>bilgisayar</a:t>
            </a:r>
            <a:endParaRPr lang="tr-TR" sz="1100" dirty="0"/>
          </a:p>
        </p:txBody>
      </p:sp>
      <p:sp>
        <p:nvSpPr>
          <p:cNvPr id="14" name="Shape 12"/>
          <p:cNvSpPr/>
          <p:nvPr/>
        </p:nvSpPr>
        <p:spPr>
          <a:xfrm>
            <a:off x="3657600" y="1600200"/>
            <a:ext cx="265176" cy="566928"/>
          </a:xfrm>
          <a:prstGeom prst="roundRect">
            <a:avLst>
              <a:gd name="adj" fmla="val 17241"/>
            </a:avLst>
          </a:prstGeom>
          <a:solidFill>
            <a:srgbClr val="F2F2F2"/>
          </a:solidFill>
          <a:ln/>
        </p:spPr>
      </p:sp>
      <p:sp>
        <p:nvSpPr>
          <p:cNvPr id="15" name="Text 13"/>
          <p:cNvSpPr txBox="1"/>
          <p:nvPr/>
        </p:nvSpPr>
        <p:spPr>
          <a:xfrm>
            <a:off x="3657600" y="1600200"/>
            <a:ext cx="265176" cy="566928"/>
          </a:xfrm>
          <a:prstGeom prst="rect">
            <a:avLst/>
          </a:prstGeom>
          <a:noFill/>
          <a:ln/>
        </p:spPr>
        <p:txBody>
          <a:bodyPr wrap="square" lIns="38100" tIns="38100" rIns="38100" bIns="38100" rtlCol="0" anchor="ctr"/>
          <a:lstStyle/>
          <a:p>
            <a:pPr algn="ctr" indent="0" marL="0">
              <a:buNone/>
            </a:pPr>
            <a:r>
              <a:rPr lang="tr-TR" sz="1800" b="1" dirty="0">
                <a:solidFill>
                  <a:srgbClr val="212121"/>
                </a:solidFill>
                <a:latin typeface="Consolas" pitchFamily="34" charset="0"/>
                <a:ea typeface="Consolas" pitchFamily="34" charset="-122"/>
                <a:cs typeface="Consolas" pitchFamily="34" charset="-120"/>
              </a:rPr>
              <a:t>:</a:t>
            </a:r>
            <a:endParaRPr lang="tr-TR" sz="1800" dirty="0"/>
          </a:p>
        </p:txBody>
      </p:sp>
      <p:sp>
        <p:nvSpPr>
          <p:cNvPr id="16" name="Shape 14"/>
          <p:cNvSpPr/>
          <p:nvPr/>
        </p:nvSpPr>
        <p:spPr>
          <a:xfrm>
            <a:off x="3977640" y="1600200"/>
            <a:ext cx="1179576" cy="566928"/>
          </a:xfrm>
          <a:prstGeom prst="roundRect">
            <a:avLst>
              <a:gd name="adj" fmla="val 8065"/>
            </a:avLst>
          </a:prstGeom>
          <a:solidFill>
            <a:srgbClr val="36454F"/>
          </a:solidFill>
          <a:ln/>
        </p:spPr>
      </p:sp>
      <p:sp>
        <p:nvSpPr>
          <p:cNvPr id="17" name="Text 15"/>
          <p:cNvSpPr txBox="1"/>
          <p:nvPr/>
        </p:nvSpPr>
        <p:spPr>
          <a:xfrm>
            <a:off x="3977640" y="1600200"/>
            <a:ext cx="1179576" cy="566928"/>
          </a:xfrm>
          <a:prstGeom prst="rect">
            <a:avLst/>
          </a:prstGeom>
          <a:noFill/>
          <a:ln/>
        </p:spPr>
        <p:txBody>
          <a:bodyPr wrap="square" lIns="38100" tIns="38100" rIns="38100" bIns="38100" rtlCol="0" anchor="ctr"/>
          <a:lstStyle/>
          <a:p>
            <a:pPr algn="ctr" indent="0" marL="0">
              <a:buNone/>
            </a:pPr>
            <a:r>
              <a:rPr lang="tr-TR" sz="1800" b="1" dirty="0">
                <a:solidFill>
                  <a:srgbClr val="02C39A"/>
                </a:solidFill>
                <a:latin typeface="Consolas" pitchFamily="34" charset="0"/>
                <a:ea typeface="Consolas" pitchFamily="34" charset="-122"/>
                <a:cs typeface="Consolas" pitchFamily="34" charset="-120"/>
              </a:rPr>
              <a:t>~/lab</a:t>
            </a:r>
            <a:endParaRPr lang="tr-TR" sz="1800" dirty="0"/>
          </a:p>
        </p:txBody>
      </p:sp>
      <p:sp>
        <p:nvSpPr>
          <p:cNvPr id="18" name="Text 16"/>
          <p:cNvSpPr txBox="1"/>
          <p:nvPr/>
        </p:nvSpPr>
        <p:spPr>
          <a:xfrm>
            <a:off x="3886200" y="2203704"/>
            <a:ext cx="1362456" cy="274320"/>
          </a:xfrm>
          <a:prstGeom prst="rect">
            <a:avLst/>
          </a:prstGeom>
          <a:noFill/>
          <a:ln/>
        </p:spPr>
        <p:txBody>
          <a:bodyPr wrap="square" lIns="0" tIns="0" rIns="0" bIns="0" rtlCol="0" anchor="t"/>
          <a:lstStyle/>
          <a:p>
            <a:pPr algn="ctr" indent="0" marL="0">
              <a:buNone/>
            </a:pPr>
            <a:r>
              <a:rPr lang="tr-TR" sz="1100" i="1" dirty="0">
                <a:solidFill>
                  <a:srgbClr val="6B7679"/>
                </a:solidFill>
                <a:latin typeface="Calibri" pitchFamily="34" charset="0"/>
                <a:ea typeface="Calibri" pitchFamily="34" charset="-122"/>
                <a:cs typeface="Calibri" pitchFamily="34" charset="-120"/>
              </a:rPr>
              <a:t>geçerli dizin</a:t>
            </a:r>
            <a:endParaRPr lang="tr-TR" sz="1100" dirty="0"/>
          </a:p>
        </p:txBody>
      </p:sp>
      <p:sp>
        <p:nvSpPr>
          <p:cNvPr id="19" name="Shape 17"/>
          <p:cNvSpPr/>
          <p:nvPr/>
        </p:nvSpPr>
        <p:spPr>
          <a:xfrm>
            <a:off x="5212080" y="1600200"/>
            <a:ext cx="950976" cy="566928"/>
          </a:xfrm>
          <a:prstGeom prst="roundRect">
            <a:avLst>
              <a:gd name="adj" fmla="val 8065"/>
            </a:avLst>
          </a:prstGeom>
          <a:solidFill>
            <a:srgbClr val="36454F"/>
          </a:solidFill>
          <a:ln/>
        </p:spPr>
      </p:sp>
      <p:sp>
        <p:nvSpPr>
          <p:cNvPr id="20" name="Text 18"/>
          <p:cNvSpPr txBox="1"/>
          <p:nvPr/>
        </p:nvSpPr>
        <p:spPr>
          <a:xfrm>
            <a:off x="5212080" y="1600200"/>
            <a:ext cx="950976" cy="566928"/>
          </a:xfrm>
          <a:prstGeom prst="rect">
            <a:avLst/>
          </a:prstGeom>
          <a:noFill/>
          <a:ln/>
        </p:spPr>
        <p:txBody>
          <a:bodyPr wrap="square" lIns="38100" tIns="38100" rIns="38100" bIns="38100" rtlCol="0" anchor="ctr"/>
          <a:lstStyle/>
          <a:p>
            <a:pPr algn="ctr" indent="0" marL="0">
              <a:buNone/>
            </a:pPr>
            <a:r>
              <a:rPr lang="tr-TR" sz="1800" b="1" dirty="0">
                <a:solidFill>
                  <a:srgbClr val="02C39A"/>
                </a:solidFill>
                <a:latin typeface="Consolas" pitchFamily="34" charset="0"/>
                <a:ea typeface="Consolas" pitchFamily="34" charset="-122"/>
                <a:cs typeface="Consolas" pitchFamily="34" charset="-120"/>
              </a:rPr>
              <a:t>$</a:t>
            </a:r>
            <a:endParaRPr lang="tr-TR" sz="1800" dirty="0"/>
          </a:p>
        </p:txBody>
      </p:sp>
      <p:sp>
        <p:nvSpPr>
          <p:cNvPr id="21" name="Text 19"/>
          <p:cNvSpPr txBox="1"/>
          <p:nvPr/>
        </p:nvSpPr>
        <p:spPr>
          <a:xfrm>
            <a:off x="5120640" y="2203704"/>
            <a:ext cx="1133856" cy="274320"/>
          </a:xfrm>
          <a:prstGeom prst="rect">
            <a:avLst/>
          </a:prstGeom>
          <a:noFill/>
          <a:ln/>
        </p:spPr>
        <p:txBody>
          <a:bodyPr wrap="square" lIns="0" tIns="0" rIns="0" bIns="0" rtlCol="0" anchor="t"/>
          <a:lstStyle/>
          <a:p>
            <a:pPr algn="ctr" indent="0" marL="0">
              <a:buNone/>
            </a:pPr>
            <a:r>
              <a:rPr lang="tr-TR" sz="1100" i="1" dirty="0">
                <a:solidFill>
                  <a:srgbClr val="6B7679"/>
                </a:solidFill>
                <a:latin typeface="Calibri" pitchFamily="34" charset="0"/>
                <a:ea typeface="Calibri" pitchFamily="34" charset="-122"/>
                <a:cs typeface="Calibri" pitchFamily="34" charset="-120"/>
              </a:rPr>
              <a:t>normal kullanıcı</a:t>
            </a:r>
            <a:endParaRPr lang="tr-TR" sz="1100" dirty="0"/>
          </a:p>
        </p:txBody>
      </p:sp>
      <p:sp>
        <p:nvSpPr>
          <p:cNvPr id="22" name="Text 20"/>
          <p:cNvSpPr txBox="1"/>
          <p:nvPr/>
        </p:nvSpPr>
        <p:spPr>
          <a:xfrm>
            <a:off x="640080" y="2514600"/>
            <a:ext cx="5212080" cy="548640"/>
          </a:xfrm>
          <a:prstGeom prst="rect">
            <a:avLst/>
          </a:prstGeom>
          <a:noFill/>
          <a:ln/>
        </p:spPr>
        <p:txBody>
          <a:bodyPr wrap="square" lIns="0" tIns="0" rIns="0" bIns="0" rtlCol="0" anchor="t"/>
          <a:lstStyle/>
          <a:p>
            <a:pPr indent="0" marL="0">
              <a:buNone/>
            </a:pPr>
            <a:r>
              <a:rPr lang="tr-TR" sz="1200" dirty="0">
                <a:solidFill>
                  <a:srgbClr val="6B7679"/>
                </a:solidFill>
                <a:latin typeface="Calibri" pitchFamily="34" charset="0"/>
                <a:ea typeface="Calibri" pitchFamily="34" charset="-122"/>
                <a:cs typeface="Calibri" pitchFamily="34" charset="-120"/>
              </a:rPr>
              <a:t>~ = ev dizininiz /home/student  ·  $ yerine # görürseniz: root (yönetici)</a:t>
            </a:r>
            <a:endParaRPr lang="tr-TR" sz="1200" dirty="0"/>
          </a:p>
        </p:txBody>
      </p:sp>
      <p:sp>
        <p:nvSpPr>
          <p:cNvPr id="23" name="Text 21"/>
          <p:cNvSpPr txBox="1"/>
          <p:nvPr/>
        </p:nvSpPr>
        <p:spPr>
          <a:xfrm>
            <a:off x="640080" y="2971800"/>
            <a:ext cx="5303520" cy="365760"/>
          </a:xfrm>
          <a:prstGeom prst="rect">
            <a:avLst/>
          </a:prstGeom>
          <a:noFill/>
          <a:ln/>
        </p:spPr>
        <p:txBody>
          <a:bodyPr wrap="square" lIns="0" tIns="0" rIns="0" bIns="0" rtlCol="0" anchor="t"/>
          <a:lstStyle/>
          <a:p>
            <a:pPr indent="0" marL="0">
              <a:buNone/>
            </a:pPr>
            <a:r>
              <a:rPr lang="tr-TR" sz="1500" b="1" dirty="0">
                <a:solidFill>
                  <a:srgbClr val="028090"/>
                </a:solidFill>
                <a:latin typeface="Calibri" pitchFamily="34" charset="0"/>
                <a:ea typeface="Calibri" pitchFamily="34" charset="-122"/>
                <a:cs typeface="Calibri" pitchFamily="34" charset="-120"/>
              </a:rPr>
              <a:t>komut  -seçenekler  argümanlar</a:t>
            </a:r>
            <a:endParaRPr lang="tr-TR" sz="1500" dirty="0"/>
          </a:p>
        </p:txBody>
      </p:sp>
      <p:sp>
        <p:nvSpPr>
          <p:cNvPr id="24" name="Shape 22"/>
          <p:cNvSpPr/>
          <p:nvPr/>
        </p:nvSpPr>
        <p:spPr>
          <a:xfrm>
            <a:off x="640080" y="3429000"/>
            <a:ext cx="749808" cy="566928"/>
          </a:xfrm>
          <a:prstGeom prst="roundRect">
            <a:avLst>
              <a:gd name="adj" fmla="val 8065"/>
            </a:avLst>
          </a:prstGeom>
          <a:solidFill>
            <a:srgbClr val="02C39A"/>
          </a:solidFill>
          <a:ln/>
        </p:spPr>
      </p:sp>
      <p:sp>
        <p:nvSpPr>
          <p:cNvPr id="25" name="Text 23"/>
          <p:cNvSpPr txBox="1"/>
          <p:nvPr/>
        </p:nvSpPr>
        <p:spPr>
          <a:xfrm>
            <a:off x="640080" y="3429000"/>
            <a:ext cx="749808" cy="566928"/>
          </a:xfrm>
          <a:prstGeom prst="rect">
            <a:avLst/>
          </a:prstGeom>
          <a:noFill/>
          <a:ln/>
        </p:spPr>
        <p:txBody>
          <a:bodyPr wrap="square" lIns="38100" tIns="38100" rIns="38100" bIns="38100" rtlCol="0" anchor="ctr"/>
          <a:lstStyle/>
          <a:p>
            <a:pPr algn="ctr" indent="0" marL="0">
              <a:buNone/>
            </a:pPr>
            <a:r>
              <a:rPr lang="tr-TR" sz="1800" b="1" dirty="0">
                <a:solidFill>
                  <a:srgbClr val="212121"/>
                </a:solidFill>
                <a:latin typeface="Consolas" pitchFamily="34" charset="0"/>
                <a:ea typeface="Consolas" pitchFamily="34" charset="-122"/>
                <a:cs typeface="Consolas" pitchFamily="34" charset="-120"/>
              </a:rPr>
              <a:t>ls</a:t>
            </a:r>
            <a:endParaRPr lang="tr-TR" sz="1800" dirty="0"/>
          </a:p>
        </p:txBody>
      </p:sp>
      <p:sp>
        <p:nvSpPr>
          <p:cNvPr id="26" name="Text 24"/>
          <p:cNvSpPr txBox="1"/>
          <p:nvPr/>
        </p:nvSpPr>
        <p:spPr>
          <a:xfrm>
            <a:off x="640080" y="4032504"/>
            <a:ext cx="749808" cy="274320"/>
          </a:xfrm>
          <a:prstGeom prst="rect">
            <a:avLst/>
          </a:prstGeom>
          <a:noFill/>
          <a:ln/>
        </p:spPr>
        <p:txBody>
          <a:bodyPr wrap="square" lIns="0" tIns="0" rIns="0" bIns="0" rtlCol="0" anchor="t"/>
          <a:lstStyle/>
          <a:p>
            <a:pPr algn="ctr" indent="0" marL="0">
              <a:buNone/>
            </a:pPr>
            <a:r>
              <a:rPr lang="tr-TR" sz="1150" i="1" dirty="0">
                <a:solidFill>
                  <a:srgbClr val="6B7679"/>
                </a:solidFill>
                <a:latin typeface="Calibri" pitchFamily="34" charset="0"/>
                <a:ea typeface="Calibri" pitchFamily="34" charset="-122"/>
                <a:cs typeface="Calibri" pitchFamily="34" charset="-120"/>
              </a:rPr>
              <a:t>komut</a:t>
            </a:r>
            <a:endParaRPr lang="tr-TR" sz="1150" dirty="0"/>
          </a:p>
        </p:txBody>
      </p:sp>
      <p:sp>
        <p:nvSpPr>
          <p:cNvPr id="27" name="Shape 25"/>
          <p:cNvSpPr/>
          <p:nvPr/>
        </p:nvSpPr>
        <p:spPr>
          <a:xfrm>
            <a:off x="1463040" y="3429000"/>
            <a:ext cx="1298448" cy="566928"/>
          </a:xfrm>
          <a:prstGeom prst="roundRect">
            <a:avLst>
              <a:gd name="adj" fmla="val 8065"/>
            </a:avLst>
          </a:prstGeom>
          <a:solidFill>
            <a:srgbClr val="D7E9E6"/>
          </a:solidFill>
          <a:ln/>
        </p:spPr>
      </p:sp>
      <p:sp>
        <p:nvSpPr>
          <p:cNvPr id="28" name="Text 26"/>
          <p:cNvSpPr txBox="1"/>
          <p:nvPr/>
        </p:nvSpPr>
        <p:spPr>
          <a:xfrm>
            <a:off x="1463040" y="3429000"/>
            <a:ext cx="1298448" cy="566928"/>
          </a:xfrm>
          <a:prstGeom prst="rect">
            <a:avLst/>
          </a:prstGeom>
          <a:noFill/>
          <a:ln/>
        </p:spPr>
        <p:txBody>
          <a:bodyPr wrap="square" lIns="38100" tIns="38100" rIns="38100" bIns="38100" rtlCol="0" anchor="ctr"/>
          <a:lstStyle/>
          <a:p>
            <a:pPr algn="ctr" indent="0" marL="0">
              <a:buNone/>
            </a:pPr>
            <a:r>
              <a:rPr lang="tr-TR" sz="1800" b="1" dirty="0">
                <a:solidFill>
                  <a:srgbClr val="212121"/>
                </a:solidFill>
                <a:latin typeface="Consolas" pitchFamily="34" charset="0"/>
                <a:ea typeface="Consolas" pitchFamily="34" charset="-122"/>
                <a:cs typeface="Consolas" pitchFamily="34" charset="-120"/>
              </a:rPr>
              <a:t>-l -a</a:t>
            </a:r>
            <a:endParaRPr lang="tr-TR" sz="1800" dirty="0"/>
          </a:p>
        </p:txBody>
      </p:sp>
      <p:sp>
        <p:nvSpPr>
          <p:cNvPr id="29" name="Text 27"/>
          <p:cNvSpPr txBox="1"/>
          <p:nvPr/>
        </p:nvSpPr>
        <p:spPr>
          <a:xfrm>
            <a:off x="1463040" y="4032504"/>
            <a:ext cx="1298448" cy="274320"/>
          </a:xfrm>
          <a:prstGeom prst="rect">
            <a:avLst/>
          </a:prstGeom>
          <a:noFill/>
          <a:ln/>
        </p:spPr>
        <p:txBody>
          <a:bodyPr wrap="square" lIns="0" tIns="0" rIns="0" bIns="0" rtlCol="0" anchor="t"/>
          <a:lstStyle/>
          <a:p>
            <a:pPr algn="ctr" indent="0" marL="0">
              <a:buNone/>
            </a:pPr>
            <a:r>
              <a:rPr lang="tr-TR" sz="1150" i="1" dirty="0">
                <a:solidFill>
                  <a:srgbClr val="6B7679"/>
                </a:solidFill>
                <a:latin typeface="Calibri" pitchFamily="34" charset="0"/>
                <a:ea typeface="Calibri" pitchFamily="34" charset="-122"/>
                <a:cs typeface="Calibri" pitchFamily="34" charset="-120"/>
              </a:rPr>
              <a:t>seçenekler</a:t>
            </a:r>
            <a:endParaRPr lang="tr-TR" sz="1150" dirty="0"/>
          </a:p>
        </p:txBody>
      </p:sp>
      <p:sp>
        <p:nvSpPr>
          <p:cNvPr id="30" name="Shape 28"/>
          <p:cNvSpPr/>
          <p:nvPr/>
        </p:nvSpPr>
        <p:spPr>
          <a:xfrm>
            <a:off x="2834640" y="3429000"/>
            <a:ext cx="2304288" cy="566928"/>
          </a:xfrm>
          <a:prstGeom prst="roundRect">
            <a:avLst>
              <a:gd name="adj" fmla="val 8065"/>
            </a:avLst>
          </a:prstGeom>
          <a:solidFill>
            <a:srgbClr val="F2F2F2"/>
          </a:solidFill>
          <a:ln/>
        </p:spPr>
      </p:sp>
      <p:sp>
        <p:nvSpPr>
          <p:cNvPr id="31" name="Text 29"/>
          <p:cNvSpPr txBox="1"/>
          <p:nvPr/>
        </p:nvSpPr>
        <p:spPr>
          <a:xfrm>
            <a:off x="2834640" y="3429000"/>
            <a:ext cx="2304288" cy="566928"/>
          </a:xfrm>
          <a:prstGeom prst="rect">
            <a:avLst/>
          </a:prstGeom>
          <a:noFill/>
          <a:ln/>
        </p:spPr>
        <p:txBody>
          <a:bodyPr wrap="square" lIns="38100" tIns="38100" rIns="38100" bIns="38100" rtlCol="0" anchor="ctr"/>
          <a:lstStyle/>
          <a:p>
            <a:pPr algn="ctr" indent="0" marL="0">
              <a:buNone/>
            </a:pPr>
            <a:r>
              <a:rPr lang="tr-TR" sz="1800" b="1" dirty="0">
                <a:solidFill>
                  <a:srgbClr val="212121"/>
                </a:solidFill>
                <a:latin typeface="Consolas" pitchFamily="34" charset="0"/>
                <a:ea typeface="Consolas" pitchFamily="34" charset="-122"/>
                <a:cs typeface="Consolas" pitchFamily="34" charset="-120"/>
              </a:rPr>
              <a:t>docs  /etc</a:t>
            </a:r>
            <a:endParaRPr lang="tr-TR" sz="1800" dirty="0"/>
          </a:p>
        </p:txBody>
      </p:sp>
      <p:sp>
        <p:nvSpPr>
          <p:cNvPr id="32" name="Text 30"/>
          <p:cNvSpPr txBox="1"/>
          <p:nvPr/>
        </p:nvSpPr>
        <p:spPr>
          <a:xfrm>
            <a:off x="2834640" y="4032504"/>
            <a:ext cx="2304288" cy="274320"/>
          </a:xfrm>
          <a:prstGeom prst="rect">
            <a:avLst/>
          </a:prstGeom>
          <a:noFill/>
          <a:ln/>
        </p:spPr>
        <p:txBody>
          <a:bodyPr wrap="square" lIns="0" tIns="0" rIns="0" bIns="0" rtlCol="0" anchor="t"/>
          <a:lstStyle/>
          <a:p>
            <a:pPr algn="ctr" indent="0" marL="0">
              <a:buNone/>
            </a:pPr>
            <a:r>
              <a:rPr lang="tr-TR" sz="1150" i="1" dirty="0">
                <a:solidFill>
                  <a:srgbClr val="6B7679"/>
                </a:solidFill>
                <a:latin typeface="Calibri" pitchFamily="34" charset="0"/>
                <a:ea typeface="Calibri" pitchFamily="34" charset="-122"/>
                <a:cs typeface="Calibri" pitchFamily="34" charset="-120"/>
              </a:rPr>
              <a:t>argümanlar</a:t>
            </a:r>
            <a:endParaRPr lang="tr-TR" sz="1150" dirty="0"/>
          </a:p>
        </p:txBody>
      </p:sp>
      <p:sp>
        <p:nvSpPr>
          <p:cNvPr id="33" name="Text 31"/>
          <p:cNvSpPr txBox="1"/>
          <p:nvPr/>
        </p:nvSpPr>
        <p:spPr>
          <a:xfrm>
            <a:off x="640080" y="4389120"/>
            <a:ext cx="5303520" cy="320040"/>
          </a:xfrm>
          <a:prstGeom prst="rect">
            <a:avLst/>
          </a:prstGeom>
          <a:noFill/>
          <a:ln/>
        </p:spPr>
        <p:txBody>
          <a:bodyPr wrap="square" lIns="0" tIns="0" rIns="0" bIns="0" rtlCol="0" anchor="t"/>
          <a:lstStyle/>
          <a:p>
            <a:pPr indent="0" marL="0">
              <a:buNone/>
            </a:pPr>
            <a:r>
              <a:rPr lang="tr-TR" sz="1200" dirty="0">
                <a:solidFill>
                  <a:srgbClr val="6B7679"/>
                </a:solidFill>
                <a:latin typeface="Calibri" pitchFamily="34" charset="0"/>
                <a:ea typeface="Calibri" pitchFamily="34" charset="-122"/>
                <a:cs typeface="Calibri" pitchFamily="34" charset="-120"/>
              </a:rPr>
              <a:t>boşluklarla ayrılır · büyük-küçük harf önemlidir: ls ≠ LS</a:t>
            </a:r>
            <a:endParaRPr lang="tr-TR"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309360" y="1554480"/>
          <a:ext cx="5349240" cy="914400"/>
        </p:xfrm>
        <a:graphic>
          <a:graphicData uri="http://schemas.openxmlformats.org/drawingml/2006/table">
            <a:tbl>
              <a:tblPr/>
              <a:tblGrid>
                <a:gridCol w="1600200"/>
                <a:gridCol w="914400"/>
                <a:gridCol w="1600200"/>
                <a:gridCol w="1234440"/>
              </a:tblGrid>
              <a:tr h="0">
                <a:tc>
                  <a:txBody>
                    <a:bodyPr/>
                    <a:lstStyle/>
                    <a:p>
                      <a:pPr indent="0" marL="0">
                        <a:buNone/>
                      </a:pPr>
                      <a:r>
                        <a:rPr lang="tr-TR" sz="1300" b="1" dirty="0">
                          <a:solidFill>
                            <a:srgbClr val="FFFFFF"/>
                          </a:solidFill>
                          <a:latin typeface="Cambria" pitchFamily="34" charset="0"/>
                          <a:ea typeface="Cambria" pitchFamily="34" charset="-122"/>
                          <a:cs typeface="Cambria" pitchFamily="34" charset="-120"/>
                        </a:rPr>
                        <a:t>Örnek</a:t>
                      </a:r>
                      <a:endParaRPr lang="tr-TR" sz="13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300" b="1" dirty="0">
                          <a:solidFill>
                            <a:srgbClr val="FFFFFF"/>
                          </a:solidFill>
                          <a:latin typeface="Cambria" pitchFamily="34" charset="0"/>
                          <a:ea typeface="Cambria" pitchFamily="34" charset="-122"/>
                          <a:cs typeface="Cambria" pitchFamily="34" charset="-120"/>
                        </a:rPr>
                        <a:t>Komut</a:t>
                      </a:r>
                      <a:endParaRPr lang="tr-TR" sz="13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300" b="1" dirty="0">
                          <a:solidFill>
                            <a:srgbClr val="FFFFFF"/>
                          </a:solidFill>
                          <a:latin typeface="Cambria" pitchFamily="34" charset="0"/>
                          <a:ea typeface="Cambria" pitchFamily="34" charset="-122"/>
                          <a:cs typeface="Cambria" pitchFamily="34" charset="-120"/>
                        </a:rPr>
                        <a:t>Seçenekler</a:t>
                      </a:r>
                      <a:endParaRPr lang="tr-TR" sz="13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300" b="1" dirty="0">
                          <a:solidFill>
                            <a:srgbClr val="FFFFFF"/>
                          </a:solidFill>
                          <a:latin typeface="Cambria" pitchFamily="34" charset="0"/>
                          <a:ea typeface="Cambria" pitchFamily="34" charset="-122"/>
                          <a:cs typeface="Cambria" pitchFamily="34" charset="-120"/>
                        </a:rPr>
                        <a:t>Argümanlar</a:t>
                      </a:r>
                      <a:endParaRPr lang="tr-TR" sz="13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250" dirty="0">
                          <a:solidFill>
                            <a:srgbClr val="3A464C"/>
                          </a:solidFill>
                          <a:latin typeface="Consolas" pitchFamily="34" charset="0"/>
                          <a:ea typeface="Consolas" pitchFamily="34" charset="-122"/>
                          <a:cs typeface="Consolas" pitchFamily="34" charset="-120"/>
                        </a:rPr>
                        <a:t>pwd</a:t>
                      </a:r>
                      <a:endParaRPr lang="tr-TR" sz="1250" dirty="0">
                        <a:latin typeface="Consolas" charset="0"/>
                        <a:ea typeface="Consolas" charset="0"/>
                        <a:cs typeface="Consolas"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250" dirty="0">
                          <a:solidFill>
                            <a:srgbClr val="3A464C"/>
                          </a:solidFill>
                          <a:latin typeface="Calibri" pitchFamily="34" charset="0"/>
                          <a:ea typeface="Calibri" pitchFamily="34" charset="-122"/>
                          <a:cs typeface="Calibri" pitchFamily="34" charset="-120"/>
                        </a:rPr>
                        <a:t>pwd</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250" dirty="0">
                          <a:solidFill>
                            <a:srgbClr val="3A464C"/>
                          </a:solidFill>
                          <a:latin typeface="Calibri" pitchFamily="34" charset="0"/>
                          <a:ea typeface="Calibri" pitchFamily="34" charset="-122"/>
                          <a:cs typeface="Calibri" pitchFamily="34" charset="-120"/>
                        </a:rPr>
                        <a:t>—</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250" dirty="0">
                          <a:solidFill>
                            <a:srgbClr val="3A464C"/>
                          </a:solidFill>
                          <a:latin typeface="Calibri" pitchFamily="34" charset="0"/>
                          <a:ea typeface="Calibri" pitchFamily="34" charset="-122"/>
                          <a:cs typeface="Calibri" pitchFamily="34" charset="-120"/>
                        </a:rPr>
                        <a:t>—</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250" dirty="0">
                          <a:solidFill>
                            <a:srgbClr val="3A464C"/>
                          </a:solidFill>
                          <a:latin typeface="Consolas" pitchFamily="34" charset="0"/>
                          <a:ea typeface="Consolas" pitchFamily="34" charset="-122"/>
                          <a:cs typeface="Consolas" pitchFamily="34" charset="-120"/>
                        </a:rPr>
                        <a:t>ls -la docs</a:t>
                      </a:r>
                      <a:endParaRPr lang="tr-TR" sz="1250" dirty="0">
                        <a:latin typeface="Consolas" charset="0"/>
                        <a:ea typeface="Consolas" charset="0"/>
                        <a:cs typeface="Consolas"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250" dirty="0">
                          <a:solidFill>
                            <a:srgbClr val="3A464C"/>
                          </a:solidFill>
                          <a:latin typeface="Calibri" pitchFamily="34" charset="0"/>
                          <a:ea typeface="Calibri" pitchFamily="34" charset="-122"/>
                          <a:cs typeface="Calibri" pitchFamily="34" charset="-120"/>
                        </a:rPr>
                        <a:t>ls</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250" dirty="0">
                          <a:solidFill>
                            <a:srgbClr val="3A464C"/>
                          </a:solidFill>
                          <a:latin typeface="Calibri" pitchFamily="34" charset="0"/>
                          <a:ea typeface="Calibri" pitchFamily="34" charset="-122"/>
                          <a:cs typeface="Calibri" pitchFamily="34" charset="-120"/>
                        </a:rPr>
                        <a:t>-l -a (birleşik)</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250" dirty="0">
                          <a:solidFill>
                            <a:srgbClr val="3A464C"/>
                          </a:solidFill>
                          <a:latin typeface="Calibri" pitchFamily="34" charset="0"/>
                          <a:ea typeface="Calibri" pitchFamily="34" charset="-122"/>
                          <a:cs typeface="Calibri" pitchFamily="34" charset="-120"/>
                        </a:rPr>
                        <a:t>docs</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250" dirty="0">
                          <a:solidFill>
                            <a:srgbClr val="3A464C"/>
                          </a:solidFill>
                          <a:latin typeface="Consolas" pitchFamily="34" charset="0"/>
                          <a:ea typeface="Consolas" pitchFamily="34" charset="-122"/>
                          <a:cs typeface="Consolas" pitchFamily="34" charset="-120"/>
                        </a:rPr>
                        <a:t>ls --all docs</a:t>
                      </a:r>
                      <a:endParaRPr lang="tr-TR" sz="1250" dirty="0">
                        <a:latin typeface="Consolas" charset="0"/>
                        <a:ea typeface="Consolas" charset="0"/>
                        <a:cs typeface="Consolas"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250" dirty="0">
                          <a:solidFill>
                            <a:srgbClr val="3A464C"/>
                          </a:solidFill>
                          <a:latin typeface="Calibri" pitchFamily="34" charset="0"/>
                          <a:ea typeface="Calibri" pitchFamily="34" charset="-122"/>
                          <a:cs typeface="Calibri" pitchFamily="34" charset="-120"/>
                        </a:rPr>
                        <a:t>ls</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250" dirty="0">
                          <a:solidFill>
                            <a:srgbClr val="3A464C"/>
                          </a:solidFill>
                          <a:latin typeface="Calibri" pitchFamily="34" charset="0"/>
                          <a:ea typeface="Calibri" pitchFamily="34" charset="-122"/>
                          <a:cs typeface="Calibri" pitchFamily="34" charset="-120"/>
                        </a:rPr>
                        <a:t>--all (uzun biçim)</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250" dirty="0">
                          <a:solidFill>
                            <a:srgbClr val="3A464C"/>
                          </a:solidFill>
                          <a:latin typeface="Calibri" pitchFamily="34" charset="0"/>
                          <a:ea typeface="Calibri" pitchFamily="34" charset="-122"/>
                          <a:cs typeface="Calibri" pitchFamily="34" charset="-120"/>
                        </a:rPr>
                        <a:t>docs</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250" dirty="0">
                          <a:solidFill>
                            <a:srgbClr val="3A464C"/>
                          </a:solidFill>
                          <a:latin typeface="Consolas" pitchFamily="34" charset="0"/>
                          <a:ea typeface="Consolas" pitchFamily="34" charset="-122"/>
                          <a:cs typeface="Consolas" pitchFamily="34" charset="-120"/>
                        </a:rPr>
                        <a:t>cd ../src</a:t>
                      </a:r>
                      <a:endParaRPr lang="tr-TR" sz="1250" dirty="0">
                        <a:latin typeface="Consolas" charset="0"/>
                        <a:ea typeface="Consolas" charset="0"/>
                        <a:cs typeface="Consolas"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250" dirty="0">
                          <a:solidFill>
                            <a:srgbClr val="3A464C"/>
                          </a:solidFill>
                          <a:latin typeface="Calibri" pitchFamily="34" charset="0"/>
                          <a:ea typeface="Calibri" pitchFamily="34" charset="-122"/>
                          <a:cs typeface="Calibri" pitchFamily="34" charset="-120"/>
                        </a:rPr>
                        <a:t>cd</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250" dirty="0">
                          <a:solidFill>
                            <a:srgbClr val="3A464C"/>
                          </a:solidFill>
                          <a:latin typeface="Calibri" pitchFamily="34" charset="0"/>
                          <a:ea typeface="Calibri" pitchFamily="34" charset="-122"/>
                          <a:cs typeface="Calibri" pitchFamily="34" charset="-120"/>
                        </a:rPr>
                        <a:t>—</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250" dirty="0">
                          <a:solidFill>
                            <a:srgbClr val="3A464C"/>
                          </a:solidFill>
                          <a:latin typeface="Calibri" pitchFamily="34" charset="0"/>
                          <a:ea typeface="Calibri" pitchFamily="34" charset="-122"/>
                          <a:cs typeface="Calibri" pitchFamily="34" charset="-120"/>
                        </a:rPr>
                        <a:t>../src</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250" dirty="0">
                          <a:solidFill>
                            <a:srgbClr val="3A464C"/>
                          </a:solidFill>
                          <a:latin typeface="Consolas" pitchFamily="34" charset="0"/>
                          <a:ea typeface="Consolas" pitchFamily="34" charset="-122"/>
                          <a:cs typeface="Consolas" pitchFamily="34" charset="-120"/>
                        </a:rPr>
                        <a:t>uname -r</a:t>
                      </a:r>
                      <a:endParaRPr lang="tr-TR" sz="1250" dirty="0">
                        <a:latin typeface="Consolas" charset="0"/>
                        <a:ea typeface="Consolas" charset="0"/>
                        <a:cs typeface="Consolas"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250" dirty="0">
                          <a:solidFill>
                            <a:srgbClr val="3A464C"/>
                          </a:solidFill>
                          <a:latin typeface="Calibri" pitchFamily="34" charset="0"/>
                          <a:ea typeface="Calibri" pitchFamily="34" charset="-122"/>
                          <a:cs typeface="Calibri" pitchFamily="34" charset="-120"/>
                        </a:rPr>
                        <a:t>uname</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250" dirty="0">
                          <a:solidFill>
                            <a:srgbClr val="3A464C"/>
                          </a:solidFill>
                          <a:latin typeface="Calibri" pitchFamily="34" charset="0"/>
                          <a:ea typeface="Calibri" pitchFamily="34" charset="-122"/>
                          <a:cs typeface="Calibri" pitchFamily="34" charset="-120"/>
                        </a:rPr>
                        <a:t>-r</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250" dirty="0">
                          <a:solidFill>
                            <a:srgbClr val="3A464C"/>
                          </a:solidFill>
                          <a:latin typeface="Calibri" pitchFamily="34" charset="0"/>
                          <a:ea typeface="Calibri" pitchFamily="34" charset="-122"/>
                          <a:cs typeface="Calibri" pitchFamily="34" charset="-120"/>
                        </a:rPr>
                        <a:t>—</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250" dirty="0">
                          <a:solidFill>
                            <a:srgbClr val="3A464C"/>
                          </a:solidFill>
                          <a:latin typeface="Consolas" pitchFamily="34" charset="0"/>
                          <a:ea typeface="Consolas" pitchFamily="34" charset="-122"/>
                          <a:cs typeface="Consolas" pitchFamily="34" charset="-120"/>
                        </a:rPr>
                        <a:t>head -n 4 file</a:t>
                      </a:r>
                      <a:endParaRPr lang="tr-TR" sz="1250" dirty="0">
                        <a:latin typeface="Consolas" charset="0"/>
                        <a:ea typeface="Consolas" charset="0"/>
                        <a:cs typeface="Consolas"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250" dirty="0">
                          <a:solidFill>
                            <a:srgbClr val="3A464C"/>
                          </a:solidFill>
                          <a:latin typeface="Calibri" pitchFamily="34" charset="0"/>
                          <a:ea typeface="Calibri" pitchFamily="34" charset="-122"/>
                          <a:cs typeface="Calibri" pitchFamily="34" charset="-120"/>
                        </a:rPr>
                        <a:t>head</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250" dirty="0">
                          <a:solidFill>
                            <a:srgbClr val="3A464C"/>
                          </a:solidFill>
                          <a:latin typeface="Calibri" pitchFamily="34" charset="0"/>
                          <a:ea typeface="Calibri" pitchFamily="34" charset="-122"/>
                          <a:cs typeface="Calibri" pitchFamily="34" charset="-120"/>
                        </a:rPr>
                        <a:t>-n, değeri 4</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250" dirty="0">
                          <a:solidFill>
                            <a:srgbClr val="3A464C"/>
                          </a:solidFill>
                          <a:latin typeface="Calibri" pitchFamily="34" charset="0"/>
                          <a:ea typeface="Calibri" pitchFamily="34" charset="-122"/>
                          <a:cs typeface="Calibri" pitchFamily="34" charset="-120"/>
                        </a:rPr>
                        <a:t>file</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35" name="Shape 32"/>
          <p:cNvSpPr/>
          <p:nvPr/>
        </p:nvSpPr>
        <p:spPr>
          <a:xfrm>
            <a:off x="6309360" y="5074920"/>
            <a:ext cx="5349240" cy="1188720"/>
          </a:xfrm>
          <a:prstGeom prst="roundRect">
            <a:avLst>
              <a:gd name="adj" fmla="val 4615"/>
            </a:avLst>
          </a:prstGeom>
          <a:solidFill>
            <a:srgbClr val="36454F"/>
          </a:solidFill>
          <a:ln/>
          <a:effectLst>
            <a:outerShdw sx="100000" sy="100000" kx="0" ky="0" algn="bl" rotWithShape="0" blurRad="101600" dist="25400" dir="5400000">
              <a:srgbClr val="000000">
                <a:alpha val="12000"/>
              </a:srgbClr>
            </a:outerShdw>
          </a:effectLst>
        </p:spPr>
      </p:sp>
      <p:sp>
        <p:nvSpPr>
          <p:cNvPr id="36" name="Text 33"/>
          <p:cNvSpPr txBox="1"/>
          <p:nvPr/>
        </p:nvSpPr>
        <p:spPr>
          <a:xfrm>
            <a:off x="6537960" y="5074920"/>
            <a:ext cx="4892040" cy="1188720"/>
          </a:xfrm>
          <a:prstGeom prst="rect">
            <a:avLst/>
          </a:prstGeom>
          <a:noFill/>
          <a:ln/>
        </p:spPr>
        <p:txBody>
          <a:bodyPr wrap="square" lIns="0" tIns="0" rIns="0" bIns="0" rtlCol="0" anchor="ctr"/>
          <a:lstStyle/>
          <a:p>
            <a:pPr indent="0" marL="0">
              <a:buNone/>
            </a:pPr>
            <a:r>
              <a:rPr lang="tr-TR" sz="1300" dirty="0">
                <a:solidFill>
                  <a:srgbClr val="F2F2F2"/>
                </a:solidFill>
                <a:latin typeface="Calibri" pitchFamily="34" charset="0"/>
                <a:ea typeface="Calibri" pitchFamily="34" charset="-122"/>
                <a:cs typeface="Calibri" pitchFamily="34" charset="-120"/>
              </a:rPr>
              <a:t>Seçenekler (options) bir komutun NASIL çalışacağını değiştirir (genellikle - ya da -- ile başlar); argümanlar NE üzerinde çalışacağını söyler (dosyalar, dizinler, metin).</a:t>
            </a:r>
            <a:endParaRPr lang="tr-TR"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CANLI GÖSTERİM</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İlk Komutlar: Kim, Nerede, Ne Zaman, Ne</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9  ·  14</a:t>
            </a:r>
            <a:endParaRPr lang="tr-TR" sz="900" dirty="0"/>
          </a:p>
        </p:txBody>
      </p:sp>
      <p:sp>
        <p:nvSpPr>
          <p:cNvPr id="6" name="Shape 4"/>
          <p:cNvSpPr/>
          <p:nvPr/>
        </p:nvSpPr>
        <p:spPr>
          <a:xfrm>
            <a:off x="548640" y="1508760"/>
            <a:ext cx="11109960" cy="3383280"/>
          </a:xfrm>
          <a:prstGeom prst="roundRect">
            <a:avLst>
              <a:gd name="adj" fmla="val 1351"/>
            </a:avLst>
          </a:prstGeom>
          <a:solidFill>
            <a:srgbClr val="212121"/>
          </a:solidFill>
          <a:ln/>
        </p:spPr>
      </p:sp>
      <p:sp>
        <p:nvSpPr>
          <p:cNvPr id="7" name="Text 5"/>
          <p:cNvSpPr txBox="1"/>
          <p:nvPr/>
        </p:nvSpPr>
        <p:spPr>
          <a:xfrm>
            <a:off x="731520" y="1618488"/>
            <a:ext cx="10744200" cy="3163824"/>
          </a:xfrm>
          <a:prstGeom prst="rect">
            <a:avLst/>
          </a:prstGeom>
          <a:noFill/>
          <a:ln/>
        </p:spPr>
        <p:txBody>
          <a:bodyPr wrap="square" lIns="0" tIns="0" rIns="0" bIns="0" rtlCol="0" anchor="t"/>
          <a:lstStyle/>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 </a:t>
            </a:r>
            <a:r>
              <a:rPr lang="tr-TR" sz="1200" b="1" dirty="0">
                <a:solidFill>
                  <a:srgbClr val="FFFFFF"/>
                </a:solidFill>
                <a:latin typeface="Consolas" pitchFamily="34" charset="0"/>
                <a:ea typeface="Consolas" pitchFamily="34" charset="-122"/>
                <a:cs typeface="Consolas" pitchFamily="34" charset="-120"/>
              </a:rPr>
              <a:t>whoami</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student</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 </a:t>
            </a:r>
            <a:r>
              <a:rPr lang="tr-TR" sz="1200" b="1" dirty="0">
                <a:solidFill>
                  <a:srgbClr val="FFFFFF"/>
                </a:solidFill>
                <a:latin typeface="Consolas" pitchFamily="34" charset="0"/>
                <a:ea typeface="Consolas" pitchFamily="34" charset="-122"/>
                <a:cs typeface="Consolas" pitchFamily="34" charset="-120"/>
              </a:rPr>
              <a:t>hostname</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okan-lab</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 </a:t>
            </a:r>
            <a:r>
              <a:rPr lang="tr-TR" sz="1200" b="1" dirty="0">
                <a:solidFill>
                  <a:srgbClr val="FFFFFF"/>
                </a:solidFill>
                <a:latin typeface="Consolas" pitchFamily="34" charset="0"/>
                <a:ea typeface="Consolas" pitchFamily="34" charset="-122"/>
                <a:cs typeface="Consolas" pitchFamily="34" charset="-120"/>
              </a:rPr>
              <a:t>date</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Mon Oct 12 08:49:13 UTC 2026</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 </a:t>
            </a:r>
            <a:r>
              <a:rPr lang="tr-TR" sz="1200" b="1" dirty="0">
                <a:solidFill>
                  <a:srgbClr val="FFFFFF"/>
                </a:solidFill>
                <a:latin typeface="Consolas" pitchFamily="34" charset="0"/>
                <a:ea typeface="Consolas" pitchFamily="34" charset="-122"/>
                <a:cs typeface="Consolas" pitchFamily="34" charset="-120"/>
              </a:rPr>
              <a:t>echo Hello from the shell</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Hello from the shell</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 </a:t>
            </a:r>
            <a:r>
              <a:rPr lang="tr-TR" sz="1200" b="1" dirty="0">
                <a:solidFill>
                  <a:srgbClr val="FFFFFF"/>
                </a:solidFill>
                <a:latin typeface="Consolas" pitchFamily="34" charset="0"/>
                <a:ea typeface="Consolas" pitchFamily="34" charset="-122"/>
                <a:cs typeface="Consolas" pitchFamily="34" charset="-120"/>
              </a:rPr>
              <a:t>echo My shell is $SHELL and my home is ~</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My shell is /bin/bash and my home is /home/student</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 </a:t>
            </a:r>
            <a:r>
              <a:rPr lang="tr-TR" sz="1200" b="1" dirty="0">
                <a:solidFill>
                  <a:srgbClr val="FFFFFF"/>
                </a:solidFill>
                <a:latin typeface="Consolas" pitchFamily="34" charset="0"/>
                <a:ea typeface="Consolas" pitchFamily="34" charset="-122"/>
                <a:cs typeface="Consolas" pitchFamily="34" charset="-120"/>
              </a:rPr>
              <a:t>uname</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Linux</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 </a:t>
            </a:r>
            <a:r>
              <a:rPr lang="tr-TR" sz="1200" b="1" dirty="0">
                <a:solidFill>
                  <a:srgbClr val="FFFFFF"/>
                </a:solidFill>
                <a:latin typeface="Consolas" pitchFamily="34" charset="0"/>
                <a:ea typeface="Consolas" pitchFamily="34" charset="-122"/>
                <a:cs typeface="Consolas" pitchFamily="34" charset="-120"/>
              </a:rPr>
              <a:t>uname -r</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6.18.44-fc-v114</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 </a:t>
            </a:r>
            <a:r>
              <a:rPr lang="tr-TR" sz="1200" b="1" dirty="0">
                <a:solidFill>
                  <a:srgbClr val="FFFFFF"/>
                </a:solidFill>
                <a:latin typeface="Consolas" pitchFamily="34" charset="0"/>
                <a:ea typeface="Consolas" pitchFamily="34" charset="-122"/>
                <a:cs typeface="Consolas" pitchFamily="34" charset="-120"/>
              </a:rPr>
              <a:t>uname -a</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Linux okan-lab 6.18.44-fc-v114 #1 SMP PREEMPT_DYNAMIC @0 x86_64 x86_64 x86_64 GNU/Linux</a:t>
            </a:r>
            <a:endParaRPr lang="tr-TR" sz="1200" dirty="0"/>
          </a:p>
        </p:txBody>
      </p:sp>
      <p:sp>
        <p:nvSpPr>
          <p:cNvPr id="8" name="Shape 6"/>
          <p:cNvSpPr/>
          <p:nvPr/>
        </p:nvSpPr>
        <p:spPr>
          <a:xfrm>
            <a:off x="548640" y="5074920"/>
            <a:ext cx="11109960" cy="1188720"/>
          </a:xfrm>
          <a:prstGeom prst="roundRect">
            <a:avLst>
              <a:gd name="adj" fmla="val 4615"/>
            </a:avLst>
          </a:prstGeom>
          <a:solidFill>
            <a:srgbClr val="36454F"/>
          </a:solidFill>
          <a:ln/>
          <a:effectLst>
            <a:outerShdw sx="100000" sy="100000" kx="0" ky="0" algn="bl" rotWithShape="0" blurRad="101600" dist="25400" dir="5400000">
              <a:srgbClr val="000000">
                <a:alpha val="12000"/>
              </a:srgbClr>
            </a:outerShdw>
          </a:effectLst>
        </p:spPr>
      </p:sp>
      <p:sp>
        <p:nvSpPr>
          <p:cNvPr id="9" name="Text 7"/>
          <p:cNvSpPr txBox="1"/>
          <p:nvPr/>
        </p:nvSpPr>
        <p:spPr>
          <a:xfrm>
            <a:off x="777240" y="5074920"/>
            <a:ext cx="10652760" cy="1188720"/>
          </a:xfrm>
          <a:prstGeom prst="rect">
            <a:avLst/>
          </a:prstGeom>
          <a:noFill/>
          <a:ln/>
        </p:spPr>
        <p:txBody>
          <a:bodyPr wrap="square" lIns="0" tIns="0" rIns="0" bIns="0" rtlCol="0" anchor="ctr"/>
          <a:lstStyle/>
          <a:p>
            <a:pPr indent="0" marL="0">
              <a:buNone/>
            </a:pPr>
            <a:r>
              <a:rPr lang="tr-TR" sz="1350" dirty="0">
                <a:solidFill>
                  <a:srgbClr val="F2F2F2"/>
                </a:solidFill>
                <a:latin typeface="Calibri" pitchFamily="34" charset="0"/>
                <a:ea typeface="Calibri" pitchFamily="34" charset="-122"/>
                <a:cs typeface="Calibri" pitchFamily="34" charset="-120"/>
              </a:rPr>
              <a:t>whoami: kullanıcı adınız  ·  hostname: bilgisayarın adı  ·  date: tarih ve saat  ·  echo: argümanlarını yazar (kabuk, echo çalışmadan önce $SHELL ve ~ yerine değerlerini koydu)  ·  uname -r / -a: çekirdek sürümü / her şey  ·  clear ya da Ctrl+L: ekranı temizler</a:t>
            </a:r>
            <a:endParaRPr lang="tr-TR"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BÖLÜM 3</a:t>
            </a:r>
            <a:endParaRPr lang="tr-TR"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Neredeyim? Burada Ne Var?</a:t>
            </a:r>
            <a:endParaRPr lang="tr-TR"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tr-TR" sz="1600" i="1" dirty="0">
                <a:solidFill>
                  <a:srgbClr val="F2F2F2"/>
                </a:solidFill>
                <a:latin typeface="Calibri" pitchFamily="34" charset="0"/>
                <a:ea typeface="Calibri" pitchFamily="34" charset="-122"/>
                <a:cs typeface="Calibri" pitchFamily="34" charset="-120"/>
              </a:rPr>
              <a:t>pwd ağaçtaki konumunuzu yazar; ls orada ne olduğunu listeler.</a:t>
            </a:r>
            <a:endParaRPr lang="tr-TR"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9  ·  15</a:t>
            </a:r>
            <a:endParaRPr lang="tr-TR"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CANLI GÖSTERİM</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Lab Klasöründe pwd ve ls</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9  ·  16</a:t>
            </a:r>
            <a:endParaRPr lang="tr-TR" sz="900" dirty="0"/>
          </a:p>
        </p:txBody>
      </p:sp>
      <p:sp>
        <p:nvSpPr>
          <p:cNvPr id="6" name="Shape 4"/>
          <p:cNvSpPr/>
          <p:nvPr/>
        </p:nvSpPr>
        <p:spPr>
          <a:xfrm>
            <a:off x="548640" y="1508760"/>
            <a:ext cx="6949440" cy="4754880"/>
          </a:xfrm>
          <a:prstGeom prst="roundRect">
            <a:avLst>
              <a:gd name="adj" fmla="val 962"/>
            </a:avLst>
          </a:prstGeom>
          <a:solidFill>
            <a:srgbClr val="212121"/>
          </a:solidFill>
          <a:ln/>
        </p:spPr>
      </p:sp>
      <p:sp>
        <p:nvSpPr>
          <p:cNvPr id="7" name="Text 5"/>
          <p:cNvSpPr txBox="1"/>
          <p:nvPr/>
        </p:nvSpPr>
        <p:spPr>
          <a:xfrm>
            <a:off x="731520" y="1618488"/>
            <a:ext cx="6583680" cy="4535424"/>
          </a:xfrm>
          <a:prstGeom prst="rect">
            <a:avLst/>
          </a:prstGeom>
          <a:noFill/>
          <a:ln/>
        </p:spPr>
        <p:txBody>
          <a:bodyPr wrap="square" lIns="0" tIns="0" rIns="0" bIns="0" rtlCol="0" anchor="t"/>
          <a:lstStyle/>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 </a:t>
            </a:r>
            <a:r>
              <a:rPr lang="tr-TR" sz="1100" b="1" dirty="0">
                <a:solidFill>
                  <a:srgbClr val="FFFFFF"/>
                </a:solidFill>
                <a:latin typeface="Consolas" pitchFamily="34" charset="0"/>
                <a:ea typeface="Consolas" pitchFamily="34" charset="-122"/>
                <a:cs typeface="Consolas" pitchFamily="34" charset="-120"/>
              </a:rPr>
              <a:t>cd ~/lab</a:t>
            </a:r>
            <a:endParaRPr lang="tr-TR" sz="1100" dirty="0"/>
          </a:p>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student@okan-lab:~/lab$ </a:t>
            </a:r>
            <a:r>
              <a:rPr lang="tr-TR" sz="1100" b="1" dirty="0">
                <a:solidFill>
                  <a:srgbClr val="FFFFFF"/>
                </a:solidFill>
                <a:latin typeface="Consolas" pitchFamily="34" charset="0"/>
                <a:ea typeface="Consolas" pitchFamily="34" charset="-122"/>
                <a:cs typeface="Consolas" pitchFamily="34" charset="-120"/>
              </a:rPr>
              <a:t>pwd</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/home/student/lab</a:t>
            </a:r>
            <a:endParaRPr lang="tr-TR" sz="1100" dirty="0"/>
          </a:p>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student@okan-lab:~/lab$ </a:t>
            </a:r>
            <a:r>
              <a:rPr lang="tr-TR" sz="1100" b="1" dirty="0">
                <a:solidFill>
                  <a:srgbClr val="FFFFFF"/>
                </a:solidFill>
                <a:latin typeface="Consolas" pitchFamily="34" charset="0"/>
                <a:ea typeface="Consolas" pitchFamily="34" charset="-122"/>
                <a:cs typeface="Consolas" pitchFamily="34" charset="-120"/>
              </a:rPr>
              <a:t>ls</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README.txt  backup  data  docs  logs  photos  projects  scripts  src</a:t>
            </a:r>
            <a:endParaRPr lang="tr-TR" sz="1100" dirty="0"/>
          </a:p>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student@okan-lab:~/lab$ </a:t>
            </a:r>
            <a:r>
              <a:rPr lang="tr-TR" sz="1100" b="1" dirty="0">
                <a:solidFill>
                  <a:srgbClr val="FFFFFF"/>
                </a:solidFill>
                <a:latin typeface="Consolas" pitchFamily="34" charset="0"/>
                <a:ea typeface="Consolas" pitchFamily="34" charset="-122"/>
                <a:cs typeface="Consolas" pitchFamily="34" charset="-120"/>
              </a:rPr>
              <a:t>ls -F</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README.txt  backup/  data/  docs/  logs/  photos/  projects/  scripts/  src/</a:t>
            </a:r>
            <a:endParaRPr lang="tr-TR" sz="1100" dirty="0"/>
          </a:p>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student@okan-lab:~/lab$ </a:t>
            </a:r>
            <a:r>
              <a:rPr lang="tr-TR" sz="1100" b="1" dirty="0">
                <a:solidFill>
                  <a:srgbClr val="FFFFFF"/>
                </a:solidFill>
                <a:latin typeface="Consolas" pitchFamily="34" charset="0"/>
                <a:ea typeface="Consolas" pitchFamily="34" charset="-122"/>
                <a:cs typeface="Consolas" pitchFamily="34" charset="-120"/>
              </a:rPr>
              <a:t>ls docs</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'final report.txt'   notes_01.txt   notes_03.txt</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 linux_quotes.txt    notes_02.txt   syllabus.txt</a:t>
            </a:r>
            <a:endParaRPr lang="tr-TR" sz="1100" dirty="0"/>
          </a:p>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student@okan-lab:~/lab$ </a:t>
            </a:r>
            <a:r>
              <a:rPr lang="tr-TR" sz="1100" b="1" dirty="0">
                <a:solidFill>
                  <a:srgbClr val="FFFFFF"/>
                </a:solidFill>
                <a:latin typeface="Consolas" pitchFamily="34" charset="0"/>
                <a:ea typeface="Consolas" pitchFamily="34" charset="-122"/>
                <a:cs typeface="Consolas" pitchFamily="34" charset="-120"/>
              </a:rPr>
              <a:t>ls -a docs</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 .    .settings           linux_quotes.txt   notes_02.txt   syllabus.txt</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 ..  'final report.txt'   notes_01.txt       notes_03.txt</a:t>
            </a:r>
            <a:endParaRPr lang="tr-TR" sz="1100" dirty="0"/>
          </a:p>
        </p:txBody>
      </p:sp>
      <p:sp>
        <p:nvSpPr>
          <p:cNvPr id="8" name="Shape 6"/>
          <p:cNvSpPr/>
          <p:nvPr/>
        </p:nvSpPr>
        <p:spPr>
          <a:xfrm>
            <a:off x="7772400" y="1508760"/>
            <a:ext cx="3886200" cy="4754880"/>
          </a:xfrm>
          <a:prstGeom prst="roundRect">
            <a:avLst>
              <a:gd name="adj" fmla="val 1412"/>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8001000" y="1691640"/>
            <a:ext cx="34290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Nelere dikkat edin</a:t>
            </a:r>
            <a:endParaRPr lang="tr-TR" sz="1500" dirty="0"/>
          </a:p>
        </p:txBody>
      </p:sp>
      <p:sp>
        <p:nvSpPr>
          <p:cNvPr id="10" name="Text 8"/>
          <p:cNvSpPr txBox="1"/>
          <p:nvPr/>
        </p:nvSpPr>
        <p:spPr>
          <a:xfrm>
            <a:off x="8001000" y="2148840"/>
            <a:ext cx="3429000" cy="3977640"/>
          </a:xfrm>
          <a:prstGeom prst="rect">
            <a:avLst/>
          </a:prstGeom>
          <a:noFill/>
          <a:ln/>
        </p:spPr>
        <p:txBody>
          <a:bodyPr wrap="square" lIns="0" tIns="0" rIns="0" bIns="0" rtlCol="0" anchor="t"/>
          <a:lstStyle/>
          <a:p>
            <a:pPr marL="228600" indent="-228600">
              <a:spcAft>
                <a:spcPts val="400"/>
              </a:spcAft>
              <a:buSzPct val="100000"/>
              <a:buChar char="•"/>
            </a:pPr>
            <a:r>
              <a:rPr lang="tr-TR" sz="1300" b="1" dirty="0">
                <a:solidFill>
                  <a:srgbClr val="3A464C"/>
                </a:solidFill>
                <a:latin typeface="Calibri" pitchFamily="34" charset="0"/>
                <a:ea typeface="Calibri" pitchFamily="34" charset="-122"/>
                <a:cs typeface="Calibri" pitchFamily="34" charset="-120"/>
              </a:rPr>
              <a:t>pwd</a:t>
            </a:r>
            <a:r>
              <a:rPr lang="tr-TR" sz="1300" dirty="0">
                <a:solidFill>
                  <a:srgbClr val="3A464C"/>
                </a:solidFill>
                <a:latin typeface="Calibri" pitchFamily="34" charset="0"/>
                <a:ea typeface="Calibri" pitchFamily="34" charset="-122"/>
                <a:cs typeface="Calibri" pitchFamily="34" charset="-120"/>
              </a:rPr>
              <a:t> = print working directory (çalışma dizinini yaz): mutlak bir yol.</a:t>
            </a:r>
            <a:endParaRPr lang="tr-TR" sz="1300" dirty="0"/>
          </a:p>
          <a:p>
            <a:pPr marL="228600" indent="-228600">
              <a:spcAft>
                <a:spcPts val="400"/>
              </a:spcAft>
              <a:buSzPct val="100000"/>
              <a:buChar char="•"/>
            </a:pPr>
            <a:r>
              <a:rPr lang="tr-TR" sz="1300" b="1" dirty="0">
                <a:solidFill>
                  <a:srgbClr val="3A464C"/>
                </a:solidFill>
                <a:latin typeface="Calibri" pitchFamily="34" charset="0"/>
                <a:ea typeface="Calibri" pitchFamily="34" charset="-122"/>
                <a:cs typeface="Calibri" pitchFamily="34" charset="-120"/>
              </a:rPr>
              <a:t>ls</a:t>
            </a:r>
            <a:r>
              <a:rPr lang="tr-TR" sz="1300" dirty="0">
                <a:solidFill>
                  <a:srgbClr val="3A464C"/>
                </a:solidFill>
                <a:latin typeface="Calibri" pitchFamily="34" charset="0"/>
                <a:ea typeface="Calibri" pitchFamily="34" charset="-122"/>
                <a:cs typeface="Calibri" pitchFamily="34" charset="-120"/>
              </a:rPr>
              <a:t> geçerli dizini listeler; ls docs başka bir dizini.</a:t>
            </a:r>
            <a:endParaRPr lang="tr-TR" sz="1300" dirty="0"/>
          </a:p>
          <a:p>
            <a:pPr marL="228600" indent="-228600">
              <a:spcAft>
                <a:spcPts val="400"/>
              </a:spcAft>
              <a:buSzPct val="100000"/>
              <a:buChar char="•"/>
            </a:pPr>
            <a:r>
              <a:rPr lang="tr-TR" sz="1300" b="1" dirty="0">
                <a:solidFill>
                  <a:srgbClr val="3A464C"/>
                </a:solidFill>
                <a:latin typeface="Calibri" pitchFamily="34" charset="0"/>
                <a:ea typeface="Calibri" pitchFamily="34" charset="-122"/>
                <a:cs typeface="Calibri" pitchFamily="34" charset="-120"/>
              </a:rPr>
              <a:t>-F</a:t>
            </a:r>
            <a:r>
              <a:rPr lang="tr-TR" sz="1300" dirty="0">
                <a:solidFill>
                  <a:srgbClr val="3A464C"/>
                </a:solidFill>
                <a:latin typeface="Calibri" pitchFamily="34" charset="0"/>
                <a:ea typeface="Calibri" pitchFamily="34" charset="-122"/>
                <a:cs typeface="Calibri" pitchFamily="34" charset="-120"/>
              </a:rPr>
              <a:t> dizinleri / ile işaretler.</a:t>
            </a:r>
            <a:endParaRPr lang="tr-TR" sz="1300" dirty="0"/>
          </a:p>
          <a:p>
            <a:pPr marL="228600" indent="-228600">
              <a:spcAft>
                <a:spcPts val="400"/>
              </a:spcAft>
              <a:buSzPct val="100000"/>
              <a:buChar char="•"/>
            </a:pPr>
            <a:r>
              <a:rPr lang="tr-TR" sz="1300" b="1" dirty="0">
                <a:solidFill>
                  <a:srgbClr val="3A464C"/>
                </a:solidFill>
                <a:latin typeface="Calibri" pitchFamily="34" charset="0"/>
                <a:ea typeface="Calibri" pitchFamily="34" charset="-122"/>
                <a:cs typeface="Calibri" pitchFamily="34" charset="-120"/>
              </a:rPr>
              <a:t>-a</a:t>
            </a:r>
            <a:r>
              <a:rPr lang="tr-TR" sz="1300" dirty="0">
                <a:solidFill>
                  <a:srgbClr val="3A464C"/>
                </a:solidFill>
                <a:latin typeface="Calibri" pitchFamily="34" charset="0"/>
                <a:ea typeface="Calibri" pitchFamily="34" charset="-122"/>
                <a:cs typeface="Calibri" pitchFamily="34" charset="-120"/>
              </a:rPr>
              <a:t> nokta ile başlayan gizli adları da gösterir: .settings, . ve ..</a:t>
            </a:r>
            <a:endParaRPr lang="tr-TR" sz="1300" dirty="0"/>
          </a:p>
          <a:p>
            <a:pPr marL="228600" indent="-228600">
              <a:spcAft>
                <a:spcPts val="400"/>
              </a:spcAft>
              <a:buSzPct val="100000"/>
              <a:buChar char="•"/>
            </a:pPr>
            <a:r>
              <a:rPr lang="tr-TR" sz="1300" b="1" dirty="0">
                <a:solidFill>
                  <a:srgbClr val="3A464C"/>
                </a:solidFill>
                <a:latin typeface="Calibri" pitchFamily="34" charset="0"/>
                <a:ea typeface="Calibri" pitchFamily="34" charset="-122"/>
                <a:cs typeface="Calibri" pitchFamily="34" charset="-120"/>
              </a:rPr>
              <a:t>Tırnaklar:</a:t>
            </a:r>
            <a:r>
              <a:rPr lang="tr-TR" sz="1300" dirty="0">
                <a:solidFill>
                  <a:srgbClr val="3A464C"/>
                </a:solidFill>
                <a:latin typeface="Calibri" pitchFamily="34" charset="0"/>
                <a:ea typeface="Calibri" pitchFamily="34" charset="-122"/>
                <a:cs typeface="Calibri" pitchFamily="34" charset="-120"/>
              </a:rPr>
              <a:t> ls 'final report.txt' adını tırnak içinde gösterir, çünkü adda boşluk var.</a:t>
            </a:r>
            <a:endParaRPr lang="tr-TR"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LS -L</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ls -l Çıktısının Bir Satırını Okumak</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9  ·  17</a:t>
            </a:r>
            <a:endParaRPr lang="tr-TR" sz="900" dirty="0"/>
          </a:p>
        </p:txBody>
      </p:sp>
      <p:sp>
        <p:nvSpPr>
          <p:cNvPr id="6" name="Shape 4"/>
          <p:cNvSpPr/>
          <p:nvPr/>
        </p:nvSpPr>
        <p:spPr>
          <a:xfrm>
            <a:off x="640080" y="1691640"/>
            <a:ext cx="1801368" cy="640080"/>
          </a:xfrm>
          <a:prstGeom prst="roundRect">
            <a:avLst>
              <a:gd name="adj" fmla="val 7143"/>
            </a:avLst>
          </a:prstGeom>
          <a:solidFill>
            <a:srgbClr val="212121"/>
          </a:solidFill>
          <a:ln/>
        </p:spPr>
      </p:sp>
      <p:sp>
        <p:nvSpPr>
          <p:cNvPr id="7" name="Text 5"/>
          <p:cNvSpPr txBox="1"/>
          <p:nvPr/>
        </p:nvSpPr>
        <p:spPr>
          <a:xfrm>
            <a:off x="640080" y="1691640"/>
            <a:ext cx="1801368" cy="640080"/>
          </a:xfrm>
          <a:prstGeom prst="rect">
            <a:avLst/>
          </a:prstGeom>
          <a:noFill/>
          <a:ln/>
        </p:spPr>
        <p:txBody>
          <a:bodyPr wrap="square" lIns="38100" tIns="38100" rIns="38100" bIns="38100" rtlCol="0" anchor="ctr"/>
          <a:lstStyle/>
          <a:p>
            <a:pPr algn="ctr" indent="0" marL="0">
              <a:buNone/>
            </a:pPr>
            <a:r>
              <a:rPr lang="tr-TR" sz="1700" dirty="0">
                <a:solidFill>
                  <a:srgbClr val="02C39A"/>
                </a:solidFill>
                <a:latin typeface="Consolas" pitchFamily="34" charset="0"/>
                <a:ea typeface="Consolas" pitchFamily="34" charset="-122"/>
                <a:cs typeface="Consolas" pitchFamily="34" charset="-120"/>
              </a:rPr>
              <a:t>-rw-rw-r--</a:t>
            </a:r>
            <a:endParaRPr lang="tr-TR" sz="1700" dirty="0"/>
          </a:p>
        </p:txBody>
      </p:sp>
      <p:sp>
        <p:nvSpPr>
          <p:cNvPr id="8" name="Shape 6"/>
          <p:cNvSpPr/>
          <p:nvPr/>
        </p:nvSpPr>
        <p:spPr>
          <a:xfrm>
            <a:off x="1540764" y="2350008"/>
            <a:ext cx="91" cy="237744"/>
          </a:xfrm>
          <a:prstGeom prst="line">
            <a:avLst/>
          </a:prstGeom>
          <a:noFill/>
          <a:ln w="19050">
            <a:solidFill>
              <a:srgbClr val="028090"/>
            </a:solidFill>
            <a:prstDash val="solid"/>
          </a:ln>
        </p:spPr>
      </p:sp>
      <p:sp>
        <p:nvSpPr>
          <p:cNvPr id="9" name="Shape 7"/>
          <p:cNvSpPr/>
          <p:nvPr/>
        </p:nvSpPr>
        <p:spPr>
          <a:xfrm>
            <a:off x="640080" y="2606040"/>
            <a:ext cx="1801368" cy="457200"/>
          </a:xfrm>
          <a:prstGeom prst="roundRect">
            <a:avLst>
              <a:gd name="adj" fmla="val 10000"/>
            </a:avLst>
          </a:prstGeom>
          <a:solidFill>
            <a:srgbClr val="D7E9E6"/>
          </a:solidFill>
          <a:ln/>
        </p:spPr>
      </p:sp>
      <p:sp>
        <p:nvSpPr>
          <p:cNvPr id="10" name="Text 8"/>
          <p:cNvSpPr txBox="1"/>
          <p:nvPr/>
        </p:nvSpPr>
        <p:spPr>
          <a:xfrm>
            <a:off x="640080" y="2606040"/>
            <a:ext cx="1801368" cy="457200"/>
          </a:xfrm>
          <a:prstGeom prst="rect">
            <a:avLst/>
          </a:prstGeom>
          <a:noFill/>
          <a:ln/>
        </p:spPr>
        <p:txBody>
          <a:bodyPr wrap="square" lIns="38100" tIns="38100" rIns="38100" bIns="38100" rtlCol="0" anchor="ctr"/>
          <a:lstStyle/>
          <a:p>
            <a:pPr algn="ctr" indent="0" marL="0">
              <a:buNone/>
            </a:pPr>
            <a:r>
              <a:rPr lang="tr-TR" sz="1250" b="1" dirty="0">
                <a:solidFill>
                  <a:srgbClr val="212121"/>
                </a:solidFill>
                <a:latin typeface="Calibri" pitchFamily="34" charset="0"/>
                <a:ea typeface="Calibri" pitchFamily="34" charset="-122"/>
                <a:cs typeface="Calibri" pitchFamily="34" charset="-120"/>
              </a:rPr>
              <a:t>tür + izinler</a:t>
            </a:r>
            <a:endParaRPr lang="tr-TR" sz="1250" dirty="0"/>
          </a:p>
        </p:txBody>
      </p:sp>
      <p:sp>
        <p:nvSpPr>
          <p:cNvPr id="11" name="Text 9"/>
          <p:cNvSpPr txBox="1"/>
          <p:nvPr/>
        </p:nvSpPr>
        <p:spPr>
          <a:xfrm>
            <a:off x="640080" y="3108960"/>
            <a:ext cx="1801368" cy="1051560"/>
          </a:xfrm>
          <a:prstGeom prst="rect">
            <a:avLst/>
          </a:prstGeom>
          <a:noFill/>
          <a:ln/>
        </p:spPr>
        <p:txBody>
          <a:bodyPr wrap="square" lIns="0" tIns="0" rIns="0" bIns="0" rtlCol="0" anchor="t"/>
          <a:lstStyle/>
          <a:p>
            <a:pPr algn="ctr" indent="0" marL="0">
              <a:buNone/>
            </a:pPr>
            <a:r>
              <a:rPr lang="tr-TR" sz="1150" dirty="0">
                <a:solidFill>
                  <a:srgbClr val="3A464C"/>
                </a:solidFill>
                <a:latin typeface="Calibri" pitchFamily="34" charset="0"/>
                <a:ea typeface="Calibri" pitchFamily="34" charset="-122"/>
                <a:cs typeface="Calibri" pitchFamily="34" charset="-120"/>
              </a:rPr>
              <a:t>- dosya, d dizin, l bağlantı; sahip, grup, diğerleri için rwx → 11. hafta</a:t>
            </a:r>
            <a:endParaRPr lang="tr-TR" sz="1150" dirty="0"/>
          </a:p>
        </p:txBody>
      </p:sp>
      <p:sp>
        <p:nvSpPr>
          <p:cNvPr id="12" name="Shape 10"/>
          <p:cNvSpPr/>
          <p:nvPr/>
        </p:nvSpPr>
        <p:spPr>
          <a:xfrm>
            <a:off x="2514600" y="1691640"/>
            <a:ext cx="841248" cy="640080"/>
          </a:xfrm>
          <a:prstGeom prst="roundRect">
            <a:avLst>
              <a:gd name="adj" fmla="val 7143"/>
            </a:avLst>
          </a:prstGeom>
          <a:solidFill>
            <a:srgbClr val="212121"/>
          </a:solidFill>
          <a:ln/>
        </p:spPr>
      </p:sp>
      <p:sp>
        <p:nvSpPr>
          <p:cNvPr id="13" name="Text 11"/>
          <p:cNvSpPr txBox="1"/>
          <p:nvPr/>
        </p:nvSpPr>
        <p:spPr>
          <a:xfrm>
            <a:off x="2514600" y="1691640"/>
            <a:ext cx="841248" cy="640080"/>
          </a:xfrm>
          <a:prstGeom prst="rect">
            <a:avLst/>
          </a:prstGeom>
          <a:noFill/>
          <a:ln/>
        </p:spPr>
        <p:txBody>
          <a:bodyPr wrap="square" lIns="38100" tIns="38100" rIns="38100" bIns="38100" rtlCol="0" anchor="ctr"/>
          <a:lstStyle/>
          <a:p>
            <a:pPr algn="ctr" indent="0" marL="0">
              <a:buNone/>
            </a:pPr>
            <a:r>
              <a:rPr lang="tr-TR" sz="1700" dirty="0">
                <a:solidFill>
                  <a:srgbClr val="02C39A"/>
                </a:solidFill>
                <a:latin typeface="Consolas" pitchFamily="34" charset="0"/>
                <a:ea typeface="Consolas" pitchFamily="34" charset="-122"/>
                <a:cs typeface="Consolas" pitchFamily="34" charset="-120"/>
              </a:rPr>
              <a:t>1</a:t>
            </a:r>
            <a:endParaRPr lang="tr-TR" sz="1700" dirty="0"/>
          </a:p>
        </p:txBody>
      </p:sp>
      <p:sp>
        <p:nvSpPr>
          <p:cNvPr id="14" name="Shape 12"/>
          <p:cNvSpPr/>
          <p:nvPr/>
        </p:nvSpPr>
        <p:spPr>
          <a:xfrm>
            <a:off x="2935224" y="2350008"/>
            <a:ext cx="91" cy="237744"/>
          </a:xfrm>
          <a:prstGeom prst="line">
            <a:avLst/>
          </a:prstGeom>
          <a:noFill/>
          <a:ln w="19050">
            <a:solidFill>
              <a:srgbClr val="028090"/>
            </a:solidFill>
            <a:prstDash val="solid"/>
          </a:ln>
        </p:spPr>
      </p:sp>
      <p:sp>
        <p:nvSpPr>
          <p:cNvPr id="15" name="Shape 13"/>
          <p:cNvSpPr/>
          <p:nvPr/>
        </p:nvSpPr>
        <p:spPr>
          <a:xfrm>
            <a:off x="2514600" y="2606040"/>
            <a:ext cx="841248" cy="457200"/>
          </a:xfrm>
          <a:prstGeom prst="roundRect">
            <a:avLst>
              <a:gd name="adj" fmla="val 10000"/>
            </a:avLst>
          </a:prstGeom>
          <a:solidFill>
            <a:srgbClr val="D7E9E6"/>
          </a:solidFill>
          <a:ln/>
        </p:spPr>
      </p:sp>
      <p:sp>
        <p:nvSpPr>
          <p:cNvPr id="16" name="Text 14"/>
          <p:cNvSpPr txBox="1"/>
          <p:nvPr/>
        </p:nvSpPr>
        <p:spPr>
          <a:xfrm>
            <a:off x="2514600" y="2606040"/>
            <a:ext cx="841248" cy="457200"/>
          </a:xfrm>
          <a:prstGeom prst="rect">
            <a:avLst/>
          </a:prstGeom>
          <a:noFill/>
          <a:ln/>
        </p:spPr>
        <p:txBody>
          <a:bodyPr wrap="square" lIns="38100" tIns="38100" rIns="38100" bIns="38100" rtlCol="0" anchor="ctr"/>
          <a:lstStyle/>
          <a:p>
            <a:pPr algn="ctr" indent="0" marL="0">
              <a:buNone/>
            </a:pPr>
            <a:r>
              <a:rPr lang="tr-TR" sz="1250" b="1" dirty="0">
                <a:solidFill>
                  <a:srgbClr val="212121"/>
                </a:solidFill>
                <a:latin typeface="Calibri" pitchFamily="34" charset="0"/>
                <a:ea typeface="Calibri" pitchFamily="34" charset="-122"/>
                <a:cs typeface="Calibri" pitchFamily="34" charset="-120"/>
              </a:rPr>
              <a:t>bağlantı</a:t>
            </a:r>
            <a:endParaRPr lang="tr-TR" sz="1250" dirty="0"/>
          </a:p>
        </p:txBody>
      </p:sp>
      <p:sp>
        <p:nvSpPr>
          <p:cNvPr id="17" name="Text 15"/>
          <p:cNvSpPr txBox="1"/>
          <p:nvPr/>
        </p:nvSpPr>
        <p:spPr>
          <a:xfrm>
            <a:off x="2514600" y="3108960"/>
            <a:ext cx="841248" cy="1051560"/>
          </a:xfrm>
          <a:prstGeom prst="rect">
            <a:avLst/>
          </a:prstGeom>
          <a:noFill/>
          <a:ln/>
        </p:spPr>
        <p:txBody>
          <a:bodyPr wrap="square" lIns="0" tIns="0" rIns="0" bIns="0" rtlCol="0" anchor="t"/>
          <a:lstStyle/>
          <a:p>
            <a:pPr algn="ctr" indent="0" marL="0">
              <a:buNone/>
            </a:pPr>
            <a:r>
              <a:rPr lang="tr-TR" sz="1150" dirty="0">
                <a:solidFill>
                  <a:srgbClr val="3A464C"/>
                </a:solidFill>
                <a:latin typeface="Calibri" pitchFamily="34" charset="0"/>
                <a:ea typeface="Calibri" pitchFamily="34" charset="-122"/>
                <a:cs typeface="Calibri" pitchFamily="34" charset="-120"/>
              </a:rPr>
              <a:t>sabit bağlantı sayısı (7. hafta)</a:t>
            </a:r>
            <a:endParaRPr lang="tr-TR" sz="1150" dirty="0"/>
          </a:p>
        </p:txBody>
      </p:sp>
      <p:sp>
        <p:nvSpPr>
          <p:cNvPr id="18" name="Shape 16"/>
          <p:cNvSpPr/>
          <p:nvPr/>
        </p:nvSpPr>
        <p:spPr>
          <a:xfrm>
            <a:off x="3429000" y="1691640"/>
            <a:ext cx="1252728" cy="640080"/>
          </a:xfrm>
          <a:prstGeom prst="roundRect">
            <a:avLst>
              <a:gd name="adj" fmla="val 7143"/>
            </a:avLst>
          </a:prstGeom>
          <a:solidFill>
            <a:srgbClr val="212121"/>
          </a:solidFill>
          <a:ln/>
        </p:spPr>
      </p:sp>
      <p:sp>
        <p:nvSpPr>
          <p:cNvPr id="19" name="Text 17"/>
          <p:cNvSpPr txBox="1"/>
          <p:nvPr/>
        </p:nvSpPr>
        <p:spPr>
          <a:xfrm>
            <a:off x="3429000" y="1691640"/>
            <a:ext cx="1252728" cy="640080"/>
          </a:xfrm>
          <a:prstGeom prst="rect">
            <a:avLst/>
          </a:prstGeom>
          <a:noFill/>
          <a:ln/>
        </p:spPr>
        <p:txBody>
          <a:bodyPr wrap="square" lIns="38100" tIns="38100" rIns="38100" bIns="38100" rtlCol="0" anchor="ctr"/>
          <a:lstStyle/>
          <a:p>
            <a:pPr algn="ctr" indent="0" marL="0">
              <a:buNone/>
            </a:pPr>
            <a:r>
              <a:rPr lang="tr-TR" sz="1700" dirty="0">
                <a:solidFill>
                  <a:srgbClr val="02C39A"/>
                </a:solidFill>
                <a:latin typeface="Consolas" pitchFamily="34" charset="0"/>
                <a:ea typeface="Consolas" pitchFamily="34" charset="-122"/>
                <a:cs typeface="Consolas" pitchFamily="34" charset="-120"/>
              </a:rPr>
              <a:t>student</a:t>
            </a:r>
            <a:endParaRPr lang="tr-TR" sz="1700" dirty="0"/>
          </a:p>
        </p:txBody>
      </p:sp>
      <p:sp>
        <p:nvSpPr>
          <p:cNvPr id="20" name="Shape 18"/>
          <p:cNvSpPr/>
          <p:nvPr/>
        </p:nvSpPr>
        <p:spPr>
          <a:xfrm>
            <a:off x="4055364" y="2350008"/>
            <a:ext cx="91" cy="237744"/>
          </a:xfrm>
          <a:prstGeom prst="line">
            <a:avLst/>
          </a:prstGeom>
          <a:noFill/>
          <a:ln w="19050">
            <a:solidFill>
              <a:srgbClr val="028090"/>
            </a:solidFill>
            <a:prstDash val="solid"/>
          </a:ln>
        </p:spPr>
      </p:sp>
      <p:sp>
        <p:nvSpPr>
          <p:cNvPr id="21" name="Shape 19"/>
          <p:cNvSpPr/>
          <p:nvPr/>
        </p:nvSpPr>
        <p:spPr>
          <a:xfrm>
            <a:off x="3429000" y="2606040"/>
            <a:ext cx="1252728" cy="457200"/>
          </a:xfrm>
          <a:prstGeom prst="roundRect">
            <a:avLst>
              <a:gd name="adj" fmla="val 10000"/>
            </a:avLst>
          </a:prstGeom>
          <a:solidFill>
            <a:srgbClr val="D7E9E6"/>
          </a:solidFill>
          <a:ln/>
        </p:spPr>
      </p:sp>
      <p:sp>
        <p:nvSpPr>
          <p:cNvPr id="22" name="Text 20"/>
          <p:cNvSpPr txBox="1"/>
          <p:nvPr/>
        </p:nvSpPr>
        <p:spPr>
          <a:xfrm>
            <a:off x="3429000" y="2606040"/>
            <a:ext cx="1252728" cy="457200"/>
          </a:xfrm>
          <a:prstGeom prst="rect">
            <a:avLst/>
          </a:prstGeom>
          <a:noFill/>
          <a:ln/>
        </p:spPr>
        <p:txBody>
          <a:bodyPr wrap="square" lIns="38100" tIns="38100" rIns="38100" bIns="38100" rtlCol="0" anchor="ctr"/>
          <a:lstStyle/>
          <a:p>
            <a:pPr algn="ctr" indent="0" marL="0">
              <a:buNone/>
            </a:pPr>
            <a:r>
              <a:rPr lang="tr-TR" sz="1250" b="1" dirty="0">
                <a:solidFill>
                  <a:srgbClr val="212121"/>
                </a:solidFill>
                <a:latin typeface="Calibri" pitchFamily="34" charset="0"/>
                <a:ea typeface="Calibri" pitchFamily="34" charset="-122"/>
                <a:cs typeface="Calibri" pitchFamily="34" charset="-120"/>
              </a:rPr>
              <a:t>sahip</a:t>
            </a:r>
            <a:endParaRPr lang="tr-TR" sz="1250" dirty="0"/>
          </a:p>
        </p:txBody>
      </p:sp>
      <p:sp>
        <p:nvSpPr>
          <p:cNvPr id="23" name="Text 21"/>
          <p:cNvSpPr txBox="1"/>
          <p:nvPr/>
        </p:nvSpPr>
        <p:spPr>
          <a:xfrm>
            <a:off x="3429000" y="3108960"/>
            <a:ext cx="1252728" cy="1051560"/>
          </a:xfrm>
          <a:prstGeom prst="rect">
            <a:avLst/>
          </a:prstGeom>
          <a:noFill/>
          <a:ln/>
        </p:spPr>
        <p:txBody>
          <a:bodyPr wrap="square" lIns="0" tIns="0" rIns="0" bIns="0" rtlCol="0" anchor="t"/>
          <a:lstStyle/>
          <a:p>
            <a:pPr algn="ctr" indent="0" marL="0">
              <a:buNone/>
            </a:pPr>
            <a:r>
              <a:rPr lang="tr-TR" sz="1150" dirty="0">
                <a:solidFill>
                  <a:srgbClr val="3A464C"/>
                </a:solidFill>
                <a:latin typeface="Calibri" pitchFamily="34" charset="0"/>
                <a:ea typeface="Calibri" pitchFamily="34" charset="-122"/>
                <a:cs typeface="Calibri" pitchFamily="34" charset="-120"/>
              </a:rPr>
              <a:t>dosyanın sahibi olan kullanıcı</a:t>
            </a:r>
            <a:endParaRPr lang="tr-TR" sz="1150" dirty="0"/>
          </a:p>
        </p:txBody>
      </p:sp>
      <p:sp>
        <p:nvSpPr>
          <p:cNvPr id="24" name="Shape 22"/>
          <p:cNvSpPr/>
          <p:nvPr/>
        </p:nvSpPr>
        <p:spPr>
          <a:xfrm>
            <a:off x="4754880" y="1691640"/>
            <a:ext cx="1252728" cy="640080"/>
          </a:xfrm>
          <a:prstGeom prst="roundRect">
            <a:avLst>
              <a:gd name="adj" fmla="val 7143"/>
            </a:avLst>
          </a:prstGeom>
          <a:solidFill>
            <a:srgbClr val="212121"/>
          </a:solidFill>
          <a:ln/>
        </p:spPr>
      </p:sp>
      <p:sp>
        <p:nvSpPr>
          <p:cNvPr id="25" name="Text 23"/>
          <p:cNvSpPr txBox="1"/>
          <p:nvPr/>
        </p:nvSpPr>
        <p:spPr>
          <a:xfrm>
            <a:off x="4754880" y="1691640"/>
            <a:ext cx="1252728" cy="640080"/>
          </a:xfrm>
          <a:prstGeom prst="rect">
            <a:avLst/>
          </a:prstGeom>
          <a:noFill/>
          <a:ln/>
        </p:spPr>
        <p:txBody>
          <a:bodyPr wrap="square" lIns="38100" tIns="38100" rIns="38100" bIns="38100" rtlCol="0" anchor="ctr"/>
          <a:lstStyle/>
          <a:p>
            <a:pPr algn="ctr" indent="0" marL="0">
              <a:buNone/>
            </a:pPr>
            <a:r>
              <a:rPr lang="tr-TR" sz="1700" dirty="0">
                <a:solidFill>
                  <a:srgbClr val="02C39A"/>
                </a:solidFill>
                <a:latin typeface="Consolas" pitchFamily="34" charset="0"/>
                <a:ea typeface="Consolas" pitchFamily="34" charset="-122"/>
                <a:cs typeface="Consolas" pitchFamily="34" charset="-120"/>
              </a:rPr>
              <a:t>student</a:t>
            </a:r>
            <a:endParaRPr lang="tr-TR" sz="1700" dirty="0"/>
          </a:p>
        </p:txBody>
      </p:sp>
      <p:sp>
        <p:nvSpPr>
          <p:cNvPr id="26" name="Shape 24"/>
          <p:cNvSpPr/>
          <p:nvPr/>
        </p:nvSpPr>
        <p:spPr>
          <a:xfrm>
            <a:off x="5381244" y="2350008"/>
            <a:ext cx="91" cy="237744"/>
          </a:xfrm>
          <a:prstGeom prst="line">
            <a:avLst/>
          </a:prstGeom>
          <a:noFill/>
          <a:ln w="19050">
            <a:solidFill>
              <a:srgbClr val="028090"/>
            </a:solidFill>
            <a:prstDash val="solid"/>
          </a:ln>
        </p:spPr>
      </p:sp>
      <p:sp>
        <p:nvSpPr>
          <p:cNvPr id="27" name="Shape 25"/>
          <p:cNvSpPr/>
          <p:nvPr/>
        </p:nvSpPr>
        <p:spPr>
          <a:xfrm>
            <a:off x="4754880" y="2606040"/>
            <a:ext cx="1252728" cy="457200"/>
          </a:xfrm>
          <a:prstGeom prst="roundRect">
            <a:avLst>
              <a:gd name="adj" fmla="val 10000"/>
            </a:avLst>
          </a:prstGeom>
          <a:solidFill>
            <a:srgbClr val="D7E9E6"/>
          </a:solidFill>
          <a:ln/>
        </p:spPr>
      </p:sp>
      <p:sp>
        <p:nvSpPr>
          <p:cNvPr id="28" name="Text 26"/>
          <p:cNvSpPr txBox="1"/>
          <p:nvPr/>
        </p:nvSpPr>
        <p:spPr>
          <a:xfrm>
            <a:off x="4754880" y="2606040"/>
            <a:ext cx="1252728" cy="457200"/>
          </a:xfrm>
          <a:prstGeom prst="rect">
            <a:avLst/>
          </a:prstGeom>
          <a:noFill/>
          <a:ln/>
        </p:spPr>
        <p:txBody>
          <a:bodyPr wrap="square" lIns="38100" tIns="38100" rIns="38100" bIns="38100" rtlCol="0" anchor="ctr"/>
          <a:lstStyle/>
          <a:p>
            <a:pPr algn="ctr" indent="0" marL="0">
              <a:buNone/>
            </a:pPr>
            <a:r>
              <a:rPr lang="tr-TR" sz="1250" b="1" dirty="0">
                <a:solidFill>
                  <a:srgbClr val="212121"/>
                </a:solidFill>
                <a:latin typeface="Calibri" pitchFamily="34" charset="0"/>
                <a:ea typeface="Calibri" pitchFamily="34" charset="-122"/>
                <a:cs typeface="Calibri" pitchFamily="34" charset="-120"/>
              </a:rPr>
              <a:t>grup</a:t>
            </a:r>
            <a:endParaRPr lang="tr-TR" sz="1250" dirty="0"/>
          </a:p>
        </p:txBody>
      </p:sp>
      <p:sp>
        <p:nvSpPr>
          <p:cNvPr id="29" name="Text 27"/>
          <p:cNvSpPr txBox="1"/>
          <p:nvPr/>
        </p:nvSpPr>
        <p:spPr>
          <a:xfrm>
            <a:off x="4754880" y="3108960"/>
            <a:ext cx="1252728" cy="1051560"/>
          </a:xfrm>
          <a:prstGeom prst="rect">
            <a:avLst/>
          </a:prstGeom>
          <a:noFill/>
          <a:ln/>
        </p:spPr>
        <p:txBody>
          <a:bodyPr wrap="square" lIns="0" tIns="0" rIns="0" bIns="0" rtlCol="0" anchor="t"/>
          <a:lstStyle/>
          <a:p>
            <a:pPr algn="ctr" indent="0" marL="0">
              <a:buNone/>
            </a:pPr>
            <a:r>
              <a:rPr lang="tr-TR" sz="1150" dirty="0">
                <a:solidFill>
                  <a:srgbClr val="3A464C"/>
                </a:solidFill>
                <a:latin typeface="Calibri" pitchFamily="34" charset="0"/>
                <a:ea typeface="Calibri" pitchFamily="34" charset="-122"/>
                <a:cs typeface="Calibri" pitchFamily="34" charset="-120"/>
              </a:rPr>
              <a:t>dosyanın grubu</a:t>
            </a:r>
            <a:endParaRPr lang="tr-TR" sz="1150" dirty="0"/>
          </a:p>
        </p:txBody>
      </p:sp>
      <p:sp>
        <p:nvSpPr>
          <p:cNvPr id="30" name="Shape 28"/>
          <p:cNvSpPr/>
          <p:nvPr/>
        </p:nvSpPr>
        <p:spPr>
          <a:xfrm>
            <a:off x="6080760" y="1691640"/>
            <a:ext cx="841248" cy="640080"/>
          </a:xfrm>
          <a:prstGeom prst="roundRect">
            <a:avLst>
              <a:gd name="adj" fmla="val 7143"/>
            </a:avLst>
          </a:prstGeom>
          <a:solidFill>
            <a:srgbClr val="212121"/>
          </a:solidFill>
          <a:ln/>
        </p:spPr>
      </p:sp>
      <p:sp>
        <p:nvSpPr>
          <p:cNvPr id="31" name="Text 29"/>
          <p:cNvSpPr txBox="1"/>
          <p:nvPr/>
        </p:nvSpPr>
        <p:spPr>
          <a:xfrm>
            <a:off x="6080760" y="1691640"/>
            <a:ext cx="841248" cy="640080"/>
          </a:xfrm>
          <a:prstGeom prst="rect">
            <a:avLst/>
          </a:prstGeom>
          <a:noFill/>
          <a:ln/>
        </p:spPr>
        <p:txBody>
          <a:bodyPr wrap="square" lIns="38100" tIns="38100" rIns="38100" bIns="38100" rtlCol="0" anchor="ctr"/>
          <a:lstStyle/>
          <a:p>
            <a:pPr algn="ctr" indent="0" marL="0">
              <a:buNone/>
            </a:pPr>
            <a:r>
              <a:rPr lang="tr-TR" sz="1700" dirty="0">
                <a:solidFill>
                  <a:srgbClr val="02C39A"/>
                </a:solidFill>
                <a:latin typeface="Consolas" pitchFamily="34" charset="0"/>
                <a:ea typeface="Consolas" pitchFamily="34" charset="-122"/>
                <a:cs typeface="Consolas" pitchFamily="34" charset="-120"/>
              </a:rPr>
              <a:t>578</a:t>
            </a:r>
            <a:endParaRPr lang="tr-TR" sz="1700" dirty="0"/>
          </a:p>
        </p:txBody>
      </p:sp>
      <p:sp>
        <p:nvSpPr>
          <p:cNvPr id="32" name="Shape 30"/>
          <p:cNvSpPr/>
          <p:nvPr/>
        </p:nvSpPr>
        <p:spPr>
          <a:xfrm>
            <a:off x="6501384" y="2350008"/>
            <a:ext cx="91" cy="237744"/>
          </a:xfrm>
          <a:prstGeom prst="line">
            <a:avLst/>
          </a:prstGeom>
          <a:noFill/>
          <a:ln w="19050">
            <a:solidFill>
              <a:srgbClr val="028090"/>
            </a:solidFill>
            <a:prstDash val="solid"/>
          </a:ln>
        </p:spPr>
      </p:sp>
      <p:sp>
        <p:nvSpPr>
          <p:cNvPr id="33" name="Shape 31"/>
          <p:cNvSpPr/>
          <p:nvPr/>
        </p:nvSpPr>
        <p:spPr>
          <a:xfrm>
            <a:off x="6080760" y="2606040"/>
            <a:ext cx="841248" cy="457200"/>
          </a:xfrm>
          <a:prstGeom prst="roundRect">
            <a:avLst>
              <a:gd name="adj" fmla="val 10000"/>
            </a:avLst>
          </a:prstGeom>
          <a:solidFill>
            <a:srgbClr val="D7E9E6"/>
          </a:solidFill>
          <a:ln/>
        </p:spPr>
      </p:sp>
      <p:sp>
        <p:nvSpPr>
          <p:cNvPr id="34" name="Text 32"/>
          <p:cNvSpPr txBox="1"/>
          <p:nvPr/>
        </p:nvSpPr>
        <p:spPr>
          <a:xfrm>
            <a:off x="6080760" y="2606040"/>
            <a:ext cx="841248" cy="457200"/>
          </a:xfrm>
          <a:prstGeom prst="rect">
            <a:avLst/>
          </a:prstGeom>
          <a:noFill/>
          <a:ln/>
        </p:spPr>
        <p:txBody>
          <a:bodyPr wrap="square" lIns="38100" tIns="38100" rIns="38100" bIns="38100" rtlCol="0" anchor="ctr"/>
          <a:lstStyle/>
          <a:p>
            <a:pPr algn="ctr" indent="0" marL="0">
              <a:buNone/>
            </a:pPr>
            <a:r>
              <a:rPr lang="tr-TR" sz="1250" b="1" dirty="0">
                <a:solidFill>
                  <a:srgbClr val="212121"/>
                </a:solidFill>
                <a:latin typeface="Calibri" pitchFamily="34" charset="0"/>
                <a:ea typeface="Calibri" pitchFamily="34" charset="-122"/>
                <a:cs typeface="Calibri" pitchFamily="34" charset="-120"/>
              </a:rPr>
              <a:t>boyut</a:t>
            </a:r>
            <a:endParaRPr lang="tr-TR" sz="1250" dirty="0"/>
          </a:p>
        </p:txBody>
      </p:sp>
      <p:sp>
        <p:nvSpPr>
          <p:cNvPr id="35" name="Text 33"/>
          <p:cNvSpPr txBox="1"/>
          <p:nvPr/>
        </p:nvSpPr>
        <p:spPr>
          <a:xfrm>
            <a:off x="6080760" y="3108960"/>
            <a:ext cx="841248" cy="1051560"/>
          </a:xfrm>
          <a:prstGeom prst="rect">
            <a:avLst/>
          </a:prstGeom>
          <a:noFill/>
          <a:ln/>
        </p:spPr>
        <p:txBody>
          <a:bodyPr wrap="square" lIns="0" tIns="0" rIns="0" bIns="0" rtlCol="0" anchor="t"/>
          <a:lstStyle/>
          <a:p>
            <a:pPr algn="ctr" indent="0" marL="0">
              <a:buNone/>
            </a:pPr>
            <a:r>
              <a:rPr lang="tr-TR" sz="1150" dirty="0">
                <a:solidFill>
                  <a:srgbClr val="3A464C"/>
                </a:solidFill>
                <a:latin typeface="Calibri" pitchFamily="34" charset="0"/>
                <a:ea typeface="Calibri" pitchFamily="34" charset="-122"/>
                <a:cs typeface="Calibri" pitchFamily="34" charset="-120"/>
              </a:rPr>
              <a:t>bayt cinsinden</a:t>
            </a:r>
            <a:endParaRPr lang="tr-TR" sz="1150" dirty="0"/>
          </a:p>
        </p:txBody>
      </p:sp>
      <p:sp>
        <p:nvSpPr>
          <p:cNvPr id="36" name="Shape 34"/>
          <p:cNvSpPr/>
          <p:nvPr/>
        </p:nvSpPr>
        <p:spPr>
          <a:xfrm>
            <a:off x="6995160" y="1691640"/>
            <a:ext cx="1984248" cy="640080"/>
          </a:xfrm>
          <a:prstGeom prst="roundRect">
            <a:avLst>
              <a:gd name="adj" fmla="val 7143"/>
            </a:avLst>
          </a:prstGeom>
          <a:solidFill>
            <a:srgbClr val="212121"/>
          </a:solidFill>
          <a:ln/>
        </p:spPr>
      </p:sp>
      <p:sp>
        <p:nvSpPr>
          <p:cNvPr id="37" name="Text 35"/>
          <p:cNvSpPr txBox="1"/>
          <p:nvPr/>
        </p:nvSpPr>
        <p:spPr>
          <a:xfrm>
            <a:off x="6995160" y="1691640"/>
            <a:ext cx="1984248" cy="640080"/>
          </a:xfrm>
          <a:prstGeom prst="rect">
            <a:avLst/>
          </a:prstGeom>
          <a:noFill/>
          <a:ln/>
        </p:spPr>
        <p:txBody>
          <a:bodyPr wrap="square" lIns="38100" tIns="38100" rIns="38100" bIns="38100" rtlCol="0" anchor="ctr"/>
          <a:lstStyle/>
          <a:p>
            <a:pPr algn="ctr" indent="0" marL="0">
              <a:buNone/>
            </a:pPr>
            <a:r>
              <a:rPr lang="tr-TR" sz="1700" dirty="0">
                <a:solidFill>
                  <a:srgbClr val="02C39A"/>
                </a:solidFill>
                <a:latin typeface="Consolas" pitchFamily="34" charset="0"/>
                <a:ea typeface="Consolas" pitchFamily="34" charset="-122"/>
                <a:cs typeface="Consolas" pitchFamily="34" charset="-120"/>
              </a:rPr>
              <a:t>Oct 12 08:49</a:t>
            </a:r>
            <a:endParaRPr lang="tr-TR" sz="1700" dirty="0"/>
          </a:p>
        </p:txBody>
      </p:sp>
      <p:sp>
        <p:nvSpPr>
          <p:cNvPr id="38" name="Shape 36"/>
          <p:cNvSpPr/>
          <p:nvPr/>
        </p:nvSpPr>
        <p:spPr>
          <a:xfrm>
            <a:off x="7987284" y="2350008"/>
            <a:ext cx="91" cy="237744"/>
          </a:xfrm>
          <a:prstGeom prst="line">
            <a:avLst/>
          </a:prstGeom>
          <a:noFill/>
          <a:ln w="19050">
            <a:solidFill>
              <a:srgbClr val="028090"/>
            </a:solidFill>
            <a:prstDash val="solid"/>
          </a:ln>
        </p:spPr>
      </p:sp>
      <p:sp>
        <p:nvSpPr>
          <p:cNvPr id="39" name="Shape 37"/>
          <p:cNvSpPr/>
          <p:nvPr/>
        </p:nvSpPr>
        <p:spPr>
          <a:xfrm>
            <a:off x="6995160" y="2606040"/>
            <a:ext cx="1984248" cy="457200"/>
          </a:xfrm>
          <a:prstGeom prst="roundRect">
            <a:avLst>
              <a:gd name="adj" fmla="val 10000"/>
            </a:avLst>
          </a:prstGeom>
          <a:solidFill>
            <a:srgbClr val="D7E9E6"/>
          </a:solidFill>
          <a:ln/>
        </p:spPr>
      </p:sp>
      <p:sp>
        <p:nvSpPr>
          <p:cNvPr id="40" name="Text 38"/>
          <p:cNvSpPr txBox="1"/>
          <p:nvPr/>
        </p:nvSpPr>
        <p:spPr>
          <a:xfrm>
            <a:off x="6995160" y="2606040"/>
            <a:ext cx="1984248" cy="457200"/>
          </a:xfrm>
          <a:prstGeom prst="rect">
            <a:avLst/>
          </a:prstGeom>
          <a:noFill/>
          <a:ln/>
        </p:spPr>
        <p:txBody>
          <a:bodyPr wrap="square" lIns="38100" tIns="38100" rIns="38100" bIns="38100" rtlCol="0" anchor="ctr"/>
          <a:lstStyle/>
          <a:p>
            <a:pPr algn="ctr" indent="0" marL="0">
              <a:buNone/>
            </a:pPr>
            <a:r>
              <a:rPr lang="tr-TR" sz="1250" b="1" dirty="0">
                <a:solidFill>
                  <a:srgbClr val="212121"/>
                </a:solidFill>
                <a:latin typeface="Calibri" pitchFamily="34" charset="0"/>
                <a:ea typeface="Calibri" pitchFamily="34" charset="-122"/>
                <a:cs typeface="Calibri" pitchFamily="34" charset="-120"/>
              </a:rPr>
              <a:t>değiştirilme</a:t>
            </a:r>
            <a:endParaRPr lang="tr-TR" sz="1250" dirty="0"/>
          </a:p>
        </p:txBody>
      </p:sp>
      <p:sp>
        <p:nvSpPr>
          <p:cNvPr id="41" name="Text 39"/>
          <p:cNvSpPr txBox="1"/>
          <p:nvPr/>
        </p:nvSpPr>
        <p:spPr>
          <a:xfrm>
            <a:off x="6995160" y="3108960"/>
            <a:ext cx="1984248" cy="1051560"/>
          </a:xfrm>
          <a:prstGeom prst="rect">
            <a:avLst/>
          </a:prstGeom>
          <a:noFill/>
          <a:ln/>
        </p:spPr>
        <p:txBody>
          <a:bodyPr wrap="square" lIns="0" tIns="0" rIns="0" bIns="0" rtlCol="0" anchor="t"/>
          <a:lstStyle/>
          <a:p>
            <a:pPr algn="ctr" indent="0" marL="0">
              <a:buNone/>
            </a:pPr>
            <a:r>
              <a:rPr lang="tr-TR" sz="1150" dirty="0">
                <a:solidFill>
                  <a:srgbClr val="3A464C"/>
                </a:solidFill>
                <a:latin typeface="Calibri" pitchFamily="34" charset="0"/>
                <a:ea typeface="Calibri" pitchFamily="34" charset="-122"/>
                <a:cs typeface="Calibri" pitchFamily="34" charset="-120"/>
              </a:rPr>
              <a:t>içeriğin son değişimi (mtime)</a:t>
            </a:r>
            <a:endParaRPr lang="tr-TR" sz="1150" dirty="0"/>
          </a:p>
        </p:txBody>
      </p:sp>
      <p:sp>
        <p:nvSpPr>
          <p:cNvPr id="42" name="Shape 40"/>
          <p:cNvSpPr/>
          <p:nvPr/>
        </p:nvSpPr>
        <p:spPr>
          <a:xfrm>
            <a:off x="9052560" y="1691640"/>
            <a:ext cx="2121408" cy="640080"/>
          </a:xfrm>
          <a:prstGeom prst="roundRect">
            <a:avLst>
              <a:gd name="adj" fmla="val 7143"/>
            </a:avLst>
          </a:prstGeom>
          <a:solidFill>
            <a:srgbClr val="212121"/>
          </a:solidFill>
          <a:ln/>
        </p:spPr>
      </p:sp>
      <p:sp>
        <p:nvSpPr>
          <p:cNvPr id="43" name="Text 41"/>
          <p:cNvSpPr txBox="1"/>
          <p:nvPr/>
        </p:nvSpPr>
        <p:spPr>
          <a:xfrm>
            <a:off x="9052560" y="1691640"/>
            <a:ext cx="2121408" cy="640080"/>
          </a:xfrm>
          <a:prstGeom prst="rect">
            <a:avLst/>
          </a:prstGeom>
          <a:noFill/>
          <a:ln/>
        </p:spPr>
        <p:txBody>
          <a:bodyPr wrap="square" lIns="38100" tIns="38100" rIns="38100" bIns="38100" rtlCol="0" anchor="ctr"/>
          <a:lstStyle/>
          <a:p>
            <a:pPr algn="ctr" indent="0" marL="0">
              <a:buNone/>
            </a:pPr>
            <a:r>
              <a:rPr lang="tr-TR" sz="1700" dirty="0">
                <a:solidFill>
                  <a:srgbClr val="02C39A"/>
                </a:solidFill>
                <a:latin typeface="Consolas" pitchFamily="34" charset="0"/>
                <a:ea typeface="Consolas" pitchFamily="34" charset="-122"/>
                <a:cs typeface="Consolas" pitchFamily="34" charset="-120"/>
              </a:rPr>
              <a:t>syllabus.txt</a:t>
            </a:r>
            <a:endParaRPr lang="tr-TR" sz="1700" dirty="0"/>
          </a:p>
        </p:txBody>
      </p:sp>
      <p:sp>
        <p:nvSpPr>
          <p:cNvPr id="44" name="Shape 42"/>
          <p:cNvSpPr/>
          <p:nvPr/>
        </p:nvSpPr>
        <p:spPr>
          <a:xfrm>
            <a:off x="10113264" y="2350008"/>
            <a:ext cx="91" cy="237744"/>
          </a:xfrm>
          <a:prstGeom prst="line">
            <a:avLst/>
          </a:prstGeom>
          <a:noFill/>
          <a:ln w="19050">
            <a:solidFill>
              <a:srgbClr val="028090"/>
            </a:solidFill>
            <a:prstDash val="solid"/>
          </a:ln>
        </p:spPr>
      </p:sp>
      <p:sp>
        <p:nvSpPr>
          <p:cNvPr id="45" name="Shape 43"/>
          <p:cNvSpPr/>
          <p:nvPr/>
        </p:nvSpPr>
        <p:spPr>
          <a:xfrm>
            <a:off x="9052560" y="2606040"/>
            <a:ext cx="2121408" cy="457200"/>
          </a:xfrm>
          <a:prstGeom prst="roundRect">
            <a:avLst>
              <a:gd name="adj" fmla="val 10000"/>
            </a:avLst>
          </a:prstGeom>
          <a:solidFill>
            <a:srgbClr val="D7E9E6"/>
          </a:solidFill>
          <a:ln/>
        </p:spPr>
      </p:sp>
      <p:sp>
        <p:nvSpPr>
          <p:cNvPr id="46" name="Text 44"/>
          <p:cNvSpPr txBox="1"/>
          <p:nvPr/>
        </p:nvSpPr>
        <p:spPr>
          <a:xfrm>
            <a:off x="9052560" y="2606040"/>
            <a:ext cx="2121408" cy="457200"/>
          </a:xfrm>
          <a:prstGeom prst="rect">
            <a:avLst/>
          </a:prstGeom>
          <a:noFill/>
          <a:ln/>
        </p:spPr>
        <p:txBody>
          <a:bodyPr wrap="square" lIns="38100" tIns="38100" rIns="38100" bIns="38100" rtlCol="0" anchor="ctr"/>
          <a:lstStyle/>
          <a:p>
            <a:pPr algn="ctr" indent="0" marL="0">
              <a:buNone/>
            </a:pPr>
            <a:r>
              <a:rPr lang="tr-TR" sz="1250" b="1" dirty="0">
                <a:solidFill>
                  <a:srgbClr val="212121"/>
                </a:solidFill>
                <a:latin typeface="Calibri" pitchFamily="34" charset="0"/>
                <a:ea typeface="Calibri" pitchFamily="34" charset="-122"/>
                <a:cs typeface="Calibri" pitchFamily="34" charset="-120"/>
              </a:rPr>
              <a:t>ad</a:t>
            </a:r>
            <a:endParaRPr lang="tr-TR" sz="1250" dirty="0"/>
          </a:p>
        </p:txBody>
      </p:sp>
      <p:sp>
        <p:nvSpPr>
          <p:cNvPr id="47" name="Text 45"/>
          <p:cNvSpPr txBox="1"/>
          <p:nvPr/>
        </p:nvSpPr>
        <p:spPr>
          <a:xfrm>
            <a:off x="9052560" y="3108960"/>
            <a:ext cx="2121408" cy="1051560"/>
          </a:xfrm>
          <a:prstGeom prst="rect">
            <a:avLst/>
          </a:prstGeom>
          <a:noFill/>
          <a:ln/>
        </p:spPr>
        <p:txBody>
          <a:bodyPr wrap="square" lIns="0" tIns="0" rIns="0" bIns="0" rtlCol="0" anchor="t"/>
          <a:lstStyle/>
          <a:p>
            <a:pPr algn="ctr" indent="0" marL="0">
              <a:buNone/>
            </a:pPr>
            <a:r>
              <a:rPr lang="tr-TR" sz="1150" dirty="0">
                <a:solidFill>
                  <a:srgbClr val="3A464C"/>
                </a:solidFill>
                <a:latin typeface="Calibri" pitchFamily="34" charset="0"/>
                <a:ea typeface="Calibri" pitchFamily="34" charset="-122"/>
                <a:cs typeface="Calibri" pitchFamily="34" charset="-120"/>
              </a:rPr>
              <a:t>düğümde değil, dizinde tutulur</a:t>
            </a:r>
            <a:endParaRPr lang="tr-TR" sz="1150" dirty="0"/>
          </a:p>
        </p:txBody>
      </p:sp>
      <p:sp>
        <p:nvSpPr>
          <p:cNvPr id="48" name="Shape 46"/>
          <p:cNvSpPr/>
          <p:nvPr/>
        </p:nvSpPr>
        <p:spPr>
          <a:xfrm>
            <a:off x="548640" y="4343400"/>
            <a:ext cx="5440680" cy="1920240"/>
          </a:xfrm>
          <a:prstGeom prst="roundRect">
            <a:avLst>
              <a:gd name="adj" fmla="val 2857"/>
            </a:avLst>
          </a:prstGeom>
          <a:solidFill>
            <a:srgbClr val="F2F2F2"/>
          </a:solidFill>
          <a:ln/>
          <a:effectLst>
            <a:outerShdw sx="100000" sy="100000" kx="0" ky="0" algn="bl" rotWithShape="0" blurRad="101600" dist="25400" dir="5400000">
              <a:srgbClr val="000000">
                <a:alpha val="12000"/>
              </a:srgbClr>
            </a:outerShdw>
          </a:effectLst>
        </p:spPr>
      </p:sp>
      <p:sp>
        <p:nvSpPr>
          <p:cNvPr id="49" name="Text 47"/>
          <p:cNvSpPr txBox="1"/>
          <p:nvPr/>
        </p:nvSpPr>
        <p:spPr>
          <a:xfrm>
            <a:off x="777240" y="4526280"/>
            <a:ext cx="49834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Dizinler şöyle görünür</a:t>
            </a:r>
            <a:endParaRPr lang="tr-TR" sz="1500" dirty="0"/>
          </a:p>
        </p:txBody>
      </p:sp>
      <p:sp>
        <p:nvSpPr>
          <p:cNvPr id="50" name="Text 48"/>
          <p:cNvSpPr txBox="1"/>
          <p:nvPr/>
        </p:nvSpPr>
        <p:spPr>
          <a:xfrm>
            <a:off x="777240" y="4983480"/>
            <a:ext cx="4983480" cy="1143000"/>
          </a:xfrm>
          <a:prstGeom prst="rect">
            <a:avLst/>
          </a:prstGeom>
          <a:noFill/>
          <a:ln/>
        </p:spPr>
        <p:txBody>
          <a:bodyPr wrap="square" lIns="0" tIns="0" rIns="0" bIns="0" rtlCol="0" anchor="t"/>
          <a:lstStyle/>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drwxrwxr-x 4 student student 4096 … projects</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d = dizin; 4096 boyutu = bir blokluk girdi; bağlantı sayısı 4 = 2 + 2 alt dizini.</a:t>
            </a:r>
            <a:endParaRPr lang="tr-TR" sz="1300" dirty="0"/>
          </a:p>
        </p:txBody>
      </p:sp>
      <p:sp>
        <p:nvSpPr>
          <p:cNvPr id="51" name="Shape 49"/>
          <p:cNvSpPr/>
          <p:nvPr/>
        </p:nvSpPr>
        <p:spPr>
          <a:xfrm>
            <a:off x="6217920" y="4343400"/>
            <a:ext cx="5440680" cy="1920240"/>
          </a:xfrm>
          <a:prstGeom prst="roundRect">
            <a:avLst>
              <a:gd name="adj" fmla="val 2857"/>
            </a:avLst>
          </a:prstGeom>
          <a:solidFill>
            <a:srgbClr val="F2F2F2"/>
          </a:solidFill>
          <a:ln/>
          <a:effectLst>
            <a:outerShdw sx="100000" sy="100000" kx="0" ky="0" algn="bl" rotWithShape="0" blurRad="101600" dist="25400" dir="5400000">
              <a:srgbClr val="000000">
                <a:alpha val="12000"/>
              </a:srgbClr>
            </a:outerShdw>
          </a:effectLst>
        </p:spPr>
      </p:sp>
      <p:sp>
        <p:nvSpPr>
          <p:cNvPr id="52" name="Text 50"/>
          <p:cNvSpPr txBox="1"/>
          <p:nvPr/>
        </p:nvSpPr>
        <p:spPr>
          <a:xfrm>
            <a:off x="6446520" y="4526280"/>
            <a:ext cx="49834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Neredeyse hepsi düğümdür (inode)</a:t>
            </a:r>
            <a:endParaRPr lang="tr-TR" sz="1500" dirty="0"/>
          </a:p>
        </p:txBody>
      </p:sp>
      <p:sp>
        <p:nvSpPr>
          <p:cNvPr id="53" name="Text 51"/>
          <p:cNvSpPr txBox="1"/>
          <p:nvPr/>
        </p:nvSpPr>
        <p:spPr>
          <a:xfrm>
            <a:off x="6446520" y="4983480"/>
            <a:ext cx="4983480" cy="1143000"/>
          </a:xfrm>
          <a:prstGeom prst="rect">
            <a:avLst/>
          </a:prstGeom>
          <a:noFill/>
          <a:ln/>
        </p:spPr>
        <p:txBody>
          <a:bodyPr wrap="square" lIns="0" tIns="0" rIns="0" bIns="0" rtlCol="0" anchor="t"/>
          <a:lstStyle/>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Tür, izinler, bağlantılar, sahip, grup, boyut ve zamanlar düğüm alanlarıdır (7. hafta).</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Yalnızca ad dizin girdisinden gelir. stat düğümün tamamını gösterir (10. hafta).</a:t>
            </a:r>
            <a:endParaRPr lang="tr-TR"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CANLI GÖSTERİM</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ls -l ve ls -lh: İnsanın Okuyabileceği Boyutlar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9  ·  18</a:t>
            </a:r>
            <a:endParaRPr lang="tr-TR" sz="900" dirty="0"/>
          </a:p>
        </p:txBody>
      </p:sp>
      <p:sp>
        <p:nvSpPr>
          <p:cNvPr id="6" name="Shape 4"/>
          <p:cNvSpPr/>
          <p:nvPr/>
        </p:nvSpPr>
        <p:spPr>
          <a:xfrm>
            <a:off x="548640" y="1508760"/>
            <a:ext cx="6949440" cy="4754880"/>
          </a:xfrm>
          <a:prstGeom prst="roundRect">
            <a:avLst>
              <a:gd name="adj" fmla="val 962"/>
            </a:avLst>
          </a:prstGeom>
          <a:solidFill>
            <a:srgbClr val="212121"/>
          </a:solidFill>
          <a:ln/>
        </p:spPr>
      </p:sp>
      <p:sp>
        <p:nvSpPr>
          <p:cNvPr id="7" name="Text 5"/>
          <p:cNvSpPr txBox="1"/>
          <p:nvPr/>
        </p:nvSpPr>
        <p:spPr>
          <a:xfrm>
            <a:off x="731520" y="1618488"/>
            <a:ext cx="6583680" cy="4535424"/>
          </a:xfrm>
          <a:prstGeom prst="rect">
            <a:avLst/>
          </a:prstGeom>
          <a:noFill/>
          <a:ln/>
        </p:spPr>
        <p:txBody>
          <a:bodyPr wrap="square" lIns="0" tIns="0" rIns="0" bIns="0" rtlCol="0" anchor="t"/>
          <a:lstStyle/>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 </a:t>
            </a:r>
            <a:r>
              <a:rPr lang="tr-TR" sz="1200" b="1" dirty="0">
                <a:solidFill>
                  <a:srgbClr val="FFFFFF"/>
                </a:solidFill>
                <a:latin typeface="Consolas" pitchFamily="34" charset="0"/>
                <a:ea typeface="Consolas" pitchFamily="34" charset="-122"/>
                <a:cs typeface="Consolas" pitchFamily="34" charset="-120"/>
              </a:rPr>
              <a:t>ls -l docs</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total 24</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-rw-rw-r-- 1 student student  53 Oct 12 08:49 'final report.txt'</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-rw-rw-r-- 1 student student 302 Oct 12 08:49  linux_quotes.txt</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-rw-rw-r-- 1 student student  16 Oct 12 08:49  notes_01.txt</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-rw-rw-r-- 1 student student  16 Oct 12 08:49  notes_02.txt</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-rw-rw-r-- 1 student student  16 Oct 12 08:49  notes_03.txt</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-rw-rw-r-- 1 student student 578 Oct 12 08:49  syllabus.txt</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 </a:t>
            </a:r>
            <a:r>
              <a:rPr lang="tr-TR" sz="1200" b="1" dirty="0">
                <a:solidFill>
                  <a:srgbClr val="FFFFFF"/>
                </a:solidFill>
                <a:latin typeface="Consolas" pitchFamily="34" charset="0"/>
                <a:ea typeface="Consolas" pitchFamily="34" charset="-122"/>
                <a:cs typeface="Consolas" pitchFamily="34" charset="-120"/>
              </a:rPr>
              <a:t>ls -lh logs data</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data:</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total 12K</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-rw-rw-r-- 1 student student  227 Oct 12 08:49 cities.txt</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-rw-rw-r-- 1 student student   80 Oct 12 08:49 numbers.txt</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-rw-rw-r-- 1 student student 1.2K Oct 12 08:49 students.csv</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 </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logs:</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total 32K</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-rw-rw-r-- 1 student student  24K Oct 12 08:49 access.log</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-rw-rw-r-- 1 student student 5.1K Oct 12 08:49 system.log</a:t>
            </a:r>
            <a:endParaRPr lang="tr-TR" sz="1200" dirty="0"/>
          </a:p>
        </p:txBody>
      </p:sp>
      <p:sp>
        <p:nvSpPr>
          <p:cNvPr id="8" name="Shape 6"/>
          <p:cNvSpPr/>
          <p:nvPr/>
        </p:nvSpPr>
        <p:spPr>
          <a:xfrm>
            <a:off x="7772400" y="1508760"/>
            <a:ext cx="3886200" cy="2697480"/>
          </a:xfrm>
          <a:prstGeom prst="roundRect">
            <a:avLst>
              <a:gd name="adj" fmla="val 2034"/>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8001000" y="1691640"/>
            <a:ext cx="34290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-h = insan tarafından okunabilir</a:t>
            </a:r>
            <a:endParaRPr lang="tr-TR" sz="1500" dirty="0"/>
          </a:p>
        </p:txBody>
      </p:sp>
      <p:sp>
        <p:nvSpPr>
          <p:cNvPr id="10" name="Text 8"/>
          <p:cNvSpPr txBox="1"/>
          <p:nvPr/>
        </p:nvSpPr>
        <p:spPr>
          <a:xfrm>
            <a:off x="8001000" y="2148840"/>
            <a:ext cx="3429000" cy="1920240"/>
          </a:xfrm>
          <a:prstGeom prst="rect">
            <a:avLst/>
          </a:prstGeom>
          <a:noFill/>
          <a:ln/>
        </p:spPr>
        <p:txBody>
          <a:bodyPr wrap="square" lIns="0" tIns="0" rIns="0" bIns="0" rtlCol="0" anchor="t"/>
          <a:lstStyle/>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K, M, G 1024'ün kuvvetleridir: 1K = 2¹⁰ bayt.</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access.log: 23.604 B ÷ 1024 ≈ 23,05 → 24K olarak gösterilir (ls yukarı yuvarlar).</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system.log: 5.207 B ÷ 1024 ≈ 5,09 → 5.1K.</a:t>
            </a:r>
            <a:endParaRPr lang="tr-TR" sz="1300" dirty="0"/>
          </a:p>
        </p:txBody>
      </p:sp>
      <p:sp>
        <p:nvSpPr>
          <p:cNvPr id="11" name="Shape 9"/>
          <p:cNvSpPr/>
          <p:nvPr/>
        </p:nvSpPr>
        <p:spPr>
          <a:xfrm>
            <a:off x="7772400" y="4389120"/>
            <a:ext cx="3886200" cy="1874520"/>
          </a:xfrm>
          <a:prstGeom prst="roundRect">
            <a:avLst>
              <a:gd name="adj" fmla="val 2927"/>
            </a:avLst>
          </a:prstGeom>
          <a:solidFill>
            <a:srgbClr val="F2F2F2"/>
          </a:solidFill>
          <a:ln/>
          <a:effectLst>
            <a:outerShdw sx="100000" sy="100000" kx="0" ky="0" algn="bl" rotWithShape="0" blurRad="101600" dist="25400" dir="5400000">
              <a:srgbClr val="000000">
                <a:alpha val="12000"/>
              </a:srgbClr>
            </a:outerShdw>
          </a:effectLst>
        </p:spPr>
      </p:sp>
      <p:sp>
        <p:nvSpPr>
          <p:cNvPr id="12" name="Text 10"/>
          <p:cNvSpPr txBox="1"/>
          <p:nvPr/>
        </p:nvSpPr>
        <p:spPr>
          <a:xfrm>
            <a:off x="8001000" y="4572000"/>
            <a:ext cx="34290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"total" satırı</a:t>
            </a:r>
            <a:endParaRPr lang="tr-TR" sz="1500" dirty="0"/>
          </a:p>
        </p:txBody>
      </p:sp>
      <p:sp>
        <p:nvSpPr>
          <p:cNvPr id="13" name="Text 11"/>
          <p:cNvSpPr txBox="1"/>
          <p:nvPr/>
        </p:nvSpPr>
        <p:spPr>
          <a:xfrm>
            <a:off x="8001000" y="5029200"/>
            <a:ext cx="3429000" cy="1097280"/>
          </a:xfrm>
          <a:prstGeom prst="rect">
            <a:avLst/>
          </a:prstGeom>
          <a:noFill/>
          <a:ln/>
        </p:spPr>
        <p:txBody>
          <a:bodyPr wrap="square" lIns="0" tIns="0" rIns="0" bIns="0" rtlCol="0" anchor="t"/>
          <a:lstStyle/>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Listelenen dosyaların kullandığı disk alanı, 1K'lık bloklar cinsinden. Her küçük dosya koca bir 4K blok kaplar: 6 × 4 = 24.</a:t>
            </a:r>
            <a:endParaRPr lang="tr-TR"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CANLI GÖSTERİM</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Bütün Alt Ağaçlar: ls -R ve tree</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9  ·  19</a:t>
            </a:r>
            <a:endParaRPr lang="tr-TR" sz="900" dirty="0"/>
          </a:p>
        </p:txBody>
      </p:sp>
      <p:sp>
        <p:nvSpPr>
          <p:cNvPr id="6" name="Shape 4"/>
          <p:cNvSpPr/>
          <p:nvPr/>
        </p:nvSpPr>
        <p:spPr>
          <a:xfrm>
            <a:off x="548640" y="1508760"/>
            <a:ext cx="4572000" cy="4754880"/>
          </a:xfrm>
          <a:prstGeom prst="roundRect">
            <a:avLst>
              <a:gd name="adj" fmla="val 1000"/>
            </a:avLst>
          </a:prstGeom>
          <a:solidFill>
            <a:srgbClr val="212121"/>
          </a:solidFill>
          <a:ln/>
        </p:spPr>
      </p:sp>
      <p:sp>
        <p:nvSpPr>
          <p:cNvPr id="7" name="Text 5"/>
          <p:cNvSpPr txBox="1"/>
          <p:nvPr/>
        </p:nvSpPr>
        <p:spPr>
          <a:xfrm>
            <a:off x="731520" y="1618488"/>
            <a:ext cx="4206240" cy="4535424"/>
          </a:xfrm>
          <a:prstGeom prst="rect">
            <a:avLst/>
          </a:prstGeom>
          <a:noFill/>
          <a:ln/>
        </p:spPr>
        <p:txBody>
          <a:bodyPr wrap="square" lIns="0" tIns="0" rIns="0" bIns="0" rtlCol="0" anchor="t"/>
          <a:lstStyle/>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ls -R projects</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projects:</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alpha  beta</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projects/alpha:</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README.md  docs  src</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projects/alpha/docs:</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design.txt</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projects/alpha/src:</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main.c</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projects/beta:</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README.md  docs  src</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projects/beta/docs:</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design.txt</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projects/beta/src:</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main.c</a:t>
            </a:r>
            <a:endParaRPr lang="tr-TR" sz="1150" dirty="0"/>
          </a:p>
        </p:txBody>
      </p:sp>
      <p:sp>
        <p:nvSpPr>
          <p:cNvPr id="8" name="Shape 6"/>
          <p:cNvSpPr/>
          <p:nvPr/>
        </p:nvSpPr>
        <p:spPr>
          <a:xfrm>
            <a:off x="5349240" y="1508760"/>
            <a:ext cx="3657600" cy="4754880"/>
          </a:xfrm>
          <a:prstGeom prst="roundRect">
            <a:avLst>
              <a:gd name="adj" fmla="val 1250"/>
            </a:avLst>
          </a:prstGeom>
          <a:solidFill>
            <a:srgbClr val="212121"/>
          </a:solidFill>
          <a:ln/>
        </p:spPr>
      </p:sp>
      <p:sp>
        <p:nvSpPr>
          <p:cNvPr id="9" name="Text 7"/>
          <p:cNvSpPr txBox="1"/>
          <p:nvPr/>
        </p:nvSpPr>
        <p:spPr>
          <a:xfrm>
            <a:off x="5532120" y="1618488"/>
            <a:ext cx="3291840" cy="4535424"/>
          </a:xfrm>
          <a:prstGeom prst="rect">
            <a:avLst/>
          </a:prstGeom>
          <a:noFill/>
          <a:ln/>
        </p:spPr>
        <p:txBody>
          <a:bodyPr wrap="square" lIns="0" tIns="0" rIns="0" bIns="0" rtlCol="0" anchor="t"/>
          <a:lstStyle/>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tree projects</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projects</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alpha</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 README.md</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 docs</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   └── design.txt</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 src</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 main.c</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beta</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 README.md</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 docs</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   └── design.txt</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 src</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 main.c</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7 directories, 6 files</a:t>
            </a:r>
            <a:endParaRPr lang="tr-TR" sz="1150" dirty="0"/>
          </a:p>
        </p:txBody>
      </p:sp>
      <p:sp>
        <p:nvSpPr>
          <p:cNvPr id="10" name="Shape 8"/>
          <p:cNvSpPr/>
          <p:nvPr/>
        </p:nvSpPr>
        <p:spPr>
          <a:xfrm>
            <a:off x="9235440" y="1508760"/>
            <a:ext cx="2423160" cy="4754880"/>
          </a:xfrm>
          <a:prstGeom prst="roundRect">
            <a:avLst>
              <a:gd name="adj" fmla="val 2264"/>
            </a:avLst>
          </a:prstGeom>
          <a:solidFill>
            <a:srgbClr val="F2F2F2"/>
          </a:solidFill>
          <a:ln/>
          <a:effectLst>
            <a:outerShdw sx="100000" sy="100000" kx="0" ky="0" algn="bl" rotWithShape="0" blurRad="101600" dist="25400" dir="5400000">
              <a:srgbClr val="000000">
                <a:alpha val="12000"/>
              </a:srgbClr>
            </a:outerShdw>
          </a:effectLst>
        </p:spPr>
      </p:sp>
      <p:sp>
        <p:nvSpPr>
          <p:cNvPr id="11" name="Text 9"/>
          <p:cNvSpPr txBox="1"/>
          <p:nvPr/>
        </p:nvSpPr>
        <p:spPr>
          <a:xfrm>
            <a:off x="9464040" y="1691640"/>
            <a:ext cx="19659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Karşılaştırın</a:t>
            </a:r>
            <a:endParaRPr lang="tr-TR" sz="1500" dirty="0"/>
          </a:p>
        </p:txBody>
      </p:sp>
      <p:sp>
        <p:nvSpPr>
          <p:cNvPr id="12" name="Text 10"/>
          <p:cNvSpPr txBox="1"/>
          <p:nvPr/>
        </p:nvSpPr>
        <p:spPr>
          <a:xfrm>
            <a:off x="9464040" y="2148840"/>
            <a:ext cx="1965960" cy="3977640"/>
          </a:xfrm>
          <a:prstGeom prst="rect">
            <a:avLst/>
          </a:prstGeom>
          <a:noFill/>
          <a:ln/>
        </p:spPr>
        <p:txBody>
          <a:bodyPr wrap="square" lIns="0" tIns="0" rIns="0" bIns="0" rtlCol="0" anchor="t"/>
          <a:lstStyle/>
          <a:p>
            <a:pPr marL="228600" indent="-228600">
              <a:spcAft>
                <a:spcPts val="400"/>
              </a:spcAft>
              <a:buSzPct val="100000"/>
              <a:buChar char="•"/>
            </a:pPr>
            <a:r>
              <a:rPr lang="tr-TR" sz="1250" b="1" dirty="0">
                <a:solidFill>
                  <a:srgbClr val="3A464C"/>
                </a:solidFill>
                <a:latin typeface="Calibri" pitchFamily="34" charset="0"/>
                <a:ea typeface="Calibri" pitchFamily="34" charset="-122"/>
                <a:cs typeface="Calibri" pitchFamily="34" charset="-120"/>
              </a:rPr>
              <a:t>ls -R:</a:t>
            </a:r>
            <a:r>
              <a:rPr lang="tr-TR" sz="1250" dirty="0">
                <a:solidFill>
                  <a:srgbClr val="3A464C"/>
                </a:solidFill>
                <a:latin typeface="Calibri" pitchFamily="34" charset="0"/>
                <a:ea typeface="Calibri" pitchFamily="34" charset="-122"/>
                <a:cs typeface="Calibri" pitchFamily="34" charset="-120"/>
              </a:rPr>
              <a:t> özyinelemeli (recursive); her dizin için bir blok.</a:t>
            </a:r>
            <a:endParaRPr lang="tr-TR" sz="1250" dirty="0"/>
          </a:p>
          <a:p>
            <a:pPr marL="228600" indent="-228600">
              <a:spcAft>
                <a:spcPts val="400"/>
              </a:spcAft>
              <a:buSzPct val="100000"/>
              <a:buChar char="•"/>
            </a:pPr>
            <a:r>
              <a:rPr lang="tr-TR" sz="1250" b="1" dirty="0">
                <a:solidFill>
                  <a:srgbClr val="3A464C"/>
                </a:solidFill>
                <a:latin typeface="Calibri" pitchFamily="34" charset="0"/>
                <a:ea typeface="Calibri" pitchFamily="34" charset="-122"/>
                <a:cs typeface="Calibri" pitchFamily="34" charset="-120"/>
              </a:rPr>
              <a:t>tree:</a:t>
            </a:r>
            <a:r>
              <a:rPr lang="tr-TR" sz="1250" dirty="0">
                <a:solidFill>
                  <a:srgbClr val="3A464C"/>
                </a:solidFill>
                <a:latin typeface="Calibri" pitchFamily="34" charset="0"/>
                <a:ea typeface="Calibri" pitchFamily="34" charset="-122"/>
                <a:cs typeface="Calibri" pitchFamily="34" charset="-120"/>
              </a:rPr>
              <a:t> aynı bilgi resim olarak — 7. haftanın ağacı.</a:t>
            </a:r>
            <a:endParaRPr lang="tr-TR" sz="1250" dirty="0"/>
          </a:p>
          <a:p>
            <a:pPr marL="228600" indent="-228600">
              <a:spcAft>
                <a:spcPts val="400"/>
              </a:spcAft>
              <a:buSzPct val="100000"/>
              <a:buChar char="•"/>
            </a:pPr>
            <a:r>
              <a:rPr lang="tr-TR" sz="1250" dirty="0">
                <a:solidFill>
                  <a:srgbClr val="3A464C"/>
                </a:solidFill>
                <a:latin typeface="Calibri" pitchFamily="34" charset="0"/>
                <a:ea typeface="Calibri" pitchFamily="34" charset="-122"/>
                <a:cs typeface="Calibri" pitchFamily="34" charset="-120"/>
              </a:rPr>
              <a:t>Kurulum: sudo apt install tree</a:t>
            </a:r>
            <a:endParaRPr lang="tr-TR" sz="1250" dirty="0"/>
          </a:p>
          <a:p>
            <a:pPr marL="228600" indent="-228600">
              <a:spcAft>
                <a:spcPts val="400"/>
              </a:spcAft>
              <a:buSzPct val="100000"/>
              <a:buChar char="•"/>
            </a:pPr>
            <a:r>
              <a:rPr lang="tr-TR" sz="1250" dirty="0">
                <a:solidFill>
                  <a:srgbClr val="3A464C"/>
                </a:solidFill>
                <a:latin typeface="Calibri" pitchFamily="34" charset="0"/>
                <a:ea typeface="Calibri" pitchFamily="34" charset="-122"/>
                <a:cs typeface="Calibri" pitchFamily="34" charset="-120"/>
              </a:rPr>
              <a:t>Dikkat: ls -R / bütün diski listeler. Ctrl+C durdurur.</a:t>
            </a:r>
            <a:endParaRPr lang="tr-TR"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KOPYA KÂĞIDI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Dönem Boyunca Kullanacağınız ls Seçenekleri</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9  ·  20</a:t>
            </a:r>
            <a:endParaRPr lang="tr-TR"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1463040"/>
                <a:gridCol w="5669280"/>
                <a:gridCol w="3977640"/>
              </a:tblGrid>
              <a:tr h="0">
                <a:tc>
                  <a:txBody>
                    <a:bodyPr/>
                    <a:lstStyle/>
                    <a:p>
                      <a:pPr indent="0" marL="0">
                        <a:buNone/>
                      </a:pPr>
                      <a:r>
                        <a:rPr lang="tr-TR" sz="1450" b="1" dirty="0">
                          <a:solidFill>
                            <a:srgbClr val="FFFFFF"/>
                          </a:solidFill>
                          <a:latin typeface="Cambria" pitchFamily="34" charset="0"/>
                          <a:ea typeface="Cambria" pitchFamily="34" charset="-122"/>
                          <a:cs typeface="Cambria" pitchFamily="34" charset="-120"/>
                        </a:rPr>
                        <a:t>Seçenek</a:t>
                      </a:r>
                      <a:endParaRPr lang="tr-TR" sz="14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450" b="1" dirty="0">
                          <a:solidFill>
                            <a:srgbClr val="FFFFFF"/>
                          </a:solidFill>
                          <a:latin typeface="Cambria" pitchFamily="34" charset="0"/>
                          <a:ea typeface="Cambria" pitchFamily="34" charset="-122"/>
                          <a:cs typeface="Cambria" pitchFamily="34" charset="-120"/>
                        </a:rPr>
                        <a:t>Anlamı</a:t>
                      </a:r>
                      <a:endParaRPr lang="tr-TR" sz="14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450" b="1" dirty="0">
                          <a:solidFill>
                            <a:srgbClr val="FFFFFF"/>
                          </a:solidFill>
                          <a:latin typeface="Cambria" pitchFamily="34" charset="0"/>
                          <a:ea typeface="Cambria" pitchFamily="34" charset="-122"/>
                          <a:cs typeface="Cambria" pitchFamily="34" charset="-120"/>
                        </a:rPr>
                        <a:t>Örnek</a:t>
                      </a:r>
                      <a:endParaRPr lang="tr-TR" sz="14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350" b="1" dirty="0">
                          <a:solidFill>
                            <a:srgbClr val="3A464C"/>
                          </a:solidFill>
                          <a:latin typeface="Calibri" pitchFamily="34" charset="0"/>
                          <a:ea typeface="Calibri" pitchFamily="34" charset="-122"/>
                          <a:cs typeface="Calibri" pitchFamily="34" charset="-120"/>
                        </a:rPr>
                        <a:t>-l</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uzun liste: tür, izinler, bağlantılar, sahip, grup, boyut, zaman, ad</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ls -l docs</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350" b="1" dirty="0">
                          <a:solidFill>
                            <a:srgbClr val="3A464C"/>
                          </a:solidFill>
                          <a:latin typeface="Calibri" pitchFamily="34" charset="0"/>
                          <a:ea typeface="Calibri" pitchFamily="34" charset="-122"/>
                          <a:cs typeface="Calibri" pitchFamily="34" charset="-120"/>
                        </a:rPr>
                        <a:t>-a / -A</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tümü, nokta ile başlayan gizli dosyalar dâhil (-A: . ve .. olmadan)</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ls -a ~</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350" b="1" dirty="0">
                          <a:solidFill>
                            <a:srgbClr val="3A464C"/>
                          </a:solidFill>
                          <a:latin typeface="Calibri" pitchFamily="34" charset="0"/>
                          <a:ea typeface="Calibri" pitchFamily="34" charset="-122"/>
                          <a:cs typeface="Calibri" pitchFamily="34" charset="-120"/>
                        </a:rPr>
                        <a:t>-h</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insan tarafından okunabilir boyutlar (-l ile)</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ls -lh logs</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350" b="1" dirty="0">
                          <a:solidFill>
                            <a:srgbClr val="3A464C"/>
                          </a:solidFill>
                          <a:latin typeface="Calibri" pitchFamily="34" charset="0"/>
                          <a:ea typeface="Calibri" pitchFamily="34" charset="-122"/>
                          <a:cs typeface="Calibri" pitchFamily="34" charset="-120"/>
                        </a:rPr>
                        <a:t>-R</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özyinelemeli: her alt dizini de listele</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ls -R projects</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350" b="1" dirty="0">
                          <a:solidFill>
                            <a:srgbClr val="3A464C"/>
                          </a:solidFill>
                          <a:latin typeface="Calibri" pitchFamily="34" charset="0"/>
                          <a:ea typeface="Calibri" pitchFamily="34" charset="-122"/>
                          <a:cs typeface="Calibri" pitchFamily="34" charset="-120"/>
                        </a:rPr>
                        <a:t>-F</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dizinlere / ekle (çalıştırılabilirlere *, bağlantılara @)</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ls -F</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350" b="1" dirty="0">
                          <a:solidFill>
                            <a:srgbClr val="3A464C"/>
                          </a:solidFill>
                          <a:latin typeface="Calibri" pitchFamily="34" charset="0"/>
                          <a:ea typeface="Calibri" pitchFamily="34" charset="-122"/>
                          <a:cs typeface="Calibri" pitchFamily="34" charset="-120"/>
                        </a:rPr>
                        <a:t>-d</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içeriği değil, dizinin kendisi</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ls -ld projects</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350" b="1" dirty="0">
                          <a:solidFill>
                            <a:srgbClr val="3A464C"/>
                          </a:solidFill>
                          <a:latin typeface="Calibri" pitchFamily="34" charset="0"/>
                          <a:ea typeface="Calibri" pitchFamily="34" charset="-122"/>
                          <a:cs typeface="Calibri" pitchFamily="34" charset="-120"/>
                        </a:rPr>
                        <a:t>-S / -t / -r</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boyuta göre / zamana göre (en yeni önce) sırala / sırayı ters çevir</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ls -lS docs</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350" b="1" dirty="0">
                          <a:solidFill>
                            <a:srgbClr val="3A464C"/>
                          </a:solidFill>
                          <a:latin typeface="Calibri" pitchFamily="34" charset="0"/>
                          <a:ea typeface="Calibri" pitchFamily="34" charset="-122"/>
                          <a:cs typeface="Calibri" pitchFamily="34" charset="-120"/>
                        </a:rPr>
                        <a:t>-1 / -i</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her satırda bir ad / düğüm numaralarını göster (7. hafta)</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ls -1 photos</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ARA</a:t>
            </a:r>
            <a:endParaRPr lang="tr-TR"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10 Dakika Mola</a:t>
            </a:r>
            <a:endParaRPr lang="tr-TR"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tr-TR" sz="1600" i="1" dirty="0">
                <a:solidFill>
                  <a:srgbClr val="F2F2F2"/>
                </a:solidFill>
                <a:latin typeface="Calibri" pitchFamily="34" charset="0"/>
                <a:ea typeface="Calibri" pitchFamily="34" charset="-122"/>
                <a:cs typeface="Calibri" pitchFamily="34" charset="-120"/>
              </a:rPr>
              <a:t>Sırada: Linux dizin ağacı, cd, yollar, yardım alma — ardından laboratuvar.</a:t>
            </a:r>
            <a:endParaRPr lang="tr-TR"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9  ·  21</a:t>
            </a:r>
            <a:endParaRPr lang="tr-TR"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BÖLÜM 4</a:t>
            </a:r>
            <a:endParaRPr lang="tr-TR"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Ağaçta Dolaşmak</a:t>
            </a:r>
            <a:endParaRPr lang="tr-TR"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tr-TR" sz="1600" i="1" dirty="0">
                <a:solidFill>
                  <a:srgbClr val="F2F2F2"/>
                </a:solidFill>
                <a:latin typeface="Calibri" pitchFamily="34" charset="0"/>
                <a:ea typeface="Calibri" pitchFamily="34" charset="-122"/>
                <a:cs typeface="Calibri" pitchFamily="34" charset="-120"/>
              </a:rPr>
              <a:t>Tek ağaç, tek kök: /. Sürücü harfi yok.</a:t>
            </a:r>
            <a:endParaRPr lang="tr-TR"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9  ·  22</a:t>
            </a:r>
            <a:endParaRPr lang="tr-TR"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DOSYA SİSTEMİ HİYERARŞİ STANDARDI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Linux Dizin Ağacı</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9  ·  23</a:t>
            </a:r>
            <a:endParaRPr lang="tr-TR" sz="900" dirty="0"/>
          </a:p>
        </p:txBody>
      </p:sp>
      <p:sp>
        <p:nvSpPr>
          <p:cNvPr id="6" name="Shape 4"/>
          <p:cNvSpPr/>
          <p:nvPr/>
        </p:nvSpPr>
        <p:spPr>
          <a:xfrm>
            <a:off x="5623560" y="1600200"/>
            <a:ext cx="960120" cy="502920"/>
          </a:xfrm>
          <a:prstGeom prst="roundRect">
            <a:avLst>
              <a:gd name="adj" fmla="val 9091"/>
            </a:avLst>
          </a:prstGeom>
          <a:solidFill>
            <a:srgbClr val="36454F"/>
          </a:solidFill>
          <a:ln/>
        </p:spPr>
      </p:sp>
      <p:sp>
        <p:nvSpPr>
          <p:cNvPr id="7" name="Text 5"/>
          <p:cNvSpPr txBox="1"/>
          <p:nvPr/>
        </p:nvSpPr>
        <p:spPr>
          <a:xfrm>
            <a:off x="5623560" y="1600200"/>
            <a:ext cx="960120" cy="502920"/>
          </a:xfrm>
          <a:prstGeom prst="rect">
            <a:avLst/>
          </a:prstGeom>
          <a:noFill/>
          <a:ln/>
        </p:spPr>
        <p:txBody>
          <a:bodyPr wrap="square" lIns="38100" tIns="38100" rIns="38100" bIns="38100" rtlCol="0" anchor="ctr"/>
          <a:lstStyle/>
          <a:p>
            <a:pPr algn="ctr" indent="0" marL="0">
              <a:buNone/>
            </a:pPr>
            <a:r>
              <a:rPr lang="tr-TR" sz="2000" b="1" dirty="0">
                <a:solidFill>
                  <a:srgbClr val="FFFFFF"/>
                </a:solidFill>
                <a:latin typeface="Consolas" pitchFamily="34" charset="0"/>
                <a:ea typeface="Consolas" pitchFamily="34" charset="-122"/>
                <a:cs typeface="Consolas" pitchFamily="34" charset="-120"/>
              </a:rPr>
              <a:t>/</a:t>
            </a:r>
            <a:endParaRPr lang="tr-TR" sz="2000" dirty="0"/>
          </a:p>
        </p:txBody>
      </p:sp>
      <p:sp>
        <p:nvSpPr>
          <p:cNvPr id="8" name="Shape 6"/>
          <p:cNvSpPr/>
          <p:nvPr/>
        </p:nvSpPr>
        <p:spPr>
          <a:xfrm flipH="1">
            <a:off x="1129284" y="2103120"/>
            <a:ext cx="4974336" cy="411480"/>
          </a:xfrm>
          <a:prstGeom prst="line">
            <a:avLst/>
          </a:prstGeom>
          <a:noFill/>
          <a:ln w="15875">
            <a:solidFill>
              <a:srgbClr val="50808E"/>
            </a:solidFill>
            <a:prstDash val="solid"/>
          </a:ln>
        </p:spPr>
      </p:sp>
      <p:sp>
        <p:nvSpPr>
          <p:cNvPr id="9" name="Shape 7"/>
          <p:cNvSpPr/>
          <p:nvPr/>
        </p:nvSpPr>
        <p:spPr>
          <a:xfrm>
            <a:off x="548640" y="2514600"/>
            <a:ext cx="1161288" cy="777240"/>
          </a:xfrm>
          <a:prstGeom prst="roundRect">
            <a:avLst>
              <a:gd name="adj" fmla="val 5882"/>
            </a:avLst>
          </a:prstGeom>
          <a:solidFill>
            <a:srgbClr val="D7E9E6"/>
          </a:solidFill>
          <a:ln/>
        </p:spPr>
      </p:sp>
      <p:sp>
        <p:nvSpPr>
          <p:cNvPr id="10" name="Text 8"/>
          <p:cNvSpPr txBox="1"/>
          <p:nvPr/>
        </p:nvSpPr>
        <p:spPr>
          <a:xfrm>
            <a:off x="548640" y="2514600"/>
            <a:ext cx="1161288" cy="777240"/>
          </a:xfrm>
          <a:prstGeom prst="rect">
            <a:avLst/>
          </a:prstGeom>
          <a:noFill/>
          <a:ln/>
        </p:spPr>
        <p:txBody>
          <a:bodyPr wrap="square" lIns="38100" tIns="38100" rIns="38100" bIns="38100" rtlCol="0" anchor="ctr"/>
          <a:lstStyle/>
          <a:p>
            <a:pPr algn="ctr" indent="0" marL="0">
              <a:buNone/>
            </a:pPr>
            <a:r>
              <a:rPr lang="tr-TR" sz="1500" b="1" dirty="0">
                <a:solidFill>
                  <a:srgbClr val="212121"/>
                </a:solidFill>
                <a:latin typeface="Consolas" pitchFamily="34" charset="0"/>
                <a:ea typeface="Consolas" pitchFamily="34" charset="-122"/>
                <a:cs typeface="Consolas" pitchFamily="34" charset="-120"/>
              </a:rPr>
              <a:t>bin</a:t>
            </a:r>
            <a:endParaRPr lang="tr-TR" sz="1500" dirty="0"/>
          </a:p>
          <a:p>
            <a:pPr algn="ctr" indent="0" marL="0">
              <a:buNone/>
            </a:pPr>
            <a:r>
              <a:rPr lang="tr-TR" sz="1000" dirty="0">
                <a:solidFill>
                  <a:srgbClr val="212121"/>
                </a:solidFill>
                <a:latin typeface="Calibri" pitchFamily="34" charset="0"/>
                <a:ea typeface="Calibri" pitchFamily="34" charset="-122"/>
                <a:cs typeface="Calibri" pitchFamily="34" charset="-120"/>
              </a:rPr>
              <a:t>→ usr/bin</a:t>
            </a:r>
            <a:endParaRPr lang="tr-TR" sz="1500" dirty="0"/>
          </a:p>
        </p:txBody>
      </p:sp>
      <p:sp>
        <p:nvSpPr>
          <p:cNvPr id="11" name="Shape 9"/>
          <p:cNvSpPr/>
          <p:nvPr/>
        </p:nvSpPr>
        <p:spPr>
          <a:xfrm flipH="1">
            <a:off x="2363724" y="2103120"/>
            <a:ext cx="3739896" cy="411480"/>
          </a:xfrm>
          <a:prstGeom prst="line">
            <a:avLst/>
          </a:prstGeom>
          <a:noFill/>
          <a:ln w="15875">
            <a:solidFill>
              <a:srgbClr val="50808E"/>
            </a:solidFill>
            <a:prstDash val="solid"/>
          </a:ln>
        </p:spPr>
      </p:sp>
      <p:sp>
        <p:nvSpPr>
          <p:cNvPr id="12" name="Shape 10"/>
          <p:cNvSpPr/>
          <p:nvPr/>
        </p:nvSpPr>
        <p:spPr>
          <a:xfrm>
            <a:off x="1783080" y="2514600"/>
            <a:ext cx="1161288" cy="777240"/>
          </a:xfrm>
          <a:prstGeom prst="roundRect">
            <a:avLst>
              <a:gd name="adj" fmla="val 5882"/>
            </a:avLst>
          </a:prstGeom>
          <a:solidFill>
            <a:srgbClr val="D7E9E6"/>
          </a:solidFill>
          <a:ln/>
        </p:spPr>
      </p:sp>
      <p:sp>
        <p:nvSpPr>
          <p:cNvPr id="13" name="Text 11"/>
          <p:cNvSpPr txBox="1"/>
          <p:nvPr/>
        </p:nvSpPr>
        <p:spPr>
          <a:xfrm>
            <a:off x="1783080" y="2514600"/>
            <a:ext cx="1161288" cy="777240"/>
          </a:xfrm>
          <a:prstGeom prst="rect">
            <a:avLst/>
          </a:prstGeom>
          <a:noFill/>
          <a:ln/>
        </p:spPr>
        <p:txBody>
          <a:bodyPr wrap="square" lIns="38100" tIns="38100" rIns="38100" bIns="38100" rtlCol="0" anchor="ctr"/>
          <a:lstStyle/>
          <a:p>
            <a:pPr algn="ctr" indent="0" marL="0">
              <a:buNone/>
            </a:pPr>
            <a:r>
              <a:rPr lang="tr-TR" sz="1500" b="1" dirty="0">
                <a:solidFill>
                  <a:srgbClr val="212121"/>
                </a:solidFill>
                <a:latin typeface="Consolas" pitchFamily="34" charset="0"/>
                <a:ea typeface="Consolas" pitchFamily="34" charset="-122"/>
                <a:cs typeface="Consolas" pitchFamily="34" charset="-120"/>
              </a:rPr>
              <a:t>etc</a:t>
            </a:r>
            <a:endParaRPr lang="tr-TR" sz="1500" dirty="0"/>
          </a:p>
          <a:p>
            <a:pPr algn="ctr" indent="0" marL="0">
              <a:buNone/>
            </a:pPr>
            <a:r>
              <a:rPr lang="tr-TR" sz="1000" dirty="0">
                <a:solidFill>
                  <a:srgbClr val="212121"/>
                </a:solidFill>
                <a:latin typeface="Calibri" pitchFamily="34" charset="0"/>
                <a:ea typeface="Calibri" pitchFamily="34" charset="-122"/>
                <a:cs typeface="Calibri" pitchFamily="34" charset="-120"/>
              </a:rPr>
              <a:t>ayarlar</a:t>
            </a:r>
            <a:endParaRPr lang="tr-TR" sz="1500" dirty="0"/>
          </a:p>
        </p:txBody>
      </p:sp>
      <p:sp>
        <p:nvSpPr>
          <p:cNvPr id="14" name="Shape 12"/>
          <p:cNvSpPr/>
          <p:nvPr/>
        </p:nvSpPr>
        <p:spPr>
          <a:xfrm flipH="1">
            <a:off x="3598164" y="2103120"/>
            <a:ext cx="2505456" cy="411480"/>
          </a:xfrm>
          <a:prstGeom prst="line">
            <a:avLst/>
          </a:prstGeom>
          <a:noFill/>
          <a:ln w="15875">
            <a:solidFill>
              <a:srgbClr val="50808E"/>
            </a:solidFill>
            <a:prstDash val="solid"/>
          </a:ln>
        </p:spPr>
      </p:sp>
      <p:sp>
        <p:nvSpPr>
          <p:cNvPr id="15" name="Shape 13"/>
          <p:cNvSpPr/>
          <p:nvPr/>
        </p:nvSpPr>
        <p:spPr>
          <a:xfrm>
            <a:off x="3017520" y="2514600"/>
            <a:ext cx="1161288" cy="777240"/>
          </a:xfrm>
          <a:prstGeom prst="roundRect">
            <a:avLst>
              <a:gd name="adj" fmla="val 5882"/>
            </a:avLst>
          </a:prstGeom>
          <a:solidFill>
            <a:srgbClr val="02C39A"/>
          </a:solidFill>
          <a:ln/>
        </p:spPr>
      </p:sp>
      <p:sp>
        <p:nvSpPr>
          <p:cNvPr id="16" name="Text 14"/>
          <p:cNvSpPr txBox="1"/>
          <p:nvPr/>
        </p:nvSpPr>
        <p:spPr>
          <a:xfrm>
            <a:off x="3017520" y="2514600"/>
            <a:ext cx="1161288" cy="777240"/>
          </a:xfrm>
          <a:prstGeom prst="rect">
            <a:avLst/>
          </a:prstGeom>
          <a:noFill/>
          <a:ln/>
        </p:spPr>
        <p:txBody>
          <a:bodyPr wrap="square" lIns="38100" tIns="38100" rIns="38100" bIns="38100" rtlCol="0" anchor="ctr"/>
          <a:lstStyle/>
          <a:p>
            <a:pPr algn="ctr" indent="0" marL="0">
              <a:buNone/>
            </a:pPr>
            <a:r>
              <a:rPr lang="tr-TR" sz="1500" b="1" dirty="0">
                <a:solidFill>
                  <a:srgbClr val="212121"/>
                </a:solidFill>
                <a:latin typeface="Consolas" pitchFamily="34" charset="0"/>
                <a:ea typeface="Consolas" pitchFamily="34" charset="-122"/>
                <a:cs typeface="Consolas" pitchFamily="34" charset="-120"/>
              </a:rPr>
              <a:t>home</a:t>
            </a:r>
            <a:endParaRPr lang="tr-TR" sz="1500" dirty="0"/>
          </a:p>
          <a:p>
            <a:pPr algn="ctr" indent="0" marL="0">
              <a:buNone/>
            </a:pPr>
            <a:r>
              <a:rPr lang="tr-TR" sz="1000" dirty="0">
                <a:solidFill>
                  <a:srgbClr val="212121"/>
                </a:solidFill>
                <a:latin typeface="Calibri" pitchFamily="34" charset="0"/>
                <a:ea typeface="Calibri" pitchFamily="34" charset="-122"/>
                <a:cs typeface="Calibri" pitchFamily="34" charset="-120"/>
              </a:rPr>
              <a:t>kullanıcılar</a:t>
            </a:r>
            <a:endParaRPr lang="tr-TR" sz="1500" dirty="0"/>
          </a:p>
        </p:txBody>
      </p:sp>
      <p:sp>
        <p:nvSpPr>
          <p:cNvPr id="17" name="Shape 15"/>
          <p:cNvSpPr/>
          <p:nvPr/>
        </p:nvSpPr>
        <p:spPr>
          <a:xfrm flipH="1">
            <a:off x="4832604" y="2103120"/>
            <a:ext cx="1271016" cy="411480"/>
          </a:xfrm>
          <a:prstGeom prst="line">
            <a:avLst/>
          </a:prstGeom>
          <a:noFill/>
          <a:ln w="15875">
            <a:solidFill>
              <a:srgbClr val="50808E"/>
            </a:solidFill>
            <a:prstDash val="solid"/>
          </a:ln>
        </p:spPr>
      </p:sp>
      <p:sp>
        <p:nvSpPr>
          <p:cNvPr id="18" name="Shape 16"/>
          <p:cNvSpPr/>
          <p:nvPr/>
        </p:nvSpPr>
        <p:spPr>
          <a:xfrm>
            <a:off x="4251960" y="2514600"/>
            <a:ext cx="1161288" cy="777240"/>
          </a:xfrm>
          <a:prstGeom prst="roundRect">
            <a:avLst>
              <a:gd name="adj" fmla="val 5882"/>
            </a:avLst>
          </a:prstGeom>
          <a:solidFill>
            <a:srgbClr val="D7E9E6"/>
          </a:solidFill>
          <a:ln/>
        </p:spPr>
      </p:sp>
      <p:sp>
        <p:nvSpPr>
          <p:cNvPr id="19" name="Text 17"/>
          <p:cNvSpPr txBox="1"/>
          <p:nvPr/>
        </p:nvSpPr>
        <p:spPr>
          <a:xfrm>
            <a:off x="4251960" y="2514600"/>
            <a:ext cx="1161288" cy="777240"/>
          </a:xfrm>
          <a:prstGeom prst="rect">
            <a:avLst/>
          </a:prstGeom>
          <a:noFill/>
          <a:ln/>
        </p:spPr>
        <p:txBody>
          <a:bodyPr wrap="square" lIns="38100" tIns="38100" rIns="38100" bIns="38100" rtlCol="0" anchor="ctr"/>
          <a:lstStyle/>
          <a:p>
            <a:pPr algn="ctr" indent="0" marL="0">
              <a:buNone/>
            </a:pPr>
            <a:r>
              <a:rPr lang="tr-TR" sz="1500" b="1" dirty="0">
                <a:solidFill>
                  <a:srgbClr val="212121"/>
                </a:solidFill>
                <a:latin typeface="Consolas" pitchFamily="34" charset="0"/>
                <a:ea typeface="Consolas" pitchFamily="34" charset="-122"/>
                <a:cs typeface="Consolas" pitchFamily="34" charset="-120"/>
              </a:rPr>
              <a:t>tmp</a:t>
            </a:r>
            <a:endParaRPr lang="tr-TR" sz="1500" dirty="0"/>
          </a:p>
          <a:p>
            <a:pPr algn="ctr" indent="0" marL="0">
              <a:buNone/>
            </a:pPr>
            <a:r>
              <a:rPr lang="tr-TR" sz="1000" dirty="0">
                <a:solidFill>
                  <a:srgbClr val="212121"/>
                </a:solidFill>
                <a:latin typeface="Calibri" pitchFamily="34" charset="0"/>
                <a:ea typeface="Calibri" pitchFamily="34" charset="-122"/>
                <a:cs typeface="Calibri" pitchFamily="34" charset="-120"/>
              </a:rPr>
              <a:t>geçici</a:t>
            </a:r>
            <a:endParaRPr lang="tr-TR" sz="1500" dirty="0"/>
          </a:p>
        </p:txBody>
      </p:sp>
      <p:sp>
        <p:nvSpPr>
          <p:cNvPr id="20" name="Shape 18"/>
          <p:cNvSpPr/>
          <p:nvPr/>
        </p:nvSpPr>
        <p:spPr>
          <a:xfrm flipH="1">
            <a:off x="6067044" y="2103120"/>
            <a:ext cx="36576" cy="411480"/>
          </a:xfrm>
          <a:prstGeom prst="line">
            <a:avLst/>
          </a:prstGeom>
          <a:noFill/>
          <a:ln w="15875">
            <a:solidFill>
              <a:srgbClr val="50808E"/>
            </a:solidFill>
            <a:prstDash val="solid"/>
          </a:ln>
        </p:spPr>
      </p:sp>
      <p:sp>
        <p:nvSpPr>
          <p:cNvPr id="21" name="Shape 19"/>
          <p:cNvSpPr/>
          <p:nvPr/>
        </p:nvSpPr>
        <p:spPr>
          <a:xfrm>
            <a:off x="5486400" y="2514600"/>
            <a:ext cx="1161288" cy="777240"/>
          </a:xfrm>
          <a:prstGeom prst="roundRect">
            <a:avLst>
              <a:gd name="adj" fmla="val 5882"/>
            </a:avLst>
          </a:prstGeom>
          <a:solidFill>
            <a:srgbClr val="D7E9E6"/>
          </a:solidFill>
          <a:ln/>
        </p:spPr>
      </p:sp>
      <p:sp>
        <p:nvSpPr>
          <p:cNvPr id="22" name="Text 20"/>
          <p:cNvSpPr txBox="1"/>
          <p:nvPr/>
        </p:nvSpPr>
        <p:spPr>
          <a:xfrm>
            <a:off x="5486400" y="2514600"/>
            <a:ext cx="1161288" cy="777240"/>
          </a:xfrm>
          <a:prstGeom prst="rect">
            <a:avLst/>
          </a:prstGeom>
          <a:noFill/>
          <a:ln/>
        </p:spPr>
        <p:txBody>
          <a:bodyPr wrap="square" lIns="38100" tIns="38100" rIns="38100" bIns="38100" rtlCol="0" anchor="ctr"/>
          <a:lstStyle/>
          <a:p>
            <a:pPr algn="ctr" indent="0" marL="0">
              <a:buNone/>
            </a:pPr>
            <a:r>
              <a:rPr lang="tr-TR" sz="1500" b="1" dirty="0">
                <a:solidFill>
                  <a:srgbClr val="212121"/>
                </a:solidFill>
                <a:latin typeface="Consolas" pitchFamily="34" charset="0"/>
                <a:ea typeface="Consolas" pitchFamily="34" charset="-122"/>
                <a:cs typeface="Consolas" pitchFamily="34" charset="-120"/>
              </a:rPr>
              <a:t>usr</a:t>
            </a:r>
            <a:endParaRPr lang="tr-TR" sz="1500" dirty="0"/>
          </a:p>
          <a:p>
            <a:pPr algn="ctr" indent="0" marL="0">
              <a:buNone/>
            </a:pPr>
            <a:r>
              <a:rPr lang="tr-TR" sz="1000" dirty="0">
                <a:solidFill>
                  <a:srgbClr val="212121"/>
                </a:solidFill>
                <a:latin typeface="Calibri" pitchFamily="34" charset="0"/>
                <a:ea typeface="Calibri" pitchFamily="34" charset="-122"/>
                <a:cs typeface="Calibri" pitchFamily="34" charset="-120"/>
              </a:rPr>
              <a:t>programlar</a:t>
            </a:r>
            <a:endParaRPr lang="tr-TR" sz="1500" dirty="0"/>
          </a:p>
        </p:txBody>
      </p:sp>
      <p:sp>
        <p:nvSpPr>
          <p:cNvPr id="23" name="Shape 21"/>
          <p:cNvSpPr/>
          <p:nvPr/>
        </p:nvSpPr>
        <p:spPr>
          <a:xfrm>
            <a:off x="6103620" y="2103120"/>
            <a:ext cx="1197864" cy="411480"/>
          </a:xfrm>
          <a:prstGeom prst="line">
            <a:avLst/>
          </a:prstGeom>
          <a:noFill/>
          <a:ln w="15875">
            <a:solidFill>
              <a:srgbClr val="50808E"/>
            </a:solidFill>
            <a:prstDash val="solid"/>
          </a:ln>
        </p:spPr>
      </p:sp>
      <p:sp>
        <p:nvSpPr>
          <p:cNvPr id="24" name="Shape 22"/>
          <p:cNvSpPr/>
          <p:nvPr/>
        </p:nvSpPr>
        <p:spPr>
          <a:xfrm>
            <a:off x="6720840" y="2514600"/>
            <a:ext cx="1161288" cy="777240"/>
          </a:xfrm>
          <a:prstGeom prst="roundRect">
            <a:avLst>
              <a:gd name="adj" fmla="val 5882"/>
            </a:avLst>
          </a:prstGeom>
          <a:solidFill>
            <a:srgbClr val="D7E9E6"/>
          </a:solidFill>
          <a:ln/>
        </p:spPr>
      </p:sp>
      <p:sp>
        <p:nvSpPr>
          <p:cNvPr id="25" name="Text 23"/>
          <p:cNvSpPr txBox="1"/>
          <p:nvPr/>
        </p:nvSpPr>
        <p:spPr>
          <a:xfrm>
            <a:off x="6720840" y="2514600"/>
            <a:ext cx="1161288" cy="777240"/>
          </a:xfrm>
          <a:prstGeom prst="rect">
            <a:avLst/>
          </a:prstGeom>
          <a:noFill/>
          <a:ln/>
        </p:spPr>
        <p:txBody>
          <a:bodyPr wrap="square" lIns="38100" tIns="38100" rIns="38100" bIns="38100" rtlCol="0" anchor="ctr"/>
          <a:lstStyle/>
          <a:p>
            <a:pPr algn="ctr" indent="0" marL="0">
              <a:buNone/>
            </a:pPr>
            <a:r>
              <a:rPr lang="tr-TR" sz="1500" b="1" dirty="0">
                <a:solidFill>
                  <a:srgbClr val="212121"/>
                </a:solidFill>
                <a:latin typeface="Consolas" pitchFamily="34" charset="0"/>
                <a:ea typeface="Consolas" pitchFamily="34" charset="-122"/>
                <a:cs typeface="Consolas" pitchFamily="34" charset="-120"/>
              </a:rPr>
              <a:t>var</a:t>
            </a:r>
            <a:endParaRPr lang="tr-TR" sz="1500" dirty="0"/>
          </a:p>
          <a:p>
            <a:pPr algn="ctr" indent="0" marL="0">
              <a:buNone/>
            </a:pPr>
            <a:r>
              <a:rPr lang="tr-TR" sz="1000" dirty="0">
                <a:solidFill>
                  <a:srgbClr val="212121"/>
                </a:solidFill>
                <a:latin typeface="Calibri" pitchFamily="34" charset="0"/>
                <a:ea typeface="Calibri" pitchFamily="34" charset="-122"/>
                <a:cs typeface="Calibri" pitchFamily="34" charset="-120"/>
              </a:rPr>
              <a:t>değişen veri</a:t>
            </a:r>
            <a:endParaRPr lang="tr-TR" sz="1500" dirty="0"/>
          </a:p>
        </p:txBody>
      </p:sp>
      <p:sp>
        <p:nvSpPr>
          <p:cNvPr id="26" name="Shape 24"/>
          <p:cNvSpPr/>
          <p:nvPr/>
        </p:nvSpPr>
        <p:spPr>
          <a:xfrm>
            <a:off x="6103620" y="2103120"/>
            <a:ext cx="2432304" cy="411480"/>
          </a:xfrm>
          <a:prstGeom prst="line">
            <a:avLst/>
          </a:prstGeom>
          <a:noFill/>
          <a:ln w="15875">
            <a:solidFill>
              <a:srgbClr val="50808E"/>
            </a:solidFill>
            <a:prstDash val="solid"/>
          </a:ln>
        </p:spPr>
      </p:sp>
      <p:sp>
        <p:nvSpPr>
          <p:cNvPr id="27" name="Shape 25"/>
          <p:cNvSpPr/>
          <p:nvPr/>
        </p:nvSpPr>
        <p:spPr>
          <a:xfrm>
            <a:off x="7955280" y="2514600"/>
            <a:ext cx="1161288" cy="777240"/>
          </a:xfrm>
          <a:prstGeom prst="roundRect">
            <a:avLst>
              <a:gd name="adj" fmla="val 5882"/>
            </a:avLst>
          </a:prstGeom>
          <a:solidFill>
            <a:srgbClr val="E4E8E9"/>
          </a:solidFill>
          <a:ln/>
        </p:spPr>
      </p:sp>
      <p:sp>
        <p:nvSpPr>
          <p:cNvPr id="28" name="Text 26"/>
          <p:cNvSpPr txBox="1"/>
          <p:nvPr/>
        </p:nvSpPr>
        <p:spPr>
          <a:xfrm>
            <a:off x="7955280" y="2514600"/>
            <a:ext cx="1161288" cy="777240"/>
          </a:xfrm>
          <a:prstGeom prst="rect">
            <a:avLst/>
          </a:prstGeom>
          <a:noFill/>
          <a:ln/>
        </p:spPr>
        <p:txBody>
          <a:bodyPr wrap="square" lIns="38100" tIns="38100" rIns="38100" bIns="38100" rtlCol="0" anchor="ctr"/>
          <a:lstStyle/>
          <a:p>
            <a:pPr algn="ctr" indent="0" marL="0">
              <a:buNone/>
            </a:pPr>
            <a:r>
              <a:rPr lang="tr-TR" sz="1500" b="1" dirty="0">
                <a:solidFill>
                  <a:srgbClr val="212121"/>
                </a:solidFill>
                <a:latin typeface="Consolas" pitchFamily="34" charset="0"/>
                <a:ea typeface="Consolas" pitchFamily="34" charset="-122"/>
                <a:cs typeface="Consolas" pitchFamily="34" charset="-120"/>
              </a:rPr>
              <a:t>dev</a:t>
            </a:r>
            <a:endParaRPr lang="tr-TR" sz="1500" dirty="0"/>
          </a:p>
          <a:p>
            <a:pPr algn="ctr" indent="0" marL="0">
              <a:buNone/>
            </a:pPr>
            <a:r>
              <a:rPr lang="tr-TR" sz="1000" dirty="0">
                <a:solidFill>
                  <a:srgbClr val="212121"/>
                </a:solidFill>
                <a:latin typeface="Calibri" pitchFamily="34" charset="0"/>
                <a:ea typeface="Calibri" pitchFamily="34" charset="-122"/>
                <a:cs typeface="Calibri" pitchFamily="34" charset="-120"/>
              </a:rPr>
              <a:t>aygıtlar</a:t>
            </a:r>
            <a:endParaRPr lang="tr-TR" sz="1500" dirty="0"/>
          </a:p>
        </p:txBody>
      </p:sp>
      <p:sp>
        <p:nvSpPr>
          <p:cNvPr id="29" name="Shape 27"/>
          <p:cNvSpPr/>
          <p:nvPr/>
        </p:nvSpPr>
        <p:spPr>
          <a:xfrm>
            <a:off x="6103620" y="2103120"/>
            <a:ext cx="3666744" cy="411480"/>
          </a:xfrm>
          <a:prstGeom prst="line">
            <a:avLst/>
          </a:prstGeom>
          <a:noFill/>
          <a:ln w="15875">
            <a:solidFill>
              <a:srgbClr val="50808E"/>
            </a:solidFill>
            <a:prstDash val="solid"/>
          </a:ln>
        </p:spPr>
      </p:sp>
      <p:sp>
        <p:nvSpPr>
          <p:cNvPr id="30" name="Shape 28"/>
          <p:cNvSpPr/>
          <p:nvPr/>
        </p:nvSpPr>
        <p:spPr>
          <a:xfrm>
            <a:off x="9189720" y="2514600"/>
            <a:ext cx="1161288" cy="777240"/>
          </a:xfrm>
          <a:prstGeom prst="roundRect">
            <a:avLst>
              <a:gd name="adj" fmla="val 5882"/>
            </a:avLst>
          </a:prstGeom>
          <a:solidFill>
            <a:srgbClr val="E4E8E9"/>
          </a:solidFill>
          <a:ln/>
        </p:spPr>
      </p:sp>
      <p:sp>
        <p:nvSpPr>
          <p:cNvPr id="31" name="Text 29"/>
          <p:cNvSpPr txBox="1"/>
          <p:nvPr/>
        </p:nvSpPr>
        <p:spPr>
          <a:xfrm>
            <a:off x="9189720" y="2514600"/>
            <a:ext cx="1161288" cy="777240"/>
          </a:xfrm>
          <a:prstGeom prst="rect">
            <a:avLst/>
          </a:prstGeom>
          <a:noFill/>
          <a:ln/>
        </p:spPr>
        <p:txBody>
          <a:bodyPr wrap="square" lIns="38100" tIns="38100" rIns="38100" bIns="38100" rtlCol="0" anchor="ctr"/>
          <a:lstStyle/>
          <a:p>
            <a:pPr algn="ctr" indent="0" marL="0">
              <a:buNone/>
            </a:pPr>
            <a:r>
              <a:rPr lang="tr-TR" sz="1500" b="1" dirty="0">
                <a:solidFill>
                  <a:srgbClr val="212121"/>
                </a:solidFill>
                <a:latin typeface="Consolas" pitchFamily="34" charset="0"/>
                <a:ea typeface="Consolas" pitchFamily="34" charset="-122"/>
                <a:cs typeface="Consolas" pitchFamily="34" charset="-120"/>
              </a:rPr>
              <a:t>proc</a:t>
            </a:r>
            <a:endParaRPr lang="tr-TR" sz="1500" dirty="0"/>
          </a:p>
          <a:p>
            <a:pPr algn="ctr" indent="0" marL="0">
              <a:buNone/>
            </a:pPr>
            <a:r>
              <a:rPr lang="tr-TR" sz="1000" dirty="0">
                <a:solidFill>
                  <a:srgbClr val="212121"/>
                </a:solidFill>
                <a:latin typeface="Calibri" pitchFamily="34" charset="0"/>
                <a:ea typeface="Calibri" pitchFamily="34" charset="-122"/>
                <a:cs typeface="Calibri" pitchFamily="34" charset="-120"/>
              </a:rPr>
              <a:t>çekirdek bilgisi</a:t>
            </a:r>
            <a:endParaRPr lang="tr-TR" sz="1500" dirty="0"/>
          </a:p>
        </p:txBody>
      </p:sp>
      <p:sp>
        <p:nvSpPr>
          <p:cNvPr id="32" name="Shape 30"/>
          <p:cNvSpPr/>
          <p:nvPr/>
        </p:nvSpPr>
        <p:spPr>
          <a:xfrm>
            <a:off x="6103620" y="2103120"/>
            <a:ext cx="4901184" cy="411480"/>
          </a:xfrm>
          <a:prstGeom prst="line">
            <a:avLst/>
          </a:prstGeom>
          <a:noFill/>
          <a:ln w="15875">
            <a:solidFill>
              <a:srgbClr val="50808E"/>
            </a:solidFill>
            <a:prstDash val="solid"/>
          </a:ln>
        </p:spPr>
      </p:sp>
      <p:sp>
        <p:nvSpPr>
          <p:cNvPr id="33" name="Shape 31"/>
          <p:cNvSpPr/>
          <p:nvPr/>
        </p:nvSpPr>
        <p:spPr>
          <a:xfrm>
            <a:off x="10424160" y="2514600"/>
            <a:ext cx="1161288" cy="777240"/>
          </a:xfrm>
          <a:prstGeom prst="roundRect">
            <a:avLst>
              <a:gd name="adj" fmla="val 5882"/>
            </a:avLst>
          </a:prstGeom>
          <a:solidFill>
            <a:srgbClr val="D7E9E6"/>
          </a:solidFill>
          <a:ln/>
        </p:spPr>
      </p:sp>
      <p:sp>
        <p:nvSpPr>
          <p:cNvPr id="34" name="Text 32"/>
          <p:cNvSpPr txBox="1"/>
          <p:nvPr/>
        </p:nvSpPr>
        <p:spPr>
          <a:xfrm>
            <a:off x="10424160" y="2514600"/>
            <a:ext cx="1161288" cy="777240"/>
          </a:xfrm>
          <a:prstGeom prst="rect">
            <a:avLst/>
          </a:prstGeom>
          <a:noFill/>
          <a:ln/>
        </p:spPr>
        <p:txBody>
          <a:bodyPr wrap="square" lIns="38100" tIns="38100" rIns="38100" bIns="38100" rtlCol="0" anchor="ctr"/>
          <a:lstStyle/>
          <a:p>
            <a:pPr algn="ctr" indent="0" marL="0">
              <a:buNone/>
            </a:pPr>
            <a:r>
              <a:rPr lang="tr-TR" sz="1500" b="1" dirty="0">
                <a:solidFill>
                  <a:srgbClr val="212121"/>
                </a:solidFill>
                <a:latin typeface="Consolas" pitchFamily="34" charset="0"/>
                <a:ea typeface="Consolas" pitchFamily="34" charset="-122"/>
                <a:cs typeface="Consolas" pitchFamily="34" charset="-120"/>
              </a:rPr>
              <a:t>root</a:t>
            </a:r>
            <a:endParaRPr lang="tr-TR" sz="1500" dirty="0"/>
          </a:p>
          <a:p>
            <a:pPr algn="ctr" indent="0" marL="0">
              <a:buNone/>
            </a:pPr>
            <a:r>
              <a:rPr lang="tr-TR" sz="1000" dirty="0">
                <a:solidFill>
                  <a:srgbClr val="212121"/>
                </a:solidFill>
                <a:latin typeface="Calibri" pitchFamily="34" charset="0"/>
                <a:ea typeface="Calibri" pitchFamily="34" charset="-122"/>
                <a:cs typeface="Calibri" pitchFamily="34" charset="-120"/>
              </a:rPr>
              <a:t>root'un evi</a:t>
            </a:r>
            <a:endParaRPr lang="tr-TR" sz="1500" dirty="0"/>
          </a:p>
        </p:txBody>
      </p:sp>
      <p:sp>
        <p:nvSpPr>
          <p:cNvPr id="35" name="Shape 33"/>
          <p:cNvSpPr/>
          <p:nvPr/>
        </p:nvSpPr>
        <p:spPr>
          <a:xfrm>
            <a:off x="3598164" y="3291840"/>
            <a:ext cx="91" cy="457200"/>
          </a:xfrm>
          <a:prstGeom prst="line">
            <a:avLst/>
          </a:prstGeom>
          <a:noFill/>
          <a:ln w="15875">
            <a:solidFill>
              <a:srgbClr val="50808E"/>
            </a:solidFill>
            <a:prstDash val="solid"/>
          </a:ln>
        </p:spPr>
      </p:sp>
      <p:sp>
        <p:nvSpPr>
          <p:cNvPr id="36" name="Shape 34"/>
          <p:cNvSpPr/>
          <p:nvPr/>
        </p:nvSpPr>
        <p:spPr>
          <a:xfrm>
            <a:off x="3017520" y="3749040"/>
            <a:ext cx="1161288" cy="457200"/>
          </a:xfrm>
          <a:prstGeom prst="roundRect">
            <a:avLst>
              <a:gd name="adj" fmla="val 10000"/>
            </a:avLst>
          </a:prstGeom>
          <a:solidFill>
            <a:srgbClr val="02C39A"/>
          </a:solidFill>
          <a:ln/>
        </p:spPr>
      </p:sp>
      <p:sp>
        <p:nvSpPr>
          <p:cNvPr id="37" name="Text 35"/>
          <p:cNvSpPr txBox="1"/>
          <p:nvPr/>
        </p:nvSpPr>
        <p:spPr>
          <a:xfrm>
            <a:off x="3017520" y="3749040"/>
            <a:ext cx="1161288" cy="457200"/>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onsolas" pitchFamily="34" charset="0"/>
                <a:ea typeface="Consolas" pitchFamily="34" charset="-122"/>
                <a:cs typeface="Consolas" pitchFamily="34" charset="-120"/>
              </a:rPr>
              <a:t>student</a:t>
            </a:r>
            <a:endParaRPr lang="tr-TR" sz="1300" dirty="0"/>
          </a:p>
        </p:txBody>
      </p:sp>
      <p:sp>
        <p:nvSpPr>
          <p:cNvPr id="38" name="Shape 36"/>
          <p:cNvSpPr/>
          <p:nvPr/>
        </p:nvSpPr>
        <p:spPr>
          <a:xfrm>
            <a:off x="3598164" y="4206240"/>
            <a:ext cx="91" cy="320040"/>
          </a:xfrm>
          <a:prstGeom prst="line">
            <a:avLst/>
          </a:prstGeom>
          <a:noFill/>
          <a:ln w="15875">
            <a:solidFill>
              <a:srgbClr val="50808E"/>
            </a:solidFill>
            <a:prstDash val="solid"/>
          </a:ln>
        </p:spPr>
      </p:sp>
      <p:sp>
        <p:nvSpPr>
          <p:cNvPr id="39" name="Shape 37"/>
          <p:cNvSpPr/>
          <p:nvPr/>
        </p:nvSpPr>
        <p:spPr>
          <a:xfrm>
            <a:off x="3017520" y="4526280"/>
            <a:ext cx="1161288" cy="457200"/>
          </a:xfrm>
          <a:prstGeom prst="roundRect">
            <a:avLst>
              <a:gd name="adj" fmla="val 10000"/>
            </a:avLst>
          </a:prstGeom>
          <a:solidFill>
            <a:srgbClr val="02C39A"/>
          </a:solidFill>
          <a:ln/>
        </p:spPr>
      </p:sp>
      <p:sp>
        <p:nvSpPr>
          <p:cNvPr id="40" name="Text 38"/>
          <p:cNvSpPr txBox="1"/>
          <p:nvPr/>
        </p:nvSpPr>
        <p:spPr>
          <a:xfrm>
            <a:off x="3017520" y="4526280"/>
            <a:ext cx="1161288" cy="457200"/>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onsolas" pitchFamily="34" charset="0"/>
                <a:ea typeface="Consolas" pitchFamily="34" charset="-122"/>
                <a:cs typeface="Consolas" pitchFamily="34" charset="-120"/>
              </a:rPr>
              <a:t>lab</a:t>
            </a:r>
            <a:endParaRPr lang="tr-TR" sz="1300" dirty="0"/>
          </a:p>
        </p:txBody>
      </p:sp>
      <p:sp>
        <p:nvSpPr>
          <p:cNvPr id="41" name="Shape 39"/>
          <p:cNvSpPr/>
          <p:nvPr/>
        </p:nvSpPr>
        <p:spPr>
          <a:xfrm flipH="1">
            <a:off x="5349240" y="3291840"/>
            <a:ext cx="717804" cy="457200"/>
          </a:xfrm>
          <a:prstGeom prst="line">
            <a:avLst/>
          </a:prstGeom>
          <a:noFill/>
          <a:ln w="15875">
            <a:solidFill>
              <a:srgbClr val="50808E"/>
            </a:solidFill>
            <a:prstDash val="solid"/>
          </a:ln>
        </p:spPr>
      </p:sp>
      <p:sp>
        <p:nvSpPr>
          <p:cNvPr id="42" name="Shape 40"/>
          <p:cNvSpPr/>
          <p:nvPr/>
        </p:nvSpPr>
        <p:spPr>
          <a:xfrm>
            <a:off x="4983480" y="3749040"/>
            <a:ext cx="731520" cy="457200"/>
          </a:xfrm>
          <a:prstGeom prst="roundRect">
            <a:avLst>
              <a:gd name="adj" fmla="val 10000"/>
            </a:avLst>
          </a:prstGeom>
          <a:solidFill>
            <a:srgbClr val="D7E9E6"/>
          </a:solidFill>
          <a:ln/>
        </p:spPr>
      </p:sp>
      <p:sp>
        <p:nvSpPr>
          <p:cNvPr id="43" name="Text 41"/>
          <p:cNvSpPr txBox="1"/>
          <p:nvPr/>
        </p:nvSpPr>
        <p:spPr>
          <a:xfrm>
            <a:off x="4983480" y="3749040"/>
            <a:ext cx="731520" cy="457200"/>
          </a:xfrm>
          <a:prstGeom prst="rect">
            <a:avLst/>
          </a:prstGeom>
          <a:noFill/>
          <a:ln/>
        </p:spPr>
        <p:txBody>
          <a:bodyPr wrap="square" lIns="38100" tIns="38100" rIns="38100" bIns="38100" rtlCol="0" anchor="ctr"/>
          <a:lstStyle/>
          <a:p>
            <a:pPr algn="ctr" indent="0" marL="0">
              <a:buNone/>
            </a:pPr>
            <a:r>
              <a:rPr lang="tr-TR" sz="1150" b="1" dirty="0">
                <a:solidFill>
                  <a:srgbClr val="212121"/>
                </a:solidFill>
                <a:latin typeface="Consolas" pitchFamily="34" charset="0"/>
                <a:ea typeface="Consolas" pitchFamily="34" charset="-122"/>
                <a:cs typeface="Consolas" pitchFamily="34" charset="-120"/>
              </a:rPr>
              <a:t>bin</a:t>
            </a:r>
            <a:endParaRPr lang="tr-TR" sz="1150" dirty="0"/>
          </a:p>
        </p:txBody>
      </p:sp>
      <p:sp>
        <p:nvSpPr>
          <p:cNvPr id="44" name="Shape 42"/>
          <p:cNvSpPr/>
          <p:nvPr/>
        </p:nvSpPr>
        <p:spPr>
          <a:xfrm>
            <a:off x="6067044" y="3291840"/>
            <a:ext cx="105156" cy="457200"/>
          </a:xfrm>
          <a:prstGeom prst="line">
            <a:avLst/>
          </a:prstGeom>
          <a:noFill/>
          <a:ln w="15875">
            <a:solidFill>
              <a:srgbClr val="50808E"/>
            </a:solidFill>
            <a:prstDash val="solid"/>
          </a:ln>
        </p:spPr>
      </p:sp>
      <p:sp>
        <p:nvSpPr>
          <p:cNvPr id="45" name="Shape 43"/>
          <p:cNvSpPr/>
          <p:nvPr/>
        </p:nvSpPr>
        <p:spPr>
          <a:xfrm>
            <a:off x="5806440" y="3749040"/>
            <a:ext cx="731520" cy="457200"/>
          </a:xfrm>
          <a:prstGeom prst="roundRect">
            <a:avLst>
              <a:gd name="adj" fmla="val 10000"/>
            </a:avLst>
          </a:prstGeom>
          <a:solidFill>
            <a:srgbClr val="D7E9E6"/>
          </a:solidFill>
          <a:ln/>
        </p:spPr>
      </p:sp>
      <p:sp>
        <p:nvSpPr>
          <p:cNvPr id="46" name="Text 44"/>
          <p:cNvSpPr txBox="1"/>
          <p:nvPr/>
        </p:nvSpPr>
        <p:spPr>
          <a:xfrm>
            <a:off x="5806440" y="3749040"/>
            <a:ext cx="731520" cy="457200"/>
          </a:xfrm>
          <a:prstGeom prst="rect">
            <a:avLst/>
          </a:prstGeom>
          <a:noFill/>
          <a:ln/>
        </p:spPr>
        <p:txBody>
          <a:bodyPr wrap="square" lIns="38100" tIns="38100" rIns="38100" bIns="38100" rtlCol="0" anchor="ctr"/>
          <a:lstStyle/>
          <a:p>
            <a:pPr algn="ctr" indent="0" marL="0">
              <a:buNone/>
            </a:pPr>
            <a:r>
              <a:rPr lang="tr-TR" sz="1150" b="1" dirty="0">
                <a:solidFill>
                  <a:srgbClr val="212121"/>
                </a:solidFill>
                <a:latin typeface="Consolas" pitchFamily="34" charset="0"/>
                <a:ea typeface="Consolas" pitchFamily="34" charset="-122"/>
                <a:cs typeface="Consolas" pitchFamily="34" charset="-120"/>
              </a:rPr>
              <a:t>lib</a:t>
            </a:r>
            <a:endParaRPr lang="tr-TR" sz="1150" dirty="0"/>
          </a:p>
        </p:txBody>
      </p:sp>
      <p:sp>
        <p:nvSpPr>
          <p:cNvPr id="47" name="Shape 45"/>
          <p:cNvSpPr/>
          <p:nvPr/>
        </p:nvSpPr>
        <p:spPr>
          <a:xfrm>
            <a:off x="6067044" y="3291840"/>
            <a:ext cx="928116" cy="457200"/>
          </a:xfrm>
          <a:prstGeom prst="line">
            <a:avLst/>
          </a:prstGeom>
          <a:noFill/>
          <a:ln w="15875">
            <a:solidFill>
              <a:srgbClr val="50808E"/>
            </a:solidFill>
            <a:prstDash val="solid"/>
          </a:ln>
        </p:spPr>
      </p:sp>
      <p:sp>
        <p:nvSpPr>
          <p:cNvPr id="48" name="Shape 46"/>
          <p:cNvSpPr/>
          <p:nvPr/>
        </p:nvSpPr>
        <p:spPr>
          <a:xfrm>
            <a:off x="6629400" y="3749040"/>
            <a:ext cx="731520" cy="457200"/>
          </a:xfrm>
          <a:prstGeom prst="roundRect">
            <a:avLst>
              <a:gd name="adj" fmla="val 10000"/>
            </a:avLst>
          </a:prstGeom>
          <a:solidFill>
            <a:srgbClr val="D7E9E6"/>
          </a:solidFill>
          <a:ln/>
        </p:spPr>
      </p:sp>
      <p:sp>
        <p:nvSpPr>
          <p:cNvPr id="49" name="Text 47"/>
          <p:cNvSpPr txBox="1"/>
          <p:nvPr/>
        </p:nvSpPr>
        <p:spPr>
          <a:xfrm>
            <a:off x="6629400" y="3749040"/>
            <a:ext cx="731520" cy="457200"/>
          </a:xfrm>
          <a:prstGeom prst="rect">
            <a:avLst/>
          </a:prstGeom>
          <a:noFill/>
          <a:ln/>
        </p:spPr>
        <p:txBody>
          <a:bodyPr wrap="square" lIns="38100" tIns="38100" rIns="38100" bIns="38100" rtlCol="0" anchor="ctr"/>
          <a:lstStyle/>
          <a:p>
            <a:pPr algn="ctr" indent="0" marL="0">
              <a:buNone/>
            </a:pPr>
            <a:r>
              <a:rPr lang="tr-TR" sz="1150" b="1" dirty="0">
                <a:solidFill>
                  <a:srgbClr val="212121"/>
                </a:solidFill>
                <a:latin typeface="Consolas" pitchFamily="34" charset="0"/>
                <a:ea typeface="Consolas" pitchFamily="34" charset="-122"/>
                <a:cs typeface="Consolas" pitchFamily="34" charset="-120"/>
              </a:rPr>
              <a:t>share</a:t>
            </a:r>
            <a:endParaRPr lang="tr-TR" sz="1150" dirty="0"/>
          </a:p>
        </p:txBody>
      </p:sp>
      <p:sp>
        <p:nvSpPr>
          <p:cNvPr id="50" name="Shape 48"/>
          <p:cNvSpPr/>
          <p:nvPr/>
        </p:nvSpPr>
        <p:spPr>
          <a:xfrm>
            <a:off x="7575804" y="3291840"/>
            <a:ext cx="274320" cy="457200"/>
          </a:xfrm>
          <a:prstGeom prst="line">
            <a:avLst/>
          </a:prstGeom>
          <a:noFill/>
          <a:ln w="15875">
            <a:solidFill>
              <a:srgbClr val="50808E"/>
            </a:solidFill>
            <a:prstDash val="solid"/>
          </a:ln>
        </p:spPr>
      </p:sp>
      <p:sp>
        <p:nvSpPr>
          <p:cNvPr id="51" name="Shape 49"/>
          <p:cNvSpPr/>
          <p:nvPr/>
        </p:nvSpPr>
        <p:spPr>
          <a:xfrm>
            <a:off x="7484364" y="3749040"/>
            <a:ext cx="731520" cy="457200"/>
          </a:xfrm>
          <a:prstGeom prst="roundRect">
            <a:avLst>
              <a:gd name="adj" fmla="val 10000"/>
            </a:avLst>
          </a:prstGeom>
          <a:solidFill>
            <a:srgbClr val="D7E9E6"/>
          </a:solidFill>
          <a:ln/>
        </p:spPr>
      </p:sp>
      <p:sp>
        <p:nvSpPr>
          <p:cNvPr id="52" name="Text 50"/>
          <p:cNvSpPr txBox="1"/>
          <p:nvPr/>
        </p:nvSpPr>
        <p:spPr>
          <a:xfrm>
            <a:off x="7484364" y="3749040"/>
            <a:ext cx="731520" cy="457200"/>
          </a:xfrm>
          <a:prstGeom prst="rect">
            <a:avLst/>
          </a:prstGeom>
          <a:noFill/>
          <a:ln/>
        </p:spPr>
        <p:txBody>
          <a:bodyPr wrap="square" lIns="38100" tIns="38100" rIns="38100" bIns="38100" rtlCol="0" anchor="ctr"/>
          <a:lstStyle/>
          <a:p>
            <a:pPr algn="ctr" indent="0" marL="0">
              <a:buNone/>
            </a:pPr>
            <a:r>
              <a:rPr lang="tr-TR" sz="1150" b="1" dirty="0">
                <a:solidFill>
                  <a:srgbClr val="212121"/>
                </a:solidFill>
                <a:latin typeface="Consolas" pitchFamily="34" charset="0"/>
                <a:ea typeface="Consolas" pitchFamily="34" charset="-122"/>
                <a:cs typeface="Consolas" pitchFamily="34" charset="-120"/>
              </a:rPr>
              <a:t>log</a:t>
            </a:r>
            <a:endParaRPr lang="tr-TR" sz="1150" dirty="0"/>
          </a:p>
        </p:txBody>
      </p:sp>
      <p:sp>
        <p:nvSpPr>
          <p:cNvPr id="53" name="Text 51"/>
          <p:cNvSpPr txBox="1"/>
          <p:nvPr/>
        </p:nvSpPr>
        <p:spPr>
          <a:xfrm>
            <a:off x="548640" y="5074920"/>
            <a:ext cx="3840480" cy="320040"/>
          </a:xfrm>
          <a:prstGeom prst="rect">
            <a:avLst/>
          </a:prstGeom>
          <a:noFill/>
          <a:ln/>
        </p:spPr>
        <p:txBody>
          <a:bodyPr wrap="square" lIns="0" tIns="0" rIns="0" bIns="0" rtlCol="0" anchor="t"/>
          <a:lstStyle/>
          <a:p>
            <a:pPr indent="0" marL="0">
              <a:buNone/>
            </a:pPr>
            <a:r>
              <a:rPr lang="tr-TR" sz="1300" b="1" dirty="0">
                <a:solidFill>
                  <a:srgbClr val="028090"/>
                </a:solidFill>
                <a:latin typeface="Calibri" pitchFamily="34" charset="0"/>
                <a:ea typeface="Calibri" pitchFamily="34" charset="-122"/>
                <a:cs typeface="Calibri" pitchFamily="34" charset="-120"/>
              </a:rPr>
              <a:t>/home/student/lab  =  ~/lab</a:t>
            </a:r>
            <a:endParaRPr lang="tr-TR" sz="1300" dirty="0"/>
          </a:p>
        </p:txBody>
      </p:sp>
      <p:sp>
        <p:nvSpPr>
          <p:cNvPr id="54" name="Text 52"/>
          <p:cNvSpPr txBox="1"/>
          <p:nvPr/>
        </p:nvSpPr>
        <p:spPr>
          <a:xfrm>
            <a:off x="6583680" y="4526280"/>
            <a:ext cx="5029200" cy="320040"/>
          </a:xfrm>
          <a:prstGeom prst="rect">
            <a:avLst/>
          </a:prstGeom>
          <a:noFill/>
          <a:ln/>
        </p:spPr>
        <p:txBody>
          <a:bodyPr wrap="square" lIns="0" tIns="0" rIns="0" bIns="0" rtlCol="0" anchor="t"/>
          <a:lstStyle/>
          <a:p>
            <a:pPr algn="r" indent="0" marL="0">
              <a:buNone/>
            </a:pPr>
            <a:r>
              <a:rPr lang="tr-TR" sz="1200" i="1" dirty="0">
                <a:solidFill>
                  <a:srgbClr val="6B7679"/>
                </a:solidFill>
                <a:latin typeface="Calibri" pitchFamily="34" charset="0"/>
                <a:ea typeface="Calibri" pitchFamily="34" charset="-122"/>
                <a:cs typeface="Calibri" pitchFamily="34" charset="-120"/>
              </a:rPr>
              <a:t>gri = sanal: diskte saklanmaz, çekirdek üretir</a:t>
            </a:r>
            <a:endParaRPr lang="tr-TR" sz="1200" dirty="0"/>
          </a:p>
        </p:txBody>
      </p:sp>
      <p:sp>
        <p:nvSpPr>
          <p:cNvPr id="55" name="Shape 53"/>
          <p:cNvSpPr/>
          <p:nvPr/>
        </p:nvSpPr>
        <p:spPr>
          <a:xfrm>
            <a:off x="548640" y="5532120"/>
            <a:ext cx="11109960" cy="731520"/>
          </a:xfrm>
          <a:prstGeom prst="roundRect">
            <a:avLst>
              <a:gd name="adj" fmla="val 7500"/>
            </a:avLst>
          </a:prstGeom>
          <a:solidFill>
            <a:srgbClr val="36454F"/>
          </a:solidFill>
          <a:ln/>
          <a:effectLst>
            <a:outerShdw sx="100000" sy="100000" kx="0" ky="0" algn="bl" rotWithShape="0" blurRad="101600" dist="25400" dir="5400000">
              <a:srgbClr val="000000">
                <a:alpha val="12000"/>
              </a:srgbClr>
            </a:outerShdw>
          </a:effectLst>
        </p:spPr>
      </p:sp>
      <p:sp>
        <p:nvSpPr>
          <p:cNvPr id="56" name="Text 54"/>
          <p:cNvSpPr txBox="1"/>
          <p:nvPr/>
        </p:nvSpPr>
        <p:spPr>
          <a:xfrm>
            <a:off x="777240" y="5532120"/>
            <a:ext cx="10652760" cy="73152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Her şey — diskler, USB bellekler, hatta aygıtlar ve çekirdek verileri — tek kök / altında bir yerde görünür. Windows'ta her sürücünün ayrı bir ağacı vardır (C:\, D:\).</a:t>
            </a:r>
            <a:endParaRPr lang="tr-TR"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CANLI GÖSTERİM</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Ağaçta Bir Tur: /, /bin, /etc, /var, /tmp</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9  ·  24</a:t>
            </a:r>
            <a:endParaRPr lang="tr-TR" sz="900" dirty="0"/>
          </a:p>
        </p:txBody>
      </p:sp>
      <p:sp>
        <p:nvSpPr>
          <p:cNvPr id="6" name="Shape 4"/>
          <p:cNvSpPr/>
          <p:nvPr/>
        </p:nvSpPr>
        <p:spPr>
          <a:xfrm>
            <a:off x="548640" y="1508760"/>
            <a:ext cx="7726680" cy="4754880"/>
          </a:xfrm>
          <a:prstGeom prst="roundRect">
            <a:avLst>
              <a:gd name="adj" fmla="val 962"/>
            </a:avLst>
          </a:prstGeom>
          <a:solidFill>
            <a:srgbClr val="212121"/>
          </a:solidFill>
          <a:ln/>
        </p:spPr>
      </p:sp>
      <p:sp>
        <p:nvSpPr>
          <p:cNvPr id="7" name="Text 5"/>
          <p:cNvSpPr txBox="1"/>
          <p:nvPr/>
        </p:nvSpPr>
        <p:spPr>
          <a:xfrm>
            <a:off x="731520" y="1618488"/>
            <a:ext cx="7360920" cy="4535424"/>
          </a:xfrm>
          <a:prstGeom prst="rect">
            <a:avLst/>
          </a:prstGeom>
          <a:noFill/>
          <a:ln/>
        </p:spPr>
        <p:txBody>
          <a:bodyPr wrap="square" lIns="0" tIns="0" rIns="0" bIns="0" rtlCol="0" anchor="t"/>
          <a:lstStyle/>
          <a:p>
            <a:pPr indent="0" marL="0">
              <a:lnSpc>
                <a:spcPct val="100000"/>
              </a:lnSpc>
              <a:buNone/>
            </a:pPr>
            <a:r>
              <a:rPr lang="tr-TR" sz="1000" dirty="0">
                <a:solidFill>
                  <a:srgbClr val="02C39A"/>
                </a:solidFill>
                <a:latin typeface="Consolas" pitchFamily="34" charset="0"/>
                <a:ea typeface="Consolas" pitchFamily="34" charset="-122"/>
                <a:cs typeface="Consolas" pitchFamily="34" charset="-120"/>
              </a:rPr>
              <a:t>student@okan-lab:~$ </a:t>
            </a:r>
            <a:r>
              <a:rPr lang="tr-TR" sz="1000" b="1" dirty="0">
                <a:solidFill>
                  <a:srgbClr val="FFFFFF"/>
                </a:solidFill>
                <a:latin typeface="Consolas" pitchFamily="34" charset="0"/>
                <a:ea typeface="Consolas" pitchFamily="34" charset="-122"/>
                <a:cs typeface="Consolas" pitchFamily="34" charset="-120"/>
              </a:rPr>
              <a:t>type ls</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ls is /usr/bin/ls</a:t>
            </a:r>
            <a:endParaRPr lang="tr-TR" sz="1000" dirty="0"/>
          </a:p>
          <a:p>
            <a:pPr indent="0" marL="0">
              <a:lnSpc>
                <a:spcPct val="100000"/>
              </a:lnSpc>
              <a:buNone/>
            </a:pPr>
            <a:r>
              <a:rPr lang="tr-TR" sz="1000" dirty="0">
                <a:solidFill>
                  <a:srgbClr val="02C39A"/>
                </a:solidFill>
                <a:latin typeface="Consolas" pitchFamily="34" charset="0"/>
                <a:ea typeface="Consolas" pitchFamily="34" charset="-122"/>
                <a:cs typeface="Consolas" pitchFamily="34" charset="-120"/>
              </a:rPr>
              <a:t>student@okan-lab:~$ </a:t>
            </a:r>
            <a:r>
              <a:rPr lang="tr-TR" sz="1000" b="1" dirty="0">
                <a:solidFill>
                  <a:srgbClr val="FFFFFF"/>
                </a:solidFill>
                <a:latin typeface="Consolas" pitchFamily="34" charset="0"/>
                <a:ea typeface="Consolas" pitchFamily="34" charset="-122"/>
                <a:cs typeface="Consolas" pitchFamily="34" charset="-120"/>
              </a:rPr>
              <a:t>cd /</a:t>
            </a:r>
            <a:endParaRPr lang="tr-TR" sz="1000" dirty="0"/>
          </a:p>
          <a:p>
            <a:pPr indent="0" marL="0">
              <a:lnSpc>
                <a:spcPct val="100000"/>
              </a:lnSpc>
              <a:buNone/>
            </a:pPr>
            <a:r>
              <a:rPr lang="tr-TR" sz="1000" dirty="0">
                <a:solidFill>
                  <a:srgbClr val="02C39A"/>
                </a:solidFill>
                <a:latin typeface="Consolas" pitchFamily="34" charset="0"/>
                <a:ea typeface="Consolas" pitchFamily="34" charset="-122"/>
                <a:cs typeface="Consolas" pitchFamily="34" charset="-120"/>
              </a:rPr>
              <a:t>student@okan-lab:/$ </a:t>
            </a:r>
            <a:r>
              <a:rPr lang="tr-TR" sz="1000" b="1" dirty="0">
                <a:solidFill>
                  <a:srgbClr val="FFFFFF"/>
                </a:solidFill>
                <a:latin typeface="Consolas" pitchFamily="34" charset="0"/>
                <a:ea typeface="Consolas" pitchFamily="34" charset="-122"/>
                <a:cs typeface="Consolas" pitchFamily="34" charset="-120"/>
              </a:rPr>
              <a:t>ls</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bin                etc                lib64       opt   sbin                tmp</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bin.usr-is-merged  home               lost+found  proc  sbin.usr-is-merged  usr</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boot               lib                media       root  srv                 var</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dev                lib.usr-is-merged  mnt         run   sys</a:t>
            </a:r>
            <a:endParaRPr lang="tr-TR" sz="1000" dirty="0"/>
          </a:p>
          <a:p>
            <a:pPr indent="0" marL="0">
              <a:lnSpc>
                <a:spcPct val="100000"/>
              </a:lnSpc>
              <a:buNone/>
            </a:pPr>
            <a:r>
              <a:rPr lang="tr-TR" sz="1000" dirty="0">
                <a:solidFill>
                  <a:srgbClr val="02C39A"/>
                </a:solidFill>
                <a:latin typeface="Consolas" pitchFamily="34" charset="0"/>
                <a:ea typeface="Consolas" pitchFamily="34" charset="-122"/>
                <a:cs typeface="Consolas" pitchFamily="34" charset="-120"/>
              </a:rPr>
              <a:t>student@okan-lab:/$ </a:t>
            </a:r>
            <a:r>
              <a:rPr lang="tr-TR" sz="1000" b="1" dirty="0">
                <a:solidFill>
                  <a:srgbClr val="FFFFFF"/>
                </a:solidFill>
                <a:latin typeface="Consolas" pitchFamily="34" charset="0"/>
                <a:ea typeface="Consolas" pitchFamily="34" charset="-122"/>
                <a:cs typeface="Consolas" pitchFamily="34" charset="-120"/>
              </a:rPr>
              <a:t>ls -ld /bin /sbin /lib</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lrwxrwxrwx 1 root root 7 Apr 22  2024 /bin -&gt; usr/bin</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lrwxrwxrwx 1 root root 7 Apr 22  2024 /lib -&gt; usr/lib</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lrwxrwxrwx 1 root root 8 Apr 22  2024 /sbin -&gt; usr/sbin</a:t>
            </a:r>
            <a:endParaRPr lang="tr-TR" sz="1000" dirty="0"/>
          </a:p>
          <a:p>
            <a:pPr indent="0" marL="0">
              <a:lnSpc>
                <a:spcPct val="100000"/>
              </a:lnSpc>
              <a:buNone/>
            </a:pPr>
            <a:r>
              <a:rPr lang="tr-TR" sz="1000" dirty="0">
                <a:solidFill>
                  <a:srgbClr val="02C39A"/>
                </a:solidFill>
                <a:latin typeface="Consolas" pitchFamily="34" charset="0"/>
                <a:ea typeface="Consolas" pitchFamily="34" charset="-122"/>
                <a:cs typeface="Consolas" pitchFamily="34" charset="-120"/>
              </a:rPr>
              <a:t>student@okan-lab:/$ </a:t>
            </a:r>
            <a:r>
              <a:rPr lang="tr-TR" sz="1000" b="1" dirty="0">
                <a:solidFill>
                  <a:srgbClr val="FFFFFF"/>
                </a:solidFill>
                <a:latin typeface="Consolas" pitchFamily="34" charset="0"/>
                <a:ea typeface="Consolas" pitchFamily="34" charset="-122"/>
                <a:cs typeface="Consolas" pitchFamily="34" charset="-120"/>
              </a:rPr>
              <a:t>ls -l /usr/bin/ls</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-rwxr-xr-x 1 root root 142312 Jan 23  2026 /usr/bin/ls</a:t>
            </a:r>
            <a:endParaRPr lang="tr-TR" sz="1000" dirty="0"/>
          </a:p>
          <a:p>
            <a:pPr indent="0" marL="0">
              <a:lnSpc>
                <a:spcPct val="100000"/>
              </a:lnSpc>
              <a:buNone/>
            </a:pPr>
            <a:r>
              <a:rPr lang="tr-TR" sz="1000" dirty="0">
                <a:solidFill>
                  <a:srgbClr val="02C39A"/>
                </a:solidFill>
                <a:latin typeface="Consolas" pitchFamily="34" charset="0"/>
                <a:ea typeface="Consolas" pitchFamily="34" charset="-122"/>
                <a:cs typeface="Consolas" pitchFamily="34" charset="-120"/>
              </a:rPr>
              <a:t>student@okan-lab:/$ </a:t>
            </a:r>
            <a:r>
              <a:rPr lang="tr-TR" sz="1000" b="1" dirty="0">
                <a:solidFill>
                  <a:srgbClr val="FFFFFF"/>
                </a:solidFill>
                <a:latin typeface="Consolas" pitchFamily="34" charset="0"/>
                <a:ea typeface="Consolas" pitchFamily="34" charset="-122"/>
                <a:cs typeface="Consolas" pitchFamily="34" charset="-120"/>
              </a:rPr>
              <a:t>head -n 4 /etc/os-release</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PRETTY_NAME="Ubuntu 24.04.4 LTS"</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NAME="Ubuntu"</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VERSION_ID="24.04"</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VERSION="24.04.4 LTS (Noble Numbat)"</a:t>
            </a:r>
            <a:endParaRPr lang="tr-TR" sz="1000" dirty="0"/>
          </a:p>
          <a:p>
            <a:pPr indent="0" marL="0">
              <a:lnSpc>
                <a:spcPct val="100000"/>
              </a:lnSpc>
              <a:buNone/>
            </a:pPr>
            <a:r>
              <a:rPr lang="tr-TR" sz="1000" dirty="0">
                <a:solidFill>
                  <a:srgbClr val="02C39A"/>
                </a:solidFill>
                <a:latin typeface="Consolas" pitchFamily="34" charset="0"/>
                <a:ea typeface="Consolas" pitchFamily="34" charset="-122"/>
                <a:cs typeface="Consolas" pitchFamily="34" charset="-120"/>
              </a:rPr>
              <a:t>student@okan-lab:/$ </a:t>
            </a:r>
            <a:r>
              <a:rPr lang="tr-TR" sz="1000" b="1" dirty="0">
                <a:solidFill>
                  <a:srgbClr val="FFFFFF"/>
                </a:solidFill>
                <a:latin typeface="Consolas" pitchFamily="34" charset="0"/>
                <a:ea typeface="Consolas" pitchFamily="34" charset="-122"/>
                <a:cs typeface="Consolas" pitchFamily="34" charset="-120"/>
              </a:rPr>
              <a:t>ls /var</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backups  cache  lib  local  lock  log  mail  opt  run  spool  tmp</a:t>
            </a:r>
            <a:endParaRPr lang="tr-TR" sz="1000" dirty="0"/>
          </a:p>
          <a:p>
            <a:pPr indent="0" marL="0">
              <a:lnSpc>
                <a:spcPct val="100000"/>
              </a:lnSpc>
              <a:buNone/>
            </a:pPr>
            <a:r>
              <a:rPr lang="tr-TR" sz="1000" dirty="0">
                <a:solidFill>
                  <a:srgbClr val="02C39A"/>
                </a:solidFill>
                <a:latin typeface="Consolas" pitchFamily="34" charset="0"/>
                <a:ea typeface="Consolas" pitchFamily="34" charset="-122"/>
                <a:cs typeface="Consolas" pitchFamily="34" charset="-120"/>
              </a:rPr>
              <a:t>student@okan-lab:/$ </a:t>
            </a:r>
            <a:r>
              <a:rPr lang="tr-TR" sz="1000" b="1" dirty="0">
                <a:solidFill>
                  <a:srgbClr val="FFFFFF"/>
                </a:solidFill>
                <a:latin typeface="Consolas" pitchFamily="34" charset="0"/>
                <a:ea typeface="Consolas" pitchFamily="34" charset="-122"/>
                <a:cs typeface="Consolas" pitchFamily="34" charset="-120"/>
              </a:rPr>
              <a:t>ls -ld /tmp</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drwxrwxrwt 16 root root 4096 Oct 12 08:49 /tmp</a:t>
            </a:r>
            <a:endParaRPr lang="tr-TR" sz="1000" dirty="0"/>
          </a:p>
        </p:txBody>
      </p:sp>
      <p:sp>
        <p:nvSpPr>
          <p:cNvPr id="8" name="Shape 6"/>
          <p:cNvSpPr/>
          <p:nvPr/>
        </p:nvSpPr>
        <p:spPr>
          <a:xfrm>
            <a:off x="8503920" y="1508760"/>
            <a:ext cx="3154680" cy="47548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8732520" y="1691640"/>
            <a:ext cx="26974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Nelere dikkat edin</a:t>
            </a:r>
            <a:endParaRPr lang="tr-TR" sz="1500" dirty="0"/>
          </a:p>
        </p:txBody>
      </p:sp>
      <p:sp>
        <p:nvSpPr>
          <p:cNvPr id="10" name="Text 8"/>
          <p:cNvSpPr txBox="1"/>
          <p:nvPr/>
        </p:nvSpPr>
        <p:spPr>
          <a:xfrm>
            <a:off x="8732520" y="2148840"/>
            <a:ext cx="2697480" cy="3977640"/>
          </a:xfrm>
          <a:prstGeom prst="rect">
            <a:avLst/>
          </a:prstGeom>
          <a:noFill/>
          <a:ln/>
        </p:spPr>
        <p:txBody>
          <a:bodyPr wrap="square" lIns="0" tIns="0" rIns="0" bIns="0" rtlCol="0" anchor="t"/>
          <a:lstStyle/>
          <a:p>
            <a:pPr marL="228600" indent="-228600">
              <a:spcAft>
                <a:spcPts val="400"/>
              </a:spcAft>
              <a:buSzPct val="100000"/>
              <a:buChar char="•"/>
            </a:pPr>
            <a:r>
              <a:rPr lang="tr-TR" sz="1250" b="1" dirty="0">
                <a:solidFill>
                  <a:srgbClr val="3A464C"/>
                </a:solidFill>
                <a:latin typeface="Calibri" pitchFamily="34" charset="0"/>
                <a:ea typeface="Calibri" pitchFamily="34" charset="-122"/>
                <a:cs typeface="Calibri" pitchFamily="34" charset="-120"/>
              </a:rPr>
              <a:t>/bin -&gt; usr/bin:</a:t>
            </a:r>
            <a:r>
              <a:rPr lang="tr-TR" sz="1250" dirty="0">
                <a:solidFill>
                  <a:srgbClr val="3A464C"/>
                </a:solidFill>
                <a:latin typeface="Calibri" pitchFamily="34" charset="0"/>
                <a:ea typeface="Calibri" pitchFamily="34" charset="-122"/>
                <a:cs typeface="Calibri" pitchFamily="34" charset="-120"/>
              </a:rPr>
              <a:t> bir sembolik bağlantı (l); programlar aslında /usr/bin'de.</a:t>
            </a:r>
            <a:endParaRPr lang="tr-TR" sz="1250" dirty="0"/>
          </a:p>
          <a:p>
            <a:pPr marL="228600" indent="-228600">
              <a:spcAft>
                <a:spcPts val="400"/>
              </a:spcAft>
              <a:buSzPct val="100000"/>
              <a:buChar char="•"/>
            </a:pPr>
            <a:r>
              <a:rPr lang="tr-TR" sz="1250" b="1" dirty="0">
                <a:solidFill>
                  <a:srgbClr val="3A464C"/>
                </a:solidFill>
                <a:latin typeface="Calibri" pitchFamily="34" charset="0"/>
                <a:ea typeface="Calibri" pitchFamily="34" charset="-122"/>
                <a:cs typeface="Calibri" pitchFamily="34" charset="-120"/>
              </a:rPr>
              <a:t>/usr/bin/ls:</a:t>
            </a:r>
            <a:r>
              <a:rPr lang="tr-TR" sz="1250" dirty="0">
                <a:solidFill>
                  <a:srgbClr val="3A464C"/>
                </a:solidFill>
                <a:latin typeface="Calibri" pitchFamily="34" charset="0"/>
                <a:ea typeface="Calibri" pitchFamily="34" charset="-122"/>
                <a:cs typeface="Calibri" pitchFamily="34" charset="-120"/>
              </a:rPr>
              <a:t> ls programı sıradan bir dosyadır (142.312 bayt).</a:t>
            </a:r>
            <a:endParaRPr lang="tr-TR" sz="1250" dirty="0"/>
          </a:p>
          <a:p>
            <a:pPr marL="228600" indent="-228600">
              <a:spcAft>
                <a:spcPts val="400"/>
              </a:spcAft>
              <a:buSzPct val="100000"/>
              <a:buChar char="•"/>
            </a:pPr>
            <a:r>
              <a:rPr lang="tr-TR" sz="1250" b="1" dirty="0">
                <a:solidFill>
                  <a:srgbClr val="3A464C"/>
                </a:solidFill>
                <a:latin typeface="Calibri" pitchFamily="34" charset="0"/>
                <a:ea typeface="Calibri" pitchFamily="34" charset="-122"/>
                <a:cs typeface="Calibri" pitchFamily="34" charset="-120"/>
              </a:rPr>
              <a:t>/etc:</a:t>
            </a:r>
            <a:r>
              <a:rPr lang="tr-TR" sz="1250" dirty="0">
                <a:solidFill>
                  <a:srgbClr val="3A464C"/>
                </a:solidFill>
                <a:latin typeface="Calibri" pitchFamily="34" charset="0"/>
                <a:ea typeface="Calibri" pitchFamily="34" charset="-122"/>
                <a:cs typeface="Calibri" pitchFamily="34" charset="-120"/>
              </a:rPr>
              <a:t> metin yapılandırma dosyaları — os-release dağıtımın adını verir.</a:t>
            </a:r>
            <a:endParaRPr lang="tr-TR" sz="1250" dirty="0"/>
          </a:p>
          <a:p>
            <a:pPr marL="228600" indent="-228600">
              <a:spcAft>
                <a:spcPts val="400"/>
              </a:spcAft>
              <a:buSzPct val="100000"/>
              <a:buChar char="•"/>
            </a:pPr>
            <a:r>
              <a:rPr lang="tr-TR" sz="1250" b="1" dirty="0">
                <a:solidFill>
                  <a:srgbClr val="3A464C"/>
                </a:solidFill>
                <a:latin typeface="Calibri" pitchFamily="34" charset="0"/>
                <a:ea typeface="Calibri" pitchFamily="34" charset="-122"/>
                <a:cs typeface="Calibri" pitchFamily="34" charset="-120"/>
              </a:rPr>
              <a:t>/var:</a:t>
            </a:r>
            <a:r>
              <a:rPr lang="tr-TR" sz="1250" dirty="0">
                <a:solidFill>
                  <a:srgbClr val="3A464C"/>
                </a:solidFill>
                <a:latin typeface="Calibri" pitchFamily="34" charset="0"/>
                <a:ea typeface="Calibri" pitchFamily="34" charset="-122"/>
                <a:cs typeface="Calibri" pitchFamily="34" charset="-120"/>
              </a:rPr>
              <a:t> büyüyen veriler: log, cache, spool.</a:t>
            </a:r>
            <a:endParaRPr lang="tr-TR" sz="1250" dirty="0"/>
          </a:p>
          <a:p>
            <a:pPr marL="228600" indent="-228600">
              <a:spcAft>
                <a:spcPts val="400"/>
              </a:spcAft>
              <a:buSzPct val="100000"/>
              <a:buChar char="•"/>
            </a:pPr>
            <a:r>
              <a:rPr lang="tr-TR" sz="1250" b="1" dirty="0">
                <a:solidFill>
                  <a:srgbClr val="3A464C"/>
                </a:solidFill>
                <a:latin typeface="Calibri" pitchFamily="34" charset="0"/>
                <a:ea typeface="Calibri" pitchFamily="34" charset="-122"/>
                <a:cs typeface="Calibri" pitchFamily="34" charset="-120"/>
              </a:rPr>
              <a:t>/tmp:</a:t>
            </a:r>
            <a:r>
              <a:rPr lang="tr-TR" sz="1250" dirty="0">
                <a:solidFill>
                  <a:srgbClr val="3A464C"/>
                </a:solidFill>
                <a:latin typeface="Calibri" pitchFamily="34" charset="0"/>
                <a:ea typeface="Calibri" pitchFamily="34" charset="-122"/>
                <a:cs typeface="Calibri" pitchFamily="34" charset="-120"/>
              </a:rPr>
              <a:t> herkes yazabilir (t: yapışkan bit, 11. hafta).</a:t>
            </a:r>
            <a:endParaRPr lang="tr-TR"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CANLI GÖSTERİM · 2. VE 3. HAFTALARLA BAĞLANTI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/dev ve /proc: Dosya Olarak Aygıtlar ve Çekirdek</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9  ·  25</a:t>
            </a:r>
            <a:endParaRPr lang="tr-TR" sz="900" dirty="0"/>
          </a:p>
        </p:txBody>
      </p:sp>
      <p:sp>
        <p:nvSpPr>
          <p:cNvPr id="6" name="Shape 4"/>
          <p:cNvSpPr/>
          <p:nvPr/>
        </p:nvSpPr>
        <p:spPr>
          <a:xfrm>
            <a:off x="548640" y="1508760"/>
            <a:ext cx="6400800" cy="4754880"/>
          </a:xfrm>
          <a:prstGeom prst="roundRect">
            <a:avLst>
              <a:gd name="adj" fmla="val 962"/>
            </a:avLst>
          </a:prstGeom>
          <a:solidFill>
            <a:srgbClr val="212121"/>
          </a:solidFill>
          <a:ln/>
        </p:spPr>
      </p:sp>
      <p:sp>
        <p:nvSpPr>
          <p:cNvPr id="7" name="Text 5"/>
          <p:cNvSpPr txBox="1"/>
          <p:nvPr/>
        </p:nvSpPr>
        <p:spPr>
          <a:xfrm>
            <a:off x="731520" y="1618488"/>
            <a:ext cx="6035040" cy="4535424"/>
          </a:xfrm>
          <a:prstGeom prst="rect">
            <a:avLst/>
          </a:prstGeom>
          <a:noFill/>
          <a:ln/>
        </p:spPr>
        <p:txBody>
          <a:bodyPr wrap="square" lIns="0" tIns="0" rIns="0" bIns="0" rtlCol="0" anchor="t"/>
          <a:lstStyle/>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 </a:t>
            </a:r>
            <a:r>
              <a:rPr lang="tr-TR" sz="1200" b="1" dirty="0">
                <a:solidFill>
                  <a:srgbClr val="FFFFFF"/>
                </a:solidFill>
                <a:latin typeface="Consolas" pitchFamily="34" charset="0"/>
                <a:ea typeface="Consolas" pitchFamily="34" charset="-122"/>
                <a:cs typeface="Consolas" pitchFamily="34" charset="-120"/>
              </a:rPr>
              <a:t>ls -l /dev/null /dev/tty /dev/zero</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crw-rw-rw- 1 root root 1, 3 Oct  9 23:24 /dev/null</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crw-rw-rw- 1 root root 5, 0 Oct  9 23:24 /dev/tty</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crw-rw-rw- 1 root root 1, 5 Oct  9 23:24 /dev/zero</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 </a:t>
            </a:r>
            <a:r>
              <a:rPr lang="tr-TR" sz="1200" b="1" dirty="0">
                <a:solidFill>
                  <a:srgbClr val="FFFFFF"/>
                </a:solidFill>
                <a:latin typeface="Consolas" pitchFamily="34" charset="0"/>
                <a:ea typeface="Consolas" pitchFamily="34" charset="-122"/>
                <a:cs typeface="Consolas" pitchFamily="34" charset="-120"/>
              </a:rPr>
              <a:t>head -n 3 /proc/meminfo</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MemTotal:        8222320 kB</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MemFree:         7069620 kB</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MemAvailable:    7539020 kB</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 </a:t>
            </a:r>
            <a:r>
              <a:rPr lang="tr-TR" sz="1200" b="1" dirty="0">
                <a:solidFill>
                  <a:srgbClr val="FFFFFF"/>
                </a:solidFill>
                <a:latin typeface="Consolas" pitchFamily="34" charset="0"/>
                <a:ea typeface="Consolas" pitchFamily="34" charset="-122"/>
                <a:cs typeface="Consolas" pitchFamily="34" charset="-120"/>
              </a:rPr>
              <a:t>echo $$</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18432</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 </a:t>
            </a:r>
            <a:r>
              <a:rPr lang="tr-TR" sz="1200" b="1" dirty="0">
                <a:solidFill>
                  <a:srgbClr val="FFFFFF"/>
                </a:solidFill>
                <a:latin typeface="Consolas" pitchFamily="34" charset="0"/>
                <a:ea typeface="Consolas" pitchFamily="34" charset="-122"/>
                <a:cs typeface="Consolas" pitchFamily="34" charset="-120"/>
              </a:rPr>
              <a:t>head -n 7 /proc/$$/status</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Name:   bash</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Umask:  0002</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State:  S (sleeping)</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Tgid:   18432</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Ngid:   0</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Pid:    18432</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PPid:   18377</a:t>
            </a:r>
            <a:endParaRPr lang="tr-TR" sz="1200" dirty="0"/>
          </a:p>
        </p:txBody>
      </p:sp>
      <p:sp>
        <p:nvSpPr>
          <p:cNvPr id="8" name="Shape 6"/>
          <p:cNvSpPr/>
          <p:nvPr/>
        </p:nvSpPr>
        <p:spPr>
          <a:xfrm>
            <a:off x="7178040" y="1508760"/>
            <a:ext cx="4480560" cy="2194560"/>
          </a:xfrm>
          <a:prstGeom prst="roundRect">
            <a:avLst>
              <a:gd name="adj" fmla="val 2500"/>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7406640" y="1691640"/>
            <a:ext cx="40233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/dev: aygıt dosyaları</a:t>
            </a:r>
            <a:endParaRPr lang="tr-TR" sz="1500" dirty="0"/>
          </a:p>
        </p:txBody>
      </p:sp>
      <p:sp>
        <p:nvSpPr>
          <p:cNvPr id="10" name="Text 8"/>
          <p:cNvSpPr txBox="1"/>
          <p:nvPr/>
        </p:nvSpPr>
        <p:spPr>
          <a:xfrm>
            <a:off x="7406640" y="2148840"/>
            <a:ext cx="4023360" cy="1417320"/>
          </a:xfrm>
          <a:prstGeom prst="rect">
            <a:avLst/>
          </a:prstGeom>
          <a:noFill/>
          <a:ln/>
        </p:spPr>
        <p:txBody>
          <a:bodyPr wrap="square" lIns="0" tIns="0" rIns="0" bIns="0" rtlCol="0" anchor="t"/>
          <a:lstStyle/>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c = karakter aygıtı; "1, 3" boyut değil, sürücü numaralarıdır.</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/dev/null kendisine yazılan her şeyi yutar (12. hafta).</a:t>
            </a:r>
            <a:endParaRPr lang="tr-TR" sz="1300" dirty="0"/>
          </a:p>
        </p:txBody>
      </p:sp>
      <p:sp>
        <p:nvSpPr>
          <p:cNvPr id="11" name="Shape 9"/>
          <p:cNvSpPr/>
          <p:nvPr/>
        </p:nvSpPr>
        <p:spPr>
          <a:xfrm>
            <a:off x="7178040" y="3886200"/>
            <a:ext cx="4480560" cy="2377440"/>
          </a:xfrm>
          <a:prstGeom prst="roundRect">
            <a:avLst>
              <a:gd name="adj" fmla="val 2308"/>
            </a:avLst>
          </a:prstGeom>
          <a:solidFill>
            <a:srgbClr val="F2F2F2"/>
          </a:solidFill>
          <a:ln/>
          <a:effectLst>
            <a:outerShdw sx="100000" sy="100000" kx="0" ky="0" algn="bl" rotWithShape="0" blurRad="101600" dist="25400" dir="5400000">
              <a:srgbClr val="000000">
                <a:alpha val="12000"/>
              </a:srgbClr>
            </a:outerShdw>
          </a:effectLst>
        </p:spPr>
      </p:sp>
      <p:sp>
        <p:nvSpPr>
          <p:cNvPr id="12" name="Text 10"/>
          <p:cNvSpPr txBox="1"/>
          <p:nvPr/>
        </p:nvSpPr>
        <p:spPr>
          <a:xfrm>
            <a:off x="7406640" y="4069080"/>
            <a:ext cx="40233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/proc: çekirdeğe açılan pencere</a:t>
            </a:r>
            <a:endParaRPr lang="tr-TR" sz="1500" dirty="0"/>
          </a:p>
        </p:txBody>
      </p:sp>
      <p:sp>
        <p:nvSpPr>
          <p:cNvPr id="13" name="Text 11"/>
          <p:cNvSpPr txBox="1"/>
          <p:nvPr/>
        </p:nvSpPr>
        <p:spPr>
          <a:xfrm>
            <a:off x="7406640" y="4526280"/>
            <a:ext cx="4023360" cy="1600200"/>
          </a:xfrm>
          <a:prstGeom prst="rect">
            <a:avLst/>
          </a:prstGeom>
          <a:noFill/>
          <a:ln/>
        </p:spPr>
        <p:txBody>
          <a:bodyPr wrap="square" lIns="0" tIns="0" rIns="0" bIns="0" rtlCol="0" anchor="t"/>
          <a:lstStyle/>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Diskte değildir: siz okurken metni çekirdek yazar.</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 = bu kabuğun PID'si. /proc/&lt;PID&gt;/status, PCB'sinin bir kısmını gösterir: ad, durum S (uyuyor), PID, ebeveyn PID (3. hafta).</a:t>
            </a:r>
            <a:endParaRPr lang="tr-TR"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YOLLAR</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~/lab İçinde Mutlak ve Göreli Yollar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9  ·  26</a:t>
            </a:r>
            <a:endParaRPr lang="tr-TR" sz="900" dirty="0"/>
          </a:p>
        </p:txBody>
      </p:sp>
      <p:sp>
        <p:nvSpPr>
          <p:cNvPr id="6" name="Shape 4"/>
          <p:cNvSpPr/>
          <p:nvPr/>
        </p:nvSpPr>
        <p:spPr>
          <a:xfrm>
            <a:off x="2926080" y="1600200"/>
            <a:ext cx="1828800" cy="420624"/>
          </a:xfrm>
          <a:prstGeom prst="roundRect">
            <a:avLst>
              <a:gd name="adj" fmla="val 10870"/>
            </a:avLst>
          </a:prstGeom>
          <a:solidFill>
            <a:srgbClr val="36454F"/>
          </a:solidFill>
          <a:ln/>
        </p:spPr>
      </p:sp>
      <p:sp>
        <p:nvSpPr>
          <p:cNvPr id="7" name="Text 5"/>
          <p:cNvSpPr txBox="1"/>
          <p:nvPr/>
        </p:nvSpPr>
        <p:spPr>
          <a:xfrm>
            <a:off x="2926080" y="1600200"/>
            <a:ext cx="1828800" cy="420624"/>
          </a:xfrm>
          <a:prstGeom prst="rect">
            <a:avLst/>
          </a:prstGeom>
          <a:noFill/>
          <a:ln/>
        </p:spPr>
        <p:txBody>
          <a:bodyPr wrap="square" lIns="38100" tIns="38100" rIns="38100" bIns="38100" rtlCol="0" anchor="ctr"/>
          <a:lstStyle/>
          <a:p>
            <a:pPr algn="ctr" indent="0" marL="0">
              <a:buNone/>
            </a:pPr>
            <a:r>
              <a:rPr lang="tr-TR" sz="1250" b="1" dirty="0">
                <a:solidFill>
                  <a:srgbClr val="FFFFFF"/>
                </a:solidFill>
                <a:latin typeface="Consolas" pitchFamily="34" charset="0"/>
                <a:ea typeface="Consolas" pitchFamily="34" charset="-122"/>
                <a:cs typeface="Consolas" pitchFamily="34" charset="-120"/>
              </a:rPr>
              <a:t>/home/student</a:t>
            </a:r>
            <a:endParaRPr lang="tr-TR" sz="1250" dirty="0"/>
          </a:p>
        </p:txBody>
      </p:sp>
      <p:sp>
        <p:nvSpPr>
          <p:cNvPr id="8" name="Shape 6"/>
          <p:cNvSpPr/>
          <p:nvPr/>
        </p:nvSpPr>
        <p:spPr>
          <a:xfrm>
            <a:off x="3246120" y="2331720"/>
            <a:ext cx="1188720" cy="420624"/>
          </a:xfrm>
          <a:prstGeom prst="roundRect">
            <a:avLst>
              <a:gd name="adj" fmla="val 10870"/>
            </a:avLst>
          </a:prstGeom>
          <a:solidFill>
            <a:srgbClr val="D7E9E6"/>
          </a:solidFill>
          <a:ln/>
        </p:spPr>
      </p:sp>
      <p:sp>
        <p:nvSpPr>
          <p:cNvPr id="9" name="Text 7"/>
          <p:cNvSpPr txBox="1"/>
          <p:nvPr/>
        </p:nvSpPr>
        <p:spPr>
          <a:xfrm>
            <a:off x="3246120" y="2331720"/>
            <a:ext cx="1188720" cy="420624"/>
          </a:xfrm>
          <a:prstGeom prst="rect">
            <a:avLst/>
          </a:prstGeom>
          <a:noFill/>
          <a:ln/>
        </p:spPr>
        <p:txBody>
          <a:bodyPr wrap="square" lIns="38100" tIns="38100" rIns="38100" bIns="38100" rtlCol="0" anchor="ctr"/>
          <a:lstStyle/>
          <a:p>
            <a:pPr algn="ctr" indent="0" marL="0">
              <a:buNone/>
            </a:pPr>
            <a:r>
              <a:rPr lang="tr-TR" sz="1250" b="1" dirty="0">
                <a:solidFill>
                  <a:srgbClr val="212121"/>
                </a:solidFill>
                <a:latin typeface="Consolas" pitchFamily="34" charset="0"/>
                <a:ea typeface="Consolas" pitchFamily="34" charset="-122"/>
                <a:cs typeface="Consolas" pitchFamily="34" charset="-120"/>
              </a:rPr>
              <a:t>lab</a:t>
            </a:r>
            <a:endParaRPr lang="tr-TR" sz="1250" dirty="0"/>
          </a:p>
        </p:txBody>
      </p:sp>
      <p:sp>
        <p:nvSpPr>
          <p:cNvPr id="10" name="Shape 8"/>
          <p:cNvSpPr/>
          <p:nvPr/>
        </p:nvSpPr>
        <p:spPr>
          <a:xfrm>
            <a:off x="3840480" y="2020824"/>
            <a:ext cx="91" cy="310896"/>
          </a:xfrm>
          <a:prstGeom prst="line">
            <a:avLst/>
          </a:prstGeom>
          <a:noFill/>
          <a:ln w="15875">
            <a:solidFill>
              <a:srgbClr val="50808E"/>
            </a:solidFill>
            <a:prstDash val="solid"/>
          </a:ln>
        </p:spPr>
      </p:sp>
      <p:sp>
        <p:nvSpPr>
          <p:cNvPr id="11" name="Shape 9"/>
          <p:cNvSpPr/>
          <p:nvPr/>
        </p:nvSpPr>
        <p:spPr>
          <a:xfrm>
            <a:off x="1280160" y="3063240"/>
            <a:ext cx="1188720" cy="420624"/>
          </a:xfrm>
          <a:prstGeom prst="roundRect">
            <a:avLst>
              <a:gd name="adj" fmla="val 10870"/>
            </a:avLst>
          </a:prstGeom>
          <a:solidFill>
            <a:srgbClr val="D7E9E6"/>
          </a:solidFill>
          <a:ln/>
        </p:spPr>
      </p:sp>
      <p:sp>
        <p:nvSpPr>
          <p:cNvPr id="12" name="Text 10"/>
          <p:cNvSpPr txBox="1"/>
          <p:nvPr/>
        </p:nvSpPr>
        <p:spPr>
          <a:xfrm>
            <a:off x="1280160" y="3063240"/>
            <a:ext cx="1188720" cy="420624"/>
          </a:xfrm>
          <a:prstGeom prst="rect">
            <a:avLst/>
          </a:prstGeom>
          <a:noFill/>
          <a:ln/>
        </p:spPr>
        <p:txBody>
          <a:bodyPr wrap="square" lIns="38100" tIns="38100" rIns="38100" bIns="38100" rtlCol="0" anchor="ctr"/>
          <a:lstStyle/>
          <a:p>
            <a:pPr algn="ctr" indent="0" marL="0">
              <a:buNone/>
            </a:pPr>
            <a:r>
              <a:rPr lang="tr-TR" sz="1250" b="1" dirty="0">
                <a:solidFill>
                  <a:srgbClr val="212121"/>
                </a:solidFill>
                <a:latin typeface="Consolas" pitchFamily="34" charset="0"/>
                <a:ea typeface="Consolas" pitchFamily="34" charset="-122"/>
                <a:cs typeface="Consolas" pitchFamily="34" charset="-120"/>
              </a:rPr>
              <a:t>docs</a:t>
            </a:r>
            <a:endParaRPr lang="tr-TR" sz="1250" dirty="0"/>
          </a:p>
        </p:txBody>
      </p:sp>
      <p:sp>
        <p:nvSpPr>
          <p:cNvPr id="13" name="Shape 11"/>
          <p:cNvSpPr/>
          <p:nvPr/>
        </p:nvSpPr>
        <p:spPr>
          <a:xfrm>
            <a:off x="5120640" y="3063240"/>
            <a:ext cx="1188720" cy="420624"/>
          </a:xfrm>
          <a:prstGeom prst="roundRect">
            <a:avLst>
              <a:gd name="adj" fmla="val 10870"/>
            </a:avLst>
          </a:prstGeom>
          <a:solidFill>
            <a:srgbClr val="D7E9E6"/>
          </a:solidFill>
          <a:ln/>
        </p:spPr>
      </p:sp>
      <p:sp>
        <p:nvSpPr>
          <p:cNvPr id="14" name="Text 12"/>
          <p:cNvSpPr txBox="1"/>
          <p:nvPr/>
        </p:nvSpPr>
        <p:spPr>
          <a:xfrm>
            <a:off x="5120640" y="3063240"/>
            <a:ext cx="1188720" cy="420624"/>
          </a:xfrm>
          <a:prstGeom prst="rect">
            <a:avLst/>
          </a:prstGeom>
          <a:noFill/>
          <a:ln/>
        </p:spPr>
        <p:txBody>
          <a:bodyPr wrap="square" lIns="38100" tIns="38100" rIns="38100" bIns="38100" rtlCol="0" anchor="ctr"/>
          <a:lstStyle/>
          <a:p>
            <a:pPr algn="ctr" indent="0" marL="0">
              <a:buNone/>
            </a:pPr>
            <a:r>
              <a:rPr lang="tr-TR" sz="1250" b="1" dirty="0">
                <a:solidFill>
                  <a:srgbClr val="212121"/>
                </a:solidFill>
                <a:latin typeface="Consolas" pitchFamily="34" charset="0"/>
                <a:ea typeface="Consolas" pitchFamily="34" charset="-122"/>
                <a:cs typeface="Consolas" pitchFamily="34" charset="-120"/>
              </a:rPr>
              <a:t>projects</a:t>
            </a:r>
            <a:endParaRPr lang="tr-TR" sz="1250" dirty="0"/>
          </a:p>
        </p:txBody>
      </p:sp>
      <p:sp>
        <p:nvSpPr>
          <p:cNvPr id="15" name="Shape 13"/>
          <p:cNvSpPr/>
          <p:nvPr/>
        </p:nvSpPr>
        <p:spPr>
          <a:xfrm flipH="1">
            <a:off x="1874520" y="2752344"/>
            <a:ext cx="1965960" cy="310896"/>
          </a:xfrm>
          <a:prstGeom prst="line">
            <a:avLst/>
          </a:prstGeom>
          <a:noFill/>
          <a:ln w="15875">
            <a:solidFill>
              <a:srgbClr val="50808E"/>
            </a:solidFill>
            <a:prstDash val="solid"/>
          </a:ln>
        </p:spPr>
      </p:sp>
      <p:sp>
        <p:nvSpPr>
          <p:cNvPr id="16" name="Shape 14"/>
          <p:cNvSpPr/>
          <p:nvPr/>
        </p:nvSpPr>
        <p:spPr>
          <a:xfrm>
            <a:off x="3840480" y="2752344"/>
            <a:ext cx="1874520" cy="310896"/>
          </a:xfrm>
          <a:prstGeom prst="line">
            <a:avLst/>
          </a:prstGeom>
          <a:noFill/>
          <a:ln w="15875">
            <a:solidFill>
              <a:srgbClr val="50808E"/>
            </a:solidFill>
            <a:prstDash val="solid"/>
          </a:ln>
        </p:spPr>
      </p:sp>
      <p:sp>
        <p:nvSpPr>
          <p:cNvPr id="17" name="Shape 15"/>
          <p:cNvSpPr/>
          <p:nvPr/>
        </p:nvSpPr>
        <p:spPr>
          <a:xfrm>
            <a:off x="3840480" y="3794760"/>
            <a:ext cx="1188720" cy="420624"/>
          </a:xfrm>
          <a:prstGeom prst="roundRect">
            <a:avLst>
              <a:gd name="adj" fmla="val 10870"/>
            </a:avLst>
          </a:prstGeom>
          <a:solidFill>
            <a:srgbClr val="D7E9E6"/>
          </a:solidFill>
          <a:ln/>
        </p:spPr>
      </p:sp>
      <p:sp>
        <p:nvSpPr>
          <p:cNvPr id="18" name="Text 16"/>
          <p:cNvSpPr txBox="1"/>
          <p:nvPr/>
        </p:nvSpPr>
        <p:spPr>
          <a:xfrm>
            <a:off x="3840480" y="3794760"/>
            <a:ext cx="1188720" cy="420624"/>
          </a:xfrm>
          <a:prstGeom prst="rect">
            <a:avLst/>
          </a:prstGeom>
          <a:noFill/>
          <a:ln/>
        </p:spPr>
        <p:txBody>
          <a:bodyPr wrap="square" lIns="38100" tIns="38100" rIns="38100" bIns="38100" rtlCol="0" anchor="ctr"/>
          <a:lstStyle/>
          <a:p>
            <a:pPr algn="ctr" indent="0" marL="0">
              <a:buNone/>
            </a:pPr>
            <a:r>
              <a:rPr lang="tr-TR" sz="1250" b="1" dirty="0">
                <a:solidFill>
                  <a:srgbClr val="212121"/>
                </a:solidFill>
                <a:latin typeface="Consolas" pitchFamily="34" charset="0"/>
                <a:ea typeface="Consolas" pitchFamily="34" charset="-122"/>
                <a:cs typeface="Consolas" pitchFamily="34" charset="-120"/>
              </a:rPr>
              <a:t>alpha</a:t>
            </a:r>
            <a:endParaRPr lang="tr-TR" sz="1250" dirty="0"/>
          </a:p>
        </p:txBody>
      </p:sp>
      <p:sp>
        <p:nvSpPr>
          <p:cNvPr id="19" name="Shape 17"/>
          <p:cNvSpPr/>
          <p:nvPr/>
        </p:nvSpPr>
        <p:spPr>
          <a:xfrm>
            <a:off x="6309360" y="3794760"/>
            <a:ext cx="1188720" cy="420624"/>
          </a:xfrm>
          <a:prstGeom prst="roundRect">
            <a:avLst>
              <a:gd name="adj" fmla="val 10870"/>
            </a:avLst>
          </a:prstGeom>
          <a:solidFill>
            <a:srgbClr val="D7E9E6"/>
          </a:solidFill>
          <a:ln/>
        </p:spPr>
      </p:sp>
      <p:sp>
        <p:nvSpPr>
          <p:cNvPr id="20" name="Text 18"/>
          <p:cNvSpPr txBox="1"/>
          <p:nvPr/>
        </p:nvSpPr>
        <p:spPr>
          <a:xfrm>
            <a:off x="6309360" y="3794760"/>
            <a:ext cx="1188720" cy="420624"/>
          </a:xfrm>
          <a:prstGeom prst="rect">
            <a:avLst/>
          </a:prstGeom>
          <a:noFill/>
          <a:ln/>
        </p:spPr>
        <p:txBody>
          <a:bodyPr wrap="square" lIns="38100" tIns="38100" rIns="38100" bIns="38100" rtlCol="0" anchor="ctr"/>
          <a:lstStyle/>
          <a:p>
            <a:pPr algn="ctr" indent="0" marL="0">
              <a:buNone/>
            </a:pPr>
            <a:r>
              <a:rPr lang="tr-TR" sz="1250" b="1" dirty="0">
                <a:solidFill>
                  <a:srgbClr val="212121"/>
                </a:solidFill>
                <a:latin typeface="Consolas" pitchFamily="34" charset="0"/>
                <a:ea typeface="Consolas" pitchFamily="34" charset="-122"/>
                <a:cs typeface="Consolas" pitchFamily="34" charset="-120"/>
              </a:rPr>
              <a:t>beta</a:t>
            </a:r>
            <a:endParaRPr lang="tr-TR" sz="1250" dirty="0"/>
          </a:p>
        </p:txBody>
      </p:sp>
      <p:sp>
        <p:nvSpPr>
          <p:cNvPr id="21" name="Shape 19"/>
          <p:cNvSpPr/>
          <p:nvPr/>
        </p:nvSpPr>
        <p:spPr>
          <a:xfrm flipH="1">
            <a:off x="4434840" y="3483864"/>
            <a:ext cx="1280160" cy="310896"/>
          </a:xfrm>
          <a:prstGeom prst="line">
            <a:avLst/>
          </a:prstGeom>
          <a:noFill/>
          <a:ln w="15875">
            <a:solidFill>
              <a:srgbClr val="50808E"/>
            </a:solidFill>
            <a:prstDash val="solid"/>
          </a:ln>
        </p:spPr>
      </p:sp>
      <p:sp>
        <p:nvSpPr>
          <p:cNvPr id="22" name="Shape 20"/>
          <p:cNvSpPr/>
          <p:nvPr/>
        </p:nvSpPr>
        <p:spPr>
          <a:xfrm>
            <a:off x="5715000" y="3483864"/>
            <a:ext cx="1188720" cy="310896"/>
          </a:xfrm>
          <a:prstGeom prst="line">
            <a:avLst/>
          </a:prstGeom>
          <a:noFill/>
          <a:ln w="15875">
            <a:solidFill>
              <a:srgbClr val="50808E"/>
            </a:solidFill>
            <a:prstDash val="solid"/>
          </a:ln>
        </p:spPr>
      </p:sp>
      <p:sp>
        <p:nvSpPr>
          <p:cNvPr id="23" name="Shape 21"/>
          <p:cNvSpPr/>
          <p:nvPr/>
        </p:nvSpPr>
        <p:spPr>
          <a:xfrm>
            <a:off x="3154680" y="4526280"/>
            <a:ext cx="1188720" cy="420624"/>
          </a:xfrm>
          <a:prstGeom prst="roundRect">
            <a:avLst>
              <a:gd name="adj" fmla="val 10870"/>
            </a:avLst>
          </a:prstGeom>
          <a:solidFill>
            <a:srgbClr val="02C39A"/>
          </a:solidFill>
          <a:ln/>
        </p:spPr>
      </p:sp>
      <p:sp>
        <p:nvSpPr>
          <p:cNvPr id="24" name="Text 22"/>
          <p:cNvSpPr txBox="1"/>
          <p:nvPr/>
        </p:nvSpPr>
        <p:spPr>
          <a:xfrm>
            <a:off x="3154680" y="4526280"/>
            <a:ext cx="1188720" cy="420624"/>
          </a:xfrm>
          <a:prstGeom prst="rect">
            <a:avLst/>
          </a:prstGeom>
          <a:noFill/>
          <a:ln/>
        </p:spPr>
        <p:txBody>
          <a:bodyPr wrap="square" lIns="38100" tIns="38100" rIns="38100" bIns="38100" rtlCol="0" anchor="ctr"/>
          <a:lstStyle/>
          <a:p>
            <a:pPr algn="ctr" indent="0" marL="0">
              <a:buNone/>
            </a:pPr>
            <a:r>
              <a:rPr lang="tr-TR" sz="1250" b="1" dirty="0">
                <a:solidFill>
                  <a:srgbClr val="212121"/>
                </a:solidFill>
                <a:latin typeface="Consolas" pitchFamily="34" charset="0"/>
                <a:ea typeface="Consolas" pitchFamily="34" charset="-122"/>
                <a:cs typeface="Consolas" pitchFamily="34" charset="-120"/>
              </a:rPr>
              <a:t>src</a:t>
            </a:r>
            <a:endParaRPr lang="tr-TR" sz="1250" dirty="0"/>
          </a:p>
        </p:txBody>
      </p:sp>
      <p:sp>
        <p:nvSpPr>
          <p:cNvPr id="25" name="Shape 23"/>
          <p:cNvSpPr/>
          <p:nvPr/>
        </p:nvSpPr>
        <p:spPr>
          <a:xfrm>
            <a:off x="4526280" y="4526280"/>
            <a:ext cx="1188720" cy="420624"/>
          </a:xfrm>
          <a:prstGeom prst="roundRect">
            <a:avLst>
              <a:gd name="adj" fmla="val 10870"/>
            </a:avLst>
          </a:prstGeom>
          <a:solidFill>
            <a:srgbClr val="D7E9E6"/>
          </a:solidFill>
          <a:ln/>
        </p:spPr>
      </p:sp>
      <p:sp>
        <p:nvSpPr>
          <p:cNvPr id="26" name="Text 24"/>
          <p:cNvSpPr txBox="1"/>
          <p:nvPr/>
        </p:nvSpPr>
        <p:spPr>
          <a:xfrm>
            <a:off x="4526280" y="4526280"/>
            <a:ext cx="1188720" cy="420624"/>
          </a:xfrm>
          <a:prstGeom prst="rect">
            <a:avLst/>
          </a:prstGeom>
          <a:noFill/>
          <a:ln/>
        </p:spPr>
        <p:txBody>
          <a:bodyPr wrap="square" lIns="38100" tIns="38100" rIns="38100" bIns="38100" rtlCol="0" anchor="ctr"/>
          <a:lstStyle/>
          <a:p>
            <a:pPr algn="ctr" indent="0" marL="0">
              <a:buNone/>
            </a:pPr>
            <a:r>
              <a:rPr lang="tr-TR" sz="1250" b="1" dirty="0">
                <a:solidFill>
                  <a:srgbClr val="212121"/>
                </a:solidFill>
                <a:latin typeface="Consolas" pitchFamily="34" charset="0"/>
                <a:ea typeface="Consolas" pitchFamily="34" charset="-122"/>
                <a:cs typeface="Consolas" pitchFamily="34" charset="-120"/>
              </a:rPr>
              <a:t>docs</a:t>
            </a:r>
            <a:endParaRPr lang="tr-TR" sz="1250" dirty="0"/>
          </a:p>
        </p:txBody>
      </p:sp>
      <p:sp>
        <p:nvSpPr>
          <p:cNvPr id="27" name="Shape 25"/>
          <p:cNvSpPr/>
          <p:nvPr/>
        </p:nvSpPr>
        <p:spPr>
          <a:xfrm>
            <a:off x="5623560" y="4526280"/>
            <a:ext cx="1188720" cy="420624"/>
          </a:xfrm>
          <a:prstGeom prst="roundRect">
            <a:avLst>
              <a:gd name="adj" fmla="val 10870"/>
            </a:avLst>
          </a:prstGeom>
          <a:solidFill>
            <a:srgbClr val="D7E9E6"/>
          </a:solidFill>
          <a:ln/>
        </p:spPr>
      </p:sp>
      <p:sp>
        <p:nvSpPr>
          <p:cNvPr id="28" name="Text 26"/>
          <p:cNvSpPr txBox="1"/>
          <p:nvPr/>
        </p:nvSpPr>
        <p:spPr>
          <a:xfrm>
            <a:off x="5623560" y="4526280"/>
            <a:ext cx="1188720" cy="420624"/>
          </a:xfrm>
          <a:prstGeom prst="rect">
            <a:avLst/>
          </a:prstGeom>
          <a:noFill/>
          <a:ln/>
        </p:spPr>
        <p:txBody>
          <a:bodyPr wrap="square" lIns="38100" tIns="38100" rIns="38100" bIns="38100" rtlCol="0" anchor="ctr"/>
          <a:lstStyle/>
          <a:p>
            <a:pPr algn="ctr" indent="0" marL="0">
              <a:buNone/>
            </a:pPr>
            <a:r>
              <a:rPr lang="tr-TR" sz="1250" b="1" dirty="0">
                <a:solidFill>
                  <a:srgbClr val="212121"/>
                </a:solidFill>
                <a:latin typeface="Consolas" pitchFamily="34" charset="0"/>
                <a:ea typeface="Consolas" pitchFamily="34" charset="-122"/>
                <a:cs typeface="Consolas" pitchFamily="34" charset="-120"/>
              </a:rPr>
              <a:t>src</a:t>
            </a:r>
            <a:endParaRPr lang="tr-TR" sz="1250" dirty="0"/>
          </a:p>
        </p:txBody>
      </p:sp>
      <p:sp>
        <p:nvSpPr>
          <p:cNvPr id="29" name="Shape 27"/>
          <p:cNvSpPr/>
          <p:nvPr/>
        </p:nvSpPr>
        <p:spPr>
          <a:xfrm>
            <a:off x="6995160" y="4526280"/>
            <a:ext cx="1188720" cy="420624"/>
          </a:xfrm>
          <a:prstGeom prst="roundRect">
            <a:avLst>
              <a:gd name="adj" fmla="val 10870"/>
            </a:avLst>
          </a:prstGeom>
          <a:solidFill>
            <a:srgbClr val="02C39A"/>
          </a:solidFill>
          <a:ln/>
        </p:spPr>
      </p:sp>
      <p:sp>
        <p:nvSpPr>
          <p:cNvPr id="30" name="Text 28"/>
          <p:cNvSpPr txBox="1"/>
          <p:nvPr/>
        </p:nvSpPr>
        <p:spPr>
          <a:xfrm>
            <a:off x="6995160" y="4526280"/>
            <a:ext cx="1188720" cy="420624"/>
          </a:xfrm>
          <a:prstGeom prst="rect">
            <a:avLst/>
          </a:prstGeom>
          <a:noFill/>
          <a:ln/>
        </p:spPr>
        <p:txBody>
          <a:bodyPr wrap="square" lIns="38100" tIns="38100" rIns="38100" bIns="38100" rtlCol="0" anchor="ctr"/>
          <a:lstStyle/>
          <a:p>
            <a:pPr algn="ctr" indent="0" marL="0">
              <a:buNone/>
            </a:pPr>
            <a:r>
              <a:rPr lang="tr-TR" sz="1250" b="1" dirty="0">
                <a:solidFill>
                  <a:srgbClr val="212121"/>
                </a:solidFill>
                <a:latin typeface="Consolas" pitchFamily="34" charset="0"/>
                <a:ea typeface="Consolas" pitchFamily="34" charset="-122"/>
                <a:cs typeface="Consolas" pitchFamily="34" charset="-120"/>
              </a:rPr>
              <a:t>docs</a:t>
            </a:r>
            <a:endParaRPr lang="tr-TR" sz="1250" dirty="0"/>
          </a:p>
        </p:txBody>
      </p:sp>
      <p:sp>
        <p:nvSpPr>
          <p:cNvPr id="31" name="Shape 29"/>
          <p:cNvSpPr/>
          <p:nvPr/>
        </p:nvSpPr>
        <p:spPr>
          <a:xfrm flipH="1">
            <a:off x="3749040" y="4215384"/>
            <a:ext cx="685800" cy="310896"/>
          </a:xfrm>
          <a:prstGeom prst="line">
            <a:avLst/>
          </a:prstGeom>
          <a:noFill/>
          <a:ln w="15875">
            <a:solidFill>
              <a:srgbClr val="50808E"/>
            </a:solidFill>
            <a:prstDash val="solid"/>
          </a:ln>
        </p:spPr>
      </p:sp>
      <p:sp>
        <p:nvSpPr>
          <p:cNvPr id="32" name="Shape 30"/>
          <p:cNvSpPr/>
          <p:nvPr/>
        </p:nvSpPr>
        <p:spPr>
          <a:xfrm>
            <a:off x="4434840" y="4215384"/>
            <a:ext cx="685800" cy="310896"/>
          </a:xfrm>
          <a:prstGeom prst="line">
            <a:avLst/>
          </a:prstGeom>
          <a:noFill/>
          <a:ln w="15875">
            <a:solidFill>
              <a:srgbClr val="50808E"/>
            </a:solidFill>
            <a:prstDash val="solid"/>
          </a:ln>
        </p:spPr>
      </p:sp>
      <p:sp>
        <p:nvSpPr>
          <p:cNvPr id="33" name="Shape 31"/>
          <p:cNvSpPr/>
          <p:nvPr/>
        </p:nvSpPr>
        <p:spPr>
          <a:xfrm flipH="1">
            <a:off x="6217920" y="4215384"/>
            <a:ext cx="685800" cy="310896"/>
          </a:xfrm>
          <a:prstGeom prst="line">
            <a:avLst/>
          </a:prstGeom>
          <a:noFill/>
          <a:ln w="15875">
            <a:solidFill>
              <a:srgbClr val="50808E"/>
            </a:solidFill>
            <a:prstDash val="solid"/>
          </a:ln>
        </p:spPr>
      </p:sp>
      <p:sp>
        <p:nvSpPr>
          <p:cNvPr id="34" name="Shape 32"/>
          <p:cNvSpPr/>
          <p:nvPr/>
        </p:nvSpPr>
        <p:spPr>
          <a:xfrm>
            <a:off x="6903720" y="4215384"/>
            <a:ext cx="685800" cy="310896"/>
          </a:xfrm>
          <a:prstGeom prst="line">
            <a:avLst/>
          </a:prstGeom>
          <a:noFill/>
          <a:ln w="15875">
            <a:solidFill>
              <a:srgbClr val="50808E"/>
            </a:solidFill>
            <a:prstDash val="solid"/>
          </a:ln>
        </p:spPr>
      </p:sp>
      <p:sp>
        <p:nvSpPr>
          <p:cNvPr id="35" name="Shape 33"/>
          <p:cNvSpPr/>
          <p:nvPr/>
        </p:nvSpPr>
        <p:spPr>
          <a:xfrm flipV="1">
            <a:off x="3474720" y="4251960"/>
            <a:ext cx="548640" cy="256032"/>
          </a:xfrm>
          <a:prstGeom prst="line">
            <a:avLst/>
          </a:prstGeom>
          <a:noFill/>
          <a:ln w="28575">
            <a:solidFill>
              <a:srgbClr val="B5453A"/>
            </a:solidFill>
            <a:prstDash val="solid"/>
            <a:tailEnd type="triangle"/>
          </a:ln>
        </p:spPr>
      </p:sp>
      <p:sp>
        <p:nvSpPr>
          <p:cNvPr id="36" name="Shape 34"/>
          <p:cNvSpPr/>
          <p:nvPr/>
        </p:nvSpPr>
        <p:spPr>
          <a:xfrm flipV="1">
            <a:off x="4663440" y="3520440"/>
            <a:ext cx="640080" cy="256032"/>
          </a:xfrm>
          <a:prstGeom prst="line">
            <a:avLst/>
          </a:prstGeom>
          <a:noFill/>
          <a:ln w="28575">
            <a:solidFill>
              <a:srgbClr val="B5453A"/>
            </a:solidFill>
            <a:prstDash val="solid"/>
            <a:tailEnd type="triangle"/>
          </a:ln>
        </p:spPr>
      </p:sp>
      <p:sp>
        <p:nvSpPr>
          <p:cNvPr id="37" name="Shape 35"/>
          <p:cNvSpPr/>
          <p:nvPr/>
        </p:nvSpPr>
        <p:spPr>
          <a:xfrm>
            <a:off x="6172200" y="3520440"/>
            <a:ext cx="548640" cy="256032"/>
          </a:xfrm>
          <a:prstGeom prst="line">
            <a:avLst/>
          </a:prstGeom>
          <a:noFill/>
          <a:ln w="28575">
            <a:solidFill>
              <a:srgbClr val="B5453A"/>
            </a:solidFill>
            <a:prstDash val="solid"/>
            <a:tailEnd type="triangle"/>
          </a:ln>
        </p:spPr>
      </p:sp>
      <p:sp>
        <p:nvSpPr>
          <p:cNvPr id="38" name="Shape 36"/>
          <p:cNvSpPr/>
          <p:nvPr/>
        </p:nvSpPr>
        <p:spPr>
          <a:xfrm>
            <a:off x="7178040" y="4251960"/>
            <a:ext cx="274320" cy="256032"/>
          </a:xfrm>
          <a:prstGeom prst="line">
            <a:avLst/>
          </a:prstGeom>
          <a:noFill/>
          <a:ln w="28575">
            <a:solidFill>
              <a:srgbClr val="B5453A"/>
            </a:solidFill>
            <a:prstDash val="solid"/>
            <a:tailEnd type="triangle"/>
          </a:ln>
        </p:spPr>
      </p:sp>
      <p:sp>
        <p:nvSpPr>
          <p:cNvPr id="39" name="Text 37"/>
          <p:cNvSpPr txBox="1"/>
          <p:nvPr/>
        </p:nvSpPr>
        <p:spPr>
          <a:xfrm>
            <a:off x="3246120" y="4069080"/>
            <a:ext cx="457200" cy="274320"/>
          </a:xfrm>
          <a:prstGeom prst="rect">
            <a:avLst/>
          </a:prstGeom>
          <a:noFill/>
          <a:ln/>
        </p:spPr>
        <p:txBody>
          <a:bodyPr wrap="square" lIns="0" tIns="0" rIns="0" bIns="0" rtlCol="0" anchor="t"/>
          <a:lstStyle/>
          <a:p>
            <a:pPr indent="0" marL="0">
              <a:buNone/>
            </a:pPr>
            <a:r>
              <a:rPr lang="tr-TR" sz="1400" b="1" dirty="0">
                <a:solidFill>
                  <a:srgbClr val="B5453A"/>
                </a:solidFill>
                <a:latin typeface="Calibri" pitchFamily="34" charset="0"/>
                <a:ea typeface="Calibri" pitchFamily="34" charset="-122"/>
                <a:cs typeface="Calibri" pitchFamily="34" charset="-120"/>
              </a:rPr>
              <a:t>..</a:t>
            </a:r>
            <a:endParaRPr lang="tr-TR" sz="1400" dirty="0"/>
          </a:p>
        </p:txBody>
      </p:sp>
      <p:sp>
        <p:nvSpPr>
          <p:cNvPr id="40" name="Text 38"/>
          <p:cNvSpPr txBox="1"/>
          <p:nvPr/>
        </p:nvSpPr>
        <p:spPr>
          <a:xfrm>
            <a:off x="4434840" y="3337560"/>
            <a:ext cx="457200" cy="274320"/>
          </a:xfrm>
          <a:prstGeom prst="rect">
            <a:avLst/>
          </a:prstGeom>
          <a:noFill/>
          <a:ln/>
        </p:spPr>
        <p:txBody>
          <a:bodyPr wrap="square" lIns="0" tIns="0" rIns="0" bIns="0" rtlCol="0" anchor="t"/>
          <a:lstStyle/>
          <a:p>
            <a:pPr indent="0" marL="0">
              <a:buNone/>
            </a:pPr>
            <a:r>
              <a:rPr lang="tr-TR" sz="1400" b="1" dirty="0">
                <a:solidFill>
                  <a:srgbClr val="B5453A"/>
                </a:solidFill>
                <a:latin typeface="Calibri" pitchFamily="34" charset="0"/>
                <a:ea typeface="Calibri" pitchFamily="34" charset="-122"/>
                <a:cs typeface="Calibri" pitchFamily="34" charset="-120"/>
              </a:rPr>
              <a:t>..</a:t>
            </a:r>
            <a:endParaRPr lang="tr-TR" sz="1400" dirty="0"/>
          </a:p>
        </p:txBody>
      </p:sp>
      <p:sp>
        <p:nvSpPr>
          <p:cNvPr id="41" name="Text 39"/>
          <p:cNvSpPr txBox="1"/>
          <p:nvPr/>
        </p:nvSpPr>
        <p:spPr>
          <a:xfrm>
            <a:off x="6583680" y="3474720"/>
            <a:ext cx="640080" cy="274320"/>
          </a:xfrm>
          <a:prstGeom prst="rect">
            <a:avLst/>
          </a:prstGeom>
          <a:noFill/>
          <a:ln/>
        </p:spPr>
        <p:txBody>
          <a:bodyPr wrap="square" lIns="0" tIns="0" rIns="0" bIns="0" rtlCol="0" anchor="t"/>
          <a:lstStyle/>
          <a:p>
            <a:pPr indent="0" marL="0">
              <a:buNone/>
            </a:pPr>
            <a:r>
              <a:rPr lang="tr-TR" sz="1200" b="1" dirty="0">
                <a:solidFill>
                  <a:srgbClr val="B5453A"/>
                </a:solidFill>
                <a:latin typeface="Calibri" pitchFamily="34" charset="0"/>
                <a:ea typeface="Calibri" pitchFamily="34" charset="-122"/>
                <a:cs typeface="Calibri" pitchFamily="34" charset="-120"/>
              </a:rPr>
              <a:t>beta</a:t>
            </a:r>
            <a:endParaRPr lang="tr-TR" sz="1200" dirty="0"/>
          </a:p>
        </p:txBody>
      </p:sp>
      <p:sp>
        <p:nvSpPr>
          <p:cNvPr id="42" name="Text 40"/>
          <p:cNvSpPr txBox="1"/>
          <p:nvPr/>
        </p:nvSpPr>
        <p:spPr>
          <a:xfrm>
            <a:off x="7498080" y="4297680"/>
            <a:ext cx="640080" cy="274320"/>
          </a:xfrm>
          <a:prstGeom prst="rect">
            <a:avLst/>
          </a:prstGeom>
          <a:noFill/>
          <a:ln/>
        </p:spPr>
        <p:txBody>
          <a:bodyPr wrap="square" lIns="0" tIns="0" rIns="0" bIns="0" rtlCol="0" anchor="t"/>
          <a:lstStyle/>
          <a:p>
            <a:pPr indent="0" marL="0">
              <a:buNone/>
            </a:pPr>
            <a:r>
              <a:rPr lang="tr-TR" sz="1200" b="1" dirty="0">
                <a:solidFill>
                  <a:srgbClr val="B5453A"/>
                </a:solidFill>
                <a:latin typeface="Calibri" pitchFamily="34" charset="0"/>
                <a:ea typeface="Calibri" pitchFamily="34" charset="-122"/>
                <a:cs typeface="Calibri" pitchFamily="34" charset="-120"/>
              </a:rPr>
              <a:t>docs</a:t>
            </a:r>
            <a:endParaRPr lang="tr-TR" sz="1200" dirty="0"/>
          </a:p>
        </p:txBody>
      </p:sp>
      <p:sp>
        <p:nvSpPr>
          <p:cNvPr id="43" name="Text 41"/>
          <p:cNvSpPr txBox="1"/>
          <p:nvPr/>
        </p:nvSpPr>
        <p:spPr>
          <a:xfrm>
            <a:off x="548640" y="5166360"/>
            <a:ext cx="7498080" cy="320040"/>
          </a:xfrm>
          <a:prstGeom prst="rect">
            <a:avLst/>
          </a:prstGeom>
          <a:noFill/>
          <a:ln/>
        </p:spPr>
        <p:txBody>
          <a:bodyPr wrap="square" lIns="0" tIns="0" rIns="0" bIns="0" rtlCol="0" anchor="t"/>
          <a:lstStyle/>
          <a:p>
            <a:pPr indent="0" marL="0">
              <a:buNone/>
            </a:pPr>
            <a:r>
              <a:rPr lang="tr-TR" sz="1300" b="1" dirty="0">
                <a:solidFill>
                  <a:srgbClr val="B5453A"/>
                </a:solidFill>
                <a:latin typeface="Calibri" pitchFamily="34" charset="0"/>
                <a:ea typeface="Calibri" pitchFamily="34" charset="-122"/>
                <a:cs typeface="Calibri" pitchFamily="34" charset="-120"/>
              </a:rPr>
              <a:t>projects/alpha/src'den projects/beta/docs'a:  ../../beta/docs</a:t>
            </a:r>
            <a:endParaRPr lang="tr-TR" sz="1300" dirty="0"/>
          </a:p>
        </p:txBody>
      </p:sp>
      <p:sp>
        <p:nvSpPr>
          <p:cNvPr id="44" name="Shape 42"/>
          <p:cNvSpPr/>
          <p:nvPr/>
        </p:nvSpPr>
        <p:spPr>
          <a:xfrm>
            <a:off x="8275320" y="1508760"/>
            <a:ext cx="3383280" cy="2331720"/>
          </a:xfrm>
          <a:prstGeom prst="roundRect">
            <a:avLst>
              <a:gd name="adj" fmla="val 2353"/>
            </a:avLst>
          </a:prstGeom>
          <a:solidFill>
            <a:srgbClr val="F2F2F2"/>
          </a:solidFill>
          <a:ln/>
          <a:effectLst>
            <a:outerShdw sx="100000" sy="100000" kx="0" ky="0" algn="bl" rotWithShape="0" blurRad="101600" dist="25400" dir="5400000">
              <a:srgbClr val="000000">
                <a:alpha val="12000"/>
              </a:srgbClr>
            </a:outerShdw>
          </a:effectLst>
        </p:spPr>
      </p:sp>
      <p:sp>
        <p:nvSpPr>
          <p:cNvPr id="45" name="Text 43"/>
          <p:cNvSpPr txBox="1"/>
          <p:nvPr/>
        </p:nvSpPr>
        <p:spPr>
          <a:xfrm>
            <a:off x="8503920" y="1691640"/>
            <a:ext cx="29260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Mutlak (absolute)</a:t>
            </a:r>
            <a:endParaRPr lang="tr-TR" sz="1500" dirty="0"/>
          </a:p>
        </p:txBody>
      </p:sp>
      <p:sp>
        <p:nvSpPr>
          <p:cNvPr id="46" name="Text 44"/>
          <p:cNvSpPr txBox="1"/>
          <p:nvPr/>
        </p:nvSpPr>
        <p:spPr>
          <a:xfrm>
            <a:off x="8503920" y="2148840"/>
            <a:ext cx="2926080" cy="1554480"/>
          </a:xfrm>
          <a:prstGeom prst="rect">
            <a:avLst/>
          </a:prstGeom>
          <a:noFill/>
          <a:ln/>
        </p:spPr>
        <p:txBody>
          <a:bodyPr wrap="square" lIns="0" tIns="0" rIns="0" bIns="0" rtlCol="0" anchor="t"/>
          <a:lstStyle/>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 (ya da ~) ile başlar.</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Her yerden aynı anlama gelir.</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/home/student/lab/projects/beta/docs</a:t>
            </a:r>
            <a:endParaRPr lang="tr-TR" sz="1300" dirty="0"/>
          </a:p>
        </p:txBody>
      </p:sp>
      <p:sp>
        <p:nvSpPr>
          <p:cNvPr id="47" name="Shape 45"/>
          <p:cNvSpPr/>
          <p:nvPr/>
        </p:nvSpPr>
        <p:spPr>
          <a:xfrm>
            <a:off x="8275320" y="4023360"/>
            <a:ext cx="3383280" cy="2240280"/>
          </a:xfrm>
          <a:prstGeom prst="roundRect">
            <a:avLst>
              <a:gd name="adj" fmla="val 2449"/>
            </a:avLst>
          </a:prstGeom>
          <a:solidFill>
            <a:srgbClr val="F2F2F2"/>
          </a:solidFill>
          <a:ln/>
          <a:effectLst>
            <a:outerShdw sx="100000" sy="100000" kx="0" ky="0" algn="bl" rotWithShape="0" blurRad="101600" dist="25400" dir="5400000">
              <a:srgbClr val="000000">
                <a:alpha val="12000"/>
              </a:srgbClr>
            </a:outerShdw>
          </a:effectLst>
        </p:spPr>
      </p:sp>
      <p:sp>
        <p:nvSpPr>
          <p:cNvPr id="48" name="Text 46"/>
          <p:cNvSpPr txBox="1"/>
          <p:nvPr/>
        </p:nvSpPr>
        <p:spPr>
          <a:xfrm>
            <a:off x="8503920" y="4206240"/>
            <a:ext cx="29260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Göreli (relative)</a:t>
            </a:r>
            <a:endParaRPr lang="tr-TR" sz="1500" dirty="0"/>
          </a:p>
        </p:txBody>
      </p:sp>
      <p:sp>
        <p:nvSpPr>
          <p:cNvPr id="49" name="Text 47"/>
          <p:cNvSpPr txBox="1"/>
          <p:nvPr/>
        </p:nvSpPr>
        <p:spPr>
          <a:xfrm>
            <a:off x="8503920" y="4663440"/>
            <a:ext cx="2926080" cy="1463040"/>
          </a:xfrm>
          <a:prstGeom prst="rect">
            <a:avLst/>
          </a:prstGeom>
          <a:noFill/>
          <a:ln/>
        </p:spPr>
        <p:txBody>
          <a:bodyPr wrap="square" lIns="0" tIns="0" rIns="0" bIns="0" rtlCol="0" anchor="t"/>
          <a:lstStyle/>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Başında / yok: geçerli dizinden başlar.</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 = bir düzey yukarı.</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Kısadır ama nerede olduğunuza bağlıdır.</a:t>
            </a:r>
            <a:endParaRPr lang="tr-TR" sz="1300" dirty="0"/>
          </a:p>
        </p:txBody>
      </p:sp>
      <p:sp>
        <p:nvSpPr>
          <p:cNvPr id="50" name="Shape 48"/>
          <p:cNvSpPr/>
          <p:nvPr/>
        </p:nvSpPr>
        <p:spPr>
          <a:xfrm>
            <a:off x="548640" y="5577840"/>
            <a:ext cx="7498080" cy="685800"/>
          </a:xfrm>
          <a:prstGeom prst="roundRect">
            <a:avLst>
              <a:gd name="adj" fmla="val 8000"/>
            </a:avLst>
          </a:prstGeom>
          <a:solidFill>
            <a:srgbClr val="36454F"/>
          </a:solidFill>
          <a:ln/>
          <a:effectLst>
            <a:outerShdw sx="100000" sy="100000" kx="0" ky="0" algn="bl" rotWithShape="0" blurRad="101600" dist="25400" dir="5400000">
              <a:srgbClr val="000000">
                <a:alpha val="12000"/>
              </a:srgbClr>
            </a:outerShdw>
          </a:effectLst>
        </p:spPr>
      </p:sp>
      <p:sp>
        <p:nvSpPr>
          <p:cNvPr id="51" name="Text 49"/>
          <p:cNvSpPr txBox="1"/>
          <p:nvPr/>
        </p:nvSpPr>
        <p:spPr>
          <a:xfrm>
            <a:off x="777240" y="5577840"/>
            <a:ext cx="7040880" cy="685800"/>
          </a:xfrm>
          <a:prstGeom prst="rect">
            <a:avLst/>
          </a:prstGeom>
          <a:noFill/>
          <a:ln/>
        </p:spPr>
        <p:txBody>
          <a:bodyPr wrap="square" lIns="0" tIns="0" rIns="0" bIns="0" rtlCol="0" anchor="ctr"/>
          <a:lstStyle/>
          <a:p>
            <a:pPr indent="0" marL="0">
              <a:buNone/>
            </a:pPr>
            <a:r>
              <a:rPr lang="tr-TR" sz="1300" dirty="0">
                <a:solidFill>
                  <a:srgbClr val="F2F2F2"/>
                </a:solidFill>
                <a:latin typeface="Calibri" pitchFamily="34" charset="0"/>
                <a:ea typeface="Calibri" pitchFamily="34" charset="-122"/>
                <a:cs typeface="Calibri" pitchFamily="34" charset="-120"/>
              </a:rPr>
              <a:t>7. haftadaki fikrin aynısı: mutlak yol kökten, göreli yol geçerli dizinden yürür.</a:t>
            </a:r>
            <a:endParaRPr lang="tr-TR"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CANLI GÖSTERİM</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cd: Dizin Değiştirmek</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9  ·  27</a:t>
            </a:r>
            <a:endParaRPr lang="tr-TR" sz="900" dirty="0"/>
          </a:p>
        </p:txBody>
      </p:sp>
      <p:sp>
        <p:nvSpPr>
          <p:cNvPr id="6" name="Shape 4"/>
          <p:cNvSpPr/>
          <p:nvPr/>
        </p:nvSpPr>
        <p:spPr>
          <a:xfrm>
            <a:off x="548640" y="1508760"/>
            <a:ext cx="7086600" cy="4754880"/>
          </a:xfrm>
          <a:prstGeom prst="roundRect">
            <a:avLst>
              <a:gd name="adj" fmla="val 962"/>
            </a:avLst>
          </a:prstGeom>
          <a:solidFill>
            <a:srgbClr val="212121"/>
          </a:solidFill>
          <a:ln/>
        </p:spPr>
      </p:sp>
      <p:sp>
        <p:nvSpPr>
          <p:cNvPr id="7" name="Text 5"/>
          <p:cNvSpPr txBox="1"/>
          <p:nvPr/>
        </p:nvSpPr>
        <p:spPr>
          <a:xfrm>
            <a:off x="731520" y="1618488"/>
            <a:ext cx="6720840" cy="4535424"/>
          </a:xfrm>
          <a:prstGeom prst="rect">
            <a:avLst/>
          </a:prstGeom>
          <a:noFill/>
          <a:ln/>
        </p:spPr>
        <p:txBody>
          <a:bodyPr wrap="square" lIns="0" tIns="0" rIns="0" bIns="0" rtlCol="0" anchor="t"/>
          <a:lstStyle/>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cd projects/alpha/src</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student@okan-lab:~/lab/projects/alpha/src$ </a:t>
            </a:r>
            <a:r>
              <a:rPr lang="tr-TR" sz="1050" b="1" dirty="0">
                <a:solidFill>
                  <a:srgbClr val="FFFFFF"/>
                </a:solidFill>
                <a:latin typeface="Consolas" pitchFamily="34" charset="0"/>
                <a:ea typeface="Consolas" pitchFamily="34" charset="-122"/>
                <a:cs typeface="Consolas" pitchFamily="34" charset="-120"/>
              </a:rPr>
              <a:t>pwd</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/home/student/lab/projects/alpha/src</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student@okan-lab:~/lab/projects/alpha/src$ </a:t>
            </a:r>
            <a:r>
              <a:rPr lang="tr-TR" sz="1050" b="1" dirty="0">
                <a:solidFill>
                  <a:srgbClr val="FFFFFF"/>
                </a:solidFill>
                <a:latin typeface="Consolas" pitchFamily="34" charset="0"/>
                <a:ea typeface="Consolas" pitchFamily="34" charset="-122"/>
                <a:cs typeface="Consolas" pitchFamily="34" charset="-120"/>
              </a:rPr>
              <a:t>cd ..</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student@okan-lab:~/lab/projects/alpha$ </a:t>
            </a:r>
            <a:r>
              <a:rPr lang="tr-TR" sz="1050" b="1" dirty="0">
                <a:solidFill>
                  <a:srgbClr val="FFFFFF"/>
                </a:solidFill>
                <a:latin typeface="Consolas" pitchFamily="34" charset="0"/>
                <a:ea typeface="Consolas" pitchFamily="34" charset="-122"/>
                <a:cs typeface="Consolas" pitchFamily="34" charset="-120"/>
              </a:rPr>
              <a:t>pwd</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/home/student/lab/projects/alpha</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student@okan-lab:~/lab/projects/alpha$ </a:t>
            </a:r>
            <a:r>
              <a:rPr lang="tr-TR" sz="1050" b="1" dirty="0">
                <a:solidFill>
                  <a:srgbClr val="FFFFFF"/>
                </a:solidFill>
                <a:latin typeface="Consolas" pitchFamily="34" charset="0"/>
                <a:ea typeface="Consolas" pitchFamily="34" charset="-122"/>
                <a:cs typeface="Consolas" pitchFamily="34" charset="-120"/>
              </a:rPr>
              <a:t>cd ../../docs</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student@okan-lab:~/lab/docs$ </a:t>
            </a:r>
            <a:r>
              <a:rPr lang="tr-TR" sz="1050" b="1" dirty="0">
                <a:solidFill>
                  <a:srgbClr val="FFFFFF"/>
                </a:solidFill>
                <a:latin typeface="Consolas" pitchFamily="34" charset="0"/>
                <a:ea typeface="Consolas" pitchFamily="34" charset="-122"/>
                <a:cs typeface="Consolas" pitchFamily="34" charset="-120"/>
              </a:rPr>
              <a:t>pwd</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/home/student/lab/docs</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student@okan-lab:~/lab/docs$ </a:t>
            </a:r>
            <a:r>
              <a:rPr lang="tr-TR" sz="1050" b="1" dirty="0">
                <a:solidFill>
                  <a:srgbClr val="FFFFFF"/>
                </a:solidFill>
                <a:latin typeface="Consolas" pitchFamily="34" charset="0"/>
                <a:ea typeface="Consolas" pitchFamily="34" charset="-122"/>
                <a:cs typeface="Consolas" pitchFamily="34" charset="-120"/>
              </a:rPr>
              <a:t>cd /home/student/lab/projects/beta</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student@okan-lab:~/lab/projects/beta$ </a:t>
            </a:r>
            <a:r>
              <a:rPr lang="tr-TR" sz="1050" b="1" dirty="0">
                <a:solidFill>
                  <a:srgbClr val="FFFFFF"/>
                </a:solidFill>
                <a:latin typeface="Consolas" pitchFamily="34" charset="0"/>
                <a:ea typeface="Consolas" pitchFamily="34" charset="-122"/>
                <a:cs typeface="Consolas" pitchFamily="34" charset="-120"/>
              </a:rPr>
              <a:t>cd -</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/home/student/lab/docs</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student@okan-lab:~/lab/docs$ </a:t>
            </a:r>
            <a:r>
              <a:rPr lang="tr-TR" sz="1050" b="1" dirty="0">
                <a:solidFill>
                  <a:srgbClr val="FFFFFF"/>
                </a:solidFill>
                <a:latin typeface="Consolas" pitchFamily="34" charset="0"/>
                <a:ea typeface="Consolas" pitchFamily="34" charset="-122"/>
                <a:cs typeface="Consolas" pitchFamily="34" charset="-120"/>
              </a:rPr>
              <a:t>cd -</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/home/student/lab/projects/beta</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student@okan-lab:~/lab/projects/beta$ </a:t>
            </a:r>
            <a:r>
              <a:rPr lang="tr-TR" sz="1050" b="1" dirty="0">
                <a:solidFill>
                  <a:srgbClr val="FFFFFF"/>
                </a:solidFill>
                <a:latin typeface="Consolas" pitchFamily="34" charset="0"/>
                <a:ea typeface="Consolas" pitchFamily="34" charset="-122"/>
                <a:cs typeface="Consolas" pitchFamily="34" charset="-120"/>
              </a:rPr>
              <a:t>cd</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 </a:t>
            </a:r>
            <a:r>
              <a:rPr lang="tr-TR" sz="1050" b="1" dirty="0">
                <a:solidFill>
                  <a:srgbClr val="FFFFFF"/>
                </a:solidFill>
                <a:latin typeface="Consolas" pitchFamily="34" charset="0"/>
                <a:ea typeface="Consolas" pitchFamily="34" charset="-122"/>
                <a:cs typeface="Consolas" pitchFamily="34" charset="-120"/>
              </a:rPr>
              <a:t>pwd</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/home/student</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 </a:t>
            </a:r>
            <a:r>
              <a:rPr lang="tr-TR" sz="1050" b="1" dirty="0">
                <a:solidFill>
                  <a:srgbClr val="FFFFFF"/>
                </a:solidFill>
                <a:latin typeface="Consolas" pitchFamily="34" charset="0"/>
                <a:ea typeface="Consolas" pitchFamily="34" charset="-122"/>
                <a:cs typeface="Consolas" pitchFamily="34" charset="-120"/>
              </a:rPr>
              <a:t>cd /</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 </a:t>
            </a:r>
            <a:r>
              <a:rPr lang="tr-TR" sz="1050" b="1" dirty="0">
                <a:solidFill>
                  <a:srgbClr val="FFFFFF"/>
                </a:solidFill>
                <a:latin typeface="Consolas" pitchFamily="34" charset="0"/>
                <a:ea typeface="Consolas" pitchFamily="34" charset="-122"/>
                <a:cs typeface="Consolas" pitchFamily="34" charset="-120"/>
              </a:rPr>
              <a:t>cd ~/lab/projects/alpha/docs</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student@okan-lab:~/lab/projects/alpha/docs$ </a:t>
            </a:r>
            <a:r>
              <a:rPr lang="tr-TR" sz="1050" b="1" dirty="0">
                <a:solidFill>
                  <a:srgbClr val="FFFFFF"/>
                </a:solidFill>
                <a:latin typeface="Consolas" pitchFamily="34" charset="0"/>
                <a:ea typeface="Consolas" pitchFamily="34" charset="-122"/>
                <a:cs typeface="Consolas" pitchFamily="34" charset="-120"/>
              </a:rPr>
              <a:t>cd ../../beta/src</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student@okan-lab:~/lab/projects/beta/src$ </a:t>
            </a:r>
            <a:r>
              <a:rPr lang="tr-TR" sz="1050" b="1" dirty="0">
                <a:solidFill>
                  <a:srgbClr val="FFFFFF"/>
                </a:solidFill>
                <a:latin typeface="Consolas" pitchFamily="34" charset="0"/>
                <a:ea typeface="Consolas" pitchFamily="34" charset="-122"/>
                <a:cs typeface="Consolas" pitchFamily="34" charset="-120"/>
              </a:rPr>
              <a:t>pwd</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/home/student/lab/projects/beta/src</a:t>
            </a:r>
            <a:endParaRPr lang="tr-TR" sz="1050" dirty="0"/>
          </a:p>
        </p:txBody>
      </p:sp>
      <p:sp>
        <p:nvSpPr>
          <p:cNvPr id="8" name="Shape 6"/>
          <p:cNvSpPr/>
          <p:nvPr/>
        </p:nvSpPr>
        <p:spPr>
          <a:xfrm>
            <a:off x="7863840" y="1508760"/>
            <a:ext cx="3794760" cy="4754880"/>
          </a:xfrm>
          <a:prstGeom prst="roundRect">
            <a:avLst>
              <a:gd name="adj" fmla="val 1446"/>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8092440" y="1691640"/>
            <a:ext cx="33375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Nelere dikkat edin</a:t>
            </a:r>
            <a:endParaRPr lang="tr-TR" sz="1500" dirty="0"/>
          </a:p>
        </p:txBody>
      </p:sp>
      <p:sp>
        <p:nvSpPr>
          <p:cNvPr id="10" name="Text 8"/>
          <p:cNvSpPr txBox="1"/>
          <p:nvPr/>
        </p:nvSpPr>
        <p:spPr>
          <a:xfrm>
            <a:off x="8092440" y="2148840"/>
            <a:ext cx="3337560" cy="3977640"/>
          </a:xfrm>
          <a:prstGeom prst="rect">
            <a:avLst/>
          </a:prstGeom>
          <a:noFill/>
          <a:ln/>
        </p:spPr>
        <p:txBody>
          <a:bodyPr wrap="square" lIns="0" tIns="0" rIns="0" bIns="0" rtlCol="0" anchor="t"/>
          <a:lstStyle/>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Her cd'den sonra istem nerede olduğunuzu gösterir.</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cd .. bir düzey yukarı çıkar; ../../docs iki kez çıkar, sonra iner.</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Mutlak yol her yerden çalışır.</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cd - bir önceki dizine döner ve onu yazar.</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Yalnız cd sizi eve, cd / köke götürür.</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cd başarılı olunca hiçbir şey yazmaz.</a:t>
            </a:r>
            <a:endParaRPr lang="tr-TR"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KISAYOLLAR</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Dizinler İçin Beş Özel Ad</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9  ·  28</a:t>
            </a:r>
            <a:endParaRPr lang="tr-TR" sz="9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109960" cy="914400"/>
        </p:xfrm>
        <a:graphic>
          <a:graphicData uri="http://schemas.openxmlformats.org/drawingml/2006/table">
            <a:tbl>
              <a:tblPr/>
              <a:tblGrid>
                <a:gridCol w="1097280"/>
                <a:gridCol w="3291840"/>
                <a:gridCol w="2743200"/>
                <a:gridCol w="3977640"/>
              </a:tblGrid>
              <a:tr h="0">
                <a:tc>
                  <a:txBody>
                    <a:bodyPr/>
                    <a:lstStyle/>
                    <a:p>
                      <a:pPr indent="0" marL="0">
                        <a:buNone/>
                      </a:pPr>
                      <a:r>
                        <a:rPr lang="tr-TR" sz="1800" b="1" dirty="0">
                          <a:solidFill>
                            <a:srgbClr val="FFFFFF"/>
                          </a:solidFill>
                          <a:latin typeface="Cambria" pitchFamily="34" charset="0"/>
                          <a:ea typeface="Cambria" pitchFamily="34" charset="-122"/>
                          <a:cs typeface="Cambria" pitchFamily="34" charset="-120"/>
                        </a:rPr>
                        <a:t>Ad</a:t>
                      </a:r>
                      <a:endParaRPr lang="tr-TR" sz="18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800" b="1" dirty="0">
                          <a:solidFill>
                            <a:srgbClr val="FFFFFF"/>
                          </a:solidFill>
                          <a:latin typeface="Cambria" pitchFamily="34" charset="0"/>
                          <a:ea typeface="Cambria" pitchFamily="34" charset="-122"/>
                          <a:cs typeface="Cambria" pitchFamily="34" charset="-120"/>
                        </a:rPr>
                        <a:t>Anlamı</a:t>
                      </a:r>
                      <a:endParaRPr lang="tr-TR" sz="18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800" b="1" dirty="0">
                          <a:solidFill>
                            <a:srgbClr val="FFFFFF"/>
                          </a:solidFill>
                          <a:latin typeface="Cambria" pitchFamily="34" charset="0"/>
                          <a:ea typeface="Cambria" pitchFamily="34" charset="-122"/>
                          <a:cs typeface="Cambria" pitchFamily="34" charset="-120"/>
                        </a:rPr>
                        <a:t>Örnek</a:t>
                      </a:r>
                      <a:endParaRPr lang="tr-TR" sz="18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800" b="1" dirty="0">
                          <a:solidFill>
                            <a:srgbClr val="FFFFFF"/>
                          </a:solidFill>
                          <a:latin typeface="Cambria" pitchFamily="34" charset="0"/>
                          <a:ea typeface="Cambria" pitchFamily="34" charset="-122"/>
                          <a:cs typeface="Cambria" pitchFamily="34" charset="-120"/>
                        </a:rPr>
                        <a:t>Sonuç (~/lab/projects/alpha'dan)</a:t>
                      </a:r>
                      <a:endParaRPr lang="tr-TR" sz="18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700" b="1" dirty="0">
                          <a:solidFill>
                            <a:srgbClr val="3A464C"/>
                          </a:solidFill>
                          <a:latin typeface="Calibri" pitchFamily="34" charset="0"/>
                          <a:ea typeface="Calibri" pitchFamily="34" charset="-122"/>
                          <a:cs typeface="Calibri" pitchFamily="34" charset="-120"/>
                        </a:rPr>
                        <a:t>/</a:t>
                      </a:r>
                      <a:endParaRPr lang="tr-TR"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700" dirty="0">
                          <a:solidFill>
                            <a:srgbClr val="3A464C"/>
                          </a:solidFill>
                          <a:latin typeface="Calibri" pitchFamily="34" charset="0"/>
                          <a:ea typeface="Calibri" pitchFamily="34" charset="-122"/>
                          <a:cs typeface="Calibri" pitchFamily="34" charset="-120"/>
                        </a:rPr>
                        <a:t>bütün ağacın kökü</a:t>
                      </a:r>
                      <a:endParaRPr lang="tr-TR"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700" dirty="0">
                          <a:solidFill>
                            <a:srgbClr val="3A464C"/>
                          </a:solidFill>
                          <a:latin typeface="Calibri" pitchFamily="34" charset="0"/>
                          <a:ea typeface="Calibri" pitchFamily="34" charset="-122"/>
                          <a:cs typeface="Calibri" pitchFamily="34" charset="-120"/>
                        </a:rPr>
                        <a:t>cd /</a:t>
                      </a:r>
                      <a:endParaRPr lang="tr-TR"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700" dirty="0">
                          <a:solidFill>
                            <a:srgbClr val="3A464C"/>
                          </a:solidFill>
                          <a:latin typeface="Calibri" pitchFamily="34" charset="0"/>
                          <a:ea typeface="Calibri" pitchFamily="34" charset="-122"/>
                          <a:cs typeface="Calibri" pitchFamily="34" charset="-120"/>
                        </a:rPr>
                        <a:t>/</a:t>
                      </a:r>
                      <a:endParaRPr lang="tr-TR"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700" b="1" dirty="0">
                          <a:solidFill>
                            <a:srgbClr val="3A464C"/>
                          </a:solidFill>
                          <a:latin typeface="Calibri" pitchFamily="34" charset="0"/>
                          <a:ea typeface="Calibri" pitchFamily="34" charset="-122"/>
                          <a:cs typeface="Calibri" pitchFamily="34" charset="-120"/>
                        </a:rPr>
                        <a:t>~</a:t>
                      </a:r>
                      <a:endParaRPr lang="tr-TR"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700" dirty="0">
                          <a:solidFill>
                            <a:srgbClr val="3A464C"/>
                          </a:solidFill>
                          <a:latin typeface="Calibri" pitchFamily="34" charset="0"/>
                          <a:ea typeface="Calibri" pitchFamily="34" charset="-122"/>
                          <a:cs typeface="Calibri" pitchFamily="34" charset="-120"/>
                        </a:rPr>
                        <a:t>ev dizininiz</a:t>
                      </a:r>
                      <a:endParaRPr lang="tr-TR"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700" dirty="0">
                          <a:solidFill>
                            <a:srgbClr val="3A464C"/>
                          </a:solidFill>
                          <a:latin typeface="Calibri" pitchFamily="34" charset="0"/>
                          <a:ea typeface="Calibri" pitchFamily="34" charset="-122"/>
                          <a:cs typeface="Calibri" pitchFamily="34" charset="-120"/>
                        </a:rPr>
                        <a:t>cd ~/lab</a:t>
                      </a:r>
                      <a:endParaRPr lang="tr-TR"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700" dirty="0">
                          <a:solidFill>
                            <a:srgbClr val="3A464C"/>
                          </a:solidFill>
                          <a:latin typeface="Calibri" pitchFamily="34" charset="0"/>
                          <a:ea typeface="Calibri" pitchFamily="34" charset="-122"/>
                          <a:cs typeface="Calibri" pitchFamily="34" charset="-120"/>
                        </a:rPr>
                        <a:t>/home/student/lab</a:t>
                      </a:r>
                      <a:endParaRPr lang="tr-TR"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700" b="1" dirty="0">
                          <a:solidFill>
                            <a:srgbClr val="3A464C"/>
                          </a:solidFill>
                          <a:latin typeface="Calibri" pitchFamily="34" charset="0"/>
                          <a:ea typeface="Calibri" pitchFamily="34" charset="-122"/>
                          <a:cs typeface="Calibri" pitchFamily="34" charset="-120"/>
                        </a:rPr>
                        <a:t>.</a:t>
                      </a:r>
                      <a:endParaRPr lang="tr-TR"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700" dirty="0">
                          <a:solidFill>
                            <a:srgbClr val="3A464C"/>
                          </a:solidFill>
                          <a:latin typeface="Calibri" pitchFamily="34" charset="0"/>
                          <a:ea typeface="Calibri" pitchFamily="34" charset="-122"/>
                          <a:cs typeface="Calibri" pitchFamily="34" charset="-120"/>
                        </a:rPr>
                        <a:t>geçerli dizin</a:t>
                      </a:r>
                      <a:endParaRPr lang="tr-TR"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700" dirty="0">
                          <a:solidFill>
                            <a:srgbClr val="3A464C"/>
                          </a:solidFill>
                          <a:latin typeface="Calibri" pitchFamily="34" charset="0"/>
                          <a:ea typeface="Calibri" pitchFamily="34" charset="-122"/>
                          <a:cs typeface="Calibri" pitchFamily="34" charset="-120"/>
                        </a:rPr>
                        <a:t>ls .</a:t>
                      </a:r>
                      <a:endParaRPr lang="tr-TR"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700" dirty="0">
                          <a:solidFill>
                            <a:srgbClr val="3A464C"/>
                          </a:solidFill>
                          <a:latin typeface="Calibri" pitchFamily="34" charset="0"/>
                          <a:ea typeface="Calibri" pitchFamily="34" charset="-122"/>
                          <a:cs typeface="Calibri" pitchFamily="34" charset="-120"/>
                        </a:rPr>
                        <a:t>alpha'yı listeler (ls ile aynı)</a:t>
                      </a:r>
                      <a:endParaRPr lang="tr-TR"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700" b="1" dirty="0">
                          <a:solidFill>
                            <a:srgbClr val="3A464C"/>
                          </a:solidFill>
                          <a:latin typeface="Calibri" pitchFamily="34" charset="0"/>
                          <a:ea typeface="Calibri" pitchFamily="34" charset="-122"/>
                          <a:cs typeface="Calibri" pitchFamily="34" charset="-120"/>
                        </a:rPr>
                        <a:t>..</a:t>
                      </a:r>
                      <a:endParaRPr lang="tr-TR"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700" dirty="0">
                          <a:solidFill>
                            <a:srgbClr val="3A464C"/>
                          </a:solidFill>
                          <a:latin typeface="Calibri" pitchFamily="34" charset="0"/>
                          <a:ea typeface="Calibri" pitchFamily="34" charset="-122"/>
                          <a:cs typeface="Calibri" pitchFamily="34" charset="-120"/>
                        </a:rPr>
                        <a:t>üst dizin</a:t>
                      </a:r>
                      <a:endParaRPr lang="tr-TR"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700" dirty="0">
                          <a:solidFill>
                            <a:srgbClr val="3A464C"/>
                          </a:solidFill>
                          <a:latin typeface="Calibri" pitchFamily="34" charset="0"/>
                          <a:ea typeface="Calibri" pitchFamily="34" charset="-122"/>
                          <a:cs typeface="Calibri" pitchFamily="34" charset="-120"/>
                        </a:rPr>
                        <a:t>cd ../beta</a:t>
                      </a:r>
                      <a:endParaRPr lang="tr-TR"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700" dirty="0">
                          <a:solidFill>
                            <a:srgbClr val="3A464C"/>
                          </a:solidFill>
                          <a:latin typeface="Calibri" pitchFamily="34" charset="0"/>
                          <a:ea typeface="Calibri" pitchFamily="34" charset="-122"/>
                          <a:cs typeface="Calibri" pitchFamily="34" charset="-120"/>
                        </a:rPr>
                        <a:t>/home/student/lab/projects/beta</a:t>
                      </a:r>
                      <a:endParaRPr lang="tr-TR"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700" b="1" dirty="0">
                          <a:solidFill>
                            <a:srgbClr val="3A464C"/>
                          </a:solidFill>
                          <a:latin typeface="Calibri" pitchFamily="34" charset="0"/>
                          <a:ea typeface="Calibri" pitchFamily="34" charset="-122"/>
                          <a:cs typeface="Calibri" pitchFamily="34" charset="-120"/>
                        </a:rPr>
                        <a:t>-</a:t>
                      </a:r>
                      <a:endParaRPr lang="tr-TR"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700" dirty="0">
                          <a:solidFill>
                            <a:srgbClr val="3A464C"/>
                          </a:solidFill>
                          <a:latin typeface="Calibri" pitchFamily="34" charset="0"/>
                          <a:ea typeface="Calibri" pitchFamily="34" charset="-122"/>
                          <a:cs typeface="Calibri" pitchFamily="34" charset="-120"/>
                        </a:rPr>
                        <a:t>bir önceki dizin (yalnızca cd)</a:t>
                      </a:r>
                      <a:endParaRPr lang="tr-TR"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700" dirty="0">
                          <a:solidFill>
                            <a:srgbClr val="3A464C"/>
                          </a:solidFill>
                          <a:latin typeface="Calibri" pitchFamily="34" charset="0"/>
                          <a:ea typeface="Calibri" pitchFamily="34" charset="-122"/>
                          <a:cs typeface="Calibri" pitchFamily="34" charset="-120"/>
                        </a:rPr>
                        <a:t>cd -</a:t>
                      </a:r>
                      <a:endParaRPr lang="tr-TR"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700" dirty="0">
                          <a:solidFill>
                            <a:srgbClr val="3A464C"/>
                          </a:solidFill>
                          <a:latin typeface="Calibri" pitchFamily="34" charset="0"/>
                          <a:ea typeface="Calibri" pitchFamily="34" charset="-122"/>
                          <a:cs typeface="Calibri" pitchFamily="34" charset="-120"/>
                        </a:rPr>
                        <a:t>önceki yerinize döner</a:t>
                      </a:r>
                      <a:endParaRPr lang="tr-TR"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7" name="Shape 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8" name="Text 5"/>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Argümansız cd = cd ~. Kökün ".." girdisi yine / dizinidir: kökün üstüne çıkamazsınız.</a:t>
            </a:r>
            <a:endParaRPr lang="tr-TR"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3. HAFTAYLA BAĞLANTI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cd Neden Kabuğun İçinde Yerleşik Olmalı?</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9  ·  29</a:t>
            </a:r>
            <a:endParaRPr lang="tr-TR" sz="900" dirty="0"/>
          </a:p>
        </p:txBody>
      </p:sp>
      <p:sp>
        <p:nvSpPr>
          <p:cNvPr id="6" name="Shape 4"/>
          <p:cNvSpPr/>
          <p:nvPr/>
        </p:nvSpPr>
        <p:spPr>
          <a:xfrm>
            <a:off x="548640" y="1508760"/>
            <a:ext cx="6675120" cy="2788920"/>
          </a:xfrm>
          <a:prstGeom prst="roundRect">
            <a:avLst>
              <a:gd name="adj" fmla="val 1639"/>
            </a:avLst>
          </a:prstGeom>
          <a:solidFill>
            <a:srgbClr val="212121"/>
          </a:solidFill>
          <a:ln/>
        </p:spPr>
      </p:sp>
      <p:sp>
        <p:nvSpPr>
          <p:cNvPr id="7" name="Text 5"/>
          <p:cNvSpPr txBox="1"/>
          <p:nvPr/>
        </p:nvSpPr>
        <p:spPr>
          <a:xfrm>
            <a:off x="731520" y="1618488"/>
            <a:ext cx="6309360" cy="2569464"/>
          </a:xfrm>
          <a:prstGeom prst="rect">
            <a:avLst/>
          </a:prstGeom>
          <a:noFill/>
          <a:ln/>
        </p:spPr>
        <p:txBody>
          <a:bodyPr wrap="square" lIns="0" tIns="0" rIns="0" bIns="0" rtlCol="0" anchor="t"/>
          <a:lstStyle/>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 </a:t>
            </a:r>
            <a:r>
              <a:rPr lang="tr-TR" sz="1200" b="1" dirty="0">
                <a:solidFill>
                  <a:srgbClr val="FFFFFF"/>
                </a:solidFill>
                <a:latin typeface="Consolas" pitchFamily="34" charset="0"/>
                <a:ea typeface="Consolas" pitchFamily="34" charset="-122"/>
                <a:cs typeface="Consolas" pitchFamily="34" charset="-120"/>
              </a:rPr>
              <a:t>/bin/pwd</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/home/student/lab</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 </a:t>
            </a:r>
            <a:r>
              <a:rPr lang="tr-TR" sz="1200" b="1" dirty="0">
                <a:solidFill>
                  <a:srgbClr val="FFFFFF"/>
                </a:solidFill>
                <a:latin typeface="Consolas" pitchFamily="34" charset="0"/>
                <a:ea typeface="Consolas" pitchFamily="34" charset="-122"/>
                <a:cs typeface="Consolas" pitchFamily="34" charset="-120"/>
              </a:rPr>
              <a:t>strace -e trace=getcwd /bin/pwd</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getcwd("/home/student/lab", 4096)       = 18</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/home/student/lab</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 exited with 0 +++</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 </a:t>
            </a:r>
            <a:r>
              <a:rPr lang="tr-TR" sz="1200" b="1" dirty="0">
                <a:solidFill>
                  <a:srgbClr val="FFFFFF"/>
                </a:solidFill>
                <a:latin typeface="Consolas" pitchFamily="34" charset="0"/>
                <a:ea typeface="Consolas" pitchFamily="34" charset="-122"/>
                <a:cs typeface="Consolas" pitchFamily="34" charset="-120"/>
              </a:rPr>
              <a:t>strace -e trace=chdir bash -c 'cd /tmp'</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chdir("/tmp")                           = 0</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 exited with 0 +++</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 </a:t>
            </a:r>
            <a:r>
              <a:rPr lang="tr-TR" sz="1200" b="1" dirty="0">
                <a:solidFill>
                  <a:srgbClr val="FFFFFF"/>
                </a:solidFill>
                <a:latin typeface="Consolas" pitchFamily="34" charset="0"/>
                <a:ea typeface="Consolas" pitchFamily="34" charset="-122"/>
                <a:cs typeface="Consolas" pitchFamily="34" charset="-120"/>
              </a:rPr>
              <a:t>pwd</a:t>
            </a:r>
            <a:endParaRPr lang="tr-TR" sz="1200" dirty="0"/>
          </a:p>
          <a:p>
            <a:pPr indent="0" marL="0">
              <a:lnSpc>
                <a:spcPct val="100000"/>
              </a:lnSpc>
              <a:buNone/>
            </a:pPr>
            <a:r>
              <a:rPr lang="tr-TR" sz="1200" dirty="0">
                <a:solidFill>
                  <a:srgbClr val="F2F2F2"/>
                </a:solidFill>
                <a:latin typeface="Consolas" pitchFamily="34" charset="0"/>
                <a:ea typeface="Consolas" pitchFamily="34" charset="-122"/>
                <a:cs typeface="Consolas" pitchFamily="34" charset="-120"/>
              </a:rPr>
              <a:t>/home/student/lab</a:t>
            </a:r>
            <a:endParaRPr lang="tr-TR" sz="1200" dirty="0"/>
          </a:p>
        </p:txBody>
      </p:sp>
      <p:sp>
        <p:nvSpPr>
          <p:cNvPr id="8" name="Shape 6"/>
          <p:cNvSpPr/>
          <p:nvPr/>
        </p:nvSpPr>
        <p:spPr>
          <a:xfrm>
            <a:off x="7452360" y="1508760"/>
            <a:ext cx="4206240" cy="2788920"/>
          </a:xfrm>
          <a:prstGeom prst="roundRect">
            <a:avLst>
              <a:gd name="adj" fmla="val 1967"/>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7680960" y="1691640"/>
            <a:ext cx="37490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Deney</a:t>
            </a:r>
            <a:endParaRPr lang="tr-TR" sz="1500" dirty="0"/>
          </a:p>
        </p:txBody>
      </p:sp>
      <p:sp>
        <p:nvSpPr>
          <p:cNvPr id="10" name="Text 8"/>
          <p:cNvSpPr txBox="1"/>
          <p:nvPr/>
        </p:nvSpPr>
        <p:spPr>
          <a:xfrm>
            <a:off x="7680960" y="2148840"/>
            <a:ext cx="3749040" cy="2011680"/>
          </a:xfrm>
          <a:prstGeom prst="rect">
            <a:avLst/>
          </a:prstGeom>
          <a:noFill/>
          <a:ln/>
        </p:spPr>
        <p:txBody>
          <a:bodyPr wrap="square" lIns="0" tIns="0" rIns="0" bIns="0" rtlCol="0" anchor="t"/>
          <a:lstStyle/>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/bin/pwd ayrı bir programdır: çekirdeğe getcwd() ile sorar.</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Bir çocuk bash cd /tmp çalıştırır: çekirdeğin chdir("/tmp") çağrısı başarılı olur …</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 ama bizim kabuğumuz hâlâ ~/lab içindedir.</a:t>
            </a:r>
            <a:endParaRPr lang="tr-TR" sz="1300" dirty="0"/>
          </a:p>
        </p:txBody>
      </p:sp>
      <p:sp>
        <p:nvSpPr>
          <p:cNvPr id="11" name="Shape 9"/>
          <p:cNvSpPr/>
          <p:nvPr/>
        </p:nvSpPr>
        <p:spPr>
          <a:xfrm>
            <a:off x="548640" y="4526280"/>
            <a:ext cx="11109960" cy="1737360"/>
          </a:xfrm>
          <a:prstGeom prst="roundRect">
            <a:avLst>
              <a:gd name="adj" fmla="val 3158"/>
            </a:avLst>
          </a:prstGeom>
          <a:solidFill>
            <a:srgbClr val="36454F"/>
          </a:solidFill>
          <a:ln/>
          <a:effectLst>
            <a:outerShdw sx="100000" sy="100000" kx="0" ky="0" algn="bl" rotWithShape="0" blurRad="101600" dist="25400" dir="5400000">
              <a:srgbClr val="000000">
                <a:alpha val="12000"/>
              </a:srgbClr>
            </a:outerShdw>
          </a:effectLst>
        </p:spPr>
      </p:sp>
      <p:sp>
        <p:nvSpPr>
          <p:cNvPr id="12" name="Text 10"/>
          <p:cNvSpPr txBox="1"/>
          <p:nvPr/>
        </p:nvSpPr>
        <p:spPr>
          <a:xfrm>
            <a:off x="777240" y="4526280"/>
            <a:ext cx="10652760" cy="173736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Geçerli dizin, her sürecin durumunun bir parçasıdır (çekirdek onu PCB'nin yanında tutar, 3. hafta). Bir çocuk yalnızca kendi dizinini değiştirebilir, ebeveyninkini asla. cd /usr/bin içinde bir program olsaydı hemen sonlanan bir çocuk sürecin dizinini değiştirirdi — ve hiçbir şey olmazdı. Bu yüzden cd yerleşiktir: bash chdir() çağrısını kendi üzerinde yapar. type cd bunu doğrular.</a:t>
            </a:r>
            <a:endParaRPr lang="tr-TR"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BÖLÜM 5</a:t>
            </a:r>
            <a:endParaRPr lang="tr-TR"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Akıllı Çalışma</a:t>
            </a:r>
            <a:endParaRPr lang="tr-TR"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tr-TR" sz="1600" i="1" dirty="0">
                <a:solidFill>
                  <a:srgbClr val="F2F2F2"/>
                </a:solidFill>
                <a:latin typeface="Calibri" pitchFamily="34" charset="0"/>
                <a:ea typeface="Calibri" pitchFamily="34" charset="-122"/>
                <a:cs typeface="Calibri" pitchFamily="34" charset="-120"/>
              </a:rPr>
              <a:t>Kimse her seçeneği hatırlamaz: nereye bakacağınızı bilin ve yazmayı kabuğa bırakın.</a:t>
            </a:r>
            <a:endParaRPr lang="tr-TR"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9  ·  30</a:t>
            </a:r>
            <a:endParaRPr lang="tr-TR"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YARDIM ALMAK</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Yardım Almanın Dört Yolu</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9  ·  31</a:t>
            </a:r>
            <a:endParaRPr lang="tr-TR" sz="900" dirty="0"/>
          </a:p>
        </p:txBody>
      </p:sp>
      <p:sp>
        <p:nvSpPr>
          <p:cNvPr id="6" name="Shape 4"/>
          <p:cNvSpPr/>
          <p:nvPr/>
        </p:nvSpPr>
        <p:spPr>
          <a:xfrm>
            <a:off x="548640" y="1508760"/>
            <a:ext cx="6675120" cy="4754880"/>
          </a:xfrm>
          <a:prstGeom prst="roundRect">
            <a:avLst>
              <a:gd name="adj" fmla="val 962"/>
            </a:avLst>
          </a:prstGeom>
          <a:solidFill>
            <a:srgbClr val="212121"/>
          </a:solidFill>
          <a:ln/>
        </p:spPr>
      </p:sp>
      <p:sp>
        <p:nvSpPr>
          <p:cNvPr id="7" name="Text 5"/>
          <p:cNvSpPr txBox="1"/>
          <p:nvPr/>
        </p:nvSpPr>
        <p:spPr>
          <a:xfrm>
            <a:off x="731520" y="1618488"/>
            <a:ext cx="6309360" cy="4535424"/>
          </a:xfrm>
          <a:prstGeom prst="rect">
            <a:avLst/>
          </a:prstGeom>
          <a:noFill/>
          <a:ln/>
        </p:spPr>
        <p:txBody>
          <a:bodyPr wrap="square" lIns="0" tIns="0" rIns="0" bIns="0" rtlCol="0" anchor="t"/>
          <a:lstStyle/>
          <a:p>
            <a:pPr indent="0" marL="0">
              <a:lnSpc>
                <a:spcPct val="100000"/>
              </a:lnSpc>
              <a:buNone/>
            </a:pPr>
            <a:r>
              <a:rPr lang="tr-TR" sz="1000" dirty="0">
                <a:solidFill>
                  <a:srgbClr val="02C39A"/>
                </a:solidFill>
                <a:latin typeface="Consolas" pitchFamily="34" charset="0"/>
                <a:ea typeface="Consolas" pitchFamily="34" charset="-122"/>
                <a:cs typeface="Consolas" pitchFamily="34" charset="-120"/>
              </a:rPr>
              <a:t>student@okan-lab:~$ </a:t>
            </a:r>
            <a:r>
              <a:rPr lang="tr-TR" sz="1000" b="1" dirty="0">
                <a:solidFill>
                  <a:srgbClr val="FFFFFF"/>
                </a:solidFill>
                <a:latin typeface="Consolas" pitchFamily="34" charset="0"/>
                <a:ea typeface="Consolas" pitchFamily="34" charset="-122"/>
                <a:cs typeface="Consolas" pitchFamily="34" charset="-120"/>
              </a:rPr>
              <a:t>ls --help | head -n 12</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Usage: ls [OPTION]... [FILE]...</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List information about the FILEs (the current directory by default).</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Sort entries alphabetically if none of -cftuvSUX nor --sort is specified.</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 </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Mandatory arguments to long options are mandatory for short options too.</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  -a, --all                  do not ignore entries starting with .</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  -A, --almost-all           do not list implied . and ..</a:t>
            </a:r>
            <a:endParaRPr lang="tr-TR" sz="1000" dirty="0"/>
          </a:p>
          <a:p>
            <a:pPr indent="0" marL="0">
              <a:lnSpc>
                <a:spcPct val="100000"/>
              </a:lnSpc>
              <a:buNone/>
            </a:pPr>
            <a:r>
              <a:rPr lang="tr-TR" sz="1000" dirty="0">
                <a:solidFill>
                  <a:srgbClr val="8A9AA0"/>
                </a:solidFill>
                <a:latin typeface="Consolas" pitchFamily="34" charset="0"/>
                <a:ea typeface="Consolas" pitchFamily="34" charset="-122"/>
                <a:cs typeface="Consolas" pitchFamily="34" charset="-120"/>
              </a:rPr>
              <a:t>...</a:t>
            </a:r>
            <a:endParaRPr lang="tr-TR" sz="1000" dirty="0"/>
          </a:p>
          <a:p>
            <a:pPr indent="0" marL="0">
              <a:lnSpc>
                <a:spcPct val="100000"/>
              </a:lnSpc>
              <a:buNone/>
            </a:pPr>
            <a:r>
              <a:rPr lang="tr-TR" sz="1000" dirty="0">
                <a:solidFill>
                  <a:srgbClr val="02C39A"/>
                </a:solidFill>
                <a:latin typeface="Consolas" pitchFamily="34" charset="0"/>
                <a:ea typeface="Consolas" pitchFamily="34" charset="-122"/>
                <a:cs typeface="Consolas" pitchFamily="34" charset="-120"/>
              </a:rPr>
              <a:t>student@okan-lab:~$ </a:t>
            </a:r>
            <a:r>
              <a:rPr lang="tr-TR" sz="1000" b="1" dirty="0">
                <a:solidFill>
                  <a:srgbClr val="FFFFFF"/>
                </a:solidFill>
                <a:latin typeface="Consolas" pitchFamily="34" charset="0"/>
                <a:ea typeface="Consolas" pitchFamily="34" charset="-122"/>
                <a:cs typeface="Consolas" pitchFamily="34" charset="-120"/>
              </a:rPr>
              <a:t>type cd pwd ls</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cd is a shell builtin</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pwd is a shell builtin</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ls is /usr/bin/ls</a:t>
            </a:r>
            <a:endParaRPr lang="tr-TR" sz="1000" dirty="0"/>
          </a:p>
          <a:p>
            <a:pPr indent="0" marL="0">
              <a:lnSpc>
                <a:spcPct val="100000"/>
              </a:lnSpc>
              <a:buNone/>
            </a:pPr>
            <a:r>
              <a:rPr lang="tr-TR" sz="1000" dirty="0">
                <a:solidFill>
                  <a:srgbClr val="02C39A"/>
                </a:solidFill>
                <a:latin typeface="Consolas" pitchFamily="34" charset="0"/>
                <a:ea typeface="Consolas" pitchFamily="34" charset="-122"/>
                <a:cs typeface="Consolas" pitchFamily="34" charset="-120"/>
              </a:rPr>
              <a:t>student@okan-lab:~$ </a:t>
            </a:r>
            <a:r>
              <a:rPr lang="tr-TR" sz="1000" b="1" dirty="0">
                <a:solidFill>
                  <a:srgbClr val="FFFFFF"/>
                </a:solidFill>
                <a:latin typeface="Consolas" pitchFamily="34" charset="0"/>
                <a:ea typeface="Consolas" pitchFamily="34" charset="-122"/>
                <a:cs typeface="Consolas" pitchFamily="34" charset="-120"/>
              </a:rPr>
              <a:t>help cd | head -n 5</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cd: cd [-L|[-P [-e]] [-@]] [dir]</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    Change the shell working directory.</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    </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    Change the current directory to DIR.  The default DIR is the value of the</a:t>
            </a:r>
            <a:endParaRPr lang="tr-TR" sz="1000" dirty="0"/>
          </a:p>
          <a:p>
            <a:pPr indent="0" marL="0">
              <a:lnSpc>
                <a:spcPct val="100000"/>
              </a:lnSpc>
              <a:buNone/>
            </a:pPr>
            <a:r>
              <a:rPr lang="tr-TR" sz="1000" dirty="0">
                <a:solidFill>
                  <a:srgbClr val="F2F2F2"/>
                </a:solidFill>
                <a:latin typeface="Consolas" pitchFamily="34" charset="0"/>
                <a:ea typeface="Consolas" pitchFamily="34" charset="-122"/>
                <a:cs typeface="Consolas" pitchFamily="34" charset="-120"/>
              </a:rPr>
              <a:t>    HOME shell variable. If DIR is "-", it is converted to $OLDPWD.</a:t>
            </a:r>
            <a:endParaRPr lang="tr-TR" sz="1000" dirty="0"/>
          </a:p>
        </p:txBody>
      </p:sp>
      <p:sp>
        <p:nvSpPr>
          <p:cNvPr id="8" name="Shape 6"/>
          <p:cNvSpPr/>
          <p:nvPr/>
        </p:nvSpPr>
        <p:spPr>
          <a:xfrm>
            <a:off x="7452360" y="1508760"/>
            <a:ext cx="4206240" cy="4754880"/>
          </a:xfrm>
          <a:prstGeom prst="roundRect">
            <a:avLst>
              <a:gd name="adj" fmla="val 1304"/>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7680960" y="1691640"/>
            <a:ext cx="3749040" cy="4434840"/>
          </a:xfrm>
          <a:prstGeom prst="rect">
            <a:avLst/>
          </a:prstGeom>
          <a:noFill/>
          <a:ln/>
        </p:spPr>
        <p:txBody>
          <a:bodyPr wrap="square" lIns="0" tIns="0" rIns="0" bIns="0" rtlCol="0" anchor="t"/>
          <a:lstStyle/>
          <a:p>
            <a:pPr marL="228600" indent="-228600">
              <a:spcAft>
                <a:spcPts val="400"/>
              </a:spcAft>
              <a:buSzPct val="100000"/>
              <a:buChar char="•"/>
            </a:pPr>
            <a:r>
              <a:rPr lang="tr-TR" sz="1250" b="1" dirty="0">
                <a:solidFill>
                  <a:srgbClr val="3A464C"/>
                </a:solidFill>
                <a:latin typeface="Calibri" pitchFamily="34" charset="0"/>
                <a:ea typeface="Calibri" pitchFamily="34" charset="-122"/>
                <a:cs typeface="Calibri" pitchFamily="34" charset="-120"/>
              </a:rPr>
              <a:t>komut --help:</a:t>
            </a:r>
            <a:r>
              <a:rPr lang="tr-TR" sz="1250" dirty="0">
                <a:solidFill>
                  <a:srgbClr val="3A464C"/>
                </a:solidFill>
                <a:latin typeface="Calibri" pitchFamily="34" charset="0"/>
                <a:ea typeface="Calibri" pitchFamily="34" charset="-122"/>
                <a:cs typeface="Calibri" pitchFamily="34" charset="-120"/>
              </a:rPr>
              <a:t> seçeneklerin kısa özeti (çoğu program).</a:t>
            </a:r>
            <a:endParaRPr lang="tr-TR" sz="1250" dirty="0"/>
          </a:p>
          <a:p>
            <a:pPr marL="228600" indent="-228600">
              <a:spcAft>
                <a:spcPts val="400"/>
              </a:spcAft>
              <a:buSzPct val="100000"/>
              <a:buChar char="•"/>
            </a:pPr>
            <a:r>
              <a:rPr lang="tr-TR" sz="1250" b="1" dirty="0">
                <a:solidFill>
                  <a:srgbClr val="3A464C"/>
                </a:solidFill>
                <a:latin typeface="Calibri" pitchFamily="34" charset="0"/>
                <a:ea typeface="Calibri" pitchFamily="34" charset="-122"/>
                <a:cs typeface="Calibri" pitchFamily="34" charset="-120"/>
              </a:rPr>
              <a:t>man komut:</a:t>
            </a:r>
            <a:r>
              <a:rPr lang="tr-TR" sz="1250" dirty="0">
                <a:solidFill>
                  <a:srgbClr val="3A464C"/>
                </a:solidFill>
                <a:latin typeface="Calibri" pitchFamily="34" charset="0"/>
                <a:ea typeface="Calibri" pitchFamily="34" charset="-122"/>
                <a:cs typeface="Calibri" pitchFamily="34" charset="-120"/>
              </a:rPr>
              <a:t> tam kılavuz sayfası — NAME, SYNOPSIS, DESCRIPTION bölümleri. Boşluk = sonraki sayfa, /sözcük = ara, q = çık.</a:t>
            </a:r>
            <a:endParaRPr lang="tr-TR" sz="1250" dirty="0"/>
          </a:p>
          <a:p>
            <a:pPr marL="228600" indent="-228600">
              <a:spcAft>
                <a:spcPts val="400"/>
              </a:spcAft>
              <a:buSzPct val="100000"/>
              <a:buChar char="•"/>
            </a:pPr>
            <a:r>
              <a:rPr lang="tr-TR" sz="1250" b="1" dirty="0">
                <a:solidFill>
                  <a:srgbClr val="3A464C"/>
                </a:solidFill>
                <a:latin typeface="Calibri" pitchFamily="34" charset="0"/>
                <a:ea typeface="Calibri" pitchFamily="34" charset="-122"/>
                <a:cs typeface="Calibri" pitchFamily="34" charset="-120"/>
              </a:rPr>
              <a:t>help komut:</a:t>
            </a:r>
            <a:r>
              <a:rPr lang="tr-TR" sz="1250" dirty="0">
                <a:solidFill>
                  <a:srgbClr val="3A464C"/>
                </a:solidFill>
                <a:latin typeface="Calibri" pitchFamily="34" charset="0"/>
                <a:ea typeface="Calibri" pitchFamily="34" charset="-122"/>
                <a:cs typeface="Calibri" pitchFamily="34" charset="-120"/>
              </a:rPr>
              <a:t> kabuk yerleşikleri için (cd, pwd, history) — program dosyaları yoktur.</a:t>
            </a:r>
            <a:endParaRPr lang="tr-TR" sz="1250" dirty="0"/>
          </a:p>
          <a:p>
            <a:pPr marL="228600" indent="-228600">
              <a:spcAft>
                <a:spcPts val="400"/>
              </a:spcAft>
              <a:buSzPct val="100000"/>
              <a:buChar char="•"/>
            </a:pPr>
            <a:r>
              <a:rPr lang="tr-TR" sz="1250" b="1" dirty="0">
                <a:solidFill>
                  <a:srgbClr val="3A464C"/>
                </a:solidFill>
                <a:latin typeface="Calibri" pitchFamily="34" charset="0"/>
                <a:ea typeface="Calibri" pitchFamily="34" charset="-122"/>
                <a:cs typeface="Calibri" pitchFamily="34" charset="-120"/>
              </a:rPr>
              <a:t>type komut:</a:t>
            </a:r>
            <a:r>
              <a:rPr lang="tr-TR" sz="1250" dirty="0">
                <a:solidFill>
                  <a:srgbClr val="3A464C"/>
                </a:solidFill>
                <a:latin typeface="Calibri" pitchFamily="34" charset="0"/>
                <a:ea typeface="Calibri" pitchFamily="34" charset="-122"/>
                <a:cs typeface="Calibri" pitchFamily="34" charset="-120"/>
              </a:rPr>
              <a:t> yerleşik mi, program dosyası mı?</a:t>
            </a:r>
            <a:endParaRPr lang="tr-TR" sz="1250" dirty="0"/>
          </a:p>
          <a:p>
            <a:pPr marL="228600" indent="-228600">
              <a:spcAft>
                <a:spcPts val="400"/>
              </a:spcAft>
              <a:buSzPct val="100000"/>
              <a:buChar char="•"/>
            </a:pPr>
            <a:r>
              <a:rPr lang="tr-TR" sz="1250" b="1" dirty="0">
                <a:solidFill>
                  <a:srgbClr val="3A464C"/>
                </a:solidFill>
                <a:latin typeface="Calibri" pitchFamily="34" charset="0"/>
                <a:ea typeface="Calibri" pitchFamily="34" charset="-122"/>
                <a:cs typeface="Calibri" pitchFamily="34" charset="-120"/>
              </a:rPr>
              <a:t>whatis / apropos:</a:t>
            </a:r>
            <a:r>
              <a:rPr lang="tr-TR" sz="1250" dirty="0">
                <a:solidFill>
                  <a:srgbClr val="3A464C"/>
                </a:solidFill>
                <a:latin typeface="Calibri" pitchFamily="34" charset="0"/>
                <a:ea typeface="Calibri" pitchFamily="34" charset="-122"/>
                <a:cs typeface="Calibri" pitchFamily="34" charset="-120"/>
              </a:rPr>
              <a:t> tek satırlık açıklama / kılavuzlarda anahtar sözcükle arama: apropos directory.</a:t>
            </a:r>
            <a:endParaRPr lang="tr-TR" sz="1250" dirty="0"/>
          </a:p>
          <a:p>
            <a:pPr marL="228600" indent="-228600">
              <a:spcAft>
                <a:spcPts val="400"/>
              </a:spcAft>
              <a:buSzPct val="100000"/>
              <a:buChar char="•"/>
            </a:pPr>
            <a:r>
              <a:rPr lang="tr-TR" sz="1250" b="1" dirty="0">
                <a:solidFill>
                  <a:srgbClr val="3A464C"/>
                </a:solidFill>
                <a:latin typeface="Calibri" pitchFamily="34" charset="0"/>
                <a:ea typeface="Calibri" pitchFamily="34" charset="-122"/>
                <a:cs typeface="Calibri" pitchFamily="34" charset="-120"/>
              </a:rPr>
              <a:t>tldr komut</a:t>
            </a:r>
            <a:r>
              <a:rPr lang="tr-TR" sz="1250" dirty="0">
                <a:solidFill>
                  <a:srgbClr val="3A464C"/>
                </a:solidFill>
                <a:latin typeface="Calibri" pitchFamily="34" charset="0"/>
                <a:ea typeface="Calibri" pitchFamily="34" charset="-122"/>
                <a:cs typeface="Calibri" pitchFamily="34" charset="-120"/>
              </a:rPr>
              <a:t> (isteğe bağlı, sudo apt install tldr): kısa örnekler.</a:t>
            </a:r>
            <a:endParaRPr lang="tr-TR"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CANLI GÖSTERİM</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Sekme Tamamlama, Geçmiş ve Klavye Kısayolları</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9  ·  32</a:t>
            </a:r>
            <a:endParaRPr lang="tr-TR" sz="900" dirty="0"/>
          </a:p>
        </p:txBody>
      </p:sp>
      <p:sp>
        <p:nvSpPr>
          <p:cNvPr id="6" name="Shape 4"/>
          <p:cNvSpPr/>
          <p:nvPr/>
        </p:nvSpPr>
        <p:spPr>
          <a:xfrm>
            <a:off x="548640" y="1508760"/>
            <a:ext cx="6035040" cy="4754880"/>
          </a:xfrm>
          <a:prstGeom prst="roundRect">
            <a:avLst>
              <a:gd name="adj" fmla="val 962"/>
            </a:avLst>
          </a:prstGeom>
          <a:solidFill>
            <a:srgbClr val="212121"/>
          </a:solidFill>
          <a:ln/>
        </p:spPr>
      </p:sp>
      <p:sp>
        <p:nvSpPr>
          <p:cNvPr id="7" name="Text 5"/>
          <p:cNvSpPr txBox="1"/>
          <p:nvPr/>
        </p:nvSpPr>
        <p:spPr>
          <a:xfrm>
            <a:off x="731520" y="1618488"/>
            <a:ext cx="5669280" cy="4535424"/>
          </a:xfrm>
          <a:prstGeom prst="rect">
            <a:avLst/>
          </a:prstGeom>
          <a:noFill/>
          <a:ln/>
        </p:spPr>
        <p:txBody>
          <a:bodyPr wrap="square" lIns="0" tIns="0" rIns="0" bIns="0" rtlCol="0" anchor="t"/>
          <a:lstStyle/>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 </a:t>
            </a:r>
            <a:r>
              <a:rPr lang="tr-TR" sz="1100" b="1" dirty="0">
                <a:solidFill>
                  <a:srgbClr val="FFFFFF"/>
                </a:solidFill>
                <a:latin typeface="Consolas" pitchFamily="34" charset="0"/>
                <a:ea typeface="Consolas" pitchFamily="34" charset="-122"/>
                <a:cs typeface="Consolas" pitchFamily="34" charset="-120"/>
              </a:rPr>
              <a:t>cd ~/lab</a:t>
            </a:r>
            <a:endParaRPr lang="tr-TR" sz="1100" dirty="0"/>
          </a:p>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student@okan-lab:~/lab$ </a:t>
            </a:r>
            <a:r>
              <a:rPr lang="tr-TR" sz="1100" b="1" dirty="0">
                <a:solidFill>
                  <a:srgbClr val="FFFFFF"/>
                </a:solidFill>
                <a:latin typeface="Consolas" pitchFamily="34" charset="0"/>
                <a:ea typeface="Consolas" pitchFamily="34" charset="-122"/>
                <a:cs typeface="Consolas" pitchFamily="34" charset="-120"/>
              </a:rPr>
              <a:t>cd projects/alpha/</a:t>
            </a:r>
            <a:endParaRPr lang="tr-TR" sz="1100" dirty="0"/>
          </a:p>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student@okan-lab:~/lab/projects/alpha$ </a:t>
            </a:r>
            <a:r>
              <a:rPr lang="tr-TR" sz="1100" b="1" dirty="0">
                <a:solidFill>
                  <a:srgbClr val="FFFFFF"/>
                </a:solidFill>
                <a:latin typeface="Consolas" pitchFamily="34" charset="0"/>
                <a:ea typeface="Consolas" pitchFamily="34" charset="-122"/>
                <a:cs typeface="Consolas" pitchFamily="34" charset="-120"/>
              </a:rPr>
              <a:t>pwd</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/home/student/lab/projects/alpha</a:t>
            </a:r>
            <a:endParaRPr lang="tr-TR" sz="1100" dirty="0"/>
          </a:p>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student@okan-lab:~/lab/projects/alpha$ </a:t>
            </a:r>
            <a:r>
              <a:rPr lang="tr-TR" sz="1100" b="1" dirty="0">
                <a:solidFill>
                  <a:srgbClr val="FFFFFF"/>
                </a:solidFill>
                <a:latin typeface="Consolas" pitchFamily="34" charset="0"/>
                <a:ea typeface="Consolas" pitchFamily="34" charset="-122"/>
                <a:cs typeface="Consolas" pitchFamily="34" charset="-120"/>
              </a:rPr>
              <a:t>cd</a:t>
            </a:r>
            <a:endParaRPr lang="tr-TR" sz="1100" dirty="0"/>
          </a:p>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 </a:t>
            </a:r>
            <a:r>
              <a:rPr lang="tr-TR" sz="1100" b="1" dirty="0">
                <a:solidFill>
                  <a:srgbClr val="FFFFFF"/>
                </a:solidFill>
                <a:latin typeface="Consolas" pitchFamily="34" charset="0"/>
                <a:ea typeface="Consolas" pitchFamily="34" charset="-122"/>
                <a:cs typeface="Consolas" pitchFamily="34" charset="-120"/>
              </a:rPr>
              <a:t>ls ~/lab/docs/syllabus.txt </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/home/student/lab/docs/syllabus.txt</a:t>
            </a:r>
            <a:endParaRPr lang="tr-TR" sz="1100" dirty="0"/>
          </a:p>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 </a:t>
            </a:r>
            <a:r>
              <a:rPr lang="tr-TR" sz="1100" b="1" dirty="0">
                <a:solidFill>
                  <a:srgbClr val="FFFFFF"/>
                </a:solidFill>
                <a:latin typeface="Consolas" pitchFamily="34" charset="0"/>
                <a:ea typeface="Consolas" pitchFamily="34" charset="-122"/>
                <a:cs typeface="Consolas" pitchFamily="34" charset="-120"/>
              </a:rPr>
              <a:t>whoami</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student</a:t>
            </a:r>
            <a:endParaRPr lang="tr-TR" sz="1100" dirty="0"/>
          </a:p>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 </a:t>
            </a:r>
            <a:r>
              <a:rPr lang="tr-TR" sz="1100" b="1" dirty="0">
                <a:solidFill>
                  <a:srgbClr val="FFFFFF"/>
                </a:solidFill>
                <a:latin typeface="Consolas" pitchFamily="34" charset="0"/>
                <a:ea typeface="Consolas" pitchFamily="34" charset="-122"/>
                <a:cs typeface="Consolas" pitchFamily="34" charset="-120"/>
              </a:rPr>
              <a:t>!!</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whoami</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student</a:t>
            </a:r>
            <a:endParaRPr lang="tr-TR" sz="1100" dirty="0"/>
          </a:p>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 </a:t>
            </a:r>
            <a:r>
              <a:rPr lang="tr-TR" sz="1100" b="1" dirty="0">
                <a:solidFill>
                  <a:srgbClr val="FFFFFF"/>
                </a:solidFill>
                <a:latin typeface="Consolas" pitchFamily="34" charset="0"/>
                <a:ea typeface="Consolas" pitchFamily="34" charset="-122"/>
                <a:cs typeface="Consolas" pitchFamily="34" charset="-120"/>
              </a:rPr>
              <a:t>history</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    1  cd ~/lab</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    2  cd projects/alpha/</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    3  pwd</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    4  cd</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    5  ls ~/lab/docs/syllabus.txt </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    6  whoami</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    7  whoami</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    8  history</a:t>
            </a:r>
            <a:endParaRPr lang="tr-TR" sz="1100" dirty="0"/>
          </a:p>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 </a:t>
            </a:r>
            <a:r>
              <a:rPr lang="tr-TR" sz="1100" b="1" dirty="0">
                <a:solidFill>
                  <a:srgbClr val="FFFFFF"/>
                </a:solidFill>
                <a:latin typeface="Consolas" pitchFamily="34" charset="0"/>
                <a:ea typeface="Consolas" pitchFamily="34" charset="-122"/>
                <a:cs typeface="Consolas" pitchFamily="34" charset="-120"/>
              </a:rPr>
              <a:t>!5</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ls ~/lab/docs/syllabus.txt </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/home/student/lab/docs/syllabus.txt</a:t>
            </a:r>
            <a:endParaRPr lang="tr-TR" sz="11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6812280" y="1508760"/>
          <a:ext cx="4846320" cy="914400"/>
        </p:xfrm>
        <a:graphic>
          <a:graphicData uri="http://schemas.openxmlformats.org/drawingml/2006/table">
            <a:tbl>
              <a:tblPr/>
              <a:tblGrid>
                <a:gridCol w="1600200"/>
                <a:gridCol w="3246120"/>
              </a:tblGrid>
              <a:tr h="0">
                <a:tc>
                  <a:txBody>
                    <a:bodyPr/>
                    <a:lstStyle/>
                    <a:p>
                      <a:pPr indent="0" marL="0">
                        <a:buNone/>
                      </a:pPr>
                      <a:r>
                        <a:rPr lang="tr-TR" sz="1300" b="1" dirty="0">
                          <a:solidFill>
                            <a:srgbClr val="FFFFFF"/>
                          </a:solidFill>
                          <a:latin typeface="Cambria" pitchFamily="34" charset="0"/>
                          <a:ea typeface="Cambria" pitchFamily="34" charset="-122"/>
                          <a:cs typeface="Cambria" pitchFamily="34" charset="-120"/>
                        </a:rPr>
                        <a:t>Tuş / komut</a:t>
                      </a:r>
                      <a:endParaRPr lang="tr-TR" sz="13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300" b="1" dirty="0">
                          <a:solidFill>
                            <a:srgbClr val="FFFFFF"/>
                          </a:solidFill>
                          <a:latin typeface="Cambria" pitchFamily="34" charset="0"/>
                          <a:ea typeface="Cambria" pitchFamily="34" charset="-122"/>
                          <a:cs typeface="Cambria" pitchFamily="34" charset="-120"/>
                        </a:rPr>
                        <a:t>Ne yapar</a:t>
                      </a:r>
                      <a:endParaRPr lang="tr-TR" sz="13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250" b="1" dirty="0">
                          <a:solidFill>
                            <a:srgbClr val="3A464C"/>
                          </a:solidFill>
                          <a:latin typeface="Calibri" pitchFamily="34" charset="0"/>
                          <a:ea typeface="Calibri" pitchFamily="34" charset="-122"/>
                          <a:cs typeface="Calibri" pitchFamily="34" charset="-120"/>
                        </a:rPr>
                        <a:t>Tab</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250" dirty="0">
                          <a:solidFill>
                            <a:srgbClr val="3A464C"/>
                          </a:solidFill>
                          <a:latin typeface="Calibri" pitchFamily="34" charset="0"/>
                          <a:ea typeface="Calibri" pitchFamily="34" charset="-122"/>
                          <a:cs typeface="Calibri" pitchFamily="34" charset="-120"/>
                        </a:rPr>
                        <a:t>komut, dosya ya da dizin adını tamamlar</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250" b="1" dirty="0">
                          <a:solidFill>
                            <a:srgbClr val="3A464C"/>
                          </a:solidFill>
                          <a:latin typeface="Calibri" pitchFamily="34" charset="0"/>
                          <a:ea typeface="Calibri" pitchFamily="34" charset="-122"/>
                          <a:cs typeface="Calibri" pitchFamily="34" charset="-120"/>
                        </a:rPr>
                        <a:t>Tab Tab</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250" dirty="0">
                          <a:solidFill>
                            <a:srgbClr val="3A464C"/>
                          </a:solidFill>
                          <a:latin typeface="Calibri" pitchFamily="34" charset="0"/>
                          <a:ea typeface="Calibri" pitchFamily="34" charset="-122"/>
                          <a:cs typeface="Calibri" pitchFamily="34" charset="-120"/>
                        </a:rPr>
                        <a:t>olası bütün tamamlamaları listeler</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250" b="1" dirty="0">
                          <a:solidFill>
                            <a:srgbClr val="3A464C"/>
                          </a:solidFill>
                          <a:latin typeface="Calibri" pitchFamily="34" charset="0"/>
                          <a:ea typeface="Calibri" pitchFamily="34" charset="-122"/>
                          <a:cs typeface="Calibri" pitchFamily="34" charset="-120"/>
                        </a:rPr>
                        <a:t>↑ / ↓</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250" dirty="0">
                          <a:solidFill>
                            <a:srgbClr val="3A464C"/>
                          </a:solidFill>
                          <a:latin typeface="Calibri" pitchFamily="34" charset="0"/>
                          <a:ea typeface="Calibri" pitchFamily="34" charset="-122"/>
                          <a:cs typeface="Calibri" pitchFamily="34" charset="-120"/>
                        </a:rPr>
                        <a:t>geçmişteki önceki / sonraki komut</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250" b="1" dirty="0">
                          <a:solidFill>
                            <a:srgbClr val="3A464C"/>
                          </a:solidFill>
                          <a:latin typeface="Calibri" pitchFamily="34" charset="0"/>
                          <a:ea typeface="Calibri" pitchFamily="34" charset="-122"/>
                          <a:cs typeface="Calibri" pitchFamily="34" charset="-120"/>
                        </a:rPr>
                        <a:t>history</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250" dirty="0">
                          <a:solidFill>
                            <a:srgbClr val="3A464C"/>
                          </a:solidFill>
                          <a:latin typeface="Calibri" pitchFamily="34" charset="0"/>
                          <a:ea typeface="Calibri" pitchFamily="34" charset="-122"/>
                          <a:cs typeface="Calibri" pitchFamily="34" charset="-120"/>
                        </a:rPr>
                        <a:t>komutlarınızın numaralı listesi</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250" b="1" dirty="0">
                          <a:solidFill>
                            <a:srgbClr val="3A464C"/>
                          </a:solidFill>
                          <a:latin typeface="Calibri" pitchFamily="34" charset="0"/>
                          <a:ea typeface="Calibri" pitchFamily="34" charset="-122"/>
                          <a:cs typeface="Calibri" pitchFamily="34" charset="-120"/>
                        </a:rPr>
                        <a:t>!!  ·  !n</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250" dirty="0">
                          <a:solidFill>
                            <a:srgbClr val="3A464C"/>
                          </a:solidFill>
                          <a:latin typeface="Calibri" pitchFamily="34" charset="0"/>
                          <a:ea typeface="Calibri" pitchFamily="34" charset="-122"/>
                          <a:cs typeface="Calibri" pitchFamily="34" charset="-120"/>
                        </a:rPr>
                        <a:t>son komutu tekrarla  ·  n numaralı komutu</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250" b="1" dirty="0">
                          <a:solidFill>
                            <a:srgbClr val="3A464C"/>
                          </a:solidFill>
                          <a:latin typeface="Calibri" pitchFamily="34" charset="0"/>
                          <a:ea typeface="Calibri" pitchFamily="34" charset="-122"/>
                          <a:cs typeface="Calibri" pitchFamily="34" charset="-120"/>
                        </a:rPr>
                        <a:t>Ctrl+C</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250" dirty="0">
                          <a:solidFill>
                            <a:srgbClr val="3A464C"/>
                          </a:solidFill>
                          <a:latin typeface="Calibri" pitchFamily="34" charset="0"/>
                          <a:ea typeface="Calibri" pitchFamily="34" charset="-122"/>
                          <a:cs typeface="Calibri" pitchFamily="34" charset="-120"/>
                        </a:rPr>
                        <a:t>çalışan komutu keser (durdurur)</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250" b="1" dirty="0">
                          <a:solidFill>
                            <a:srgbClr val="3A464C"/>
                          </a:solidFill>
                          <a:latin typeface="Calibri" pitchFamily="34" charset="0"/>
                          <a:ea typeface="Calibri" pitchFamily="34" charset="-122"/>
                          <a:cs typeface="Calibri" pitchFamily="34" charset="-120"/>
                        </a:rPr>
                        <a:t>Ctrl+L</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250" dirty="0">
                          <a:solidFill>
                            <a:srgbClr val="3A464C"/>
                          </a:solidFill>
                          <a:latin typeface="Calibri" pitchFamily="34" charset="0"/>
                          <a:ea typeface="Calibri" pitchFamily="34" charset="-122"/>
                          <a:cs typeface="Calibri" pitchFamily="34" charset="-120"/>
                        </a:rPr>
                        <a:t>ekranı temizler (clear gibi)</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250" b="1" dirty="0">
                          <a:solidFill>
                            <a:srgbClr val="3A464C"/>
                          </a:solidFill>
                          <a:latin typeface="Calibri" pitchFamily="34" charset="0"/>
                          <a:ea typeface="Calibri" pitchFamily="34" charset="-122"/>
                          <a:cs typeface="Calibri" pitchFamily="34" charset="-120"/>
                        </a:rPr>
                        <a:t>Ctrl+A / Ctrl+E</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250" dirty="0">
                          <a:solidFill>
                            <a:srgbClr val="3A464C"/>
                          </a:solidFill>
                          <a:latin typeface="Calibri" pitchFamily="34" charset="0"/>
                          <a:ea typeface="Calibri" pitchFamily="34" charset="-122"/>
                          <a:cs typeface="Calibri" pitchFamily="34" charset="-120"/>
                        </a:rPr>
                        <a:t>satırın başına / sonuna atlar</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KOPYA KÂĞIDI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9. Hafta Komut Başvurusu</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9  ·  33</a:t>
            </a:r>
            <a:endParaRPr lang="tr-TR" sz="9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1691640"/>
                <a:gridCol w="3840480"/>
                <a:gridCol w="1783080"/>
                <a:gridCol w="3794760"/>
              </a:tblGrid>
              <a:tr h="0">
                <a:tc>
                  <a:txBody>
                    <a:bodyPr/>
                    <a:lstStyle/>
                    <a:p>
                      <a:pPr indent="0" marL="0">
                        <a:buNone/>
                      </a:pPr>
                      <a:r>
                        <a:rPr lang="tr-TR" sz="1400" b="1" dirty="0">
                          <a:solidFill>
                            <a:srgbClr val="FFFFFF"/>
                          </a:solidFill>
                          <a:latin typeface="Cambria" pitchFamily="34" charset="0"/>
                          <a:ea typeface="Cambria" pitchFamily="34" charset="-122"/>
                          <a:cs typeface="Cambria" pitchFamily="34" charset="-120"/>
                        </a:rPr>
                        <a:t>Komut</a:t>
                      </a:r>
                      <a:endParaRPr lang="tr-TR" sz="14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400" b="1" dirty="0">
                          <a:solidFill>
                            <a:srgbClr val="FFFFFF"/>
                          </a:solidFill>
                          <a:latin typeface="Cambria" pitchFamily="34" charset="0"/>
                          <a:ea typeface="Cambria" pitchFamily="34" charset="-122"/>
                          <a:cs typeface="Cambria" pitchFamily="34" charset="-120"/>
                        </a:rPr>
                        <a:t>Amaç</a:t>
                      </a:r>
                      <a:endParaRPr lang="tr-TR" sz="14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400" b="1" dirty="0">
                          <a:solidFill>
                            <a:srgbClr val="FFFFFF"/>
                          </a:solidFill>
                          <a:latin typeface="Cambria" pitchFamily="34" charset="0"/>
                          <a:ea typeface="Cambria" pitchFamily="34" charset="-122"/>
                          <a:cs typeface="Cambria" pitchFamily="34" charset="-120"/>
                        </a:rPr>
                        <a:t>Komut</a:t>
                      </a:r>
                      <a:endParaRPr lang="tr-TR" sz="14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400" b="1" dirty="0">
                          <a:solidFill>
                            <a:srgbClr val="FFFFFF"/>
                          </a:solidFill>
                          <a:latin typeface="Cambria" pitchFamily="34" charset="0"/>
                          <a:ea typeface="Cambria" pitchFamily="34" charset="-122"/>
                          <a:cs typeface="Cambria" pitchFamily="34" charset="-120"/>
                        </a:rPr>
                        <a:t>Amaç</a:t>
                      </a:r>
                      <a:endParaRPr lang="tr-TR" sz="14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300" b="1" dirty="0">
                          <a:solidFill>
                            <a:srgbClr val="3A464C"/>
                          </a:solidFill>
                          <a:latin typeface="Calibri" pitchFamily="34" charset="0"/>
                          <a:ea typeface="Calibri" pitchFamily="34" charset="-122"/>
                          <a:cs typeface="Calibri" pitchFamily="34" charset="-120"/>
                        </a:rPr>
                        <a:t>whoami</a:t>
                      </a:r>
                      <a:endParaRPr lang="tr-TR"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00" dirty="0">
                          <a:solidFill>
                            <a:srgbClr val="3A464C"/>
                          </a:solidFill>
                          <a:latin typeface="Calibri" pitchFamily="34" charset="0"/>
                          <a:ea typeface="Calibri" pitchFamily="34" charset="-122"/>
                          <a:cs typeface="Calibri" pitchFamily="34" charset="-120"/>
                        </a:rPr>
                        <a:t>kullanıcı adınızı yazar</a:t>
                      </a:r>
                      <a:endParaRPr lang="tr-TR"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00" dirty="0">
                          <a:solidFill>
                            <a:srgbClr val="3A464C"/>
                          </a:solidFill>
                          <a:latin typeface="Calibri" pitchFamily="34" charset="0"/>
                          <a:ea typeface="Calibri" pitchFamily="34" charset="-122"/>
                          <a:cs typeface="Calibri" pitchFamily="34" charset="-120"/>
                        </a:rPr>
                        <a:t>pwd</a:t>
                      </a:r>
                      <a:endParaRPr lang="tr-TR"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00" dirty="0">
                          <a:solidFill>
                            <a:srgbClr val="3A464C"/>
                          </a:solidFill>
                          <a:latin typeface="Calibri" pitchFamily="34" charset="0"/>
                          <a:ea typeface="Calibri" pitchFamily="34" charset="-122"/>
                          <a:cs typeface="Calibri" pitchFamily="34" charset="-120"/>
                        </a:rPr>
                        <a:t>çalışma dizinini yazar</a:t>
                      </a:r>
                      <a:endParaRPr lang="tr-TR"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300" b="1" dirty="0">
                          <a:solidFill>
                            <a:srgbClr val="3A464C"/>
                          </a:solidFill>
                          <a:latin typeface="Calibri" pitchFamily="34" charset="0"/>
                          <a:ea typeface="Calibri" pitchFamily="34" charset="-122"/>
                          <a:cs typeface="Calibri" pitchFamily="34" charset="-120"/>
                        </a:rPr>
                        <a:t>hostname</a:t>
                      </a:r>
                      <a:endParaRPr lang="tr-TR"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00" dirty="0">
                          <a:solidFill>
                            <a:srgbClr val="3A464C"/>
                          </a:solidFill>
                          <a:latin typeface="Calibri" pitchFamily="34" charset="0"/>
                          <a:ea typeface="Calibri" pitchFamily="34" charset="-122"/>
                          <a:cs typeface="Calibri" pitchFamily="34" charset="-120"/>
                        </a:rPr>
                        <a:t>bilgisayarın adını yazar</a:t>
                      </a:r>
                      <a:endParaRPr lang="tr-TR"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00" dirty="0">
                          <a:solidFill>
                            <a:srgbClr val="3A464C"/>
                          </a:solidFill>
                          <a:latin typeface="Calibri" pitchFamily="34" charset="0"/>
                          <a:ea typeface="Calibri" pitchFamily="34" charset="-122"/>
                          <a:cs typeface="Calibri" pitchFamily="34" charset="-120"/>
                        </a:rPr>
                        <a:t>ls [-laRhF] [dizin]</a:t>
                      </a:r>
                      <a:endParaRPr lang="tr-TR"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00" dirty="0">
                          <a:solidFill>
                            <a:srgbClr val="3A464C"/>
                          </a:solidFill>
                          <a:latin typeface="Calibri" pitchFamily="34" charset="0"/>
                          <a:ea typeface="Calibri" pitchFamily="34" charset="-122"/>
                          <a:cs typeface="Calibri" pitchFamily="34" charset="-120"/>
                        </a:rPr>
                        <a:t>bir dizini listeler</a:t>
                      </a:r>
                      <a:endParaRPr lang="tr-TR"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300" b="1" dirty="0">
                          <a:solidFill>
                            <a:srgbClr val="3A464C"/>
                          </a:solidFill>
                          <a:latin typeface="Calibri" pitchFamily="34" charset="0"/>
                          <a:ea typeface="Calibri" pitchFamily="34" charset="-122"/>
                          <a:cs typeface="Calibri" pitchFamily="34" charset="-120"/>
                        </a:rPr>
                        <a:t>date</a:t>
                      </a:r>
                      <a:endParaRPr lang="tr-TR"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00" dirty="0">
                          <a:solidFill>
                            <a:srgbClr val="3A464C"/>
                          </a:solidFill>
                          <a:latin typeface="Calibri" pitchFamily="34" charset="0"/>
                          <a:ea typeface="Calibri" pitchFamily="34" charset="-122"/>
                          <a:cs typeface="Calibri" pitchFamily="34" charset="-120"/>
                        </a:rPr>
                        <a:t>tarih ve saati yazar</a:t>
                      </a:r>
                      <a:endParaRPr lang="tr-TR"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00" dirty="0">
                          <a:solidFill>
                            <a:srgbClr val="3A464C"/>
                          </a:solidFill>
                          <a:latin typeface="Calibri" pitchFamily="34" charset="0"/>
                          <a:ea typeface="Calibri" pitchFamily="34" charset="-122"/>
                          <a:cs typeface="Calibri" pitchFamily="34" charset="-120"/>
                        </a:rPr>
                        <a:t>cd [dizin]</a:t>
                      </a:r>
                      <a:endParaRPr lang="tr-TR"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00" dirty="0">
                          <a:solidFill>
                            <a:srgbClr val="3A464C"/>
                          </a:solidFill>
                          <a:latin typeface="Calibri" pitchFamily="34" charset="0"/>
                          <a:ea typeface="Calibri" pitchFamily="34" charset="-122"/>
                          <a:cs typeface="Calibri" pitchFamily="34" charset="-120"/>
                        </a:rPr>
                        <a:t>dizin değiştirir (~ . .. - /)</a:t>
                      </a:r>
                      <a:endParaRPr lang="tr-TR"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300" b="1" dirty="0">
                          <a:solidFill>
                            <a:srgbClr val="3A464C"/>
                          </a:solidFill>
                          <a:latin typeface="Calibri" pitchFamily="34" charset="0"/>
                          <a:ea typeface="Calibri" pitchFamily="34" charset="-122"/>
                          <a:cs typeface="Calibri" pitchFamily="34" charset="-120"/>
                        </a:rPr>
                        <a:t>echo metin</a:t>
                      </a:r>
                      <a:endParaRPr lang="tr-TR"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00" dirty="0">
                          <a:solidFill>
                            <a:srgbClr val="3A464C"/>
                          </a:solidFill>
                          <a:latin typeface="Calibri" pitchFamily="34" charset="0"/>
                          <a:ea typeface="Calibri" pitchFamily="34" charset="-122"/>
                          <a:cs typeface="Calibri" pitchFamily="34" charset="-120"/>
                        </a:rPr>
                        <a:t>metni yazar</a:t>
                      </a:r>
                      <a:endParaRPr lang="tr-TR"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00" dirty="0">
                          <a:solidFill>
                            <a:srgbClr val="3A464C"/>
                          </a:solidFill>
                          <a:latin typeface="Calibri" pitchFamily="34" charset="0"/>
                          <a:ea typeface="Calibri" pitchFamily="34" charset="-122"/>
                          <a:cs typeface="Calibri" pitchFamily="34" charset="-120"/>
                        </a:rPr>
                        <a:t>tree [dizin]</a:t>
                      </a:r>
                      <a:endParaRPr lang="tr-TR"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00" dirty="0">
                          <a:solidFill>
                            <a:srgbClr val="3A464C"/>
                          </a:solidFill>
                          <a:latin typeface="Calibri" pitchFamily="34" charset="0"/>
                          <a:ea typeface="Calibri" pitchFamily="34" charset="-122"/>
                          <a:cs typeface="Calibri" pitchFamily="34" charset="-120"/>
                        </a:rPr>
                        <a:t>dizin ağacını çizer</a:t>
                      </a:r>
                      <a:endParaRPr lang="tr-TR"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300" b="1" dirty="0">
                          <a:solidFill>
                            <a:srgbClr val="3A464C"/>
                          </a:solidFill>
                          <a:latin typeface="Calibri" pitchFamily="34" charset="0"/>
                          <a:ea typeface="Calibri" pitchFamily="34" charset="-122"/>
                          <a:cs typeface="Calibri" pitchFamily="34" charset="-120"/>
                        </a:rPr>
                        <a:t>uname -a</a:t>
                      </a:r>
                      <a:endParaRPr lang="tr-TR"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00" dirty="0">
                          <a:solidFill>
                            <a:srgbClr val="3A464C"/>
                          </a:solidFill>
                          <a:latin typeface="Calibri" pitchFamily="34" charset="0"/>
                          <a:ea typeface="Calibri" pitchFamily="34" charset="-122"/>
                          <a:cs typeface="Calibri" pitchFamily="34" charset="-120"/>
                        </a:rPr>
                        <a:t>çekirdek adı, sürümü, makine</a:t>
                      </a:r>
                      <a:endParaRPr lang="tr-TR"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00" dirty="0">
                          <a:solidFill>
                            <a:srgbClr val="3A464C"/>
                          </a:solidFill>
                          <a:latin typeface="Calibri" pitchFamily="34" charset="0"/>
                          <a:ea typeface="Calibri" pitchFamily="34" charset="-122"/>
                          <a:cs typeface="Calibri" pitchFamily="34" charset="-120"/>
                        </a:rPr>
                        <a:t>cat dosya</a:t>
                      </a:r>
                      <a:endParaRPr lang="tr-TR"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00" dirty="0">
                          <a:solidFill>
                            <a:srgbClr val="3A464C"/>
                          </a:solidFill>
                          <a:latin typeface="Calibri" pitchFamily="34" charset="0"/>
                          <a:ea typeface="Calibri" pitchFamily="34" charset="-122"/>
                          <a:cs typeface="Calibri" pitchFamily="34" charset="-120"/>
                        </a:rPr>
                        <a:t>bir dosyayı yazar (10. hafta)</a:t>
                      </a:r>
                      <a:endParaRPr lang="tr-TR"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300" b="1" dirty="0">
                          <a:solidFill>
                            <a:srgbClr val="3A464C"/>
                          </a:solidFill>
                          <a:latin typeface="Calibri" pitchFamily="34" charset="0"/>
                          <a:ea typeface="Calibri" pitchFamily="34" charset="-122"/>
                          <a:cs typeface="Calibri" pitchFamily="34" charset="-120"/>
                        </a:rPr>
                        <a:t>clear</a:t>
                      </a:r>
                      <a:endParaRPr lang="tr-TR"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00" dirty="0">
                          <a:solidFill>
                            <a:srgbClr val="3A464C"/>
                          </a:solidFill>
                          <a:latin typeface="Calibri" pitchFamily="34" charset="0"/>
                          <a:ea typeface="Calibri" pitchFamily="34" charset="-122"/>
                          <a:cs typeface="Calibri" pitchFamily="34" charset="-120"/>
                        </a:rPr>
                        <a:t>ekranı temizler (Ctrl+L)</a:t>
                      </a:r>
                      <a:endParaRPr lang="tr-TR"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00" dirty="0">
                          <a:solidFill>
                            <a:srgbClr val="3A464C"/>
                          </a:solidFill>
                          <a:latin typeface="Calibri" pitchFamily="34" charset="0"/>
                          <a:ea typeface="Calibri" pitchFamily="34" charset="-122"/>
                          <a:cs typeface="Calibri" pitchFamily="34" charset="-120"/>
                        </a:rPr>
                        <a:t>type komut</a:t>
                      </a:r>
                      <a:endParaRPr lang="tr-TR"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00" dirty="0">
                          <a:solidFill>
                            <a:srgbClr val="3A464C"/>
                          </a:solidFill>
                          <a:latin typeface="Calibri" pitchFamily="34" charset="0"/>
                          <a:ea typeface="Calibri" pitchFamily="34" charset="-122"/>
                          <a:cs typeface="Calibri" pitchFamily="34" charset="-120"/>
                        </a:rPr>
                        <a:t>yerleşik mi, program mı?</a:t>
                      </a:r>
                      <a:endParaRPr lang="tr-TR"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300" b="1" dirty="0">
                          <a:solidFill>
                            <a:srgbClr val="3A464C"/>
                          </a:solidFill>
                          <a:latin typeface="Calibri" pitchFamily="34" charset="0"/>
                          <a:ea typeface="Calibri" pitchFamily="34" charset="-122"/>
                          <a:cs typeface="Calibri" pitchFamily="34" charset="-120"/>
                        </a:rPr>
                        <a:t>history</a:t>
                      </a:r>
                      <a:endParaRPr lang="tr-TR"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00" dirty="0">
                          <a:solidFill>
                            <a:srgbClr val="3A464C"/>
                          </a:solidFill>
                          <a:latin typeface="Calibri" pitchFamily="34" charset="0"/>
                          <a:ea typeface="Calibri" pitchFamily="34" charset="-122"/>
                          <a:cs typeface="Calibri" pitchFamily="34" charset="-120"/>
                        </a:rPr>
                        <a:t>önceki komutları listeler</a:t>
                      </a:r>
                      <a:endParaRPr lang="tr-TR"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00" dirty="0">
                          <a:solidFill>
                            <a:srgbClr val="3A464C"/>
                          </a:solidFill>
                          <a:latin typeface="Calibri" pitchFamily="34" charset="0"/>
                          <a:ea typeface="Calibri" pitchFamily="34" charset="-122"/>
                          <a:cs typeface="Calibri" pitchFamily="34" charset="-120"/>
                        </a:rPr>
                        <a:t>komut --help</a:t>
                      </a:r>
                      <a:endParaRPr lang="tr-TR"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00" dirty="0">
                          <a:solidFill>
                            <a:srgbClr val="3A464C"/>
                          </a:solidFill>
                          <a:latin typeface="Calibri" pitchFamily="34" charset="0"/>
                          <a:ea typeface="Calibri" pitchFamily="34" charset="-122"/>
                          <a:cs typeface="Calibri" pitchFamily="34" charset="-120"/>
                        </a:rPr>
                        <a:t>kısa yardım</a:t>
                      </a:r>
                      <a:endParaRPr lang="tr-TR"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300" b="1" dirty="0">
                          <a:solidFill>
                            <a:srgbClr val="3A464C"/>
                          </a:solidFill>
                          <a:latin typeface="Calibri" pitchFamily="34" charset="0"/>
                          <a:ea typeface="Calibri" pitchFamily="34" charset="-122"/>
                          <a:cs typeface="Calibri" pitchFamily="34" charset="-120"/>
                        </a:rPr>
                        <a:t>!!  !n</a:t>
                      </a:r>
                      <a:endParaRPr lang="tr-TR"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00" dirty="0">
                          <a:solidFill>
                            <a:srgbClr val="3A464C"/>
                          </a:solidFill>
                          <a:latin typeface="Calibri" pitchFamily="34" charset="0"/>
                          <a:ea typeface="Calibri" pitchFamily="34" charset="-122"/>
                          <a:cs typeface="Calibri" pitchFamily="34" charset="-120"/>
                        </a:rPr>
                        <a:t>bir komutu tekrarlar</a:t>
                      </a:r>
                      <a:endParaRPr lang="tr-TR"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00" dirty="0">
                          <a:solidFill>
                            <a:srgbClr val="3A464C"/>
                          </a:solidFill>
                          <a:latin typeface="Calibri" pitchFamily="34" charset="0"/>
                          <a:ea typeface="Calibri" pitchFamily="34" charset="-122"/>
                          <a:cs typeface="Calibri" pitchFamily="34" charset="-120"/>
                        </a:rPr>
                        <a:t>man · help komut</a:t>
                      </a:r>
                      <a:endParaRPr lang="tr-TR"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00" dirty="0">
                          <a:solidFill>
                            <a:srgbClr val="3A464C"/>
                          </a:solidFill>
                          <a:latin typeface="Calibri" pitchFamily="34" charset="0"/>
                          <a:ea typeface="Calibri" pitchFamily="34" charset="-122"/>
                          <a:cs typeface="Calibri" pitchFamily="34" charset="-120"/>
                        </a:rPr>
                        <a:t>kılavuz · yerleşik yardımı</a:t>
                      </a:r>
                      <a:endParaRPr lang="tr-TR"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DERSTE LABORATUVAR · 30–40 DAKİKA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Laboratuvar A Bölümü: ~/lab'da Hazine Avı</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9  ·  34</a:t>
            </a:r>
            <a:endParaRPr lang="tr-TR" sz="900" dirty="0"/>
          </a:p>
        </p:txBody>
      </p:sp>
      <p:sp>
        <p:nvSpPr>
          <p:cNvPr id="6" name="Shape 4"/>
          <p:cNvSpPr/>
          <p:nvPr/>
        </p:nvSpPr>
        <p:spPr>
          <a:xfrm>
            <a:off x="548640" y="1508760"/>
            <a:ext cx="6675120" cy="4754880"/>
          </a:xfrm>
          <a:prstGeom prst="roundRect">
            <a:avLst>
              <a:gd name="adj" fmla="val 1154"/>
            </a:avLst>
          </a:prstGeom>
          <a:solidFill>
            <a:srgbClr val="F2F2F2"/>
          </a:solidFill>
          <a:ln/>
          <a:effectLst>
            <a:outerShdw sx="100000" sy="100000" kx="0" ky="0" algn="bl" rotWithShape="0" blurRad="101600" dist="25400" dir="5400000">
              <a:srgbClr val="000000">
                <a:alpha val="12000"/>
              </a:srgbClr>
            </a:outerShdw>
          </a:effectLst>
        </p:spPr>
      </p:sp>
      <p:sp>
        <p:nvSpPr>
          <p:cNvPr id="7" name="Text 5"/>
          <p:cNvSpPr txBox="1"/>
          <p:nvPr/>
        </p:nvSpPr>
        <p:spPr>
          <a:xfrm>
            <a:off x="777240" y="1691640"/>
            <a:ext cx="621792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İpuçlarını izleyin — yalnızca cd, ls, pwd, cat</a:t>
            </a:r>
            <a:endParaRPr lang="tr-TR" sz="1500" dirty="0"/>
          </a:p>
        </p:txBody>
      </p:sp>
      <p:sp>
        <p:nvSpPr>
          <p:cNvPr id="8" name="Text 6"/>
          <p:cNvSpPr txBox="1"/>
          <p:nvPr/>
        </p:nvSpPr>
        <p:spPr>
          <a:xfrm>
            <a:off x="777240" y="2148840"/>
            <a:ext cx="6217920" cy="3977640"/>
          </a:xfrm>
          <a:prstGeom prst="rect">
            <a:avLst/>
          </a:prstGeom>
          <a:noFill/>
          <a:ln/>
        </p:spPr>
        <p:txBody>
          <a:bodyPr wrap="square" lIns="0" tIns="0" rIns="0" bIns="0" rtlCol="0" anchor="t"/>
          <a:lstStyle/>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Başlangıç:</a:t>
            </a:r>
            <a:r>
              <a:rPr lang="tr-TR" sz="1350" dirty="0">
                <a:solidFill>
                  <a:srgbClr val="3A464C"/>
                </a:solidFill>
                <a:latin typeface="Calibri" pitchFamily="34" charset="0"/>
                <a:ea typeface="Calibri" pitchFamily="34" charset="-122"/>
                <a:cs typeface="Calibri" pitchFamily="34" charset="-120"/>
              </a:rPr>
              <a:t> lab'ı yeniden oluşturun (bash mcmp117_lab_setup.sh), sonra cd ~/lab.</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İpucu 1:</a:t>
            </a:r>
            <a:r>
              <a:rPr lang="tr-TR" sz="1350" dirty="0">
                <a:solidFill>
                  <a:srgbClr val="3A464C"/>
                </a:solidFill>
                <a:latin typeface="Calibri" pitchFamily="34" charset="0"/>
                <a:ea typeface="Calibri" pitchFamily="34" charset="-122"/>
                <a:cs typeface="Calibri" pitchFamily="34" charset="-120"/>
              </a:rPr>
              <a:t> README.txt'yi okuyun. "a small C program" hangi dizinde? Oraya gidin.</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İpucu 2:</a:t>
            </a:r>
            <a:r>
              <a:rPr lang="tr-TR" sz="1350" dirty="0">
                <a:solidFill>
                  <a:srgbClr val="3A464C"/>
                </a:solidFill>
                <a:latin typeface="Calibri" pitchFamily="34" charset="0"/>
                <a:ea typeface="Calibri" pitchFamily="34" charset="-122"/>
                <a:cs typeface="Calibri" pitchFamily="34" charset="-120"/>
              </a:rPr>
              <a:t> dizini listeleyin ve C dosyasını okuyun. Program ne yazar?</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İpucu 3:</a:t>
            </a:r>
            <a:r>
              <a:rPr lang="tr-TR" sz="1350" dirty="0">
                <a:solidFill>
                  <a:srgbClr val="3A464C"/>
                </a:solidFill>
                <a:latin typeface="Calibri" pitchFamily="34" charset="0"/>
                <a:ea typeface="Calibri" pitchFamily="34" charset="-122"/>
                <a:cs typeface="Calibri" pitchFamily="34" charset="-120"/>
              </a:rPr>
              <a:t> TEK bir göreli cd ile kısa metin belgelerinin dizinine geçin. Komutu yazın.</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İpucu 4:</a:t>
            </a:r>
            <a:r>
              <a:rPr lang="tr-TR" sz="1350" dirty="0">
                <a:solidFill>
                  <a:srgbClr val="3A464C"/>
                </a:solidFill>
                <a:latin typeface="Calibri" pitchFamily="34" charset="0"/>
                <a:ea typeface="Calibri" pitchFamily="34" charset="-122"/>
                <a:cs typeface="Calibri" pitchFamily="34" charset="-120"/>
              </a:rPr>
              <a:t> oradaki bir dosyanın adında boşluk var. Okuyun: son satırı paroladır.</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İpucu 5:</a:t>
            </a:r>
            <a:r>
              <a:rPr lang="tr-TR" sz="1350" dirty="0">
                <a:solidFill>
                  <a:srgbClr val="3A464C"/>
                </a:solidFill>
                <a:latin typeface="Calibri" pitchFamily="34" charset="0"/>
                <a:ea typeface="Calibri" pitchFamily="34" charset="-122"/>
                <a:cs typeface="Calibri" pitchFamily="34" charset="-120"/>
              </a:rPr>
              <a:t> orada gizli bir dosya da var. Hangi düzenleyiciyi ayarlıyor?</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Bitiş:</a:t>
            </a:r>
            <a:r>
              <a:rPr lang="tr-TR" sz="1350" dirty="0">
                <a:solidFill>
                  <a:srgbClr val="3A464C"/>
                </a:solidFill>
                <a:latin typeface="Calibri" pitchFamily="34" charset="0"/>
                <a:ea typeface="Calibri" pitchFamily="34" charset="-122"/>
                <a:cs typeface="Calibri" pitchFamily="34" charset="-120"/>
              </a:rPr>
              <a:t> tek bir göreli cd ile projects/beta/src'ye gidin, pwd çalıştırın.</a:t>
            </a:r>
            <a:endParaRPr lang="tr-TR" sz="1350" dirty="0"/>
          </a:p>
        </p:txBody>
      </p:sp>
      <p:sp>
        <p:nvSpPr>
          <p:cNvPr id="9" name="Shape 7"/>
          <p:cNvSpPr/>
          <p:nvPr/>
        </p:nvSpPr>
        <p:spPr>
          <a:xfrm>
            <a:off x="7452360" y="1508760"/>
            <a:ext cx="4206240" cy="4754880"/>
          </a:xfrm>
          <a:prstGeom prst="roundRect">
            <a:avLst>
              <a:gd name="adj" fmla="val 1304"/>
            </a:avLst>
          </a:prstGeom>
          <a:solidFill>
            <a:srgbClr val="D7E9E6"/>
          </a:solidFill>
          <a:ln/>
          <a:effectLst>
            <a:outerShdw sx="100000" sy="100000" kx="0" ky="0" algn="bl" rotWithShape="0" blurRad="101600" dist="25400" dir="5400000">
              <a:srgbClr val="000000">
                <a:alpha val="12000"/>
              </a:srgbClr>
            </a:outerShdw>
          </a:effectLst>
        </p:spPr>
      </p:sp>
      <p:sp>
        <p:nvSpPr>
          <p:cNvPr id="10" name="Text 8"/>
          <p:cNvSpPr txBox="1"/>
          <p:nvPr/>
        </p:nvSpPr>
        <p:spPr>
          <a:xfrm>
            <a:off x="7680960" y="1691640"/>
            <a:ext cx="37490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Teslim (kâğıtta ya da Telegram'da)</a:t>
            </a:r>
            <a:endParaRPr lang="tr-TR" sz="1500" dirty="0"/>
          </a:p>
        </p:txBody>
      </p:sp>
      <p:sp>
        <p:nvSpPr>
          <p:cNvPr id="11" name="Text 9"/>
          <p:cNvSpPr txBox="1"/>
          <p:nvPr/>
        </p:nvSpPr>
        <p:spPr>
          <a:xfrm>
            <a:off x="7680960" y="2148840"/>
            <a:ext cx="3749040" cy="397764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Her ipucu için kullandığınız komut.</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2., 4. ve 5. ipuçlarının yanıtları.</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Son pwd çıktısı.</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Boşluklu adlar tırnak ister: cat "final report.txt"</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Takıldınız mı? ls -a, pwd ve Tab dostunuzdur.</a:t>
            </a:r>
            <a:endParaRPr lang="tr-TR" sz="13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DERSTE LABORATUVAR</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Laboratuvar B Bölümü: Bak, Say, Açıkla</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9  ·  35</a:t>
            </a:r>
            <a:endParaRPr lang="tr-TR" sz="900" dirty="0"/>
          </a:p>
        </p:txBody>
      </p:sp>
      <p:sp>
        <p:nvSpPr>
          <p:cNvPr id="6" name="Shape 4"/>
          <p:cNvSpPr/>
          <p:nvPr/>
        </p:nvSpPr>
        <p:spPr>
          <a:xfrm>
            <a:off x="548640" y="1508760"/>
            <a:ext cx="355092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sp>
      <p:sp>
        <p:nvSpPr>
          <p:cNvPr id="7" name="Text 5"/>
          <p:cNvSpPr txBox="1"/>
          <p:nvPr/>
        </p:nvSpPr>
        <p:spPr>
          <a:xfrm>
            <a:off x="777240" y="169164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B1 · Sayın</a:t>
            </a:r>
            <a:endParaRPr lang="tr-TR" sz="1600" dirty="0"/>
          </a:p>
        </p:txBody>
      </p:sp>
      <p:sp>
        <p:nvSpPr>
          <p:cNvPr id="8" name="Text 6"/>
          <p:cNvSpPr txBox="1"/>
          <p:nvPr/>
        </p:nvSpPr>
        <p:spPr>
          <a:xfrm>
            <a:off x="777240" y="2148840"/>
            <a:ext cx="3093720" cy="982980"/>
          </a:xfrm>
          <a:prstGeom prst="rect">
            <a:avLst/>
          </a:prstGeom>
          <a:noFill/>
          <a:ln/>
        </p:spPr>
        <p:txBody>
          <a:bodyPr wrap="square" lIns="0" tIns="0" rIns="0" bIns="0" rtlCol="0" anchor="t"/>
          <a:lstStyle/>
          <a:p>
            <a:pPr indent="0" marL="0">
              <a:spcAft>
                <a:spcPts val="400"/>
              </a:spcAft>
              <a:buNone/>
            </a:pPr>
            <a:r>
              <a:rPr lang="tr-TR" sz="1350" dirty="0">
                <a:solidFill>
                  <a:srgbClr val="3A464C"/>
                </a:solidFill>
                <a:latin typeface="Calibri" pitchFamily="34" charset="0"/>
                <a:ea typeface="Calibri" pitchFamily="34" charset="-122"/>
                <a:cs typeface="Calibri" pitchFamily="34" charset="-120"/>
              </a:rPr>
              <a:t>~/lab'da ls kaç girdi gösteriyor? Kaçı dizin? (ls -F ya da ls -l kullanın.)</a:t>
            </a:r>
            <a:endParaRPr lang="tr-TR" sz="1350" dirty="0"/>
          </a:p>
        </p:txBody>
      </p:sp>
      <p:sp>
        <p:nvSpPr>
          <p:cNvPr id="9" name="Shape 7"/>
          <p:cNvSpPr/>
          <p:nvPr/>
        </p:nvSpPr>
        <p:spPr>
          <a:xfrm>
            <a:off x="4328160" y="1508760"/>
            <a:ext cx="355092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sp>
      <p:sp>
        <p:nvSpPr>
          <p:cNvPr id="10" name="Text 8"/>
          <p:cNvSpPr txBox="1"/>
          <p:nvPr/>
        </p:nvSpPr>
        <p:spPr>
          <a:xfrm>
            <a:off x="4556760" y="169164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B2 · En büyük dosya</a:t>
            </a:r>
            <a:endParaRPr lang="tr-TR" sz="1600" dirty="0"/>
          </a:p>
        </p:txBody>
      </p:sp>
      <p:sp>
        <p:nvSpPr>
          <p:cNvPr id="11" name="Text 9"/>
          <p:cNvSpPr txBox="1"/>
          <p:nvPr/>
        </p:nvSpPr>
        <p:spPr>
          <a:xfrm>
            <a:off x="4556760" y="2148840"/>
            <a:ext cx="3093720" cy="982980"/>
          </a:xfrm>
          <a:prstGeom prst="rect">
            <a:avLst/>
          </a:prstGeom>
          <a:noFill/>
          <a:ln/>
        </p:spPr>
        <p:txBody>
          <a:bodyPr wrap="square" lIns="0" tIns="0" rIns="0" bIns="0" rtlCol="0" anchor="t"/>
          <a:lstStyle/>
          <a:p>
            <a:pPr indent="0" marL="0">
              <a:spcAft>
                <a:spcPts val="400"/>
              </a:spcAft>
              <a:buNone/>
            </a:pPr>
            <a:r>
              <a:rPr lang="tr-TR" sz="1350" dirty="0">
                <a:solidFill>
                  <a:srgbClr val="3A464C"/>
                </a:solidFill>
                <a:latin typeface="Calibri" pitchFamily="34" charset="0"/>
                <a:ea typeface="Calibri" pitchFamily="34" charset="-122"/>
                <a:cs typeface="Calibri" pitchFamily="34" charset="-120"/>
              </a:rPr>
              <a:t>docs içindeki en büyük dosya hangisi, kaç bayt? ls -lS docs ile doğrulayın.</a:t>
            </a:r>
            <a:endParaRPr lang="tr-TR" sz="1350" dirty="0"/>
          </a:p>
        </p:txBody>
      </p:sp>
      <p:sp>
        <p:nvSpPr>
          <p:cNvPr id="12" name="Shape 10"/>
          <p:cNvSpPr/>
          <p:nvPr/>
        </p:nvSpPr>
        <p:spPr>
          <a:xfrm>
            <a:off x="8107680" y="1508760"/>
            <a:ext cx="355092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8336280" y="169164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B3 · İnsan boyutları</a:t>
            </a:r>
            <a:endParaRPr lang="tr-TR" sz="1600" dirty="0"/>
          </a:p>
        </p:txBody>
      </p:sp>
      <p:sp>
        <p:nvSpPr>
          <p:cNvPr id="14" name="Text 12"/>
          <p:cNvSpPr txBox="1"/>
          <p:nvPr/>
        </p:nvSpPr>
        <p:spPr>
          <a:xfrm>
            <a:off x="8336280" y="2148840"/>
            <a:ext cx="3093720" cy="982980"/>
          </a:xfrm>
          <a:prstGeom prst="rect">
            <a:avLst/>
          </a:prstGeom>
          <a:noFill/>
          <a:ln/>
        </p:spPr>
        <p:txBody>
          <a:bodyPr wrap="square" lIns="0" tIns="0" rIns="0" bIns="0" rtlCol="0" anchor="t"/>
          <a:lstStyle/>
          <a:p>
            <a:pPr indent="0" marL="0">
              <a:spcAft>
                <a:spcPts val="400"/>
              </a:spcAft>
              <a:buNone/>
            </a:pPr>
            <a:r>
              <a:rPr lang="tr-TR" sz="1350" dirty="0">
                <a:solidFill>
                  <a:srgbClr val="3A464C"/>
                </a:solidFill>
                <a:latin typeface="Calibri" pitchFamily="34" charset="0"/>
                <a:ea typeface="Calibri" pitchFamily="34" charset="-122"/>
                <a:cs typeface="Calibri" pitchFamily="34" charset="-120"/>
              </a:rPr>
              <a:t>ls -l logs ve ls -lh logs: access.log'un iki boyutunu yazın ve K'yi açıklayın.</a:t>
            </a:r>
            <a:endParaRPr lang="tr-TR" sz="1350" dirty="0"/>
          </a:p>
        </p:txBody>
      </p:sp>
      <p:sp>
        <p:nvSpPr>
          <p:cNvPr id="15" name="Shape 13"/>
          <p:cNvSpPr/>
          <p:nvPr/>
        </p:nvSpPr>
        <p:spPr>
          <a:xfrm>
            <a:off x="548640" y="3497580"/>
            <a:ext cx="355092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sp>
      <p:sp>
        <p:nvSpPr>
          <p:cNvPr id="16" name="Text 14"/>
          <p:cNvSpPr txBox="1"/>
          <p:nvPr/>
        </p:nvSpPr>
        <p:spPr>
          <a:xfrm>
            <a:off x="777240" y="368046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B4 · Tahmin edin</a:t>
            </a:r>
            <a:endParaRPr lang="tr-TR" sz="1600" dirty="0"/>
          </a:p>
        </p:txBody>
      </p:sp>
      <p:sp>
        <p:nvSpPr>
          <p:cNvPr id="17" name="Text 15"/>
          <p:cNvSpPr txBox="1"/>
          <p:nvPr/>
        </p:nvSpPr>
        <p:spPr>
          <a:xfrm>
            <a:off x="777240" y="4137660"/>
            <a:ext cx="3093720" cy="982980"/>
          </a:xfrm>
          <a:prstGeom prst="rect">
            <a:avLst/>
          </a:prstGeom>
          <a:noFill/>
          <a:ln/>
        </p:spPr>
        <p:txBody>
          <a:bodyPr wrap="square" lIns="0" tIns="0" rIns="0" bIns="0" rtlCol="0" anchor="t"/>
          <a:lstStyle/>
          <a:p>
            <a:pPr indent="0" marL="0">
              <a:spcAft>
                <a:spcPts val="400"/>
              </a:spcAft>
              <a:buNone/>
            </a:pPr>
            <a:r>
              <a:rPr lang="tr-TR" sz="1350" dirty="0">
                <a:solidFill>
                  <a:srgbClr val="3A464C"/>
                </a:solidFill>
                <a:latin typeface="Calibri" pitchFamily="34" charset="0"/>
                <a:ea typeface="Calibri" pitchFamily="34" charset="-122"/>
                <a:cs typeface="Calibri" pitchFamily="34" charset="-120"/>
              </a:rPr>
              <a:t>~/lab/projects'ten: cd alpha; cd ../beta/src; cd ..; cd -   Şimdi neredesiniz? Önce tahmin edin, sonra kontrol edin.</a:t>
            </a:r>
            <a:endParaRPr lang="tr-TR" sz="1350" dirty="0"/>
          </a:p>
        </p:txBody>
      </p:sp>
      <p:sp>
        <p:nvSpPr>
          <p:cNvPr id="18" name="Shape 16"/>
          <p:cNvSpPr/>
          <p:nvPr/>
        </p:nvSpPr>
        <p:spPr>
          <a:xfrm>
            <a:off x="4328160" y="3497580"/>
            <a:ext cx="355092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sp>
      <p:sp>
        <p:nvSpPr>
          <p:cNvPr id="19" name="Text 17"/>
          <p:cNvSpPr txBox="1"/>
          <p:nvPr/>
        </p:nvSpPr>
        <p:spPr>
          <a:xfrm>
            <a:off x="4556760" y="368046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B5 · Sistem</a:t>
            </a:r>
            <a:endParaRPr lang="tr-TR" sz="1600" dirty="0"/>
          </a:p>
        </p:txBody>
      </p:sp>
      <p:sp>
        <p:nvSpPr>
          <p:cNvPr id="20" name="Text 18"/>
          <p:cNvSpPr txBox="1"/>
          <p:nvPr/>
        </p:nvSpPr>
        <p:spPr>
          <a:xfrm>
            <a:off x="4556760" y="4137660"/>
            <a:ext cx="3093720" cy="982980"/>
          </a:xfrm>
          <a:prstGeom prst="rect">
            <a:avLst/>
          </a:prstGeom>
          <a:noFill/>
          <a:ln/>
        </p:spPr>
        <p:txBody>
          <a:bodyPr wrap="square" lIns="0" tIns="0" rIns="0" bIns="0" rtlCol="0" anchor="t"/>
          <a:lstStyle/>
          <a:p>
            <a:pPr indent="0" marL="0">
              <a:spcAft>
                <a:spcPts val="400"/>
              </a:spcAft>
              <a:buNone/>
            </a:pPr>
            <a:r>
              <a:rPr lang="tr-TR" sz="1350" dirty="0">
                <a:solidFill>
                  <a:srgbClr val="3A464C"/>
                </a:solidFill>
                <a:latin typeface="Calibri" pitchFamily="34" charset="0"/>
                <a:ea typeface="Calibri" pitchFamily="34" charset="-122"/>
                <a:cs typeface="Calibri" pitchFamily="34" charset="-120"/>
              </a:rPr>
              <a:t>ls programı nerede? /bin aslında nedir? Hangi Ubuntu sürümü kurulu?</a:t>
            </a:r>
            <a:endParaRPr lang="tr-TR" sz="1350" dirty="0"/>
          </a:p>
        </p:txBody>
      </p:sp>
      <p:sp>
        <p:nvSpPr>
          <p:cNvPr id="21" name="Shape 19"/>
          <p:cNvSpPr/>
          <p:nvPr/>
        </p:nvSpPr>
        <p:spPr>
          <a:xfrm>
            <a:off x="8107680" y="3497580"/>
            <a:ext cx="355092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sp>
      <p:sp>
        <p:nvSpPr>
          <p:cNvPr id="22" name="Text 20"/>
          <p:cNvSpPr txBox="1"/>
          <p:nvPr/>
        </p:nvSpPr>
        <p:spPr>
          <a:xfrm>
            <a:off x="8336280" y="368046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B6 · Zorlu soru</a:t>
            </a:r>
            <a:endParaRPr lang="tr-TR" sz="1600" dirty="0"/>
          </a:p>
        </p:txBody>
      </p:sp>
      <p:sp>
        <p:nvSpPr>
          <p:cNvPr id="23" name="Text 21"/>
          <p:cNvSpPr txBox="1"/>
          <p:nvPr/>
        </p:nvSpPr>
        <p:spPr>
          <a:xfrm>
            <a:off x="8336280" y="4137660"/>
            <a:ext cx="3093720" cy="982980"/>
          </a:xfrm>
          <a:prstGeom prst="rect">
            <a:avLst/>
          </a:prstGeom>
          <a:noFill/>
          <a:ln/>
        </p:spPr>
        <p:txBody>
          <a:bodyPr wrap="square" lIns="0" tIns="0" rIns="0" bIns="0" rtlCol="0" anchor="t"/>
          <a:lstStyle/>
          <a:p>
            <a:pPr indent="0" marL="0">
              <a:spcAft>
                <a:spcPts val="400"/>
              </a:spcAft>
              <a:buNone/>
            </a:pPr>
            <a:r>
              <a:rPr lang="tr-TR" sz="1350" dirty="0">
                <a:solidFill>
                  <a:srgbClr val="3A464C"/>
                </a:solidFill>
                <a:latin typeface="Calibri" pitchFamily="34" charset="0"/>
                <a:ea typeface="Calibri" pitchFamily="34" charset="-122"/>
                <a:cs typeface="Calibri" pitchFamily="34" charset="-120"/>
              </a:rPr>
              <a:t>ls -ld ~/lab bağlantı sayısı 10, docs ise 2 gösteriyor. İki sayıyı da açıklayın.</a:t>
            </a:r>
            <a:endParaRPr lang="tr-TR" sz="1350" dirty="0"/>
          </a:p>
        </p:txBody>
      </p:sp>
      <p:sp>
        <p:nvSpPr>
          <p:cNvPr id="24" name="Shape 22"/>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25" name="Text 23"/>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Laboratuvar Föyünün tamamı (18 puanlı alıştırma, 100 puan) ve çözümleri bu haftanın ders notlarında.</a:t>
            </a:r>
            <a:endParaRPr lang="tr-TR"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SIK YAPILAN HATALAR</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Hata Mesajları ve Anlamları</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9  ·  36</a:t>
            </a:r>
            <a:endParaRPr lang="tr-TR" sz="900" dirty="0"/>
          </a:p>
        </p:txBody>
      </p:sp>
      <p:sp>
        <p:nvSpPr>
          <p:cNvPr id="6" name="Shape 4"/>
          <p:cNvSpPr/>
          <p:nvPr/>
        </p:nvSpPr>
        <p:spPr>
          <a:xfrm>
            <a:off x="548640" y="1508760"/>
            <a:ext cx="6766560" cy="4754880"/>
          </a:xfrm>
          <a:prstGeom prst="roundRect">
            <a:avLst>
              <a:gd name="adj" fmla="val 962"/>
            </a:avLst>
          </a:prstGeom>
          <a:solidFill>
            <a:srgbClr val="212121"/>
          </a:solidFill>
          <a:ln/>
        </p:spPr>
      </p:sp>
      <p:sp>
        <p:nvSpPr>
          <p:cNvPr id="7" name="Text 5"/>
          <p:cNvSpPr txBox="1"/>
          <p:nvPr/>
        </p:nvSpPr>
        <p:spPr>
          <a:xfrm>
            <a:off x="731520" y="1618488"/>
            <a:ext cx="6400800" cy="4535424"/>
          </a:xfrm>
          <a:prstGeom prst="rect">
            <a:avLst/>
          </a:prstGeom>
          <a:noFill/>
          <a:ln/>
        </p:spPr>
        <p:txBody>
          <a:bodyPr wrap="square" lIns="0" tIns="0" rIns="0" bIns="0" rtlCol="0" anchor="t"/>
          <a:lstStyle/>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LS</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bash: LS: command not found</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ls -z</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ls: invalid option -- 'z'</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Try 'ls --help' for more information.</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ls Docs</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ls: cannot access 'Docs': No such file or directory</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cd nowhere</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bash: cd: nowhere: No such file or directory</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cd README.txt</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bash: cd: README.txt: Not a directory</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ls docs/final report.txt</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ls: cannot access 'docs/final': No such file or directory</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ls: cannot access 'report.txt': No such file or directory</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ls "docs/final report.txt"</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'docs/final report.txt'</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cd docs/final report.txt</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bash: cd: too many arguments</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cd /root</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bash: cd: /root: Permission denied</a:t>
            </a:r>
            <a:endParaRPr lang="tr-TR" sz="1050" dirty="0"/>
          </a:p>
        </p:txBody>
      </p:sp>
      <p:sp>
        <p:nvSpPr>
          <p:cNvPr id="8" name="Shape 6"/>
          <p:cNvSpPr/>
          <p:nvPr/>
        </p:nvSpPr>
        <p:spPr>
          <a:xfrm>
            <a:off x="7543800" y="1508760"/>
            <a:ext cx="4114800" cy="4754880"/>
          </a:xfrm>
          <a:prstGeom prst="roundRect">
            <a:avLst>
              <a:gd name="adj" fmla="val 1333"/>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7772400" y="1691640"/>
            <a:ext cx="3657600" cy="4434840"/>
          </a:xfrm>
          <a:prstGeom prst="rect">
            <a:avLst/>
          </a:prstGeom>
          <a:noFill/>
          <a:ln/>
        </p:spPr>
        <p:txBody>
          <a:bodyPr wrap="square" lIns="0" tIns="0" rIns="0" bIns="0" rtlCol="0" anchor="t"/>
          <a:lstStyle/>
          <a:p>
            <a:pPr marL="228600" indent="-228600">
              <a:spcAft>
                <a:spcPts val="400"/>
              </a:spcAft>
              <a:buSzPct val="100000"/>
              <a:buChar char="•"/>
            </a:pPr>
            <a:r>
              <a:rPr lang="tr-TR" sz="1250" b="1" dirty="0">
                <a:solidFill>
                  <a:srgbClr val="3A464C"/>
                </a:solidFill>
                <a:latin typeface="Calibri" pitchFamily="34" charset="0"/>
                <a:ea typeface="Calibri" pitchFamily="34" charset="-122"/>
                <a:cs typeface="Calibri" pitchFamily="34" charset="-120"/>
              </a:rPr>
              <a:t>command not found:</a:t>
            </a:r>
            <a:r>
              <a:rPr lang="tr-TR" sz="1250" dirty="0">
                <a:solidFill>
                  <a:srgbClr val="3A464C"/>
                </a:solidFill>
                <a:latin typeface="Calibri" pitchFamily="34" charset="0"/>
                <a:ea typeface="Calibri" pitchFamily="34" charset="-122"/>
                <a:cs typeface="Calibri" pitchFamily="34" charset="-120"/>
              </a:rPr>
              <a:t> yazım hatası, yanlış harf büyüklüğü (LS) ya da program kurulu değil.</a:t>
            </a:r>
            <a:endParaRPr lang="tr-TR" sz="1250" dirty="0"/>
          </a:p>
          <a:p>
            <a:pPr marL="228600" indent="-228600">
              <a:spcAft>
                <a:spcPts val="400"/>
              </a:spcAft>
              <a:buSzPct val="100000"/>
              <a:buChar char="•"/>
            </a:pPr>
            <a:r>
              <a:rPr lang="tr-TR" sz="1250" b="1" dirty="0">
                <a:solidFill>
                  <a:srgbClr val="3A464C"/>
                </a:solidFill>
                <a:latin typeface="Calibri" pitchFamily="34" charset="0"/>
                <a:ea typeface="Calibri" pitchFamily="34" charset="-122"/>
                <a:cs typeface="Calibri" pitchFamily="34" charset="-120"/>
              </a:rPr>
              <a:t>invalid option:</a:t>
            </a:r>
            <a:r>
              <a:rPr lang="tr-TR" sz="1250" dirty="0">
                <a:solidFill>
                  <a:srgbClr val="3A464C"/>
                </a:solidFill>
                <a:latin typeface="Calibri" pitchFamily="34" charset="0"/>
                <a:ea typeface="Calibri" pitchFamily="34" charset="-122"/>
                <a:cs typeface="Calibri" pitchFamily="34" charset="-120"/>
              </a:rPr>
              <a:t> komut --help'e bakın.</a:t>
            </a:r>
            <a:endParaRPr lang="tr-TR" sz="1250" dirty="0"/>
          </a:p>
          <a:p>
            <a:pPr marL="228600" indent="-228600">
              <a:spcAft>
                <a:spcPts val="400"/>
              </a:spcAft>
              <a:buSzPct val="100000"/>
              <a:buChar char="•"/>
            </a:pPr>
            <a:r>
              <a:rPr lang="tr-TR" sz="1250" b="1" dirty="0">
                <a:solidFill>
                  <a:srgbClr val="3A464C"/>
                </a:solidFill>
                <a:latin typeface="Calibri" pitchFamily="34" charset="0"/>
                <a:ea typeface="Calibri" pitchFamily="34" charset="-122"/>
                <a:cs typeface="Calibri" pitchFamily="34" charset="-120"/>
              </a:rPr>
              <a:t>No such file or directory:</a:t>
            </a:r>
            <a:r>
              <a:rPr lang="tr-TR" sz="1250" dirty="0">
                <a:solidFill>
                  <a:srgbClr val="3A464C"/>
                </a:solidFill>
                <a:latin typeface="Calibri" pitchFamily="34" charset="0"/>
                <a:ea typeface="Calibri" pitchFamily="34" charset="-122"/>
                <a:cs typeface="Calibri" pitchFamily="34" charset="-120"/>
              </a:rPr>
              <a:t> ad/harf büyüklüğü yanlış ya da başka bir dizindesiniz — pwd ve ls çalıştırın.</a:t>
            </a:r>
            <a:endParaRPr lang="tr-TR" sz="1250" dirty="0"/>
          </a:p>
          <a:p>
            <a:pPr marL="228600" indent="-228600">
              <a:spcAft>
                <a:spcPts val="400"/>
              </a:spcAft>
              <a:buSzPct val="100000"/>
              <a:buChar char="•"/>
            </a:pPr>
            <a:r>
              <a:rPr lang="tr-TR" sz="1250" b="1" dirty="0">
                <a:solidFill>
                  <a:srgbClr val="3A464C"/>
                </a:solidFill>
                <a:latin typeface="Calibri" pitchFamily="34" charset="0"/>
                <a:ea typeface="Calibri" pitchFamily="34" charset="-122"/>
                <a:cs typeface="Calibri" pitchFamily="34" charset="-120"/>
              </a:rPr>
              <a:t>Not a directory:</a:t>
            </a:r>
            <a:r>
              <a:rPr lang="tr-TR" sz="1250" dirty="0">
                <a:solidFill>
                  <a:srgbClr val="3A464C"/>
                </a:solidFill>
                <a:latin typeface="Calibri" pitchFamily="34" charset="0"/>
                <a:ea typeface="Calibri" pitchFamily="34" charset="-122"/>
                <a:cs typeface="Calibri" pitchFamily="34" charset="-120"/>
              </a:rPr>
              <a:t> cd dosyalarla değil, dizinlerle çalışır.</a:t>
            </a:r>
            <a:endParaRPr lang="tr-TR" sz="1250" dirty="0"/>
          </a:p>
          <a:p>
            <a:pPr marL="228600" indent="-228600">
              <a:spcAft>
                <a:spcPts val="400"/>
              </a:spcAft>
              <a:buSzPct val="100000"/>
              <a:buChar char="•"/>
            </a:pPr>
            <a:r>
              <a:rPr lang="tr-TR" sz="1250" b="1" dirty="0">
                <a:solidFill>
                  <a:srgbClr val="3A464C"/>
                </a:solidFill>
                <a:latin typeface="Calibri" pitchFamily="34" charset="0"/>
                <a:ea typeface="Calibri" pitchFamily="34" charset="-122"/>
                <a:cs typeface="Calibri" pitchFamily="34" charset="-120"/>
              </a:rPr>
              <a:t>Adda boşluk:</a:t>
            </a:r>
            <a:r>
              <a:rPr lang="tr-TR" sz="1250" dirty="0">
                <a:solidFill>
                  <a:srgbClr val="3A464C"/>
                </a:solidFill>
                <a:latin typeface="Calibri" pitchFamily="34" charset="0"/>
                <a:ea typeface="Calibri" pitchFamily="34" charset="-122"/>
                <a:cs typeface="Calibri" pitchFamily="34" charset="-120"/>
              </a:rPr>
              <a:t> kabuk adı iki argümana böler → tırnak "…" ya da kaçış \ kullanın.</a:t>
            </a:r>
            <a:endParaRPr lang="tr-TR" sz="1250" dirty="0"/>
          </a:p>
          <a:p>
            <a:pPr marL="228600" indent="-228600">
              <a:spcAft>
                <a:spcPts val="400"/>
              </a:spcAft>
              <a:buSzPct val="100000"/>
              <a:buChar char="•"/>
            </a:pPr>
            <a:r>
              <a:rPr lang="tr-TR" sz="1250" b="1" dirty="0">
                <a:solidFill>
                  <a:srgbClr val="3A464C"/>
                </a:solidFill>
                <a:latin typeface="Calibri" pitchFamily="34" charset="0"/>
                <a:ea typeface="Calibri" pitchFamily="34" charset="-122"/>
                <a:cs typeface="Calibri" pitchFamily="34" charset="-120"/>
              </a:rPr>
              <a:t>Permission denied:</a:t>
            </a:r>
            <a:r>
              <a:rPr lang="tr-TR" sz="1250" dirty="0">
                <a:solidFill>
                  <a:srgbClr val="3A464C"/>
                </a:solidFill>
                <a:latin typeface="Calibri" pitchFamily="34" charset="0"/>
                <a:ea typeface="Calibri" pitchFamily="34" charset="-122"/>
                <a:cs typeface="Calibri" pitchFamily="34" charset="-120"/>
              </a:rPr>
              <a:t> sizin dizininiz değil (/root) — 11. hafta.</a:t>
            </a:r>
            <a:endParaRPr lang="tr-TR" sz="12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KISA SINAV</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Kendinizi Sınayın</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9  ·  37</a:t>
            </a:r>
            <a:endParaRPr lang="tr-TR" sz="900" dirty="0"/>
          </a:p>
        </p:txBody>
      </p:sp>
      <p:sp>
        <p:nvSpPr>
          <p:cNvPr id="6" name="Shape 4"/>
          <p:cNvSpPr/>
          <p:nvPr/>
        </p:nvSpPr>
        <p:spPr>
          <a:xfrm>
            <a:off x="548640" y="1508760"/>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sp>
      <p:sp>
        <p:nvSpPr>
          <p:cNvPr id="7" name="Shape 5"/>
          <p:cNvSpPr/>
          <p:nvPr/>
        </p:nvSpPr>
        <p:spPr>
          <a:xfrm>
            <a:off x="777240" y="1780794"/>
            <a:ext cx="493776" cy="493776"/>
          </a:xfrm>
          <a:prstGeom prst="ellipse">
            <a:avLst/>
          </a:prstGeom>
          <a:solidFill>
            <a:srgbClr val="02C39A"/>
          </a:solidFill>
          <a:ln/>
        </p:spPr>
      </p:sp>
      <p:sp>
        <p:nvSpPr>
          <p:cNvPr id="8" name="Text 6"/>
          <p:cNvSpPr txBox="1"/>
          <p:nvPr/>
        </p:nvSpPr>
        <p:spPr>
          <a:xfrm>
            <a:off x="777240" y="1780794"/>
            <a:ext cx="493776" cy="493776"/>
          </a:xfrm>
          <a:prstGeom prst="rect">
            <a:avLst/>
          </a:prstGeom>
          <a:noFill/>
          <a:ln/>
        </p:spPr>
        <p:txBody>
          <a:bodyPr wrap="square" lIns="0" tIns="0" rIns="0" bIns="0" rtlCol="0" anchor="ctr"/>
          <a:lstStyle/>
          <a:p>
            <a:pPr algn="ctr" indent="0" marL="0">
              <a:buNone/>
            </a:pPr>
            <a:r>
              <a:rPr lang="tr-TR" sz="1600" b="1" dirty="0">
                <a:solidFill>
                  <a:srgbClr val="FFFFFF"/>
                </a:solidFill>
                <a:latin typeface="Cambria" pitchFamily="34" charset="0"/>
                <a:ea typeface="Cambria" pitchFamily="34" charset="-122"/>
                <a:cs typeface="Cambria" pitchFamily="34" charset="-120"/>
              </a:rPr>
              <a:t>1</a:t>
            </a:r>
            <a:endParaRPr lang="tr-TR" sz="1600" dirty="0"/>
          </a:p>
        </p:txBody>
      </p:sp>
      <p:sp>
        <p:nvSpPr>
          <p:cNvPr id="9" name="Text 7"/>
          <p:cNvSpPr txBox="1"/>
          <p:nvPr/>
        </p:nvSpPr>
        <p:spPr>
          <a:xfrm>
            <a:off x="1508760" y="1508760"/>
            <a:ext cx="9921240" cy="1037844"/>
          </a:xfrm>
          <a:prstGeom prst="rect">
            <a:avLst/>
          </a:prstGeom>
          <a:noFill/>
          <a:ln/>
        </p:spPr>
        <p:txBody>
          <a:bodyPr wrap="square" lIns="0" tIns="0" rIns="0" bIns="0" rtlCol="0" anchor="ctr"/>
          <a:lstStyle/>
          <a:p>
            <a:pPr indent="0" marL="0">
              <a:buNone/>
            </a:pPr>
            <a:r>
              <a:rPr lang="tr-TR" sz="1600" dirty="0">
                <a:solidFill>
                  <a:srgbClr val="3A464C"/>
                </a:solidFill>
                <a:latin typeface="Calibri" pitchFamily="34" charset="0"/>
                <a:ea typeface="Calibri" pitchFamily="34" charset="-122"/>
                <a:cs typeface="Calibri" pitchFamily="34" charset="-120"/>
              </a:rPr>
              <a:t>/home/student/lab/projects/alpha içindesiniz. cd ../beta/src komutundan sonra nerede olursunuz? Ya cd - komutundan sonra?</a:t>
            </a:r>
            <a:endParaRPr lang="tr-TR" sz="1600" dirty="0"/>
          </a:p>
        </p:txBody>
      </p:sp>
      <p:sp>
        <p:nvSpPr>
          <p:cNvPr id="10" name="Shape 8"/>
          <p:cNvSpPr/>
          <p:nvPr/>
        </p:nvSpPr>
        <p:spPr>
          <a:xfrm>
            <a:off x="548640" y="2747772"/>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sp>
      <p:sp>
        <p:nvSpPr>
          <p:cNvPr id="11" name="Shape 9"/>
          <p:cNvSpPr/>
          <p:nvPr/>
        </p:nvSpPr>
        <p:spPr>
          <a:xfrm>
            <a:off x="777240" y="3019806"/>
            <a:ext cx="493776" cy="493776"/>
          </a:xfrm>
          <a:prstGeom prst="ellipse">
            <a:avLst/>
          </a:prstGeom>
          <a:solidFill>
            <a:srgbClr val="02C39A"/>
          </a:solidFill>
          <a:ln/>
        </p:spPr>
      </p:sp>
      <p:sp>
        <p:nvSpPr>
          <p:cNvPr id="12" name="Text 10"/>
          <p:cNvSpPr txBox="1"/>
          <p:nvPr/>
        </p:nvSpPr>
        <p:spPr>
          <a:xfrm>
            <a:off x="777240" y="3019806"/>
            <a:ext cx="493776" cy="493776"/>
          </a:xfrm>
          <a:prstGeom prst="rect">
            <a:avLst/>
          </a:prstGeom>
          <a:noFill/>
          <a:ln/>
        </p:spPr>
        <p:txBody>
          <a:bodyPr wrap="square" lIns="0" tIns="0" rIns="0" bIns="0" rtlCol="0" anchor="ctr"/>
          <a:lstStyle/>
          <a:p>
            <a:pPr algn="ctr" indent="0" marL="0">
              <a:buNone/>
            </a:pPr>
            <a:r>
              <a:rPr lang="tr-TR" sz="1600" b="1" dirty="0">
                <a:solidFill>
                  <a:srgbClr val="FFFFFF"/>
                </a:solidFill>
                <a:latin typeface="Cambria" pitchFamily="34" charset="0"/>
                <a:ea typeface="Cambria" pitchFamily="34" charset="-122"/>
                <a:cs typeface="Cambria" pitchFamily="34" charset="-120"/>
              </a:rPr>
              <a:t>2</a:t>
            </a:r>
            <a:endParaRPr lang="tr-TR" sz="1600" dirty="0"/>
          </a:p>
        </p:txBody>
      </p:sp>
      <p:sp>
        <p:nvSpPr>
          <p:cNvPr id="13" name="Text 11"/>
          <p:cNvSpPr txBox="1"/>
          <p:nvPr/>
        </p:nvSpPr>
        <p:spPr>
          <a:xfrm>
            <a:off x="1508760" y="2747772"/>
            <a:ext cx="9921240" cy="1037844"/>
          </a:xfrm>
          <a:prstGeom prst="rect">
            <a:avLst/>
          </a:prstGeom>
          <a:noFill/>
          <a:ln/>
        </p:spPr>
        <p:txBody>
          <a:bodyPr wrap="square" lIns="0" tIns="0" rIns="0" bIns="0" rtlCol="0" anchor="ctr"/>
          <a:lstStyle/>
          <a:p>
            <a:pPr indent="0" marL="0">
              <a:buNone/>
            </a:pPr>
            <a:r>
              <a:rPr lang="tr-TR" sz="1600" dirty="0">
                <a:solidFill>
                  <a:srgbClr val="3A464C"/>
                </a:solidFill>
                <a:latin typeface="Calibri" pitchFamily="34" charset="0"/>
                <a:ea typeface="Calibri" pitchFamily="34" charset="-122"/>
                <a:cs typeface="Calibri" pitchFamily="34" charset="-120"/>
              </a:rPr>
              <a:t>ls -lh /var/log komutunda hangi kısım komut, hangileri seçenek, hangisi argümandır?</a:t>
            </a:r>
            <a:endParaRPr lang="tr-TR" sz="1600" dirty="0"/>
          </a:p>
        </p:txBody>
      </p:sp>
      <p:sp>
        <p:nvSpPr>
          <p:cNvPr id="14" name="Shape 12"/>
          <p:cNvSpPr/>
          <p:nvPr/>
        </p:nvSpPr>
        <p:spPr>
          <a:xfrm>
            <a:off x="548640" y="3986784"/>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sp>
      <p:sp>
        <p:nvSpPr>
          <p:cNvPr id="15" name="Shape 13"/>
          <p:cNvSpPr/>
          <p:nvPr/>
        </p:nvSpPr>
        <p:spPr>
          <a:xfrm>
            <a:off x="777240" y="4258818"/>
            <a:ext cx="493776" cy="493776"/>
          </a:xfrm>
          <a:prstGeom prst="ellipse">
            <a:avLst/>
          </a:prstGeom>
          <a:solidFill>
            <a:srgbClr val="02C39A"/>
          </a:solidFill>
          <a:ln/>
        </p:spPr>
      </p:sp>
      <p:sp>
        <p:nvSpPr>
          <p:cNvPr id="16" name="Text 14"/>
          <p:cNvSpPr txBox="1"/>
          <p:nvPr/>
        </p:nvSpPr>
        <p:spPr>
          <a:xfrm>
            <a:off x="777240" y="4258818"/>
            <a:ext cx="493776" cy="493776"/>
          </a:xfrm>
          <a:prstGeom prst="rect">
            <a:avLst/>
          </a:prstGeom>
          <a:noFill/>
          <a:ln/>
        </p:spPr>
        <p:txBody>
          <a:bodyPr wrap="square" lIns="0" tIns="0" rIns="0" bIns="0" rtlCol="0" anchor="ctr"/>
          <a:lstStyle/>
          <a:p>
            <a:pPr algn="ctr" indent="0" marL="0">
              <a:buNone/>
            </a:pPr>
            <a:r>
              <a:rPr lang="tr-TR" sz="1600" b="1" dirty="0">
                <a:solidFill>
                  <a:srgbClr val="FFFFFF"/>
                </a:solidFill>
                <a:latin typeface="Cambria" pitchFamily="34" charset="0"/>
                <a:ea typeface="Cambria" pitchFamily="34" charset="-122"/>
                <a:cs typeface="Cambria" pitchFamily="34" charset="-120"/>
              </a:rPr>
              <a:t>3</a:t>
            </a:r>
            <a:endParaRPr lang="tr-TR" sz="1600" dirty="0"/>
          </a:p>
        </p:txBody>
      </p:sp>
      <p:sp>
        <p:nvSpPr>
          <p:cNvPr id="17" name="Text 15"/>
          <p:cNvSpPr txBox="1"/>
          <p:nvPr/>
        </p:nvSpPr>
        <p:spPr>
          <a:xfrm>
            <a:off x="1508760" y="3986784"/>
            <a:ext cx="9921240" cy="1037844"/>
          </a:xfrm>
          <a:prstGeom prst="rect">
            <a:avLst/>
          </a:prstGeom>
          <a:noFill/>
          <a:ln/>
        </p:spPr>
        <p:txBody>
          <a:bodyPr wrap="square" lIns="0" tIns="0" rIns="0" bIns="0" rtlCol="0" anchor="ctr"/>
          <a:lstStyle/>
          <a:p>
            <a:pPr indent="0" marL="0">
              <a:buNone/>
            </a:pPr>
            <a:r>
              <a:rPr lang="tr-TR" sz="1600" dirty="0">
                <a:solidFill>
                  <a:srgbClr val="3A464C"/>
                </a:solidFill>
                <a:latin typeface="Calibri" pitchFamily="34" charset="0"/>
                <a:ea typeface="Calibri" pitchFamily="34" charset="-122"/>
                <a:cs typeface="Calibri" pitchFamily="34" charset="-120"/>
              </a:rPr>
              <a:t>Bir dosya 23.604 bayttır. ls -lh hangi boyutu gösterir ve neden?</a:t>
            </a:r>
            <a:endParaRPr lang="tr-TR" sz="1600" dirty="0"/>
          </a:p>
        </p:txBody>
      </p:sp>
      <p:sp>
        <p:nvSpPr>
          <p:cNvPr id="18" name="Shape 16"/>
          <p:cNvSpPr/>
          <p:nvPr/>
        </p:nvSpPr>
        <p:spPr>
          <a:xfrm>
            <a:off x="548640" y="5225796"/>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sp>
      <p:sp>
        <p:nvSpPr>
          <p:cNvPr id="19" name="Shape 17"/>
          <p:cNvSpPr/>
          <p:nvPr/>
        </p:nvSpPr>
        <p:spPr>
          <a:xfrm>
            <a:off x="777240" y="5497830"/>
            <a:ext cx="493776" cy="493776"/>
          </a:xfrm>
          <a:prstGeom prst="ellipse">
            <a:avLst/>
          </a:prstGeom>
          <a:solidFill>
            <a:srgbClr val="02C39A"/>
          </a:solidFill>
          <a:ln/>
        </p:spPr>
      </p:sp>
      <p:sp>
        <p:nvSpPr>
          <p:cNvPr id="20" name="Text 18"/>
          <p:cNvSpPr txBox="1"/>
          <p:nvPr/>
        </p:nvSpPr>
        <p:spPr>
          <a:xfrm>
            <a:off x="777240" y="5497830"/>
            <a:ext cx="493776" cy="493776"/>
          </a:xfrm>
          <a:prstGeom prst="rect">
            <a:avLst/>
          </a:prstGeom>
          <a:noFill/>
          <a:ln/>
        </p:spPr>
        <p:txBody>
          <a:bodyPr wrap="square" lIns="0" tIns="0" rIns="0" bIns="0" rtlCol="0" anchor="ctr"/>
          <a:lstStyle/>
          <a:p>
            <a:pPr algn="ctr" indent="0" marL="0">
              <a:buNone/>
            </a:pPr>
            <a:r>
              <a:rPr lang="tr-TR" sz="1600" b="1" dirty="0">
                <a:solidFill>
                  <a:srgbClr val="FFFFFF"/>
                </a:solidFill>
                <a:latin typeface="Cambria" pitchFamily="34" charset="0"/>
                <a:ea typeface="Cambria" pitchFamily="34" charset="-122"/>
                <a:cs typeface="Cambria" pitchFamily="34" charset="-120"/>
              </a:rPr>
              <a:t>4</a:t>
            </a:r>
            <a:endParaRPr lang="tr-TR" sz="1600" dirty="0"/>
          </a:p>
        </p:txBody>
      </p:sp>
      <p:sp>
        <p:nvSpPr>
          <p:cNvPr id="21" name="Text 19"/>
          <p:cNvSpPr txBox="1"/>
          <p:nvPr/>
        </p:nvSpPr>
        <p:spPr>
          <a:xfrm>
            <a:off x="1508760" y="5225796"/>
            <a:ext cx="9921240" cy="1037844"/>
          </a:xfrm>
          <a:prstGeom prst="rect">
            <a:avLst/>
          </a:prstGeom>
          <a:noFill/>
          <a:ln/>
        </p:spPr>
        <p:txBody>
          <a:bodyPr wrap="square" lIns="0" tIns="0" rIns="0" bIns="0" rtlCol="0" anchor="ctr"/>
          <a:lstStyle/>
          <a:p>
            <a:pPr indent="0" marL="0">
              <a:buNone/>
            </a:pPr>
            <a:r>
              <a:rPr lang="tr-TR" sz="1600" dirty="0">
                <a:solidFill>
                  <a:srgbClr val="3A464C"/>
                </a:solidFill>
                <a:latin typeface="Calibri" pitchFamily="34" charset="0"/>
                <a:ea typeface="Calibri" pitchFamily="34" charset="-122"/>
                <a:cs typeface="Calibri" pitchFamily="34" charset="-120"/>
              </a:rPr>
              <a:t>cd neden /usr/bin içinde bir program değil de kabuk yerleşiğidir? Hangi 3. hafta fikri bunu açıklar?</a:t>
            </a:r>
            <a:endParaRPr lang="tr-TR"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KAPANIŞ</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9. Hafta — Akılda Kalması Gerekenler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9  ·  38</a:t>
            </a:r>
            <a:endParaRPr lang="tr-TR" sz="900" dirty="0"/>
          </a:p>
        </p:txBody>
      </p:sp>
      <p:sp>
        <p:nvSpPr>
          <p:cNvPr id="6" name="Text 4"/>
          <p:cNvSpPr txBox="1"/>
          <p:nvPr/>
        </p:nvSpPr>
        <p:spPr>
          <a:xfrm>
            <a:off x="548640" y="1600200"/>
            <a:ext cx="11064240" cy="4663440"/>
          </a:xfrm>
          <a:prstGeom prst="rect">
            <a:avLst/>
          </a:prstGeom>
          <a:noFill/>
          <a:ln/>
        </p:spPr>
        <p:txBody>
          <a:bodyPr wrap="square" lIns="0" tIns="0" rIns="0" bIns="0" rtlCol="0" anchor="t"/>
          <a:lstStyle/>
          <a:p>
            <a:pPr marL="228600" indent="-228600">
              <a:spcAft>
                <a:spcPts val="1400"/>
              </a:spcAft>
              <a:buSzPct val="100000"/>
              <a:buChar char="•"/>
            </a:pPr>
            <a:r>
              <a:rPr lang="tr-TR" sz="1800" b="1" dirty="0">
                <a:solidFill>
                  <a:srgbClr val="3A464C"/>
                </a:solidFill>
                <a:latin typeface="Calibri" pitchFamily="34" charset="0"/>
                <a:ea typeface="Calibri" pitchFamily="34" charset="-122"/>
                <a:cs typeface="Calibri" pitchFamily="34" charset="-120"/>
              </a:rPr>
              <a:t>Linux'a ulaşmak:</a:t>
            </a:r>
            <a:r>
              <a:rPr lang="tr-TR" sz="1800" dirty="0">
                <a:solidFill>
                  <a:srgbClr val="3A464C"/>
                </a:solidFill>
                <a:latin typeface="Calibri" pitchFamily="34" charset="0"/>
                <a:ea typeface="Calibri" pitchFamily="34" charset="-122"/>
                <a:cs typeface="Calibri" pitchFamily="34" charset="-120"/>
              </a:rPr>
              <a:t> laboratuvar bilgisayarları, WSL (wsl --install) ya da VirtualBox sanal makinesi; ~/lab'ı mcmp117_lab_setup.sh oluşturur.</a:t>
            </a:r>
            <a:endParaRPr lang="tr-TR" sz="1800" dirty="0"/>
          </a:p>
          <a:p>
            <a:pPr marL="228600" indent="-228600">
              <a:spcAft>
                <a:spcPts val="1400"/>
              </a:spcAft>
              <a:buSzPct val="100000"/>
              <a:buChar char="•"/>
            </a:pPr>
            <a:r>
              <a:rPr lang="tr-TR" sz="1800" b="1" dirty="0">
                <a:solidFill>
                  <a:srgbClr val="3A464C"/>
                </a:solidFill>
                <a:latin typeface="Calibri" pitchFamily="34" charset="0"/>
                <a:ea typeface="Calibri" pitchFamily="34" charset="-122"/>
                <a:cs typeface="Calibri" pitchFamily="34" charset="-120"/>
              </a:rPr>
              <a:t>Terminal ≠ kabuk ≠ çekirdek:</a:t>
            </a:r>
            <a:r>
              <a:rPr lang="tr-TR" sz="1800" dirty="0">
                <a:solidFill>
                  <a:srgbClr val="3A464C"/>
                </a:solidFill>
                <a:latin typeface="Calibri" pitchFamily="34" charset="0"/>
                <a:ea typeface="Calibri" pitchFamily="34" charset="-122"/>
                <a:cs typeface="Calibri" pitchFamily="34" charset="-120"/>
              </a:rPr>
              <a:t> terminal metni gösterir, bash komutları yorumlar, çekirdek işi sistem çağrılarıyla yapar.</a:t>
            </a:r>
            <a:endParaRPr lang="tr-TR" sz="1800" dirty="0"/>
          </a:p>
          <a:p>
            <a:pPr marL="228600" indent="-228600">
              <a:spcAft>
                <a:spcPts val="1400"/>
              </a:spcAft>
              <a:buSzPct val="100000"/>
              <a:buChar char="•"/>
            </a:pPr>
            <a:r>
              <a:rPr lang="tr-TR" sz="1800" b="1" dirty="0">
                <a:solidFill>
                  <a:srgbClr val="3A464C"/>
                </a:solidFill>
                <a:latin typeface="Calibri" pitchFamily="34" charset="0"/>
                <a:ea typeface="Calibri" pitchFamily="34" charset="-122"/>
                <a:cs typeface="Calibri" pitchFamily="34" charset="-120"/>
              </a:rPr>
              <a:t>Komutlar süreçtir:</a:t>
            </a:r>
            <a:r>
              <a:rPr lang="tr-TR" sz="1800" dirty="0">
                <a:solidFill>
                  <a:srgbClr val="3A464C"/>
                </a:solidFill>
                <a:latin typeface="Calibri" pitchFamily="34" charset="0"/>
                <a:ea typeface="Calibri" pitchFamily="34" charset="-122"/>
                <a:cs typeface="Calibri" pitchFamily="34" charset="-120"/>
              </a:rPr>
              <a:t> bash fork yapar, çocuk /usr/bin/ls'yi exec eder, kabuk bekler (3. hafta); cd gibi yerleşikler bash içinde çalışır.</a:t>
            </a:r>
            <a:endParaRPr lang="tr-TR" sz="1800" dirty="0"/>
          </a:p>
          <a:p>
            <a:pPr marL="228600" indent="-228600">
              <a:spcAft>
                <a:spcPts val="1400"/>
              </a:spcAft>
              <a:buSzPct val="100000"/>
              <a:buChar char="•"/>
            </a:pPr>
            <a:r>
              <a:rPr lang="tr-TR" sz="1800" b="1" dirty="0">
                <a:solidFill>
                  <a:srgbClr val="3A464C"/>
                </a:solidFill>
                <a:latin typeface="Calibri" pitchFamily="34" charset="0"/>
                <a:ea typeface="Calibri" pitchFamily="34" charset="-122"/>
                <a:cs typeface="Calibri" pitchFamily="34" charset="-120"/>
              </a:rPr>
              <a:t>Anatomi:</a:t>
            </a:r>
            <a:r>
              <a:rPr lang="tr-TR" sz="1800" dirty="0">
                <a:solidFill>
                  <a:srgbClr val="3A464C"/>
                </a:solidFill>
                <a:latin typeface="Calibri" pitchFamily="34" charset="0"/>
                <a:ea typeface="Calibri" pitchFamily="34" charset="-122"/>
                <a:cs typeface="Calibri" pitchFamily="34" charset="-120"/>
              </a:rPr>
              <a:t> komut -seçenekler argümanlar; sözcükleri boşluklar ayırır; harf büyüklüğü önemlidir.</a:t>
            </a:r>
            <a:endParaRPr lang="tr-TR" sz="1800" dirty="0"/>
          </a:p>
          <a:p>
            <a:pPr marL="228600" indent="-228600">
              <a:spcAft>
                <a:spcPts val="1400"/>
              </a:spcAft>
              <a:buSzPct val="100000"/>
              <a:buChar char="•"/>
            </a:pPr>
            <a:r>
              <a:rPr lang="tr-TR" sz="1800" b="1" dirty="0">
                <a:solidFill>
                  <a:srgbClr val="3A464C"/>
                </a:solidFill>
                <a:latin typeface="Calibri" pitchFamily="34" charset="0"/>
                <a:ea typeface="Calibri" pitchFamily="34" charset="-122"/>
                <a:cs typeface="Calibri" pitchFamily="34" charset="-120"/>
              </a:rPr>
              <a:t>Etrafa bakmak:</a:t>
            </a:r>
            <a:r>
              <a:rPr lang="tr-TR" sz="1800" dirty="0">
                <a:solidFill>
                  <a:srgbClr val="3A464C"/>
                </a:solidFill>
                <a:latin typeface="Calibri" pitchFamily="34" charset="0"/>
                <a:ea typeface="Calibri" pitchFamily="34" charset="-122"/>
                <a:cs typeface="Calibri" pitchFamily="34" charset="-120"/>
              </a:rPr>
              <a:t> pwd, ls -l -a -h -R; ls -l 7. haftadaki düğüm (inode) alanlarını gösterir.</a:t>
            </a:r>
            <a:endParaRPr lang="tr-TR" sz="1800" dirty="0"/>
          </a:p>
          <a:p>
            <a:pPr marL="228600" indent="-228600">
              <a:spcAft>
                <a:spcPts val="1400"/>
              </a:spcAft>
              <a:buSzPct val="100000"/>
              <a:buChar char="•"/>
            </a:pPr>
            <a:r>
              <a:rPr lang="tr-TR" sz="1800" b="1" dirty="0">
                <a:solidFill>
                  <a:srgbClr val="3A464C"/>
                </a:solidFill>
                <a:latin typeface="Calibri" pitchFamily="34" charset="0"/>
                <a:ea typeface="Calibri" pitchFamily="34" charset="-122"/>
                <a:cs typeface="Calibri" pitchFamily="34" charset="-120"/>
              </a:rPr>
              <a:t>Dolaşmak:</a:t>
            </a:r>
            <a:r>
              <a:rPr lang="tr-TR" sz="1800" dirty="0">
                <a:solidFill>
                  <a:srgbClr val="3A464C"/>
                </a:solidFill>
                <a:latin typeface="Calibri" pitchFamily="34" charset="0"/>
                <a:ea typeface="Calibri" pitchFamily="34" charset="-122"/>
                <a:cs typeface="Calibri" pitchFamily="34" charset="-120"/>
              </a:rPr>
              <a:t> /'den başlayan tek ağaç; mutlak ve göreli yollar; cd ile ~ . .. -</a:t>
            </a:r>
            <a:endParaRPr lang="tr-TR" sz="1800" dirty="0"/>
          </a:p>
          <a:p>
            <a:pPr marL="228600" indent="-228600">
              <a:spcAft>
                <a:spcPts val="1400"/>
              </a:spcAft>
              <a:buSzPct val="100000"/>
              <a:buChar char="•"/>
            </a:pPr>
            <a:r>
              <a:rPr lang="tr-TR" sz="1800" b="1" dirty="0">
                <a:solidFill>
                  <a:srgbClr val="3A464C"/>
                </a:solidFill>
                <a:latin typeface="Calibri" pitchFamily="34" charset="0"/>
                <a:ea typeface="Calibri" pitchFamily="34" charset="-122"/>
                <a:cs typeface="Calibri" pitchFamily="34" charset="-120"/>
              </a:rPr>
              <a:t>Akıllı çalışma:</a:t>
            </a:r>
            <a:r>
              <a:rPr lang="tr-TR" sz="1800" dirty="0">
                <a:solidFill>
                  <a:srgbClr val="3A464C"/>
                </a:solidFill>
                <a:latin typeface="Calibri" pitchFamily="34" charset="0"/>
                <a:ea typeface="Calibri" pitchFamily="34" charset="-122"/>
                <a:cs typeface="Calibri" pitchFamily="34" charset="-120"/>
              </a:rPr>
              <a:t> --help, man, help, type; Tab, geçmiş, !!, Ctrl+C, Ctrl+L.</a:t>
            </a:r>
            <a:endParaRPr lang="tr-TR" sz="1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41732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GELECEK HAFTA</a:t>
            </a:r>
            <a:endParaRPr lang="tr-TR" sz="1300" dirty="0"/>
          </a:p>
        </p:txBody>
      </p:sp>
      <p:sp>
        <p:nvSpPr>
          <p:cNvPr id="3" name="Text 1"/>
          <p:cNvSpPr txBox="1"/>
          <p:nvPr/>
        </p:nvSpPr>
        <p:spPr>
          <a:xfrm>
            <a:off x="548640" y="1783080"/>
            <a:ext cx="10972800" cy="777240"/>
          </a:xfrm>
          <a:prstGeom prst="rect">
            <a:avLst/>
          </a:prstGeom>
          <a:noFill/>
          <a:ln/>
        </p:spPr>
        <p:txBody>
          <a:bodyPr wrap="square" lIns="0" tIns="0" rIns="0" bIns="0" rtlCol="0" anchor="ctr"/>
          <a:lstStyle/>
          <a:p>
            <a:pPr indent="0" marL="0">
              <a:buNone/>
            </a:pPr>
            <a:r>
              <a:rPr lang="tr-TR" sz="3400" b="1" dirty="0">
                <a:solidFill>
                  <a:srgbClr val="FFFFFF"/>
                </a:solidFill>
                <a:latin typeface="Cambria" pitchFamily="34" charset="0"/>
                <a:ea typeface="Cambria" pitchFamily="34" charset="-122"/>
                <a:cs typeface="Cambria" pitchFamily="34" charset="-120"/>
              </a:rPr>
              <a:t>Dosya ve Dizin İşlemleri</a:t>
            </a:r>
            <a:endParaRPr lang="tr-TR" sz="3400" dirty="0"/>
          </a:p>
        </p:txBody>
      </p:sp>
      <p:sp>
        <p:nvSpPr>
          <p:cNvPr id="4" name="Shape 2"/>
          <p:cNvSpPr/>
          <p:nvPr/>
        </p:nvSpPr>
        <p:spPr>
          <a:xfrm>
            <a:off x="548640" y="2834640"/>
            <a:ext cx="7680960" cy="2926080"/>
          </a:xfrm>
          <a:prstGeom prst="roundRect">
            <a:avLst>
              <a:gd name="adj" fmla="val 1875"/>
            </a:avLst>
          </a:prstGeom>
          <a:solidFill>
            <a:srgbClr val="36454F"/>
          </a:solidFill>
          <a:ln/>
        </p:spPr>
      </p:sp>
      <p:sp>
        <p:nvSpPr>
          <p:cNvPr id="5" name="Text 3"/>
          <p:cNvSpPr txBox="1"/>
          <p:nvPr/>
        </p:nvSpPr>
        <p:spPr>
          <a:xfrm>
            <a:off x="868680" y="3017520"/>
            <a:ext cx="7132320" cy="365760"/>
          </a:xfrm>
          <a:prstGeom prst="rect">
            <a:avLst/>
          </a:prstGeom>
          <a:noFill/>
          <a:ln/>
        </p:spPr>
        <p:txBody>
          <a:bodyPr wrap="square" lIns="0" tIns="0" rIns="0" bIns="0" rtlCol="0" anchor="ctr"/>
          <a:lstStyle/>
          <a:p>
            <a:pPr indent="0" marL="0">
              <a:buNone/>
            </a:pPr>
            <a:r>
              <a:rPr lang="tr-TR" sz="1400" b="1" dirty="0">
                <a:solidFill>
                  <a:srgbClr val="02C39A"/>
                </a:solidFill>
                <a:latin typeface="Calibri" pitchFamily="34" charset="0"/>
                <a:ea typeface="Calibri" pitchFamily="34" charset="-122"/>
                <a:cs typeface="Calibri" pitchFamily="34" charset="-120"/>
              </a:rPr>
              <a:t>10. haftanın konuları:</a:t>
            </a:r>
            <a:endParaRPr lang="tr-TR" sz="1400" dirty="0"/>
          </a:p>
        </p:txBody>
      </p:sp>
      <p:sp>
        <p:nvSpPr>
          <p:cNvPr id="6" name="Text 4"/>
          <p:cNvSpPr txBox="1"/>
          <p:nvPr/>
        </p:nvSpPr>
        <p:spPr>
          <a:xfrm>
            <a:off x="868680" y="3474720"/>
            <a:ext cx="7132320" cy="2148840"/>
          </a:xfrm>
          <a:prstGeom prst="rect">
            <a:avLst/>
          </a:prstGeom>
          <a:noFill/>
          <a:ln/>
        </p:spPr>
        <p:txBody>
          <a:bodyPr wrap="square" lIns="0" tIns="0" rIns="0" bIns="0" rtlCol="0" anchor="t"/>
          <a:lstStyle/>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mkdir, touch, cp, mv, rm, rmdir — ve rm'nin neden geri dönüşüm kutusu olmadığı</a:t>
            </a:r>
            <a:endParaRPr lang="tr-TR" sz="1500" dirty="0"/>
          </a:p>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Joker karakterler * ? [ ] ve küme parantezi genişletmesi { } — kabuk genişletir</a:t>
            </a:r>
            <a:endParaRPr lang="tr-TR" sz="1500" dirty="0"/>
          </a:p>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Dosya görüntüleme: cat, less, head, tail, wc, file, stat, du, df</a:t>
            </a:r>
            <a:endParaRPr lang="tr-TR" sz="1500" dirty="0"/>
          </a:p>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ln ve ln -s ile sabit ve sembolik bağlantılar (7. haftadaki düğümler)</a:t>
            </a:r>
            <a:endParaRPr lang="tr-TR" sz="1500" dirty="0"/>
          </a:p>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Lab: photos/ ve docs/ klasörlerini joker karakterlerle düzenlemek, yedek almak</a:t>
            </a:r>
            <a:endParaRPr lang="tr-TR" sz="1500" dirty="0"/>
          </a:p>
        </p:txBody>
      </p:sp>
      <p:sp>
        <p:nvSpPr>
          <p:cNvPr id="7" name="Text 5"/>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8" name="Text 6"/>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9  ·  39</a:t>
            </a:r>
            <a:endParaRPr lang="tr-TR"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41732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SORULAR?</a:t>
            </a:r>
            <a:endParaRPr lang="tr-TR" sz="1300" dirty="0"/>
          </a:p>
        </p:txBody>
      </p:sp>
      <p:sp>
        <p:nvSpPr>
          <p:cNvPr id="3" name="Text 1"/>
          <p:cNvSpPr txBox="1"/>
          <p:nvPr/>
        </p:nvSpPr>
        <p:spPr>
          <a:xfrm>
            <a:off x="548640" y="1783080"/>
            <a:ext cx="9144000" cy="77724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Tartışma</a:t>
            </a:r>
            <a:endParaRPr lang="tr-TR" sz="3800" dirty="0"/>
          </a:p>
        </p:txBody>
      </p:sp>
      <p:sp>
        <p:nvSpPr>
          <p:cNvPr id="4" name="Text 2"/>
          <p:cNvSpPr txBox="1"/>
          <p:nvPr/>
        </p:nvSpPr>
        <p:spPr>
          <a:xfrm>
            <a:off x="548640" y="2697480"/>
            <a:ext cx="6858000" cy="640080"/>
          </a:xfrm>
          <a:prstGeom prst="rect">
            <a:avLst/>
          </a:prstGeom>
          <a:noFill/>
          <a:ln/>
        </p:spPr>
        <p:txBody>
          <a:bodyPr wrap="square" lIns="0" tIns="0" rIns="0" bIns="0" rtlCol="0" anchor="ctr"/>
          <a:lstStyle/>
          <a:p>
            <a:pPr indent="0" marL="0">
              <a:buNone/>
            </a:pPr>
            <a:r>
              <a:rPr lang="tr-TR" sz="1400" i="1" dirty="0">
                <a:solidFill>
                  <a:srgbClr val="F2F2F2"/>
                </a:solidFill>
                <a:latin typeface="Calibri" pitchFamily="34" charset="0"/>
                <a:ea typeface="Calibri" pitchFamily="34" charset="-122"/>
                <a:cs typeface="Calibri" pitchFamily="34" charset="-120"/>
              </a:rPr>
              <a:t>Dersten sonra sorularınız olursa dersin Telegram kanalında sorun — yanıttan herkes yararlanır.</a:t>
            </a:r>
            <a:endParaRPr lang="tr-TR" sz="1400" dirty="0"/>
          </a:p>
        </p:txBody>
      </p:sp>
      <p:sp>
        <p:nvSpPr>
          <p:cNvPr id="7" name="Text 4"/>
          <p:cNvSpPr txBox="1"/>
          <p:nvPr/>
        </p:nvSpPr>
        <p:spPr>
          <a:xfrm>
            <a:off x="3108960" y="3703320"/>
            <a:ext cx="5486400" cy="1463040"/>
          </a:xfrm>
          <a:prstGeom prst="rect">
            <a:avLst/>
          </a:prstGeom>
          <a:noFill/>
          <a:ln/>
        </p:spPr>
        <p:txBody>
          <a:bodyPr wrap="square" lIns="0" tIns="0" rIns="0" bIns="0" rtlCol="0" anchor="t"/>
          <a:lstStyle/>
          <a:p>
            <a:pPr indent="0" marL="0">
              <a:spcAft>
                <a:spcPts val="400"/>
              </a:spcAft>
              <a:buNone/>
            </a:pPr>
            <a:r>
              <a:rPr lang="tr-TR" sz="1400" b="1" dirty="0">
                <a:solidFill>
                  <a:srgbClr val="F2F2F2"/>
                </a:solidFill>
                <a:latin typeface="Calibri" pitchFamily="34" charset="0"/>
                <a:ea typeface="Calibri" pitchFamily="34" charset="-122"/>
                <a:cs typeface="Calibri" pitchFamily="34" charset="-120"/>
              </a:rPr>
              <a:t>Dr. Öğr. Üyesi Hasan Oğuz</a:t>
            </a:r>
            <a:endParaRPr lang="tr-TR" sz="1400" dirty="0"/>
          </a:p>
        </p:txBody>
      </p:sp>
      <p:sp>
        <p:nvSpPr>
          <p:cNvPr id="8" name="Text 5"/>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9" name="Text 6"/>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9  ·  40</a:t>
            </a:r>
            <a:endParaRPr lang="tr-TR"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MBLP131 Hafta 9</dc:title>
  <dc:subject>PptxGenJS Presentation</dc:subject>
  <dc:creator>PptxGenJS</dc:creator>
  <cp:lastModifiedBy>PptxGenJS</cp:lastModifiedBy>
  <cp:revision>1</cp:revision>
  <dcterms:created xsi:type="dcterms:W3CDTF">2026-10-12T17:57:53Z</dcterms:created>
  <dcterms:modified xsi:type="dcterms:W3CDTF">2026-10-12T17:57:53Z</dcterms:modified>
</cp:coreProperties>
</file>