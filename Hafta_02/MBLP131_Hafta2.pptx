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7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Tekrar hoş geldiniz. Geçen hafta hikâyeyi anlattık; bu hafta anatomiyi inceliyoruz. İki saat: ilk saatte tanımlar ve hedefler, ikinci saatte donanım temelleri ve işletim sistemi yapıları; arada kısa bir 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farklı açıyı vurgulayın: konum (kullanıcı ile donanım arasında), süreklilik (her zaman çalışır: çekirdek) ve işlev (kaynakları yönetir). Hiçbiri yanlış değildir; her biri farklı bir yönü öne çıkarır.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Ölçekleme sütunu: her süreyi 1/(0,3 ns) ≈ 3,3 × 10^9 ile çarpın. RAM: 100 ns × 3,3 × 10^9 ≈ 330 s ≈ 5,5 dk; SSD: 50 µs → 1,7 × 10^5 s ≈ 2 gün; HDD: 5 ms → 1,7 × 10^7 s ≈ 190 gün. Değerler büyüklük mertebesidir ve güncel donanım için tipiktir.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strace'in gösterdiği önemli nokta: printf de sonunda bir write() sistem çağrısına dönüşür. Kütüphane fonksiyonları kolaylık sağlayan sarmalayıcılardır; çekirdeğe yalnızca sistem çağrıları geçer. Öğrenciler bunu 9. haftada laboratuvar bilgisayarlarında ya da WSL'de deneyebilir.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Derleme ortamımızda (bir sanal makine) ölçülmüştür. Sanallaştırılmamış bir Linux'ta getpid sistem çağrısı çoğunlukla 50–150 ns sürer. Mod geçişleri bedava değildir; bu tek gerçek, 4. bölümün büyük kısmını (mikroçekirdeklerin neden daha yavaş olduğunu) açıklar.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bir gösterim slaydıdır; öğrencilerin çekirdek modülü yazması gerekmez. Vurgulayın: main() yok, onun yerine init/exit fonksiyonları var; kod çekirdek modunda çalışır; çıktı ekrana değil çekirdek günlüğüne (dmesg) gider.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· HAFTA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Sistemleri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Temelleri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· Tanımlar, Hedefler, Bileşenler ve İS Yapıları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 tam olarak nedir, ne işe yarar ve nasıl inşa edilir?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Elektronik Haberleşme Teknolojisi Programı  ·  Meslek Yüksekokulu  ·  İstanbul Okan Üniversitesi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GEÇEN HAFTA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Fikirde 1. Hafta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06040" cy="3749040"/>
          </a:xfrm>
          <a:prstGeom prst="roundRect">
            <a:avLst>
              <a:gd name="adj" fmla="val 210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Bilgisayar komutları izler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48840"/>
            <a:ext cx="2148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→ işlem → çıktı; program, bellekte verinin hemen yanında durur.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83280" y="1508760"/>
            <a:ext cx="2606040" cy="3749040"/>
          </a:xfrm>
          <a:prstGeom prst="roundRect">
            <a:avLst>
              <a:gd name="adj" fmla="val 210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611880" y="1691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işletim sistemi başlar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148840"/>
            <a:ext cx="2148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…ve diğer her şeyi yönetir; böylece öteki programlar çalışabilir.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1508760"/>
            <a:ext cx="2606040" cy="3749040"/>
          </a:xfrm>
          <a:prstGeom prst="roundRect">
            <a:avLst>
              <a:gd name="adj" fmla="val 210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46520" y="1691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Boşta duran CPU pahalıdır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148840"/>
            <a:ext cx="2148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 işleme, çoklu programlama ve zaman paylaşımı, işlemciyi meşgul tutmak için icat edildi.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052560" y="1508760"/>
            <a:ext cx="2606040" cy="3749040"/>
          </a:xfrm>
          <a:prstGeom prst="roundRect">
            <a:avLst>
              <a:gd name="adj" fmla="val 210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81160" y="1691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UNIX 1969, Linux 1991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148840"/>
            <a:ext cx="2148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Küçük, birleştirilebilir araçlar; Linux, 9. haftadan itibaren uygulamalı olarak kullanacağımız sistemdir.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bu gayriresmî tanımı kesin bir tanımla değiştiriyor ve işletim sistemlerinin gerçekte nasıl inşa edildiğine bakıyoruz.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Bugünün Gündemi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7315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463040" y="1554480"/>
            <a:ext cx="10195560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737360" y="15544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Tanımlar  </a:t>
            </a: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 tam olarak nedir? İki klasik bakış açısı.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463040" y="2468880"/>
            <a:ext cx="10195560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737360" y="24688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Hedefler  </a:t>
            </a: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Kolaylık, verimlilik, gelişebilirlik — ve aralarındaki ödünleşimler.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4864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463040" y="3383280"/>
            <a:ext cx="10195560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737360" y="33832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Bileşenler  </a:t>
            </a: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Donanım, işletim sistemi, uygulamalar, kullanıcılar; kesmeler, depolama, çift mod.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7315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1463040" y="4297680"/>
            <a:ext cx="10195560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737360" y="42976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Yapılar  </a:t>
            </a: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Basit, monolitik, katmanlı, mikroçekirdek, modüler, hibrit.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521208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463040" y="5212080"/>
            <a:ext cx="10195560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737360" y="52120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Uygulama  </a:t>
            </a: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C kodu ve strace ile sistem çağrılarını izlemek.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14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BÖLÜM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 Tam Olarak Nedir?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Gayriresmî bir betimlemeden kesin bir tanıma.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TANIMLAR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Karşılaşacağınız Üç Tanım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737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Aracı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3108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Bilgisayarın kullanıcısı ile bilgisayar donanımı arasında aracılık eden bir program.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34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Silberschatz, Galvin ve Gagne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5448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44568" y="1737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Çekirdek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44568" y="2194560"/>
            <a:ext cx="3108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Bilgisayarda her zaman çalışan tek program. Geri kalan her şey ya bir sistem programı ya da bir uygulama programıdır.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4434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Silberschatz, Galvin ve Gagne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83296" y="1554480"/>
            <a:ext cx="3566160" cy="3383280"/>
          </a:xfrm>
          <a:prstGeom prst="roundRect">
            <a:avLst>
              <a:gd name="adj" fmla="val 1622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311896" y="1737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Yönetici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11896" y="2194560"/>
            <a:ext cx="3108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Programların yürütülmesini denetleyen ve bilgisayarın kaynaklarını (işlemci, bellek, dosyalar, aygıtlar) yöneten yazılım.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11896" y="4434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Stallings (özetlenerek)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109960" cy="1051560"/>
          </a:xfrm>
          <a:prstGeom prst="roundRect">
            <a:avLst>
              <a:gd name="adj" fmla="val 5217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77240" y="5212080"/>
            <a:ext cx="10652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 tanımımız: işletim sistemi (İS), donanımı yöneten ve programlara üzerinde çalışabilecekleri daha basit, daha güvenli bir makine sunan yazılım katmanıdır. Bellekte sürekli bulunan özüne çekirdek (kernel) denir.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İKİ KLASİK BAKIŞ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Genişletilmiş Makine ve Kaynak Yöneticisi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Andrew Tanenbaum işletim sistemini iki yönden tanımlar: yukarıdan aşağıya ve aşağıdan yukarıya.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44068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Yukarıdan aşağıya: genişletilmiş makine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43200"/>
            <a:ext cx="4983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Karmaşık donanımı temiz soyutlamaların arkasına gizler.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sektörlerini ve manyetik izleri değil, dosyaları görürsünüz.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Kesme hatlarını ve yazmaçları değil, süreçleri görürsünüz.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Amaç: bilgisayarı programlamayı ve kullanmayı kolaylaştırmak.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544068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2860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Aşağıdan yukarıya: kaynak yöneticisi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743200"/>
            <a:ext cx="4983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Birçok program ve kullanıcı tek bir makine için yarışır.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Zamanda çoğullama: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sırayla kullanmak (CPU, yazıcı).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Alanda çoğullama: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parçalara bölerek paylaşmak (bellek, disk alanı).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Amaç: kaynakları adil, verimli ve güvenli biçimde dağıtmak.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bakış da aynı yazılımı anlatır. Bu dersin 3–7. haftaları büyük ölçüde kaynak yöneticisi bakışıdır: süreçler, CPU, bellek, dosyalar.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TANIMLAR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Çekirdek, Sistem Programları ve Uygulamalar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sistemiyle birlikte gelen her şey "çekirdek" değildir.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603504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148840"/>
            <a:ext cx="603504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programları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tarayıcı, kelime işlemci, oyun, kendi yazdığınız C programı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6035040" cy="777240"/>
          </a:xfrm>
          <a:prstGeom prst="roundRect">
            <a:avLst>
              <a:gd name="adj" fmla="val 5882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603504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programları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kabuk (shell), dosya yöneticisi, derleyici, ls, cp, Görev Yöneticisi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6035040" cy="777240"/>
          </a:xfrm>
          <a:prstGeom prst="roundRect">
            <a:avLst>
              <a:gd name="adj" fmla="val 5882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" y="3886200"/>
            <a:ext cx="603504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süreç, bellek, dosya ve aygıt yönetimi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6035040" cy="777240"/>
          </a:xfrm>
          <a:prstGeom prst="roundRect">
            <a:avLst>
              <a:gd name="adj" fmla="val 5882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4754880"/>
            <a:ext cx="603504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bellek, diskler, ağ kartı, ekran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69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katman yalnızca altındaki katmanın hizmetlerini kullanır.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0" y="2148840"/>
            <a:ext cx="4800600" cy="4114800"/>
          </a:xfrm>
          <a:prstGeom prst="roundRect">
            <a:avLst>
              <a:gd name="adj" fmla="val 1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086600" y="233172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 kimdir?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788920"/>
            <a:ext cx="4343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Çekirdek: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zaman bellektedir, ayrıcalıklı bir modda çalışır, donanımla doğrudan konuşur.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programları: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işletim sistemiyle birlikte gelir ama sıradan programlar gibi çalışır; sistemi kullanılabilir kılar.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Uygulamalar: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asıl işinizi yapmak için yüklediğiniz her şey.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Linux, tam anlamıyla yalnızca çekirdektir; bir "Linux dağıtımı" buna sistem programlarını (çoğunlukla GNU'dan) ekler.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TARTIŞMA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Sisteminin Bir Parçası mı?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bir resmî yanıt yok; asıl mesele de bu. Önce oylayın, sonra tartışın.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tarayıcısı?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1998'de ABD hükümeti, kısmen Internet Explorer'ı Windows'la birlikte paketlediği için Microsoft'a dava açtı. Tarayıcı "Windows'un bir parçası" mı? Avukatlar bunu yıllarca tartıştı.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2816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5676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 masaüstü?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Windows'ta sisteme sıkı sıkıya bağlıdır. Linux'ta ise çekirdeğin üzerinde çalışan, değiştirilebilir bir programdır (GNOME, KDE, …).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768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3628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Uygulama mağazası?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Telefonda çoğu kullanıcı uygulama mağazasını "sistemin kendisi" sayar. Teknik olarak özel izinlere sahip bir uygulamadır.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Kullanışlı bir kural: çekirdek kesinlikle işletim sistemidir. Çekirdeğin ötesinde "işletim sistemi", üreticinin standart sistem olarak sunduğu her şeydir.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14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BÖLÜM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 Ne İşe Yarar?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tasarım hedefi ve bu hedeflerin neden farklı yönlere çektiği.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TASARIM HEDEFLERİ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 İşletim Sisteminin Üç Hedefi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Stallings, bir işletim sisteminin amaçlarını üç kelimeyle özetler.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Kolaylık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Bilgisayarı kullanmayı ve programlamayı kolaylaştırır.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Dosyalar, pencereler, kabuk, basit sistem çağrıları.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Kullanıcıların donanımı bilmesi gerekmez.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2816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5676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Verimlilik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Donanımı iyi kullanır: CPU meşgul, bellek faydalı işle dolu, diskler beklemiyor.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 ek yük: işletim sisteminin kendisi az kaynak kullanmalıdır.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768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3628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Gelişebilirlik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donanımlar (SSD, GPU, 5G modem) ve yeni hizmetler eklenebilmeli…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…mevcut programları bozmadan.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 yapısının seçimini belirler (4. bölüm).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sonra ele alacağımız her yapı, bu üç hedef arasında farklı bir uzlaşmadır.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ÖDÜNLEŞİMLER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Hangi Hedef Daha Önemli? Makineye Göre Değişir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468880"/>
                <a:gridCol w="6080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Sistem türü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 öncelik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Neden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Kişisel bilgisayar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Kolaylık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"Sorunsuz çalışmasını" isteyen tek bir kullanıcı; CPU zaten çoğu zaman boştadır.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Sunucu / bulut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Verimlilik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Binlerce kullanıcı; %1 daha fazla iş hacmi, yüzlerce makine daha az demek olabilir.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Akıllı telefon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Verimlilik (enerji)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 ömrü: işletim sistemi uygulamaları ve CPU'yu agresif biçimde uyku moduna alır.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Gömülü / IoT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Verimlilik (boyut, maliyet)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 çamaşır makinesi denetleyicisinin yalnızca birkaç kilobayt belleği olabilir; hiç işletim sistemi olmayabilir.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Gerçek zamanlı (araç frenleri, dronlar)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Öngörülebilirlik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Geç gelen yanıt yanlış yanıttır: süre sınırlarına her zaman uyulmalıdır.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ÖDÜNLEŞİMLER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Kolaylık ve Verimlilik: Çözümlü Bir Örnek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6035040" cy="4754880"/>
          </a:xfrm>
          <a:prstGeom prst="roundRect">
            <a:avLst>
              <a:gd name="adj" fmla="val 11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48840"/>
            <a:ext cx="55778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program bir dosyadan 1.000.000 sayı okumalıdır.</a:t>
            </a:r>
            <a:endParaRPr lang="en-US" sz="16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Kolay yol:</a:t>
            </a: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işletim sisteminden her seferinde bir sayı istemek → 1.000.000 sistem çağrısı.</a:t>
            </a:r>
            <a:endParaRPr lang="en-US" sz="16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Verimli yol:</a:t>
            </a: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4.096 baytlık bloklar istemek (her biri ≈ 1.000 sayı) → yaklaşık 1.000 sistem çağrısı.</a:t>
            </a:r>
            <a:endParaRPr lang="en-US" sz="16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sistem çağrısının salt ek yükü yaklaşık 0,1 µs ise (bunu bugün ölçeceğiz):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0" y="1508760"/>
            <a:ext cx="4800600" cy="2743200"/>
          </a:xfrm>
          <a:prstGeom prst="roundRect">
            <a:avLst>
              <a:gd name="adj" fmla="val 1667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040880" y="1618488"/>
            <a:ext cx="443484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tek tek: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1.000.000 × 0,1 µs = 100 ms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1.000'lik bloklar hâlinde: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1.000 × 0,1 µs = 0,1 ms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 1000 kat daha az ek yük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0" y="4480560"/>
            <a:ext cx="4800600" cy="1783080"/>
          </a:xfrm>
          <a:prstGeom prst="roundRect">
            <a:avLst>
              <a:gd name="adj" fmla="val 3077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086600" y="4480560"/>
            <a:ext cx="4343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C'nin stdio gibi kütüphaneleri ikisini birden sunar: fgetc()'yi her seferinde tek bir karakter için çağırırsınız, ama kütüphane arka planda büyük bloklar okur.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14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BÖLÜM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Bilgisayar Sisteminin Bileşenleri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Donanım, işletim sistemi, uygulama programları ve kullanıcılar.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BİLEŞENLER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Bilgisayar Sisteminin Dört Bileşeni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155448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155448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286000" y="1554480"/>
            <a:ext cx="155448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155448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023360" y="1554480"/>
            <a:ext cx="155448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0" y="155448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760720" y="1554480"/>
            <a:ext cx="155448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51460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4864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Derleyici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0" y="251460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228600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Tarayıcı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023360" y="251460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0233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 düzenleyici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2514600"/>
            <a:ext cx="1554480" cy="685800"/>
          </a:xfrm>
          <a:prstGeom prst="roundRect">
            <a:avLst>
              <a:gd name="adj" fmla="val 6667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76072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Veritabanı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611880"/>
            <a:ext cx="6766560" cy="822960"/>
          </a:xfrm>
          <a:prstGeom prst="roundRect">
            <a:avLst>
              <a:gd name="adj" fmla="val 5556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611880"/>
            <a:ext cx="676656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6766560" cy="822960"/>
          </a:xfrm>
          <a:prstGeom prst="roundRect">
            <a:avLst>
              <a:gd name="adj" fmla="val 5556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548640" y="4846320"/>
            <a:ext cx="676656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 donanımı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· bellek · G/Ç aygıtları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325880" y="212140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063240" y="212140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800600" y="212140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537960" y="212140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325880" y="321868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063240" y="321868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800600" y="321868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537960" y="321868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3931920" y="4453128"/>
            <a:ext cx="91" cy="374904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589520" y="1554480"/>
            <a:ext cx="4069080" cy="4709160"/>
          </a:xfrm>
          <a:prstGeom prst="roundRect">
            <a:avLst>
              <a:gd name="adj" fmla="val 134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818120" y="17373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Roller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818120" y="2194560"/>
            <a:ext cx="36118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temel hesaplama kaynaklarını sağlar.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programları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 kaynakları kullanıcıların sorunlarını çözmek için kullanır.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Kullanıcılar: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insanlar, ama aynı zamanda başka makineler ve programlar.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donanımı denetler ve onun uygulamalar ile kullanıcılar arasındaki kullanımını koordine eder.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DONANIM BAKIŞI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Kutunun İçi: Sistem Yolu, CPU, Bellek ve Aygıtlar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109960" cy="201168"/>
          </a:xfrm>
          <a:prstGeom prst="rect">
            <a:avLst/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yolu (bus): veri, adres ve denetim sinyallerini taşır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103120" cy="1051560"/>
          </a:xfrm>
          <a:prstGeom prst="roundRect">
            <a:avLst>
              <a:gd name="adj" fmla="val 4348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286000"/>
            <a:ext cx="2103120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getir–çöz–yürüt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00200" y="1911096"/>
            <a:ext cx="91" cy="356616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880360" y="2286000"/>
            <a:ext cx="2103120" cy="1051560"/>
          </a:xfrm>
          <a:prstGeom prst="roundRect">
            <a:avLst>
              <a:gd name="adj" fmla="val 4348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880360" y="2286000"/>
            <a:ext cx="2103120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bellek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931920" y="1911096"/>
            <a:ext cx="91" cy="356616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257800" y="2286000"/>
            <a:ext cx="1481328" cy="1051560"/>
          </a:xfrm>
          <a:prstGeom prst="roundRect">
            <a:avLst>
              <a:gd name="adj" fmla="val 4348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257800" y="2286000"/>
            <a:ext cx="1481328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denetleyicisi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98464" y="1911096"/>
            <a:ext cx="91" cy="356616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257800" y="3886200"/>
            <a:ext cx="148132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0808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257800" y="3886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/ HDD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98464" y="3355848"/>
            <a:ext cx="91" cy="512064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876288" y="2286000"/>
            <a:ext cx="1481328" cy="1051560"/>
          </a:xfrm>
          <a:prstGeom prst="roundRect">
            <a:avLst>
              <a:gd name="adj" fmla="val 4348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876288" y="2286000"/>
            <a:ext cx="1481328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denetleyicisi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6952" y="1911096"/>
            <a:ext cx="91" cy="356616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876288" y="3886200"/>
            <a:ext cx="148132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0808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876288" y="3886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klavye, fare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6952" y="3355848"/>
            <a:ext cx="91" cy="512064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494776" y="2286000"/>
            <a:ext cx="1481328" cy="1051560"/>
          </a:xfrm>
          <a:prstGeom prst="roundRect">
            <a:avLst>
              <a:gd name="adj" fmla="val 4348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8494776" y="2286000"/>
            <a:ext cx="1481328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bağdaştırıcısı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235440" y="1911096"/>
            <a:ext cx="91" cy="356616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494776" y="3886200"/>
            <a:ext cx="148132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0808E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8494776" y="3886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monitör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355848"/>
            <a:ext cx="91" cy="512064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113264" y="2286000"/>
            <a:ext cx="1481328" cy="1051560"/>
          </a:xfrm>
          <a:prstGeom prst="roundRect">
            <a:avLst>
              <a:gd name="adj" fmla="val 4348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10113264" y="2286000"/>
            <a:ext cx="1481328" cy="1051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 kartı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853928" y="1911096"/>
            <a:ext cx="91" cy="356616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113264" y="3886200"/>
            <a:ext cx="148132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0808E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10113264" y="3886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Ethernet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853928" y="3355848"/>
            <a:ext cx="91" cy="512064"/>
          </a:xfrm>
          <a:prstGeom prst="line">
            <a:avLst/>
          </a:prstGeom>
          <a:noFill/>
          <a:ln w="15875">
            <a:solidFill>
              <a:srgbClr val="50808E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4114800" y="406908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aygıtlar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3949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777240" y="5394960"/>
            <a:ext cx="10652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aygıt denetleyicisinin küçük bir yerel tamponu vardır ve CPU ile paralel çalışır. İşletim sistemi her denetleyici için bir aygıt sürücüsü içerir: sürücü denetleyicinin dilini konuşur, böylece işletim sisteminin geri kalanının bu dili bilmesi gerekmez.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DONANIM BAKIŞI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Kesmeler: Aygıt CPU'nun Dikkatini Nasıl Çeker?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klavyeye sürekli "yeni bir şey var mı?" diye sormaz; klavye CPU'ya haber verir.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057400" cy="2514600"/>
          </a:xfrm>
          <a:prstGeom prst="roundRect">
            <a:avLst>
              <a:gd name="adj" fmla="val 266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Aygıt bitirir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1600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denetleyicisi veriyi kendi tamponuna kopyalamıştır.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15184" y="3383280"/>
            <a:ext cx="182880" cy="91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807208" y="2148840"/>
            <a:ext cx="2057400" cy="2514600"/>
          </a:xfrm>
          <a:prstGeom prst="roundRect">
            <a:avLst>
              <a:gd name="adj" fmla="val 266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35808" y="2331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Sinyal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35808" y="2788920"/>
            <a:ext cx="1600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üzerindeki bir kesme hattını etkinleştirir.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73752" y="3383280"/>
            <a:ext cx="182880" cy="91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65776" y="2148840"/>
            <a:ext cx="2057400" cy="2514600"/>
          </a:xfrm>
          <a:prstGeom prst="roundRect">
            <a:avLst>
              <a:gd name="adj" fmla="val 266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294376" y="2331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Kaydet, atla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94376" y="2788920"/>
            <a:ext cx="1600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o anki işini kaydeder ve kesme vektöründe yazılı işleyiciye atlar.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0" y="3383280"/>
            <a:ext cx="182880" cy="91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24344" y="2148840"/>
            <a:ext cx="2057400" cy="2514600"/>
          </a:xfrm>
          <a:prstGeom prst="roundRect">
            <a:avLst>
              <a:gd name="adj" fmla="val 266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552944" y="2331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İşle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52944" y="2788920"/>
            <a:ext cx="1600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sisteminin kesme işleyicisi (sürücünün parçası) olayı işler.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90888" y="3383280"/>
            <a:ext cx="182880" cy="91"/>
          </a:xfrm>
          <a:prstGeom prst="line">
            <a:avLst/>
          </a:prstGeom>
          <a:noFill/>
          <a:ln w="19050">
            <a:solidFill>
              <a:srgbClr val="50808E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582912" y="2148840"/>
            <a:ext cx="2057400" cy="2514600"/>
          </a:xfrm>
          <a:prstGeom prst="roundRect">
            <a:avLst>
              <a:gd name="adj" fmla="val 266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811512" y="2331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Devam et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811512" y="2788920"/>
            <a:ext cx="1600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Kaydedilen durum geri yüklenir; kesilen program hiçbir şey olmamış gibi devam eder.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4937760"/>
            <a:ext cx="11109960" cy="1325880"/>
          </a:xfrm>
          <a:prstGeom prst="roundRect">
            <a:avLst>
              <a:gd name="adj" fmla="val 4138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937760"/>
            <a:ext cx="10652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işletim sistemleri kesme güdümlüdür: çalışan program yoksa ve hiçbir aygıt ilgi beklemiyorsa işletim sistemi yalnızca bekler. Her tuş basımı, her ağ paketi ve biten her disk okuması bir kesme olarak gelir; saniyede binlercesi.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DONANIM BAKIŞI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Depolama Hiyerarşisi: Hızlı ve Küçük, Yavaş ve Büyük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65176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Düzey</a:t>
                      </a:r>
                      <a:endParaRPr lang="en-US" sz="17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Tipik boyut</a:t>
                      </a:r>
                      <a:endParaRPr lang="en-US" sz="17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Tipik erişim süresi</a:t>
                      </a:r>
                      <a:endParaRPr lang="en-US" sz="17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Bir yazmaç erişimi 1 saniye sürseydi…</a:t>
                      </a:r>
                      <a:endParaRPr lang="en-US" sz="17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yazmaçları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KB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0,3 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saniye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Önbellek (L1–L3)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birkaç 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40 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saniye – 2 dakika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bellek (RAM)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– 64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 dakika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 – 4 TB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50 µs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 gün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Sabit disk (HDD)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20 TB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 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 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Yazmaçlar, önbellek ve RAM uçucudur (güç kesilince içerik kaybolur); SSD'ler ve diskler kalıcıdır. İşletim sistemi verileri bu düzeyler arasında sürekli taşır: 6. ve 7. haftaların konusu.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KORUMA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Çift Modlu Çalışma: Kullanıcı Modu ve Çekirdek Modu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Kimin neyi yapabileceğini donanımın kendisi, CPU içindeki bir mod biti ile denetler.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6035040" cy="1097280"/>
          </a:xfrm>
          <a:prstGeom prst="roundRect">
            <a:avLst>
              <a:gd name="adj" fmla="val 4167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148840"/>
            <a:ext cx="603504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modu (mod biti = 1)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programlarınız: yalnızca kısıtlı komutlar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6035040" cy="1097280"/>
          </a:xfrm>
          <a:prstGeom prst="roundRect">
            <a:avLst>
              <a:gd name="adj" fmla="val 4167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603504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 modu (mod biti = 0)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işletim sistemi çekirdeği: tüm komutlara izin var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011680" y="3291840"/>
            <a:ext cx="91" cy="114300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flipV="1">
            <a:off x="5120640" y="3291840"/>
            <a:ext cx="91" cy="114300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214884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çağrısı / kesme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(tuzak: biti 0 yap)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kullanıcıya dön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(biti 1 yap)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0" y="2148840"/>
            <a:ext cx="4800600" cy="4114800"/>
          </a:xfrm>
          <a:prstGeom prst="roundRect">
            <a:avLst>
              <a:gd name="adj" fmla="val 1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086600" y="233172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önemli?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788920"/>
            <a:ext cx="4343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Ayrıcalıklı komutlar</a:t>
            </a: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(bir aygıtla konuşmak, bellek korumasını değiştirmek, CPU'yu durdurmak) yalnızca çekirdek modunda çalışır.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kullanıcı programı böyle bir komutu denerse donanım işletim sistemine bir tuzak (trap) üretir; işletim sistemi genellikle programı sonlandırır.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Böylece hatalı ya da kötü niyetli bir uygulama makineyi ele geçiremez.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x86 işlemcilerde modlara halka (ring) denir: Linux ve Windows halka 0'ı (çekirdek) ve halka 3'ü (kullanıcı) kullanır.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Örnek: Çekirdeği Çağıran Bir Program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6492240" cy="4754880"/>
          </a:xfrm>
          <a:prstGeom prst="roundRect">
            <a:avLst>
              <a:gd name="adj" fmla="val 962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1618488"/>
            <a:ext cx="612648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hello_syscall.c -- aynı mesajı iki farklı yolla yazdırmak.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Derleme   : gcc hello_syscall.c -o hello_syscall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Çalıştırma: ./hello_syscall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İzleme    : strace ./hello_syscall   (yalnızca Linux)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*/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   /* printf: kütüphane fonksiyonu */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&lt;unistd.h&gt;  /* write: sistem çağrısı sarmalayıcısı */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main(void)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/* 1) Kütüphane çağrısı: printf metni kullanıcı modunda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*    biçimlendirir, sonra write() ile çekirdeğe yazdırır. */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printf("printf ile merhaba!\n");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fflush(stdout);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/* 2) Doğrudan sistem çağrısı: 1 numaralı dosya tanımlayıcısı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*    = ekran (standart çıktı); 21 = yazılacak bayt sayısı. */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write(1, "write() ile merhaba!\n", 21);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0" y="1508760"/>
            <a:ext cx="4343400" cy="2926080"/>
          </a:xfrm>
          <a:prstGeom prst="roundRect">
            <a:avLst>
              <a:gd name="adj" fmla="val 1875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543800" y="16916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oluyor?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2148840"/>
            <a:ext cx="3886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printf() bir kütüphane fonksiyonudur: metni kullanıcı modunda biçimlendirir.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write() bir sistem çağrısıdır: çekirdek moduna geçilir ve baytları ekrana çekirdek gönderir.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strace, bir programın yaptığı her sistem çağrısını gösterir: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4663440"/>
            <a:ext cx="4343400" cy="1600200"/>
          </a:xfrm>
          <a:prstGeom prst="roundRect">
            <a:avLst>
              <a:gd name="adj" fmla="val 2857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498080" y="4773168"/>
            <a:ext cx="39776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strace ./hello_syscall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write(1, "printf ile merhaba!\n", 20)   = 20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write(1, "write() ile merhaba!\n", 21)  = 21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exit_group(0)                           = ?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Örnek: Çekirdeğe Gidip Gelmek Ne Kadar Pahalı?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6492240" cy="4754880"/>
          </a:xfrm>
          <a:prstGeom prst="roundRect">
            <a:avLst>
              <a:gd name="adj" fmla="val 962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1618488"/>
            <a:ext cx="612648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N 1000000L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plain_function(long x) { return x + 1; 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main(void)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volatile long sink = 0;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t0 = seconds();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(long i = 0; i &lt; N; i++)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sink += plain_function(i);    /* yalnız kullanıcı modu */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t1 = seconds();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(long i = 0; i &lt; N; i++)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sink += syscall(SYS_getpid);  /* çekirdeğe gidip döner */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 t2 = seconds();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printf("sıradan fonksiyon çağrısı : %6.1f ns\n",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(t1 - t0) / N * 1e9);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printf("sistem çağrısı (getpid)   : %6.1f ns\n",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(t2 - t1) / N * 1e9);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programın tamamı: code/syscall_cost.c */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1508760"/>
            <a:ext cx="434340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543800" y="16916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214884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Sıradan bir fonksiyonu bir milyon kez çağırın.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Ardından bir milyon küçük sistem çağrısı (getpid) yapın.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Çağrı başına ortalama süreyi karşılaştırın.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Kesin sayılar makinenize bağlıdır; asıl ders orandadır.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4892040"/>
            <a:ext cx="4343400" cy="1371600"/>
          </a:xfrm>
          <a:prstGeom prst="roundRect">
            <a:avLst>
              <a:gd name="adj" fmla="val 3333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498080" y="5001768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./syscall_cost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sıradan fonksiyon çağrısı :    1.5 ns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sistem çağrısı (getpid)   :  116.1 ns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sistem çağrısı yaklaşık 76 kat daha yavaş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14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Dakika Ara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Sırada: işletim sistemleri nasıl inşa edilir? MS-DOS'tan mikroçekirdeklere.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14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BÖLÜM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İşletim Sistemi Yapıları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hedefler, çok farklı binalar.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YAPILAR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Yapı Neden Önemlidir?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çekirdeği 30 milyondan fazla kod satırından oluşur. Bu kadar büyük bir şeyi nasıl düzenlersiniz?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Neredeyse hiç yapı yok (MS-DOS).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25112" y="214884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53712" y="23317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Monolitik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büyük bir çekirdek programı (UNIX, Linux).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01584" y="214884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30184" y="23317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Katmanlı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Katı katmanlar; her biri yalnızca altındakini kullanır (THE).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Mikroçekirdek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Küçücük çekirdek; hizmetler kullanıcı programıdır (Mach, MINIX 3, QNX).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25112" y="425196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553712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Modüler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53712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çekirdek + yüklenebilir modüller (Linux).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01584" y="4251960"/>
            <a:ext cx="3566160" cy="1920240"/>
          </a:xfrm>
          <a:prstGeom prst="roundRect">
            <a:avLst>
              <a:gd name="adj" fmla="val 285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330184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Hibrit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330184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sistemler bunları karıştırır (Windows, macOS, Android).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Basit Yapı: MS-DOS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1981'deki IBM PC'nin çok küçük belleğine sığmak için yazıldı; hiçbir zaman gerçek anlamda katmanlı tasarlanmadı.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4023360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402336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programı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4023360" cy="731520"/>
          </a:xfrm>
          <a:prstGeom prst="roundRect">
            <a:avLst>
              <a:gd name="adj" fmla="val 6250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200400"/>
            <a:ext cx="402336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Bellekte yerleşik sistem programı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4023360" cy="731520"/>
          </a:xfrm>
          <a:prstGeom prst="roundRect">
            <a:avLst>
              <a:gd name="adj" fmla="val 625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" y="4160520"/>
            <a:ext cx="402336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MS-DOS aygıt sürücüleri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4023360" cy="731520"/>
          </a:xfrm>
          <a:prstGeom prst="roundRect">
            <a:avLst>
              <a:gd name="adj" fmla="val 6250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5120640"/>
            <a:ext cx="402336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 BIOS aygıt sürücüleri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09160" y="2606040"/>
            <a:ext cx="91" cy="2697480"/>
          </a:xfrm>
          <a:prstGeom prst="line">
            <a:avLst/>
          </a:prstGeom>
          <a:noFill/>
          <a:ln w="25400">
            <a:solidFill>
              <a:srgbClr val="B5453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74920" y="2606040"/>
            <a:ext cx="91" cy="1737360"/>
          </a:xfrm>
          <a:prstGeom prst="line">
            <a:avLst/>
          </a:prstGeom>
          <a:noFill/>
          <a:ln w="25400">
            <a:solidFill>
              <a:srgbClr val="B5453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61264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B5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Uygulamalar katmanları atlayıp donanıma doğrudan erişebiliyordu.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05740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8580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Avantajlar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küçük ve hızlıydı.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Sınırlı donanım için yazması kolaydı.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370332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8580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Dezavantajlar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43434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Koruma yok: tek hatalı program tüm sistemi çökertir.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8088 işlemcide çift mod yoktu; İS bunu önleyemezdi.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29400" y="534924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858000" y="53492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Ders: koruma, donanım desteği (çift mod) ve onu kullanan bir işletim sistemi gerektirir.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Monolitik Çekirdek: UNIX ve Linux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işletim sistemi hizmetleri, çekirdek modunda ve tek bir adres alanında çalışan büyük bir programda bulunur.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128016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148840"/>
            <a:ext cx="12801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kabuk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65960" y="2148840"/>
            <a:ext cx="128016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965960" y="2148840"/>
            <a:ext cx="12801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tarayıcı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2148840"/>
            <a:ext cx="128016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383280" y="2148840"/>
            <a:ext cx="12801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derleyici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128016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0600" y="2148840"/>
            <a:ext cx="12801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uygulamanız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modu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81528"/>
            <a:ext cx="5623560" cy="0"/>
          </a:xfrm>
          <a:prstGeom prst="line">
            <a:avLst/>
          </a:prstGeom>
          <a:noFill/>
          <a:ln w="12700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127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080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çağrısı arayüzü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5623560" cy="2240280"/>
          </a:xfrm>
          <a:prstGeom prst="roundRect">
            <a:avLst>
              <a:gd name="adj" fmla="val 2041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31520" y="3502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ÇEKİRDEK — çekirdek modu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3931920"/>
            <a:ext cx="16459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zamanlayıcı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14600" y="393192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2514600" y="3931920"/>
            <a:ext cx="16459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bellek yöneticisi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97680" y="393192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297680" y="3931920"/>
            <a:ext cx="16459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 sistemleri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475488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4754880"/>
            <a:ext cx="16459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 yığını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514600" y="475488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2514600" y="4754880"/>
            <a:ext cx="16459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aygıt sürücüleri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97680" y="475488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50808E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4297680" y="4754880"/>
            <a:ext cx="16459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sinyaller, IPC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806440"/>
            <a:ext cx="5623560" cy="548640"/>
          </a:xfrm>
          <a:prstGeom prst="roundRect">
            <a:avLst>
              <a:gd name="adj" fmla="val 8333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56235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629400" y="205740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8580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Avantajlar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Hızlı: hizmetler birbirini doğrudan çağırır.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çağrısı başına yalnızca iki mod geçişi.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629400" y="370332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8580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Dezavantajlar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858000" y="43434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büyük ve bakımı zor.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bir sürücü hatası tüm çekirdeği çökertebilir ("kernel panic").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629400" y="534924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858000" y="53492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Örnekler: ilk UNIX (1970'ler), Linux, geleneksel BSD.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Katmanlı Yaklaşım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 katmanlara bölünür; N. katman yalnızca altındaki katmanları kullanabilir. 0. katman donanımdır.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577840" cy="594360"/>
          </a:xfrm>
          <a:prstGeom prst="roundRect">
            <a:avLst>
              <a:gd name="adj" fmla="val 7692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57784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5: Kullanıcı programları / operatör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2788920"/>
            <a:ext cx="5248656" cy="594360"/>
          </a:xfrm>
          <a:prstGeom prst="roundRect">
            <a:avLst>
              <a:gd name="adj" fmla="val 7692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13232" y="2788920"/>
            <a:ext cx="5248656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4: G/Ç aygıtları için tamponlama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474720"/>
            <a:ext cx="4919472" cy="594360"/>
          </a:xfrm>
          <a:prstGeom prst="roundRect">
            <a:avLst>
              <a:gd name="adj" fmla="val 7692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77824" y="3474720"/>
            <a:ext cx="4919472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3: Operatör konsolu sürücüsü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42416" y="4160520"/>
            <a:ext cx="4590288" cy="594360"/>
          </a:xfrm>
          <a:prstGeom prst="roundRect">
            <a:avLst>
              <a:gd name="adj" fmla="val 7692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42416" y="4160520"/>
            <a:ext cx="4590288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2: Bellek yönetimi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207008" y="4846320"/>
            <a:ext cx="4261104" cy="594360"/>
          </a:xfrm>
          <a:prstGeom prst="roundRect">
            <a:avLst>
              <a:gd name="adj" fmla="val 7692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207008" y="4846320"/>
            <a:ext cx="4261104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1: CPU zamanlaması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71600" y="5532120"/>
            <a:ext cx="3931920" cy="594360"/>
          </a:xfrm>
          <a:prstGeom prst="roundRect">
            <a:avLst>
              <a:gd name="adj" fmla="val 7692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371600" y="5532120"/>
            <a:ext cx="393192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0: Donanım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Dijkstra'nın THE sistemine (1968) gevşek biçimde dayanır.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29400" y="205740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8580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Avantajlar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katman inşa etmek ve hata ayıklamak kolaydır.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katman ayrı ayrı doğrulanabilir.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629400" y="370332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8580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Dezavantajlar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3434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Sırayı belirlemek zordur (bellek zamanlayıcıya mı dayanır, tersi mi?).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istek birçok katmandan geçer → yavaş.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534924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858000" y="53492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 katmanlı yapı bugün nadirdir, ama fikir her işletim sisteminin içinde yaşar (örneğin ağ yığını katmanlıdır).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Mikroçekirdek: Çekirdeği Küçük Tut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 modunda yalnızca en temel kısım kalır; geri kalan her şey kullanıcı modundaki sıradan sunucular olarak çalışır.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298448" cy="9144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1298448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65960" y="2331720"/>
            <a:ext cx="1298448" cy="914400"/>
          </a:xfrm>
          <a:prstGeom prst="roundRect">
            <a:avLst>
              <a:gd name="adj" fmla="val 5000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965960" y="2331720"/>
            <a:ext cx="1298448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 sunucusu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2331720"/>
            <a:ext cx="1298448" cy="914400"/>
          </a:xfrm>
          <a:prstGeom prst="roundRect">
            <a:avLst>
              <a:gd name="adj" fmla="val 5000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383280" y="2331720"/>
            <a:ext cx="1298448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Aygıt sürücüsü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00600" y="2331720"/>
            <a:ext cx="1298448" cy="914400"/>
          </a:xfrm>
          <a:prstGeom prst="roundRect">
            <a:avLst>
              <a:gd name="adj" fmla="val 5000"/>
            </a:avLst>
          </a:prstGeom>
          <a:solidFill>
            <a:srgbClr val="D7E9E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0600" y="2331720"/>
            <a:ext cx="1298448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 sunucusu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kullanıcı modu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623560" cy="0"/>
          </a:xfrm>
          <a:prstGeom prst="line">
            <a:avLst/>
          </a:prstGeom>
          <a:noFill/>
          <a:ln w="12700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4572000"/>
            <a:ext cx="5623560" cy="86868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562356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Mikroçekirdek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 iletimi · temel zamanlama · temel bellek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051560" y="3264408"/>
            <a:ext cx="91" cy="128016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flipV="1">
            <a:off x="2377440" y="3264408"/>
            <a:ext cx="91" cy="128016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115568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istek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41448" y="4114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iletilir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623560"/>
            <a:ext cx="5623560" cy="548640"/>
          </a:xfrm>
          <a:prstGeom prst="roundRect">
            <a:avLst>
              <a:gd name="adj" fmla="val 8333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48640" y="5623560"/>
            <a:ext cx="562356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263640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dosya sunucusunu doğrudan çağırmaz: mesajlar çekirdek üzerinden gider.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205740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8580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Avantajlar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Güvenilir: çöken sürücü yeniden başlatılır.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Güvenli, genişletilebilir; küçük çekirdek kolay doğrulanır.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29400" y="370332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8580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Dezavantajlar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43434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yavaş: her hizmet isteği ek mesajlar ve mod geçişleri gerektirir.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534924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0" y="53492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Örnekler: Mach (1980'ler), MINIX 3, QNX (otomobiller, tıbbi cihazlar), seL4 (matematiksel olarak doğrulanmış).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Örnek: Mikroçekirdeğin Bedeli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86400" cy="4754880"/>
          </a:xfrm>
          <a:prstGeom prst="roundRect">
            <a:avLst>
              <a:gd name="adj" fmla="val 11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dosya okuması için mod geçişlerini sayalım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48840"/>
            <a:ext cx="50292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Monolitik:</a:t>
            </a: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uygulama → çekirdek → uygulama. 2 geçiş.</a:t>
            </a:r>
            <a:endParaRPr lang="en-US" sz="16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Mikroçekirdek:</a:t>
            </a: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uygulama → çekirdek → dosya sunucusu → çekirdek → uygulama. 4 geçiş, artı 2 mesaj kopyası.</a:t>
            </a:r>
            <a:endParaRPr lang="en-US" sz="16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Varsayalım (temsilî sayılar): bir geçiş = 0,1 µs, bir mesaj kopyası = 0,15 µs, faydalı iş = 1 µs.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349240" cy="2926080"/>
          </a:xfrm>
          <a:prstGeom prst="roundRect">
            <a:avLst>
              <a:gd name="adj" fmla="val 1563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92240" y="1618488"/>
            <a:ext cx="498348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Monolitik: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 = 2 × 0,1 + 1,0 = 1,2 µs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Mikroçekirdek: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 = 4 × 0,1 + 2 × 0,15 + 1,0 = 1,7 µs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Yavaşlama: 1,7 / 1,2 ≈ 1,42 (%42)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09360" y="466344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537960" y="4663440"/>
            <a:ext cx="4892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ve sık işlemlerde ek yük baskın çıkar. Uzun işlemlerde (büyük bir dosyayı okumak) neredeyse önemsizdir. L4 gibi modern mikroçekirdekler mesajları ucuzlatmak için çok çalışır.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Modüler Çekirdek: Yüklenebilir Çekirdek Modülleri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ana çekirdek ve sistem çalışırken eklenip çıkarılabilen modüller.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 flipH="1">
            <a:off x="3383280" y="2514600"/>
            <a:ext cx="914" cy="1600200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 flipH="1">
            <a:off x="3383280" y="3117092"/>
            <a:ext cx="1680031" cy="997708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83280" y="4114800"/>
            <a:ext cx="2094964" cy="356078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83280" y="4114800"/>
            <a:ext cx="932347" cy="1441730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flipH="1">
            <a:off x="2450933" y="4114800"/>
            <a:ext cx="932347" cy="1441730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flipH="1">
            <a:off x="1288316" y="4114800"/>
            <a:ext cx="2094964" cy="356078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703249" y="3117092"/>
            <a:ext cx="1680031" cy="997708"/>
          </a:xfrm>
          <a:prstGeom prst="line">
            <a:avLst/>
          </a:prstGeom>
          <a:noFill/>
          <a:ln w="15875">
            <a:solidFill>
              <a:srgbClr val="50808E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331720" y="36576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2331720" y="3657600"/>
            <a:ext cx="2103120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çekirdek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51760" y="2212848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2651760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Dosya sistemleri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31791" y="28153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331791" y="2815340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Aygıt sürücüleri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46724" y="4169126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746724" y="4169126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Zamanlama sınıfları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84107" y="5254778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3584107" y="5254778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 protokolleri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719413" y="5254778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719413" y="5254778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Çalıştırılabilir biçimler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6796" y="4169126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556796" y="4169126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Güvenlik modülleri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71729" y="28153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971729" y="2815340"/>
            <a:ext cx="146304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/ Bluetooth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126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Modüller gerektiğinde yüklenir ve çalışan çekirdeğe bağlanır.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29400" y="205740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685800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Avantajlar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Monolitik gibi hızlı: modüller çekirdek modunda çalışır.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Mikroçekirdek gibi esnek: sürücü gerektiğinde yüklenir.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629400" y="3703320"/>
            <a:ext cx="5029200" cy="1463040"/>
          </a:xfrm>
          <a:prstGeom prst="roundRect">
            <a:avLst>
              <a:gd name="adj" fmla="val 3750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85800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Dezavantajlar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43434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Hatalı bir modül de çekirdek modunda çalışır ve sistemi çökertebilir.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629400" y="534924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858000" y="53492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Örnekler: Linux (lsmod, insmod, rmmod), Solaris, modern BSD'ler. Bugün en yaygın tasarım.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Örnek: C ile Yüklenebilir Bir Çekirdek Modülü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6492240" cy="4754880"/>
          </a:xfrm>
          <a:prstGeom prst="roundRect">
            <a:avLst>
              <a:gd name="adj" fmla="val 962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1618488"/>
            <a:ext cx="612648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&lt;linux/init.h&gt;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&lt;linux/module.h&gt;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&lt;linux/kernel.h&gt;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MODULE_LICENSE("GPL");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MODULE_AUTHOR("MBLP131");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MODULE_DESCRIPTION("Merhaba dünya çekirdek modülü");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int __init hello_init(void)    /* insmod sırasında çalışır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pr_info("hello_module: loaded into the kernel\n");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0;                          /* 0 = başarılı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void __exit hello_exit(void)   /* rmmod sırasında çalışır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pr_info("hello_module: removed from the kernel\n");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module_init(hello_init);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module_exit(hello_exit);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0" y="1508760"/>
            <a:ext cx="4343400" cy="2651760"/>
          </a:xfrm>
          <a:prstGeom prst="roundRect">
            <a:avLst>
              <a:gd name="adj" fmla="val 206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543800" y="16916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Nasıl kullanılır (Linux)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2148840"/>
            <a:ext cx="3886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Çekirdeğin kendi derleme sistemiyle derleyin (code klasöründeki Makefile).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pr_info() ekrana değil, çekirdek günlüğüne yazar.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bir sanal makinede deneyin.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0" y="4389120"/>
            <a:ext cx="4343400" cy="1874520"/>
          </a:xfrm>
          <a:prstGeom prst="roundRect">
            <a:avLst>
              <a:gd name="adj" fmla="val 2439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498080" y="4498848"/>
            <a:ext cx="397764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make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insmod hello_module.ko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lsmod | grep hello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dmesg | tail -1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hello_module: loaded into the kernel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rmmod hello_module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YAPI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Hibrit Sistemler: Gerçek Sistemler Ne Yapar?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 tasarımlar nadirdir. Gerçek sistemler başarım, güvenlik ve kolaylık için birkaç yapıdan ödünç alır.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 (NT ailesi)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Mikroçekirdek fikirleriyle tasarlandı (ayrı alt sistemler).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için grafik dâhil çoğu hizmet çekirdek modunda çalışır.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Modüller gibi yüklenebilir sürücüler.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2816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5676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macOS ve iOS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Çekirdek "XNU" = Mach mikroçekirdeği + BSD UNIX parçaları, tek bir çekirdek olarak derlenir.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Sürücüler yüklenebilir çekirdek uzantılarıdır.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07680" y="2103120"/>
            <a:ext cx="3550920" cy="315468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36280" y="2286000"/>
            <a:ext cx="309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743200"/>
            <a:ext cx="3093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Değiştirilmiş bir Linux çekirdeği (monolitik + modüller).</a:t>
            </a:r>
            <a:endParaRPr lang="en-US" sz="15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Üstünde: donanım soyutlama katmanı, yerel kütüphaneler ve uygulamalar için Android çalışma ortamı.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1992: Andrew Tanenbaum (MINIX, mikroçekirdek), monolitik olduğu için Linus Torvalds'a "Linux artık eskidi" dedi. Otuz yılı aşkın süre sonra iki tasarım da hâlâ her gün kullanılıyor.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Yapılar Yan Yana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1463040"/>
                <a:gridCol w="214884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Yapı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Çekirdek modunda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Hız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Güvenilirlik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Örnek</a:t>
                      </a: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 şey (koruma yok)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çok düşük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MS-DOS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Monolitik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tüm İS hizmetleri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UNIX, Linux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Katmanlı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tüm katmanlar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düşük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(1968)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Mikroçekirdek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yalnızca küçük çekirdek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daha düşük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MINIX 3, QNX, seL4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Modüler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çekirdek + yüklenen modüller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Linux, Solaris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Hibrit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orta–yüksek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A46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Windows, macOS, Android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F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36454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77240" y="5486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Yinelenen ödünleşim: eklediğiniz her sınır (katman, mesaj, mod geçişi) güvenilirlik kazandırır, hızdan götürür.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KENDİNİZ DENEYİN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Kendi İşletim Sisteminizin İçine Bakın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6035040" cy="4754880"/>
          </a:xfrm>
          <a:prstGeom prst="roundRect">
            <a:avLst>
              <a:gd name="adj" fmla="val 962"/>
            </a:avLst>
          </a:prstGeom>
          <a:solidFill>
            <a:srgbClr val="21212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31520" y="1618488"/>
            <a:ext cx="5669280" cy="453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Linux (laboratuvar PC'leri, WSL ya da sanal makine)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uname -r          # çekirdek sürümü nedir?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lsmod | head      # hangi modüller yüklü?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strace -c ls      # ls'nin sistem çağrılarını say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winver            # hangi Windows sürümü?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driverquery       # yüklü sürücüleri listele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Görev Yöneticisi &gt; Performans: CPU süresi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A9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"kullanıcı" ve "çekirdek" süresine ayrılır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1508760"/>
            <a:ext cx="4800600" cy="4754880"/>
          </a:xfrm>
          <a:prstGeom prst="roundRect">
            <a:avLst>
              <a:gd name="adj" fmla="val 1154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086600" y="1691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Yanıtlanacak sorular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148840"/>
            <a:ext cx="43434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Makinenizde kaç çekirdek modülü yüklü?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en sık hangi sistem çağrısını kullanıyor?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gibi basit bir komut kabaca kaç sistem çağrısı yapar? (Test makinemizde: 76.)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 Yöneticisi'ni açın ve çekirdek modunda çok zaman geçiren bir program bulun. Bunun nedeni ne olabilir?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KAPANIŞ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Hafta — Temel Çıkarımlar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Tanım:</a:t>
            </a:r>
            <a:r>
              <a:rPr lang="en-US" sz="17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işletim sistemi donanımı yönetir ve programlara daha basit, daha güvenli bir makine sunar; bellekte sürekli bulunan özü çekirdektir.</a:t>
            </a:r>
            <a:endParaRPr lang="en-US" sz="17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bakış:</a:t>
            </a:r>
            <a:r>
              <a:rPr lang="en-US" sz="17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genişletilmiş makine (soyutlama, yukarıdan aşağıya) ve kaynak yöneticisi (çoğullama, aşağıdan yukarıya).</a:t>
            </a:r>
            <a:endParaRPr lang="en-US" sz="17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hedef:</a:t>
            </a:r>
            <a:r>
              <a:rPr lang="en-US" sz="17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kolaylık, verimlilik, gelişebilirlik; PC'lerde, sunucularda, telefonlarda ve gömülü sistemlerde farklı ağırlıklarla.</a:t>
            </a:r>
            <a:endParaRPr lang="en-US" sz="17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bileşen:</a:t>
            </a:r>
            <a:r>
              <a:rPr lang="en-US" sz="17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donanım, işletim sistemi, uygulama programları, kullanıcılar.</a:t>
            </a:r>
            <a:endParaRPr lang="en-US" sz="17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Koruma donanım ister:</a:t>
            </a:r>
            <a:r>
              <a:rPr lang="en-US" sz="17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çift mod (kullanıcı/çekirdek) ve kesmeler; bir sistem çağrısı, bir fonksiyon çağrısından çok daha pahalıdır.</a:t>
            </a:r>
            <a:endParaRPr lang="en-US" sz="17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Yapılar:</a:t>
            </a:r>
            <a:r>
              <a:rPr lang="en-US" sz="17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basit, monolitik, katmanlı, mikroçekirdek, modüler, hibrit; her biri hız ile güvenilirlik arasında farklı bir uzlaşma.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SINAV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Anladıklarınızı Kontrol Edin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1109960" cy="1037844"/>
          </a:xfrm>
          <a:prstGeom prst="roundRect">
            <a:avLst>
              <a:gd name="adj" fmla="val 5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780794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77240" y="178079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508760"/>
            <a:ext cx="9921240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sisteminin yaptığı zamanda çoğullamaya ve alanda çoğullamaya birer örnek verin.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47772"/>
            <a:ext cx="11109960" cy="1037844"/>
          </a:xfrm>
          <a:prstGeom prst="roundRect">
            <a:avLst>
              <a:gd name="adj" fmla="val 5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7240" y="3019806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77240" y="301980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747772"/>
            <a:ext cx="9921240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MS-DOS'taki bir programın hatası neden tüm bilgisayarı çökertebilirdi de Linux'taki bir programınki çökertemez?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11109960" cy="1037844"/>
          </a:xfrm>
          <a:prstGeom prst="roundRect">
            <a:avLst>
              <a:gd name="adj" fmla="val 5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4258818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77240" y="425881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86784"/>
            <a:ext cx="9921240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sistem çağrısı 100 ns, bir fonksiyon çağrısı 1,5 ns sürüyor. 10⁶ sistem çağrısı, 10⁶ fonksiyon çağrısına göre ne kadar ek yük getirir?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225796"/>
            <a:ext cx="11109960" cy="1037844"/>
          </a:xfrm>
          <a:prstGeom prst="roundRect">
            <a:avLst>
              <a:gd name="adj" fmla="val 5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" y="5497830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77240" y="549783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225796"/>
            <a:ext cx="9921240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4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Mikroçekirdeğin monolitik çekirdeğe göre bir avantajını ve bir dezavantajını söyleyin.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Hizmetler, Sistem Çağrıları ve Süreçler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7680960" cy="2926080"/>
          </a:xfrm>
          <a:prstGeom prst="roundRect">
            <a:avLst>
              <a:gd name="adj" fmla="val 1875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3017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haftanın konuları: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47472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İşletim sisteminin sunduğu hizmetler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Ayrıntılı olarak sistem çağrıları: türleri, parametreleri, sistem çağrısı tablosu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kavramı: yürütülmekte olan bir program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durumları: yeni, hazır, çalışıyor, bekliyor, sonlandı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17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Tartışma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Dersten sonra sorularınız olursa dersin Telegram kanalında sorun — yanıttan herkes yararlanır.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2194560" cy="21945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3108960" y="37033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Öğr. Üyesi Hasan Oğuz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Ofis: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[ders grubu bağlantısı]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5288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MBLP131 — İşletim Sistemleri Temelleri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27145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MBLP131 İşletim Sistemleri Temelleri — Hafta 2</dc:title>
  <dc:subject>PptxGenJS Presentation</dc:subject>
  <dc:creator>PptxGenJS</dc:creator>
  <cp:lastModifiedBy>PptxGenJS</cp:lastModifiedBy>
  <cp:revision>1</cp:revision>
  <dcterms:created xsi:type="dcterms:W3CDTF">2026-10-08T12:21:55Z</dcterms:created>
  <dcterms:modified xsi:type="dcterms:W3CDTF">2026-10-08T12:21:55Z</dcterms:modified>
</cp:coreProperties>
</file>