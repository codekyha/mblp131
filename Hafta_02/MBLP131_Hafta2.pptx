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Tekrar hoş geldiniz. Geçen hafta işin hikâyesini anlattık; bu hafta anatomisine bakıyoruz. İki saatlik dersin ilk saatinde tanımlar ve hedefler, ikinci saatinde donanımın temelleri ve işletim sistemi yapıları var; arada kısa bir mola vereceğiz.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bakış açısını vurgulayın: konum (kullanıcı ile donanım arasında), süreklilik (her an çalışan program: çekirdek) ve işlev (kaynakları yönetmek). Hiçbiri yanlış değildir; her biri farklı bir yönü öne çıkarır.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Ölçekleme sütunu: her süre 1/(0,3 ns) ≈ 3,3 × 10^9 ile çarpılır. RAM: 100 ns × 3,3e9 ≈ 330 s ≈ 5,5 dk; SSD 50 µs → 1,7e5 s ≈ 2 gün; HDD 5 ms → 1,7e7 s ≈ 190 gün. Değerler büyüklük mertebesidir ve günümüz donanımı için tipiktir.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strace'ten çıkan temel gözlem: printf de sonunda bir write() sistem çağrısına dönüşür. Kütüphane fonksiyonları kolaylık sağlayan sarmalayıcılardır; çekirdeğe yalnızca sistem çağrıları geçer. Öğrenciler bunu 9. haftada laboratuvar bilgisayarlarında ya da WSL'de deneyebilir.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değerler derleme ortamımızda (bir sanal makinede) ölçüldü. Doğrudan donanım üzerinde çalışan Linux'ta bir getpid sistem çağrısı çoğunlukla 50–150 ns sürer. Mod geçişleri bedava değildir; bu tek gerçek, Bölüm 4'ün büyük kısmını (mikroçekirdeklerin neden daha yavaş olduğunu) açıklar.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bir gösterim slaydıdır; öğrencilerin çekirdek modülü yazması gerekmez. Vurgulayın: main() yoktur, onun yerine init/exit fonksiyonları vardır; kod çekirdek modunda çalışır; çıktı çekirdek günlüğüne (dmesg) gider.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 ·  HAFTA 2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Sistemleri</a:t>
            </a:r>
            <a:endParaRPr lang="tr-TR" sz="4000" dirty="0"/>
          </a:p>
          <a:p>
            <a:pPr indent="0" marL="0">
              <a:buNone/>
            </a:pPr>
            <a:r>
              <a:rPr lang="tr-TR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Temelleri</a:t>
            </a:r>
            <a:endParaRPr lang="tr-TR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Tanımlar, Hedefler, Bileşenler ve İşletim Sistemi Yapıları</a:t>
            </a:r>
            <a:endParaRPr lang="tr-TR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tam olarak nedir, ne işe yarar ve nasıl inşa edilir?</a:t>
            </a:r>
            <a:endParaRPr lang="tr-T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0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 Haberleşme Teknolojisi Programı  ·  Meslek Yüksekokulu  ·  İstanbul Okan Üniversitesi</a:t>
            </a:r>
            <a:endParaRPr lang="tr-T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Fikirde 1. Hafta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Bilgisayar komut izler</a:t>
            </a:r>
            <a:endParaRPr lang="tr-TR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→ işlem → çıktı; program, verinin yanında bellekte saklanır.</a:t>
            </a:r>
            <a:endParaRPr lang="tr-TR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188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o başlar</a:t>
            </a:r>
            <a:endParaRPr lang="tr-TR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ilk başlar ve diğer programlar çalışabilsin diye her şeyi yönetir.</a:t>
            </a:r>
            <a:endParaRPr lang="tr-TR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Boş işlemci israftır</a:t>
            </a:r>
            <a:endParaRPr lang="tr-TR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işleme, çoklu programlama ve zaman paylaşımı, işlemciyi meşgul tutmak için icat edildi.</a:t>
            </a:r>
            <a:endParaRPr lang="tr-TR" sz="1500" dirty="0"/>
          </a:p>
        </p:txBody>
      </p:sp>
      <p:sp>
        <p:nvSpPr>
          <p:cNvPr id="15" name="Shape 13"/>
          <p:cNvSpPr/>
          <p:nvPr/>
        </p:nvSpPr>
        <p:spPr>
          <a:xfrm>
            <a:off x="905256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8116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UNIX 1969, Linux 1991</a:t>
            </a:r>
            <a:endParaRPr lang="tr-T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Küçük, birleştirilebilir araçlar; 9. haftadan itibaren uygulamalı olarak Linux kullanacağız.</a:t>
            </a:r>
            <a:endParaRPr lang="tr-TR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gayriresmî tanımın yerine kesin bir tanım koyuyor ve işletim sistemlerinin gerçekte nasıl inşa edildiğine bakıyoruz.</a:t>
            </a:r>
            <a:endParaRPr lang="tr-TR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Bugünün Gündemi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tr-TR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37360" y="15544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Tanımlar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tam olarak nedir? İki klasik bakış açısı.</a:t>
            </a:r>
            <a:endParaRPr lang="tr-TR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tr-TR" sz="2000" dirty="0"/>
          </a:p>
        </p:txBody>
      </p:sp>
      <p:sp>
        <p:nvSpPr>
          <p:cNvPr id="12" name="Shape 10"/>
          <p:cNvSpPr/>
          <p:nvPr/>
        </p:nvSpPr>
        <p:spPr>
          <a:xfrm>
            <a:off x="1463040" y="24688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737360" y="24688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Hedefler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kolaylığı, verimlilik, gelişebilirlik ve aralarındaki ödünleşimler.</a:t>
            </a:r>
            <a:endParaRPr lang="tr-TR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tr-TR" sz="2000" dirty="0"/>
          </a:p>
        </p:txBody>
      </p:sp>
      <p:sp>
        <p:nvSpPr>
          <p:cNvPr id="16" name="Shape 14"/>
          <p:cNvSpPr/>
          <p:nvPr/>
        </p:nvSpPr>
        <p:spPr>
          <a:xfrm>
            <a:off x="1463040" y="33832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737360" y="33832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Bileşenler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Donanım, işletim sistemi, uygulamalar, kullanıcılar; kesmeler, bellek, ikili mod.</a:t>
            </a:r>
            <a:endParaRPr lang="tr-TR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tr-TR" sz="2000" dirty="0"/>
          </a:p>
        </p:txBody>
      </p:sp>
      <p:sp>
        <p:nvSpPr>
          <p:cNvPr id="20" name="Shape 18"/>
          <p:cNvSpPr/>
          <p:nvPr/>
        </p:nvSpPr>
        <p:spPr>
          <a:xfrm>
            <a:off x="1463040" y="42976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737360" y="42976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Yapılar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Basit, monolitik, katmanlı, mikroçekirdek, modüler, hibrit.</a:t>
            </a:r>
            <a:endParaRPr lang="tr-TR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tr-TR" sz="2000" dirty="0"/>
          </a:p>
        </p:txBody>
      </p:sp>
      <p:sp>
        <p:nvSpPr>
          <p:cNvPr id="24" name="Shape 22"/>
          <p:cNvSpPr/>
          <p:nvPr/>
        </p:nvSpPr>
        <p:spPr>
          <a:xfrm>
            <a:off x="1463040" y="52120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737360" y="5212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C kodu ve strace ile sistem çağrılarını izlemek.</a:t>
            </a:r>
            <a:endParaRPr lang="tr-T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Sistemi Tam Olarak Nedir?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Gayriresmî bir tariften kesin bir tanıma.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4</a:t>
            </a:r>
            <a:endParaRPr lang="tr-T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Karşınıza Çıkacak Üç Tanım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Aracı</a:t>
            </a:r>
            <a:endParaRPr lang="tr-T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Bilgisayarın kullanıcısı ile bilgisayar donanımı arasında aracılık eden (intermediary) bir program.</a:t>
            </a:r>
            <a:endParaRPr lang="tr-TR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Silberschatz, Galvin ve Gagne</a:t>
            </a:r>
            <a:endParaRPr lang="tr-TR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55448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44568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Çekirdek</a:t>
            </a:r>
            <a:endParaRPr lang="tr-TR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19456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Bilgisayarda her an çalışan tek program: çekirdek (kernel). Geri kalan her şey ya bir sistem programı ya da bir uygulama programıdır.</a:t>
            </a:r>
            <a:endParaRPr lang="tr-T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Silberschatz, Galvin ve Gagne</a:t>
            </a:r>
            <a:endParaRPr lang="tr-TR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55448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11896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Yönetici</a:t>
            </a:r>
            <a:endParaRPr lang="tr-TR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219456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Programların yürütülmesini denetleyen ve bilgisayarın kaynaklarını (işlemci, bellek, dosyalar, aygıtlar) yöneten yazılım.</a:t>
            </a:r>
            <a:endParaRPr lang="tr-T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Stallings (özetle)</a:t>
            </a:r>
            <a:endParaRPr lang="tr-TR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5212080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dersteki çalışma tanımımız: işletim sistemi, donanımı yöneten ve programlara üzerinde çalışabilecekleri daha basit, daha güvenli bir makine sunan yazılım katmanıdır. Bellekte sürekli bulunan özüne çekirdek (kernel) denir.</a:t>
            </a:r>
            <a:endParaRPr lang="tr-TR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İKİ KLASİK BAKIŞ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Genişletilmiş Makine ve Kaynak Yöneticisi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Tanenbaum işletim sistemini iki yönden anlatır: yukarıdan aşağıya ve aşağıdan yukarıya.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6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Yukarıdan aşağıya: genişletilmiş makine</a:t>
            </a:r>
            <a:endParaRPr lang="tr-TR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donanımı temiz soyutlamaların (abstraction) arkasına gizler.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sektörlerini ve manyetik izleri değil, dosyaları görürsünüz.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Kesme hatlarını ve yazmaçları değil, süreçleri görürsünüz.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bilgisayarı programlamayı ve kullanmayı kolaylaştırmak.</a:t>
            </a:r>
            <a:endParaRPr lang="tr-TR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2860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Aşağıdan yukarıya: kaynak yöneticisi</a:t>
            </a:r>
            <a:endParaRPr lang="tr-TR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74320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Birçok program ve kullanıcı tek bir makine için yarışır.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çoğullama (time multiplexing):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sırayla kullanım (işlemci, yazıcı).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çoğullama (space multiplexing):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parçalara bölerek paylaşım (bellek, disk alanı).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kaynakları adil, verimli ve güvenli biçimde dağıtmak.</a:t>
            </a:r>
            <a:endParaRPr lang="tr-TR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bakış da aynı yazılımı anlatır. Bu dersin 3–7. haftaları çoğunlukla kaynak yöneticisi bakışıdır: süreçler, işlemci, bellek, dosyalar.</a:t>
            </a:r>
            <a:endParaRPr lang="tr-T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Çekirdek, Sistem Programları ve Uygulamalar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sistemiyle birlikte gelen her şey "çekirdek" değildir.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7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6035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programları</a:t>
            </a:r>
            <a:endParaRPr lang="tr-TR" sz="13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tarayıcı, kelime işlemci, oyun, kendi C programınız</a:t>
            </a:r>
            <a:endParaRPr lang="tr-TR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D7E9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6035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programları</a:t>
            </a:r>
            <a:endParaRPr lang="tr-TR" sz="13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kabuk, dosya yöneticisi, derleyici, ls, cp, Görev Yöneticisi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6035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(kernel)</a:t>
            </a:r>
            <a:endParaRPr lang="tr-TR" sz="13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süreç, bellek, dosya ve aygıt yönetimi</a:t>
            </a:r>
            <a:endParaRPr lang="tr-TR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3645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54880"/>
            <a:ext cx="6035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</a:t>
            </a:r>
            <a:endParaRPr lang="tr-TR" sz="13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işlemci, bellek, diskler, ağ kartı, ekran</a:t>
            </a:r>
            <a:endParaRPr lang="tr-TR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69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2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 yalnızca altındaki katmanın hizmetlerini kullanır.</a:t>
            </a:r>
            <a:endParaRPr lang="tr-TR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148840"/>
            <a:ext cx="4800600" cy="4114800"/>
          </a:xfrm>
          <a:prstGeom prst="roundRect">
            <a:avLst>
              <a:gd name="adj" fmla="val 1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86600" y="23317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kimdir?</a:t>
            </a:r>
            <a:endParaRPr lang="tr-TR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788920"/>
            <a:ext cx="4343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Çekirdek: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zaman bellektedir, ayrıcalıklı bir modda çalışır, donanımla doğrudan konuşur.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programları: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işletim sistemiyle gelir ama normal program olarak çalışır; sistemi kullanılabilir kılar.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Uygulamalar: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asıl işinizi yapmak için kurduğunuz her şey.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tam anlamıyla yalnızca çekirdektir; bir "Linux dağıtımı" buna (çoğu GNU'dan gelen) sistem programlarını ekler.</a:t>
            </a:r>
            <a:endParaRPr lang="tr-TR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Bu, İşletim Sisteminin Parçası mı?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resmî yanıt yok; asıl mesele de bu. Önce oylayın, sonra tartışın.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8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tarayıcısı?</a:t>
            </a:r>
            <a:endParaRPr lang="tr-TR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1998'de ABD hükümeti Microsoft'a, kısmen Internet Explorer'ı Windows'a gömdüğü için dava açtı. Tarayıcı "Windows'un parçası" mı? Avukatlar bunu yıllarca tartıştı.</a:t>
            </a:r>
            <a:endParaRPr lang="tr-TR" sz="1450" dirty="0"/>
          </a:p>
        </p:txBody>
      </p:sp>
      <p:sp>
        <p:nvSpPr>
          <p:cNvPr id="10" name="Shape 8"/>
          <p:cNvSpPr/>
          <p:nvPr/>
        </p:nvSpPr>
        <p:spPr>
          <a:xfrm>
            <a:off x="432816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676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masaüstü?</a:t>
            </a:r>
            <a:endParaRPr lang="tr-TR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Windows'ta sisteme sıkıca bütünleşiktir. Linux'ta ise çekirdeğin üzerinde çalışan, değiştirilebilir bir programdır (GNOME, KDE, …).</a:t>
            </a:r>
            <a:endParaRPr lang="tr-TR" sz="1450" dirty="0"/>
          </a:p>
        </p:txBody>
      </p:sp>
      <p:sp>
        <p:nvSpPr>
          <p:cNvPr id="13" name="Shape 11"/>
          <p:cNvSpPr/>
          <p:nvPr/>
        </p:nvSpPr>
        <p:spPr>
          <a:xfrm>
            <a:off x="810768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3628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mağazası?</a:t>
            </a:r>
            <a:endParaRPr lang="tr-TR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 çoğu kullanıcı uygulama mağazasını "sistemin kendisi" sanır. Teknik olarak özel izinlere sahip bir uygulamadır.</a:t>
            </a:r>
            <a:endParaRPr lang="tr-TR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Kullanışlı bir kural: çekirdek kesinlikle işletim sistemidir. Çekirdeğin ötesinde "işletim sistemi", üreticinin standart sistem olarak sunduğu her şeydir.</a:t>
            </a:r>
            <a:endParaRPr lang="tr-T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Sistemi Ne İşe Yarar?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tasarım hedefi ve bu hedeflerin neden farklı yönlere çektiği.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9</a:t>
            </a:r>
            <a:endParaRPr lang="tr-TR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 HEDEFLERİ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İşletim Sisteminin Üç Hedefi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Stallings bir işletim sisteminin amaçlarını üç kelimeyle özetler.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10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Kullanım kolaylığı</a:t>
            </a:r>
            <a:endParaRPr lang="tr-TR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Bilgisayarı kullanmayı ve programlamayı kolaylaştırır.</a:t>
            </a:r>
            <a:endParaRPr lang="tr-TR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Dosyalar, pencereler, kabuk, basit sistem çağrıları.</a:t>
            </a:r>
            <a:endParaRPr lang="tr-TR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Kullanıcıların donanımı bilmesi gerekmez.</a:t>
            </a:r>
            <a:endParaRPr lang="tr-TR" sz="1500" dirty="0"/>
          </a:p>
        </p:txBody>
      </p:sp>
      <p:sp>
        <p:nvSpPr>
          <p:cNvPr id="10" name="Shape 8"/>
          <p:cNvSpPr/>
          <p:nvPr/>
        </p:nvSpPr>
        <p:spPr>
          <a:xfrm>
            <a:off x="432816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676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Verimlilik</a:t>
            </a:r>
            <a:endParaRPr lang="tr-TR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Donanımı iyi kullanır: işlemci meşgul, bellek yararlı işle dolu, diskler beklemiyor.</a:t>
            </a:r>
            <a:endParaRPr lang="tr-TR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ek yük (overhead): işletim sisteminin kendisi az kaynak tüketmeli.</a:t>
            </a:r>
            <a:endParaRPr lang="tr-TR" sz="1500" dirty="0"/>
          </a:p>
        </p:txBody>
      </p:sp>
      <p:sp>
        <p:nvSpPr>
          <p:cNvPr id="13" name="Shape 11"/>
          <p:cNvSpPr/>
          <p:nvPr/>
        </p:nvSpPr>
        <p:spPr>
          <a:xfrm>
            <a:off x="810768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3628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Gelişebilirlik</a:t>
            </a:r>
            <a:endParaRPr lang="tr-TR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donanım (SSD, GPU, 5G modem) ve yeni hizmetler eklenebilmeli…</a:t>
            </a:r>
            <a:endParaRPr lang="tr-TR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…mevcut programlar bozulmadan.</a:t>
            </a:r>
            <a:endParaRPr lang="tr-TR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yapısının seçimini belirler (Bölüm 4).</a:t>
            </a:r>
            <a:endParaRPr lang="tr-TR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İleride ele alacağımız her yapı, bu üç hedef arasında farklı bir uzlaşmadır.</a:t>
            </a:r>
            <a:endParaRPr lang="tr-TR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ÖDÜNLEŞİMLER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Hedef Daha Önemli? Makineye Bağlı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11</a:t>
            </a:r>
            <a:endParaRPr lang="tr-TR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468880"/>
                <a:gridCol w="6080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Sistem türü</a:t>
                      </a:r>
                      <a:endParaRPr lang="tr-TR" sz="15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 öncelik</a:t>
                      </a:r>
                      <a:endParaRPr lang="tr-TR" sz="15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Neden</a:t>
                      </a:r>
                      <a:endParaRPr lang="tr-TR" sz="15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Kişisel bilgisayar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 kolaylığı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şeyin "öylece çalışmasını" isteyen tek bir kullanıcı; işlemci zaten çoğu zaman boştadır.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Sunucu / bulut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Verimlilik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Binlerce kullanıcı; %1 daha fazla iş hacmi, yüzlerce makine daha az demek olabilir.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Akıllı telefon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Verimlilik (enerji)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 ömrü: işletim sistemi uygulamaları ve işlemciyi agresif biçimde uyutur.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Gömülü / IoT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Verimlilik (boyut, maliyet)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çamaşır makinesi denetleyicisinin birkaç kilobaytlık belleği olabilir; hiç işletim sistemi olmayabilir.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zamanlı (araç frenleri, dronlar)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Öngörülebilirlik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 gelen yanıt yanlış yanıttır: son tarihler (deadline) her zaman karşılanmalıdır.</a:t>
                      </a:r>
                      <a:endParaRPr lang="tr-TR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ÖDÜNLEŞİMLER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Kolaylık ve Verimlilik: Çözümlü Örnek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12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035040" cy="4754880"/>
          </a:xfrm>
          <a:prstGeom prst="roundRect">
            <a:avLst>
              <a:gd name="adj" fmla="val 1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Durum</a:t>
            </a:r>
            <a:endParaRPr lang="tr-T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5778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program bir dosyadan 1 milyon sayı okumalıdır.</a:t>
            </a:r>
            <a:endParaRPr lang="tr-TR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Kolay yol:</a:t>
            </a: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işletim sisteminden her seferinde bir sayı istemek → 1 milyon sistem çağrısı.</a:t>
            </a:r>
            <a:endParaRPr lang="tr-TR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Verimli yol:</a:t>
            </a: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4096 baytlık bloklar istemek (her biri ≈ 1000 sayı) → yaklaşık 1000 sistem çağrısı.</a:t>
            </a:r>
            <a:endParaRPr lang="tr-TR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sistem çağrısının saf ek yükü yaklaşık 0,1 µs ise (bunu bugün ölçeceğiz):</a:t>
            </a:r>
            <a:endParaRPr lang="tr-TR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1508760"/>
            <a:ext cx="4800600" cy="2743200"/>
          </a:xfrm>
          <a:prstGeom prst="roundRect">
            <a:avLst>
              <a:gd name="adj" fmla="val 1667"/>
            </a:avLst>
          </a:prstGeom>
          <a:solidFill>
            <a:srgbClr val="2121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1618488"/>
            <a:ext cx="443484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teker teker:</a:t>
            </a:r>
            <a:endParaRPr lang="tr-TR" sz="14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1 000 000 × 0.1 µs = 100 ms</a:t>
            </a:r>
            <a:endParaRPr lang="tr-TR" sz="14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4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1000'lik bloklarla:</a:t>
            </a:r>
            <a:endParaRPr lang="tr-TR" sz="14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1 000 × 0.1 µs = 0.1 ms</a:t>
            </a:r>
            <a:endParaRPr lang="tr-TR" sz="14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4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1000 kat daha az ek yük</a:t>
            </a:r>
            <a:endParaRPr lang="tr-TR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4480560"/>
            <a:ext cx="4800600" cy="1783080"/>
          </a:xfrm>
          <a:prstGeom prst="roundRect">
            <a:avLst>
              <a:gd name="adj" fmla="val 307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86600" y="4480560"/>
            <a:ext cx="4343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C'nin stdio gibi kütüphaneleri ikisini birden verir: fgetc() fonksiyonunu karakter karakter çağırırsınız, ama kütüphane arka planda büyük bloklar okur.</a:t>
            </a:r>
            <a:endParaRPr lang="tr-TR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Bilgisayar Sisteminin Bileşenleri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Donanım, işletim sistemi, uygulama programları ve kullanıcılar.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13</a:t>
            </a:r>
            <a:endParaRPr lang="tr-TR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BİLEŞENLER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Bilgisayar Sisteminin Dört Bileşeni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14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1</a:t>
            </a:r>
            <a:endParaRPr lang="tr-TR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2</a:t>
            </a:r>
            <a:endParaRPr lang="tr-TR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2336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3</a:t>
            </a:r>
            <a:endParaRPr lang="tr-TR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6072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tr-TR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7E9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Derleyici</a:t>
            </a:r>
            <a:endParaRPr lang="tr-TR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251460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7E9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8600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</a:t>
            </a:r>
            <a:endParaRPr lang="tr-TR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251460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7E9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02336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düzenleyici</a:t>
            </a:r>
            <a:endParaRPr lang="tr-TR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51460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7E9E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tr-TR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6766560" cy="822960"/>
          </a:xfrm>
          <a:prstGeom prst="roundRect">
            <a:avLst>
              <a:gd name="adj" fmla="val 5556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611880"/>
            <a:ext cx="67665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</a:t>
            </a:r>
            <a:endParaRPr lang="tr-TR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6766560" cy="822960"/>
          </a:xfrm>
          <a:prstGeom prst="roundRect">
            <a:avLst>
              <a:gd name="adj" fmla="val 5556"/>
            </a:avLst>
          </a:prstGeom>
          <a:solidFill>
            <a:srgbClr val="3645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846320"/>
            <a:ext cx="67665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donanımı</a:t>
            </a:r>
            <a:endParaRPr lang="tr-TR" sz="16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işlemci · bellek · G/Ç aygıtları</a:t>
            </a:r>
            <a:endParaRPr lang="tr-TR" sz="1600" dirty="0"/>
          </a:p>
        </p:txBody>
      </p:sp>
      <p:sp>
        <p:nvSpPr>
          <p:cNvPr id="26" name="Shape 24"/>
          <p:cNvSpPr/>
          <p:nvPr/>
        </p:nvSpPr>
        <p:spPr>
          <a:xfrm>
            <a:off x="1325880" y="212140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63240" y="212140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00600" y="212140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37960" y="212140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325880" y="321868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63240" y="321868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00600" y="321868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37960" y="321868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931920" y="445312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89520" y="1554480"/>
            <a:ext cx="4069080" cy="4709160"/>
          </a:xfrm>
          <a:prstGeom prst="roundRect">
            <a:avLst>
              <a:gd name="adj" fmla="val 134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818120" y="17373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Roller</a:t>
            </a:r>
            <a:endParaRPr lang="tr-TR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818120" y="2194560"/>
            <a:ext cx="3611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temel hesaplama kaynaklarını sağlar.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programları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 kaynakları kullanıcıların sorunlarını çözmek için kullanır.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Kullanıcılar: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insanlar, ama aynı zamanda başka makineler ve programlar.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donanımı denetler ve onun uygulamalar ile kullanıcılar arasında kullanımını eşgüdümler.</a:t>
            </a:r>
            <a:endParaRPr lang="tr-TR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DONANIM GÖRÜNÜMÜ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Kasanın İçi: Yol Üzerinde İşlemci, Bellek ve Aygıtlar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09960" cy="20116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399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1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yolu (system bus): veri, adres ve denetim sinyallerini taşır</a:t>
            </a:r>
            <a:endParaRPr lang="tr-TR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103120" cy="1051560"/>
          </a:xfrm>
          <a:prstGeom prst="roundRect">
            <a:avLst>
              <a:gd name="adj" fmla="val 4348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86000"/>
            <a:ext cx="210312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İşlemci</a:t>
            </a:r>
            <a:endParaRPr lang="tr-TR" sz="16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getir–çöz–yürüt</a:t>
            </a:r>
            <a:endParaRPr lang="tr-TR" sz="1600" dirty="0"/>
          </a:p>
        </p:txBody>
      </p:sp>
      <p:sp>
        <p:nvSpPr>
          <p:cNvPr id="10" name="Shape 8"/>
          <p:cNvSpPr/>
          <p:nvPr/>
        </p:nvSpPr>
        <p:spPr>
          <a:xfrm>
            <a:off x="1600200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2286000"/>
            <a:ext cx="2103120" cy="1051560"/>
          </a:xfrm>
          <a:prstGeom prst="roundRect">
            <a:avLst>
              <a:gd name="adj" fmla="val 4348"/>
            </a:avLst>
          </a:prstGeom>
          <a:solidFill>
            <a:srgbClr val="3645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80360" y="2286000"/>
            <a:ext cx="210312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bellek</a:t>
            </a:r>
            <a:endParaRPr lang="tr-TR" sz="16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tr-TR" sz="1600" dirty="0"/>
          </a:p>
        </p:txBody>
      </p:sp>
      <p:sp>
        <p:nvSpPr>
          <p:cNvPr id="13" name="Shape 11"/>
          <p:cNvSpPr/>
          <p:nvPr/>
        </p:nvSpPr>
        <p:spPr>
          <a:xfrm>
            <a:off x="3931920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2286000"/>
            <a:ext cx="1481328" cy="105156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57800" y="2286000"/>
            <a:ext cx="1481328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denetleyicisi</a:t>
            </a:r>
            <a:endParaRPr lang="tr-TR" sz="1200" dirty="0"/>
          </a:p>
        </p:txBody>
      </p:sp>
      <p:sp>
        <p:nvSpPr>
          <p:cNvPr id="16" name="Shape 14"/>
          <p:cNvSpPr/>
          <p:nvPr/>
        </p:nvSpPr>
        <p:spPr>
          <a:xfrm>
            <a:off x="5998464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57800" y="3886200"/>
            <a:ext cx="148132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3886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/ HDD</a:t>
            </a:r>
            <a:endParaRPr lang="tr-TR" sz="1200" dirty="0"/>
          </a:p>
        </p:txBody>
      </p:sp>
      <p:sp>
        <p:nvSpPr>
          <p:cNvPr id="19" name="Shape 17"/>
          <p:cNvSpPr/>
          <p:nvPr/>
        </p:nvSpPr>
        <p:spPr>
          <a:xfrm>
            <a:off x="5998464" y="3355848"/>
            <a:ext cx="91" cy="512064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76288" y="2286000"/>
            <a:ext cx="1481328" cy="105156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76288" y="2286000"/>
            <a:ext cx="1481328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denetleyicisi</a:t>
            </a:r>
            <a:endParaRPr lang="tr-TR" sz="1200" dirty="0"/>
          </a:p>
        </p:txBody>
      </p:sp>
      <p:sp>
        <p:nvSpPr>
          <p:cNvPr id="22" name="Shape 20"/>
          <p:cNvSpPr/>
          <p:nvPr/>
        </p:nvSpPr>
        <p:spPr>
          <a:xfrm>
            <a:off x="7616952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76288" y="3886200"/>
            <a:ext cx="148132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76288" y="3886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klavye, fare</a:t>
            </a:r>
            <a:endParaRPr lang="tr-TR" sz="1200" dirty="0"/>
          </a:p>
        </p:txBody>
      </p:sp>
      <p:sp>
        <p:nvSpPr>
          <p:cNvPr id="25" name="Shape 23"/>
          <p:cNvSpPr/>
          <p:nvPr/>
        </p:nvSpPr>
        <p:spPr>
          <a:xfrm>
            <a:off x="7616952" y="3355848"/>
            <a:ext cx="91" cy="512064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94776" y="2286000"/>
            <a:ext cx="1481328" cy="105156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94776" y="2286000"/>
            <a:ext cx="1481328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bağdaştırıcısı</a:t>
            </a:r>
            <a:endParaRPr lang="tr-TR" sz="1200" dirty="0"/>
          </a:p>
        </p:txBody>
      </p:sp>
      <p:sp>
        <p:nvSpPr>
          <p:cNvPr id="28" name="Shape 26"/>
          <p:cNvSpPr/>
          <p:nvPr/>
        </p:nvSpPr>
        <p:spPr>
          <a:xfrm>
            <a:off x="9235440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494776" y="3886200"/>
            <a:ext cx="148132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94776" y="3886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monitör</a:t>
            </a:r>
            <a:endParaRPr lang="tr-TR" sz="1200" dirty="0"/>
          </a:p>
        </p:txBody>
      </p:sp>
      <p:sp>
        <p:nvSpPr>
          <p:cNvPr id="31" name="Shape 29"/>
          <p:cNvSpPr/>
          <p:nvPr/>
        </p:nvSpPr>
        <p:spPr>
          <a:xfrm>
            <a:off x="9235440" y="3355848"/>
            <a:ext cx="91" cy="512064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13264" y="2286000"/>
            <a:ext cx="1481328" cy="105156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113264" y="2286000"/>
            <a:ext cx="1481328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kartı</a:t>
            </a:r>
            <a:endParaRPr lang="tr-TR" sz="1200" dirty="0"/>
          </a:p>
        </p:txBody>
      </p:sp>
      <p:sp>
        <p:nvSpPr>
          <p:cNvPr id="34" name="Shape 32"/>
          <p:cNvSpPr/>
          <p:nvPr/>
        </p:nvSpPr>
        <p:spPr>
          <a:xfrm>
            <a:off x="10853928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13264" y="3886200"/>
            <a:ext cx="148132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13264" y="3886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Ethernet</a:t>
            </a:r>
            <a:endParaRPr lang="tr-TR" sz="1200" dirty="0"/>
          </a:p>
        </p:txBody>
      </p:sp>
      <p:sp>
        <p:nvSpPr>
          <p:cNvPr id="37" name="Shape 35"/>
          <p:cNvSpPr/>
          <p:nvPr/>
        </p:nvSpPr>
        <p:spPr>
          <a:xfrm>
            <a:off x="10853928" y="3355848"/>
            <a:ext cx="91" cy="512064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114800" y="40690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r-TR" sz="11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aygıtlar</a:t>
            </a:r>
            <a:endParaRPr lang="tr-TR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3949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77240" y="5394960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aygıt denetleyicisinin küçük bir yerel tamponu vardır ve işlemciyle paralel çalışır. İşletim sistemi her denetleyici için bir aygıt sürücüsü (device driver) içerir: sürücü denetleyicinin dilini konuşur, böylece işletim sisteminin geri kalanının bunu bilmesi gerekmez.</a:t>
            </a:r>
            <a:endParaRPr lang="tr-T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DONANIM GÖRÜNÜMÜ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Kesmeler: Aygıt İşlemcinin Dikkatini Nasıl Çeker?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İşlemci klavyeye sürekli "yeni bir şey var mı?" diye sormaz; klavye işlemciye haber verir.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16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Aygıt bitirir</a:t>
            </a:r>
            <a:endParaRPr lang="tr-TR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denetleyicisi veriyi kendi tamponuna kopyalamıştır.</a:t>
            </a:r>
            <a:endParaRPr lang="tr-TR" sz="1400" dirty="0"/>
          </a:p>
        </p:txBody>
      </p:sp>
      <p:sp>
        <p:nvSpPr>
          <p:cNvPr id="10" name="Shape 8"/>
          <p:cNvSpPr/>
          <p:nvPr/>
        </p:nvSpPr>
        <p:spPr>
          <a:xfrm>
            <a:off x="2615184" y="3383280"/>
            <a:ext cx="182880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07208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035808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Sinyal</a:t>
            </a:r>
            <a:endParaRPr lang="tr-TR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İşlemcinin bir kesme (interrupt) hattını etkinleştirir.</a:t>
            </a:r>
            <a:endParaRPr lang="tr-TR" sz="1400" dirty="0"/>
          </a:p>
        </p:txBody>
      </p:sp>
      <p:sp>
        <p:nvSpPr>
          <p:cNvPr id="14" name="Shape 12"/>
          <p:cNvSpPr/>
          <p:nvPr/>
        </p:nvSpPr>
        <p:spPr>
          <a:xfrm>
            <a:off x="4873752" y="3383280"/>
            <a:ext cx="182880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65776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94376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Kaydet ve atla</a:t>
            </a:r>
            <a:endParaRPr lang="tr-TR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İşlemci yaptığı işi kaydeder ve kesme vektöründe yazılı işleyiciye atlar.</a:t>
            </a:r>
            <a:endParaRPr lang="tr-TR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3383280"/>
            <a:ext cx="182880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24344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52944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İşle</a:t>
            </a:r>
            <a:endParaRPr lang="tr-TR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552944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sisteminin kesme işleyicisi (sürücünün parçası) olayı işler.</a:t>
            </a:r>
            <a:endParaRPr lang="tr-TR" sz="1400" dirty="0"/>
          </a:p>
        </p:txBody>
      </p:sp>
      <p:sp>
        <p:nvSpPr>
          <p:cNvPr id="22" name="Shape 20"/>
          <p:cNvSpPr/>
          <p:nvPr/>
        </p:nvSpPr>
        <p:spPr>
          <a:xfrm>
            <a:off x="9390888" y="3383280"/>
            <a:ext cx="182880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82912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811512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Devam et</a:t>
            </a:r>
            <a:endParaRPr lang="tr-TR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811512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Kaydedilen durum geri yüklenir; kesilen program hiçbir şey olmamış gibi sürer.</a:t>
            </a:r>
            <a:endParaRPr lang="tr-TR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109960" cy="1325880"/>
          </a:xfrm>
          <a:prstGeom prst="roundRect">
            <a:avLst>
              <a:gd name="adj" fmla="val 4138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7240" y="4937760"/>
            <a:ext cx="10652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işletim sistemleri kesme güdümlüdür (interrupt-driven): çalışan bir program yoksa ve hiçbir aygıt ilgi beklemiyorsa işletim sistemi yalnızca bekler. Her tuş vuruşu, her ağ paketi ve biten her disk okuması bir kesme olarak gelir; saniyede binlerce kez.</a:t>
            </a:r>
            <a:endParaRPr lang="tr-TR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DONANIM GÖRÜNÜMÜ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Bellek Hiyerarşisi: Hızlı ve Küçük, Yavaş ve Büyük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17</a:t>
            </a:r>
            <a:endParaRPr lang="tr-TR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651760"/>
                <a:gridCol w="3886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Düzey</a:t>
                      </a:r>
                      <a:endParaRPr lang="tr-TR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Tipik boyut</a:t>
                      </a:r>
                      <a:endParaRPr lang="tr-TR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Tipik erişim süresi</a:t>
                      </a:r>
                      <a:endParaRPr lang="tr-TR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Yazmaç erişimi 1 saniye sürseydi…</a:t>
                      </a:r>
                      <a:endParaRPr lang="tr-TR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İşlemci yazmaçları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KB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0,3 ns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saniye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Önbellek (L1–L3)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birkaç MB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40 ns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saniye – 2 dakika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bellek (RAM)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64 GB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100 ns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 dakika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– 4 TB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 µs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gün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 disk (HDD)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20 TB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 ms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 ay</a:t>
                      </a:r>
                      <a:endParaRPr lang="tr-TR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Yazmaçlar, önbellek ve RAM uçucudur (güç kesilince silinir); SSD ve diskler kalıcıdır. İşletim sistemi verileri düzeyler arasında sürekli taşır; bu, 6. ve 7. haftaların konusudur.</a:t>
            </a:r>
            <a:endParaRPr lang="tr-TR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KORUMA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İkili Mod: Kullanıcı Modu ve Çekirdek Modu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Kimin neyi yapabileceğini, işlemcinin içindeki bir mod biti (mode bit) ile donanımın kendisi denetler.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18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035040" cy="1097280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60350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modu   (mod biti = 1)</a:t>
            </a:r>
            <a:endParaRPr lang="tr-TR" sz="16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 programlarınız: yalnızca kısıtlı komutlar</a:t>
            </a:r>
            <a:endParaRPr lang="tr-TR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6035040" cy="1097280"/>
          </a:xfrm>
          <a:prstGeom prst="roundRect">
            <a:avLst>
              <a:gd name="adj" fmla="val 4167"/>
            </a:avLst>
          </a:prstGeom>
          <a:solidFill>
            <a:srgbClr val="3645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480560"/>
            <a:ext cx="60350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modu   (mod biti = 0)</a:t>
            </a:r>
            <a:endParaRPr lang="tr-TR" sz="16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işletim sistemi çekirdeği: her komut serbest</a:t>
            </a:r>
            <a:endParaRPr lang="tr-TR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3291840"/>
            <a:ext cx="91" cy="114300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120640" y="3291840"/>
            <a:ext cx="91" cy="114300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148840" y="3474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çağrısı / kesme</a:t>
            </a:r>
            <a:endParaRPr lang="tr-TR" sz="1200" dirty="0"/>
          </a:p>
          <a:p>
            <a:pPr indent="0" marL="0">
              <a:buNone/>
            </a:pPr>
            <a:r>
              <a:rPr lang="tr-TR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(tuzak: biti 0 yap)</a:t>
            </a:r>
            <a:endParaRPr lang="tr-TR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kullanıcıya dönüş</a:t>
            </a:r>
            <a:endParaRPr lang="tr-TR" sz="1200" dirty="0"/>
          </a:p>
          <a:p>
            <a:pPr indent="0" marL="0">
              <a:buNone/>
            </a:pPr>
            <a:r>
              <a:rPr lang="tr-TR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(biti 1 yap)</a:t>
            </a:r>
            <a:endParaRPr lang="tr-TR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148840"/>
            <a:ext cx="4800600" cy="4114800"/>
          </a:xfrm>
          <a:prstGeom prst="roundRect">
            <a:avLst>
              <a:gd name="adj" fmla="val 1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86600" y="23317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önemli?</a:t>
            </a:r>
            <a:endParaRPr lang="tr-T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788920"/>
            <a:ext cx="4343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Ayrıcalıklı komutlar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(aygıtla konuşmak, bellek korumasını değiştirmek, işlemciyi durdurmak) yalnızca çekirdek modunda çalışır.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 programı bunlardan birini denerse donanım işletim sistemine tuzak (trap) üretir; sistem genellikle programı sonlandırır.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Böylece hatalı ya da kötü niyetli bir uygulama makineyi ele geçiremez.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işlemcilerde modlara halka (ring) denir: Linux ve Windows halka 0 (çekirdek) ile halka 3'ü (kullanıcı) kullanır.</a:t>
            </a:r>
            <a:endParaRPr lang="tr-T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1: Çekirdeği Çağıran Bir Program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19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18488"/>
            <a:ext cx="61264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hello_syscall.c -- aynı mesaj, iki yolla yazdırılır.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Derleme:  gcc hello_syscall.c -o hello_syscall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Çalıştır: ./hello_syscall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İzle:     strace ./hello_syscall     (yalnızca Linux)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  /* printf: kütüphane (kullanıcı modu) */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&lt;unistd.h&gt; /* write:  sistem çağrısı sarmalayıcısı */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1) Kütüphane çağrısı: printf metni kullanıcı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   modunda biçimlendirir, sonra write() ile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   çekirdeğe yazdırır.                    */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printf("Hello from printf!\n");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fflush(stdout);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2) Doğrudan sistem çağrısı: dosya tanımlayıcısı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   1 = ekran (standart çıktı), 20 = bayt sayısı. */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write(1, "Hello from write()!\n", 20);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tr-TR" sz="11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tr-TR" sz="115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343400" cy="292608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43800" y="1691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oluyor?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4884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bir kütüphane fonksiyonudur: metni kullanıcı modunda biçimlendirir.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 bir sistem çağrısıdır: çekirdek moduna geçer ve baytları ekrana çekirdek gönderir.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strace, bir programın yaptığı tüm sistem çağrılarını gösterir: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466344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21212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0" y="4773168"/>
            <a:ext cx="39776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strace ./hello_syscall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write(1, "Hello from printf!\n", 19) = 19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write(1, "Hello from write()!\n", 20) = 20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exit_group(0)                    = ?</a:t>
            </a:r>
            <a:endParaRPr lang="tr-TR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2: Çekirdeğe Bir Gidiş Ne Kadar Pahalı?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20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18488"/>
            <a:ext cx="61264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N 1000000L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plain_function(long x) { return x + 1; }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volatile long sink = 0;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t0 = seconds();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(long i = 0; i &lt; N; i++)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sink += plain_function(i);   /* kullanıcı modu */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t1 = seconds();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(long i = 0; i &lt; N; i++)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sink += syscall(SYS_getpid); /* çekirdeğe gidiş */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t2 = seconds();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printf("ordinary function call : %6.1f ns\n",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(t1 - t0) / N * 1e9);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printf("system call (getpid)   : %6.1f ns\n",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(t2 - t1) / N * 1e9);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tr-TR" sz="12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2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programın tamamı: code/syscall_cost.c */</a:t>
            </a:r>
            <a:endParaRPr lang="tr-TR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34340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43800" y="1691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Deney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4884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Sıradan bir fonksiyonu bir milyon kez çağır.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 bir milyon küçük sistem çağrısı (getpid) yap.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 başına ortalama süreleri karşılaştır.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 sayılar makinenize bağlıdır; asıl ders orandadır.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4892040"/>
            <a:ext cx="4343400" cy="1371600"/>
          </a:xfrm>
          <a:prstGeom prst="roundRect">
            <a:avLst>
              <a:gd name="adj" fmla="val 3333"/>
            </a:avLst>
          </a:prstGeom>
          <a:solidFill>
            <a:srgbClr val="21212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0" y="5001768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./syscall_cost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ordinary function call :   1.5 ns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call (getpid)   : 116.1 ns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call is about 76 times slower</a:t>
            </a:r>
            <a:endParaRPr lang="tr-TR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Dakika Mola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Sırada: işletim sistemleri nasıl inşa edilir? MS-DOS'tan mikroçekirdeklere.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21</a:t>
            </a:r>
            <a:endParaRPr lang="tr-TR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Sistemi Yapıları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hedefler, çok farklı binalar.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22</a:t>
            </a:r>
            <a:endParaRPr lang="tr-TR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Yapı Neden Önemli?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çekirdeği 30 milyonu aşkın kod satırından oluşur. Bu kadar büyük bir şeyi nasıl düzenlersiniz?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23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</a:t>
            </a:r>
            <a:endParaRPr lang="tr-TR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Neredeyse hiç yapı yok (MS-DOS).</a:t>
            </a:r>
            <a:endParaRPr lang="tr-TR" sz="150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3712" y="2331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Monolitik</a:t>
            </a:r>
            <a:endParaRPr lang="tr-TR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büyük bir çekirdek programı (UNIX, Linux).</a:t>
            </a:r>
            <a:endParaRPr lang="tr-TR" sz="1500" dirty="0"/>
          </a:p>
        </p:txBody>
      </p:sp>
      <p:sp>
        <p:nvSpPr>
          <p:cNvPr id="13" name="Shape 11"/>
          <p:cNvSpPr/>
          <p:nvPr/>
        </p:nvSpPr>
        <p:spPr>
          <a:xfrm>
            <a:off x="8101584" y="21488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30184" y="2331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Katmanlı</a:t>
            </a:r>
            <a:endParaRPr lang="tr-TR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 katmanlar; her biri yalnızca altındakini kullanır (THE).</a:t>
            </a:r>
            <a:endParaRPr lang="tr-TR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Mikroçekirdek</a:t>
            </a:r>
            <a:endParaRPr lang="tr-TR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Küçücük bir çekirdek; hizmetler kullanıcı programı olarak çalışır (Mach, MINIX 3, QNX).</a:t>
            </a:r>
            <a:endParaRPr lang="tr-TR" sz="1500" dirty="0"/>
          </a:p>
        </p:txBody>
      </p:sp>
      <p:sp>
        <p:nvSpPr>
          <p:cNvPr id="19" name="Shape 17"/>
          <p:cNvSpPr/>
          <p:nvPr/>
        </p:nvSpPr>
        <p:spPr>
          <a:xfrm>
            <a:off x="4325112" y="42519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53712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Modüler</a:t>
            </a:r>
            <a:endParaRPr lang="tr-TR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temel çekirdek ve yüklenebilir modüller (Linux).</a:t>
            </a:r>
            <a:endParaRPr lang="tr-TR" sz="1500" dirty="0"/>
          </a:p>
        </p:txBody>
      </p:sp>
      <p:sp>
        <p:nvSpPr>
          <p:cNvPr id="22" name="Shape 20"/>
          <p:cNvSpPr/>
          <p:nvPr/>
        </p:nvSpPr>
        <p:spPr>
          <a:xfrm>
            <a:off x="8101584" y="42519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30184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</a:t>
            </a:r>
            <a:endParaRPr lang="tr-TR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30184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sistemler bunları karıştırır (Windows, macOS, Android).</a:t>
            </a:r>
            <a:endParaRPr lang="tr-TR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 1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Yapı: MS-DOS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1981'deki IBM PC'nin çok küçük belleğine sığmak için yazıldı; hiçbir zaman gerçekten katmanlı tasarlanmadı.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24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0233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4023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programı</a:t>
            </a:r>
            <a:endParaRPr lang="tr-TR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023360" cy="731520"/>
          </a:xfrm>
          <a:prstGeom prst="roundRect">
            <a:avLst>
              <a:gd name="adj" fmla="val 6250"/>
            </a:avLst>
          </a:prstGeom>
          <a:solidFill>
            <a:srgbClr val="D7E9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4023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Bellekte kalıcı sistem programı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402336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60520"/>
            <a:ext cx="4023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MS-DOS aygıt sürücüleri</a:t>
            </a:r>
            <a:endParaRPr lang="tr-TR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4023360" cy="731520"/>
          </a:xfrm>
          <a:prstGeom prst="roundRect">
            <a:avLst>
              <a:gd name="adj" fmla="val 6250"/>
            </a:avLst>
          </a:prstGeom>
          <a:solidFill>
            <a:srgbClr val="3645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120640"/>
            <a:ext cx="4023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BIOS aygıt sürücüleri</a:t>
            </a:r>
            <a:endParaRPr lang="tr-TR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606040"/>
            <a:ext cx="91" cy="2697480"/>
          </a:xfrm>
          <a:prstGeom prst="line">
            <a:avLst/>
          </a:prstGeom>
          <a:noFill/>
          <a:ln w="25400">
            <a:solidFill>
              <a:srgbClr val="B545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2606040"/>
            <a:ext cx="91" cy="1737360"/>
          </a:xfrm>
          <a:prstGeom prst="line">
            <a:avLst/>
          </a:prstGeom>
          <a:noFill/>
          <a:ln w="25400">
            <a:solidFill>
              <a:srgbClr val="B5453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48640" y="6126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200" i="1" dirty="0">
                <a:solidFill>
                  <a:srgbClr val="B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Uygulamalar katmanları atlayıp donanıma doğrudan erişebiliyordu.</a:t>
            </a:r>
            <a:endParaRPr lang="tr-TR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</a:t>
            </a:r>
            <a:endParaRPr lang="tr-TR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küçük ve hızlı.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donanım için yazması kolay.</a:t>
            </a:r>
            <a:endParaRPr lang="tr-TR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Dezavantajlar</a:t>
            </a:r>
            <a:endParaRPr lang="tr-TR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Koruma yok: tek hatalı program tüm sistemi çökertebilirdi.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8088'de ikili mod yoktu; işletim sistemi buna engel olamazdı.</a:t>
            </a:r>
            <a:endParaRPr lang="tr-TR" sz="1400" dirty="0"/>
          </a:p>
        </p:txBody>
      </p:sp>
      <p:sp>
        <p:nvSpPr>
          <p:cNvPr id="24" name="Shape 22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Ders: koruma, donanım desteği (ikili mod) ve bunu kullanan bir işletim sistemi gerektirir.</a:t>
            </a:r>
            <a:endParaRPr lang="tr-TR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 2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Monolitik Çekirdek: UNIX ve Linux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işletim sistemi hizmetleri, çekirdek modunda tek bir adres uzayında çalışan büyük bir programdadır.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25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kabuk</a:t>
            </a:r>
            <a:endParaRPr lang="tr-TR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214884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6596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</a:t>
            </a:r>
            <a:endParaRPr lang="tr-TR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derleyici</a:t>
            </a:r>
            <a:endParaRPr lang="tr-TR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14884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uygulamanız</a:t>
            </a:r>
            <a:endParaRPr lang="tr-TR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r-TR" sz="10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modu</a:t>
            </a:r>
            <a:endParaRPr lang="tr-TR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5623560" cy="0"/>
          </a:xfrm>
          <a:prstGeom prst="line">
            <a:avLst/>
          </a:prstGeom>
          <a:noFill/>
          <a:ln w="12700">
            <a:solidFill>
              <a:srgbClr val="50808E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4864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0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çağrısı arayüzü</a:t>
            </a:r>
            <a:endParaRPr lang="tr-TR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623560" cy="2240280"/>
          </a:xfrm>
          <a:prstGeom prst="roundRect">
            <a:avLst>
              <a:gd name="adj" fmla="val 2041"/>
            </a:avLst>
          </a:prstGeom>
          <a:solidFill>
            <a:srgbClr val="3645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ÇEKİRDEK — çekirdek modu</a:t>
            </a:r>
            <a:endParaRPr lang="tr-TR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zamanlayıcı</a:t>
            </a:r>
            <a:endParaRPr lang="tr-TR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393192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1460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yöneticisi</a:t>
            </a:r>
            <a:endParaRPr lang="tr-TR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9768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sistemleri</a:t>
            </a:r>
            <a:endParaRPr lang="tr-TR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7548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75488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yığını</a:t>
            </a:r>
            <a:endParaRPr lang="tr-TR" sz="1200" dirty="0"/>
          </a:p>
        </p:txBody>
      </p:sp>
      <p:sp>
        <p:nvSpPr>
          <p:cNvPr id="28" name="Shape 26"/>
          <p:cNvSpPr/>
          <p:nvPr/>
        </p:nvSpPr>
        <p:spPr>
          <a:xfrm>
            <a:off x="2514600" y="47548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514600" y="475488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aygıt sürücüleri</a:t>
            </a:r>
            <a:endParaRPr lang="tr-TR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47548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97680" y="475488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sinyaller, IPC</a:t>
            </a:r>
            <a:endParaRPr lang="tr-TR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5623560" cy="548640"/>
          </a:xfrm>
          <a:prstGeom prst="roundRect">
            <a:avLst>
              <a:gd name="adj" fmla="val 8333"/>
            </a:avLst>
          </a:prstGeom>
          <a:solidFill>
            <a:srgbClr val="21212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806440"/>
            <a:ext cx="5623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</a:t>
            </a:r>
            <a:endParaRPr lang="tr-TR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</a:t>
            </a:r>
            <a:endParaRPr lang="tr-TR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Hızlı: hizmetler birbirini sıradan fonksiyon çağrıları gibi doğrudan çağırır.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çağrısı başına yalnızca iki mod geçişi.</a:t>
            </a:r>
            <a:endParaRPr lang="tr-TR" sz="1400" dirty="0"/>
          </a:p>
        </p:txBody>
      </p:sp>
      <p:sp>
        <p:nvSpPr>
          <p:cNvPr id="37" name="Shape 35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Dezavantajlar</a:t>
            </a:r>
            <a:endParaRPr lang="tr-T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Devasa ve bakımı zor.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Herhangi bir sürücüdeki hata bütün çekirdeği çökertebilir ("çekirdek paniği", kernel panic).</a:t>
            </a:r>
            <a:endParaRPr lang="tr-TR" sz="1400" dirty="0"/>
          </a:p>
        </p:txBody>
      </p:sp>
      <p:sp>
        <p:nvSpPr>
          <p:cNvPr id="40" name="Shape 38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Örnekler: özgün UNIX (1970'ler), Linux, geleneksel BSD.</a:t>
            </a:r>
            <a:endParaRPr lang="tr-TR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 3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Katmanlı Yaklaşım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 katmanlara bölünür; N. katman yalnızca altındaki katmanları kullanabilir. 0. katman donanımdır.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26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5577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5:  Kullanıcı programları / operatör</a:t>
            </a:r>
            <a:endParaRPr lang="tr-TR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788920"/>
            <a:ext cx="5248656" cy="594360"/>
          </a:xfrm>
          <a:prstGeom prst="roundRect">
            <a:avLst>
              <a:gd name="adj" fmla="val 7692"/>
            </a:avLst>
          </a:prstGeom>
          <a:solidFill>
            <a:srgbClr val="D7E9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788920"/>
            <a:ext cx="5248656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4:  G/Ç aygıtları için tamponlama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877824" y="3474720"/>
            <a:ext cx="4919472" cy="594360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3474720"/>
            <a:ext cx="4919472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3:  Operatör konsolu sürücüsü</a:t>
            </a:r>
            <a:endParaRPr lang="tr-TR" sz="1300" dirty="0"/>
          </a:p>
        </p:txBody>
      </p:sp>
      <p:sp>
        <p:nvSpPr>
          <p:cNvPr id="13" name="Shape 11"/>
          <p:cNvSpPr/>
          <p:nvPr/>
        </p:nvSpPr>
        <p:spPr>
          <a:xfrm>
            <a:off x="1042416" y="4160520"/>
            <a:ext cx="4590288" cy="594360"/>
          </a:xfrm>
          <a:prstGeom prst="roundRect">
            <a:avLst>
              <a:gd name="adj" fmla="val 7692"/>
            </a:avLst>
          </a:prstGeom>
          <a:solidFill>
            <a:srgbClr val="D7E9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42416" y="4160520"/>
            <a:ext cx="4590288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2:  Bellek yönetimi</a:t>
            </a:r>
            <a:endParaRPr lang="tr-TR" sz="1300" dirty="0"/>
          </a:p>
        </p:txBody>
      </p:sp>
      <p:sp>
        <p:nvSpPr>
          <p:cNvPr id="15" name="Shape 13"/>
          <p:cNvSpPr/>
          <p:nvPr/>
        </p:nvSpPr>
        <p:spPr>
          <a:xfrm>
            <a:off x="1207008" y="4846320"/>
            <a:ext cx="4261104" cy="594360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07008" y="4846320"/>
            <a:ext cx="4261104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1:  İşlemci zamanlaması</a:t>
            </a:r>
            <a:endParaRPr lang="tr-TR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5532120"/>
            <a:ext cx="3931920" cy="594360"/>
          </a:xfrm>
          <a:prstGeom prst="roundRect">
            <a:avLst>
              <a:gd name="adj" fmla="val 7692"/>
            </a:avLst>
          </a:prstGeom>
          <a:solidFill>
            <a:srgbClr val="3645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71600" y="5532120"/>
            <a:ext cx="39319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0:  Donanım</a:t>
            </a:r>
            <a:endParaRPr lang="tr-TR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2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Dijkstra'nın THE sistemine (1968) gevşek biçimde dayanır.</a:t>
            </a:r>
            <a:endParaRPr lang="tr-TR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</a:t>
            </a:r>
            <a:endParaRPr lang="tr-TR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katman inşa etmek ve hata ayıklamak kolay.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 ayrı ayrı doğrulanabilir.</a:t>
            </a:r>
            <a:endParaRPr lang="tr-TR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Dezavantajlar</a:t>
            </a:r>
            <a:endParaRPr lang="tr-TR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Sırayı belirlemek zor (bellek mi zamanlayıcıya muhtaç, yoksa tersi mi?).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istek birçok katmandan geçer → yavaş.</a:t>
            </a:r>
            <a:endParaRPr lang="tr-TR" sz="1400" dirty="0"/>
          </a:p>
        </p:txBody>
      </p:sp>
      <p:sp>
        <p:nvSpPr>
          <p:cNvPr id="26" name="Shape 24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katmanlı yapı bugün nadirdir, ama fikir her işletim sisteminin içinde yaşar (ör. ağ yığını katmanlıdır).</a:t>
            </a:r>
            <a:endParaRPr lang="tr-TR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 4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Mikroçekirdek: Çekirdeği Küçücük Tut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modunda yalnızca asgari olan kalır; geri kalan her şey sıradan kullanıcı modu sunucuları olarak çalışır.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27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298448" cy="914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tr-TR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2331720"/>
            <a:ext cx="1298448" cy="914400"/>
          </a:xfrm>
          <a:prstGeom prst="roundRect">
            <a:avLst>
              <a:gd name="adj" fmla="val 5000"/>
            </a:avLst>
          </a:prstGeom>
          <a:solidFill>
            <a:srgbClr val="D7E9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6596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sunucusu</a:t>
            </a:r>
            <a:endParaRPr lang="tr-TR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1298448" cy="914400"/>
          </a:xfrm>
          <a:prstGeom prst="roundRect">
            <a:avLst>
              <a:gd name="adj" fmla="val 5000"/>
            </a:avLst>
          </a:prstGeom>
          <a:solidFill>
            <a:srgbClr val="D7E9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Aygıt sürücüsü</a:t>
            </a:r>
            <a:endParaRPr lang="tr-TR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1298448" cy="914400"/>
          </a:xfrm>
          <a:prstGeom prst="roundRect">
            <a:avLst>
              <a:gd name="adj" fmla="val 5000"/>
            </a:avLst>
          </a:prstGeom>
          <a:solidFill>
            <a:srgbClr val="D7E9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sunucusu</a:t>
            </a:r>
            <a:endParaRPr lang="tr-TR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r-TR" sz="10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modu</a:t>
            </a:r>
            <a:endParaRPr lang="tr-TR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623560" cy="0"/>
          </a:xfrm>
          <a:prstGeom prst="line">
            <a:avLst/>
          </a:prstGeom>
          <a:noFill/>
          <a:ln w="12700">
            <a:solidFill>
              <a:srgbClr val="50808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4572000"/>
            <a:ext cx="5623560" cy="868680"/>
          </a:xfrm>
          <a:prstGeom prst="roundRect">
            <a:avLst>
              <a:gd name="adj" fmla="val 5263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72000"/>
            <a:ext cx="5623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Mikroçekirdek</a:t>
            </a:r>
            <a:endParaRPr lang="tr-TR" sz="15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 aktarımı · temel zamanlama · temel bellek</a:t>
            </a:r>
            <a:endParaRPr lang="tr-TR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3264408"/>
            <a:ext cx="91" cy="12801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377440" y="3264408"/>
            <a:ext cx="91" cy="12801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115568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istek</a:t>
            </a:r>
            <a:endParaRPr lang="tr-TR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4144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iletilir</a:t>
            </a:r>
            <a:endParaRPr lang="tr-TR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5623560" cy="548640"/>
          </a:xfrm>
          <a:prstGeom prst="roundRect">
            <a:avLst>
              <a:gd name="adj" fmla="val 8333"/>
            </a:avLst>
          </a:prstGeom>
          <a:solidFill>
            <a:srgbClr val="3645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623560"/>
            <a:ext cx="5623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</a:t>
            </a:r>
            <a:endParaRPr lang="tr-TR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26364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dosya sunucusunu hiçbir zaman doğrudan çağırmaz: mesajlar çekirdek üzerinden gider.</a:t>
            </a:r>
            <a:endParaRPr lang="tr-TR" sz="1050" dirty="0"/>
          </a:p>
        </p:txBody>
      </p:sp>
      <p:sp>
        <p:nvSpPr>
          <p:cNvPr id="26" name="Shape 24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</a:t>
            </a:r>
            <a:endParaRPr lang="tr-TR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Güvenilir: çöken sürücü yalnızca çöken bir programdır; yeniden başlatılır.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Güvenli, kolay genişletilir; küçük çekirdek kolay doğrulanır.</a:t>
            </a:r>
            <a:endParaRPr lang="tr-TR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Dezavantajlar</a:t>
            </a:r>
            <a:endParaRPr lang="tr-TR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yavaş: her hizmet isteği ek mesajlar ve mod geçişleri gerektirir.</a:t>
            </a:r>
            <a:endParaRPr lang="tr-TR" sz="1400" dirty="0"/>
          </a:p>
        </p:txBody>
      </p:sp>
      <p:sp>
        <p:nvSpPr>
          <p:cNvPr id="32" name="Shape 30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Örnekler: Mach (1980'ler), MINIX 3, QNX (otomobiller, tıbbi cihazlar), seL4 (matematiksel olarak doğrulanmış).</a:t>
            </a:r>
            <a:endParaRPr lang="tr-TR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 4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Çözümlü Örnek: Mikroçekirdeğin Bedeli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28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bir dosya okumasında mod geçişlerini sayalım</a:t>
            </a:r>
            <a:endParaRPr lang="tr-T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Monolitik:</a:t>
            </a: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uygulama → çekirdek → uygulama.  2 geçiş.</a:t>
            </a:r>
            <a:endParaRPr lang="tr-TR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Mikroçekirdek:</a:t>
            </a: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uygulama → çekirdek → dosya sunucusu → çekirdek → uygulama.  4 geçiş ve 2 mesaj kopyası.</a:t>
            </a:r>
            <a:endParaRPr lang="tr-TR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Varsayalım (temsilî sayılar): bir geçiş = 0,1 µs, bir mesaj kopyası = 0,15 µs, yararlı iş = 1 µs.</a:t>
            </a:r>
            <a:endParaRPr lang="tr-TR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49240" cy="2926080"/>
          </a:xfrm>
          <a:prstGeom prst="roundRect">
            <a:avLst>
              <a:gd name="adj" fmla="val 1563"/>
            </a:avLst>
          </a:prstGeom>
          <a:solidFill>
            <a:srgbClr val="2121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618488"/>
            <a:ext cx="49834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Monolitik:</a:t>
            </a:r>
            <a:endParaRPr lang="tr-TR" sz="13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= 2(0.1) + 1.0          = 1.2 µs</a:t>
            </a:r>
            <a:endParaRPr lang="tr-TR" sz="13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3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Mikroçekirdek:</a:t>
            </a:r>
            <a:endParaRPr lang="tr-TR" sz="13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= 4(0.1) + 2(0.15) + 1.0 = 1.7 µs</a:t>
            </a:r>
            <a:endParaRPr lang="tr-TR" sz="13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3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Yavaşlama: 1.7 / 1.2 ≈ 1.42  (%42)</a:t>
            </a:r>
            <a:endParaRPr lang="tr-TR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466344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466344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ve sık işlemlerde ek yük baskındır. Uzun işlemlerde (büyük bir dosyayı okumak) pek fark etmez. L4 gibi modern mikroçekirdekler mesajları ucuzlatmak için çok çalışır.</a:t>
            </a:r>
            <a:endParaRPr lang="tr-TR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 5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Modüler Çekirdek: Yüklenebilir Çekirdek Modülleri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temel çekirdek ve sistem çalışırken eklenip çıkarılabilen modüller.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29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 flipH="1">
            <a:off x="3383280" y="2514600"/>
            <a:ext cx="914" cy="1600200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3383280" y="3117092"/>
            <a:ext cx="1680031" cy="997708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383280" y="4114800"/>
            <a:ext cx="2094964" cy="356078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383280" y="4114800"/>
            <a:ext cx="932347" cy="1441730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H="1">
            <a:off x="2450933" y="4114800"/>
            <a:ext cx="932347" cy="1441730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H="1">
            <a:off x="1288316" y="4114800"/>
            <a:ext cx="2094964" cy="356078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703249" y="3117092"/>
            <a:ext cx="1680031" cy="997708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331720" y="36576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33172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çekirdek</a:t>
            </a:r>
            <a:endParaRPr lang="tr-TR" sz="1600" dirty="0"/>
          </a:p>
        </p:txBody>
      </p:sp>
      <p:sp>
        <p:nvSpPr>
          <p:cNvPr id="16" name="Shape 14"/>
          <p:cNvSpPr/>
          <p:nvPr/>
        </p:nvSpPr>
        <p:spPr>
          <a:xfrm>
            <a:off x="2651760" y="2212848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651760" y="2212848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sistemleri</a:t>
            </a:r>
            <a:endParaRPr lang="tr-TR" sz="1100" dirty="0"/>
          </a:p>
        </p:txBody>
      </p:sp>
      <p:sp>
        <p:nvSpPr>
          <p:cNvPr id="18" name="Shape 16"/>
          <p:cNvSpPr/>
          <p:nvPr/>
        </p:nvSpPr>
        <p:spPr>
          <a:xfrm>
            <a:off x="4331791" y="28153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31791" y="2815340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Aygıt sürücüleri</a:t>
            </a:r>
            <a:endParaRPr lang="tr-TR" sz="1100" dirty="0"/>
          </a:p>
        </p:txBody>
      </p:sp>
      <p:sp>
        <p:nvSpPr>
          <p:cNvPr id="20" name="Shape 18"/>
          <p:cNvSpPr/>
          <p:nvPr/>
        </p:nvSpPr>
        <p:spPr>
          <a:xfrm>
            <a:off x="4746724" y="4169126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46724" y="4169126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Zamanlama sınıfları</a:t>
            </a:r>
            <a:endParaRPr lang="tr-TR" sz="1100" dirty="0"/>
          </a:p>
        </p:txBody>
      </p:sp>
      <p:sp>
        <p:nvSpPr>
          <p:cNvPr id="22" name="Shape 20"/>
          <p:cNvSpPr/>
          <p:nvPr/>
        </p:nvSpPr>
        <p:spPr>
          <a:xfrm>
            <a:off x="3584107" y="5254778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84107" y="5254778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protokolleri</a:t>
            </a:r>
            <a:endParaRPr lang="tr-TR" sz="1100" dirty="0"/>
          </a:p>
        </p:txBody>
      </p:sp>
      <p:sp>
        <p:nvSpPr>
          <p:cNvPr id="24" name="Shape 22"/>
          <p:cNvSpPr/>
          <p:nvPr/>
        </p:nvSpPr>
        <p:spPr>
          <a:xfrm>
            <a:off x="1719413" y="5254778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719413" y="5254778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Yürütülebilir biçimler</a:t>
            </a:r>
            <a:endParaRPr lang="tr-TR" sz="1100" dirty="0"/>
          </a:p>
        </p:txBody>
      </p:sp>
      <p:sp>
        <p:nvSpPr>
          <p:cNvPr id="26" name="Shape 24"/>
          <p:cNvSpPr/>
          <p:nvPr/>
        </p:nvSpPr>
        <p:spPr>
          <a:xfrm>
            <a:off x="556796" y="4169126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56796" y="4169126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modülleri</a:t>
            </a:r>
            <a:endParaRPr lang="tr-TR" sz="1100" dirty="0"/>
          </a:p>
        </p:txBody>
      </p:sp>
      <p:sp>
        <p:nvSpPr>
          <p:cNvPr id="28" name="Shape 26"/>
          <p:cNvSpPr/>
          <p:nvPr/>
        </p:nvSpPr>
        <p:spPr>
          <a:xfrm>
            <a:off x="971729" y="28153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1729" y="2815340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/ Bluetooth</a:t>
            </a:r>
            <a:endParaRPr lang="tr-T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26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 gerektiğinde yüklenir ve çalışan çekirdeğe bağlanır.</a:t>
            </a:r>
            <a:endParaRPr lang="tr-TR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</a:t>
            </a:r>
            <a:endParaRPr lang="tr-TR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Monolitik gibi: modüller çekirdek modunda; çağrılar hızlı.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Mikroçekirdek gibi esnek: sürücü gerektiğinde yüklenir.</a:t>
            </a:r>
            <a:endParaRPr lang="tr-TR" sz="1400" dirty="0"/>
          </a:p>
        </p:txBody>
      </p:sp>
      <p:sp>
        <p:nvSpPr>
          <p:cNvPr id="34" name="Shape 32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Dezavantajlar</a:t>
            </a:r>
            <a:endParaRPr lang="tr-TR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Hatalı bir modül yine çekirdek modunda çalışır ve sistemi çökertebilir.</a:t>
            </a:r>
            <a:endParaRPr lang="tr-TR" sz="1400" dirty="0"/>
          </a:p>
        </p:txBody>
      </p:sp>
      <p:sp>
        <p:nvSpPr>
          <p:cNvPr id="37" name="Shape 35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Örnekler: Linux (lsmod, insmod, rmmod), Solaris, modern BSD'ler. Günümüzün en yaygın tasarımı.</a:t>
            </a:r>
            <a:endParaRPr lang="tr-TR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3: C ile Yüklenebilir Bir Çekirdek Modülü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30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18488"/>
            <a:ext cx="61264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&lt;linux/init.h&gt;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&lt;linux/module.h&gt;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&lt;linux/kernel.h&gt;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MODULE_LICENSE("GPL");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MODULE_AUTHOR("MBLP131");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MODULE_DESCRIPTION("Hello-world kernel module");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__init hello_init(void)   /* insmod'da çalışır */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pr_info("hello_module: loaded into the kernel\n");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                       /* 0 = başarı */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__exit hello_exit(void)  /* rmmod'da çalışır */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pr_info("hello_module: removed from the kernel\n");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module_init(hello_init);</a:t>
            </a:r>
            <a:endParaRPr lang="tr-TR" sz="11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module_exit(hello_exit);</a:t>
            </a:r>
            <a:endParaRPr lang="tr-TR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343400" cy="2651760"/>
          </a:xfrm>
          <a:prstGeom prst="roundRect">
            <a:avLst>
              <a:gd name="adj" fmla="val 206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43800" y="1691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kullanılır? (Linux)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48840"/>
            <a:ext cx="3886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Çekirdeğin kendi derleme sistemiyle derlenir (code klasöründeki Makefile).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pr_info() ekrana değil, çekirdek günlüğüne yazar.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 yalnızca bir sanal makinede deneyin.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4389120"/>
            <a:ext cx="4343400" cy="1874520"/>
          </a:xfrm>
          <a:prstGeom prst="roundRect">
            <a:avLst>
              <a:gd name="adj" fmla="val 2439"/>
            </a:avLst>
          </a:prstGeom>
          <a:solidFill>
            <a:srgbClr val="21212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0" y="4498848"/>
            <a:ext cx="39776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insmod hello_module.ko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lsmod | grep hello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dmesg | tail -1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hello_module: loaded into the kernel</a:t>
            </a:r>
            <a:endParaRPr lang="tr-TR" sz="105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rmmod hello_module</a:t>
            </a:r>
            <a:endParaRPr lang="tr-TR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 6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 Sistemler: Gerçek İşletim Sistemleri Ne Yapar?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tasarımlar nadirdir. Gerçek sistemler başarım, güvenlik ve kolaylık için birkaç yapıdan ödünç alır.</a:t>
            </a:r>
            <a:endParaRPr lang="tr-T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31</a:t>
            </a:r>
            <a:endParaRPr lang="tr-TR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(NT ailesi)</a:t>
            </a:r>
            <a:endParaRPr lang="tr-TR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Mikroçekirdek fikirleriyle (ayrı alt sistemler) tasarlandı.</a:t>
            </a:r>
            <a:endParaRPr lang="tr-TR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için hizmetlerin çoğu (grafik dahil) çekirdek modunda çalışır.</a:t>
            </a:r>
            <a:endParaRPr lang="tr-TR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 gibi yüklenebilir sürücüler.</a:t>
            </a:r>
            <a:endParaRPr lang="tr-TR" sz="1450" dirty="0"/>
          </a:p>
        </p:txBody>
      </p:sp>
      <p:sp>
        <p:nvSpPr>
          <p:cNvPr id="10" name="Shape 8"/>
          <p:cNvSpPr/>
          <p:nvPr/>
        </p:nvSpPr>
        <p:spPr>
          <a:xfrm>
            <a:off x="432816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676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 ve iOS</a:t>
            </a:r>
            <a:endParaRPr lang="tr-TR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"XNU" çekirdeği = Mach mikroçekirdeği + BSD UNIX parçaları, tek çekirdek olarak derlenmiş.</a:t>
            </a:r>
            <a:endParaRPr lang="tr-TR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Sürücüler yüklenebilir çekirdek uzantıları olarak.</a:t>
            </a:r>
            <a:endParaRPr lang="tr-TR" sz="1450" dirty="0"/>
          </a:p>
        </p:txBody>
      </p:sp>
      <p:sp>
        <p:nvSpPr>
          <p:cNvPr id="13" name="Shape 11"/>
          <p:cNvSpPr/>
          <p:nvPr/>
        </p:nvSpPr>
        <p:spPr>
          <a:xfrm>
            <a:off x="810768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3628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tr-TR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Değiştirilmiş bir Linux çekirdeği (monolitik + modüller).</a:t>
            </a:r>
            <a:endParaRPr lang="tr-TR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Üstünde: donanım soyutlama katmanı, yerel kütüphaneler ve uygulamalar için Android çalışma zamanı.</a:t>
            </a:r>
            <a:endParaRPr lang="tr-TR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1992: Andrew Tanenbaum (MINIX, mikroçekirdek), monolitik olduğu için Linus Torvalds'a "Linux eskimiştir" dedi. Otuz yıl sonra iki tasarım da her gün kullanılıyor.</a:t>
            </a:r>
            <a:endParaRPr lang="tr-TR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Yapılar Yan Yana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32</a:t>
            </a:r>
            <a:endParaRPr lang="tr-TR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1371600"/>
                <a:gridCol w="20574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Yapı</a:t>
                      </a:r>
                      <a:endParaRPr lang="tr-TR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Çekirdek modunda</a:t>
                      </a:r>
                      <a:endParaRPr lang="tr-TR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Hız</a:t>
                      </a:r>
                      <a:endParaRPr lang="tr-TR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Güvenilirlik</a:t>
                      </a:r>
                      <a:endParaRPr lang="tr-TR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Örnek</a:t>
                      </a:r>
                      <a:endParaRPr lang="tr-TR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Basit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şey (koruma yok)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düşük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MS-DOS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Monolitik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sistem hizmetleri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UNIX, Linux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Katmanlı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katmanlar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(1968)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Mikroçekirdek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küçük çekirdek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düşük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MINIX 3, QNX, seL4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Modüler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+ yüklenen modüller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Linux, Solaris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Hibrit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değişir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orta–yüksek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Windows, macOS, Android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Tekrarlanan ödünleşim: eklediğiniz her sınır (katman, mesaj, mod geçişi) güvenilirlik kazandırır, hızdan götürür.</a:t>
            </a:r>
            <a:endParaRPr lang="tr-TR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KENDİNİZ DENEYİN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 İşletim Sisteminizin İçine Bakın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33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0350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18488"/>
            <a:ext cx="56692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Linux (laboratuvar, WSL ya da sanal makine)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-r          # çekirdek sürümü nedir?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lsmod | head      # hangi modüller yüklü?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strace -c ls      # ls'in sistem çağrılarını say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winver            # hangi Windows derlemesi?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driverquery       # kurulu sürücüleri listele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Görev Yöneticisi &gt; Performans: işlemci</a:t>
            </a:r>
            <a:endParaRPr lang="tr-TR" sz="1300" dirty="0"/>
          </a:p>
          <a:p>
            <a:pPr indent="0" marL="0">
              <a:lnSpc>
                <a:spcPct val="105000"/>
              </a:lnSpc>
              <a:buNone/>
            </a:pPr>
            <a:r>
              <a:rPr lang="tr-TR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süresinin "kullanıcı" ve "çekirdek" payı</a:t>
            </a:r>
            <a:endParaRPr lang="tr-TR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508760"/>
            <a:ext cx="4800600" cy="4754880"/>
          </a:xfrm>
          <a:prstGeom prst="roundRect">
            <a:avLst>
              <a:gd name="adj" fmla="val 1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86600" y="16916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Yanıtlanacak sorular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148840"/>
            <a:ext cx="4343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Makinenizde kaç çekirdek modülü yüklü?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en sık hangi sistem çağrısını kullanıyor?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gibi basit bir komut kabaca kaç sistem çağrısı yapar? (Test makinemizde: 76.)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Yöneticisi'ni açın ve çekirdek modunda çok zaman geçiren bir program bulun. Bunun nedeni ne olabilir?</a:t>
            </a:r>
            <a:endParaRPr lang="tr-TR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Hafta: Temel Çıkarımlar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34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tr-TR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Tanım:</a:t>
            </a:r>
            <a:r>
              <a:rPr lang="tr-TR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işletim sistemi donanımı yönetir ve programlara daha basit, daha güvenli bir makine sunar; bellekte sürekli bulunan özüne çekirdek denir.</a:t>
            </a:r>
            <a:endParaRPr lang="tr-TR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tr-TR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bakış:</a:t>
            </a:r>
            <a:r>
              <a:rPr lang="tr-TR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genişletilmiş makine (soyutlama, yukarıdan aşağıya) ve kaynak yöneticisi (çoğullama, aşağıdan yukarıya).</a:t>
            </a:r>
            <a:endParaRPr lang="tr-TR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tr-TR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hedef:</a:t>
            </a:r>
            <a:r>
              <a:rPr lang="tr-TR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kullanım kolaylığı, verimlilik, gelişebilirlik; kişisel bilgisayar, sunucu, telefon ve gömülü sistemlerde farklı ağırlıklarla.</a:t>
            </a:r>
            <a:endParaRPr lang="tr-TR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tr-TR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bileşen:</a:t>
            </a:r>
            <a:r>
              <a:rPr lang="tr-TR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donanım, işletim sistemi, uygulama programları, kullanıcılar.</a:t>
            </a:r>
            <a:endParaRPr lang="tr-TR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tr-TR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Koruma donanım ister:</a:t>
            </a:r>
            <a:r>
              <a:rPr lang="tr-TR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ikili mod (kullanıcı/çekirdek) ve kesmeler; bir sistem çağrısı bir fonksiyon çağrısından çok daha pahalıdır.</a:t>
            </a:r>
            <a:endParaRPr lang="tr-TR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tr-TR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Yapılar:</a:t>
            </a:r>
            <a:r>
              <a:rPr lang="tr-TR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basit, monolitik, katmanlı, mikroçekirdek, modüler, hibrit; her biri hız ile güvenilirlik arasında farklı bir uzlaşma.</a:t>
            </a:r>
            <a:endParaRPr lang="tr-TR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SINAV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Kendinizi Sınayın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0794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8079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tr-TR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sisteminin yaptığı bir zaman çoğullama ve bir alan çoğullama örneği verin.</a:t>
            </a:r>
            <a:endParaRPr lang="tr-TR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19806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01980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tr-TR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747772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MS-DOS'ta bir programdaki hata neden bütün bilgisayarı çökertebiliyordu da Linux'ta çökertemiyor?</a:t>
            </a:r>
            <a:endParaRPr lang="tr-TR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58818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5881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tr-T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86784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sistem çağrısı 100 ns, bir fonksiyon çağrısı 1,5 ns sürüyor. 10⁶ sistem çağrısı, 10⁶ fonksiyon çağrısına göre ne kadar ek yük getirir?</a:t>
            </a:r>
            <a:endParaRPr lang="tr-TR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25796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49783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49783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tr-TR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25796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Mikroçekirdeğin monolitik çekirdeğe göre bir avantajını ve bir dezavantajını söyleyin.</a:t>
            </a:r>
            <a:endParaRPr lang="tr-TR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Hizmetler, Sistem Çağrıları ve Süreçler</a:t>
            </a:r>
            <a:endParaRPr lang="tr-TR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7680960" cy="2926080"/>
          </a:xfrm>
          <a:prstGeom prst="roundRect">
            <a:avLst>
              <a:gd name="adj" fmla="val 1875"/>
            </a:avLst>
          </a:prstGeom>
          <a:solidFill>
            <a:srgbClr val="3645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haftanın konuları:</a:t>
            </a:r>
            <a:endParaRPr lang="tr-T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İşletim sisteminin sunduğu hizmetler</a:t>
            </a:r>
            <a:endParaRPr lang="tr-TR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Ayrıntılı sistem çağrıları: türleri, parametreleri, sistem çağrısı tablosu</a:t>
            </a:r>
            <a:endParaRPr lang="tr-TR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(process) kavramı: yürütülmekte olan program</a:t>
            </a:r>
            <a:endParaRPr lang="tr-TR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durumları: yeni, hazır, çalışıyor, bekliyor, sonlandı</a:t>
            </a:r>
            <a:endParaRPr lang="tr-T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36</a:t>
            </a:r>
            <a:endParaRPr lang="tr-TR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SORULAR?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Dersten sonra sorularınız olursa dersin Telegram kanalında sorun — yanıttan herkes yararlanır.</a:t>
            </a:r>
            <a:endParaRPr lang="tr-TR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3703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Hasan Oğuz</a:t>
            </a:r>
            <a:endParaRPr lang="tr-TR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·  37</a:t>
            </a:r>
            <a:endParaRPr lang="tr-T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MBLP131 Hafta 2</dc:title>
  <dc:subject>PptxGenJS Presentation</dc:subject>
  <dc:creator>PptxGenJS</dc:creator>
  <cp:lastModifiedBy>PptxGenJS</cp:lastModifiedBy>
  <cp:revision>1</cp:revision>
  <dcterms:created xsi:type="dcterms:W3CDTF">2026-10-08T13:04:22Z</dcterms:created>
  <dcterms:modified xsi:type="dcterms:W3CDTF">2026-10-08T13:04:22Z</dcterms:modified>
</cp:coreProperties>
</file>