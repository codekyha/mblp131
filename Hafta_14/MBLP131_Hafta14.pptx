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haftaya hoş geldiniz; bu, final sınavından önceki son dersimiz. Beş haftadır komutları tek tek yazdık. Bugün komutları dosyalara koyuyoruz ve onları kabuğun bizim yerimize çalıştırmasını sağlıyoruz: kabuk betikleri (shell scripts). Adım adım ilerleyip ~/lab/scripts içinde iki gerçek otomasyon betiğiyle bitireceğiz: backup.sh ve report.sh. İkinci saat büyük ölçüde uygulamalı: 3-4 küçük betiği kendiniz yazacaksınız ve bunlar notlandırılacak.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dakikalık tekrar. Sorun: SIGTERM ile SIGKILL arasındaki fark nedir? (15 yakalanıp ele alınabilir, 9 alınamaz.) Ctrl+Z ne yapar? (SIGTSTP gönderir; iş durdurulur, durum T.) Çocuk süreç fikrini aklınızda tutun: ./hello.sh çalıştırdığımızda kabuk, tıpkı ls ya da sleep için yaptığı gibi bir çocuk süreç çatallar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moladan önce, 3-5. bölümler moladan sonra; ardından sık yapılan hatalar ve notlandırılan laboratuvar (30-40 dakika). Başlamadan önce: herkes temiz bir ~/lab için 'bash ~/mcmp117_lab_setup.sh' komutunu, sonra 'cd ~/lab/scripts' komutunu çalıştırsın. Bugünkü örnek betiklerin hepsi hafta14/code klasöründe; bunları ~/lab/scripts içine kopyalayın.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9-13. haftalarda yazdığınız her şey bir dosyaya konabilir.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örnekler: yedeklemeler, günlük dosyalarının döndürülmesi (log rotation), 30 laboratuvar bilgisayarına yazılım kurmak, bir donanım yazılımı (firmware) görüntüsü derlemek, bir cihazdan her dakika ölçüm verisi toplamak. Linux'un kendisi de açılırken birçok kabuk betiği çalıştırır. cron, bir betiği belirli saatlerde başlatabilen Linux zamanlayıcısıdır; yalnızca adını anıyoruz, sınav konusu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ve 13. haftalarla bağlantı kurun. Kabuk fork yapar; çocuk ./hello.sh üzerinde execve() çağırır. Metin dosyası makine kodu değildir; bu yüzden çekirdek ilk iki bayta bakar: '#!' şu demektir: 'bu satırda adı verilen programı başlat ve betiği ona argüman olarak ver'. Yani çekirdek aslında '/bin/bash ./hello.sh' komutunu başlatır. Ebeveyn kabuk çocuğu bekler (wait), sonra istemi yeniden yazar. Betik ayrı bir süreçte çalıştığı için betiğin içindeki 'cd /tmp' terminalinizi taşımaz — çok yaygın bir şaşkınlık. (Bir dosyayı GEÇERLİ kabukta çalıştırmak için 'source dosya' ya da '. dosya' kullanılır; yalnızca 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 nano'yu açsın ve hello.sh dosyasını kopyalamak yerine kendisi yazsın — sözdizimi yazarak yerleşir. # ile başlayan satırlar yorumdur; yalnızca en ilk satırdaki #! özeldir, o da sadece 1. satırda. Betiklerdeki yorumlar İngilizcedir; Linux belgelerinin dili de İngilizce olduğundan bu bilinçli bir tercih, kendi kopyalarınızda Türkçe yorum yazabilirsiniz. Linux'un uzantıyla ilgilenmediğini hatırlatın: .sh olmadan 'backup' adını taşıyan bir betik de aynı şekilde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~/lab/scripts içinde student kullanıcısıyla yakalandı. Dosya, laboratuvar kullanıcısının varsayılan umask değeri 002 nedeniyle 664 kipinde (-rw-rw-r--) oluşturuldu (11. hafta). chmod +x sonrası kip 775'tir. 'hello.sh' neden başarısız? Kabuk komutları yalnızca $PATH içindeki dizinlerde arar (echo $PATH); geçerli dizin güvenlik nedeniyle bilerek bu listede yoktur, bu yüzden ./ (bu dizin) demeniz gerekir. Çıkış durumu 126 'bulundu ama çalıştırılamıyor', 127 ise 'komut bulunamadı' demektir. Türkçe yerel ayarlı (LANG=tr_TR.UTF-8) bir sistemde bu iletilerin bir kısmı Türkçe görünebilir; ders çıktıları LC_ALL=C.UTF-8 ile alınmıştır.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Yalnızca son satır geçerli kabukta çalışır: 'source ~/.bashrc' ile yapılan değişikliklerin terminalinizde kalmasının nedeni budur; ./ ile başlatılan bir betik ise geçerli dizininizi ya da değişkenlerinizi değiştiremez. PATH değişkeni, iki nokta üst üste ile ayrılmış bir dizin listesidir; echo $PATH ile görebilirsiniz. Birçok kullanıcı ~/bin dizinini oluşturup betiklerini oraya koyar; Ubuntu'da ~/bin varsa ~/.profile onu PATH'e kendiliğinden ekler.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her zaman tam olarak aynı şeyi yapan bir betik de yararlıdır, ama değişkenleri ve argümanları olan bir betik çok daha yararlıdır.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Bu hata iletisi, haftanın en sık yapılan yeni başlayan hatasıdır. Ubuntu'da ileti daha uzun olabilir ('Command 'name' not found, did you mean ...'), çünkü Ubuntu bir command-not-found yardımcısı kurar; anlamı aynıdır. Değişkenin hemen ardından harf geliyorsa ${name} gerekir: echo "${name}s" ile echo "$names" karşılaştırması. Ortam değişkenlerine örnek olarak echo $HOME, echo $USER, echo $PATH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12 Ekim 2026'da çalıştırıldı. Sizin çıktınızdaki tarih farklı olacaktır. Betikte ders kodu olarak İngilizce şubenin kodu MCMP117 geçiyor; kendi kopyanızda MBLP131 yazabilirsiniz. wc -l &lt; dosya kullanımına dikkat çekin: girdi yönlendirmesiyle (12. hafta) wc dosya adı olmadan yalnızca sayıyı yazar — $( ) içinde tam istediğimiz şey. $(( )) içinde $((15 - week)) ya da $((15 - $week)) yazabilirsiniz; ikisi de çalışır. Bash aritmetiği 64 bitlik tamsayı aritmetiğidir: 7/2 kesilerek 3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Son satırdaki bilinçli hata, gerçek betiklerdeki en yaygın hatadır: içinde boşluklu bir dosya adı bulunan tırnaksız bir değişken. Yeni başlayanlar için kural: bir nedeniniz yoksa her $değişkenin ve her $( ) ifadesinin çevresine çift tırnak koyun. '# shellcheck disable' satırları ShellCheck (shellcheck.net) adlı ücretsiz bir denetim aracı içindir; araç tam da bu sorunlar için uyarır, bu iki satır ise ona hataların bilerek yapıldığını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./args.sh apple "green tea" 42 komutunun gerçek çıktısı. Çalıştırmadan önce sınıftan $# değerini tahmin etmesini isteyin (yanıt 4 değil, 3). Argüman yoksa $1 boştur ve $# 0'dır — gerçek betiklerin önce $# değerini denetlemesinin nedeni budur (biraz sonra check.sh). Çift tırnak içindeki "$@" her argümanı bozmadan korur; $* ise hepsini tek bir dizgide birleştirir. Yazdırırken ikisi aynı görünür; döngülerde her zaman "$@"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oturum: kullanıcı Ayse ve 2006 yazdı (terminal yazdıklarınızı ekrana yansıttığı için dökümde görünüyor). Yaş, $(( )) ile geçerli yıl eksi doğum yılı olarak hesaplanır; bu yüzden 'yaklaşık' yaştır. Birden çok değişken adıyla read satırı boşluklardan böler: read -r first last. 14. alıştırmada bir tahmin oyunu için read'i bir while döngüsünün içinde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durun ve öğrencilerin bu tabloyu not almasına izin verin. $((3 + 4 * 2)) ifadesinin sonucu 14 değil 11'dir: matematikteki gibi önce çarpma yapılır (ders notlarındaki gerçek dökümde görülür).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Mola sırasında hello.sh, variables.sh ve args.sh betiklerinin her öğrencinin makinesinde (laboratuvar bilgisayarı, WSL ya da sanal makine) çalıştığından emin olun.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karar verebilmek için bir betiğin bir koşula ihtiyacı vardır. Bash'te koşullar komutlardır ve yanıt çıkış durumudur.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 her zaman SON komutu gösterir; bu yüzden hemen yazdırın, çünkü echo'nun kendisi $? değerini yeniden 0 yapar. grep -q hiçbir şey yazdırmaz, yalnızca çıkış durumuyla yanıt verir: 0 = bulundu, 1 = bulunamadı (2, örneğin olmayan bir dosya gibi bir hata olurdu). grep'in if deyimlerinde bu kadar yararlı olmasının nedeni budur. Çıkış durumu, ebeveyn sürecin wait() ile topladığı değerdir — 3. ve 13. haftalar.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'type [' komutu, [ işaretinin kabuğa gömülü (builtin) bir komut olduğunu gösterir (diğer kabuklar için bir /usr/bin/[ programı da vardır). Bu, tüm boşluk kurallarını açıklar: '[', '5', '-gt', '3', ']' beş ayrı argümandır. Bash'te ayrıca [[ ... ]] vardır; daha hoşgörülü bir anahtar sözcüktür (sözcük bölme yapmaz, dizgiler için &lt; &gt; ve örüntü eşleme destekler); bu derste taşınabilir [ ] kullanıyoruz. -eq sayıları karşılaştırır: [ 05 -eq 5 ] doğrudur; = metni karşılaştırır: [ 05 = 5 ] yanlıştır.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check.sh'yi yukarıdan aşağıya okuyun. then'den önceki noktalı virgül gereklidir, çünkü then yeni bir komut başlatmalıdır; then'i bir sonraki satıra yazmak da olur. Çift tırnaklı bir dizgi içindeki $( ) içinde yer alan wc -l &lt; "$path" ifadesine dikkat edin — tırnaklar $( ) içinde doğru biçimde iç içe geçer. Gerçek çalıştırmalar bir sonraki slaytta.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Hata iletileri &gt;&amp;2 ile standart hataya (stderr) yazılır: çıktıyı yönlendirseniz bile, ./check.sh nothing.txt &gt; out.txt, hata yine ekranda görünür ve out.txt boş kalır. Sorun: ./check.sh ../logs hangi çıkış durumunu döndürür? (0, sondaki 'exit 0' satırından.)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Ölçek (85'ten itibaren A, 70'ten itibaren B, 50'den itibaren C) yalnızca bir örnektir, üniversitenin resmî not ölçeği değildir. elif testlerinin sırası önemlidir: önce -ge 50 testini yapsaydık 92 bir C alırdı. Bir sonraki slaytta bash -x bunu bizim için izlemeden önce, öğrencilerden 72 değerini elle izlemelerini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-x ile + ile başlayan satırlar komutu genişletmeden SONRAKİ hâliyle gösterir: $score değerinin 72 olduğunu ve hangi testlerin çalıştığını görürsünüz — -ge 85 testi başarısız oldu, -ge 70 testi başarılı oldu, ardından letter=B. Sağda 'abc' bir tamsayı değildir: her sayısal test 'integer expression expected' yazar ve yanlış sayılır; bu yüzden betik else dalına düşer ve grade F yazar. 9. satır iki kez görünür, çünkü || ile bağlanan iki test de denenir. Sorun: bunu nasıl düzeltirsiniz? (ör. testlerden önce grep -qx '[0-9]*' ile ya da bir case örüntüsüyle denetleyerek.)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kararlar bir betiğin seçim yapmasını sağlar; döngüler ise tekrarlamasını — otomasyonun asıl gücü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uzun kareler satırı slaytta '...' ile kısaltıldı (5 squared is 25'e kadar sürer). Çıktıda 'final report.txt: 2 lines' görünüyor — döngü değişkeni her yerde tırnaklı olduğu için boşluklu dosya adı tek parça kaldı. '1 lines' çıktısına da dikkat edin: betik tam olarak ona söyleneni yazar; '1 line' demesi için bir if gerekirdi. Küme parantezi genişletmesi {1..5} değişken kullanamaz ({1..$n} çalışmaz); bunun için $(seq 1 "$n") ya da bir while döngüsü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done'dan sonraki '&lt; file', döngünün TAMAMININ girdisini yönlendirir; bu yüzden her read bir sonraki satırı alır. 11325 toplamı ve 566,25 ortalaması kısa bir Python betiğiyle denetlendi; bash 566'ya keser. Testi hiçbir zaman yanlış olmayan bir while döngüsü sonsuz döngüdür — Ctrl+C (SIGINT, 13. hafta) ile durdurun. Ayrıca 'until TEST; do ... done' vardır; test BAŞARISIZ olduğu sürece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(kesikli çizgi slaytta kısaltıldı). is_even güzel bir fikri gösteriyor: fonksiyonun çıkış durumu sonucun kendisidir, bu yüzden doğrudan if içinde kullanılabilir. Bir fonksiyon 'return' ile metin döndüremez (return yalnızca 0-255 arası çıkış durumunu ayarlar); metin döndürmek için onu echo ile yazdırın ve $( ) ile yakalayın. Neden 'local n' ayrı bir satırda ve ardından n=$(...)? 'local n=$(grep ...)' yazmak grep'in çıkış durumunu gizlerdi — ShellCheck bu konuda uyarır.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Başvuru slaytı; ders notlarında tüm test işleçlerini de içeren daha kapsamlı bir sürüm var. &amp;&amp; ikinci komutu yalnızca ilki başarılı olursa, || yalnızca ilki başarısız olursa çalıştırır. Bu iki işleç çoğu zaman kısa if deyimleri olarak kullanılır: [ -d "$dir" ] || mkdir "$dir".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şimdi her şeyi — değişkenleri, $( ), testleri, if'i, 12. haftanın boru hatlarını — gerçekten kullanabileceğiniz iki betikte birleştiriyoruz.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backup.sh'yi adım adım anlatın. Tırnak içinde ~ yerine $HOME: ~ çift tırnak içinde genişletilMEZ, $HOME genişletilir. mkdir -p dizini gerekirse oluşturur, zaten varsa sessiz kalır. tar -tzf bir arşivi listeler (t); grep -vc '/$' / ile bitmeyen satırları (klasörleri değil dosyaları) sayar. du -h | cut -f1 yalnızca boyut sütununu tutar (12.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sizin zaman damgalarınız farklı olacaktır (ikinci çalıştırma, gösterilmeyen sleep 2 nedeniyle 2 saniye sonradır). Hiçbir şeyin üzerine yazmadan içine bakmak için geri yükleme: tar -xzf ../backup/docs_&lt;damga&gt;.tar.gz -C /tmp. 13. lab alıştırması bu betiği yalnızca en yeni 3 arşivi tutacak biçimde genişletir. Ek bilgi: cron ile '0 18 * * * $HOME/lab/scripts/backup.sh' satırı betiği her gün 18.00'de çalıştırırdı.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report.sh, 12. haftanın boru hatlarını yeniden kullanır: awk bir alanı yazdırır, sort | uniq -c | sort -rn sayar ve sıralar, tail -n +2 CSV'nin başlık satırını atlar, cut -d, -f3 bölümü alır. Yeni olan kısım awk'ın ondalık aritmetik yapmasıdır: m += $4 vize sütununu toplar, END sonda bir kez çalışır ve printf %.1f tek ondalık basamak yazar. Bir awk örüntüsü olarak kullanılan 0.4*$4 + 0.6*$5 &gt;= 50 yalnızca geçen satırları yazdırır; wc -l bunları sayar. 40/60 ağırlıklandırması yalnızca bir örnektir.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tarih satırı sizde farklı olacaktır. Her sayı aynı dosyalardan Python ile bağımsız olarak yeniden hesaplandı. İki tür aritmetiğe dikkat çekin: tamsayı yüzdesi için bash $(( )), ondalıklı ortalamalar için awk. Bu, bir teknisyenin her sabah bir sunucu günlüğü üzerinde çalıştırabileceği türden bir betiktir.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Bilerek bozulmuş beş betiğin gerçek çıktısı (code/demo_errors.sh ile oluşturuldu). (1) name = "Ayse" name adlı bir komut çalıştırır; ardından $name boştur, bu yüzden betik 'Hello ' yazar — betik hatada DURMADI, devam etti. (2) [$n tek bir sözcük olan [5'e dönüşür; bu bir komut değildir. (3) Boş ve tırnaksız bir $answer ile test [ = yes ] hâline gelir; sol tarafı yoktur: 'unary operator expected'. Tırnaklarla [ "" = yes ] olur ve yalnızca yanlıştır.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bash 5.2'den gerçek çıktı. 'bad interpreter: No such file or directory' iletisi bash 5.1 ve öncesinin (Ubuntu 22.04, eski kurulumlardaki Git Bash) yazdığı iletidir; ikisi de aynı anlama gelir. 'file win.sh' komutu 'with CRLF line terminators' der — hızlı bir tanı. bash -n eksik fi'yi hiçbir şey çalıştırmadan bulur: 'unexpected end of file', bir bloğun (if, for, while, tırnak) açılıp hiç kapatılmadığı anlamına gelir. Betiklerini Windows'ta yazıp Linux'a kopyalayan öğrenciler bu sorunla MUTLAKA karşılaşacaktır.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dakika verin. Sınıfta dolaşın; en sık karşılaşılan sorunlar tam olarak önceki iki slayttakiler olacaktır. Çözümler ders notlarında (Lab Föyü, 2., 6., 11. ve 13. alıştırmalar) — öğrencilere denemeden bakmamalarını söyleyin. Teslim yöntemi ve son tarih öğretim üyesinin kararıdır: [duyurulacak]. Hızlı öğrenciler Lab Föyü'ndeki diğer alıştırmalarla devam edebilir (16 alıştırma, toplam 100 puan).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./hello.sh çalıştırma izni ister, çünkü çekirdeğin dosyayı exec etmesi gerekir; bash hello.sh yalnızca okuma izni ister, çünkü bash dosyayı veri olarak açar. Çıkış durumu 126. (2) 3 (tamsayı bölmesi), $x (tek tırnak, olduğu gibi), 72 (iki değer yan yana). (3) [ -f report.txt ] &amp;&amp; [ "$n" -gt 10 ]. (4) $# = 3, $2 = 'two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Bunları birlikte okuyun; her satır, 'kısa bir betik yazın' soruları da dâhil olmak üzere olası bir final sınavı konusudur.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final sınavı tekrarı var. Dersin tamamını kapsıyor: 1-7. haftaların kuramı (8. haftanın çalışma kılavuzunu kullanın) ve bugünkülere benzer kısa bir betik yazmak da dâhil olmak üzere 9-14. haftaların uygulamalı Linux konuları. Lab Föyü alıştırmalarını evde bitirin: betik sorularına en iyi hazırlık onlardır.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Sözü sorulara bırakın. Telegram kanalında sorulan soruların herkese yardımcı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14</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14  ·  Kabuk Betiklerine Giriş</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Bir kez yazın, kaydedin, bin kez çalıştırın.</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13.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Süreçler</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Her komut, PID'si ve ebeveyni (PPID) olan bir süreç olarak çalışır. ps, pstree ve top bunları gösterir; STAT sütunu R, S, T, Z durumlarını verir.</a:t>
            </a:r>
            <a:endParaRPr lang="tr-TR" sz="16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İş denetimi</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komut &amp; arka planda çalışır; Ctrl+Z bir işi durdurur; jobs, fg ve bg işleri ön plan ile arka plan arasında taşır.</a:t>
            </a:r>
            <a:endParaRPr lang="tr-TR" sz="16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Sinyaller</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kill bir sinyal gönderir: SIGTERM (15) kibarca ister, SIGKILL (9) reddedilemez, Ctrl+C SIGINT (2) gönderir.</a:t>
            </a:r>
            <a:endParaRPr lang="tr-TR" sz="16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Öncelik</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nice ve renice nice değerini (−20 … 19) ayarlar; değeri yalnızca root düşürebilir (yani önceliği yükseltebilir).</a:t>
            </a:r>
            <a:endParaRPr lang="tr-TR"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Bugün: betik de yalnızca bir programdır. Onu çalıştırdığınızda kabuk onun için yeni bir süreç oluşturur — 13. haftada gördüğümüz her şey burada da geçerlidir.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14</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İlk betiğiniz   </a:t>
            </a:r>
            <a:r>
              <a:rPr lang="tr-TR" sz="1500" dirty="0">
                <a:solidFill>
                  <a:srgbClr val="3A464C"/>
                </a:solidFill>
                <a:latin typeface="Calibri" pitchFamily="34" charset="0"/>
                <a:ea typeface="Calibri" pitchFamily="34" charset="-122"/>
                <a:cs typeface="Calibri" pitchFamily="34" charset="-120"/>
              </a:rPr>
              <a:t>Neden otomasyon; shebang satırı; chmod +x; ./script.sh ile bash script.sh farkı.</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Değişkenler ve girdi   </a:t>
            </a:r>
            <a:r>
              <a:rPr lang="tr-TR" sz="1500" dirty="0">
                <a:solidFill>
                  <a:srgbClr val="3A464C"/>
                </a:solidFill>
                <a:latin typeface="Calibri" pitchFamily="34" charset="0"/>
                <a:ea typeface="Calibri" pitchFamily="34" charset="-122"/>
                <a:cs typeface="Calibri" pitchFamily="34" charset="-120"/>
              </a:rPr>
              <a:t>ad=değer, tırnaklar, $( ), $(( )), $1 $# $@, read.</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Kararlar   </a:t>
            </a:r>
            <a:r>
              <a:rPr lang="tr-TR" sz="1500" dirty="0">
                <a:solidFill>
                  <a:srgbClr val="3A464C"/>
                </a:solidFill>
                <a:latin typeface="Calibri" pitchFamily="34" charset="0"/>
                <a:ea typeface="Calibri" pitchFamily="34" charset="-122"/>
                <a:cs typeface="Calibri" pitchFamily="34" charset="-120"/>
              </a:rPr>
              <a:t>Çıkış durumu $?, test ve [ ], if / elif / else, bash -x ile hata ayıklama.</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Döngüler ve fonksiyonlar   </a:t>
            </a:r>
            <a:r>
              <a:rPr lang="tr-TR" sz="1500" dirty="0">
                <a:solidFill>
                  <a:srgbClr val="3A464C"/>
                </a:solidFill>
                <a:latin typeface="Calibri" pitchFamily="34" charset="0"/>
                <a:ea typeface="Calibri" pitchFamily="34" charset="-122"/>
                <a:cs typeface="Calibri" pitchFamily="34" charset="-120"/>
              </a:rPr>
              <a:t>for (listeler, {1..5}, dosyalar), while, fonksiyonlar.</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İki gerçek betik   </a:t>
            </a:r>
            <a:r>
              <a:rPr lang="tr-TR" sz="1500" dirty="0">
                <a:solidFill>
                  <a:srgbClr val="3A464C"/>
                </a:solidFill>
                <a:latin typeface="Calibri" pitchFamily="34" charset="0"/>
                <a:ea typeface="Calibri" pitchFamily="34" charset="-122"/>
                <a:cs typeface="Calibri" pitchFamily="34" charset="-120"/>
              </a:rPr>
              <a:t>backup.sh (zaman damgalı tar.gz) ve report.sh (günlük ve not özeti).</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Laboratuvar   </a:t>
            </a:r>
            <a:r>
              <a:rPr lang="tr-TR" sz="1500" dirty="0">
                <a:solidFill>
                  <a:srgbClr val="3A464C"/>
                </a:solidFill>
                <a:latin typeface="Calibri" pitchFamily="34" charset="0"/>
                <a:ea typeface="Calibri" pitchFamily="34" charset="-122"/>
                <a:cs typeface="Calibri" pitchFamily="34" charset="-120"/>
              </a:rPr>
              <a:t>Sık yapılan hatalar, ardından notlandırılan 3–4 betiği siz yazıyorsunuz.</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İlk Betiğiniz</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Kabuk betiği, içi komutlarla dolu bir metin dosyasıdır.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OTOMASYON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Neden Betik Yazarız?</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Kabuk betiği (shell script), kabuk komutları içeren düz bir metin dosyasıdır. Kabuk dosyayı okur ve komutları birbiri ardına çalıştırır.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5</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Komutları elle yazmak</a:t>
            </a:r>
            <a:endParaRPr lang="tr-TR"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sabah: yedekleme ve günlük denetimi için 6 komut.</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adımı unutmak ya da bir yolu yanlış yazmak kolay.</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iş arkadaşınıza tam olarak ne yaptığınızı anlatmak zor.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Siz uyurken saat 03.00'te çalışamaz.</a:t>
            </a:r>
            <a:endParaRPr lang="tr-TR"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Komutları bir betiğe koymak</a:t>
            </a:r>
            <a:endParaRPr lang="tr-TR"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Tek komut: ./backup.sh — her seferinde aynı adımlar.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hatayı bir kez düzeltirsiniz; düzeltilmiş kalır.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Betik, yordamın belgesidir (yorumlar!).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zamanlayıcı (cron) onu kendiliğinden başlatabilir.</a:t>
            </a:r>
            <a:endParaRPr lang="tr-TR"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Pratik kural: aynı komut dizisini üçüncü kez yazıyorsanız bir betik yazın. Sistem yöneticileri, DevOps ve gömülü Linux mühendisleri bunu her gün yapar.</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PERDE ARKASI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./hello.sh Yazdığınızda Ne Olur?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6</a:t>
            </a:r>
            <a:endParaRPr lang="tr-TR" sz="900" dirty="0"/>
          </a:p>
        </p:txBody>
      </p:sp>
      <p:sp>
        <p:nvSpPr>
          <p:cNvPr id="6" name="Shape 4"/>
          <p:cNvSpPr/>
          <p:nvPr/>
        </p:nvSpPr>
        <p:spPr>
          <a:xfrm>
            <a:off x="548640" y="1691640"/>
            <a:ext cx="2240280" cy="960120"/>
          </a:xfrm>
          <a:prstGeom prst="roundRect">
            <a:avLst>
              <a:gd name="adj" fmla="val 4762"/>
            </a:avLst>
          </a:prstGeom>
          <a:solidFill>
            <a:srgbClr val="36454F"/>
          </a:solidFill>
          <a:ln/>
        </p:spPr>
      </p:sp>
      <p:sp>
        <p:nvSpPr>
          <p:cNvPr id="7" name="Text 5"/>
          <p:cNvSpPr txBox="1"/>
          <p:nvPr/>
        </p:nvSpPr>
        <p:spPr>
          <a:xfrm>
            <a:off x="548640" y="1691640"/>
            <a:ext cx="2240280" cy="96012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Kabuğunuz (bash)</a:t>
            </a:r>
            <a:endParaRPr lang="tr-TR" sz="1400" dirty="0"/>
          </a:p>
          <a:p>
            <a:pPr algn="ctr" indent="0" marL="0">
              <a:buNone/>
            </a:pPr>
            <a:r>
              <a:rPr lang="tr-TR" sz="1100" dirty="0">
                <a:solidFill>
                  <a:srgbClr val="FFFFFF"/>
                </a:solidFill>
                <a:latin typeface="Calibri" pitchFamily="34" charset="0"/>
                <a:ea typeface="Calibri" pitchFamily="34" charset="-122"/>
                <a:cs typeface="Calibri" pitchFamily="34" charset="-120"/>
              </a:rPr>
              <a:t>komut satırını okur</a:t>
            </a:r>
            <a:endParaRPr lang="tr-TR" sz="1400" dirty="0"/>
          </a:p>
        </p:txBody>
      </p:sp>
      <p:sp>
        <p:nvSpPr>
          <p:cNvPr id="8" name="Shape 6"/>
          <p:cNvSpPr/>
          <p:nvPr/>
        </p:nvSpPr>
        <p:spPr>
          <a:xfrm>
            <a:off x="3291840" y="1691640"/>
            <a:ext cx="2240280" cy="960120"/>
          </a:xfrm>
          <a:prstGeom prst="roundRect">
            <a:avLst>
              <a:gd name="adj" fmla="val 4762"/>
            </a:avLst>
          </a:prstGeom>
          <a:solidFill>
            <a:srgbClr val="F2F2F2"/>
          </a:solidFill>
          <a:ln/>
        </p:spPr>
      </p:sp>
      <p:sp>
        <p:nvSpPr>
          <p:cNvPr id="9" name="Text 7"/>
          <p:cNvSpPr txBox="1"/>
          <p:nvPr/>
        </p:nvSpPr>
        <p:spPr>
          <a:xfrm>
            <a:off x="3291840" y="1691640"/>
            <a:ext cx="2240280" cy="960120"/>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onsolas" pitchFamily="34" charset="0"/>
                <a:ea typeface="Consolas" pitchFamily="34" charset="-122"/>
                <a:cs typeface="Consolas" pitchFamily="34" charset="-120"/>
              </a:rPr>
              <a:t>fork()</a:t>
            </a:r>
            <a:endParaRPr lang="tr-TR" sz="1500" dirty="0"/>
          </a:p>
          <a:p>
            <a:pPr algn="ctr" indent="0" marL="0">
              <a:buNone/>
            </a:pPr>
            <a:r>
              <a:rPr lang="tr-TR" sz="1100" dirty="0">
                <a:solidFill>
                  <a:srgbClr val="36454F"/>
                </a:solidFill>
                <a:latin typeface="Calibri" pitchFamily="34" charset="0"/>
                <a:ea typeface="Calibri" pitchFamily="34" charset="-122"/>
                <a:cs typeface="Calibri" pitchFamily="34" charset="-120"/>
              </a:rPr>
              <a:t>çocuk süreç oluşturur (3. ve 13. hafta)</a:t>
            </a:r>
            <a:endParaRPr lang="tr-TR" sz="1500" dirty="0"/>
          </a:p>
        </p:txBody>
      </p:sp>
      <p:sp>
        <p:nvSpPr>
          <p:cNvPr id="10" name="Shape 8"/>
          <p:cNvSpPr/>
          <p:nvPr/>
        </p:nvSpPr>
        <p:spPr>
          <a:xfrm>
            <a:off x="6035040" y="1691640"/>
            <a:ext cx="2240280" cy="960120"/>
          </a:xfrm>
          <a:prstGeom prst="roundRect">
            <a:avLst>
              <a:gd name="adj" fmla="val 4762"/>
            </a:avLst>
          </a:prstGeom>
          <a:solidFill>
            <a:srgbClr val="F2F2F2"/>
          </a:solidFill>
          <a:ln/>
        </p:spPr>
      </p:sp>
      <p:sp>
        <p:nvSpPr>
          <p:cNvPr id="11" name="Text 9"/>
          <p:cNvSpPr txBox="1"/>
          <p:nvPr/>
        </p:nvSpPr>
        <p:spPr>
          <a:xfrm>
            <a:off x="6035040" y="1691640"/>
            <a:ext cx="2240280" cy="960120"/>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onsolas" pitchFamily="34" charset="0"/>
                <a:ea typeface="Consolas" pitchFamily="34" charset="-122"/>
                <a:cs typeface="Consolas" pitchFamily="34" charset="-120"/>
              </a:rPr>
              <a:t>exec("./hello.sh")</a:t>
            </a:r>
            <a:endParaRPr lang="tr-TR" sz="1300" dirty="0"/>
          </a:p>
          <a:p>
            <a:pPr algn="ctr" indent="0" marL="0">
              <a:buNone/>
            </a:pPr>
            <a:r>
              <a:rPr lang="tr-TR" sz="1100" dirty="0">
                <a:solidFill>
                  <a:srgbClr val="36454F"/>
                </a:solidFill>
                <a:latin typeface="Calibri" pitchFamily="34" charset="0"/>
                <a:ea typeface="Calibri" pitchFamily="34" charset="-122"/>
                <a:cs typeface="Calibri" pitchFamily="34" charset="-120"/>
              </a:rPr>
              <a:t>çekirdek x bitini denetler (11. hafta)</a:t>
            </a:r>
            <a:endParaRPr lang="tr-TR" sz="1300" dirty="0"/>
          </a:p>
        </p:txBody>
      </p:sp>
      <p:sp>
        <p:nvSpPr>
          <p:cNvPr id="12" name="Shape 10"/>
          <p:cNvSpPr/>
          <p:nvPr/>
        </p:nvSpPr>
        <p:spPr>
          <a:xfrm>
            <a:off x="8778240" y="1691640"/>
            <a:ext cx="2240280" cy="960120"/>
          </a:xfrm>
          <a:prstGeom prst="roundRect">
            <a:avLst>
              <a:gd name="adj" fmla="val 4762"/>
            </a:avLst>
          </a:prstGeom>
          <a:solidFill>
            <a:srgbClr val="02C39A"/>
          </a:solidFill>
          <a:ln/>
        </p:spPr>
      </p:sp>
      <p:sp>
        <p:nvSpPr>
          <p:cNvPr id="13" name="Text 11"/>
          <p:cNvSpPr txBox="1"/>
          <p:nvPr/>
        </p:nvSpPr>
        <p:spPr>
          <a:xfrm>
            <a:off x="8778240" y="1691640"/>
            <a:ext cx="2240280" cy="9601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#!/bin/bash</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çekirdek ilk satırı okur</a:t>
            </a:r>
            <a:endParaRPr lang="tr-TR" sz="1500" dirty="0"/>
          </a:p>
        </p:txBody>
      </p:sp>
      <p:sp>
        <p:nvSpPr>
          <p:cNvPr id="14" name="Shape 12"/>
          <p:cNvSpPr/>
          <p:nvPr/>
        </p:nvSpPr>
        <p:spPr>
          <a:xfrm>
            <a:off x="2825496" y="2171700"/>
            <a:ext cx="429768" cy="91"/>
          </a:xfrm>
          <a:prstGeom prst="line">
            <a:avLst/>
          </a:prstGeom>
          <a:noFill/>
          <a:ln w="25400">
            <a:solidFill>
              <a:srgbClr val="028090"/>
            </a:solidFill>
            <a:prstDash val="solid"/>
            <a:tailEnd type="triangle"/>
          </a:ln>
        </p:spPr>
      </p:sp>
      <p:sp>
        <p:nvSpPr>
          <p:cNvPr id="15" name="Shape 13"/>
          <p:cNvSpPr/>
          <p:nvPr/>
        </p:nvSpPr>
        <p:spPr>
          <a:xfrm>
            <a:off x="5568696" y="2171700"/>
            <a:ext cx="429768" cy="91"/>
          </a:xfrm>
          <a:prstGeom prst="line">
            <a:avLst/>
          </a:prstGeom>
          <a:noFill/>
          <a:ln w="25400">
            <a:solidFill>
              <a:srgbClr val="028090"/>
            </a:solidFill>
            <a:prstDash val="solid"/>
            <a:tailEnd type="triangle"/>
          </a:ln>
        </p:spPr>
      </p:sp>
      <p:sp>
        <p:nvSpPr>
          <p:cNvPr id="16" name="Shape 14"/>
          <p:cNvSpPr/>
          <p:nvPr/>
        </p:nvSpPr>
        <p:spPr>
          <a:xfrm>
            <a:off x="8311896" y="2171700"/>
            <a:ext cx="429768" cy="91"/>
          </a:xfrm>
          <a:prstGeom prst="line">
            <a:avLst/>
          </a:prstGeom>
          <a:noFill/>
          <a:ln w="25400">
            <a:solidFill>
              <a:srgbClr val="028090"/>
            </a:solidFill>
            <a:prstDash val="solid"/>
            <a:tailEnd type="triangle"/>
          </a:ln>
        </p:spPr>
      </p:sp>
      <p:sp>
        <p:nvSpPr>
          <p:cNvPr id="17" name="Shape 15"/>
          <p:cNvSpPr/>
          <p:nvPr/>
        </p:nvSpPr>
        <p:spPr>
          <a:xfrm>
            <a:off x="9898380" y="2697480"/>
            <a:ext cx="91" cy="594360"/>
          </a:xfrm>
          <a:prstGeom prst="line">
            <a:avLst/>
          </a:prstGeom>
          <a:noFill/>
          <a:ln w="25400">
            <a:solidFill>
              <a:srgbClr val="028090"/>
            </a:solidFill>
            <a:prstDash val="solid"/>
            <a:tailEnd type="triangle"/>
          </a:ln>
        </p:spPr>
      </p:sp>
      <p:sp>
        <p:nvSpPr>
          <p:cNvPr id="18" name="Shape 16"/>
          <p:cNvSpPr/>
          <p:nvPr/>
        </p:nvSpPr>
        <p:spPr>
          <a:xfrm>
            <a:off x="6035040" y="3337560"/>
            <a:ext cx="4983480" cy="868680"/>
          </a:xfrm>
          <a:prstGeom prst="roundRect">
            <a:avLst>
              <a:gd name="adj" fmla="val 5263"/>
            </a:avLst>
          </a:prstGeom>
          <a:solidFill>
            <a:srgbClr val="36454F"/>
          </a:solidFill>
          <a:ln/>
        </p:spPr>
      </p:sp>
      <p:sp>
        <p:nvSpPr>
          <p:cNvPr id="19" name="Text 17"/>
          <p:cNvSpPr txBox="1"/>
          <p:nvPr/>
        </p:nvSpPr>
        <p:spPr>
          <a:xfrm>
            <a:off x="6035040" y="3337560"/>
            <a:ext cx="4983480" cy="86868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onsolas" pitchFamily="34" charset="0"/>
                <a:ea typeface="Consolas" pitchFamily="34" charset="-122"/>
                <a:cs typeface="Consolas" pitchFamily="34" charset="-120"/>
              </a:rPr>
              <a:t>/bin/bash ./hello.sh</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YENİ bir bash süreci dosyayı satır satır çalıştırır</a:t>
            </a:r>
            <a:endParaRPr lang="tr-TR" sz="1500" dirty="0"/>
          </a:p>
        </p:txBody>
      </p:sp>
      <p:sp>
        <p:nvSpPr>
          <p:cNvPr id="20" name="Shape 18"/>
          <p:cNvSpPr/>
          <p:nvPr/>
        </p:nvSpPr>
        <p:spPr>
          <a:xfrm flipH="1">
            <a:off x="2825496" y="3767328"/>
            <a:ext cx="3172968" cy="91"/>
          </a:xfrm>
          <a:prstGeom prst="line">
            <a:avLst/>
          </a:prstGeom>
          <a:noFill/>
          <a:ln w="25400">
            <a:solidFill>
              <a:srgbClr val="50808E"/>
            </a:solidFill>
            <a:prstDash val="solid"/>
            <a:tailEnd type="triangle"/>
          </a:ln>
        </p:spPr>
      </p:sp>
      <p:sp>
        <p:nvSpPr>
          <p:cNvPr id="21" name="Text 19"/>
          <p:cNvSpPr txBox="1"/>
          <p:nvPr/>
        </p:nvSpPr>
        <p:spPr>
          <a:xfrm>
            <a:off x="2898648" y="3319272"/>
            <a:ext cx="3017520" cy="411480"/>
          </a:xfrm>
          <a:prstGeom prst="rect">
            <a:avLst/>
          </a:prstGeom>
          <a:noFill/>
          <a:ln/>
        </p:spPr>
        <p:txBody>
          <a:bodyPr wrap="square" lIns="0" tIns="0" rIns="0" bIns="0" rtlCol="0" anchor="t"/>
          <a:lstStyle/>
          <a:p>
            <a:pPr indent="0" marL="0">
              <a:buNone/>
            </a:pPr>
            <a:r>
              <a:rPr lang="tr-TR" sz="1150" i="1" dirty="0">
                <a:solidFill>
                  <a:srgbClr val="6B7679"/>
                </a:solidFill>
                <a:latin typeface="Calibri" pitchFamily="34" charset="0"/>
                <a:ea typeface="Calibri" pitchFamily="34" charset="-122"/>
                <a:cs typeface="Calibri" pitchFamily="34" charset="-120"/>
              </a:rPr>
              <a:t>betik biter: çıkış durumu ebeveyn kabuğa döner ($?)</a:t>
            </a:r>
            <a:endParaRPr lang="tr-TR" sz="1150" dirty="0"/>
          </a:p>
        </p:txBody>
      </p:sp>
      <p:sp>
        <p:nvSpPr>
          <p:cNvPr id="22" name="Shape 20"/>
          <p:cNvSpPr/>
          <p:nvPr/>
        </p:nvSpPr>
        <p:spPr>
          <a:xfrm>
            <a:off x="548640" y="3337560"/>
            <a:ext cx="2240280" cy="868680"/>
          </a:xfrm>
          <a:prstGeom prst="roundRect">
            <a:avLst>
              <a:gd name="adj" fmla="val 5263"/>
            </a:avLst>
          </a:prstGeom>
          <a:solidFill>
            <a:srgbClr val="F2F2F2"/>
          </a:solidFill>
          <a:ln/>
        </p:spPr>
      </p:sp>
      <p:sp>
        <p:nvSpPr>
          <p:cNvPr id="23" name="Text 21"/>
          <p:cNvSpPr txBox="1"/>
          <p:nvPr/>
        </p:nvSpPr>
        <p:spPr>
          <a:xfrm>
            <a:off x="548640" y="3337560"/>
            <a:ext cx="2240280" cy="86868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İstem geri gelir</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ebeveyn bekledi (wait())</a:t>
            </a:r>
            <a:endParaRPr lang="tr-TR" sz="1400" dirty="0"/>
          </a:p>
        </p:txBody>
      </p:sp>
      <p:sp>
        <p:nvSpPr>
          <p:cNvPr id="24" name="Shape 22"/>
          <p:cNvSpPr/>
          <p:nvPr/>
        </p:nvSpPr>
        <p:spPr>
          <a:xfrm>
            <a:off x="548640" y="4434840"/>
            <a:ext cx="54406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77240" y="461772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Sonuçları</a:t>
            </a:r>
            <a:endParaRPr lang="tr-TR" sz="1500" dirty="0"/>
          </a:p>
        </p:txBody>
      </p:sp>
      <p:sp>
        <p:nvSpPr>
          <p:cNvPr id="26" name="Text 24"/>
          <p:cNvSpPr txBox="1"/>
          <p:nvPr/>
        </p:nvSpPr>
        <p:spPr>
          <a:xfrm>
            <a:off x="77724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Betik bir çocuk süreçte çalışır: betiğin içindeki bir cd ya da değişken ataması terminalinizi değiştirmez.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x izni yoksa → exec başarısız olur → "Permission denied".</a:t>
            </a:r>
            <a:endParaRPr lang="tr-TR" sz="1350" dirty="0"/>
          </a:p>
        </p:txBody>
      </p:sp>
      <p:sp>
        <p:nvSpPr>
          <p:cNvPr id="27" name="Shape 25"/>
          <p:cNvSpPr/>
          <p:nvPr/>
        </p:nvSpPr>
        <p:spPr>
          <a:xfrm>
            <a:off x="6217920" y="4434840"/>
            <a:ext cx="54406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6446520" y="461772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Shebang satırı #!</a:t>
            </a:r>
            <a:endParaRPr lang="tr-TR" sz="1500" dirty="0"/>
          </a:p>
        </p:txBody>
      </p:sp>
      <p:sp>
        <p:nvSpPr>
          <p:cNvPr id="29" name="Text 27"/>
          <p:cNvSpPr txBox="1"/>
          <p:nvPr/>
        </p:nvSpPr>
        <p:spPr>
          <a:xfrm>
            <a:off x="644652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Dosyanın en ilk satırı olmalıdır: #! + yorumlayıcının mutlak yolu.</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#!/bin/bash bash içindir; #!/usr/bin/python3 aynı yolla Python çalıştırırdı.</a:t>
            </a:r>
            <a:endParaRPr lang="tr-TR"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İLK BETİK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hello.sh'nin Anatomisi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7</a:t>
            </a:r>
            <a:endParaRPr lang="tr-TR" sz="900" dirty="0"/>
          </a:p>
        </p:txBody>
      </p:sp>
      <p:sp>
        <p:nvSpPr>
          <p:cNvPr id="6" name="Shape 4"/>
          <p:cNvSpPr/>
          <p:nvPr/>
        </p:nvSpPr>
        <p:spPr>
          <a:xfrm>
            <a:off x="548640" y="1508760"/>
            <a:ext cx="6766560" cy="2148840"/>
          </a:xfrm>
          <a:prstGeom prst="roundRect">
            <a:avLst>
              <a:gd name="adj" fmla="val 2128"/>
            </a:avLst>
          </a:prstGeom>
          <a:solidFill>
            <a:srgbClr val="212121"/>
          </a:solidFill>
          <a:ln/>
        </p:spPr>
      </p:sp>
      <p:sp>
        <p:nvSpPr>
          <p:cNvPr id="7" name="Text 5"/>
          <p:cNvSpPr txBox="1"/>
          <p:nvPr/>
        </p:nvSpPr>
        <p:spPr>
          <a:xfrm>
            <a:off x="731520" y="1618488"/>
            <a:ext cx="6400800" cy="1929384"/>
          </a:xfrm>
          <a:prstGeom prst="rect">
            <a:avLst/>
          </a:prstGeom>
          <a:noFill/>
          <a:ln/>
        </p:spPr>
        <p:txBody>
          <a:bodyPr wrap="square" lIns="0" tIns="0" rIns="0" bIns="0" rtlCol="0" anchor="t"/>
          <a:lstStyle/>
          <a:p>
            <a:pPr indent="0" marL="0">
              <a:lnSpc>
                <a:spcPct val="100000"/>
              </a:lnSpc>
              <a:buNone/>
            </a:pPr>
            <a:r>
              <a:rPr lang="tr-TR" sz="1400" dirty="0">
                <a:solidFill>
                  <a:srgbClr val="8A9AA0"/>
                </a:solidFill>
                <a:latin typeface="Consolas" pitchFamily="34" charset="0"/>
                <a:ea typeface="Consolas" pitchFamily="34" charset="-122"/>
                <a:cs typeface="Consolas" pitchFamily="34" charset="-120"/>
              </a:rPr>
              <a:t>#!/bin/bash</a:t>
            </a:r>
            <a:endParaRPr lang="tr-TR" sz="1400" dirty="0"/>
          </a:p>
          <a:p>
            <a:pPr indent="0" marL="0">
              <a:lnSpc>
                <a:spcPct val="100000"/>
              </a:lnSpc>
              <a:buNone/>
            </a:pPr>
            <a:r>
              <a:rPr lang="tr-TR" sz="1400" dirty="0">
                <a:solidFill>
                  <a:srgbClr val="8A9AA0"/>
                </a:solidFill>
                <a:latin typeface="Consolas" pitchFamily="34" charset="0"/>
                <a:ea typeface="Consolas" pitchFamily="34" charset="-122"/>
                <a:cs typeface="Consolas" pitchFamily="34" charset="-120"/>
              </a:rPr>
              <a:t># hello.sh -- my first shell script</a:t>
            </a:r>
            <a:endParaRPr lang="tr-TR" sz="1400" dirty="0"/>
          </a:p>
          <a:p>
            <a:pPr indent="0" marL="0">
              <a:lnSpc>
                <a:spcPct val="100000"/>
              </a:lnSpc>
              <a:buNone/>
            </a:pPr>
            <a:r>
              <a:rPr lang="tr-TR" sz="1400" dirty="0">
                <a:solidFill>
                  <a:srgbClr val="8A9AA0"/>
                </a:solidFill>
                <a:latin typeface="Consolas" pitchFamily="34" charset="0"/>
                <a:ea typeface="Consolas" pitchFamily="34" charset="-122"/>
                <a:cs typeface="Consolas" pitchFamily="34" charset="-120"/>
              </a:rPr>
              <a:t># Run: bash hello.sh   or: chmod +x hello.sh; ./hello.sh</a:t>
            </a:r>
            <a:endParaRPr lang="tr-TR" sz="1400" dirty="0"/>
          </a:p>
          <a:p>
            <a:pPr indent="0" marL="0">
              <a:lnSpc>
                <a:spcPct val="100000"/>
              </a:lnSpc>
              <a:buNone/>
            </a:pPr>
            <a:r>
              <a:rPr lang="tr-TR" sz="1400" dirty="0">
                <a:solidFill>
                  <a:srgbClr val="F2F2F2"/>
                </a:solidFill>
                <a:latin typeface="Consolas" pitchFamily="34" charset="0"/>
                <a:ea typeface="Consolas" pitchFamily="34" charset="-122"/>
                <a:cs typeface="Consolas" pitchFamily="34" charset="-120"/>
              </a:rPr>
              <a:t>echo "Hello from a shell script!"</a:t>
            </a:r>
            <a:endParaRPr lang="tr-TR" sz="1400" dirty="0"/>
          </a:p>
          <a:p>
            <a:pPr indent="0" marL="0">
              <a:lnSpc>
                <a:spcPct val="100000"/>
              </a:lnSpc>
              <a:buNone/>
            </a:pPr>
            <a:r>
              <a:rPr lang="tr-TR" sz="1400" dirty="0">
                <a:solidFill>
                  <a:srgbClr val="F2F2F2"/>
                </a:solidFill>
                <a:latin typeface="Consolas" pitchFamily="34" charset="0"/>
                <a:ea typeface="Consolas" pitchFamily="34" charset="-122"/>
                <a:cs typeface="Consolas" pitchFamily="34" charset="-120"/>
              </a:rPr>
              <a:t>echo "I am running as: $(whoami)"</a:t>
            </a:r>
            <a:endParaRPr lang="tr-TR" sz="1400" dirty="0"/>
          </a:p>
          <a:p>
            <a:pPr indent="0" marL="0">
              <a:lnSpc>
                <a:spcPct val="100000"/>
              </a:lnSpc>
              <a:buNone/>
            </a:pPr>
            <a:r>
              <a:rPr lang="tr-TR" sz="1400" dirty="0">
                <a:solidFill>
                  <a:srgbClr val="F2F2F2"/>
                </a:solidFill>
                <a:latin typeface="Consolas" pitchFamily="34" charset="0"/>
                <a:ea typeface="Consolas" pitchFamily="34" charset="-122"/>
                <a:cs typeface="Consolas" pitchFamily="34" charset="-120"/>
              </a:rPr>
              <a:t>echo "Current folder:  $(pwd)"</a:t>
            </a:r>
            <a:endParaRPr lang="tr-TR" sz="1400" dirty="0"/>
          </a:p>
        </p:txBody>
      </p:sp>
      <p:sp>
        <p:nvSpPr>
          <p:cNvPr id="8" name="Shape 6"/>
          <p:cNvSpPr/>
          <p:nvPr/>
        </p:nvSpPr>
        <p:spPr>
          <a:xfrm>
            <a:off x="7543800" y="1600200"/>
            <a:ext cx="329184" cy="329184"/>
          </a:xfrm>
          <a:prstGeom prst="ellipse">
            <a:avLst/>
          </a:prstGeom>
          <a:solidFill>
            <a:srgbClr val="02C39A"/>
          </a:solidFill>
          <a:ln/>
        </p:spPr>
      </p:sp>
      <p:sp>
        <p:nvSpPr>
          <p:cNvPr id="9" name="Text 7"/>
          <p:cNvSpPr txBox="1"/>
          <p:nvPr/>
        </p:nvSpPr>
        <p:spPr>
          <a:xfrm>
            <a:off x="7543800" y="16002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1</a:t>
            </a:r>
            <a:endParaRPr lang="tr-TR" sz="1200" dirty="0"/>
          </a:p>
        </p:txBody>
      </p:sp>
      <p:sp>
        <p:nvSpPr>
          <p:cNvPr id="10" name="Text 8"/>
          <p:cNvSpPr txBox="1"/>
          <p:nvPr/>
        </p:nvSpPr>
        <p:spPr>
          <a:xfrm>
            <a:off x="8001000" y="1572768"/>
            <a:ext cx="3657600" cy="411480"/>
          </a:xfrm>
          <a:prstGeom prst="rect">
            <a:avLst/>
          </a:prstGeom>
          <a:noFill/>
          <a:ln/>
        </p:spPr>
        <p:txBody>
          <a:bodyPr wrap="square" lIns="0" tIns="0" rIns="0" bIns="0" rtlCol="0" anchor="ctr"/>
          <a:lstStyle/>
          <a:p>
            <a:pPr indent="0" marL="0">
              <a:buNone/>
            </a:pPr>
            <a:r>
              <a:rPr lang="tr-TR" sz="1350" dirty="0">
                <a:solidFill>
                  <a:srgbClr val="3A464C"/>
                </a:solidFill>
                <a:latin typeface="Calibri" pitchFamily="34" charset="0"/>
                <a:ea typeface="Calibri" pitchFamily="34" charset="-122"/>
                <a:cs typeface="Calibri" pitchFamily="34" charset="-120"/>
              </a:rPr>
              <a:t>Shebang: bu dosyayı hangi program çalıştırır</a:t>
            </a:r>
            <a:endParaRPr lang="tr-TR" sz="1350" dirty="0"/>
          </a:p>
        </p:txBody>
      </p:sp>
      <p:sp>
        <p:nvSpPr>
          <p:cNvPr id="11" name="Shape 9"/>
          <p:cNvSpPr/>
          <p:nvPr/>
        </p:nvSpPr>
        <p:spPr>
          <a:xfrm>
            <a:off x="7543800" y="2286000"/>
            <a:ext cx="329184" cy="329184"/>
          </a:xfrm>
          <a:prstGeom prst="ellipse">
            <a:avLst/>
          </a:prstGeom>
          <a:solidFill>
            <a:srgbClr val="02C39A"/>
          </a:solidFill>
          <a:ln/>
        </p:spPr>
      </p:sp>
      <p:sp>
        <p:nvSpPr>
          <p:cNvPr id="12" name="Text 10"/>
          <p:cNvSpPr txBox="1"/>
          <p:nvPr/>
        </p:nvSpPr>
        <p:spPr>
          <a:xfrm>
            <a:off x="7543800" y="22860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2</a:t>
            </a:r>
            <a:endParaRPr lang="tr-TR" sz="1200" dirty="0"/>
          </a:p>
        </p:txBody>
      </p:sp>
      <p:sp>
        <p:nvSpPr>
          <p:cNvPr id="13" name="Text 11"/>
          <p:cNvSpPr txBox="1"/>
          <p:nvPr/>
        </p:nvSpPr>
        <p:spPr>
          <a:xfrm>
            <a:off x="8001000" y="2258568"/>
            <a:ext cx="3657600" cy="411480"/>
          </a:xfrm>
          <a:prstGeom prst="rect">
            <a:avLst/>
          </a:prstGeom>
          <a:noFill/>
          <a:ln/>
        </p:spPr>
        <p:txBody>
          <a:bodyPr wrap="square" lIns="0" tIns="0" rIns="0" bIns="0" rtlCol="0" anchor="ctr"/>
          <a:lstStyle/>
          <a:p>
            <a:pPr indent="0" marL="0">
              <a:buNone/>
            </a:pPr>
            <a:r>
              <a:rPr lang="tr-TR" sz="1350" dirty="0">
                <a:solidFill>
                  <a:srgbClr val="3A464C"/>
                </a:solidFill>
                <a:latin typeface="Calibri" pitchFamily="34" charset="0"/>
                <a:ea typeface="Calibri" pitchFamily="34" charset="-122"/>
                <a:cs typeface="Calibri" pitchFamily="34" charset="-120"/>
              </a:rPr>
              <a:t>Yorumlar: bash yok sayar, insanlar okur</a:t>
            </a:r>
            <a:endParaRPr lang="tr-TR" sz="1350" dirty="0"/>
          </a:p>
        </p:txBody>
      </p:sp>
      <p:sp>
        <p:nvSpPr>
          <p:cNvPr id="14" name="Shape 12"/>
          <p:cNvSpPr/>
          <p:nvPr/>
        </p:nvSpPr>
        <p:spPr>
          <a:xfrm>
            <a:off x="7543800" y="2971800"/>
            <a:ext cx="329184" cy="329184"/>
          </a:xfrm>
          <a:prstGeom prst="ellipse">
            <a:avLst/>
          </a:prstGeom>
          <a:solidFill>
            <a:srgbClr val="02C39A"/>
          </a:solidFill>
          <a:ln/>
        </p:spPr>
      </p:sp>
      <p:sp>
        <p:nvSpPr>
          <p:cNvPr id="15" name="Text 13"/>
          <p:cNvSpPr txBox="1"/>
          <p:nvPr/>
        </p:nvSpPr>
        <p:spPr>
          <a:xfrm>
            <a:off x="7543800" y="29718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3</a:t>
            </a:r>
            <a:endParaRPr lang="tr-TR" sz="1200" dirty="0"/>
          </a:p>
        </p:txBody>
      </p:sp>
      <p:sp>
        <p:nvSpPr>
          <p:cNvPr id="16" name="Text 14"/>
          <p:cNvSpPr txBox="1"/>
          <p:nvPr/>
        </p:nvSpPr>
        <p:spPr>
          <a:xfrm>
            <a:off x="8001000" y="2944368"/>
            <a:ext cx="3657600" cy="411480"/>
          </a:xfrm>
          <a:prstGeom prst="rect">
            <a:avLst/>
          </a:prstGeom>
          <a:noFill/>
          <a:ln/>
        </p:spPr>
        <p:txBody>
          <a:bodyPr wrap="square" lIns="0" tIns="0" rIns="0" bIns="0" rtlCol="0" anchor="ctr"/>
          <a:lstStyle/>
          <a:p>
            <a:pPr indent="0" marL="0">
              <a:buNone/>
            </a:pPr>
            <a:r>
              <a:rPr lang="tr-TR" sz="1350" dirty="0">
                <a:solidFill>
                  <a:srgbClr val="3A464C"/>
                </a:solidFill>
                <a:latin typeface="Calibri" pitchFamily="34" charset="0"/>
                <a:ea typeface="Calibri" pitchFamily="34" charset="-122"/>
                <a:cs typeface="Calibri" pitchFamily="34" charset="-120"/>
              </a:rPr>
              <a:t>Komutlar: tam olarak istemde yazacağınız gibi</a:t>
            </a:r>
            <a:endParaRPr lang="tr-TR" sz="1350" dirty="0"/>
          </a:p>
        </p:txBody>
      </p:sp>
      <p:sp>
        <p:nvSpPr>
          <p:cNvPr id="17" name="Shape 15"/>
          <p:cNvSpPr/>
          <p:nvPr/>
        </p:nvSpPr>
        <p:spPr>
          <a:xfrm>
            <a:off x="548640" y="3886200"/>
            <a:ext cx="111099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777240" y="4069080"/>
            <a:ext cx="10652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 metin düzenleyiciyle oluşturun</a:t>
            </a:r>
            <a:endParaRPr lang="tr-TR" sz="1500" dirty="0"/>
          </a:p>
        </p:txBody>
      </p:sp>
      <p:sp>
        <p:nvSpPr>
          <p:cNvPr id="19" name="Text 17"/>
          <p:cNvSpPr txBox="1"/>
          <p:nvPr/>
        </p:nvSpPr>
        <p:spPr>
          <a:xfrm>
            <a:off x="777240" y="4526280"/>
            <a:ext cx="10652760" cy="160020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nano hello.sh</a:t>
            </a:r>
            <a:r>
              <a:rPr lang="tr-TR" sz="1400" dirty="0">
                <a:solidFill>
                  <a:srgbClr val="3A464C"/>
                </a:solidFill>
                <a:latin typeface="Calibri" pitchFamily="34" charset="0"/>
                <a:ea typeface="Calibri" pitchFamily="34" charset="-122"/>
                <a:cs typeface="Calibri" pitchFamily="34" charset="-120"/>
              </a:rPr>
              <a:t> — satırları yazın, Ctrl+O ve Enter ile kaydedin, Ctrl+X ile çıkın. (Her düzenleyici olur: vim, gedit, VS Code.)</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$(whoami)</a:t>
            </a:r>
            <a:r>
              <a:rPr lang="tr-TR" sz="1400" dirty="0">
                <a:solidFill>
                  <a:srgbClr val="3A464C"/>
                </a:solidFill>
                <a:latin typeface="Calibri" pitchFamily="34" charset="0"/>
                <a:ea typeface="Calibri" pitchFamily="34" charset="-122"/>
                <a:cs typeface="Calibri" pitchFamily="34" charset="-120"/>
              </a:rPr>
              <a:t> komut yerine koymadır (command substitution): bash whoami komutunu çalıştırır ve çıktısını metnin içine yerleştirir (2. bölüm).</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Ad:</a:t>
            </a:r>
            <a:r>
              <a:rPr lang="tr-TR" sz="1400" dirty="0">
                <a:solidFill>
                  <a:srgbClr val="3A464C"/>
                </a:solidFill>
                <a:latin typeface="Calibri" pitchFamily="34" charset="0"/>
                <a:ea typeface="Calibri" pitchFamily="34" charset="-122"/>
                <a:cs typeface="Calibri" pitchFamily="34" charset="-120"/>
              </a:rPr>
              <a:t> .sh uzantısı yalnızca insanlar için bir alışkanlıktır; Linux uzantıya değil, x bitine ve shebang satırına bakarak karar verir (7. hafta: dosya türleri).</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Çalıştırma: bash hello.sh ile ./hello.sh</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8</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bash 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Hello from a shell script!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I am running as: student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Current folder:  /home/student/lab/scripts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bash: ./hello.sh: Permission denied</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echo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126</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ls -l 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-rw-rw-r-- 1 student student 204 Oct 12 17:18 hello.sh</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chmod +x hello.sh</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ls -l 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-rwxrwxr-x 1 student student 204 Oct 12 17:18 hello.sh</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Hello from a shell script!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I am running as: student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Current folder:  /home/student/lab/scripts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hello.sh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bash: hello.sh: command not found</a:t>
            </a:r>
            <a:endParaRPr lang="tr-TR"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bash hello.sh</a:t>
            </a:r>
            <a:r>
              <a:rPr lang="tr-TR" sz="1350" dirty="0">
                <a:solidFill>
                  <a:srgbClr val="3A464C"/>
                </a:solidFill>
                <a:latin typeface="Calibri" pitchFamily="34" charset="0"/>
                <a:ea typeface="Calibri" pitchFamily="34" charset="-122"/>
                <a:cs typeface="Calibri" pitchFamily="34" charset="-120"/>
              </a:rPr>
              <a:t> x izni olmadan da çalışır: bash dosyayı yalnızca okur.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./hello.sh</a:t>
            </a:r>
            <a:r>
              <a:rPr lang="tr-TR" sz="1350" dirty="0">
                <a:solidFill>
                  <a:srgbClr val="3A464C"/>
                </a:solidFill>
                <a:latin typeface="Calibri" pitchFamily="34" charset="0"/>
                <a:ea typeface="Calibri" pitchFamily="34" charset="-122"/>
                <a:cs typeface="Calibri" pitchFamily="34" charset="-120"/>
              </a:rPr>
              <a:t> x bitine ihtiyaç duyar: Permission denied, çıkış durumu 126.</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chmod +x</a:t>
            </a:r>
            <a:r>
              <a:rPr lang="tr-TR" sz="1350" dirty="0">
                <a:solidFill>
                  <a:srgbClr val="3A464C"/>
                </a:solidFill>
                <a:latin typeface="Calibri" pitchFamily="34" charset="0"/>
                <a:ea typeface="Calibri" pitchFamily="34" charset="-122"/>
                <a:cs typeface="Calibri" pitchFamily="34" charset="-120"/>
              </a:rPr>
              <a:t> kullanıcı, grup ve diğerlerine x ekler (11. hafta): rw- → rwx.</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hello.sh</a:t>
            </a:r>
            <a:r>
              <a:rPr lang="tr-TR" sz="1350" dirty="0">
                <a:solidFill>
                  <a:srgbClr val="3A464C"/>
                </a:solidFill>
                <a:latin typeface="Calibri" pitchFamily="34" charset="0"/>
                <a:ea typeface="Calibri" pitchFamily="34" charset="-122"/>
                <a:cs typeface="Calibri" pitchFamily="34" charset="-120"/>
              </a:rPr>
              <a:t> tek başına: bulunamaz, çünkü geçerli dizin $PATH içinde değildir. Bu yüzden ./</a:t>
            </a:r>
            <a:endParaRPr lang="tr-TR"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BETİK ÇALIŞTIRMA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Betiği Çalıştırmanın Dört Yolu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9</a:t>
            </a:r>
            <a:endParaRPr lang="tr-TR"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017520"/>
                <a:gridCol w="2468880"/>
                <a:gridCol w="2926080"/>
                <a:gridCol w="2697480"/>
              </a:tblGrid>
              <a:tr h="0">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Komut</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Gerekenler</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Nerede çalışır</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Tipik kullanım</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bash hello.sh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r izni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yeni bir bash süreci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hızlı deneme; x biti olmayan betik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./hello.sh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r + x, shebang satırı</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yeni süreç (yorumlayıcı #! satırından)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kendi betiğinizi çalıştırmanın olağan yolu</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hello.sh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r + x, dizin $PATH içinde</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yeni süreç</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kurulu araçlar, ör. ~/bin içinde</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source hello.sh  (ya da  . hello.sh)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r izni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GEÇERLİ kabuk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değişken ayarlayan dosyalar, ör. ~/.bashrc</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 derste ./script.sh kullanın. bash -n script.sh hiçbir şey çalıştırmadan sözdizimini denetler; bash -x script.sh her komutu çalışırken gösterir (3. bölüm).</a:t>
            </a:r>
            <a:endParaRPr lang="tr-T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Değişkenler, Tırnaklar ve Girdi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Değer saklamak, metin oluşturmak, argümanları ve klavye girdisini okumak.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10</a:t>
            </a:r>
            <a:endParaRPr lang="tr-TR"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DEĞİŞKENLER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Değişkenler: ad=değer, Boşluk Yok!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11</a:t>
            </a:r>
            <a:endParaRPr lang="tr-TR" sz="900" dirty="0"/>
          </a:p>
        </p:txBody>
      </p:sp>
      <p:sp>
        <p:nvSpPr>
          <p:cNvPr id="6" name="Shape 4"/>
          <p:cNvSpPr/>
          <p:nvPr/>
        </p:nvSpPr>
        <p:spPr>
          <a:xfrm>
            <a:off x="548640" y="1508760"/>
            <a:ext cx="6309360" cy="2743200"/>
          </a:xfrm>
          <a:prstGeom prst="roundRect">
            <a:avLst>
              <a:gd name="adj" fmla="val 1667"/>
            </a:avLst>
          </a:prstGeom>
          <a:solidFill>
            <a:srgbClr val="212121"/>
          </a:solidFill>
          <a:ln/>
        </p:spPr>
      </p:sp>
      <p:sp>
        <p:nvSpPr>
          <p:cNvPr id="7" name="Text 5"/>
          <p:cNvSpPr txBox="1"/>
          <p:nvPr/>
        </p:nvSpPr>
        <p:spPr>
          <a:xfrm>
            <a:off x="731520" y="1618488"/>
            <a:ext cx="5943600" cy="2523744"/>
          </a:xfrm>
          <a:prstGeom prst="rect">
            <a:avLst/>
          </a:prstGeom>
          <a:noFill/>
          <a:ln/>
        </p:spPr>
        <p:txBody>
          <a:bodyPr wrap="square" lIns="0" tIns="0" rIns="0" bIns="0" rtlCol="0" anchor="t"/>
          <a:lstStyle/>
          <a:p>
            <a:pPr indent="0" marL="0">
              <a:lnSpc>
                <a:spcPct val="100000"/>
              </a:lnSpc>
              <a:buNone/>
            </a:pPr>
            <a:r>
              <a:rPr lang="tr-TR" sz="1400" dirty="0">
                <a:solidFill>
                  <a:srgbClr val="02C39A"/>
                </a:solidFill>
                <a:latin typeface="Consolas" pitchFamily="34" charset="0"/>
                <a:ea typeface="Consolas" pitchFamily="34" charset="-122"/>
                <a:cs typeface="Consolas" pitchFamily="34" charset="-120"/>
              </a:rPr>
              <a:t>student@okan-lab:~/lab/scripts$ </a:t>
            </a:r>
            <a:r>
              <a:rPr lang="tr-TR" sz="1400" b="1" dirty="0">
                <a:solidFill>
                  <a:srgbClr val="FFFFFF"/>
                </a:solidFill>
                <a:latin typeface="Consolas" pitchFamily="34" charset="0"/>
                <a:ea typeface="Consolas" pitchFamily="34" charset="-122"/>
                <a:cs typeface="Consolas" pitchFamily="34" charset="-120"/>
              </a:rPr>
              <a:t>name="Ayse"</a:t>
            </a:r>
            <a:endParaRPr lang="tr-TR" sz="1400" dirty="0"/>
          </a:p>
          <a:p>
            <a:pPr indent="0" marL="0">
              <a:lnSpc>
                <a:spcPct val="100000"/>
              </a:lnSpc>
              <a:buNone/>
            </a:pPr>
            <a:r>
              <a:rPr lang="tr-TR" sz="1400" dirty="0">
                <a:solidFill>
                  <a:srgbClr val="02C39A"/>
                </a:solidFill>
                <a:latin typeface="Consolas" pitchFamily="34" charset="0"/>
                <a:ea typeface="Consolas" pitchFamily="34" charset="-122"/>
                <a:cs typeface="Consolas" pitchFamily="34" charset="-120"/>
              </a:rPr>
              <a:t>student@okan-lab:~/lab/scripts$ </a:t>
            </a:r>
            <a:r>
              <a:rPr lang="tr-TR" sz="1400" b="1" dirty="0">
                <a:solidFill>
                  <a:srgbClr val="FFFFFF"/>
                </a:solidFill>
                <a:latin typeface="Consolas" pitchFamily="34" charset="0"/>
                <a:ea typeface="Consolas" pitchFamily="34" charset="-122"/>
                <a:cs typeface="Consolas" pitchFamily="34" charset="-120"/>
              </a:rPr>
              <a:t>echo $name</a:t>
            </a:r>
            <a:endParaRPr lang="tr-TR" sz="1400" dirty="0"/>
          </a:p>
          <a:p>
            <a:pPr indent="0" marL="0">
              <a:lnSpc>
                <a:spcPct val="100000"/>
              </a:lnSpc>
              <a:buNone/>
            </a:pPr>
            <a:r>
              <a:rPr lang="tr-TR" sz="1400" dirty="0">
                <a:solidFill>
                  <a:srgbClr val="C9D1D3"/>
                </a:solidFill>
                <a:latin typeface="Consolas" pitchFamily="34" charset="0"/>
                <a:ea typeface="Consolas" pitchFamily="34" charset="-122"/>
                <a:cs typeface="Consolas" pitchFamily="34" charset="-120"/>
              </a:rPr>
              <a:t>Ayse</a:t>
            </a:r>
            <a:endParaRPr lang="tr-TR" sz="1400" dirty="0"/>
          </a:p>
          <a:p>
            <a:pPr indent="0" marL="0">
              <a:lnSpc>
                <a:spcPct val="100000"/>
              </a:lnSpc>
              <a:buNone/>
            </a:pPr>
            <a:r>
              <a:rPr lang="tr-TR" sz="1400" dirty="0">
                <a:solidFill>
                  <a:srgbClr val="02C39A"/>
                </a:solidFill>
                <a:latin typeface="Consolas" pitchFamily="34" charset="0"/>
                <a:ea typeface="Consolas" pitchFamily="34" charset="-122"/>
                <a:cs typeface="Consolas" pitchFamily="34" charset="-120"/>
              </a:rPr>
              <a:t>student@okan-lab:~/lab/scripts$ </a:t>
            </a:r>
            <a:r>
              <a:rPr lang="tr-TR" sz="1400" b="1" dirty="0">
                <a:solidFill>
                  <a:srgbClr val="FFFFFF"/>
                </a:solidFill>
                <a:latin typeface="Consolas" pitchFamily="34" charset="0"/>
                <a:ea typeface="Consolas" pitchFamily="34" charset="-122"/>
                <a:cs typeface="Consolas" pitchFamily="34" charset="-120"/>
              </a:rPr>
              <a:t>echo "Hello, $name!"</a:t>
            </a:r>
            <a:endParaRPr lang="tr-TR" sz="1400" dirty="0"/>
          </a:p>
          <a:p>
            <a:pPr indent="0" marL="0">
              <a:lnSpc>
                <a:spcPct val="100000"/>
              </a:lnSpc>
              <a:buNone/>
            </a:pPr>
            <a:r>
              <a:rPr lang="tr-TR" sz="1400" dirty="0">
                <a:solidFill>
                  <a:srgbClr val="C9D1D3"/>
                </a:solidFill>
                <a:latin typeface="Consolas" pitchFamily="34" charset="0"/>
                <a:ea typeface="Consolas" pitchFamily="34" charset="-122"/>
                <a:cs typeface="Consolas" pitchFamily="34" charset="-120"/>
              </a:rPr>
              <a:t>Hello, Ayse!</a:t>
            </a:r>
            <a:endParaRPr lang="tr-TR" sz="1400" dirty="0"/>
          </a:p>
          <a:p>
            <a:pPr indent="0" marL="0">
              <a:lnSpc>
                <a:spcPct val="100000"/>
              </a:lnSpc>
              <a:buNone/>
            </a:pPr>
            <a:r>
              <a:rPr lang="tr-TR" sz="1400" dirty="0">
                <a:solidFill>
                  <a:srgbClr val="02C39A"/>
                </a:solidFill>
                <a:latin typeface="Consolas" pitchFamily="34" charset="0"/>
                <a:ea typeface="Consolas" pitchFamily="34" charset="-122"/>
                <a:cs typeface="Consolas" pitchFamily="34" charset="-120"/>
              </a:rPr>
              <a:t>student@okan-lab:~/lab/scripts$ </a:t>
            </a:r>
            <a:r>
              <a:rPr lang="tr-TR" sz="1400" b="1" dirty="0">
                <a:solidFill>
                  <a:srgbClr val="FFFFFF"/>
                </a:solidFill>
                <a:latin typeface="Consolas" pitchFamily="34" charset="0"/>
                <a:ea typeface="Consolas" pitchFamily="34" charset="-122"/>
                <a:cs typeface="Consolas" pitchFamily="34" charset="-120"/>
              </a:rPr>
              <a:t>name = Ayse</a:t>
            </a:r>
            <a:endParaRPr lang="tr-TR" sz="1400" dirty="0"/>
          </a:p>
          <a:p>
            <a:pPr indent="0" marL="0">
              <a:lnSpc>
                <a:spcPct val="100000"/>
              </a:lnSpc>
              <a:buNone/>
            </a:pPr>
            <a:r>
              <a:rPr lang="tr-TR" sz="1400" dirty="0">
                <a:solidFill>
                  <a:srgbClr val="C9D1D3"/>
                </a:solidFill>
                <a:latin typeface="Consolas" pitchFamily="34" charset="0"/>
                <a:ea typeface="Consolas" pitchFamily="34" charset="-122"/>
                <a:cs typeface="Consolas" pitchFamily="34" charset="-120"/>
              </a:rPr>
              <a:t>bash: name: command not found</a:t>
            </a:r>
            <a:endParaRPr lang="tr-TR" sz="1400" dirty="0"/>
          </a:p>
        </p:txBody>
      </p:sp>
      <p:sp>
        <p:nvSpPr>
          <p:cNvPr id="8" name="Shape 6"/>
          <p:cNvSpPr/>
          <p:nvPr/>
        </p:nvSpPr>
        <p:spPr>
          <a:xfrm>
            <a:off x="7086600" y="1508760"/>
            <a:ext cx="4572000" cy="4754880"/>
          </a:xfrm>
          <a:prstGeom prst="roundRect">
            <a:avLst>
              <a:gd name="adj" fmla="val 12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315200" y="1691640"/>
            <a:ext cx="4114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Kurallar</a:t>
            </a:r>
            <a:endParaRPr lang="tr-TR" sz="1500" dirty="0"/>
          </a:p>
        </p:txBody>
      </p:sp>
      <p:sp>
        <p:nvSpPr>
          <p:cNvPr id="10" name="Text 8"/>
          <p:cNvSpPr txBox="1"/>
          <p:nvPr/>
        </p:nvSpPr>
        <p:spPr>
          <a:xfrm>
            <a:off x="7315200" y="2148840"/>
            <a:ext cx="411480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Atama:</a:t>
            </a:r>
            <a:r>
              <a:rPr lang="tr-TR" sz="1350" dirty="0">
                <a:solidFill>
                  <a:srgbClr val="3A464C"/>
                </a:solidFill>
                <a:latin typeface="Calibri" pitchFamily="34" charset="0"/>
                <a:ea typeface="Calibri" pitchFamily="34" charset="-122"/>
                <a:cs typeface="Calibri" pitchFamily="34" charset="-120"/>
              </a:rPr>
              <a:t> ad=değer — = işaretinin çevresinde boşluk yok.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Kullanım:</a:t>
            </a:r>
            <a:r>
              <a:rPr lang="tr-TR" sz="1350" dirty="0">
                <a:solidFill>
                  <a:srgbClr val="3A464C"/>
                </a:solidFill>
                <a:latin typeface="Calibri" pitchFamily="34" charset="0"/>
                <a:ea typeface="Calibri" pitchFamily="34" charset="-122"/>
                <a:cs typeface="Calibri" pitchFamily="34" charset="-120"/>
              </a:rPr>
              <a:t> $ad ya da ${ad}; tanımsız bir değişken yalnızca boştur.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Adlar:</a:t>
            </a:r>
            <a:r>
              <a:rPr lang="tr-TR" sz="1350" dirty="0">
                <a:solidFill>
                  <a:srgbClr val="3A464C"/>
                </a:solidFill>
                <a:latin typeface="Calibri" pitchFamily="34" charset="0"/>
                <a:ea typeface="Calibri" pitchFamily="34" charset="-122"/>
                <a:cs typeface="Calibri" pitchFamily="34" charset="-120"/>
              </a:rPr>
              <a:t> harf, rakam, _; rakamla başlamaz; büyük/küçük harfe duyarlıdır (name ≠ NAME).</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Her şey metindir:</a:t>
            </a:r>
            <a:r>
              <a:rPr lang="tr-TR" sz="1350" dirty="0">
                <a:solidFill>
                  <a:srgbClr val="3A464C"/>
                </a:solidFill>
                <a:latin typeface="Calibri" pitchFamily="34" charset="0"/>
                <a:ea typeface="Calibri" pitchFamily="34" charset="-122"/>
                <a:cs typeface="Calibri" pitchFamily="34" charset="-120"/>
              </a:rPr>
              <a:t> count=5, "5" metnini saklar; aritmetik için $(( )) gerekir.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Gelenek:</a:t>
            </a:r>
            <a:r>
              <a:rPr lang="tr-TR" sz="1350" dirty="0">
                <a:solidFill>
                  <a:srgbClr val="3A464C"/>
                </a:solidFill>
                <a:latin typeface="Calibri" pitchFamily="34" charset="0"/>
                <a:ea typeface="Calibri" pitchFamily="34" charset="-122"/>
                <a:cs typeface="Calibri" pitchFamily="34" charset="-120"/>
              </a:rPr>
              <a:t> ortam değişkenleri BÜYÜK harfle (HOME, USER, PATH); kendi değişkenleriniz küçük harfle.</a:t>
            </a:r>
            <a:endParaRPr lang="tr-TR" sz="1350" dirty="0"/>
          </a:p>
        </p:txBody>
      </p:sp>
      <p:sp>
        <p:nvSpPr>
          <p:cNvPr id="11" name="Shape 9"/>
          <p:cNvSpPr/>
          <p:nvPr/>
        </p:nvSpPr>
        <p:spPr>
          <a:xfrm>
            <a:off x="548640" y="4480560"/>
            <a:ext cx="630936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4480560"/>
            <a:ext cx="5852160" cy="178308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name = Ayse şöyle okunur: name komutunu = ve Ayse argümanlarıyla çalıştır. Bu yüzden "name: command not found". Bash'te boşluk süs değildir — sözcükleri ayırır.</a:t>
            </a:r>
            <a:endParaRPr lang="tr-T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DEĞİŞKENLER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Komut Yerine Koyma $( ) ve Aritmetik $(( ))</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12</a:t>
            </a:r>
            <a:endParaRPr lang="tr-TR" sz="900" dirty="0"/>
          </a:p>
        </p:txBody>
      </p:sp>
      <p:sp>
        <p:nvSpPr>
          <p:cNvPr id="6" name="Shape 4"/>
          <p:cNvSpPr/>
          <p:nvPr/>
        </p:nvSpPr>
        <p:spPr>
          <a:xfrm>
            <a:off x="548640" y="1508760"/>
            <a:ext cx="6949440" cy="3337560"/>
          </a:xfrm>
          <a:prstGeom prst="roundRect">
            <a:avLst>
              <a:gd name="adj" fmla="val 1370"/>
            </a:avLst>
          </a:prstGeom>
          <a:solidFill>
            <a:srgbClr val="212121"/>
          </a:solidFill>
          <a:ln/>
        </p:spPr>
      </p:sp>
      <p:sp>
        <p:nvSpPr>
          <p:cNvPr id="7" name="Text 5"/>
          <p:cNvSpPr txBox="1"/>
          <p:nvPr/>
        </p:nvSpPr>
        <p:spPr>
          <a:xfrm>
            <a:off x="731520" y="1618488"/>
            <a:ext cx="6583680" cy="3118104"/>
          </a:xfrm>
          <a:prstGeom prst="rect">
            <a:avLst/>
          </a:prstGeom>
          <a:noFill/>
          <a:ln/>
        </p:spPr>
        <p:txBody>
          <a:bodyPr wrap="square" lIns="0" tIns="0" rIns="0" bIns="0" rtlCol="0" anchor="t"/>
          <a:lstStyle/>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name="Ayse"</a:t>
            </a:r>
            <a:r>
              <a:rPr lang="tr-TR" sz="1250" dirty="0">
                <a:solidFill>
                  <a:srgbClr val="8A9AA0"/>
                </a:solidFill>
                <a:latin typeface="Consolas" pitchFamily="34" charset="0"/>
                <a:ea typeface="Consolas" pitchFamily="34" charset="-122"/>
                <a:cs typeface="Consolas" pitchFamily="34" charset="-120"/>
              </a:rPr>
              <a:t>                     # NO spaces around the = sign</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course=MCMP117</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week=14</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echo "Student: $name, course: $course, week $week"</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today=$(date +%Y-%m-%d)</a:t>
            </a:r>
            <a:r>
              <a:rPr lang="tr-TR" sz="1250" dirty="0">
                <a:solidFill>
                  <a:srgbClr val="8A9AA0"/>
                </a:solidFill>
                <a:latin typeface="Consolas" pitchFamily="34" charset="0"/>
                <a:ea typeface="Consolas" pitchFamily="34" charset="-122"/>
                <a:cs typeface="Consolas" pitchFamily="34" charset="-120"/>
              </a:rPr>
              <a:t>         # $( ) = the OUTPUT of a command</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lines=$(wc -l &lt; ~/lab/docs/syllabus.txt)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echo "Today is $today; the syllabus has $lines lines"</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left=$((15 - week))</a:t>
            </a:r>
            <a:r>
              <a:rPr lang="tr-TR" sz="1250" dirty="0">
                <a:solidFill>
                  <a:srgbClr val="8A9AA0"/>
                </a:solidFill>
                <a:latin typeface="Consolas" pitchFamily="34" charset="0"/>
                <a:ea typeface="Consolas" pitchFamily="34" charset="-122"/>
                <a:cs typeface="Consolas" pitchFamily="34" charset="-120"/>
              </a:rPr>
              <a:t>             # $(( )) = integer arithmetic</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echo "Weeks left until the final exam: $left"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echo "7 / 2 = $((7 / 2)) remainder $((7 % 2))   (integers only!)"</a:t>
            </a:r>
            <a:endParaRPr lang="tr-TR" sz="1250" dirty="0"/>
          </a:p>
        </p:txBody>
      </p:sp>
      <p:sp>
        <p:nvSpPr>
          <p:cNvPr id="8" name="Shape 6"/>
          <p:cNvSpPr/>
          <p:nvPr/>
        </p:nvSpPr>
        <p:spPr>
          <a:xfrm>
            <a:off x="548640" y="5029200"/>
            <a:ext cx="6949440" cy="1234440"/>
          </a:xfrm>
          <a:prstGeom prst="roundRect">
            <a:avLst>
              <a:gd name="adj" fmla="val 3704"/>
            </a:avLst>
          </a:prstGeom>
          <a:solidFill>
            <a:srgbClr val="212121"/>
          </a:solidFill>
          <a:ln/>
        </p:spPr>
      </p:sp>
      <p:sp>
        <p:nvSpPr>
          <p:cNvPr id="9" name="Text 7"/>
          <p:cNvSpPr txBox="1"/>
          <p:nvPr/>
        </p:nvSpPr>
        <p:spPr>
          <a:xfrm>
            <a:off x="731520" y="5138928"/>
            <a:ext cx="6583680" cy="101498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./variables.sh</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Student: Ayse, course: MCMP117, week 14</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Today is 2026-10-12; the syllabus has 15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Weeks left until the final exam: 1</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7 / 2 = 3 remainder 1   (integers only!)</a:t>
            </a:r>
            <a:endParaRPr lang="tr-TR" sz="120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genişletme</a:t>
            </a:r>
            <a:endParaRPr lang="tr-TR"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$(komut)</a:t>
            </a:r>
            <a:r>
              <a:rPr lang="tr-TR" sz="1350" dirty="0">
                <a:solidFill>
                  <a:srgbClr val="3A464C"/>
                </a:solidFill>
                <a:latin typeface="Calibri" pitchFamily="34" charset="0"/>
                <a:ea typeface="Calibri" pitchFamily="34" charset="-122"/>
                <a:cs typeface="Calibri" pitchFamily="34" charset="-120"/>
              </a:rPr>
              <a:t> → komutun çıktısıyla değiştirilir (sondaki satır sonu atılır). Eski biçim: `komut`.</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$((ifade))</a:t>
            </a:r>
            <a:r>
              <a:rPr lang="tr-TR" sz="1350" dirty="0">
                <a:solidFill>
                  <a:srgbClr val="3A464C"/>
                </a:solidFill>
                <a:latin typeface="Calibri" pitchFamily="34" charset="0"/>
                <a:ea typeface="Calibri" pitchFamily="34" charset="-122"/>
                <a:cs typeface="Calibri" pitchFamily="34" charset="-120"/>
              </a:rPr>
              <a:t> → tamsayı aritmetiği: + − * / % ve ( ). İçeride adların önündeki $ isteğe bağlıdır.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Yalnızca tamsayı:</a:t>
            </a:r>
            <a:r>
              <a:rPr lang="tr-TR" sz="1350" dirty="0">
                <a:solidFill>
                  <a:srgbClr val="3A464C"/>
                </a:solidFill>
                <a:latin typeface="Calibri" pitchFamily="34" charset="0"/>
                <a:ea typeface="Calibri" pitchFamily="34" charset="-122"/>
                <a:cs typeface="Calibri" pitchFamily="34" charset="-120"/>
              </a:rPr>
              <a:t> 7 / 2 = 3, kalan 7 % 2 = 1. Ondalık için awk (report.sh) ya da bc kullanın.</a:t>
            </a:r>
            <a:endParaRPr lang="tr-TR"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TIRNAKLAR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Çift Tırnak, Tek Tırnak, Tırnaksız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13</a:t>
            </a:r>
            <a:endParaRPr lang="tr-TR" sz="900" dirty="0"/>
          </a:p>
        </p:txBody>
      </p:sp>
      <p:sp>
        <p:nvSpPr>
          <p:cNvPr id="6" name="Shape 4"/>
          <p:cNvSpPr/>
          <p:nvPr/>
        </p:nvSpPr>
        <p:spPr>
          <a:xfrm>
            <a:off x="548640" y="1508760"/>
            <a:ext cx="6949440" cy="2697480"/>
          </a:xfrm>
          <a:prstGeom prst="roundRect">
            <a:avLst>
              <a:gd name="adj" fmla="val 1695"/>
            </a:avLst>
          </a:prstGeom>
          <a:solidFill>
            <a:srgbClr val="212121"/>
          </a:solidFill>
          <a:ln/>
        </p:spPr>
      </p:sp>
      <p:sp>
        <p:nvSpPr>
          <p:cNvPr id="7" name="Text 5"/>
          <p:cNvSpPr txBox="1"/>
          <p:nvPr/>
        </p:nvSpPr>
        <p:spPr>
          <a:xfrm>
            <a:off x="731520" y="1618488"/>
            <a:ext cx="6583680" cy="2478024"/>
          </a:xfrm>
          <a:prstGeom prst="rect">
            <a:avLst/>
          </a:prstGeom>
          <a:noFill/>
          <a:ln/>
        </p:spPr>
        <p:txBody>
          <a:bodyPr wrap="square" lIns="0" tIns="0" rIns="0" bIns="0" rtlCol="0" anchor="t"/>
          <a:lstStyle/>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name="Ayse"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file="final report.txt"</a:t>
            </a:r>
            <a:r>
              <a:rPr lang="tr-TR" sz="1200" dirty="0">
                <a:solidFill>
                  <a:srgbClr val="8A9AA0"/>
                </a:solidFill>
                <a:latin typeface="Consolas" pitchFamily="34" charset="0"/>
                <a:ea typeface="Consolas" pitchFamily="34" charset="-122"/>
                <a:cs typeface="Consolas" pitchFamily="34" charset="-120"/>
              </a:rPr>
              <a:t>         # a file name that contains a space</a:t>
            </a:r>
            <a:endParaRPr lang="tr-TR" sz="1200" dirty="0"/>
          </a:p>
          <a:p>
            <a:pPr indent="0" marL="0">
              <a:lnSpc>
                <a:spcPct val="100000"/>
              </a:lnSpc>
              <a:buNone/>
            </a:pPr>
            <a:r>
              <a:rPr lang="tr-TR" sz="1200" dirty="0">
                <a:solidFill>
                  <a:srgbClr val="8A9AA0"/>
                </a:solidFill>
                <a:latin typeface="Consolas" pitchFamily="34" charset="0"/>
                <a:ea typeface="Consolas" pitchFamily="34" charset="-122"/>
                <a:cs typeface="Consolas" pitchFamily="34" charset="-120"/>
              </a:rPr>
              <a:t># shellcheck disable=SC2016     # (on purpose)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'Single: Hello $name'</a:t>
            </a:r>
            <a:r>
              <a:rPr lang="tr-TR" sz="1200" dirty="0">
                <a:solidFill>
                  <a:srgbClr val="8A9AA0"/>
                </a:solidFill>
                <a:latin typeface="Consolas" pitchFamily="34" charset="0"/>
                <a:ea typeface="Consolas" pitchFamily="34" charset="-122"/>
                <a:cs typeface="Consolas" pitchFamily="34" charset="-120"/>
              </a:rPr>
              <a:t>      # '...' : everything is literal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"Double: Hello $name"</a:t>
            </a:r>
            <a:r>
              <a:rPr lang="tr-TR" sz="1200" dirty="0">
                <a:solidFill>
                  <a:srgbClr val="8A9AA0"/>
                </a:solidFill>
                <a:latin typeface="Consolas" pitchFamily="34" charset="0"/>
                <a:ea typeface="Consolas" pitchFamily="34" charset="-122"/>
                <a:cs typeface="Consolas" pitchFamily="34" charset="-120"/>
              </a:rPr>
              <a:t>      # "..." : $var and $( ) expanded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"Escaped: it costs \$5"</a:t>
            </a:r>
            <a:r>
              <a:rPr lang="tr-TR" sz="1200" dirty="0">
                <a:solidFill>
                  <a:srgbClr val="8A9AA0"/>
                </a:solidFill>
                <a:latin typeface="Consolas" pitchFamily="34" charset="0"/>
                <a:ea typeface="Consolas" pitchFamily="34" charset="-122"/>
                <a:cs typeface="Consolas" pitchFamily="34" charset="-120"/>
              </a:rPr>
              <a:t>    # \$ : one literal dollar sign</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cd ~/lab/docs || exit 1</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wc -l "$file"</a:t>
            </a:r>
            <a:r>
              <a:rPr lang="tr-TR" sz="1200" dirty="0">
                <a:solidFill>
                  <a:srgbClr val="8A9AA0"/>
                </a:solidFill>
                <a:latin typeface="Consolas" pitchFamily="34" charset="0"/>
                <a:ea typeface="Consolas" pitchFamily="34" charset="-122"/>
                <a:cs typeface="Consolas" pitchFamily="34" charset="-120"/>
              </a:rPr>
              <a:t>                   # quoted:   ONE argument</a:t>
            </a:r>
            <a:endParaRPr lang="tr-TR" sz="1200" dirty="0"/>
          </a:p>
          <a:p>
            <a:pPr indent="0" marL="0">
              <a:lnSpc>
                <a:spcPct val="100000"/>
              </a:lnSpc>
              <a:buNone/>
            </a:pPr>
            <a:r>
              <a:rPr lang="tr-TR" sz="1200" dirty="0">
                <a:solidFill>
                  <a:srgbClr val="8A9AA0"/>
                </a:solidFill>
                <a:latin typeface="Consolas" pitchFamily="34" charset="0"/>
                <a:ea typeface="Consolas" pitchFamily="34" charset="-122"/>
                <a:cs typeface="Consolas" pitchFamily="34" charset="-120"/>
              </a:rPr>
              <a:t># shellcheck disable=SC2086     # (on purpose)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wc -l $file</a:t>
            </a:r>
            <a:r>
              <a:rPr lang="tr-TR" sz="1200" dirty="0">
                <a:solidFill>
                  <a:srgbClr val="8A9AA0"/>
                </a:solidFill>
                <a:latin typeface="Consolas" pitchFamily="34" charset="0"/>
                <a:ea typeface="Consolas" pitchFamily="34" charset="-122"/>
                <a:cs typeface="Consolas" pitchFamily="34" charset="-120"/>
              </a:rPr>
              <a:t>                     # unquoted: TWO arguments</a:t>
            </a:r>
            <a:endParaRPr lang="tr-TR" sz="1200" dirty="0"/>
          </a:p>
        </p:txBody>
      </p:sp>
      <p:sp>
        <p:nvSpPr>
          <p:cNvPr id="8" name="Shape 6"/>
          <p:cNvSpPr/>
          <p:nvPr/>
        </p:nvSpPr>
        <p:spPr>
          <a:xfrm>
            <a:off x="548640" y="4389120"/>
            <a:ext cx="6949440" cy="1874520"/>
          </a:xfrm>
          <a:prstGeom prst="roundRect">
            <a:avLst>
              <a:gd name="adj" fmla="val 2439"/>
            </a:avLst>
          </a:prstGeom>
          <a:solidFill>
            <a:srgbClr val="212121"/>
          </a:solidFill>
          <a:ln/>
        </p:spPr>
      </p:sp>
      <p:sp>
        <p:nvSpPr>
          <p:cNvPr id="9" name="Text 7"/>
          <p:cNvSpPr txBox="1"/>
          <p:nvPr/>
        </p:nvSpPr>
        <p:spPr>
          <a:xfrm>
            <a:off x="731520" y="4498848"/>
            <a:ext cx="6583680" cy="165506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./quotes.sh</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Single: Hello $name</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Double: Hello Ayse</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Escaped: it costs $5</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2 final report.txt</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wc: final: No such file or directory</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wc: report.txt: No such file or directory</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0 total</a:t>
            </a:r>
            <a:endParaRPr lang="tr-TR" sz="120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Tırnaklar ne yapar?</a:t>
            </a:r>
            <a:endParaRPr lang="tr-TR"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"çift":</a:t>
            </a:r>
            <a:r>
              <a:rPr lang="tr-TR" sz="1350" dirty="0">
                <a:solidFill>
                  <a:srgbClr val="3A464C"/>
                </a:solidFill>
                <a:latin typeface="Calibri" pitchFamily="34" charset="0"/>
                <a:ea typeface="Calibri" pitchFamily="34" charset="-122"/>
                <a:cs typeface="Calibri" pitchFamily="34" charset="-120"/>
              </a:rPr>
              <a:t> boşlukları korur; $değişken ve $( ) yine genişletilir. Neredeyse her zaman bunu kullanın.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'tek':</a:t>
            </a:r>
            <a:r>
              <a:rPr lang="tr-TR" sz="1350" dirty="0">
                <a:solidFill>
                  <a:srgbClr val="3A464C"/>
                </a:solidFill>
                <a:latin typeface="Calibri" pitchFamily="34" charset="0"/>
                <a:ea typeface="Calibri" pitchFamily="34" charset="-122"/>
                <a:cs typeface="Calibri" pitchFamily="34" charset="-120"/>
              </a:rPr>
              <a:t> her şey olduğu gibi kalır, hiçbir genişletme yok.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 (ters eğik çizgi):</a:t>
            </a:r>
            <a:r>
              <a:rPr lang="tr-TR" sz="1350" dirty="0">
                <a:solidFill>
                  <a:srgbClr val="3A464C"/>
                </a:solidFill>
                <a:latin typeface="Calibri" pitchFamily="34" charset="0"/>
                <a:ea typeface="Calibri" pitchFamily="34" charset="-122"/>
                <a:cs typeface="Calibri" pitchFamily="34" charset="-120"/>
              </a:rPr>
              <a:t> tek bir karakteri olduğu gibi bırakır: \$, \".</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Tırnaksız:</a:t>
            </a:r>
            <a:r>
              <a:rPr lang="tr-TR" sz="1350" dirty="0">
                <a:solidFill>
                  <a:srgbClr val="3A464C"/>
                </a:solidFill>
                <a:latin typeface="Calibri" pitchFamily="34" charset="0"/>
                <a:ea typeface="Calibri" pitchFamily="34" charset="-122"/>
                <a:cs typeface="Calibri" pitchFamily="34" charset="-120"/>
              </a:rPr>
              <a:t> değer boşluklardan bölünür (ve * genişletilir). "final report.txt" iki argüman olur — iki hata.</a:t>
            </a:r>
            <a:endParaRPr lang="tr-T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ARGÜMANLAR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Konumsal Parametreler: $0, $1 … $9, $#, $@</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14</a:t>
            </a:r>
            <a:endParaRPr lang="tr-TR" sz="900" dirty="0"/>
          </a:p>
        </p:txBody>
      </p:sp>
      <p:sp>
        <p:nvSpPr>
          <p:cNvPr id="6" name="Shape 4"/>
          <p:cNvSpPr/>
          <p:nvPr/>
        </p:nvSpPr>
        <p:spPr>
          <a:xfrm>
            <a:off x="548640" y="1508760"/>
            <a:ext cx="5669280" cy="2834640"/>
          </a:xfrm>
          <a:prstGeom prst="roundRect">
            <a:avLst>
              <a:gd name="adj" fmla="val 1613"/>
            </a:avLst>
          </a:prstGeom>
          <a:solidFill>
            <a:srgbClr val="212121"/>
          </a:solidFill>
          <a:ln/>
        </p:spPr>
      </p:sp>
      <p:sp>
        <p:nvSpPr>
          <p:cNvPr id="7" name="Text 5"/>
          <p:cNvSpPr txBox="1"/>
          <p:nvPr/>
        </p:nvSpPr>
        <p:spPr>
          <a:xfrm>
            <a:off x="731520" y="1618488"/>
            <a:ext cx="5303520" cy="2615184"/>
          </a:xfrm>
          <a:prstGeom prst="rect">
            <a:avLst/>
          </a:prstGeom>
          <a:noFill/>
          <a:ln/>
        </p:spPr>
        <p:txBody>
          <a:bodyPr wrap="square" lIns="0" tIns="0" rIns="0" bIns="0" rtlCol="0" anchor="t"/>
          <a:lstStyle/>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echo "Script name  \$0 = $0"</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echo "First arg    \$1 = $1"</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echo "Second arg   \$2 = $2"</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echo "Arg count    \$# =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echo "All args     \$@ ="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i=1</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for arg in "$@"; do</a:t>
            </a:r>
            <a:r>
              <a:rPr lang="tr-TR" sz="1100" dirty="0">
                <a:solidFill>
                  <a:srgbClr val="8A9AA0"/>
                </a:solidFill>
                <a:latin typeface="Consolas" pitchFamily="34" charset="0"/>
                <a:ea typeface="Consolas" pitchFamily="34" charset="-122"/>
                <a:cs typeface="Consolas" pitchFamily="34" charset="-120"/>
              </a:rPr>
              <a:t>             # "green tea" stays ONE word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echo "  argument $i: [$arg]"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i=$((i + 1))</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done</a:t>
            </a:r>
            <a:endParaRPr lang="tr-TR" sz="1100" dirty="0"/>
          </a:p>
        </p:txBody>
      </p:sp>
      <p:sp>
        <p:nvSpPr>
          <p:cNvPr id="8" name="Shape 6"/>
          <p:cNvSpPr/>
          <p:nvPr/>
        </p:nvSpPr>
        <p:spPr>
          <a:xfrm>
            <a:off x="548640" y="4526280"/>
            <a:ext cx="5669280" cy="1737360"/>
          </a:xfrm>
          <a:prstGeom prst="roundRect">
            <a:avLst>
              <a:gd name="adj" fmla="val 2632"/>
            </a:avLst>
          </a:prstGeom>
          <a:solidFill>
            <a:srgbClr val="212121"/>
          </a:solidFill>
          <a:ln/>
        </p:spPr>
      </p:sp>
      <p:sp>
        <p:nvSpPr>
          <p:cNvPr id="9" name="Text 7"/>
          <p:cNvSpPr txBox="1"/>
          <p:nvPr/>
        </p:nvSpPr>
        <p:spPr>
          <a:xfrm>
            <a:off x="731520" y="4636008"/>
            <a:ext cx="5303520" cy="1517904"/>
          </a:xfrm>
          <a:prstGeom prst="rect">
            <a:avLst/>
          </a:prstGeom>
          <a:noFill/>
          <a:ln/>
        </p:spPr>
        <p:txBody>
          <a:bodyPr wrap="square" lIns="0" tIns="0" rIns="0" bIns="0" rtlCol="0" anchor="t"/>
          <a:lstStyle/>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student@okan-lab:~/lab/scripts$ </a:t>
            </a:r>
            <a:r>
              <a:rPr lang="tr-TR" sz="1000" b="1" dirty="0">
                <a:solidFill>
                  <a:srgbClr val="FFFFFF"/>
                </a:solidFill>
                <a:latin typeface="Consolas" pitchFamily="34" charset="0"/>
                <a:ea typeface="Consolas" pitchFamily="34" charset="-122"/>
                <a:cs typeface="Consolas" pitchFamily="34" charset="-120"/>
              </a:rPr>
              <a:t>./args.sh apple "green tea" 42</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Script name  $0 = ./args.sh</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First arg    $1 = apple</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Second arg   $2 = green tea</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Arg count    $# = 3</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All args     $@ = apple green tea 42</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  argument 1: [apple]</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  argument 2: [green tea]</a:t>
            </a:r>
            <a:endParaRPr lang="tr-TR" sz="1000" dirty="0"/>
          </a:p>
          <a:p>
            <a:pPr indent="0" marL="0">
              <a:lnSpc>
                <a:spcPct val="100000"/>
              </a:lnSpc>
              <a:buNone/>
            </a:pPr>
            <a:r>
              <a:rPr lang="tr-TR" sz="1000" dirty="0">
                <a:solidFill>
                  <a:srgbClr val="C9D1D3"/>
                </a:solidFill>
                <a:latin typeface="Consolas" pitchFamily="34" charset="0"/>
                <a:ea typeface="Consolas" pitchFamily="34" charset="-122"/>
                <a:cs typeface="Consolas" pitchFamily="34" charset="-120"/>
              </a:rPr>
              <a:t>  argument 3: [42]</a:t>
            </a:r>
            <a:endParaRPr lang="tr-TR"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46520" y="1508760"/>
          <a:ext cx="5212080" cy="914400"/>
        </p:xfrm>
        <a:graphic>
          <a:graphicData uri="http://schemas.openxmlformats.org/drawingml/2006/table">
            <a:tbl>
              <a:tblPr/>
              <a:tblGrid>
                <a:gridCol w="1325880"/>
                <a:gridCol w="388620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Değişken</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Anlamı</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betiğin, yazıldığı biçimdeki adı</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$1 … $9</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1. … 9. argüman (10. için ${10})</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argüman sayısı</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tüm argümanlar, her biri ayrı bir sözcük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son komutun çıkış durumu (3. bölüm)</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bu kabuğun PID'si (13. hafta)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1" name="Shape 8"/>
          <p:cNvSpPr/>
          <p:nvPr/>
        </p:nvSpPr>
        <p:spPr>
          <a:xfrm>
            <a:off x="6446520" y="5257800"/>
            <a:ext cx="521208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sp>
      <p:sp>
        <p:nvSpPr>
          <p:cNvPr id="12" name="Text 9"/>
          <p:cNvSpPr txBox="1"/>
          <p:nvPr/>
        </p:nvSpPr>
        <p:spPr>
          <a:xfrm>
            <a:off x="6675120" y="5257800"/>
            <a:ext cx="4754880" cy="100584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Kabuk, betik başlamadan önce komut satırını sözcüklere ayırır: tırnaklar sayesinde "green tea" TEK argümandır.</a:t>
            </a:r>
            <a:endParaRPr lang="tr-TR"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GİRDİ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read ile Klavyeden Girdi Okuma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15</a:t>
            </a:r>
            <a:endParaRPr lang="tr-TR" sz="900" dirty="0"/>
          </a:p>
        </p:txBody>
      </p:sp>
      <p:sp>
        <p:nvSpPr>
          <p:cNvPr id="6" name="Shape 4"/>
          <p:cNvSpPr/>
          <p:nvPr/>
        </p:nvSpPr>
        <p:spPr>
          <a:xfrm>
            <a:off x="548640" y="1508760"/>
            <a:ext cx="6949440" cy="1554480"/>
          </a:xfrm>
          <a:prstGeom prst="roundRect">
            <a:avLst>
              <a:gd name="adj" fmla="val 2941"/>
            </a:avLst>
          </a:prstGeom>
          <a:solidFill>
            <a:srgbClr val="212121"/>
          </a:solidFill>
          <a:ln/>
        </p:spPr>
      </p:sp>
      <p:sp>
        <p:nvSpPr>
          <p:cNvPr id="7" name="Text 5"/>
          <p:cNvSpPr txBox="1"/>
          <p:nvPr/>
        </p:nvSpPr>
        <p:spPr>
          <a:xfrm>
            <a:off x="731520" y="1618488"/>
            <a:ext cx="6583680" cy="1335024"/>
          </a:xfrm>
          <a:prstGeom prst="rect">
            <a:avLst/>
          </a:prstGeom>
          <a:noFill/>
          <a:ln/>
        </p:spPr>
        <p:txBody>
          <a:bodyPr wrap="square" lIns="0" tIns="0" rIns="0" bIns="0" rtlCol="0" anchor="t"/>
          <a:lstStyle/>
          <a:p>
            <a:pPr indent="0" marL="0">
              <a:lnSpc>
                <a:spcPct val="100000"/>
              </a:lnSpc>
              <a:buNone/>
            </a:pPr>
            <a:r>
              <a:rPr lang="tr-TR" sz="1350" dirty="0">
                <a:solidFill>
                  <a:srgbClr val="F2F2F2"/>
                </a:solidFill>
                <a:latin typeface="Consolas" pitchFamily="34" charset="0"/>
                <a:ea typeface="Consolas" pitchFamily="34" charset="-122"/>
                <a:cs typeface="Consolas" pitchFamily="34" charset="-120"/>
              </a:rPr>
              <a:t>read -r -p "What is your name? " name</a:t>
            </a:r>
            <a:endParaRPr lang="tr-TR" sz="1350" dirty="0"/>
          </a:p>
          <a:p>
            <a:pPr indent="0" marL="0">
              <a:lnSpc>
                <a:spcPct val="100000"/>
              </a:lnSpc>
              <a:buNone/>
            </a:pPr>
            <a:r>
              <a:rPr lang="tr-TR" sz="1350" dirty="0">
                <a:solidFill>
                  <a:srgbClr val="F2F2F2"/>
                </a:solidFill>
                <a:latin typeface="Consolas" pitchFamily="34" charset="0"/>
                <a:ea typeface="Consolas" pitchFamily="34" charset="-122"/>
                <a:cs typeface="Consolas" pitchFamily="34" charset="-120"/>
              </a:rPr>
              <a:t>read -r -p "Which year were you born? " year</a:t>
            </a:r>
            <a:endParaRPr lang="tr-TR" sz="1350" dirty="0"/>
          </a:p>
          <a:p>
            <a:pPr indent="0" marL="0">
              <a:lnSpc>
                <a:spcPct val="100000"/>
              </a:lnSpc>
              <a:buNone/>
            </a:pPr>
            <a:r>
              <a:rPr lang="tr-TR" sz="1350" dirty="0">
                <a:solidFill>
                  <a:srgbClr val="F2F2F2"/>
                </a:solidFill>
                <a:latin typeface="Consolas" pitchFamily="34" charset="0"/>
                <a:ea typeface="Consolas" pitchFamily="34" charset="-122"/>
                <a:cs typeface="Consolas" pitchFamily="34" charset="-120"/>
              </a:rPr>
              <a:t>age=$(( $(date +%Y) - year ))</a:t>
            </a:r>
            <a:endParaRPr lang="tr-TR" sz="1350" dirty="0"/>
          </a:p>
          <a:p>
            <a:pPr indent="0" marL="0">
              <a:lnSpc>
                <a:spcPct val="100000"/>
              </a:lnSpc>
              <a:buNone/>
            </a:pPr>
            <a:r>
              <a:rPr lang="tr-TR" sz="1350" dirty="0">
                <a:solidFill>
                  <a:srgbClr val="F2F2F2"/>
                </a:solidFill>
                <a:latin typeface="Consolas" pitchFamily="34" charset="0"/>
                <a:ea typeface="Consolas" pitchFamily="34" charset="-122"/>
                <a:cs typeface="Consolas" pitchFamily="34" charset="-120"/>
              </a:rPr>
              <a:t>echo "Nice to meet you, $name. You are about $age years old."</a:t>
            </a:r>
            <a:endParaRPr lang="tr-TR" sz="1350" dirty="0"/>
          </a:p>
        </p:txBody>
      </p:sp>
      <p:sp>
        <p:nvSpPr>
          <p:cNvPr id="8" name="Shape 6"/>
          <p:cNvSpPr/>
          <p:nvPr/>
        </p:nvSpPr>
        <p:spPr>
          <a:xfrm>
            <a:off x="548640" y="3246120"/>
            <a:ext cx="6949440" cy="1188720"/>
          </a:xfrm>
          <a:prstGeom prst="roundRect">
            <a:avLst>
              <a:gd name="adj" fmla="val 3846"/>
            </a:avLst>
          </a:prstGeom>
          <a:solidFill>
            <a:srgbClr val="212121"/>
          </a:solidFill>
          <a:ln/>
        </p:spPr>
      </p:sp>
      <p:sp>
        <p:nvSpPr>
          <p:cNvPr id="9" name="Text 7"/>
          <p:cNvSpPr txBox="1"/>
          <p:nvPr/>
        </p:nvSpPr>
        <p:spPr>
          <a:xfrm>
            <a:off x="731520" y="3355848"/>
            <a:ext cx="6583680" cy="969264"/>
          </a:xfrm>
          <a:prstGeom prst="rect">
            <a:avLst/>
          </a:prstGeom>
          <a:noFill/>
          <a:ln/>
        </p:spPr>
        <p:txBody>
          <a:bodyPr wrap="square" lIns="0" tIns="0" rIns="0" bIns="0" rtlCol="0" anchor="t"/>
          <a:lstStyle/>
          <a:p>
            <a:pPr indent="0" marL="0">
              <a:lnSpc>
                <a:spcPct val="100000"/>
              </a:lnSpc>
              <a:buNone/>
            </a:pPr>
            <a:r>
              <a:rPr lang="tr-TR" sz="1350" dirty="0">
                <a:solidFill>
                  <a:srgbClr val="02C39A"/>
                </a:solidFill>
                <a:latin typeface="Consolas" pitchFamily="34" charset="0"/>
                <a:ea typeface="Consolas" pitchFamily="34" charset="-122"/>
                <a:cs typeface="Consolas" pitchFamily="34" charset="-120"/>
              </a:rPr>
              <a:t>student@okan-lab:~/lab/scripts$ </a:t>
            </a:r>
            <a:r>
              <a:rPr lang="tr-TR" sz="1350" b="1" dirty="0">
                <a:solidFill>
                  <a:srgbClr val="FFFFFF"/>
                </a:solidFill>
                <a:latin typeface="Consolas" pitchFamily="34" charset="0"/>
                <a:ea typeface="Consolas" pitchFamily="34" charset="-122"/>
                <a:cs typeface="Consolas" pitchFamily="34" charset="-120"/>
              </a:rPr>
              <a:t>./greet.sh</a:t>
            </a:r>
            <a:endParaRPr lang="tr-TR" sz="1350" dirty="0"/>
          </a:p>
          <a:p>
            <a:pPr indent="0" marL="0">
              <a:lnSpc>
                <a:spcPct val="100000"/>
              </a:lnSpc>
              <a:buNone/>
            </a:pPr>
            <a:r>
              <a:rPr lang="tr-TR" sz="1350" dirty="0">
                <a:solidFill>
                  <a:srgbClr val="C9D1D3"/>
                </a:solidFill>
                <a:latin typeface="Consolas" pitchFamily="34" charset="0"/>
                <a:ea typeface="Consolas" pitchFamily="34" charset="-122"/>
                <a:cs typeface="Consolas" pitchFamily="34" charset="-120"/>
              </a:rPr>
              <a:t>What is your name? Ayse</a:t>
            </a:r>
            <a:endParaRPr lang="tr-TR" sz="1350" dirty="0"/>
          </a:p>
          <a:p>
            <a:pPr indent="0" marL="0">
              <a:lnSpc>
                <a:spcPct val="100000"/>
              </a:lnSpc>
              <a:buNone/>
            </a:pPr>
            <a:r>
              <a:rPr lang="tr-TR" sz="1350" dirty="0">
                <a:solidFill>
                  <a:srgbClr val="C9D1D3"/>
                </a:solidFill>
                <a:latin typeface="Consolas" pitchFamily="34" charset="0"/>
                <a:ea typeface="Consolas" pitchFamily="34" charset="-122"/>
                <a:cs typeface="Consolas" pitchFamily="34" charset="-120"/>
              </a:rPr>
              <a:t>Which year were you born? 2006</a:t>
            </a:r>
            <a:endParaRPr lang="tr-TR" sz="1350" dirty="0"/>
          </a:p>
          <a:p>
            <a:pPr indent="0" marL="0">
              <a:lnSpc>
                <a:spcPct val="100000"/>
              </a:lnSpc>
              <a:buNone/>
            </a:pPr>
            <a:r>
              <a:rPr lang="tr-TR" sz="1350" dirty="0">
                <a:solidFill>
                  <a:srgbClr val="C9D1D3"/>
                </a:solidFill>
                <a:latin typeface="Consolas" pitchFamily="34" charset="0"/>
                <a:ea typeface="Consolas" pitchFamily="34" charset="-122"/>
                <a:cs typeface="Consolas" pitchFamily="34" charset="-120"/>
              </a:rPr>
              <a:t>Nice to meet you, Ayse. You are about 20 years old.</a:t>
            </a:r>
            <a:endParaRPr lang="tr-TR" sz="1350" dirty="0"/>
          </a:p>
        </p:txBody>
      </p:sp>
      <p:sp>
        <p:nvSpPr>
          <p:cNvPr id="10" name="Shape 8"/>
          <p:cNvSpPr/>
          <p:nvPr/>
        </p:nvSpPr>
        <p:spPr>
          <a:xfrm>
            <a:off x="7726680" y="1508760"/>
            <a:ext cx="3931920" cy="2926080"/>
          </a:xfrm>
          <a:prstGeom prst="roundRect">
            <a:avLst>
              <a:gd name="adj" fmla="val 1875"/>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Tek satırda read</a:t>
            </a:r>
            <a:endParaRPr lang="tr-TR" sz="1500" dirty="0"/>
          </a:p>
        </p:txBody>
      </p:sp>
      <p:sp>
        <p:nvSpPr>
          <p:cNvPr id="12" name="Text 10"/>
          <p:cNvSpPr txBox="1"/>
          <p:nvPr/>
        </p:nvSpPr>
        <p:spPr>
          <a:xfrm>
            <a:off x="7955280" y="2148840"/>
            <a:ext cx="3474720" cy="21488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read -r var</a:t>
            </a:r>
            <a:r>
              <a:rPr lang="tr-TR" sz="1350" dirty="0">
                <a:solidFill>
                  <a:srgbClr val="3A464C"/>
                </a:solidFill>
                <a:latin typeface="Calibri" pitchFamily="34" charset="0"/>
                <a:ea typeface="Calibri" pitchFamily="34" charset="-122"/>
                <a:cs typeface="Calibri" pitchFamily="34" charset="-120"/>
              </a:rPr>
              <a:t> bir satır bekler ve onu var içinde saklar.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-p "metin"</a:t>
            </a:r>
            <a:r>
              <a:rPr lang="tr-TR" sz="1350" dirty="0">
                <a:solidFill>
                  <a:srgbClr val="3A464C"/>
                </a:solidFill>
                <a:latin typeface="Calibri" pitchFamily="34" charset="0"/>
                <a:ea typeface="Calibri" pitchFamily="34" charset="-122"/>
                <a:cs typeface="Calibri" pitchFamily="34" charset="-120"/>
              </a:rPr>
              <a:t> önce bir istem gösterir.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a:t>
            </a:r>
            <a:r>
              <a:rPr lang="tr-TR" sz="1350" dirty="0">
                <a:solidFill>
                  <a:srgbClr val="3A464C"/>
                </a:solidFill>
                <a:latin typeface="Calibri" pitchFamily="34" charset="0"/>
                <a:ea typeface="Calibri" pitchFamily="34" charset="-122"/>
                <a:cs typeface="Calibri" pitchFamily="34" charset="-120"/>
              </a:rPr>
              <a:t> ters eğik çizgileri yazıldığı gibi tutar (her zaman kullanın).</a:t>
            </a:r>
            <a:endParaRPr lang="tr-TR" sz="1350" dirty="0"/>
          </a:p>
        </p:txBody>
      </p:sp>
      <p:sp>
        <p:nvSpPr>
          <p:cNvPr id="13" name="Shape 11"/>
          <p:cNvSpPr/>
          <p:nvPr/>
        </p:nvSpPr>
        <p:spPr>
          <a:xfrm>
            <a:off x="548640" y="4663440"/>
            <a:ext cx="11109960" cy="1600200"/>
          </a:xfrm>
          <a:prstGeom prst="roundRect">
            <a:avLst>
              <a:gd name="adj" fmla="val 342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4663440"/>
            <a:ext cx="10652760" cy="1600200"/>
          </a:xfrm>
          <a:prstGeom prst="rect">
            <a:avLst/>
          </a:prstGeom>
          <a:noFill/>
          <a:ln/>
        </p:spPr>
        <p:txBody>
          <a:bodyPr wrap="square" lIns="0" tIns="0" rIns="0" bIns="0" rtlCol="0" anchor="ctr"/>
          <a:lstStyle/>
          <a:p>
            <a:pPr indent="0" marL="0">
              <a:buNone/>
            </a:pPr>
            <a:r>
              <a:rPr lang="tr-TR" sz="1450" dirty="0">
                <a:solidFill>
                  <a:srgbClr val="F2F2F2"/>
                </a:solidFill>
                <a:latin typeface="Calibri" pitchFamily="34" charset="0"/>
                <a:ea typeface="Calibri" pitchFamily="34" charset="-122"/>
                <a:cs typeface="Calibri" pitchFamily="34" charset="-120"/>
              </a:rPr>
              <a:t>Argümanlar ($1) mı, read mi? Otomasyon için argümanlar daha iyidir: ./grade.sh 72, klavye başında kimse yokken başka bir betikten ya da cron'dan çalışabilir. read ise etkileşimli araçlar içindir, ör. bir menü ya da oyun (Lab alıştırması 14).</a:t>
            </a:r>
            <a:endParaRPr lang="tr-TR"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 TABLO</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Şimdiye Kadarki Sözdizimi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16</a:t>
            </a:r>
            <a:endParaRPr lang="tr-TR"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108960"/>
                <a:gridCol w="3840480"/>
                <a:gridCol w="416052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Siz yazarsınız</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Bash şunu yapar</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Örnek (gerçek çıktı)</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#!/bin/bash</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ilk satır: yorumlayıcıyı seçer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./hello.sh, /bin/bash ile çalışır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name=value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atama (boşluk yok!)</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week=14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"$name"   '$name'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genişletir  /  olduğu gibi bırakır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Hello Ayse  /  Hello $name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$(command)</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bir komutun çıktısını yerleştirir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$(date +%Y-%m-%d) → 2026-10-12</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$((expression))</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tamsayı aritmetiği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 + 4 * 2)) → 11</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$1  $#  "$@"</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argümanlar, sayıları, hepsi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./args.sh a b → $# = 2</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read -r -p "? " x</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klavyeden bir satır okur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x=Ayse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kararlar, döngüler, fonksiyonlar — ve iki gerçek otomasyon betiği.</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17</a:t>
            </a:r>
            <a:endParaRPr lang="tr-TR"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Karar Verme</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Her komut bir evet/hayır sorusunu yanıtlar: çıkış durumu.</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18</a:t>
            </a:r>
            <a:endParaRPr lang="tr-TR"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ÇIKIŞ DURUMU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Komut Bir Çıkış Durumu Döndürür: $?</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19</a:t>
            </a:r>
            <a:endParaRPr lang="tr-TR" sz="900" dirty="0"/>
          </a:p>
        </p:txBody>
      </p:sp>
      <p:sp>
        <p:nvSpPr>
          <p:cNvPr id="6" name="Shape 4"/>
          <p:cNvSpPr/>
          <p:nvPr/>
        </p:nvSpPr>
        <p:spPr>
          <a:xfrm>
            <a:off x="548640" y="1508760"/>
            <a:ext cx="6583680" cy="4754880"/>
          </a:xfrm>
          <a:prstGeom prst="roundRect">
            <a:avLst>
              <a:gd name="adj" fmla="val 962"/>
            </a:avLst>
          </a:prstGeom>
          <a:solidFill>
            <a:srgbClr val="212121"/>
          </a:solidFill>
          <a:ln/>
        </p:spPr>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ls ../docs &gt; /dev/null</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ls ../nothing</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ls: cannot access '../nothing': No such file or directory</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2</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nosuchcommand</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bash: nosuchcommand: command not found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127</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grep -q ERROR ../logs/system.log</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grep -q PANIC ../logs/system.log</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1</a:t>
            </a:r>
            <a:endParaRPr lang="tr-TR"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60920" y="1508760"/>
          <a:ext cx="4297680" cy="914400"/>
        </p:xfrm>
        <a:graphic>
          <a:graphicData uri="http://schemas.openxmlformats.org/drawingml/2006/table">
            <a:tbl>
              <a:tblPr/>
              <a:tblGrid>
                <a:gridCol w="822960"/>
                <a:gridCol w="347472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Anlamı</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0</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başarı ("doğru")</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1</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genel hata / "yanlış"</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2</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yanlış kullanım (ls, grep: hata)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126</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bulundu ama çalıştırılamıyor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127</a:t>
                      </a:r>
                      <a:endParaRPr lang="tr-TR"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komut bulunamadı</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9" name="Shape 6"/>
          <p:cNvSpPr/>
          <p:nvPr/>
        </p:nvSpPr>
        <p:spPr>
          <a:xfrm>
            <a:off x="7360920" y="4343400"/>
            <a:ext cx="429768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589520" y="4343400"/>
            <a:ext cx="3840480" cy="192024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0 başarı demektir — 0'ın yanlış olduğu C'nin tam tersi! Bir program bunu exit(n) ya da main'den return n ile ayarlar (3. hafta); bir betik exit n ile. Aralık 0–255.</a:t>
            </a:r>
            <a:endParaRPr lang="tr-TR"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KOŞULLAR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test ve [ ]: Karşılaştırma Yapan Bir Komut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20</a:t>
            </a:r>
            <a:endParaRPr lang="tr-TR" sz="900" dirty="0"/>
          </a:p>
        </p:txBody>
      </p:sp>
      <p:sp>
        <p:nvSpPr>
          <p:cNvPr id="6" name="Shape 4"/>
          <p:cNvSpPr/>
          <p:nvPr/>
        </p:nvSpPr>
        <p:spPr>
          <a:xfrm>
            <a:off x="548640" y="1508760"/>
            <a:ext cx="5577840" cy="1874520"/>
          </a:xfrm>
          <a:prstGeom prst="roundRect">
            <a:avLst>
              <a:gd name="adj" fmla="val 2439"/>
            </a:avLst>
          </a:prstGeom>
          <a:solidFill>
            <a:srgbClr val="212121"/>
          </a:solidFill>
          <a:ln/>
        </p:spPr>
      </p:sp>
      <p:sp>
        <p:nvSpPr>
          <p:cNvPr id="7" name="Text 5"/>
          <p:cNvSpPr txBox="1"/>
          <p:nvPr/>
        </p:nvSpPr>
        <p:spPr>
          <a:xfrm>
            <a:off x="731520" y="1618488"/>
            <a:ext cx="5212080" cy="165506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[ 5 -gt 3 ]</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 "abc" = "abd" ]</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1</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type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 is a shell builtin</a:t>
            </a:r>
            <a:endParaRPr lang="tr-TR" sz="1200" dirty="0"/>
          </a:p>
        </p:txBody>
      </p:sp>
      <p:sp>
        <p:nvSpPr>
          <p:cNvPr id="8" name="Shape 6"/>
          <p:cNvSpPr/>
          <p:nvPr/>
        </p:nvSpPr>
        <p:spPr>
          <a:xfrm>
            <a:off x="548640" y="3611880"/>
            <a:ext cx="557784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3794760"/>
            <a:ext cx="5120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 bir komuttur: boşluklar önemli</a:t>
            </a:r>
            <a:endParaRPr lang="tr-TR" sz="1500" dirty="0"/>
          </a:p>
        </p:txBody>
      </p:sp>
      <p:sp>
        <p:nvSpPr>
          <p:cNvPr id="10" name="Text 8"/>
          <p:cNvSpPr txBox="1"/>
          <p:nvPr/>
        </p:nvSpPr>
        <p:spPr>
          <a:xfrm>
            <a:off x="777240" y="4251960"/>
            <a:ext cx="5120640" cy="18745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[ 5 -gt 3 ], test 5 -gt 3 ile aynıdır. Son argüman ] olmalıdır.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parça ayrı bir sözcüktür: [ "$n" -gt 3 ]. Boşluk olmazsa [$n bir komut adına dönüşür: "[5: command not found".</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 içinde değişkenleri tırnaklayın: boş bir $x kaybolur ve testi bozar.</a:t>
            </a:r>
            <a:endParaRPr lang="tr-TR"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303520" cy="914400"/>
        </p:xfrm>
        <a:graphic>
          <a:graphicData uri="http://schemas.openxmlformats.org/drawingml/2006/table">
            <a:tbl>
              <a:tblPr/>
              <a:tblGrid>
                <a:gridCol w="822960"/>
                <a:gridCol w="2377440"/>
                <a:gridCol w="2103120"/>
              </a:tblGrid>
              <a:tr h="0">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Tür</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İşleçler</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Örnek</a:t>
                      </a:r>
                      <a:endParaRPr lang="tr-TR"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Sayılar</a:t>
                      </a:r>
                      <a:endParaRPr lang="tr-TR"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-eq -ne -lt -le -gt -ge</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"$n" -ge 50 ]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Dizgiler</a:t>
                      </a:r>
                      <a:endParaRPr lang="tr-TR"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 -z(boş) -n(dolu)</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"$ans" = yes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Dosyalar</a:t>
                      </a:r>
                      <a:endParaRPr lang="tr-TR"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-e var -f dosya -d dizin</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-d ~/lab/backup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endParaRPr lang="tr-TR"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-r -w -x (r/w/x izni)</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-x backup.sh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Mantık</a:t>
                      </a:r>
                      <a:endParaRPr lang="tr-TR"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(değil)   &amp;&amp;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150" dirty="0">
                          <a:solidFill>
                            <a:srgbClr val="3A464C"/>
                          </a:solidFill>
                          <a:latin typeface="Consolas" pitchFamily="34" charset="0"/>
                          <a:ea typeface="Consolas" pitchFamily="34" charset="-122"/>
                          <a:cs typeface="Consolas" pitchFamily="34" charset="-120"/>
                        </a:rPr>
                        <a:t>[ -f a ] &amp;&amp; [ -f b ]</a:t>
                      </a:r>
                      <a:endParaRPr lang="tr-TR" sz="11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12" name="Shape 9"/>
          <p:cNvSpPr/>
          <p:nvPr/>
        </p:nvSpPr>
        <p:spPr>
          <a:xfrm>
            <a:off x="6355080" y="4892040"/>
            <a:ext cx="5303520" cy="1371600"/>
          </a:xfrm>
          <a:prstGeom prst="roundRect">
            <a:avLst>
              <a:gd name="adj" fmla="val 4000"/>
            </a:avLst>
          </a:prstGeom>
          <a:solidFill>
            <a:srgbClr val="36454F"/>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6583680" y="4892040"/>
            <a:ext cx="4846320" cy="137160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Sayılar: -lt, -gt … (harfler!).  Dizgiler: = ve !=.  [ ] içinde &lt; ve &gt; karşılaştırma değil, yönlendirmedir (12. hafta).</a:t>
            </a:r>
            <a:endParaRPr lang="tr-TR"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İF / ELİF / ELSE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if: Komutları Yalnızca Test Başarılıysa Çalıştırmak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21</a:t>
            </a:r>
            <a:endParaRPr lang="tr-TR" sz="900" dirty="0"/>
          </a:p>
        </p:txBody>
      </p:sp>
      <p:sp>
        <p:nvSpPr>
          <p:cNvPr id="6" name="Shape 4"/>
          <p:cNvSpPr/>
          <p:nvPr/>
        </p:nvSpPr>
        <p:spPr>
          <a:xfrm>
            <a:off x="548640" y="1508760"/>
            <a:ext cx="6675120" cy="4754880"/>
          </a:xfrm>
          <a:prstGeom prst="roundRect">
            <a:avLst>
              <a:gd name="adj" fmla="val 962"/>
            </a:avLst>
          </a:prstGeom>
          <a:solidFill>
            <a:srgbClr val="212121"/>
          </a:solidFill>
          <a:ln/>
        </p:spPr>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if [ $# -ne 1 ]; then</a:t>
            </a:r>
            <a:r>
              <a:rPr lang="tr-TR" sz="1150" dirty="0">
                <a:solidFill>
                  <a:srgbClr val="8A9AA0"/>
                </a:solidFill>
                <a:latin typeface="Consolas" pitchFamily="34" charset="0"/>
                <a:ea typeface="Consolas" pitchFamily="34" charset="-122"/>
                <a:cs typeface="Consolas" pitchFamily="34" charset="-120"/>
              </a:rPr>
              <a:t>                  # exactly one argument?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"Usage: $0 PATH" &gt;&amp;2</a:t>
            </a:r>
            <a:r>
              <a:rPr lang="tr-TR" sz="1150" dirty="0">
                <a:solidFill>
                  <a:srgbClr val="8A9AA0"/>
                </a:solidFill>
                <a:latin typeface="Consolas" pitchFamily="34" charset="0"/>
                <a:ea typeface="Consolas" pitchFamily="34" charset="-122"/>
                <a:cs typeface="Consolas" pitchFamily="34" charset="-120"/>
              </a:rPr>
              <a:t>          # &gt;&amp;2 : message goes to stderr</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exit 2</a:t>
            </a:r>
            <a:r>
              <a:rPr lang="tr-TR" sz="1150" dirty="0">
                <a:solidFill>
                  <a:srgbClr val="8A9AA0"/>
                </a:solidFill>
                <a:latin typeface="Consolas" pitchFamily="34" charset="0"/>
                <a:ea typeface="Consolas" pitchFamily="34" charset="-122"/>
                <a:cs typeface="Consolas" pitchFamily="34" charset="-120"/>
              </a:rPr>
              <a:t>                             # 2 = wrong usage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fi</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path=$1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if [ -f "$path" ]; then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"$path: regular file, $(wc -l &lt; "$path") lines"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elif [ -d "$path" ]; then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"$path: directory"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elif [ -e "$path" ]; then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"$path: exists, but is neither a file nor a directory"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else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"$path: does not exist" &gt;&amp;2</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exit 1</a:t>
            </a:r>
            <a:r>
              <a:rPr lang="tr-TR" sz="1150" dirty="0">
                <a:solidFill>
                  <a:srgbClr val="8A9AA0"/>
                </a:solidFill>
                <a:latin typeface="Consolas" pitchFamily="34" charset="0"/>
                <a:ea typeface="Consolas" pitchFamily="34" charset="-122"/>
                <a:cs typeface="Consolas" pitchFamily="34" charset="-120"/>
              </a:rPr>
              <a:t>                             # 1 = failure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fi</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exit 0</a:t>
            </a:r>
            <a:r>
              <a:rPr lang="tr-TR" sz="1150" dirty="0">
                <a:solidFill>
                  <a:srgbClr val="8A9AA0"/>
                </a:solidFill>
                <a:latin typeface="Consolas" pitchFamily="34" charset="0"/>
                <a:ea typeface="Consolas" pitchFamily="34" charset="-122"/>
                <a:cs typeface="Consolas" pitchFamily="34" charset="-120"/>
              </a:rPr>
              <a:t>                                 # 0 = success</a:t>
            </a:r>
            <a:endParaRPr lang="tr-TR" sz="1150" dirty="0"/>
          </a:p>
        </p:txBody>
      </p:sp>
      <p:sp>
        <p:nvSpPr>
          <p:cNvPr id="8" name="Shape 6"/>
          <p:cNvSpPr/>
          <p:nvPr/>
        </p:nvSpPr>
        <p:spPr>
          <a:xfrm>
            <a:off x="7452360" y="1508760"/>
            <a:ext cx="420624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Yapı</a:t>
            </a:r>
            <a:endParaRPr lang="tr-TR" sz="1500" dirty="0"/>
          </a:p>
        </p:txBody>
      </p:sp>
      <p:sp>
        <p:nvSpPr>
          <p:cNvPr id="10" name="Text 8"/>
          <p:cNvSpPr txBox="1"/>
          <p:nvPr/>
        </p:nvSpPr>
        <p:spPr>
          <a:xfrm>
            <a:off x="7680960" y="2148840"/>
            <a:ext cx="3749040" cy="17373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if TEST; then … elif TEST; then … else … fi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TEST herhangi bir komut olabilir: [ ], grep -q, mkdir …</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fi (tersten if) bloğu bitirir. Gövdeyi 4 boşluk içeri alın.</a:t>
            </a:r>
            <a:endParaRPr lang="tr-TR" sz="1350" dirty="0"/>
          </a:p>
        </p:txBody>
      </p:sp>
      <p:sp>
        <p:nvSpPr>
          <p:cNvPr id="11" name="Shape 9"/>
          <p:cNvSpPr/>
          <p:nvPr/>
        </p:nvSpPr>
        <p:spPr>
          <a:xfrm>
            <a:off x="7452360" y="4206240"/>
            <a:ext cx="42062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680960" y="438912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Buradaki iyi alışkanlıklar</a:t>
            </a:r>
            <a:endParaRPr lang="tr-TR" sz="1500" dirty="0"/>
          </a:p>
        </p:txBody>
      </p:sp>
      <p:sp>
        <p:nvSpPr>
          <p:cNvPr id="13" name="Text 11"/>
          <p:cNvSpPr txBox="1"/>
          <p:nvPr/>
        </p:nvSpPr>
        <p:spPr>
          <a:xfrm>
            <a:off x="7680960" y="4846320"/>
            <a:ext cx="3749040" cy="12801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Önce $# denetlenir; bir Usage satırı basılır.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Hatalar stderr'e gider: &gt;&amp;2 (12. hafta).</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Ayrı çıkış kodları: 0 tamam, 1 hata, 2 kullanım.</a:t>
            </a:r>
            <a:endParaRPr lang="tr-TR"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check.sh: Dört Tür Yol, Üç Çıkış Kodu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22</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./check.sh ../docs/syllabus.txt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../docs/syllabus.txt: regular file, 15 lines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./check.sh ../logs</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../logs: directory</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./check.sh /dev/null</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/dev/null: exists, but is neither a file nor a directory</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./check.sh nothing.txt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nothing.txt: does not exist</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echo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1</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./check.sh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Usage: ./check.sh PATH</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echo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2</a:t>
            </a:r>
            <a:endParaRPr lang="tr-TR"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syllabus.txt: -f doğrudur, bu yüzden ilk dal çalışır.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../logs: -f yanlış, -d doğru: elif dalı.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/dev/null: vardır (-e), ama bir aygıt dosyasıdır (9. hafta: /dev); bu yüzden zincir üçüncü dala ulaşır.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Olmayan dosya: exit 1. Argüman yok: Usage ve exit 2.</a:t>
            </a:r>
            <a:endParaRPr lang="tr-TR"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SAYISAL TESTLER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grade.sh: Sayılarla if / elif / else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23</a:t>
            </a:r>
            <a:endParaRPr lang="tr-TR" sz="900" dirty="0"/>
          </a:p>
        </p:txBody>
      </p:sp>
      <p:sp>
        <p:nvSpPr>
          <p:cNvPr id="6" name="Shape 4"/>
          <p:cNvSpPr/>
          <p:nvPr/>
        </p:nvSpPr>
        <p:spPr>
          <a:xfrm>
            <a:off x="548640" y="1508760"/>
            <a:ext cx="5943600" cy="4754880"/>
          </a:xfrm>
          <a:prstGeom prst="roundRect">
            <a:avLst>
              <a:gd name="adj" fmla="val 962"/>
            </a:avLst>
          </a:prstGeom>
          <a:solidFill>
            <a:srgbClr val="212121"/>
          </a:solidFill>
          <a:ln/>
        </p:spPr>
      </p:sp>
      <p:sp>
        <p:nvSpPr>
          <p:cNvPr id="7" name="Text 5"/>
          <p:cNvSpPr txBox="1"/>
          <p:nvPr/>
        </p:nvSpPr>
        <p:spPr>
          <a:xfrm>
            <a:off x="731520" y="1618488"/>
            <a:ext cx="5577840" cy="4535424"/>
          </a:xfrm>
          <a:prstGeom prst="rect">
            <a:avLst/>
          </a:prstGeom>
          <a:noFill/>
          <a:ln/>
        </p:spPr>
        <p:txBody>
          <a:bodyPr wrap="square" lIns="0" tIns="0" rIns="0" bIns="0" rtlCol="0" anchor="t"/>
          <a:lstStyle/>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score=$1</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if [ -z "$score" ]; then</a:t>
            </a:r>
            <a:r>
              <a:rPr lang="tr-TR" sz="1050" dirty="0">
                <a:solidFill>
                  <a:srgbClr val="8A9AA0"/>
                </a:solidFill>
                <a:latin typeface="Consolas" pitchFamily="34" charset="0"/>
                <a:ea typeface="Consolas" pitchFamily="34" charset="-122"/>
                <a:cs typeface="Consolas" pitchFamily="34" charset="-120"/>
              </a:rPr>
              <a:t>               # -z : the string is empty</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echo "Usage: $0 SCORE (0-100)" &gt;&amp;2</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 2</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fi</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if [ "$score" -lt 0 ] || [ "$score" -gt 100 ]; then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echo "Error: score must be between 0 and 100" &gt;&amp;2</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 1</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elif [ "$score" -ge 85 ]; then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letter=A</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elif [ "$score" -ge 70 ]; then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letter=B</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elif [ "$score" -ge 50 ]; then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letter=C</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else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letter=F</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fi</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echo "Score $score -&gt; grade $letter"</a:t>
            </a:r>
            <a:endParaRPr lang="tr-TR" sz="1050" dirty="0"/>
          </a:p>
        </p:txBody>
      </p:sp>
      <p:sp>
        <p:nvSpPr>
          <p:cNvPr id="8" name="Shape 6"/>
          <p:cNvSpPr/>
          <p:nvPr/>
        </p:nvSpPr>
        <p:spPr>
          <a:xfrm>
            <a:off x="6675120" y="1508760"/>
            <a:ext cx="4983480" cy="3017520"/>
          </a:xfrm>
          <a:prstGeom prst="roundRect">
            <a:avLst>
              <a:gd name="adj" fmla="val 1515"/>
            </a:avLst>
          </a:prstGeom>
          <a:solidFill>
            <a:srgbClr val="212121"/>
          </a:solidFill>
          <a:ln/>
        </p:spPr>
      </p:sp>
      <p:sp>
        <p:nvSpPr>
          <p:cNvPr id="9" name="Text 7"/>
          <p:cNvSpPr txBox="1"/>
          <p:nvPr/>
        </p:nvSpPr>
        <p:spPr>
          <a:xfrm>
            <a:off x="6858000" y="1618488"/>
            <a:ext cx="4617720" cy="279806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./grade.sh 92</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Score 92 -&gt; grade A</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./grade.sh 72</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Score 72 -&gt; grade B</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./grade.sh 49</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Score 49 -&gt; grade F</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./grade.sh 150</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Error: score must be between 0 and 100</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./grade.sh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Usage: ./grade.sh SCORE (0-100)</a:t>
            </a:r>
            <a:endParaRPr lang="tr-TR" sz="1250" dirty="0"/>
          </a:p>
        </p:txBody>
      </p:sp>
      <p:sp>
        <p:nvSpPr>
          <p:cNvPr id="10" name="Shape 8"/>
          <p:cNvSpPr/>
          <p:nvPr/>
        </p:nvSpPr>
        <p:spPr>
          <a:xfrm>
            <a:off x="6675120" y="4663440"/>
            <a:ext cx="498348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903720" y="4846320"/>
            <a:ext cx="45262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 merdiven gibi okuyun</a:t>
            </a:r>
            <a:endParaRPr lang="tr-TR" sz="1500" dirty="0"/>
          </a:p>
        </p:txBody>
      </p:sp>
      <p:sp>
        <p:nvSpPr>
          <p:cNvPr id="12" name="Text 10"/>
          <p:cNvSpPr txBox="1"/>
          <p:nvPr/>
        </p:nvSpPr>
        <p:spPr>
          <a:xfrm>
            <a:off x="6903720" y="5303520"/>
            <a:ext cx="4526280" cy="8229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bash testleri yukarıdan aşağıya dener ve yalnızca testi doğru olan İLK dalı çalıştırır.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 veya: ikinci test yalnızca ilki yanlışsa çalışır.</a:t>
            </a:r>
            <a:endParaRPr lang="tr-TR"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HATA AYIKLAMA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Hata Ayıklama: bash -n, bash -x ve Hatalı Girdi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24</a:t>
            </a:r>
            <a:endParaRPr lang="tr-TR" sz="900" dirty="0"/>
          </a:p>
        </p:txBody>
      </p:sp>
      <p:sp>
        <p:nvSpPr>
          <p:cNvPr id="6" name="Shape 4"/>
          <p:cNvSpPr/>
          <p:nvPr/>
        </p:nvSpPr>
        <p:spPr>
          <a:xfrm>
            <a:off x="548640" y="1508760"/>
            <a:ext cx="5486400" cy="2971800"/>
          </a:xfrm>
          <a:prstGeom prst="roundRect">
            <a:avLst>
              <a:gd name="adj" fmla="val 1538"/>
            </a:avLst>
          </a:prstGeom>
          <a:solidFill>
            <a:srgbClr val="212121"/>
          </a:solidFill>
          <a:ln/>
        </p:spPr>
      </p:sp>
      <p:sp>
        <p:nvSpPr>
          <p:cNvPr id="7" name="Text 5"/>
          <p:cNvSpPr txBox="1"/>
          <p:nvPr/>
        </p:nvSpPr>
        <p:spPr>
          <a:xfrm>
            <a:off x="731520" y="1618488"/>
            <a:ext cx="5120640" cy="275234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bash -x grade.sh 72</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score=72</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 -z 72 ']'</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 72 -lt 0 ']'</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 72 -gt 100 ']'</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 72 -ge 85 ']'</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 72 -ge 70 ']'</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letter=B</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 echo 'Score 72 -&gt; grade B'</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Score 72 -&gt; grade B</a:t>
            </a:r>
            <a:endParaRPr lang="tr-TR" sz="1250" dirty="0"/>
          </a:p>
        </p:txBody>
      </p:sp>
      <p:sp>
        <p:nvSpPr>
          <p:cNvPr id="8" name="Shape 6"/>
          <p:cNvSpPr/>
          <p:nvPr/>
        </p:nvSpPr>
        <p:spPr>
          <a:xfrm>
            <a:off x="6263640" y="1508760"/>
            <a:ext cx="5394960" cy="2971800"/>
          </a:xfrm>
          <a:prstGeom prst="roundRect">
            <a:avLst>
              <a:gd name="adj" fmla="val 1538"/>
            </a:avLst>
          </a:prstGeom>
          <a:solidFill>
            <a:srgbClr val="212121"/>
          </a:solidFill>
          <a:ln/>
        </p:spPr>
      </p:sp>
      <p:sp>
        <p:nvSpPr>
          <p:cNvPr id="9" name="Text 7"/>
          <p:cNvSpPr txBox="1"/>
          <p:nvPr/>
        </p:nvSpPr>
        <p:spPr>
          <a:xfrm>
            <a:off x="6446520" y="1618488"/>
            <a:ext cx="5029200" cy="275234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./grade.sh abc</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./grade.sh: line 9: [: abc: integer expression expected</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./grade.sh: line 9: [: abc: integer expression expected</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./grade.sh: line 12: [: abc: integer expression expected</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./grade.sh: line 14: [: abc: integer expression expected</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./grade.sh: line 16: [: abc: integer expression expected</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Score abc -&gt; grade F</a:t>
            </a:r>
            <a:endParaRPr lang="tr-TR" sz="1100" dirty="0"/>
          </a:p>
        </p:txBody>
      </p:sp>
      <p:sp>
        <p:nvSpPr>
          <p:cNvPr id="10" name="Shape 8"/>
          <p:cNvSpPr/>
          <p:nvPr/>
        </p:nvSpPr>
        <p:spPr>
          <a:xfrm>
            <a:off x="548640" y="4663440"/>
            <a:ext cx="1110996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77240" y="4846320"/>
            <a:ext cx="10652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Üç araç</a:t>
            </a:r>
            <a:endParaRPr lang="tr-TR" sz="1500" dirty="0"/>
          </a:p>
        </p:txBody>
      </p:sp>
      <p:sp>
        <p:nvSpPr>
          <p:cNvPr id="12" name="Text 10"/>
          <p:cNvSpPr txBox="1"/>
          <p:nvPr/>
        </p:nvSpPr>
        <p:spPr>
          <a:xfrm>
            <a:off x="777240" y="5303520"/>
            <a:ext cx="10652760" cy="82296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bash -n script.sh:</a:t>
            </a:r>
            <a:r>
              <a:rPr lang="tr-TR" sz="1250" dirty="0">
                <a:solidFill>
                  <a:srgbClr val="3A464C"/>
                </a:solidFill>
                <a:latin typeface="Calibri" pitchFamily="34" charset="0"/>
                <a:ea typeface="Calibri" pitchFamily="34" charset="-122"/>
                <a:cs typeface="Calibri" pitchFamily="34" charset="-120"/>
              </a:rPr>
              <a:t> yalnızca sözdizimi denetimi; hiçbir şey çalışmaz.    </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bash -x script.sh:</a:t>
            </a:r>
            <a:r>
              <a:rPr lang="tr-TR" sz="1250" dirty="0">
                <a:solidFill>
                  <a:srgbClr val="3A464C"/>
                </a:solidFill>
                <a:latin typeface="Calibri" pitchFamily="34" charset="0"/>
                <a:ea typeface="Calibri" pitchFamily="34" charset="-122"/>
                <a:cs typeface="Calibri" pitchFamily="34" charset="-120"/>
              </a:rPr>
              <a:t> her komutu çalıştırmadan önce (+ işaretiyle ve değerler yerine konmuş olarak) yazdırır. Betik içinde: izlemek istediğiniz kısmı set -x … set +x arasına alın.</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Girdiyi doğrulayın:</a:t>
            </a:r>
            <a:r>
              <a:rPr lang="tr-TR" sz="1250" dirty="0">
                <a:solidFill>
                  <a:srgbClr val="3A464C"/>
                </a:solidFill>
                <a:latin typeface="Calibri" pitchFamily="34" charset="0"/>
                <a:ea typeface="Calibri" pitchFamily="34" charset="-122"/>
                <a:cs typeface="Calibri" pitchFamily="34" charset="-120"/>
              </a:rPr>
              <a:t> grade.sh abc hatalar basar ama yine de grade F der — bir hata (bug). Önce girdiyi denetleyin (lab alıştırması fikri).</a:t>
            </a:r>
            <a:endParaRPr lang="tr-TR"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4</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Döngüler ve Fonksiyonlar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Her öğe için ya da bir koşul sürdükçe bir şey yapmak.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25</a:t>
            </a:r>
            <a:endParaRPr lang="tr-TR"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FOR DÖNGÜLERİ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for: Listedeki Her Öğe İçin Bir Kez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26</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for city in Istanbul Ankara Izmir; do</a:t>
            </a:r>
            <a:r>
              <a:rPr lang="tr-TR" sz="1000" dirty="0">
                <a:solidFill>
                  <a:srgbClr val="8A9AA0"/>
                </a:solidFill>
                <a:latin typeface="Consolas" pitchFamily="34" charset="0"/>
                <a:ea typeface="Consolas" pitchFamily="34" charset="-122"/>
                <a:cs typeface="Consolas" pitchFamily="34" charset="-120"/>
              </a:rPr>
              <a:t>       # 1) over a list of words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echo "City: $city"</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done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for i in {1..5}; do</a:t>
            </a:r>
            <a:r>
              <a:rPr lang="tr-TR" sz="1000" dirty="0">
                <a:solidFill>
                  <a:srgbClr val="8A9AA0"/>
                </a:solidFill>
                <a:latin typeface="Consolas" pitchFamily="34" charset="0"/>
                <a:ea typeface="Consolas" pitchFamily="34" charset="-122"/>
                <a:cs typeface="Consolas" pitchFamily="34" charset="-120"/>
              </a:rPr>
              <a:t>                          # 2) over a range of numbers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echo -n "$i squared is $((i * i));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done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echo</a:t>
            </a:r>
            <a:r>
              <a:rPr lang="tr-TR" sz="1000" dirty="0">
                <a:solidFill>
                  <a:srgbClr val="8A9AA0"/>
                </a:solidFill>
                <a:latin typeface="Consolas" pitchFamily="34" charset="0"/>
                <a:ea typeface="Consolas" pitchFamily="34" charset="-122"/>
                <a:cs typeface="Consolas" pitchFamily="34" charset="-120"/>
              </a:rPr>
              <a:t>                                         # finish the line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for f in ~/lab/docs/*.txt; do</a:t>
            </a:r>
            <a:r>
              <a:rPr lang="tr-TR" sz="1000" dirty="0">
                <a:solidFill>
                  <a:srgbClr val="8A9AA0"/>
                </a:solidFill>
                <a:latin typeface="Consolas" pitchFamily="34" charset="0"/>
                <a:ea typeface="Consolas" pitchFamily="34" charset="-122"/>
                <a:cs typeface="Consolas" pitchFamily="34" charset="-120"/>
              </a:rPr>
              <a:t>                # 3) over files (wildcard)</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echo "$(basename "$f"): $(wc -l &lt; "$f") lines"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done</a:t>
            </a:r>
            <a:endParaRPr lang="tr-TR" sz="1000" dirty="0"/>
          </a:p>
        </p:txBody>
      </p:sp>
      <p:sp>
        <p:nvSpPr>
          <p:cNvPr id="8" name="Shape 6"/>
          <p:cNvSpPr/>
          <p:nvPr/>
        </p:nvSpPr>
        <p:spPr>
          <a:xfrm>
            <a:off x="7178040" y="1508760"/>
            <a:ext cx="4480560" cy="2514600"/>
          </a:xfrm>
          <a:prstGeom prst="roundRect">
            <a:avLst>
              <a:gd name="adj" fmla="val 1818"/>
            </a:avLst>
          </a:prstGeom>
          <a:solidFill>
            <a:srgbClr val="212121"/>
          </a:solidFill>
          <a:ln/>
        </p:spPr>
      </p:sp>
      <p:sp>
        <p:nvSpPr>
          <p:cNvPr id="9" name="Text 7"/>
          <p:cNvSpPr txBox="1"/>
          <p:nvPr/>
        </p:nvSpPr>
        <p:spPr>
          <a:xfrm>
            <a:off x="7360920" y="1618488"/>
            <a:ext cx="4114800" cy="229514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student@okan-lab:~/lab/scripts$ </a:t>
            </a:r>
            <a:r>
              <a:rPr lang="tr-TR" sz="1200" b="1" dirty="0">
                <a:solidFill>
                  <a:srgbClr val="FFFFFF"/>
                </a:solidFill>
                <a:latin typeface="Consolas" pitchFamily="34" charset="0"/>
                <a:ea typeface="Consolas" pitchFamily="34" charset="-122"/>
                <a:cs typeface="Consolas" pitchFamily="34" charset="-120"/>
              </a:rPr>
              <a:t>./loops.sh</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City: Istanbul</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City: Ankara</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City: Izmir</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1 squared is 1; 2 squared is 4; ...</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final report.txt: 2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linux_quotes.txt: 5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notes_01.txt: 1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notes_02.txt: 1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notes_03.txt: 1 lines</a:t>
            </a:r>
            <a:endParaRPr lang="tr-TR" sz="1200" dirty="0"/>
          </a:p>
          <a:p>
            <a:pPr indent="0" marL="0">
              <a:lnSpc>
                <a:spcPct val="100000"/>
              </a:lnSpc>
              <a:buNone/>
            </a:pPr>
            <a:r>
              <a:rPr lang="tr-TR" sz="1200" dirty="0">
                <a:solidFill>
                  <a:srgbClr val="C9D1D3"/>
                </a:solidFill>
                <a:latin typeface="Consolas" pitchFamily="34" charset="0"/>
                <a:ea typeface="Consolas" pitchFamily="34" charset="-122"/>
                <a:cs typeface="Consolas" pitchFamily="34" charset="-120"/>
              </a:rPr>
              <a:t>syllabus.txt: 15 lines</a:t>
            </a:r>
            <a:endParaRPr lang="tr-TR" sz="1200" dirty="0"/>
          </a:p>
        </p:txBody>
      </p:sp>
      <p:sp>
        <p:nvSpPr>
          <p:cNvPr id="10" name="Shape 8"/>
          <p:cNvSpPr/>
          <p:nvPr/>
        </p:nvSpPr>
        <p:spPr>
          <a:xfrm>
            <a:off x="7178040" y="4206240"/>
            <a:ext cx="448056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406640" y="4389120"/>
            <a:ext cx="4023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for x in LİSTE; do … done</a:t>
            </a:r>
            <a:endParaRPr lang="tr-TR" sz="1500" dirty="0"/>
          </a:p>
        </p:txBody>
      </p:sp>
      <p:sp>
        <p:nvSpPr>
          <p:cNvPr id="12" name="Text 10"/>
          <p:cNvSpPr txBox="1"/>
          <p:nvPr/>
        </p:nvSpPr>
        <p:spPr>
          <a:xfrm>
            <a:off x="7406640" y="4846320"/>
            <a:ext cx="4023360" cy="128016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Sözcük listesi:</a:t>
            </a:r>
            <a:r>
              <a:rPr lang="tr-TR" sz="1250" dirty="0">
                <a:solidFill>
                  <a:srgbClr val="3A464C"/>
                </a:solidFill>
                <a:latin typeface="Calibri" pitchFamily="34" charset="0"/>
                <a:ea typeface="Calibri" pitchFamily="34" charset="-122"/>
                <a:cs typeface="Calibri" pitchFamily="34" charset="-120"/>
              </a:rPr>
              <a:t> tek tek yazılır ya da "$@".</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{1..5}:</a:t>
            </a:r>
            <a:r>
              <a:rPr lang="tr-TR" sz="1250" dirty="0">
                <a:solidFill>
                  <a:srgbClr val="3A464C"/>
                </a:solidFill>
                <a:latin typeface="Calibri" pitchFamily="34" charset="0"/>
                <a:ea typeface="Calibri" pitchFamily="34" charset="-122"/>
                <a:cs typeface="Calibri" pitchFamily="34" charset="-120"/>
              </a:rPr>
              <a:t> küme parantezi genişletmesi → 1 2 3 4 5 (10. hafta).</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*.txt:</a:t>
            </a:r>
            <a:r>
              <a:rPr lang="tr-TR" sz="1250" dirty="0">
                <a:solidFill>
                  <a:srgbClr val="3A464C"/>
                </a:solidFill>
                <a:latin typeface="Calibri" pitchFamily="34" charset="0"/>
                <a:ea typeface="Calibri" pitchFamily="34" charset="-122"/>
                <a:cs typeface="Calibri" pitchFamily="34" charset="-120"/>
              </a:rPr>
              <a:t> kabuk joker karakteri eşleşen dosya adlarına genişletir — "$f" yazarsanız boşluklu adlarda bile güvenlidir.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Ayrıca:</a:t>
            </a:r>
            <a:r>
              <a:rPr lang="tr-TR" sz="1250" dirty="0">
                <a:solidFill>
                  <a:srgbClr val="3A464C"/>
                </a:solidFill>
                <a:latin typeface="Calibri" pitchFamily="34" charset="0"/>
                <a:ea typeface="Calibri" pitchFamily="34" charset="-122"/>
                <a:cs typeface="Calibri" pitchFamily="34" charset="-120"/>
              </a:rPr>
              <a:t> liste olarak $(komut), ör. for u in $(cut -d, -f3 file).</a:t>
            </a:r>
            <a:endParaRPr lang="tr-TR"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WHİLE DÖNGÜLERİ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while: Test Başarılı Olduğu Sürece Tekrarla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27</a:t>
            </a:r>
            <a:endParaRPr lang="tr-TR" sz="900" dirty="0"/>
          </a:p>
        </p:txBody>
      </p:sp>
      <p:sp>
        <p:nvSpPr>
          <p:cNvPr id="6" name="Shape 4"/>
          <p:cNvSpPr/>
          <p:nvPr/>
        </p:nvSpPr>
        <p:spPr>
          <a:xfrm>
            <a:off x="548640" y="1508760"/>
            <a:ext cx="6949440" cy="3291840"/>
          </a:xfrm>
          <a:prstGeom prst="roundRect">
            <a:avLst>
              <a:gd name="adj" fmla="val 1389"/>
            </a:avLst>
          </a:prstGeom>
          <a:solidFill>
            <a:srgbClr val="212121"/>
          </a:solidFill>
          <a:ln/>
        </p:spPr>
      </p:sp>
      <p:sp>
        <p:nvSpPr>
          <p:cNvPr id="7" name="Text 5"/>
          <p:cNvSpPr txBox="1"/>
          <p:nvPr/>
        </p:nvSpPr>
        <p:spPr>
          <a:xfrm>
            <a:off x="731520" y="1618488"/>
            <a:ext cx="6583680" cy="3072384"/>
          </a:xfrm>
          <a:prstGeom prst="rect">
            <a:avLst/>
          </a:prstGeom>
          <a:noFill/>
          <a:ln/>
        </p:spPr>
        <p:txBody>
          <a:bodyPr wrap="square" lIns="0" tIns="0" rIns="0" bIns="0" rtlCol="0" anchor="t"/>
          <a:lstStyle/>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n=3</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while [ "$n" -gt 0 ]; do</a:t>
            </a:r>
            <a:r>
              <a:rPr lang="tr-TR" sz="1050" dirty="0">
                <a:solidFill>
                  <a:srgbClr val="8A9AA0"/>
                </a:solidFill>
                <a:latin typeface="Consolas" pitchFamily="34" charset="0"/>
                <a:ea typeface="Consolas" pitchFamily="34" charset="-122"/>
                <a:cs typeface="Consolas" pitchFamily="34" charset="-120"/>
              </a:rPr>
              <a:t>                     # repeat WHILE the test is true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echo "Countdown: $n"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n=$((n - 1))</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done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echo "Go!"</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sum=0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count=0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while read -r x; do</a:t>
            </a:r>
            <a:r>
              <a:rPr lang="tr-TR" sz="1050" dirty="0">
                <a:solidFill>
                  <a:srgbClr val="8A9AA0"/>
                </a:solidFill>
                <a:latin typeface="Consolas" pitchFamily="34" charset="0"/>
                <a:ea typeface="Consolas" pitchFamily="34" charset="-122"/>
                <a:cs typeface="Consolas" pitchFamily="34" charset="-120"/>
              </a:rPr>
              <a:t>                          # one line of the file per turn</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sum=$((sum + x))</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count=$((count + 1))</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done &lt; ~/lab/data/numbers.txt</a:t>
            </a:r>
            <a:r>
              <a:rPr lang="tr-TR" sz="1050" dirty="0">
                <a:solidFill>
                  <a:srgbClr val="8A9AA0"/>
                </a:solidFill>
                <a:latin typeface="Consolas" pitchFamily="34" charset="0"/>
                <a:ea typeface="Consolas" pitchFamily="34" charset="-122"/>
                <a:cs typeface="Consolas" pitchFamily="34" charset="-120"/>
              </a:rPr>
              <a:t>                # the whole loop reads this file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echo "$count numbers, sum = $sum, average = $((sum / count)) (integer)"</a:t>
            </a:r>
            <a:endParaRPr lang="tr-TR" sz="1050" dirty="0"/>
          </a:p>
        </p:txBody>
      </p:sp>
      <p:sp>
        <p:nvSpPr>
          <p:cNvPr id="8" name="Shape 6"/>
          <p:cNvSpPr/>
          <p:nvPr/>
        </p:nvSpPr>
        <p:spPr>
          <a:xfrm>
            <a:off x="548640" y="4983480"/>
            <a:ext cx="6949440" cy="1280160"/>
          </a:xfrm>
          <a:prstGeom prst="roundRect">
            <a:avLst>
              <a:gd name="adj" fmla="val 3571"/>
            </a:avLst>
          </a:prstGeom>
          <a:solidFill>
            <a:srgbClr val="212121"/>
          </a:solidFill>
          <a:ln/>
        </p:spPr>
      </p:sp>
      <p:sp>
        <p:nvSpPr>
          <p:cNvPr id="9" name="Text 7"/>
          <p:cNvSpPr txBox="1"/>
          <p:nvPr/>
        </p:nvSpPr>
        <p:spPr>
          <a:xfrm>
            <a:off x="731520" y="5093208"/>
            <a:ext cx="6583680" cy="106070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student@okan-lab:~/lab/scripts$ </a:t>
            </a:r>
            <a:r>
              <a:rPr lang="tr-TR" sz="1050" b="1" dirty="0">
                <a:solidFill>
                  <a:srgbClr val="FFFFFF"/>
                </a:solidFill>
                <a:latin typeface="Consolas" pitchFamily="34" charset="0"/>
                <a:ea typeface="Consolas" pitchFamily="34" charset="-122"/>
                <a:cs typeface="Consolas" pitchFamily="34" charset="-120"/>
              </a:rPr>
              <a:t>./while.sh</a:t>
            </a:r>
            <a:endParaRPr lang="tr-TR" sz="1050" dirty="0"/>
          </a:p>
          <a:p>
            <a:pPr indent="0" marL="0">
              <a:lnSpc>
                <a:spcPct val="100000"/>
              </a:lnSpc>
              <a:buNone/>
            </a:pPr>
            <a:r>
              <a:rPr lang="tr-TR" sz="1050" dirty="0">
                <a:solidFill>
                  <a:srgbClr val="C9D1D3"/>
                </a:solidFill>
                <a:latin typeface="Consolas" pitchFamily="34" charset="0"/>
                <a:ea typeface="Consolas" pitchFamily="34" charset="-122"/>
                <a:cs typeface="Consolas" pitchFamily="34" charset="-120"/>
              </a:rPr>
              <a:t>Countdown: 3</a:t>
            </a:r>
            <a:endParaRPr lang="tr-TR" sz="1050" dirty="0"/>
          </a:p>
          <a:p>
            <a:pPr indent="0" marL="0">
              <a:lnSpc>
                <a:spcPct val="100000"/>
              </a:lnSpc>
              <a:buNone/>
            </a:pPr>
            <a:r>
              <a:rPr lang="tr-TR" sz="1050" dirty="0">
                <a:solidFill>
                  <a:srgbClr val="C9D1D3"/>
                </a:solidFill>
                <a:latin typeface="Consolas" pitchFamily="34" charset="0"/>
                <a:ea typeface="Consolas" pitchFamily="34" charset="-122"/>
                <a:cs typeface="Consolas" pitchFamily="34" charset="-120"/>
              </a:rPr>
              <a:t>Countdown: 2</a:t>
            </a:r>
            <a:endParaRPr lang="tr-TR" sz="1050" dirty="0"/>
          </a:p>
          <a:p>
            <a:pPr indent="0" marL="0">
              <a:lnSpc>
                <a:spcPct val="100000"/>
              </a:lnSpc>
              <a:buNone/>
            </a:pPr>
            <a:r>
              <a:rPr lang="tr-TR" sz="1050" dirty="0">
                <a:solidFill>
                  <a:srgbClr val="C9D1D3"/>
                </a:solidFill>
                <a:latin typeface="Consolas" pitchFamily="34" charset="0"/>
                <a:ea typeface="Consolas" pitchFamily="34" charset="-122"/>
                <a:cs typeface="Consolas" pitchFamily="34" charset="-120"/>
              </a:rPr>
              <a:t>Countdown: 1</a:t>
            </a:r>
            <a:endParaRPr lang="tr-TR" sz="1050" dirty="0"/>
          </a:p>
          <a:p>
            <a:pPr indent="0" marL="0">
              <a:lnSpc>
                <a:spcPct val="100000"/>
              </a:lnSpc>
              <a:buNone/>
            </a:pPr>
            <a:r>
              <a:rPr lang="tr-TR" sz="1050" dirty="0">
                <a:solidFill>
                  <a:srgbClr val="C9D1D3"/>
                </a:solidFill>
                <a:latin typeface="Consolas" pitchFamily="34" charset="0"/>
                <a:ea typeface="Consolas" pitchFamily="34" charset="-122"/>
                <a:cs typeface="Consolas" pitchFamily="34" charset="-120"/>
              </a:rPr>
              <a:t>Go!</a:t>
            </a:r>
            <a:endParaRPr lang="tr-TR" sz="1050" dirty="0"/>
          </a:p>
          <a:p>
            <a:pPr indent="0" marL="0">
              <a:lnSpc>
                <a:spcPct val="100000"/>
              </a:lnSpc>
              <a:buNone/>
            </a:pPr>
            <a:r>
              <a:rPr lang="tr-TR" sz="1050" dirty="0">
                <a:solidFill>
                  <a:srgbClr val="C9D1D3"/>
                </a:solidFill>
                <a:latin typeface="Consolas" pitchFamily="34" charset="0"/>
                <a:ea typeface="Consolas" pitchFamily="34" charset="-122"/>
                <a:cs typeface="Consolas" pitchFamily="34" charset="-120"/>
              </a:rPr>
              <a:t>20 numbers, sum = 11325, average = 566 (integer)</a:t>
            </a:r>
            <a:endParaRPr lang="tr-TR" sz="105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klasik kalıp</a:t>
            </a:r>
            <a:endParaRPr lang="tr-TR"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Sayaç:</a:t>
            </a:r>
            <a:r>
              <a:rPr lang="tr-TR" sz="1350" dirty="0">
                <a:solidFill>
                  <a:srgbClr val="3A464C"/>
                </a:solidFill>
                <a:latin typeface="Calibri" pitchFamily="34" charset="0"/>
                <a:ea typeface="Calibri" pitchFamily="34" charset="-122"/>
                <a:cs typeface="Calibri" pitchFamily="34" charset="-120"/>
              </a:rPr>
              <a:t> değişkeni döngünün içinde değiştirin — n=$((n - 1)) satırını unutursanız döngü hiç bitmez (Ctrl+C, 13. hafta).</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Dosya okuma:</a:t>
            </a:r>
            <a:r>
              <a:rPr lang="tr-TR" sz="1350" dirty="0">
                <a:solidFill>
                  <a:srgbClr val="3A464C"/>
                </a:solidFill>
                <a:latin typeface="Calibri" pitchFamily="34" charset="0"/>
                <a:ea typeface="Calibri" pitchFamily="34" charset="-122"/>
                <a:cs typeface="Calibri" pitchFamily="34" charset="-120"/>
              </a:rPr>
              <a:t> while read -r line; do … done &lt; file her turda bir satır okur; dosya sonunda read başarısız olur ve döngü durur.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Sağlama:</a:t>
            </a:r>
            <a:r>
              <a:rPr lang="tr-TR" sz="1350" dirty="0">
                <a:solidFill>
                  <a:srgbClr val="3A464C"/>
                </a:solidFill>
                <a:latin typeface="Calibri" pitchFamily="34" charset="0"/>
                <a:ea typeface="Calibri" pitchFamily="34" charset="-122"/>
                <a:cs typeface="Calibri" pitchFamily="34" charset="-120"/>
              </a:rPr>
              <a:t> 11325 / 20 = 566,25; bash 566 yazar.</a:t>
            </a:r>
            <a:endParaRPr lang="tr-TR"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FONKSİYONLAR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Fonksiyonlar: Bir Komut Bloğuna Ad Vermek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28</a:t>
            </a:r>
            <a:endParaRPr lang="tr-TR" sz="900" dirty="0"/>
          </a:p>
        </p:txBody>
      </p:sp>
      <p:sp>
        <p:nvSpPr>
          <p:cNvPr id="6" name="Shape 4"/>
          <p:cNvSpPr/>
          <p:nvPr/>
        </p:nvSpPr>
        <p:spPr>
          <a:xfrm>
            <a:off x="548640" y="1508760"/>
            <a:ext cx="6172200" cy="4754880"/>
          </a:xfrm>
          <a:prstGeom prst="roundRect">
            <a:avLst>
              <a:gd name="adj" fmla="val 962"/>
            </a:avLst>
          </a:prstGeom>
          <a:solidFill>
            <a:srgbClr val="212121"/>
          </a:solidFill>
          <a:ln/>
        </p:spPr>
      </p:sp>
      <p:sp>
        <p:nvSpPr>
          <p:cNvPr id="7" name="Text 5"/>
          <p:cNvSpPr txBox="1"/>
          <p:nvPr/>
        </p:nvSpPr>
        <p:spPr>
          <a:xfrm>
            <a:off x="731520" y="1618488"/>
            <a:ext cx="5806440" cy="4535424"/>
          </a:xfrm>
          <a:prstGeom prst="rect">
            <a:avLst/>
          </a:prstGeom>
          <a:noFill/>
          <a:ln/>
        </p:spPr>
        <p:txBody>
          <a:bodyPr wrap="square" lIns="0" tIns="0" rIns="0" bIns="0" rtlCol="0" anchor="t"/>
          <a:lstStyle/>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line() {</a:t>
            </a:r>
            <a:r>
              <a:rPr lang="tr-TR" sz="1000" dirty="0">
                <a:solidFill>
                  <a:srgbClr val="8A9AA0"/>
                </a:solidFill>
                <a:latin typeface="Consolas" pitchFamily="34" charset="0"/>
                <a:ea typeface="Consolas" pitchFamily="34" charset="-122"/>
                <a:cs typeface="Consolas" pitchFamily="34" charset="-120"/>
              </a:rPr>
              <a:t>                                  # no arguments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echo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count_word() {</a:t>
            </a:r>
            <a:r>
              <a:rPr lang="tr-TR" sz="1000" dirty="0">
                <a:solidFill>
                  <a:srgbClr val="8A9AA0"/>
                </a:solidFill>
                <a:latin typeface="Consolas" pitchFamily="34" charset="0"/>
                <a:ea typeface="Consolas" pitchFamily="34" charset="-122"/>
                <a:cs typeface="Consolas" pitchFamily="34" charset="-120"/>
              </a:rPr>
              <a:t>                            # $1 = word, $2 = file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local n</a:t>
            </a:r>
            <a:r>
              <a:rPr lang="tr-TR" sz="1000" dirty="0">
                <a:solidFill>
                  <a:srgbClr val="8A9AA0"/>
                </a:solidFill>
                <a:latin typeface="Consolas" pitchFamily="34" charset="0"/>
                <a:ea typeface="Consolas" pitchFamily="34" charset="-122"/>
                <a:cs typeface="Consolas" pitchFamily="34" charset="-120"/>
              </a:rPr>
              <a:t>                               # local: exists only in here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n=$(grep -c -- "$1" "$2")</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echo "$1 appears on $n lines of $(basename "$2")"</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is_even() {</a:t>
            </a:r>
            <a:r>
              <a:rPr lang="tr-TR" sz="1000" dirty="0">
                <a:solidFill>
                  <a:srgbClr val="8A9AA0"/>
                </a:solidFill>
                <a:latin typeface="Consolas" pitchFamily="34" charset="0"/>
                <a:ea typeface="Consolas" pitchFamily="34" charset="-122"/>
                <a:cs typeface="Consolas" pitchFamily="34" charset="-120"/>
              </a:rPr>
              <a:t>                               # the exit status is the answer</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 $(( $1 % 2 )) -eq 0 ]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line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count_word ERROR ~/lab/logs/system.log</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count_word WARN  ~/lab/logs/system.log</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line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for k in 7 12; do</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if is_even "$k"; then echo "$k is even"; else echo "$k is odd"; fi</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done</a:t>
            </a:r>
            <a:endParaRPr lang="tr-TR" sz="1000" dirty="0"/>
          </a:p>
        </p:txBody>
      </p:sp>
      <p:sp>
        <p:nvSpPr>
          <p:cNvPr id="8" name="Shape 6"/>
          <p:cNvSpPr/>
          <p:nvPr/>
        </p:nvSpPr>
        <p:spPr>
          <a:xfrm>
            <a:off x="6949440" y="1508760"/>
            <a:ext cx="4709160" cy="2011680"/>
          </a:xfrm>
          <a:prstGeom prst="roundRect">
            <a:avLst>
              <a:gd name="adj" fmla="val 2273"/>
            </a:avLst>
          </a:prstGeom>
          <a:solidFill>
            <a:srgbClr val="212121"/>
          </a:solidFill>
          <a:ln/>
        </p:spPr>
      </p:sp>
      <p:sp>
        <p:nvSpPr>
          <p:cNvPr id="9" name="Text 7"/>
          <p:cNvSpPr txBox="1"/>
          <p:nvPr/>
        </p:nvSpPr>
        <p:spPr>
          <a:xfrm>
            <a:off x="7132320" y="1618488"/>
            <a:ext cx="4343400" cy="17922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student@okan-lab:~/lab/scripts$ </a:t>
            </a:r>
            <a:r>
              <a:rPr lang="tr-TR" sz="1150" b="1" dirty="0">
                <a:solidFill>
                  <a:srgbClr val="FFFFFF"/>
                </a:solidFill>
                <a:latin typeface="Consolas" pitchFamily="34" charset="0"/>
                <a:ea typeface="Consolas" pitchFamily="34" charset="-122"/>
                <a:cs typeface="Consolas" pitchFamily="34" charset="-120"/>
              </a:rPr>
              <a:t>./functions.sh</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ERROR appears on 13 lines of system.log</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WARN appears on 28 lines of system.log</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7 is odd</a:t>
            </a:r>
            <a:endParaRPr lang="tr-TR" sz="1150" dirty="0"/>
          </a:p>
          <a:p>
            <a:pPr indent="0" marL="0">
              <a:lnSpc>
                <a:spcPct val="100000"/>
              </a:lnSpc>
              <a:buNone/>
            </a:pPr>
            <a:r>
              <a:rPr lang="tr-TR" sz="1150" dirty="0">
                <a:solidFill>
                  <a:srgbClr val="C9D1D3"/>
                </a:solidFill>
                <a:latin typeface="Consolas" pitchFamily="34" charset="0"/>
                <a:ea typeface="Consolas" pitchFamily="34" charset="-122"/>
                <a:cs typeface="Consolas" pitchFamily="34" charset="-120"/>
              </a:rPr>
              <a:t>12 is even</a:t>
            </a:r>
            <a:endParaRPr lang="tr-TR" sz="1150" dirty="0"/>
          </a:p>
        </p:txBody>
      </p:sp>
      <p:sp>
        <p:nvSpPr>
          <p:cNvPr id="10" name="Shape 8"/>
          <p:cNvSpPr/>
          <p:nvPr/>
        </p:nvSpPr>
        <p:spPr>
          <a:xfrm>
            <a:off x="6949440" y="3703320"/>
            <a:ext cx="470916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178040" y="3886200"/>
            <a:ext cx="4251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Nasıl çalışırlar?</a:t>
            </a:r>
            <a:endParaRPr lang="tr-TR" sz="1500" dirty="0"/>
          </a:p>
        </p:txBody>
      </p:sp>
      <p:sp>
        <p:nvSpPr>
          <p:cNvPr id="12" name="Text 10"/>
          <p:cNvSpPr txBox="1"/>
          <p:nvPr/>
        </p:nvSpPr>
        <p:spPr>
          <a:xfrm>
            <a:off x="7178040" y="4343400"/>
            <a:ext cx="4251960" cy="17830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Kullanmadan önce tanımlayın: ad() { … }</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Bir komut gibi çağırın: count_word WARN file. İçeride $1 $2 fonksiyonun kendi argümanlarıdır.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local bir değişkeni fonksiyona özel tutar. Son komutun çıkış durumu fonksiyonun yanıtıdır.</a:t>
            </a:r>
            <a:endParaRPr lang="tr-TR"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 TABLO</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Bakışta Denetim Yapıları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29</a:t>
            </a:r>
            <a:endParaRPr lang="tr-TR"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920240"/>
                <a:gridCol w="7498080"/>
                <a:gridCol w="1691640"/>
              </a:tblGrid>
              <a:tr h="0">
                <a:tc>
                  <a:txBody>
                    <a:bodyPr/>
                    <a:lstStyle/>
                    <a:p>
                      <a:pPr indent="0" marL="0">
                        <a:buNone/>
                      </a:pPr>
                      <a:r>
                        <a:rPr lang="tr-TR" sz="1750" b="1" dirty="0">
                          <a:solidFill>
                            <a:srgbClr val="FFFFFF"/>
                          </a:solidFill>
                          <a:latin typeface="Cambria" pitchFamily="34" charset="0"/>
                          <a:ea typeface="Cambria" pitchFamily="34" charset="-122"/>
                          <a:cs typeface="Cambria" pitchFamily="34" charset="-120"/>
                        </a:rPr>
                        <a:t>Yapı</a:t>
                      </a:r>
                      <a:endParaRPr lang="tr-TR"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50" b="1" dirty="0">
                          <a:solidFill>
                            <a:srgbClr val="FFFFFF"/>
                          </a:solidFill>
                          <a:latin typeface="Cambria" pitchFamily="34" charset="0"/>
                          <a:ea typeface="Cambria" pitchFamily="34" charset="-122"/>
                          <a:cs typeface="Cambria" pitchFamily="34" charset="-120"/>
                        </a:rPr>
                        <a:t>Sözdizimi (tek satır)</a:t>
                      </a:r>
                      <a:endParaRPr lang="tr-TR"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50" b="1" dirty="0">
                          <a:solidFill>
                            <a:srgbClr val="FFFFFF"/>
                          </a:solidFill>
                          <a:latin typeface="Cambria" pitchFamily="34" charset="0"/>
                          <a:ea typeface="Cambria" pitchFamily="34" charset="-122"/>
                          <a:cs typeface="Cambria" pitchFamily="34" charset="-120"/>
                        </a:rPr>
                        <a:t>Bitiş</a:t>
                      </a:r>
                      <a:endParaRPr lang="tr-TR"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if</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if [ "$n" -gt 0 ]; then …; elif …; then …; else …; fi</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fi</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for (liste)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for f in *.txt; do echo "$f"; 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for (aralık)</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for i in {1..5}; do echo "$i"; 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while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while [ "$n" -gt 0 ]; do n=$((n - 1)); 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dosya okuma</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while read -r line; do …; done &lt; file.txt</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done</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fonksiyon</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name() { local x=$1; echo "$x"; }</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50" b="1" dirty="0">
                          <a:solidFill>
                            <a:srgbClr val="3A464C"/>
                          </a:solidFill>
                          <a:latin typeface="Calibri" pitchFamily="34" charset="0"/>
                          <a:ea typeface="Calibri" pitchFamily="34" charset="-122"/>
                          <a:cs typeface="Calibri" pitchFamily="34" charset="-120"/>
                        </a:rPr>
                        <a:t>ve / veya</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mkdir -p dir &amp;&amp; echo ok;   [ -f f ] || exit 1</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50" dirty="0">
                          <a:solidFill>
                            <a:srgbClr val="3A464C"/>
                          </a:solidFill>
                          <a:latin typeface="Calibri" pitchFamily="34" charset="0"/>
                          <a:ea typeface="Calibri" pitchFamily="34" charset="-122"/>
                          <a:cs typeface="Calibri" pitchFamily="34" charset="-120"/>
                        </a:rPr>
                        <a:t>—</a:t>
                      </a:r>
                      <a:endParaRPr lang="tr-TR"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5</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İki Gerçek Otomasyon Betiği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~/lab/scripts içinde backup.sh ve report.sh</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30</a:t>
            </a:r>
            <a:endParaRPr lang="tr-TR"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OTOMASYON 1</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backup.sh: docs/ Klasörünün Zaman Damgalı Arşivi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31</a:t>
            </a:r>
            <a:endParaRPr lang="tr-TR" sz="900" dirty="0"/>
          </a:p>
        </p:txBody>
      </p:sp>
      <p:sp>
        <p:nvSpPr>
          <p:cNvPr id="6" name="Shape 4"/>
          <p:cNvSpPr/>
          <p:nvPr/>
        </p:nvSpPr>
        <p:spPr>
          <a:xfrm>
            <a:off x="548640" y="1508760"/>
            <a:ext cx="7223760" cy="4754880"/>
          </a:xfrm>
          <a:prstGeom prst="roundRect">
            <a:avLst>
              <a:gd name="adj" fmla="val 962"/>
            </a:avLst>
          </a:prstGeom>
          <a:solidFill>
            <a:srgbClr val="212121"/>
          </a:solidFill>
          <a:ln/>
        </p:spPr>
      </p:sp>
      <p:sp>
        <p:nvSpPr>
          <p:cNvPr id="7" name="Text 5"/>
          <p:cNvSpPr txBox="1"/>
          <p:nvPr/>
        </p:nvSpPr>
        <p:spPr>
          <a:xfrm>
            <a:off x="731520" y="1618488"/>
            <a:ext cx="6858000" cy="4535424"/>
          </a:xfrm>
          <a:prstGeom prst="rect">
            <a:avLst/>
          </a:prstGeom>
          <a:noFill/>
          <a:ln/>
        </p:spPr>
        <p:txBody>
          <a:bodyPr wrap="square" lIns="0" tIns="0" rIns="0" bIns="0" rtlCol="0" anchor="t"/>
          <a:lstStyle/>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lab="$HOME/lab"</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src="docs"</a:t>
            </a:r>
            <a:r>
              <a:rPr lang="tr-TR" sz="1150" dirty="0">
                <a:solidFill>
                  <a:srgbClr val="8A9AA0"/>
                </a:solidFill>
                <a:latin typeface="Consolas" pitchFamily="34" charset="0"/>
                <a:ea typeface="Consolas" pitchFamily="34" charset="-122"/>
                <a:cs typeface="Consolas" pitchFamily="34" charset="-120"/>
              </a:rPr>
              <a:t>                                  # folder to save (inside $lab)</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dest="$lab/backup"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stamp=$(date +%Y%m%d_%H%M%S)</a:t>
            </a:r>
            <a:r>
              <a:rPr lang="tr-TR" sz="1150" dirty="0">
                <a:solidFill>
                  <a:srgbClr val="8A9AA0"/>
                </a:solidFill>
                <a:latin typeface="Consolas" pitchFamily="34" charset="0"/>
                <a:ea typeface="Consolas" pitchFamily="34" charset="-122"/>
                <a:cs typeface="Consolas" pitchFamily="34" charset="-120"/>
              </a:rPr>
              <a:t>                # e.g. 20261012_143005</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archive="$dest/docs_$stamp.tar.gz"</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if [ ! -d "$lab/$src" ]; then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"Error: $lab/$src not found" &gt;&amp;2</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exit 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fi</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mkdir -p "$dest"</a:t>
            </a:r>
            <a:r>
              <a:rPr lang="tr-TR" sz="1150" dirty="0">
                <a:solidFill>
                  <a:srgbClr val="8A9AA0"/>
                </a:solidFill>
                <a:latin typeface="Consolas" pitchFamily="34" charset="0"/>
                <a:ea typeface="Consolas" pitchFamily="34" charset="-122"/>
                <a:cs typeface="Consolas" pitchFamily="34" charset="-120"/>
              </a:rPr>
              <a:t>                            # no error if it exists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if tar -czf "$archive" -C "$lab" "$src"; then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n=$(tar -tzf "$archive" | grep -vc '/$')</a:t>
            </a:r>
            <a:r>
              <a:rPr lang="tr-TR" sz="1150" dirty="0">
                <a:solidFill>
                  <a:srgbClr val="8A9AA0"/>
                </a:solidFill>
                <a:latin typeface="Consolas" pitchFamily="34" charset="0"/>
                <a:ea typeface="Consolas" pitchFamily="34" charset="-122"/>
                <a:cs typeface="Consolas" pitchFamily="34" charset="-120"/>
              </a:rPr>
              <a:t>    # count files, not folders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"Backup created: $archive"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"Files: $n, size: $(du -h "$archive" | cut -f1)"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else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echo "Error: tar failed" &gt;&amp;2</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exit 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fi</a:t>
            </a:r>
            <a:endParaRPr lang="tr-TR" sz="1150" dirty="0"/>
          </a:p>
        </p:txBody>
      </p:sp>
      <p:sp>
        <p:nvSpPr>
          <p:cNvPr id="8" name="Shape 6"/>
          <p:cNvSpPr/>
          <p:nvPr/>
        </p:nvSpPr>
        <p:spPr>
          <a:xfrm>
            <a:off x="8001000" y="1508760"/>
            <a:ext cx="3657600" cy="475488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229600" y="16916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Satır satır</a:t>
            </a:r>
            <a:endParaRPr lang="tr-TR" sz="1500" dirty="0"/>
          </a:p>
        </p:txBody>
      </p:sp>
      <p:sp>
        <p:nvSpPr>
          <p:cNvPr id="10" name="Text 8"/>
          <p:cNvSpPr txBox="1"/>
          <p:nvPr/>
        </p:nvSpPr>
        <p:spPr>
          <a:xfrm>
            <a:off x="8229600" y="2148840"/>
            <a:ext cx="320040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date +%Y%m%d_%H%M%S</a:t>
            </a:r>
            <a:r>
              <a:rPr lang="tr-TR" sz="1300" dirty="0">
                <a:solidFill>
                  <a:srgbClr val="3A464C"/>
                </a:solidFill>
                <a:latin typeface="Calibri" pitchFamily="34" charset="0"/>
                <a:ea typeface="Calibri" pitchFamily="34" charset="-122"/>
                <a:cs typeface="Calibri" pitchFamily="34" charset="-120"/>
              </a:rPr>
              <a:t> benzersiz ve sıralanabilir bir ad verir.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 ! -d … ]:</a:t>
            </a:r>
            <a:r>
              <a:rPr lang="tr-TR" sz="1300" dirty="0">
                <a:solidFill>
                  <a:srgbClr val="3A464C"/>
                </a:solidFill>
                <a:latin typeface="Calibri" pitchFamily="34" charset="0"/>
                <a:ea typeface="Calibri" pitchFamily="34" charset="-122"/>
                <a:cs typeface="Calibri" pitchFamily="34" charset="-120"/>
              </a:rPr>
              <a:t> kaynak yoksa erkenden durur.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tar -czf A -C dir docs:</a:t>
            </a:r>
            <a:r>
              <a:rPr lang="tr-TR" sz="1300" dirty="0">
                <a:solidFill>
                  <a:srgbClr val="3A464C"/>
                </a:solidFill>
                <a:latin typeface="Calibri" pitchFamily="34" charset="0"/>
                <a:ea typeface="Calibri" pitchFamily="34" charset="-122"/>
                <a:cs typeface="Calibri" pitchFamily="34" charset="-120"/>
              </a:rPr>
              <a:t> gzip ile sıkıştırılmış (z) bir arşiv dosyası (f) oluşturur (c); -C = önce ~/lab'a geç, böylece yollar docs/ ile başlar.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if tar …:</a:t>
            </a:r>
            <a:r>
              <a:rPr lang="tr-TR" sz="1300" dirty="0">
                <a:solidFill>
                  <a:srgbClr val="3A464C"/>
                </a:solidFill>
                <a:latin typeface="Calibri" pitchFamily="34" charset="0"/>
                <a:ea typeface="Calibri" pitchFamily="34" charset="-122"/>
                <a:cs typeface="Calibri" pitchFamily="34" charset="-120"/>
              </a:rPr>
              <a:t> tar'ın kendi çıkış durumunu test eder.</a:t>
            </a:r>
            <a:endParaRPr lang="tr-TR"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backup.sh İş Başında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32</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./backup.sh</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Backup created: /home/student/lab/backup/docs_20261012_085013.tar.gz</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Files: 7, size: 4.0K</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ls -l ../backup</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total 4</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-rw-rw-r-- 1 student student 862 Oct 12 08:50 docs_20261012_085013.tar.gz</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tar -tzf ../backup/docs_*.tar.gz</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docs/notes_02.txt</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docs/syllabus.txt</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docs/.settings</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docs/notes_01.txt</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docs/notes_03.txt</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docs/linux_quotes.txt</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docs/final report.txt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./backup.sh</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Backup created: /home/student/lab/backup/docs_20261012_085015.tar.gz</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Files: 7, size: 4.0K</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student@okan-lab:~/lab/scripts$ </a:t>
            </a:r>
            <a:r>
              <a:rPr lang="tr-TR" sz="1100" b="1" dirty="0">
                <a:solidFill>
                  <a:srgbClr val="FFFFFF"/>
                </a:solidFill>
                <a:latin typeface="Consolas" pitchFamily="34" charset="0"/>
                <a:ea typeface="Consolas" pitchFamily="34" charset="-122"/>
                <a:cs typeface="Consolas" pitchFamily="34" charset="-120"/>
              </a:rPr>
              <a:t>ls ../backup</a:t>
            </a:r>
            <a:endParaRPr lang="tr-TR" sz="1100" dirty="0"/>
          </a:p>
          <a:p>
            <a:pPr indent="0" marL="0">
              <a:lnSpc>
                <a:spcPct val="100000"/>
              </a:lnSpc>
              <a:buNone/>
            </a:pPr>
            <a:r>
              <a:rPr lang="tr-TR" sz="1100" dirty="0">
                <a:solidFill>
                  <a:srgbClr val="C9D1D3"/>
                </a:solidFill>
                <a:latin typeface="Consolas" pitchFamily="34" charset="0"/>
                <a:ea typeface="Consolas" pitchFamily="34" charset="-122"/>
                <a:cs typeface="Consolas" pitchFamily="34" charset="-120"/>
              </a:rPr>
              <a:t>docs_20261012_085013.tar.gz  docs_20261012_085015.tar.gz</a:t>
            </a:r>
            <a:endParaRPr lang="tr-TR" sz="11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Her çalıştırma yeni bir dosya oluşturur: zaman damgası adın parçasıdır, hiçbir şeyin üzerine yazılmaz.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Files: 7 — altı görünür belge ve gizli .settings (tar gizli dosyaları da alır).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"final report.txt" doğru arşivlenir: betik her değişkeni tırnaklar.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Tarih yıl önce yazıldığı için adlar zamana göre sıralanır.</a:t>
            </a:r>
            <a:endParaRPr lang="tr-TR"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OTOMASYON 2</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report.sh: Bir Günlük Dosyasını ve CSV'yi Özetlemek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33</a:t>
            </a:r>
            <a:endParaRPr lang="tr-TR" sz="900" dirty="0"/>
          </a:p>
        </p:txBody>
      </p:sp>
      <p:sp>
        <p:nvSpPr>
          <p:cNvPr id="6" name="Shape 4"/>
          <p:cNvSpPr/>
          <p:nvPr/>
        </p:nvSpPr>
        <p:spPr>
          <a:xfrm>
            <a:off x="548640" y="1508760"/>
            <a:ext cx="11109960" cy="4754880"/>
          </a:xfrm>
          <a:prstGeom prst="roundRect">
            <a:avLst>
              <a:gd name="adj" fmla="val 962"/>
            </a:avLst>
          </a:prstGeom>
          <a:solidFill>
            <a:srgbClr val="212121"/>
          </a:solidFill>
          <a:ln/>
        </p:spPr>
      </p:sp>
      <p:sp>
        <p:nvSpPr>
          <p:cNvPr id="7" name="Text 5"/>
          <p:cNvSpPr txBox="1"/>
          <p:nvPr/>
        </p:nvSpPr>
        <p:spPr>
          <a:xfrm>
            <a:off x="731520" y="1618488"/>
            <a:ext cx="10744200" cy="4535424"/>
          </a:xfrm>
          <a:prstGeom prst="rect">
            <a:avLst/>
          </a:prstGeom>
          <a:noFill/>
          <a:ln/>
        </p:spPr>
        <p:txBody>
          <a:bodyPr wrap="square" lIns="0" tIns="0" rIns="0" bIns="0" rtlCol="0" anchor="t"/>
          <a:lstStyle/>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log="$HOME/lab/logs/access.log"</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csv="$HOME/lab/data/students.csv"</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for f in "$log" "$csv"; do</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if [ ! -r "$f" ]; then echo "Error: cannot read $f" &gt;&amp;2; exit 1; fi</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done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 Lab report, $(date '+%Y-%m-%d %H:%M')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 Web server: $(basename "$log")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total=$(wc -l &lt; "$log")</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errors=$(awk '$9 &gt;= 400' "$log" | wc -l)</a:t>
            </a:r>
            <a:r>
              <a:rPr lang="tr-TR" sz="1200" dirty="0">
                <a:solidFill>
                  <a:srgbClr val="8A9AA0"/>
                </a:solidFill>
                <a:latin typeface="Consolas" pitchFamily="34" charset="0"/>
                <a:ea typeface="Consolas" pitchFamily="34" charset="-122"/>
                <a:cs typeface="Consolas" pitchFamily="34" charset="-120"/>
              </a:rPr>
              <a:t>    # field 9 = status code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"Requests: $total, errors (4xx/5xx): $errors ($((100 * errors / total))%)"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"Top 3 pages:"</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awk '{print $7}' "$log" | sort | uniq -c | sort -rn | head -3</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 Students: $(basename "$csv")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"Students: $(tail -n +2 "$csv" | wc -l)"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"Per department:"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tail -n +2 "$csv" | cut -d, -f3 | sort | uniq -c</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awk -F, 'NR &gt; 1 { m += $4; f += $5; n++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END { printf "Average midterm %.1f, average final %.1f\n", m/n, f/n }' "$csv"</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passed=$(awk -F, 'NR &gt; 1 &amp;&amp; 0.4*$4 + 0.6*$5 &gt;= 50' "$csv" | wc -l)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echo "Passed (0.4 x midterm + 0.6 x final &gt;= 50): $passed"</a:t>
            </a:r>
            <a:endParaRPr lang="tr-TR"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report.sh: Gerçek Çıktı, Sağlanmış</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34</a:t>
            </a:r>
            <a:endParaRPr lang="tr-TR" sz="900" dirty="0"/>
          </a:p>
        </p:txBody>
      </p:sp>
      <p:sp>
        <p:nvSpPr>
          <p:cNvPr id="6" name="Shape 4"/>
          <p:cNvSpPr/>
          <p:nvPr/>
        </p:nvSpPr>
        <p:spPr>
          <a:xfrm>
            <a:off x="548640" y="1508760"/>
            <a:ext cx="6675120" cy="4754880"/>
          </a:xfrm>
          <a:prstGeom prst="roundRect">
            <a:avLst>
              <a:gd name="adj" fmla="val 962"/>
            </a:avLst>
          </a:prstGeom>
          <a:solidFill>
            <a:srgbClr val="212121"/>
          </a:solidFill>
          <a:ln/>
        </p:spPr>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student@okan-lab:~/lab/scripts$ </a:t>
            </a:r>
            <a:r>
              <a:rPr lang="tr-TR" sz="1300" b="1" dirty="0">
                <a:solidFill>
                  <a:srgbClr val="FFFFFF"/>
                </a:solidFill>
                <a:latin typeface="Consolas" pitchFamily="34" charset="0"/>
                <a:ea typeface="Consolas" pitchFamily="34" charset="-122"/>
                <a:cs typeface="Consolas" pitchFamily="34" charset="-120"/>
              </a:rPr>
              <a:t>./report.sh</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Lab report, 2026-10-12 08:50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Web server: access.log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Requests: 300, errors (4xx/5xx): 98 (32%)</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Top 3 pages:</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41 /courses/mcmp117</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37 /about.html</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33 /index.html</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Students: students.csv ---</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Students: 40</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Per department: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10 CS</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17 ECT</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2 EE</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     11 ME</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Average midterm 67.0, average final 65.6</a:t>
            </a:r>
            <a:endParaRPr lang="tr-TR" sz="1300" dirty="0"/>
          </a:p>
          <a:p>
            <a:pPr indent="0" marL="0">
              <a:lnSpc>
                <a:spcPct val="100000"/>
              </a:lnSpc>
              <a:buNone/>
            </a:pPr>
            <a:r>
              <a:rPr lang="tr-TR" sz="1300" dirty="0">
                <a:solidFill>
                  <a:srgbClr val="C9D1D3"/>
                </a:solidFill>
                <a:latin typeface="Consolas" pitchFamily="34" charset="0"/>
                <a:ea typeface="Consolas" pitchFamily="34" charset="-122"/>
                <a:cs typeface="Consolas" pitchFamily="34" charset="-120"/>
              </a:rPr>
              <a:t>Passed (0.4 x midterm + 0.6 x final &gt;= 50): 35</a:t>
            </a:r>
            <a:endParaRPr lang="tr-TR" sz="1300" dirty="0"/>
          </a:p>
        </p:txBody>
      </p:sp>
      <p:sp>
        <p:nvSpPr>
          <p:cNvPr id="8" name="Shape 6"/>
          <p:cNvSpPr/>
          <p:nvPr/>
        </p:nvSpPr>
        <p:spPr>
          <a:xfrm>
            <a:off x="745236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Sayılar doğrulandı (Python)</a:t>
            </a:r>
            <a:endParaRPr lang="tr-TR" sz="1500" dirty="0"/>
          </a:p>
        </p:txBody>
      </p:sp>
      <p:sp>
        <p:nvSpPr>
          <p:cNvPr id="10" name="Text 8"/>
          <p:cNvSpPr txBox="1"/>
          <p:nvPr/>
        </p:nvSpPr>
        <p:spPr>
          <a:xfrm>
            <a:off x="768096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Hatalar:</a:t>
            </a:r>
            <a:r>
              <a:rPr lang="tr-TR" sz="1300" dirty="0">
                <a:solidFill>
                  <a:srgbClr val="3A464C"/>
                </a:solidFill>
                <a:latin typeface="Calibri" pitchFamily="34" charset="0"/>
                <a:ea typeface="Calibri" pitchFamily="34" charset="-122"/>
                <a:cs typeface="Calibri" pitchFamily="34" charset="-120"/>
              </a:rPr>
              <a:t> 300 isteğin 98'inin durum kodu ≥ 400; 100·98/300 = 32,67, bash tamsayı aritmetiği 32 yazar.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Eşitlik:</a:t>
            </a:r>
            <a:r>
              <a:rPr lang="tr-TR" sz="1300" dirty="0">
                <a:solidFill>
                  <a:srgbClr val="3A464C"/>
                </a:solidFill>
                <a:latin typeface="Calibri" pitchFamily="34" charset="0"/>
                <a:ea typeface="Calibri" pitchFamily="34" charset="-122"/>
                <a:cs typeface="Calibri" pitchFamily="34" charset="-120"/>
              </a:rPr>
              <a:t> /index.html ve /images/logo.png 33'er istek aldı; sırayı sort belirler.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Bölümler:</a:t>
            </a:r>
            <a:r>
              <a:rPr lang="tr-TR" sz="1300" dirty="0">
                <a:solidFill>
                  <a:srgbClr val="3A464C"/>
                </a:solidFill>
                <a:latin typeface="Calibri" pitchFamily="34" charset="0"/>
                <a:ea typeface="Calibri" pitchFamily="34" charset="-122"/>
                <a:cs typeface="Calibri" pitchFamily="34" charset="-120"/>
              </a:rPr>
              <a:t> 17 + 11 + 10 + 2 = 40.</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Ortalamalar:</a:t>
            </a:r>
            <a:r>
              <a:rPr lang="tr-TR" sz="1300" dirty="0">
                <a:solidFill>
                  <a:srgbClr val="3A464C"/>
                </a:solidFill>
                <a:latin typeface="Calibri" pitchFamily="34" charset="0"/>
                <a:ea typeface="Calibri" pitchFamily="34" charset="-122"/>
                <a:cs typeface="Calibri" pitchFamily="34" charset="-120"/>
              </a:rPr>
              <a:t> vize 66,95 → 67.0 yazılır; final 65,6.</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Geçenler:</a:t>
            </a:r>
            <a:r>
              <a:rPr lang="tr-TR" sz="1300" dirty="0">
                <a:solidFill>
                  <a:srgbClr val="3A464C"/>
                </a:solidFill>
                <a:latin typeface="Calibri" pitchFamily="34" charset="0"/>
                <a:ea typeface="Calibri" pitchFamily="34" charset="-122"/>
                <a:cs typeface="Calibri" pitchFamily="34" charset="-120"/>
              </a:rPr>
              <a:t> 40 öğrencinin 35'i için 0,4m + 0,6f ≥ 50.</a:t>
            </a:r>
            <a:endParaRPr lang="tr-TR"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Yapacağınız Hatalar (Herkes Yapar)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35</a:t>
            </a:r>
            <a:endParaRPr lang="tr-TR" sz="900" dirty="0"/>
          </a:p>
        </p:txBody>
      </p:sp>
      <p:sp>
        <p:nvSpPr>
          <p:cNvPr id="6" name="Text 4"/>
          <p:cNvSpPr txBox="1"/>
          <p:nvPr/>
        </p:nvSpPr>
        <p:spPr>
          <a:xfrm>
            <a:off x="548640" y="1508760"/>
            <a:ext cx="3566160" cy="292608"/>
          </a:xfrm>
          <a:prstGeom prst="rect">
            <a:avLst/>
          </a:prstGeom>
          <a:noFill/>
          <a:ln/>
        </p:spPr>
        <p:txBody>
          <a:bodyPr wrap="square" lIns="0" tIns="0" rIns="0" bIns="0" rtlCol="0" anchor="t"/>
          <a:lstStyle/>
          <a:p>
            <a:pPr indent="0" marL="0">
              <a:buNone/>
            </a:pPr>
            <a:r>
              <a:rPr lang="tr-TR" sz="1250" b="1" dirty="0">
                <a:solidFill>
                  <a:srgbClr val="B5453A"/>
                </a:solidFill>
                <a:latin typeface="Calibri" pitchFamily="34" charset="0"/>
                <a:ea typeface="Calibri" pitchFamily="34" charset="-122"/>
                <a:cs typeface="Calibri" pitchFamily="34" charset="-120"/>
              </a:rPr>
              <a:t>= çevresinde boşluk</a:t>
            </a:r>
            <a:endParaRPr lang="tr-TR" sz="1250" dirty="0"/>
          </a:p>
        </p:txBody>
      </p:sp>
      <p:sp>
        <p:nvSpPr>
          <p:cNvPr id="7" name="Shape 5"/>
          <p:cNvSpPr/>
          <p:nvPr/>
        </p:nvSpPr>
        <p:spPr>
          <a:xfrm>
            <a:off x="548640" y="1874520"/>
            <a:ext cx="3566160" cy="2514600"/>
          </a:xfrm>
          <a:prstGeom prst="roundRect">
            <a:avLst>
              <a:gd name="adj" fmla="val 1818"/>
            </a:avLst>
          </a:prstGeom>
          <a:solidFill>
            <a:srgbClr val="212121"/>
          </a:solidFill>
          <a:ln/>
        </p:spPr>
      </p:sp>
      <p:sp>
        <p:nvSpPr>
          <p:cNvPr id="8" name="Text 6"/>
          <p:cNvSpPr txBox="1"/>
          <p:nvPr/>
        </p:nvSpPr>
        <p:spPr>
          <a:xfrm>
            <a:off x="685800" y="1993392"/>
            <a:ext cx="3291840" cy="2331720"/>
          </a:xfrm>
          <a:prstGeom prst="rect">
            <a:avLst/>
          </a:prstGeom>
          <a:noFill/>
          <a:ln/>
        </p:spPr>
        <p:txBody>
          <a:bodyPr wrap="square" lIns="0" tIns="0" rIns="0" bIns="0" rtlCol="0" anchor="t"/>
          <a:lstStyle/>
          <a:p>
            <a:pPr indent="0" marL="0">
              <a:buNone/>
            </a:pPr>
            <a:r>
              <a:rPr lang="tr-TR" sz="1150" dirty="0">
                <a:solidFill>
                  <a:srgbClr val="F2F2F2"/>
                </a:solidFill>
                <a:latin typeface="Consolas" pitchFamily="34" charset="0"/>
                <a:ea typeface="Consolas" pitchFamily="34" charset="-122"/>
                <a:cs typeface="Consolas" pitchFamily="34" charset="-120"/>
              </a:rPr>
              <a:t>name = "Ayse"</a:t>
            </a:r>
            <a:endParaRPr lang="tr-TR" sz="1150" dirty="0"/>
          </a:p>
          <a:p>
            <a:pPr indent="0" marL="0">
              <a:buNone/>
            </a:pPr>
            <a:r>
              <a:rPr lang="tr-TR" sz="1150" dirty="0">
                <a:solidFill>
                  <a:srgbClr val="F2F2F2"/>
                </a:solidFill>
                <a:latin typeface="Consolas" pitchFamily="34" charset="0"/>
                <a:ea typeface="Consolas" pitchFamily="34" charset="-122"/>
                <a:cs typeface="Consolas" pitchFamily="34" charset="-120"/>
              </a:rPr>
              <a:t>echo "Hello $name"</a:t>
            </a:r>
            <a:endParaRPr lang="tr-TR" sz="1150" dirty="0"/>
          </a:p>
          <a:p>
            <a:pPr indent="0" marL="0">
              <a:buNone/>
            </a:pPr>
            <a:r>
              <a:rPr lang="tr-TR" sz="1150" dirty="0">
                <a:solidFill>
                  <a:srgbClr val="02C39A"/>
                </a:solidFill>
                <a:latin typeface="Consolas" pitchFamily="34" charset="0"/>
                <a:ea typeface="Consolas" pitchFamily="34" charset="-122"/>
                <a:cs typeface="Consolas" pitchFamily="34" charset="-120"/>
              </a:rPr>
              <a:t>$ ./bad_space.sh</a:t>
            </a:r>
            <a:endParaRPr lang="tr-TR" sz="1150" dirty="0"/>
          </a:p>
          <a:p>
            <a:pPr indent="0" marL="0">
              <a:buNone/>
            </a:pPr>
            <a:r>
              <a:rPr lang="tr-TR" sz="1150" dirty="0">
                <a:solidFill>
                  <a:srgbClr val="F2A49A"/>
                </a:solidFill>
                <a:latin typeface="Consolas" pitchFamily="34" charset="0"/>
                <a:ea typeface="Consolas" pitchFamily="34" charset="-122"/>
                <a:cs typeface="Consolas" pitchFamily="34" charset="-120"/>
              </a:rPr>
              <a:t>./bad_space.sh: line 2: name: command not found</a:t>
            </a:r>
            <a:endParaRPr lang="tr-TR" sz="1150" dirty="0"/>
          </a:p>
          <a:p>
            <a:pPr indent="0" marL="0">
              <a:buNone/>
            </a:pPr>
            <a:r>
              <a:rPr lang="tr-TR" sz="1150" dirty="0">
                <a:solidFill>
                  <a:srgbClr val="F2F2F2"/>
                </a:solidFill>
                <a:latin typeface="Consolas" pitchFamily="34" charset="0"/>
                <a:ea typeface="Consolas" pitchFamily="34" charset="-122"/>
                <a:cs typeface="Consolas" pitchFamily="34" charset="-120"/>
              </a:rPr>
              <a:t>Hello </a:t>
            </a:r>
            <a:endParaRPr lang="tr-TR" sz="1150" dirty="0"/>
          </a:p>
        </p:txBody>
      </p:sp>
      <p:sp>
        <p:nvSpPr>
          <p:cNvPr id="9" name="Shape 7"/>
          <p:cNvSpPr/>
          <p:nvPr/>
        </p:nvSpPr>
        <p:spPr>
          <a:xfrm>
            <a:off x="548640" y="4572000"/>
            <a:ext cx="3566160" cy="594360"/>
          </a:xfrm>
          <a:prstGeom prst="roundRect">
            <a:avLst>
              <a:gd name="adj" fmla="val 7692"/>
            </a:avLst>
          </a:prstGeom>
          <a:solidFill>
            <a:srgbClr val="D7E9E6"/>
          </a:solidFill>
          <a:ln/>
        </p:spPr>
      </p:sp>
      <p:sp>
        <p:nvSpPr>
          <p:cNvPr id="10" name="Text 8"/>
          <p:cNvSpPr txBox="1"/>
          <p:nvPr/>
        </p:nvSpPr>
        <p:spPr>
          <a:xfrm>
            <a:off x="548640" y="4572000"/>
            <a:ext cx="3566160" cy="594360"/>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Düzeltme: name="Ayse"</a:t>
            </a:r>
            <a:endParaRPr lang="tr-TR" sz="1200" dirty="0"/>
          </a:p>
        </p:txBody>
      </p:sp>
      <p:sp>
        <p:nvSpPr>
          <p:cNvPr id="11" name="Text 9"/>
          <p:cNvSpPr txBox="1"/>
          <p:nvPr/>
        </p:nvSpPr>
        <p:spPr>
          <a:xfrm>
            <a:off x="4320540" y="1508760"/>
            <a:ext cx="3566160" cy="292608"/>
          </a:xfrm>
          <a:prstGeom prst="rect">
            <a:avLst/>
          </a:prstGeom>
          <a:noFill/>
          <a:ln/>
        </p:spPr>
        <p:txBody>
          <a:bodyPr wrap="square" lIns="0" tIns="0" rIns="0" bIns="0" rtlCol="0" anchor="t"/>
          <a:lstStyle/>
          <a:p>
            <a:pPr indent="0" marL="0">
              <a:buNone/>
            </a:pPr>
            <a:r>
              <a:rPr lang="tr-TR" sz="1250" b="1" dirty="0">
                <a:solidFill>
                  <a:srgbClr val="B5453A"/>
                </a:solidFill>
                <a:latin typeface="Calibri" pitchFamily="34" charset="0"/>
                <a:ea typeface="Calibri" pitchFamily="34" charset="-122"/>
                <a:cs typeface="Calibri" pitchFamily="34" charset="-120"/>
              </a:rPr>
              <a:t>[ ] içinde boşluk yok</a:t>
            </a:r>
            <a:endParaRPr lang="tr-TR" sz="1250" dirty="0"/>
          </a:p>
        </p:txBody>
      </p:sp>
      <p:sp>
        <p:nvSpPr>
          <p:cNvPr id="12" name="Shape 10"/>
          <p:cNvSpPr/>
          <p:nvPr/>
        </p:nvSpPr>
        <p:spPr>
          <a:xfrm>
            <a:off x="4320540" y="1874520"/>
            <a:ext cx="3566160" cy="2514600"/>
          </a:xfrm>
          <a:prstGeom prst="roundRect">
            <a:avLst>
              <a:gd name="adj" fmla="val 1818"/>
            </a:avLst>
          </a:prstGeom>
          <a:solidFill>
            <a:srgbClr val="212121"/>
          </a:solidFill>
          <a:ln/>
        </p:spPr>
      </p:sp>
      <p:sp>
        <p:nvSpPr>
          <p:cNvPr id="13" name="Text 11"/>
          <p:cNvSpPr txBox="1"/>
          <p:nvPr/>
        </p:nvSpPr>
        <p:spPr>
          <a:xfrm>
            <a:off x="4457700" y="1993392"/>
            <a:ext cx="3291840" cy="2331720"/>
          </a:xfrm>
          <a:prstGeom prst="rect">
            <a:avLst/>
          </a:prstGeom>
          <a:noFill/>
          <a:ln/>
        </p:spPr>
        <p:txBody>
          <a:bodyPr wrap="square" lIns="0" tIns="0" rIns="0" bIns="0" rtlCol="0" anchor="t"/>
          <a:lstStyle/>
          <a:p>
            <a:pPr indent="0" marL="0">
              <a:buNone/>
            </a:pPr>
            <a:r>
              <a:rPr lang="tr-TR" sz="1150" dirty="0">
                <a:solidFill>
                  <a:srgbClr val="F2F2F2"/>
                </a:solidFill>
                <a:latin typeface="Consolas" pitchFamily="34" charset="0"/>
                <a:ea typeface="Consolas" pitchFamily="34" charset="-122"/>
                <a:cs typeface="Consolas" pitchFamily="34" charset="-120"/>
              </a:rPr>
              <a:t>n=5</a:t>
            </a:r>
            <a:endParaRPr lang="tr-TR" sz="1150" dirty="0"/>
          </a:p>
          <a:p>
            <a:pPr indent="0" marL="0">
              <a:buNone/>
            </a:pPr>
            <a:r>
              <a:rPr lang="tr-TR" sz="1150" dirty="0">
                <a:solidFill>
                  <a:srgbClr val="F2F2F2"/>
                </a:solidFill>
                <a:latin typeface="Consolas" pitchFamily="34" charset="0"/>
                <a:ea typeface="Consolas" pitchFamily="34" charset="-122"/>
                <a:cs typeface="Consolas" pitchFamily="34" charset="-120"/>
              </a:rPr>
              <a:t>if [$n -gt 3]; then echo "big"; fi</a:t>
            </a:r>
            <a:endParaRPr lang="tr-TR" sz="1150" dirty="0"/>
          </a:p>
          <a:p>
            <a:pPr indent="0" marL="0">
              <a:buNone/>
            </a:pPr>
            <a:r>
              <a:rPr lang="tr-TR" sz="1150" dirty="0">
                <a:solidFill>
                  <a:srgbClr val="02C39A"/>
                </a:solidFill>
                <a:latin typeface="Consolas" pitchFamily="34" charset="0"/>
                <a:ea typeface="Consolas" pitchFamily="34" charset="-122"/>
                <a:cs typeface="Consolas" pitchFamily="34" charset="-120"/>
              </a:rPr>
              <a:t>$ ./bad_test.sh</a:t>
            </a:r>
            <a:endParaRPr lang="tr-TR" sz="1150" dirty="0"/>
          </a:p>
          <a:p>
            <a:pPr indent="0" marL="0">
              <a:buNone/>
            </a:pPr>
            <a:r>
              <a:rPr lang="tr-TR" sz="1150" dirty="0">
                <a:solidFill>
                  <a:srgbClr val="F2A49A"/>
                </a:solidFill>
                <a:latin typeface="Consolas" pitchFamily="34" charset="0"/>
                <a:ea typeface="Consolas" pitchFamily="34" charset="-122"/>
                <a:cs typeface="Consolas" pitchFamily="34" charset="-120"/>
              </a:rPr>
              <a:t>./bad_test.sh: line 3: [5: command not found</a:t>
            </a:r>
            <a:endParaRPr lang="tr-TR" sz="1150" dirty="0"/>
          </a:p>
        </p:txBody>
      </p:sp>
      <p:sp>
        <p:nvSpPr>
          <p:cNvPr id="14" name="Shape 12"/>
          <p:cNvSpPr/>
          <p:nvPr/>
        </p:nvSpPr>
        <p:spPr>
          <a:xfrm>
            <a:off x="4320540" y="4572000"/>
            <a:ext cx="3566160" cy="594360"/>
          </a:xfrm>
          <a:prstGeom prst="roundRect">
            <a:avLst>
              <a:gd name="adj" fmla="val 7692"/>
            </a:avLst>
          </a:prstGeom>
          <a:solidFill>
            <a:srgbClr val="D7E9E6"/>
          </a:solidFill>
          <a:ln/>
        </p:spPr>
      </p:sp>
      <p:sp>
        <p:nvSpPr>
          <p:cNvPr id="15" name="Text 13"/>
          <p:cNvSpPr txBox="1"/>
          <p:nvPr/>
        </p:nvSpPr>
        <p:spPr>
          <a:xfrm>
            <a:off x="4320540" y="4572000"/>
            <a:ext cx="3566160" cy="594360"/>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Düzeltme: if [ "$n" -gt 3 ]; then</a:t>
            </a:r>
            <a:endParaRPr lang="tr-TR" sz="1200" dirty="0"/>
          </a:p>
        </p:txBody>
      </p:sp>
      <p:sp>
        <p:nvSpPr>
          <p:cNvPr id="16" name="Text 14"/>
          <p:cNvSpPr txBox="1"/>
          <p:nvPr/>
        </p:nvSpPr>
        <p:spPr>
          <a:xfrm>
            <a:off x="8092440" y="1508760"/>
            <a:ext cx="3566160" cy="292608"/>
          </a:xfrm>
          <a:prstGeom prst="rect">
            <a:avLst/>
          </a:prstGeom>
          <a:noFill/>
          <a:ln/>
        </p:spPr>
        <p:txBody>
          <a:bodyPr wrap="square" lIns="0" tIns="0" rIns="0" bIns="0" rtlCol="0" anchor="t"/>
          <a:lstStyle/>
          <a:p>
            <a:pPr indent="0" marL="0">
              <a:buNone/>
            </a:pPr>
            <a:r>
              <a:rPr lang="tr-TR" sz="1250" b="1" dirty="0">
                <a:solidFill>
                  <a:srgbClr val="B5453A"/>
                </a:solidFill>
                <a:latin typeface="Calibri" pitchFamily="34" charset="0"/>
                <a:ea typeface="Calibri" pitchFamily="34" charset="-122"/>
                <a:cs typeface="Calibri" pitchFamily="34" charset="-120"/>
              </a:rPr>
              <a:t>Eksik tırnaklar</a:t>
            </a:r>
            <a:endParaRPr lang="tr-TR" sz="1250" dirty="0"/>
          </a:p>
        </p:txBody>
      </p:sp>
      <p:sp>
        <p:nvSpPr>
          <p:cNvPr id="17" name="Shape 15"/>
          <p:cNvSpPr/>
          <p:nvPr/>
        </p:nvSpPr>
        <p:spPr>
          <a:xfrm>
            <a:off x="8092440" y="1874520"/>
            <a:ext cx="3566160" cy="2514600"/>
          </a:xfrm>
          <a:prstGeom prst="roundRect">
            <a:avLst>
              <a:gd name="adj" fmla="val 1818"/>
            </a:avLst>
          </a:prstGeom>
          <a:solidFill>
            <a:srgbClr val="212121"/>
          </a:solidFill>
          <a:ln/>
        </p:spPr>
      </p:sp>
      <p:sp>
        <p:nvSpPr>
          <p:cNvPr id="18" name="Text 16"/>
          <p:cNvSpPr txBox="1"/>
          <p:nvPr/>
        </p:nvSpPr>
        <p:spPr>
          <a:xfrm>
            <a:off x="8229600" y="1993392"/>
            <a:ext cx="3291840" cy="2331720"/>
          </a:xfrm>
          <a:prstGeom prst="rect">
            <a:avLst/>
          </a:prstGeom>
          <a:noFill/>
          <a:ln/>
        </p:spPr>
        <p:txBody>
          <a:bodyPr wrap="square" lIns="0" tIns="0" rIns="0" bIns="0" rtlCol="0" anchor="t"/>
          <a:lstStyle/>
          <a:p>
            <a:pPr indent="0" marL="0">
              <a:buNone/>
            </a:pPr>
            <a:r>
              <a:rPr lang="tr-TR" sz="1150" dirty="0">
                <a:solidFill>
                  <a:srgbClr val="F2F2F2"/>
                </a:solidFill>
                <a:latin typeface="Consolas" pitchFamily="34" charset="0"/>
                <a:ea typeface="Consolas" pitchFamily="34" charset="-122"/>
                <a:cs typeface="Consolas" pitchFamily="34" charset="-120"/>
              </a:rPr>
              <a:t>answer=""</a:t>
            </a:r>
            <a:endParaRPr lang="tr-TR" sz="1150" dirty="0"/>
          </a:p>
          <a:p>
            <a:pPr indent="0" marL="0">
              <a:buNone/>
            </a:pPr>
            <a:r>
              <a:rPr lang="tr-TR" sz="1150" dirty="0">
                <a:solidFill>
                  <a:srgbClr val="F2F2F2"/>
                </a:solidFill>
                <a:latin typeface="Consolas" pitchFamily="34" charset="0"/>
                <a:ea typeface="Consolas" pitchFamily="34" charset="-122"/>
                <a:cs typeface="Consolas" pitchFamily="34" charset="-120"/>
              </a:rPr>
              <a:t>if [ $answer = yes ]; then echo "OK"; fi</a:t>
            </a:r>
            <a:endParaRPr lang="tr-TR" sz="1150" dirty="0"/>
          </a:p>
          <a:p>
            <a:pPr indent="0" marL="0">
              <a:buNone/>
            </a:pPr>
            <a:r>
              <a:rPr lang="tr-TR" sz="1150" dirty="0">
                <a:solidFill>
                  <a:srgbClr val="02C39A"/>
                </a:solidFill>
                <a:latin typeface="Consolas" pitchFamily="34" charset="0"/>
                <a:ea typeface="Consolas" pitchFamily="34" charset="-122"/>
                <a:cs typeface="Consolas" pitchFamily="34" charset="-120"/>
              </a:rPr>
              <a:t>$ ./bad_quotes.sh</a:t>
            </a:r>
            <a:endParaRPr lang="tr-TR" sz="1150" dirty="0"/>
          </a:p>
          <a:p>
            <a:pPr indent="0" marL="0">
              <a:buNone/>
            </a:pPr>
            <a:r>
              <a:rPr lang="tr-TR" sz="1150" dirty="0">
                <a:solidFill>
                  <a:srgbClr val="F2A49A"/>
                </a:solidFill>
                <a:latin typeface="Consolas" pitchFamily="34" charset="0"/>
                <a:ea typeface="Consolas" pitchFamily="34" charset="-122"/>
                <a:cs typeface="Consolas" pitchFamily="34" charset="-120"/>
              </a:rPr>
              <a:t>./bad_quotes.sh: line 3: [: =: unary operator expected</a:t>
            </a:r>
            <a:endParaRPr lang="tr-TR" sz="1150" dirty="0"/>
          </a:p>
        </p:txBody>
      </p:sp>
      <p:sp>
        <p:nvSpPr>
          <p:cNvPr id="19" name="Shape 17"/>
          <p:cNvSpPr/>
          <p:nvPr/>
        </p:nvSpPr>
        <p:spPr>
          <a:xfrm>
            <a:off x="8092440" y="4572000"/>
            <a:ext cx="3566160" cy="594360"/>
          </a:xfrm>
          <a:prstGeom prst="roundRect">
            <a:avLst>
              <a:gd name="adj" fmla="val 7692"/>
            </a:avLst>
          </a:prstGeom>
          <a:solidFill>
            <a:srgbClr val="D7E9E6"/>
          </a:solidFill>
          <a:ln/>
        </p:spPr>
      </p:sp>
      <p:sp>
        <p:nvSpPr>
          <p:cNvPr id="20" name="Text 18"/>
          <p:cNvSpPr txBox="1"/>
          <p:nvPr/>
        </p:nvSpPr>
        <p:spPr>
          <a:xfrm>
            <a:off x="8092440" y="4572000"/>
            <a:ext cx="3566160" cy="594360"/>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Düzeltme: [ "$answer" = yes ]</a:t>
            </a:r>
            <a:endParaRPr lang="tr-TR" sz="1200" dirty="0"/>
          </a:p>
        </p:txBody>
      </p:sp>
      <p:sp>
        <p:nvSpPr>
          <p:cNvPr id="21" name="Text 19"/>
          <p:cNvSpPr txBox="1"/>
          <p:nvPr/>
        </p:nvSpPr>
        <p:spPr>
          <a:xfrm>
            <a:off x="548640" y="5440680"/>
            <a:ext cx="11109960" cy="731520"/>
          </a:xfrm>
          <a:prstGeom prst="rect">
            <a:avLst/>
          </a:prstGeom>
          <a:noFill/>
          <a:ln/>
        </p:spPr>
        <p:txBody>
          <a:bodyPr wrap="square" lIns="0" tIns="0" rIns="0" bIns="0" rtlCol="0" anchor="t"/>
          <a:lstStyle/>
          <a:p>
            <a:pPr indent="0" marL="0">
              <a:buNone/>
            </a:pPr>
            <a:r>
              <a:rPr lang="tr-TR" sz="1600" i="1" dirty="0">
                <a:solidFill>
                  <a:srgbClr val="6B7679"/>
                </a:solidFill>
                <a:latin typeface="Calibri" pitchFamily="34" charset="0"/>
                <a:ea typeface="Calibri" pitchFamily="34" charset="-122"/>
                <a:cs typeface="Calibri" pitchFamily="34" charset="-120"/>
              </a:rPr>
              <a:t>Hata iletisini okuyun: betiğin adını, satır numarasını ve bash'in anlayamadığı sözcüğü söyler.</a:t>
            </a:r>
            <a:endParaRPr lang="tr-TR"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Windows Satır Sonları, Eksik fi, Eksik chmod</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36</a:t>
            </a:r>
            <a:endParaRPr lang="tr-TR" sz="900" dirty="0"/>
          </a:p>
        </p:txBody>
      </p:sp>
      <p:sp>
        <p:nvSpPr>
          <p:cNvPr id="6" name="Shape 4"/>
          <p:cNvSpPr/>
          <p:nvPr/>
        </p:nvSpPr>
        <p:spPr>
          <a:xfrm>
            <a:off x="548640" y="1508760"/>
            <a:ext cx="7223760" cy="3429000"/>
          </a:xfrm>
          <a:prstGeom prst="roundRect">
            <a:avLst>
              <a:gd name="adj" fmla="val 1333"/>
            </a:avLst>
          </a:prstGeom>
          <a:solidFill>
            <a:srgbClr val="212121"/>
          </a:solidFill>
          <a:ln/>
        </p:spPr>
      </p:sp>
      <p:sp>
        <p:nvSpPr>
          <p:cNvPr id="7" name="Text 5"/>
          <p:cNvSpPr txBox="1"/>
          <p:nvPr/>
        </p:nvSpPr>
        <p:spPr>
          <a:xfrm>
            <a:off x="731520" y="1618488"/>
            <a:ext cx="6858000" cy="320954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./win.sh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bash: ./win.sh: cannot execute: required file not found</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bash win.sh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win.sh: line 2: cd: $'/home/student/lab\r': No such file or directory</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Hello from Windows</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cat -A win.sh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#!/bin/bash^M$</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cd ~/lab^M$</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echo "Hello from Windows"^M$</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sed -i 's/\r$//' win.sh</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./win.sh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Hello from Windows</a:t>
            </a:r>
            <a:endParaRPr lang="tr-TR" sz="1250" dirty="0"/>
          </a:p>
        </p:txBody>
      </p:sp>
      <p:sp>
        <p:nvSpPr>
          <p:cNvPr id="8" name="Shape 6"/>
          <p:cNvSpPr/>
          <p:nvPr/>
        </p:nvSpPr>
        <p:spPr>
          <a:xfrm>
            <a:off x="548640" y="5120640"/>
            <a:ext cx="7223760" cy="1143000"/>
          </a:xfrm>
          <a:prstGeom prst="roundRect">
            <a:avLst>
              <a:gd name="adj" fmla="val 4000"/>
            </a:avLst>
          </a:prstGeom>
          <a:solidFill>
            <a:srgbClr val="212121"/>
          </a:solidFill>
          <a:ln/>
        </p:spPr>
      </p:sp>
      <p:sp>
        <p:nvSpPr>
          <p:cNvPr id="9" name="Text 7"/>
          <p:cNvSpPr txBox="1"/>
          <p:nvPr/>
        </p:nvSpPr>
        <p:spPr>
          <a:xfrm>
            <a:off x="731520" y="5230368"/>
            <a:ext cx="6858000" cy="92354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student@okan-lab:~/lab/scripts$ </a:t>
            </a:r>
            <a:r>
              <a:rPr lang="tr-TR" sz="1250" b="1" dirty="0">
                <a:solidFill>
                  <a:srgbClr val="FFFFFF"/>
                </a:solidFill>
                <a:latin typeface="Consolas" pitchFamily="34" charset="0"/>
                <a:ea typeface="Consolas" pitchFamily="34" charset="-122"/>
                <a:cs typeface="Consolas" pitchFamily="34" charset="-120"/>
              </a:rPr>
              <a:t>bash -n bad_if.sh</a:t>
            </a:r>
            <a:endParaRPr lang="tr-TR" sz="1250" dirty="0"/>
          </a:p>
          <a:p>
            <a:pPr indent="0" marL="0">
              <a:lnSpc>
                <a:spcPct val="100000"/>
              </a:lnSpc>
              <a:buNone/>
            </a:pPr>
            <a:r>
              <a:rPr lang="tr-TR" sz="1250" dirty="0">
                <a:solidFill>
                  <a:srgbClr val="C9D1D3"/>
                </a:solidFill>
                <a:latin typeface="Consolas" pitchFamily="34" charset="0"/>
                <a:ea typeface="Consolas" pitchFamily="34" charset="-122"/>
                <a:cs typeface="Consolas" pitchFamily="34" charset="-120"/>
              </a:rPr>
              <a:t>bad_if.sh: line 4: syntax error: unexpected end of file</a:t>
            </a:r>
            <a:endParaRPr lang="tr-TR" sz="1250" dirty="0"/>
          </a:p>
        </p:txBody>
      </p:sp>
      <p:sp>
        <p:nvSpPr>
          <p:cNvPr id="10" name="Shape 8"/>
          <p:cNvSpPr/>
          <p:nvPr/>
        </p:nvSpPr>
        <p:spPr>
          <a:xfrm>
            <a:off x="8001000" y="1508760"/>
            <a:ext cx="3657600" cy="475488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8229600" y="16916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CRLF: görünmez hata</a:t>
            </a:r>
            <a:endParaRPr lang="tr-TR" sz="1500" dirty="0"/>
          </a:p>
        </p:txBody>
      </p:sp>
      <p:sp>
        <p:nvSpPr>
          <p:cNvPr id="12" name="Text 10"/>
          <p:cNvSpPr txBox="1"/>
          <p:nvPr/>
        </p:nvSpPr>
        <p:spPr>
          <a:xfrm>
            <a:off x="8229600" y="2148840"/>
            <a:ext cx="3200400" cy="3977640"/>
          </a:xfrm>
          <a:prstGeom prst="rect">
            <a:avLst/>
          </a:prstGeom>
          <a:noFill/>
          <a:ln/>
        </p:spPr>
        <p:txBody>
          <a:bodyPr wrap="square" lIns="0" tIns="0" rIns="0" bIns="0" rtlCol="0" anchor="t"/>
          <a:lstStyle/>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Windows düzenleyicileri satırları \r\n ile bitirir; Linux \n bekler. \r (^M olarak görünür) sözcüklere yapışır: çekirdek "/bin/bash\r" adlı bir yorumlayıcı arar.</a:t>
            </a:r>
            <a:endParaRPr lang="tr-TR" sz="1200" dirty="0"/>
          </a:p>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Yeni bash: "cannot execute: required file not found"; eski bash (ör. Ubuntu 22.04): "/bin/bash^M: bad interpreter".</a:t>
            </a:r>
            <a:endParaRPr lang="tr-TR" sz="1200" dirty="0"/>
          </a:p>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Düzeltme: sed -i 's/\r$//' file ya da dos2unix file; VS Code'da LF seçin.</a:t>
            </a:r>
            <a:endParaRPr lang="tr-TR" sz="1200" dirty="0"/>
          </a:p>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chmod +x unutulursa → Permission denied (slayt 8).</a:t>
            </a:r>
            <a:endParaRPr lang="tr-TR"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LAB · NOTLU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Sınıf İçi Lab: Dört Betik Yazın (35 Dakika)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37</a:t>
            </a:r>
            <a:endParaRPr lang="tr-TR" sz="900" dirty="0"/>
          </a:p>
        </p:txBody>
      </p:sp>
      <p:sp>
        <p:nvSpPr>
          <p:cNvPr id="6" name="Shape 4"/>
          <p:cNvSpPr/>
          <p:nvPr/>
        </p:nvSpPr>
        <p:spPr>
          <a:xfrm>
            <a:off x="548640" y="1508760"/>
            <a:ext cx="731520" cy="749808"/>
          </a:xfrm>
          <a:prstGeom prst="roundRect">
            <a:avLst>
              <a:gd name="adj" fmla="val 6250"/>
            </a:avLst>
          </a:prstGeom>
          <a:solidFill>
            <a:srgbClr val="02C39A"/>
          </a:solidFill>
          <a:ln/>
        </p:spPr>
      </p:sp>
      <p:sp>
        <p:nvSpPr>
          <p:cNvPr id="7" name="Text 5"/>
          <p:cNvSpPr txBox="1"/>
          <p:nvPr/>
        </p:nvSpPr>
        <p:spPr>
          <a:xfrm>
            <a:off x="548640" y="1508760"/>
            <a:ext cx="731520" cy="74980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417320" y="1508760"/>
            <a:ext cx="10241280" cy="749808"/>
          </a:xfrm>
          <a:prstGeom prst="roundRect">
            <a:avLst>
              <a:gd name="adj" fmla="val 6098"/>
            </a:avLst>
          </a:prstGeom>
          <a:solidFill>
            <a:srgbClr val="F2F2F2"/>
          </a:solidFill>
          <a:ln/>
        </p:spPr>
      </p:sp>
      <p:sp>
        <p:nvSpPr>
          <p:cNvPr id="9" name="Text 7"/>
          <p:cNvSpPr txBox="1"/>
          <p:nvPr/>
        </p:nvSpPr>
        <p:spPr>
          <a:xfrm>
            <a:off x="1600200" y="1508760"/>
            <a:ext cx="2423160" cy="749808"/>
          </a:xfrm>
          <a:prstGeom prst="rect">
            <a:avLst/>
          </a:prstGeom>
          <a:noFill/>
          <a:ln/>
        </p:spPr>
        <p:txBody>
          <a:bodyPr wrap="square" lIns="0" tIns="0" rIns="0" bIns="0" rtlCol="0" anchor="ctr"/>
          <a:lstStyle/>
          <a:p>
            <a:pPr indent="0" marL="0">
              <a:buNone/>
            </a:pPr>
            <a:r>
              <a:rPr lang="tr-TR" sz="1500" b="1" dirty="0">
                <a:solidFill>
                  <a:srgbClr val="36454F"/>
                </a:solidFill>
                <a:latin typeface="Consolas" pitchFamily="34" charset="0"/>
                <a:ea typeface="Consolas" pitchFamily="34" charset="-122"/>
                <a:cs typeface="Consolas" pitchFamily="34" charset="-120"/>
              </a:rPr>
              <a:t>power.sh N</a:t>
            </a:r>
            <a:endParaRPr lang="tr-TR" sz="1500" dirty="0"/>
          </a:p>
        </p:txBody>
      </p:sp>
      <p:sp>
        <p:nvSpPr>
          <p:cNvPr id="10" name="Text 8"/>
          <p:cNvSpPr txBox="1"/>
          <p:nvPr/>
        </p:nvSpPr>
        <p:spPr>
          <a:xfrm>
            <a:off x="4069080" y="1508760"/>
            <a:ext cx="6492240" cy="749808"/>
          </a:xfrm>
          <a:prstGeom prst="rect">
            <a:avLst/>
          </a:prstGeom>
          <a:noFill/>
          <a:ln/>
        </p:spPr>
        <p:txBody>
          <a:bodyPr wrap="square" lIns="0" tIns="0" rIns="0" bIns="0" rtlCol="0" anchor="ctr"/>
          <a:lstStyle/>
          <a:p>
            <a:pPr indent="0" marL="0">
              <a:buNone/>
            </a:pPr>
            <a:r>
              <a:rPr lang="tr-TR" sz="1400" dirty="0">
                <a:solidFill>
                  <a:srgbClr val="3A464C"/>
                </a:solidFill>
                <a:latin typeface="Calibri" pitchFamily="34" charset="0"/>
                <a:ea typeface="Calibri" pitchFamily="34" charset="-122"/>
                <a:cs typeface="Calibri" pitchFamily="34" charset="-120"/>
              </a:rPr>
              <a:t>N, N² ve N³ değerlerini yazdırın. Argüman yoksa: bir Usage satırı ve exit 2.</a:t>
            </a:r>
            <a:endParaRPr lang="tr-TR" sz="1400" dirty="0"/>
          </a:p>
        </p:txBody>
      </p:sp>
      <p:sp>
        <p:nvSpPr>
          <p:cNvPr id="11" name="Text 9"/>
          <p:cNvSpPr txBox="1"/>
          <p:nvPr/>
        </p:nvSpPr>
        <p:spPr>
          <a:xfrm>
            <a:off x="10561320" y="1508760"/>
            <a:ext cx="960120" cy="749808"/>
          </a:xfrm>
          <a:prstGeom prst="rect">
            <a:avLst/>
          </a:prstGeom>
          <a:noFill/>
          <a:ln/>
        </p:spPr>
        <p:txBody>
          <a:bodyPr wrap="square" lIns="0" tIns="0" rIns="0" bIns="0" rtlCol="0" anchor="ctr"/>
          <a:lstStyle/>
          <a:p>
            <a:pPr algn="r" indent="0" marL="0">
              <a:buNone/>
            </a:pPr>
            <a:r>
              <a:rPr lang="tr-TR" sz="1250" i="1" dirty="0">
                <a:solidFill>
                  <a:srgbClr val="6B7679"/>
                </a:solidFill>
                <a:latin typeface="Calibri" pitchFamily="34" charset="0"/>
                <a:ea typeface="Calibri" pitchFamily="34" charset="-122"/>
                <a:cs typeface="Calibri" pitchFamily="34" charset="-120"/>
              </a:rPr>
              <a:t>Alış. 2</a:t>
            </a:r>
            <a:endParaRPr lang="tr-TR" sz="1250" dirty="0"/>
          </a:p>
        </p:txBody>
      </p:sp>
      <p:sp>
        <p:nvSpPr>
          <p:cNvPr id="12" name="Shape 10"/>
          <p:cNvSpPr/>
          <p:nvPr/>
        </p:nvSpPr>
        <p:spPr>
          <a:xfrm>
            <a:off x="548640" y="2404872"/>
            <a:ext cx="731520" cy="749808"/>
          </a:xfrm>
          <a:prstGeom prst="roundRect">
            <a:avLst>
              <a:gd name="adj" fmla="val 6250"/>
            </a:avLst>
          </a:prstGeom>
          <a:solidFill>
            <a:srgbClr val="02C39A"/>
          </a:solidFill>
          <a:ln/>
        </p:spPr>
      </p:sp>
      <p:sp>
        <p:nvSpPr>
          <p:cNvPr id="13" name="Text 11"/>
          <p:cNvSpPr txBox="1"/>
          <p:nvPr/>
        </p:nvSpPr>
        <p:spPr>
          <a:xfrm>
            <a:off x="548640" y="2404872"/>
            <a:ext cx="731520" cy="74980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4" name="Shape 12"/>
          <p:cNvSpPr/>
          <p:nvPr/>
        </p:nvSpPr>
        <p:spPr>
          <a:xfrm>
            <a:off x="1417320" y="2404872"/>
            <a:ext cx="10241280" cy="749808"/>
          </a:xfrm>
          <a:prstGeom prst="roundRect">
            <a:avLst>
              <a:gd name="adj" fmla="val 6098"/>
            </a:avLst>
          </a:prstGeom>
          <a:solidFill>
            <a:srgbClr val="F2F2F2"/>
          </a:solidFill>
          <a:ln/>
        </p:spPr>
      </p:sp>
      <p:sp>
        <p:nvSpPr>
          <p:cNvPr id="15" name="Text 13"/>
          <p:cNvSpPr txBox="1"/>
          <p:nvPr/>
        </p:nvSpPr>
        <p:spPr>
          <a:xfrm>
            <a:off x="1600200" y="2404872"/>
            <a:ext cx="2423160" cy="749808"/>
          </a:xfrm>
          <a:prstGeom prst="rect">
            <a:avLst/>
          </a:prstGeom>
          <a:noFill/>
          <a:ln/>
        </p:spPr>
        <p:txBody>
          <a:bodyPr wrap="square" lIns="0" tIns="0" rIns="0" bIns="0" rtlCol="0" anchor="ctr"/>
          <a:lstStyle/>
          <a:p>
            <a:pPr indent="0" marL="0">
              <a:buNone/>
            </a:pPr>
            <a:r>
              <a:rPr lang="tr-TR" sz="1500" b="1" dirty="0">
                <a:solidFill>
                  <a:srgbClr val="36454F"/>
                </a:solidFill>
                <a:latin typeface="Consolas" pitchFamily="34" charset="0"/>
                <a:ea typeface="Consolas" pitchFamily="34" charset="-122"/>
                <a:cs typeface="Consolas" pitchFamily="34" charset="-120"/>
              </a:rPr>
              <a:t>what.sh YOL…</a:t>
            </a:r>
            <a:endParaRPr lang="tr-TR" sz="1500" dirty="0"/>
          </a:p>
        </p:txBody>
      </p:sp>
      <p:sp>
        <p:nvSpPr>
          <p:cNvPr id="16" name="Text 14"/>
          <p:cNvSpPr txBox="1"/>
          <p:nvPr/>
        </p:nvSpPr>
        <p:spPr>
          <a:xfrm>
            <a:off x="4069080" y="2404872"/>
            <a:ext cx="6492240" cy="749808"/>
          </a:xfrm>
          <a:prstGeom prst="rect">
            <a:avLst/>
          </a:prstGeom>
          <a:noFill/>
          <a:ln/>
        </p:spPr>
        <p:txBody>
          <a:bodyPr wrap="square" lIns="0" tIns="0" rIns="0" bIns="0" rtlCol="0" anchor="ctr"/>
          <a:lstStyle/>
          <a:p>
            <a:pPr indent="0" marL="0">
              <a:buNone/>
            </a:pPr>
            <a:r>
              <a:rPr lang="tr-TR" sz="1400" dirty="0">
                <a:solidFill>
                  <a:srgbClr val="3A464C"/>
                </a:solidFill>
                <a:latin typeface="Calibri" pitchFamily="34" charset="0"/>
                <a:ea typeface="Calibri" pitchFamily="34" charset="-122"/>
                <a:cs typeface="Calibri" pitchFamily="34" charset="-120"/>
              </a:rPr>
              <a:t>Her argüman için dosya (satır sayısıyla), dizin ya da yok yazın; biri yoksa exit 1.</a:t>
            </a:r>
            <a:endParaRPr lang="tr-TR" sz="1400" dirty="0"/>
          </a:p>
        </p:txBody>
      </p:sp>
      <p:sp>
        <p:nvSpPr>
          <p:cNvPr id="17" name="Text 15"/>
          <p:cNvSpPr txBox="1"/>
          <p:nvPr/>
        </p:nvSpPr>
        <p:spPr>
          <a:xfrm>
            <a:off x="10561320" y="2404872"/>
            <a:ext cx="960120" cy="749808"/>
          </a:xfrm>
          <a:prstGeom prst="rect">
            <a:avLst/>
          </a:prstGeom>
          <a:noFill/>
          <a:ln/>
        </p:spPr>
        <p:txBody>
          <a:bodyPr wrap="square" lIns="0" tIns="0" rIns="0" bIns="0" rtlCol="0" anchor="ctr"/>
          <a:lstStyle/>
          <a:p>
            <a:pPr algn="r" indent="0" marL="0">
              <a:buNone/>
            </a:pPr>
            <a:r>
              <a:rPr lang="tr-TR" sz="1250" i="1" dirty="0">
                <a:solidFill>
                  <a:srgbClr val="6B7679"/>
                </a:solidFill>
                <a:latin typeface="Calibri" pitchFamily="34" charset="0"/>
                <a:ea typeface="Calibri" pitchFamily="34" charset="-122"/>
                <a:cs typeface="Calibri" pitchFamily="34" charset="-120"/>
              </a:rPr>
              <a:t>Alış. 6</a:t>
            </a:r>
            <a:endParaRPr lang="tr-TR" sz="1250" dirty="0"/>
          </a:p>
        </p:txBody>
      </p:sp>
      <p:sp>
        <p:nvSpPr>
          <p:cNvPr id="18" name="Shape 16"/>
          <p:cNvSpPr/>
          <p:nvPr/>
        </p:nvSpPr>
        <p:spPr>
          <a:xfrm>
            <a:off x="548640" y="3300984"/>
            <a:ext cx="731520" cy="749808"/>
          </a:xfrm>
          <a:prstGeom prst="roundRect">
            <a:avLst>
              <a:gd name="adj" fmla="val 6250"/>
            </a:avLst>
          </a:prstGeom>
          <a:solidFill>
            <a:srgbClr val="02C39A"/>
          </a:solidFill>
          <a:ln/>
        </p:spPr>
      </p:sp>
      <p:sp>
        <p:nvSpPr>
          <p:cNvPr id="19" name="Text 17"/>
          <p:cNvSpPr txBox="1"/>
          <p:nvPr/>
        </p:nvSpPr>
        <p:spPr>
          <a:xfrm>
            <a:off x="548640" y="3300984"/>
            <a:ext cx="731520" cy="74980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20" name="Shape 18"/>
          <p:cNvSpPr/>
          <p:nvPr/>
        </p:nvSpPr>
        <p:spPr>
          <a:xfrm>
            <a:off x="1417320" y="3300984"/>
            <a:ext cx="10241280" cy="749808"/>
          </a:xfrm>
          <a:prstGeom prst="roundRect">
            <a:avLst>
              <a:gd name="adj" fmla="val 6098"/>
            </a:avLst>
          </a:prstGeom>
          <a:solidFill>
            <a:srgbClr val="F2F2F2"/>
          </a:solidFill>
          <a:ln/>
        </p:spPr>
      </p:sp>
      <p:sp>
        <p:nvSpPr>
          <p:cNvPr id="21" name="Text 19"/>
          <p:cNvSpPr txBox="1"/>
          <p:nvPr/>
        </p:nvSpPr>
        <p:spPr>
          <a:xfrm>
            <a:off x="1600200" y="3300984"/>
            <a:ext cx="2423160" cy="749808"/>
          </a:xfrm>
          <a:prstGeom prst="rect">
            <a:avLst/>
          </a:prstGeom>
          <a:noFill/>
          <a:ln/>
        </p:spPr>
        <p:txBody>
          <a:bodyPr wrap="square" lIns="0" tIns="0" rIns="0" bIns="0" rtlCol="0" anchor="ctr"/>
          <a:lstStyle/>
          <a:p>
            <a:pPr indent="0" marL="0">
              <a:buNone/>
            </a:pPr>
            <a:r>
              <a:rPr lang="tr-TR" sz="1500" b="1" dirty="0">
                <a:solidFill>
                  <a:srgbClr val="36454F"/>
                </a:solidFill>
                <a:latin typeface="Consolas" pitchFamily="34" charset="0"/>
                <a:ea typeface="Consolas" pitchFamily="34" charset="-122"/>
                <a:cs typeface="Consolas" pitchFamily="34" charset="-120"/>
              </a:rPr>
              <a:t>levels.sh</a:t>
            </a:r>
            <a:endParaRPr lang="tr-TR" sz="1500" dirty="0"/>
          </a:p>
        </p:txBody>
      </p:sp>
      <p:sp>
        <p:nvSpPr>
          <p:cNvPr id="22" name="Text 20"/>
          <p:cNvSpPr txBox="1"/>
          <p:nvPr/>
        </p:nvSpPr>
        <p:spPr>
          <a:xfrm>
            <a:off x="4069080" y="3300984"/>
            <a:ext cx="6492240" cy="749808"/>
          </a:xfrm>
          <a:prstGeom prst="rect">
            <a:avLst/>
          </a:prstGeom>
          <a:noFill/>
          <a:ln/>
        </p:spPr>
        <p:txBody>
          <a:bodyPr wrap="square" lIns="0" tIns="0" rIns="0" bIns="0" rtlCol="0" anchor="ctr"/>
          <a:lstStyle/>
          <a:p>
            <a:pPr indent="0" marL="0">
              <a:buNone/>
            </a:pPr>
            <a:r>
              <a:rPr lang="tr-TR" sz="1400" dirty="0">
                <a:solidFill>
                  <a:srgbClr val="3A464C"/>
                </a:solidFill>
                <a:latin typeface="Calibri" pitchFamily="34" charset="0"/>
                <a:ea typeface="Calibri" pitchFamily="34" charset="-122"/>
                <a:cs typeface="Calibri" pitchFamily="34" charset="-120"/>
              </a:rPr>
              <a:t>~/lab/logs/system.log içindeki INFO, WARN ve ERROR satırlarını bir for döngüsü ve grep -c ile sayın.</a:t>
            </a:r>
            <a:endParaRPr lang="tr-TR" sz="1400" dirty="0"/>
          </a:p>
        </p:txBody>
      </p:sp>
      <p:sp>
        <p:nvSpPr>
          <p:cNvPr id="23" name="Text 21"/>
          <p:cNvSpPr txBox="1"/>
          <p:nvPr/>
        </p:nvSpPr>
        <p:spPr>
          <a:xfrm>
            <a:off x="10561320" y="3300984"/>
            <a:ext cx="960120" cy="749808"/>
          </a:xfrm>
          <a:prstGeom prst="rect">
            <a:avLst/>
          </a:prstGeom>
          <a:noFill/>
          <a:ln/>
        </p:spPr>
        <p:txBody>
          <a:bodyPr wrap="square" lIns="0" tIns="0" rIns="0" bIns="0" rtlCol="0" anchor="ctr"/>
          <a:lstStyle/>
          <a:p>
            <a:pPr algn="r" indent="0" marL="0">
              <a:buNone/>
            </a:pPr>
            <a:r>
              <a:rPr lang="tr-TR" sz="1250" i="1" dirty="0">
                <a:solidFill>
                  <a:srgbClr val="6B7679"/>
                </a:solidFill>
                <a:latin typeface="Calibri" pitchFamily="34" charset="0"/>
                <a:ea typeface="Calibri" pitchFamily="34" charset="-122"/>
                <a:cs typeface="Calibri" pitchFamily="34" charset="-120"/>
              </a:rPr>
              <a:t>Alış. 11</a:t>
            </a:r>
            <a:endParaRPr lang="tr-TR" sz="1250" dirty="0"/>
          </a:p>
        </p:txBody>
      </p:sp>
      <p:sp>
        <p:nvSpPr>
          <p:cNvPr id="24" name="Shape 22"/>
          <p:cNvSpPr/>
          <p:nvPr/>
        </p:nvSpPr>
        <p:spPr>
          <a:xfrm>
            <a:off x="548640" y="4197096"/>
            <a:ext cx="731520" cy="749808"/>
          </a:xfrm>
          <a:prstGeom prst="roundRect">
            <a:avLst>
              <a:gd name="adj" fmla="val 6250"/>
            </a:avLst>
          </a:prstGeom>
          <a:solidFill>
            <a:srgbClr val="02C39A"/>
          </a:solidFill>
          <a:ln/>
        </p:spPr>
      </p:sp>
      <p:sp>
        <p:nvSpPr>
          <p:cNvPr id="25" name="Text 23"/>
          <p:cNvSpPr txBox="1"/>
          <p:nvPr/>
        </p:nvSpPr>
        <p:spPr>
          <a:xfrm>
            <a:off x="548640" y="4197096"/>
            <a:ext cx="731520" cy="74980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6" name="Shape 24"/>
          <p:cNvSpPr/>
          <p:nvPr/>
        </p:nvSpPr>
        <p:spPr>
          <a:xfrm>
            <a:off x="1417320" y="4197096"/>
            <a:ext cx="10241280" cy="749808"/>
          </a:xfrm>
          <a:prstGeom prst="roundRect">
            <a:avLst>
              <a:gd name="adj" fmla="val 6098"/>
            </a:avLst>
          </a:prstGeom>
          <a:solidFill>
            <a:srgbClr val="F2F2F2"/>
          </a:solidFill>
          <a:ln/>
        </p:spPr>
      </p:sp>
      <p:sp>
        <p:nvSpPr>
          <p:cNvPr id="27" name="Text 25"/>
          <p:cNvSpPr txBox="1"/>
          <p:nvPr/>
        </p:nvSpPr>
        <p:spPr>
          <a:xfrm>
            <a:off x="1600200" y="4197096"/>
            <a:ext cx="2423160" cy="749808"/>
          </a:xfrm>
          <a:prstGeom prst="rect">
            <a:avLst/>
          </a:prstGeom>
          <a:noFill/>
          <a:ln/>
        </p:spPr>
        <p:txBody>
          <a:bodyPr wrap="square" lIns="0" tIns="0" rIns="0" bIns="0" rtlCol="0" anchor="ctr"/>
          <a:lstStyle/>
          <a:p>
            <a:pPr indent="0" marL="0">
              <a:buNone/>
            </a:pPr>
            <a:r>
              <a:rPr lang="tr-TR" sz="1500" b="1" dirty="0">
                <a:solidFill>
                  <a:srgbClr val="36454F"/>
                </a:solidFill>
                <a:latin typeface="Consolas" pitchFamily="34" charset="0"/>
                <a:ea typeface="Consolas" pitchFamily="34" charset="-122"/>
                <a:cs typeface="Consolas" pitchFamily="34" charset="-120"/>
              </a:rPr>
              <a:t>backup_keep.sh</a:t>
            </a:r>
            <a:endParaRPr lang="tr-TR" sz="1500" dirty="0"/>
          </a:p>
        </p:txBody>
      </p:sp>
      <p:sp>
        <p:nvSpPr>
          <p:cNvPr id="28" name="Text 26"/>
          <p:cNvSpPr txBox="1"/>
          <p:nvPr/>
        </p:nvSpPr>
        <p:spPr>
          <a:xfrm>
            <a:off x="4069080" y="4197096"/>
            <a:ext cx="6492240" cy="749808"/>
          </a:xfrm>
          <a:prstGeom prst="rect">
            <a:avLst/>
          </a:prstGeom>
          <a:noFill/>
          <a:ln/>
        </p:spPr>
        <p:txBody>
          <a:bodyPr wrap="square" lIns="0" tIns="0" rIns="0" bIns="0" rtlCol="0" anchor="ctr"/>
          <a:lstStyle/>
          <a:p>
            <a:pPr indent="0" marL="0">
              <a:buNone/>
            </a:pPr>
            <a:r>
              <a:rPr lang="tr-TR" sz="1400" dirty="0">
                <a:solidFill>
                  <a:srgbClr val="3A464C"/>
                </a:solidFill>
                <a:latin typeface="Calibri" pitchFamily="34" charset="0"/>
                <a:ea typeface="Calibri" pitchFamily="34" charset="-122"/>
                <a:cs typeface="Calibri" pitchFamily="34" charset="-120"/>
              </a:rPr>
              <a:t>Zorlu: backup.sh'yi yalnızca en yeni 3 arşiv kalacak biçimde genişletin.</a:t>
            </a:r>
            <a:endParaRPr lang="tr-TR" sz="1400" dirty="0"/>
          </a:p>
        </p:txBody>
      </p:sp>
      <p:sp>
        <p:nvSpPr>
          <p:cNvPr id="29" name="Text 27"/>
          <p:cNvSpPr txBox="1"/>
          <p:nvPr/>
        </p:nvSpPr>
        <p:spPr>
          <a:xfrm>
            <a:off x="10561320" y="4197096"/>
            <a:ext cx="960120" cy="749808"/>
          </a:xfrm>
          <a:prstGeom prst="rect">
            <a:avLst/>
          </a:prstGeom>
          <a:noFill/>
          <a:ln/>
        </p:spPr>
        <p:txBody>
          <a:bodyPr wrap="square" lIns="0" tIns="0" rIns="0" bIns="0" rtlCol="0" anchor="ctr"/>
          <a:lstStyle/>
          <a:p>
            <a:pPr algn="r" indent="0" marL="0">
              <a:buNone/>
            </a:pPr>
            <a:r>
              <a:rPr lang="tr-TR" sz="1250" i="1" dirty="0">
                <a:solidFill>
                  <a:srgbClr val="6B7679"/>
                </a:solidFill>
                <a:latin typeface="Calibri" pitchFamily="34" charset="0"/>
                <a:ea typeface="Calibri" pitchFamily="34" charset="-122"/>
                <a:cs typeface="Calibri" pitchFamily="34" charset="-120"/>
              </a:rPr>
              <a:t>Alış. 13</a:t>
            </a:r>
            <a:endParaRPr lang="tr-TR" sz="1250" dirty="0"/>
          </a:p>
        </p:txBody>
      </p:sp>
      <p:sp>
        <p:nvSpPr>
          <p:cNvPr id="30" name="Shape 28"/>
          <p:cNvSpPr/>
          <p:nvPr/>
        </p:nvSpPr>
        <p:spPr>
          <a:xfrm>
            <a:off x="548640" y="5212080"/>
            <a:ext cx="1110996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777240" y="5212080"/>
            <a:ext cx="10652760" cy="10515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Notlandırma: hatasız çalışma (%40), doğru çıktı (%30), hatalı girdiyi ele alma (%15), yorumlar + tırnaklar + shebang (%15). Her betiği önce bash -n ile deneyin. Dört .sh dosyasını dersin Telegram kanalında duyurulan biçimde teslim edin.</a:t>
            </a:r>
            <a:endParaRPr lang="tr-TR"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38</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./hello.sh neden "Permission denied" verirken bash hello.sh çalışır? Hangi çıkış durumunu alırsınız?</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x=7; y=2. echo "$((x / y))", echo '$x' ve echo "$x$y" ne yazdırır?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report.txt dosyası var olduğunda VE n değişkeni 10'dan büyük olduğunda doğru olan bir test yazın.</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./args.sh one "two three" four — $# ve $2 nedir?</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TOPARLAMA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14. Hafta: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14  ·  39</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Betik:</a:t>
            </a:r>
            <a:r>
              <a:rPr lang="tr-TR" sz="2000" dirty="0">
                <a:solidFill>
                  <a:srgbClr val="3A464C"/>
                </a:solidFill>
                <a:latin typeface="Calibri" pitchFamily="34" charset="0"/>
                <a:ea typeface="Calibri" pitchFamily="34" charset="-122"/>
                <a:cs typeface="Calibri" pitchFamily="34" charset="-120"/>
              </a:rPr>
              <a:t> komutlardan oluşan bir metin dosyası; 1. satırda #!/bin/bash, chmod +x, ./script.sh ile çalıştırma. Bir çocuk süreçte çalışır (fork + exec).</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Değişkenler:</a:t>
            </a:r>
            <a:r>
              <a:rPr lang="tr-TR" sz="2000" dirty="0">
                <a:solidFill>
                  <a:srgbClr val="3A464C"/>
                </a:solidFill>
                <a:latin typeface="Calibri" pitchFamily="34" charset="0"/>
                <a:ea typeface="Calibri" pitchFamily="34" charset="-122"/>
                <a:cs typeface="Calibri" pitchFamily="34" charset="-120"/>
              </a:rPr>
              <a:t> boşluksuz ad=değer; çift tırnak içinde "$ad"; $( ) komut çıktısını yerleştirir; $(( )) tamsayı aritmetiği yapar.</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Girdi:</a:t>
            </a:r>
            <a:r>
              <a:rPr lang="tr-TR" sz="2000" dirty="0">
                <a:solidFill>
                  <a:srgbClr val="3A464C"/>
                </a:solidFill>
                <a:latin typeface="Calibri" pitchFamily="34" charset="0"/>
                <a:ea typeface="Calibri" pitchFamily="34" charset="-122"/>
                <a:cs typeface="Calibri" pitchFamily="34" charset="-120"/>
              </a:rPr>
              <a:t> argümanlar $1 … $9, $#, "$@"; klavye için read -r.</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Kararlar:</a:t>
            </a:r>
            <a:r>
              <a:rPr lang="tr-TR" sz="2000" dirty="0">
                <a:solidFill>
                  <a:srgbClr val="3A464C"/>
                </a:solidFill>
                <a:latin typeface="Calibri" pitchFamily="34" charset="0"/>
                <a:ea typeface="Calibri" pitchFamily="34" charset="-122"/>
                <a:cs typeface="Calibri" pitchFamily="34" charset="-120"/>
              </a:rPr>
              <a:t> her komutun bir çıkış durumu vardır (0 = başarı); [ ] dosyaları (-f, -d, -e), sayıları (-lt) ve dizgileri (=, -z) test eder; if / elif / else / fi.</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Döngüler ve fonksiyonlar:</a:t>
            </a:r>
            <a:r>
              <a:rPr lang="tr-TR" sz="2000" dirty="0">
                <a:solidFill>
                  <a:srgbClr val="3A464C"/>
                </a:solidFill>
                <a:latin typeface="Calibri" pitchFamily="34" charset="0"/>
                <a:ea typeface="Calibri" pitchFamily="34" charset="-122"/>
                <a:cs typeface="Calibri" pitchFamily="34" charset="-120"/>
              </a:rPr>
              <a:t> listeler, {1..5} ve *.txt üzerinde for; sayaçlı ya da dosya okuyan while; ad() { … }.</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Hata ayıklama:</a:t>
            </a:r>
            <a:r>
              <a:rPr lang="tr-TR" sz="2000" dirty="0">
                <a:solidFill>
                  <a:srgbClr val="3A464C"/>
                </a:solidFill>
                <a:latin typeface="Calibri" pitchFamily="34" charset="0"/>
                <a:ea typeface="Calibri" pitchFamily="34" charset="-122"/>
                <a:cs typeface="Calibri" pitchFamily="34" charset="-120"/>
              </a:rPr>
              <a:t> bash -n (sözdizimi), bash -x (izleme); hatadaki satır numarasını okuyun; CRLF satır sonlarına dikkat.</a:t>
            </a:r>
            <a:endParaRPr lang="tr-TR"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Final Sınavı Tekrarı (15. hafta)</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15.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Dersin tamamı: kuram 1–7. haftalar ve Linux 9–14. haftalar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Alıştırma soruları: zamanlama, bellek, sayfa değiştirme</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"Komutu / boru hattını / betiği yazın" soruları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Cevap anahtarıyla birlikte örnek bir final sınav kâğıdı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Sınav tarihi ve salonu: dersin Telegram kanalını takip edin</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14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14</dc:title>
  <dc:subject>PptxGenJS Presentation</dc:subject>
  <dc:creator>PptxGenJS</dc:creator>
  <cp:lastModifiedBy>PptxGenJS</cp:lastModifiedBy>
  <cp:revision>1</cp:revision>
  <dcterms:created xsi:type="dcterms:W3CDTF">2026-10-12T17:59:26Z</dcterms:created>
  <dcterms:modified xsi:type="dcterms:W3CDTF">2026-10-12T17:59:26Z</dcterms:modified>
</cp:coreProperties>
</file>